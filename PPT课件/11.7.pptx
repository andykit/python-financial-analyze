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handoutMasterIdLst>
    <p:handoutMasterId r:id="rId14"/>
  </p:handoutMasterIdLst>
  <p:sldIdLst>
    <p:sldId id="257" r:id="rId2"/>
    <p:sldId id="258" r:id="rId3"/>
    <p:sldId id="259" r:id="rId4"/>
    <p:sldId id="261" r:id="rId5"/>
    <p:sldId id="268" r:id="rId6"/>
    <p:sldId id="269" r:id="rId7"/>
    <p:sldId id="263" r:id="rId8"/>
    <p:sldId id="264" r:id="rId9"/>
    <p:sldId id="270" r:id="rId10"/>
    <p:sldId id="271" r:id="rId11"/>
    <p:sldId id="266" r:id="rId12"/>
  </p:sldIdLst>
  <p:sldSz cx="12196763" cy="6858000"/>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 尚佳" initials="张"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8F8F8"/>
    <a:srgbClr val="17DCF1"/>
    <a:srgbClr val="0DC2D5"/>
    <a:srgbClr val="006BBC"/>
    <a:srgbClr val="00AAA2"/>
    <a:srgbClr val="EFEFEF"/>
    <a:srgbClr val="FFFFFF"/>
    <a:srgbClr val="F0F0F0"/>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9044" autoAdjust="0"/>
    <p:restoredTop sz="94270" autoAdjust="0"/>
  </p:normalViewPr>
  <p:slideViewPr>
    <p:cSldViewPr snapToObjects="1">
      <p:cViewPr varScale="1">
        <p:scale>
          <a:sx n="89" d="100"/>
          <a:sy n="89" d="100"/>
        </p:scale>
        <p:origin x="-222" y="-108"/>
      </p:cViewPr>
      <p:guideLst>
        <p:guide orient="horz" pos="2143"/>
        <p:guide pos="3842"/>
      </p:guideLst>
    </p:cSldViewPr>
  </p:slideViewPr>
  <p:outlineViewPr>
    <p:cViewPr>
      <p:scale>
        <a:sx n="33" d="100"/>
        <a:sy n="33" d="100"/>
      </p:scale>
      <p:origin x="0" y="0"/>
    </p:cViewPr>
  </p:outlineViewPr>
  <p:notesTextViewPr>
    <p:cViewPr>
      <p:scale>
        <a:sx n="1" d="1"/>
        <a:sy n="1" d="1"/>
      </p:scale>
      <p:origin x="0" y="0"/>
    </p:cViewPr>
  </p:notesTextViewPr>
  <p:sorterViewPr>
    <p:cViewPr>
      <p:scale>
        <a:sx n="139" d="100"/>
        <a:sy n="139" d="100"/>
      </p:scale>
      <p:origin x="0" y="0"/>
    </p:cViewPr>
  </p:sorterViewPr>
  <p:notesViewPr>
    <p:cSldViewPr snapToObjects="1">
      <p:cViewPr varScale="1">
        <p:scale>
          <a:sx n="69" d="100"/>
          <a:sy n="69" d="100"/>
        </p:scale>
        <p:origin x="-283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08"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1048709"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1048710"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E610686-844B-4A1B-87C8-BB90DB4BAB84}" type="slidenum">
              <a:rPr lang="zh-CN" altLang="en-US" smtClean="0"/>
              <a:t>‹#›</a:t>
            </a:fld>
            <a:endParaRPr lang="zh-CN" altLang="en-US"/>
          </a:p>
        </p:txBody>
      </p:sp>
    </p:spTree>
    <p:extLst>
      <p:ext uri="{BB962C8B-B14F-4D97-AF65-F5344CB8AC3E}">
        <p14:creationId xmlns:p14="http://schemas.microsoft.com/office/powerpoint/2010/main" val="33603380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48702"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0" hangingPunct="0">
              <a:defRPr sz="1200"/>
            </a:lvl1pPr>
          </a:lstStyle>
          <a:p>
            <a:endParaRPr lang="zh-CN" altLang="en-US"/>
          </a:p>
        </p:txBody>
      </p:sp>
      <p:sp>
        <p:nvSpPr>
          <p:cNvPr id="1048703"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0" hangingPunct="0">
              <a:defRPr sz="1200"/>
            </a:lvl1pPr>
          </a:lstStyle>
          <a:p>
            <a:fld id="{B9EEDA17-7CE7-49CA-897E-A1888A19DA62}" type="datetimeFigureOut">
              <a:rPr lang="zh-CN" altLang="en-US"/>
              <a:t>2020/1/12</a:t>
            </a:fld>
            <a:endParaRPr lang="en-US"/>
          </a:p>
        </p:txBody>
      </p:sp>
      <p:sp>
        <p:nvSpPr>
          <p:cNvPr id="1048704" name="Rectangle 4"/>
          <p:cNvSpPr>
            <a:spLocks noGrp="1" noRot="1" noChangeAspect="1" noChangeArrowheads="1"/>
          </p:cNvSpPr>
          <p:nvPr>
            <p:ph type="sldImg" idx="2"/>
          </p:nvPr>
        </p:nvSpPr>
        <p:spPr bwMode="auto">
          <a:xfrm>
            <a:off x="381000" y="685800"/>
            <a:ext cx="6096000" cy="3429000"/>
          </a:xfrm>
          <a:prstGeom prst="rect">
            <a:avLst/>
          </a:prstGeom>
          <a:noFill/>
          <a:ln>
            <a:noFill/>
          </a:ln>
          <a:effectLst/>
        </p:spPr>
      </p:sp>
      <p:sp>
        <p:nvSpPr>
          <p:cNvPr id="1048705"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ctr"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06"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0" hangingPunct="0">
              <a:defRPr sz="1200"/>
            </a:lvl1pPr>
          </a:lstStyle>
          <a:p>
            <a:endParaRPr lang="en-US"/>
          </a:p>
        </p:txBody>
      </p:sp>
      <p:sp>
        <p:nvSpPr>
          <p:cNvPr id="1048707"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0" hangingPunct="0">
              <a:defRPr sz="1200"/>
            </a:lvl1pPr>
          </a:lstStyle>
          <a:p>
            <a:fld id="{CE1689F0-D8FB-450F-A36F-553F26501FEE}" type="slidenum">
              <a:rPr lang="zh-CN" altLang="en-US"/>
              <a:t>‹#›</a:t>
            </a:fld>
            <a:endParaRPr lang="en-US"/>
          </a:p>
        </p:txBody>
      </p:sp>
    </p:spTree>
    <p:extLst>
      <p:ext uri="{BB962C8B-B14F-4D97-AF65-F5344CB8AC3E}">
        <p14:creationId xmlns:p14="http://schemas.microsoft.com/office/powerpoint/2010/main" val="211013234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4" name="幻灯片图像占位符 1"/>
          <p:cNvSpPr>
            <a:spLocks noGrp="1" noRot="1" noChangeAspect="1"/>
          </p:cNvSpPr>
          <p:nvPr>
            <p:ph type="sldImg"/>
          </p:nvPr>
        </p:nvSpPr>
        <p:spPr>
          <a:xfrm>
            <a:off x="381000" y="685800"/>
            <a:ext cx="6096000" cy="3429000"/>
          </a:xfrm>
        </p:spPr>
      </p:sp>
      <p:sp>
        <p:nvSpPr>
          <p:cNvPr id="1048585" name="备注占位符 2"/>
          <p:cNvSpPr>
            <a:spLocks noGrp="1"/>
          </p:cNvSpPr>
          <p:nvPr>
            <p:ph type="body" idx="1"/>
          </p:nvPr>
        </p:nvSpPr>
        <p:spPr/>
        <p:txBody>
          <a:bodyPr/>
          <a:lstStyle/>
          <a:p>
            <a:r>
              <a:rPr lang="zh-CN" altLang="en-US" dirty="0"/>
              <a:t>参考：</a:t>
            </a:r>
            <a:r>
              <a:rPr lang="en-US" altLang="zh-CN" dirty="0"/>
              <a:t>https://www.knime.com/</a:t>
            </a:r>
          </a:p>
        </p:txBody>
      </p:sp>
      <p:sp>
        <p:nvSpPr>
          <p:cNvPr id="1048586" name="灯片编号占位符 3"/>
          <p:cNvSpPr>
            <a:spLocks noGrp="1"/>
          </p:cNvSpPr>
          <p:nvPr>
            <p:ph type="sldNum" sz="quarter" idx="10"/>
          </p:nvPr>
        </p:nvSpPr>
        <p:spPr/>
        <p:txBody>
          <a:bodyPr/>
          <a:lstStyle/>
          <a:p>
            <a:fld id="{CE1689F0-D8FB-450F-A36F-553F26501FEE}" type="slidenum">
              <a:rPr lang="zh-CN" alt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幻灯片图像占位符 1"/>
          <p:cNvSpPr>
            <a:spLocks noGrp="1" noRot="1" noChangeAspect="1"/>
          </p:cNvSpPr>
          <p:nvPr>
            <p:ph type="sldImg"/>
          </p:nvPr>
        </p:nvSpPr>
        <p:spPr>
          <a:xfrm>
            <a:off x="381000" y="685800"/>
            <a:ext cx="6096000" cy="3429000"/>
          </a:xfrm>
        </p:spPr>
      </p:sp>
      <p:sp>
        <p:nvSpPr>
          <p:cNvPr id="1048607" name="备注占位符 2"/>
          <p:cNvSpPr>
            <a:spLocks noGrp="1"/>
          </p:cNvSpPr>
          <p:nvPr>
            <p:ph type="body" idx="1"/>
          </p:nvPr>
        </p:nvSpPr>
        <p:spPr/>
        <p:txBody>
          <a:bodyPr/>
          <a:lstStyle/>
          <a:p>
            <a:endParaRPr lang="zh-CN" altLang="en-US"/>
          </a:p>
        </p:txBody>
      </p:sp>
      <p:sp>
        <p:nvSpPr>
          <p:cNvPr id="1048608"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2</a:t>
            </a:fld>
            <a:endParaRPr 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6" name="幻灯片图像占位符 1"/>
          <p:cNvSpPr>
            <a:spLocks noGrp="1" noRot="1" noChangeAspect="1"/>
          </p:cNvSpPr>
          <p:nvPr>
            <p:ph type="sldImg"/>
          </p:nvPr>
        </p:nvSpPr>
        <p:spPr>
          <a:xfrm>
            <a:off x="381000" y="685800"/>
            <a:ext cx="6096000" cy="3429000"/>
          </a:xfrm>
        </p:spPr>
      </p:sp>
      <p:sp>
        <p:nvSpPr>
          <p:cNvPr id="1048617" name="备注占位符 2"/>
          <p:cNvSpPr>
            <a:spLocks noGrp="1"/>
          </p:cNvSpPr>
          <p:nvPr>
            <p:ph type="body" idx="1"/>
          </p:nvPr>
        </p:nvSpPr>
        <p:spPr/>
        <p:txBody>
          <a:bodyPr/>
          <a:lstStyle/>
          <a:p>
            <a:endParaRPr lang="zh-CN" altLang="en-US"/>
          </a:p>
        </p:txBody>
      </p:sp>
      <p:sp>
        <p:nvSpPr>
          <p:cNvPr id="1048618"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3</a:t>
            </a:fld>
            <a:endParaRPr 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幻灯片图像占位符 1"/>
          <p:cNvSpPr>
            <a:spLocks noGrp="1" noRot="1" noChangeAspect="1"/>
          </p:cNvSpPr>
          <p:nvPr>
            <p:ph type="sldImg"/>
          </p:nvPr>
        </p:nvSpPr>
        <p:spPr>
          <a:xfrm>
            <a:off x="381000" y="685800"/>
            <a:ext cx="6096000" cy="3429000"/>
          </a:xfrm>
        </p:spPr>
      </p:sp>
      <p:sp>
        <p:nvSpPr>
          <p:cNvPr id="1048635" name="备注占位符 2"/>
          <p:cNvSpPr>
            <a:spLocks noGrp="1"/>
          </p:cNvSpPr>
          <p:nvPr>
            <p:ph type="body" idx="1"/>
          </p:nvPr>
        </p:nvSpPr>
        <p:spPr/>
        <p:txBody>
          <a:bodyPr/>
          <a:lstStyle/>
          <a:p>
            <a:endParaRPr lang="zh-CN" altLang="en-US"/>
          </a:p>
        </p:txBody>
      </p:sp>
      <p:sp>
        <p:nvSpPr>
          <p:cNvPr id="1048636"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4</a:t>
            </a:fld>
            <a:endParaRPr 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9" name="幻灯片图像占位符 1"/>
          <p:cNvSpPr>
            <a:spLocks noGrp="1" noRot="1" noChangeAspect="1"/>
          </p:cNvSpPr>
          <p:nvPr>
            <p:ph type="sldImg"/>
          </p:nvPr>
        </p:nvSpPr>
        <p:spPr>
          <a:xfrm>
            <a:off x="381000" y="685800"/>
            <a:ext cx="6096000" cy="3429000"/>
          </a:xfrm>
        </p:spPr>
      </p:sp>
      <p:sp>
        <p:nvSpPr>
          <p:cNvPr id="1048630" name="备注占位符 2"/>
          <p:cNvSpPr>
            <a:spLocks noGrp="1"/>
          </p:cNvSpPr>
          <p:nvPr>
            <p:ph type="body" idx="1"/>
          </p:nvPr>
        </p:nvSpPr>
        <p:spPr/>
        <p:txBody>
          <a:bodyPr/>
          <a:lstStyle/>
          <a:p>
            <a:endParaRPr lang="zh-CN" altLang="en-US"/>
          </a:p>
        </p:txBody>
      </p:sp>
      <p:sp>
        <p:nvSpPr>
          <p:cNvPr id="1048631"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5</a:t>
            </a:fld>
            <a:endParaRPr 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9" name="幻灯片图像占位符 1"/>
          <p:cNvSpPr>
            <a:spLocks noGrp="1" noRot="1" noChangeAspect="1"/>
          </p:cNvSpPr>
          <p:nvPr>
            <p:ph type="sldImg"/>
          </p:nvPr>
        </p:nvSpPr>
        <p:spPr>
          <a:xfrm>
            <a:off x="381000" y="685800"/>
            <a:ext cx="6096000" cy="3429000"/>
          </a:xfrm>
        </p:spPr>
      </p:sp>
      <p:sp>
        <p:nvSpPr>
          <p:cNvPr id="1048630" name="备注占位符 2"/>
          <p:cNvSpPr>
            <a:spLocks noGrp="1"/>
          </p:cNvSpPr>
          <p:nvPr>
            <p:ph type="body" idx="1"/>
          </p:nvPr>
        </p:nvSpPr>
        <p:spPr/>
        <p:txBody>
          <a:bodyPr/>
          <a:lstStyle/>
          <a:p>
            <a:endParaRPr lang="zh-CN" altLang="en-US"/>
          </a:p>
        </p:txBody>
      </p:sp>
      <p:sp>
        <p:nvSpPr>
          <p:cNvPr id="1048631"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6</a:t>
            </a:fld>
            <a:endParaRPr 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7" name="幻灯片图像占位符 1"/>
          <p:cNvSpPr>
            <a:spLocks noGrp="1" noRot="1" noChangeAspect="1"/>
          </p:cNvSpPr>
          <p:nvPr>
            <p:ph type="sldImg"/>
          </p:nvPr>
        </p:nvSpPr>
        <p:spPr>
          <a:xfrm>
            <a:off x="381000" y="685800"/>
            <a:ext cx="6096000" cy="3429000"/>
          </a:xfrm>
        </p:spPr>
      </p:sp>
      <p:sp>
        <p:nvSpPr>
          <p:cNvPr id="1048648" name="备注占位符 2"/>
          <p:cNvSpPr>
            <a:spLocks noGrp="1"/>
          </p:cNvSpPr>
          <p:nvPr>
            <p:ph type="body" idx="1"/>
          </p:nvPr>
        </p:nvSpPr>
        <p:spPr/>
        <p:txBody>
          <a:bodyPr/>
          <a:lstStyle/>
          <a:p>
            <a:endParaRPr lang="zh-CN" altLang="en-US"/>
          </a:p>
        </p:txBody>
      </p:sp>
      <p:sp>
        <p:nvSpPr>
          <p:cNvPr id="1048649"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7</a:t>
            </a:fld>
            <a:endParaRPr lang="en-US">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4" name="幻灯片图像占位符 1"/>
          <p:cNvSpPr>
            <a:spLocks noGrp="1" noRot="1" noChangeAspect="1"/>
          </p:cNvSpPr>
          <p:nvPr>
            <p:ph type="sldImg"/>
          </p:nvPr>
        </p:nvSpPr>
        <p:spPr>
          <a:xfrm>
            <a:off x="381000" y="685800"/>
            <a:ext cx="6096000" cy="3429000"/>
          </a:xfrm>
        </p:spPr>
      </p:sp>
      <p:sp>
        <p:nvSpPr>
          <p:cNvPr id="1048655" name="备注占位符 2"/>
          <p:cNvSpPr>
            <a:spLocks noGrp="1"/>
          </p:cNvSpPr>
          <p:nvPr>
            <p:ph type="body" idx="1"/>
          </p:nvPr>
        </p:nvSpPr>
        <p:spPr/>
        <p:txBody>
          <a:bodyPr/>
          <a:lstStyle/>
          <a:p>
            <a:endParaRPr lang="zh-CN" altLang="en-US"/>
          </a:p>
        </p:txBody>
      </p:sp>
      <p:sp>
        <p:nvSpPr>
          <p:cNvPr id="1048656"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8</a:t>
            </a:fld>
            <a:endParaRPr lang="en-US">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4" name="幻灯片图像占位符 1"/>
          <p:cNvSpPr>
            <a:spLocks noGrp="1" noRot="1" noChangeAspect="1"/>
          </p:cNvSpPr>
          <p:nvPr>
            <p:ph type="sldImg"/>
          </p:nvPr>
        </p:nvSpPr>
        <p:spPr>
          <a:xfrm>
            <a:off x="381000" y="685800"/>
            <a:ext cx="6096000" cy="3429000"/>
          </a:xfrm>
        </p:spPr>
      </p:sp>
      <p:sp>
        <p:nvSpPr>
          <p:cNvPr id="1048655" name="备注占位符 2"/>
          <p:cNvSpPr>
            <a:spLocks noGrp="1"/>
          </p:cNvSpPr>
          <p:nvPr>
            <p:ph type="body" idx="1"/>
          </p:nvPr>
        </p:nvSpPr>
        <p:spPr/>
        <p:txBody>
          <a:bodyPr/>
          <a:lstStyle/>
          <a:p>
            <a:endParaRPr lang="zh-CN" altLang="en-US"/>
          </a:p>
        </p:txBody>
      </p:sp>
      <p:sp>
        <p:nvSpPr>
          <p:cNvPr id="1048656"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9</a:t>
            </a:fld>
            <a:endParaRPr 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4" name="幻灯片图像占位符 1"/>
          <p:cNvSpPr>
            <a:spLocks noGrp="1" noRot="1" noChangeAspect="1"/>
          </p:cNvSpPr>
          <p:nvPr>
            <p:ph type="sldImg"/>
          </p:nvPr>
        </p:nvSpPr>
        <p:spPr>
          <a:xfrm>
            <a:off x="381000" y="685800"/>
            <a:ext cx="6096000" cy="3429000"/>
          </a:xfrm>
        </p:spPr>
      </p:sp>
      <p:sp>
        <p:nvSpPr>
          <p:cNvPr id="1048655" name="备注占位符 2"/>
          <p:cNvSpPr>
            <a:spLocks noGrp="1"/>
          </p:cNvSpPr>
          <p:nvPr>
            <p:ph type="body" idx="1"/>
          </p:nvPr>
        </p:nvSpPr>
        <p:spPr/>
        <p:txBody>
          <a:bodyPr/>
          <a:lstStyle/>
          <a:p>
            <a:endParaRPr lang="zh-CN" altLang="en-US"/>
          </a:p>
        </p:txBody>
      </p:sp>
      <p:sp>
        <p:nvSpPr>
          <p:cNvPr id="1048656"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10</a:t>
            </a:fld>
            <a:endParaRPr lang="en-US">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8" name="幻灯片图像占位符 1"/>
          <p:cNvSpPr>
            <a:spLocks noGrp="1" noRot="1" noChangeAspect="1"/>
          </p:cNvSpPr>
          <p:nvPr>
            <p:ph type="sldImg"/>
          </p:nvPr>
        </p:nvSpPr>
        <p:spPr>
          <a:xfrm>
            <a:off x="381000" y="685800"/>
            <a:ext cx="6096000" cy="3429000"/>
          </a:xfrm>
        </p:spPr>
      </p:sp>
      <p:sp>
        <p:nvSpPr>
          <p:cNvPr id="1048669" name="备注占位符 2"/>
          <p:cNvSpPr>
            <a:spLocks noGrp="1"/>
          </p:cNvSpPr>
          <p:nvPr>
            <p:ph type="body" idx="1"/>
          </p:nvPr>
        </p:nvSpPr>
        <p:spPr/>
        <p:txBody>
          <a:bodyPr/>
          <a:lstStyle/>
          <a:p>
            <a:endParaRPr lang="zh-CN" altLang="en-US"/>
          </a:p>
        </p:txBody>
      </p:sp>
      <p:sp>
        <p:nvSpPr>
          <p:cNvPr id="1048670"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11</a:t>
            </a:fld>
            <a:endParaRPr 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Tree>
  </p:cSld>
  <p:clrMapOvr>
    <a:masterClrMapping/>
  </p:clrMapOvr>
  <p:transition advTm="9437"/>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587" name="矩形 11"/>
          <p:cNvSpPr/>
          <p:nvPr userDrawn="1"/>
        </p:nvSpPr>
        <p:spPr>
          <a:xfrm>
            <a:off x="6170389" y="134946"/>
            <a:ext cx="775136" cy="218441"/>
          </a:xfrm>
          <a:prstGeom prst="rect">
            <a:avLst/>
          </a:prstGeom>
        </p:spPr>
        <p:txBody>
          <a:bodyPr wrap="square">
            <a:spAutoFit/>
          </a:bodyPr>
          <a:lstStyle/>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
        <p:nvSpPr>
          <p:cNvPr id="1048588" name="标题 1"/>
          <p:cNvSpPr>
            <a:spLocks noGrp="1"/>
          </p:cNvSpPr>
          <p:nvPr>
            <p:ph type="title"/>
          </p:nvPr>
        </p:nvSpPr>
        <p:spPr>
          <a:xfrm>
            <a:off x="825625" y="908051"/>
            <a:ext cx="10601349" cy="635000"/>
          </a:xfrm>
        </p:spPr>
        <p:txBody>
          <a:bodyPr/>
          <a:lstStyle>
            <a:lvl1pPr>
              <a:defRPr>
                <a:solidFill>
                  <a:schemeClr val="accent1"/>
                </a:solidFill>
              </a:defRPr>
            </a:lvl1pPr>
          </a:lstStyle>
          <a:p>
            <a:r>
              <a:rPr lang="zh-CN" altLang="en-US"/>
              <a:t>单击此处编辑母版标题样式</a:t>
            </a:r>
          </a:p>
        </p:txBody>
      </p:sp>
      <p:sp>
        <p:nvSpPr>
          <p:cNvPr id="1048589" name="内容占位符 2"/>
          <p:cNvSpPr>
            <a:spLocks noGrp="1"/>
          </p:cNvSpPr>
          <p:nvPr>
            <p:ph idx="1"/>
          </p:nvPr>
        </p:nvSpPr>
        <p:spPr>
          <a:xfrm>
            <a:off x="825625" y="1600201"/>
            <a:ext cx="10601349" cy="4525963"/>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590" name="Freeform 5"/>
          <p:cNvSpPr/>
          <p:nvPr userDrawn="1"/>
        </p:nvSpPr>
        <p:spPr bwMode="auto">
          <a:xfrm>
            <a:off x="63836" y="73173"/>
            <a:ext cx="1227153" cy="486467"/>
          </a:xfrm>
          <a:custGeom>
            <a:avLst/>
            <a:gdLst>
              <a:gd name="T0" fmla="*/ 0 w 1600"/>
              <a:gd name="T1" fmla="*/ 0 h 617"/>
              <a:gd name="T2" fmla="*/ 1429 w 1600"/>
              <a:gd name="T3" fmla="*/ 0 h 617"/>
              <a:gd name="T4" fmla="*/ 1600 w 1600"/>
              <a:gd name="T5" fmla="*/ 308 h 617"/>
              <a:gd name="T6" fmla="*/ 1429 w 1600"/>
              <a:gd name="T7" fmla="*/ 617 h 617"/>
              <a:gd name="T8" fmla="*/ 0 w 1600"/>
              <a:gd name="T9" fmla="*/ 617 h 617"/>
              <a:gd name="T10" fmla="*/ 0 w 1600"/>
              <a:gd name="T11" fmla="*/ 0 h 617"/>
            </a:gdLst>
            <a:ahLst/>
            <a:cxnLst>
              <a:cxn ang="0">
                <a:pos x="T0" y="T1"/>
              </a:cxn>
              <a:cxn ang="0">
                <a:pos x="T2" y="T3"/>
              </a:cxn>
              <a:cxn ang="0">
                <a:pos x="T4" y="T5"/>
              </a:cxn>
              <a:cxn ang="0">
                <a:pos x="T6" y="T7"/>
              </a:cxn>
              <a:cxn ang="0">
                <a:pos x="T8" y="T9"/>
              </a:cxn>
              <a:cxn ang="0">
                <a:pos x="T10" y="T11"/>
              </a:cxn>
            </a:cxnLst>
            <a:rect l="0" t="0" r="r" b="b"/>
            <a:pathLst>
              <a:path w="1600" h="617">
                <a:moveTo>
                  <a:pt x="0" y="0"/>
                </a:moveTo>
                <a:lnTo>
                  <a:pt x="1429" y="0"/>
                </a:lnTo>
                <a:lnTo>
                  <a:pt x="1600" y="308"/>
                </a:lnTo>
                <a:lnTo>
                  <a:pt x="1429" y="617"/>
                </a:lnTo>
                <a:lnTo>
                  <a:pt x="0" y="617"/>
                </a:lnTo>
                <a:lnTo>
                  <a:pt x="0" y="0"/>
                </a:lnTo>
                <a:close/>
              </a:path>
            </a:pathLst>
          </a:custGeom>
          <a:solidFill>
            <a:schemeClr val="tx1"/>
          </a:solidFill>
          <a:ln>
            <a:noFill/>
          </a:ln>
        </p:spPr>
        <p:txBody>
          <a:bodyPr vert="horz" wrap="square" lIns="91434" tIns="45717" rIns="91434" bIns="45717" numCol="1" anchor="t" anchorCtr="0" compatLnSpc="1"/>
          <a:lstStyle/>
          <a:p>
            <a:endParaRPr lang="zh-CN" altLang="en-US"/>
          </a:p>
        </p:txBody>
      </p:sp>
      <p:sp>
        <p:nvSpPr>
          <p:cNvPr id="1048591" name="Freeform 6"/>
          <p:cNvSpPr/>
          <p:nvPr userDrawn="1"/>
        </p:nvSpPr>
        <p:spPr bwMode="auto">
          <a:xfrm>
            <a:off x="1196835" y="73173"/>
            <a:ext cx="10215809" cy="486467"/>
          </a:xfrm>
          <a:custGeom>
            <a:avLst/>
            <a:gdLst>
              <a:gd name="T0" fmla="*/ 0 w 13327"/>
              <a:gd name="T1" fmla="*/ 0 h 617"/>
              <a:gd name="T2" fmla="*/ 13155 w 13327"/>
              <a:gd name="T3" fmla="*/ 0 h 617"/>
              <a:gd name="T4" fmla="*/ 13327 w 13327"/>
              <a:gd name="T5" fmla="*/ 308 h 617"/>
              <a:gd name="T6" fmla="*/ 13155 w 13327"/>
              <a:gd name="T7" fmla="*/ 617 h 617"/>
              <a:gd name="T8" fmla="*/ 0 w 13327"/>
              <a:gd name="T9" fmla="*/ 617 h 617"/>
              <a:gd name="T10" fmla="*/ 171 w 13327"/>
              <a:gd name="T11" fmla="*/ 308 h 617"/>
              <a:gd name="T12" fmla="*/ 0 w 13327"/>
              <a:gd name="T13" fmla="*/ 0 h 617"/>
            </a:gdLst>
            <a:ahLst/>
            <a:cxnLst>
              <a:cxn ang="0">
                <a:pos x="T0" y="T1"/>
              </a:cxn>
              <a:cxn ang="0">
                <a:pos x="T2" y="T3"/>
              </a:cxn>
              <a:cxn ang="0">
                <a:pos x="T4" y="T5"/>
              </a:cxn>
              <a:cxn ang="0">
                <a:pos x="T6" y="T7"/>
              </a:cxn>
              <a:cxn ang="0">
                <a:pos x="T8" y="T9"/>
              </a:cxn>
              <a:cxn ang="0">
                <a:pos x="T10" y="T11"/>
              </a:cxn>
              <a:cxn ang="0">
                <a:pos x="T12" y="T13"/>
              </a:cxn>
            </a:cxnLst>
            <a:rect l="0" t="0" r="r" b="b"/>
            <a:pathLst>
              <a:path w="13327" h="617">
                <a:moveTo>
                  <a:pt x="0" y="0"/>
                </a:moveTo>
                <a:lnTo>
                  <a:pt x="13155" y="0"/>
                </a:lnTo>
                <a:lnTo>
                  <a:pt x="13327" y="308"/>
                </a:lnTo>
                <a:lnTo>
                  <a:pt x="13155" y="617"/>
                </a:lnTo>
                <a:lnTo>
                  <a:pt x="0" y="617"/>
                </a:lnTo>
                <a:lnTo>
                  <a:pt x="171"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p>
        </p:txBody>
      </p:sp>
      <p:sp>
        <p:nvSpPr>
          <p:cNvPr id="1048592" name="Freeform 7"/>
          <p:cNvSpPr/>
          <p:nvPr userDrawn="1"/>
        </p:nvSpPr>
        <p:spPr bwMode="auto">
          <a:xfrm>
            <a:off x="11320057" y="73173"/>
            <a:ext cx="812871" cy="486467"/>
          </a:xfrm>
          <a:custGeom>
            <a:avLst/>
            <a:gdLst>
              <a:gd name="T0" fmla="*/ 0 w 1060"/>
              <a:gd name="T1" fmla="*/ 0 h 617"/>
              <a:gd name="T2" fmla="*/ 1060 w 1060"/>
              <a:gd name="T3" fmla="*/ 0 h 617"/>
              <a:gd name="T4" fmla="*/ 1060 w 1060"/>
              <a:gd name="T5" fmla="*/ 617 h 617"/>
              <a:gd name="T6" fmla="*/ 0 w 1060"/>
              <a:gd name="T7" fmla="*/ 617 h 617"/>
              <a:gd name="T8" fmla="*/ 172 w 1060"/>
              <a:gd name="T9" fmla="*/ 308 h 617"/>
              <a:gd name="T10" fmla="*/ 0 w 1060"/>
              <a:gd name="T11" fmla="*/ 0 h 617"/>
            </a:gdLst>
            <a:ahLst/>
            <a:cxnLst>
              <a:cxn ang="0">
                <a:pos x="T0" y="T1"/>
              </a:cxn>
              <a:cxn ang="0">
                <a:pos x="T2" y="T3"/>
              </a:cxn>
              <a:cxn ang="0">
                <a:pos x="T4" y="T5"/>
              </a:cxn>
              <a:cxn ang="0">
                <a:pos x="T6" y="T7"/>
              </a:cxn>
              <a:cxn ang="0">
                <a:pos x="T8" y="T9"/>
              </a:cxn>
              <a:cxn ang="0">
                <a:pos x="T10" y="T11"/>
              </a:cxn>
            </a:cxnLst>
            <a:rect l="0" t="0" r="r" b="b"/>
            <a:pathLst>
              <a:path w="1060" h="617">
                <a:moveTo>
                  <a:pt x="0" y="0"/>
                </a:moveTo>
                <a:lnTo>
                  <a:pt x="1060" y="0"/>
                </a:lnTo>
                <a:lnTo>
                  <a:pt x="1060" y="617"/>
                </a:lnTo>
                <a:lnTo>
                  <a:pt x="0" y="617"/>
                </a:lnTo>
                <a:lnTo>
                  <a:pt x="172"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p>
        </p:txBody>
      </p:sp>
      <p:sp>
        <p:nvSpPr>
          <p:cNvPr id="1048593" name="TextBox 14"/>
          <p:cNvSpPr txBox="1"/>
          <p:nvPr userDrawn="1"/>
        </p:nvSpPr>
        <p:spPr>
          <a:xfrm>
            <a:off x="11537052" y="116633"/>
            <a:ext cx="424168" cy="345434"/>
          </a:xfrm>
          <a:prstGeom prst="rect">
            <a:avLst/>
          </a:prstGeom>
          <a:noFill/>
        </p:spPr>
        <p:txBody>
          <a:bodyPr wrap="none" lIns="91434" tIns="45717" rIns="91434" bIns="45717" rtlCol="0">
            <a:spAutoFit/>
          </a:bodyPr>
          <a:lstStyle/>
          <a:p>
            <a:pPr algn="ctr"/>
            <a:fld id="{B879B013-EF15-44F9-9A4C-93BE492C244C}" type="slidenum">
              <a:rPr lang="zh-CN" altLang="en-US" sz="1700" smtClean="0">
                <a:solidFill>
                  <a:schemeClr val="accent2"/>
                </a:solidFill>
                <a:latin typeface="+mn-ea"/>
                <a:ea typeface="+mn-ea"/>
              </a:rPr>
              <a:t>‹#›</a:t>
            </a:fld>
            <a:endParaRPr lang="zh-CN" altLang="en-US" sz="1700" dirty="0">
              <a:solidFill>
                <a:schemeClr val="accent2"/>
              </a:solidFill>
              <a:latin typeface="+mn-ea"/>
              <a:ea typeface="+mn-ea"/>
            </a:endParaRPr>
          </a:p>
        </p:txBody>
      </p:sp>
    </p:spTree>
  </p:cSld>
  <p:clrMapOvr>
    <a:masterClrMapping/>
  </p:clrMapOvr>
  <p:transition advTm="943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48590"/>
                                        </p:tgtEl>
                                        <p:attrNameLst>
                                          <p:attrName>style.visibility</p:attrName>
                                        </p:attrNameLst>
                                      </p:cBhvr>
                                      <p:to>
                                        <p:strVal val="visible"/>
                                      </p:to>
                                    </p:set>
                                    <p:anim calcmode="lin" valueType="num">
                                      <p:cBhvr additive="base">
                                        <p:cTn id="7" dur="300" fill="hold"/>
                                        <p:tgtEl>
                                          <p:spTgt spid="1048590"/>
                                        </p:tgtEl>
                                        <p:attrNameLst>
                                          <p:attrName>ppt_x</p:attrName>
                                        </p:attrNameLst>
                                      </p:cBhvr>
                                      <p:tavLst>
                                        <p:tav tm="0">
                                          <p:val>
                                            <p:strVal val="0-#ppt_w/2"/>
                                          </p:val>
                                        </p:tav>
                                        <p:tav tm="100000">
                                          <p:val>
                                            <p:strVal val="#ppt_x"/>
                                          </p:val>
                                        </p:tav>
                                      </p:tavLst>
                                    </p:anim>
                                    <p:anim calcmode="lin" valueType="num">
                                      <p:cBhvr additive="base">
                                        <p:cTn id="8" dur="300" fill="hold"/>
                                        <p:tgtEl>
                                          <p:spTgt spid="104859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1048591"/>
                                        </p:tgtEl>
                                        <p:attrNameLst>
                                          <p:attrName>style.visibility</p:attrName>
                                        </p:attrNameLst>
                                      </p:cBhvr>
                                      <p:to>
                                        <p:strVal val="visible"/>
                                      </p:to>
                                    </p:set>
                                    <p:animEffect transition="in" filter="wipe(left)">
                                      <p:cBhvr>
                                        <p:cTn id="12" dur="300"/>
                                        <p:tgtEl>
                                          <p:spTgt spid="1048591"/>
                                        </p:tgtEl>
                                      </p:cBhvr>
                                    </p:animEffect>
                                  </p:childTnLst>
                                </p:cTn>
                              </p:par>
                            </p:childTnLst>
                          </p:cTn>
                        </p:par>
                        <p:par>
                          <p:cTn id="13" fill="hold">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1048592"/>
                                        </p:tgtEl>
                                        <p:attrNameLst>
                                          <p:attrName>style.visibility</p:attrName>
                                        </p:attrNameLst>
                                      </p:cBhvr>
                                      <p:to>
                                        <p:strVal val="visible"/>
                                      </p:to>
                                    </p:set>
                                    <p:anim calcmode="lin" valueType="num">
                                      <p:cBhvr additive="base">
                                        <p:cTn id="16" dur="300" fill="hold"/>
                                        <p:tgtEl>
                                          <p:spTgt spid="1048592"/>
                                        </p:tgtEl>
                                        <p:attrNameLst>
                                          <p:attrName>ppt_x</p:attrName>
                                        </p:attrNameLst>
                                      </p:cBhvr>
                                      <p:tavLst>
                                        <p:tav tm="0">
                                          <p:val>
                                            <p:strVal val="1+#ppt_w/2"/>
                                          </p:val>
                                        </p:tav>
                                        <p:tav tm="100000">
                                          <p:val>
                                            <p:strVal val="#ppt_x"/>
                                          </p:val>
                                        </p:tav>
                                      </p:tavLst>
                                    </p:anim>
                                    <p:anim calcmode="lin" valueType="num">
                                      <p:cBhvr additive="base">
                                        <p:cTn id="17" dur="300" fill="hold"/>
                                        <p:tgtEl>
                                          <p:spTgt spid="10485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590" grpId="0" animBg="1"/>
      <p:bldP spid="1048591" grpId="0" animBg="1"/>
      <p:bldP spid="1048592"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48689" name="标题 1"/>
          <p:cNvSpPr>
            <a:spLocks noGrp="1"/>
          </p:cNvSpPr>
          <p:nvPr>
            <p:ph type="title"/>
          </p:nvPr>
        </p:nvSpPr>
        <p:spPr>
          <a:xfrm>
            <a:off x="963614" y="4406901"/>
            <a:ext cx="10366375" cy="1362075"/>
          </a:xfrm>
        </p:spPr>
        <p:txBody>
          <a:bodyPr anchor="t"/>
          <a:lstStyle>
            <a:lvl1pPr algn="l">
              <a:defRPr sz="4000" b="1" cap="all">
                <a:solidFill>
                  <a:srgbClr val="F8F8F8"/>
                </a:solidFill>
              </a:defRPr>
            </a:lvl1pPr>
          </a:lstStyle>
          <a:p>
            <a:r>
              <a:rPr lang="zh-CN" altLang="en-US"/>
              <a:t>单击此处编辑母版标题样式</a:t>
            </a:r>
          </a:p>
        </p:txBody>
      </p:sp>
      <p:sp>
        <p:nvSpPr>
          <p:cNvPr id="1048690" name="文本占位符 2"/>
          <p:cNvSpPr>
            <a:spLocks noGrp="1"/>
          </p:cNvSpPr>
          <p:nvPr>
            <p:ph type="body" idx="1"/>
          </p:nvPr>
        </p:nvSpPr>
        <p:spPr>
          <a:xfrm>
            <a:off x="963614" y="2906713"/>
            <a:ext cx="10366375" cy="1500187"/>
          </a:xfrm>
        </p:spPr>
        <p:txBody>
          <a:bodyPr anchor="b"/>
          <a:lstStyle>
            <a:lvl1pPr marL="0" indent="0">
              <a:buNone/>
              <a:defRPr sz="2000">
                <a:solidFill>
                  <a:srgbClr val="F8F8F8"/>
                </a:solidFill>
              </a:defRPr>
            </a:lvl1pPr>
            <a:lvl2pPr marL="457200" indent="0">
              <a:buNone/>
              <a:defRPr sz="1700"/>
            </a:lvl2pPr>
            <a:lvl3pPr marL="914400" indent="0">
              <a:buNone/>
              <a:defRPr sz="1600"/>
            </a:lvl3pPr>
            <a:lvl4pPr marL="1371600" indent="0">
              <a:buNone/>
              <a:defRPr sz="1300"/>
            </a:lvl4pPr>
            <a:lvl5pPr marL="1828800" indent="0">
              <a:buNone/>
              <a:defRPr sz="1300"/>
            </a:lvl5pPr>
            <a:lvl6pPr marL="2286000" indent="0">
              <a:buNone/>
              <a:defRPr sz="1300"/>
            </a:lvl6pPr>
            <a:lvl7pPr marL="2743200" indent="0">
              <a:buNone/>
              <a:defRPr sz="1300"/>
            </a:lvl7pPr>
            <a:lvl8pPr marL="3200400" indent="0">
              <a:buNone/>
              <a:defRPr sz="1300"/>
            </a:lvl8pPr>
            <a:lvl9pPr marL="3657600" indent="0">
              <a:buNone/>
              <a:defRPr sz="1300"/>
            </a:lvl9pPr>
          </a:lstStyle>
          <a:p>
            <a:pPr lvl="0"/>
            <a:r>
              <a:rPr lang="zh-CN" altLang="en-US"/>
              <a:t>单击此处编辑母版文本样式</a:t>
            </a:r>
          </a:p>
        </p:txBody>
      </p:sp>
    </p:spTree>
  </p:cSld>
  <p:clrMapOvr>
    <a:masterClrMapping/>
  </p:clrMapOvr>
  <p:transition advTm="9437"/>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691" name="标题 1"/>
          <p:cNvSpPr>
            <a:spLocks noGrp="1"/>
          </p:cNvSpPr>
          <p:nvPr>
            <p:ph type="title"/>
          </p:nvPr>
        </p:nvSpPr>
        <p:spPr/>
        <p:txBody>
          <a:bodyPr/>
          <a:lstStyle/>
          <a:p>
            <a:r>
              <a:rPr lang="zh-CN" altLang="en-US"/>
              <a:t>单击此处编辑母版标题样式</a:t>
            </a:r>
          </a:p>
        </p:txBody>
      </p:sp>
      <p:sp>
        <p:nvSpPr>
          <p:cNvPr id="1048692" name="内容占位符 2"/>
          <p:cNvSpPr>
            <a:spLocks noGrp="1"/>
          </p:cNvSpPr>
          <p:nvPr>
            <p:ph sz="half" idx="1"/>
          </p:nvPr>
        </p:nvSpPr>
        <p:spPr>
          <a:xfrm>
            <a:off x="609599" y="1600201"/>
            <a:ext cx="5411788"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693" name="内容占位符 3"/>
          <p:cNvSpPr>
            <a:spLocks noGrp="1"/>
          </p:cNvSpPr>
          <p:nvPr>
            <p:ph sz="half" idx="2"/>
          </p:nvPr>
        </p:nvSpPr>
        <p:spPr>
          <a:xfrm>
            <a:off x="6173788" y="1600201"/>
            <a:ext cx="5413375"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2097171" name="图片 13" descr="泰迪logo无底色.png"/>
          <p:cNvPicPr>
            <a:picLocks noChangeAspect="1"/>
          </p:cNvPicPr>
          <p:nvPr userDrawn="1"/>
        </p:nvPicPr>
        <p:blipFill>
          <a:blip r:embed="rId2" cstate="print"/>
          <a:srcRect/>
          <a:stretch>
            <a:fillRect/>
          </a:stretch>
        </p:blipFill>
        <p:spPr bwMode="auto">
          <a:xfrm>
            <a:off x="601940" y="6309320"/>
            <a:ext cx="918092" cy="242527"/>
          </a:xfrm>
          <a:prstGeom prst="rect">
            <a:avLst/>
          </a:prstGeom>
          <a:noFill/>
          <a:ln>
            <a:noFill/>
          </a:ln>
        </p:spPr>
      </p:pic>
    </p:spTree>
  </p:cSld>
  <p:clrMapOvr>
    <a:masterClrMapping/>
  </p:clrMapOvr>
  <p:transition advTm="9437"/>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694" name="标题 1"/>
          <p:cNvSpPr>
            <a:spLocks noGrp="1"/>
          </p:cNvSpPr>
          <p:nvPr>
            <p:ph type="title"/>
          </p:nvPr>
        </p:nvSpPr>
        <p:spPr>
          <a:xfrm>
            <a:off x="609601" y="274637"/>
            <a:ext cx="10977563" cy="1143000"/>
          </a:xfrm>
        </p:spPr>
        <p:txBody>
          <a:bodyPr/>
          <a:lstStyle/>
          <a:p>
            <a:r>
              <a:rPr lang="zh-CN" altLang="en-US"/>
              <a:t>单击此处编辑母版标题样式</a:t>
            </a:r>
          </a:p>
        </p:txBody>
      </p:sp>
      <p:sp>
        <p:nvSpPr>
          <p:cNvPr id="1048695" name="文本占位符 2"/>
          <p:cNvSpPr>
            <a:spLocks noGrp="1"/>
          </p:cNvSpPr>
          <p:nvPr>
            <p:ph type="body" idx="1"/>
          </p:nvPr>
        </p:nvSpPr>
        <p:spPr>
          <a:xfrm>
            <a:off x="609601" y="1535113"/>
            <a:ext cx="5389563"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48696" name="内容占位符 3"/>
          <p:cNvSpPr>
            <a:spLocks noGrp="1"/>
          </p:cNvSpPr>
          <p:nvPr>
            <p:ph sz="half" idx="2"/>
          </p:nvPr>
        </p:nvSpPr>
        <p:spPr>
          <a:xfrm>
            <a:off x="609601" y="2174875"/>
            <a:ext cx="5389563"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697" name="文本占位符 4"/>
          <p:cNvSpPr>
            <a:spLocks noGrp="1"/>
          </p:cNvSpPr>
          <p:nvPr>
            <p:ph type="body" sz="quarter" idx="3"/>
          </p:nvPr>
        </p:nvSpPr>
        <p:spPr>
          <a:xfrm>
            <a:off x="6196013" y="1535113"/>
            <a:ext cx="5391151"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48698" name="内容占位符 5"/>
          <p:cNvSpPr>
            <a:spLocks noGrp="1"/>
          </p:cNvSpPr>
          <p:nvPr>
            <p:ph sz="quarter" idx="4"/>
          </p:nvPr>
        </p:nvSpPr>
        <p:spPr>
          <a:xfrm>
            <a:off x="6196013" y="2174875"/>
            <a:ext cx="5391151"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advTm="9437"/>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681" name="标题 1"/>
          <p:cNvSpPr>
            <a:spLocks noGrp="1"/>
          </p:cNvSpPr>
          <p:nvPr>
            <p:ph type="title"/>
          </p:nvPr>
        </p:nvSpPr>
        <p:spPr/>
        <p:txBody>
          <a:bodyPr/>
          <a:lstStyle/>
          <a:p>
            <a:r>
              <a:rPr lang="zh-CN" altLang="en-US"/>
              <a:t>单击此处编辑母版标题样式</a:t>
            </a:r>
          </a:p>
        </p:txBody>
      </p:sp>
    </p:spTree>
  </p:cSld>
  <p:clrMapOvr>
    <a:masterClrMapping/>
  </p:clrMapOvr>
  <p:transition advTm="9437"/>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advTm="9437"/>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48699" name="标题 1"/>
          <p:cNvSpPr>
            <a:spLocks noGrp="1"/>
          </p:cNvSpPr>
          <p:nvPr>
            <p:ph type="title"/>
          </p:nvPr>
        </p:nvSpPr>
        <p:spPr>
          <a:xfrm>
            <a:off x="609600" y="273049"/>
            <a:ext cx="4013201" cy="1162051"/>
          </a:xfrm>
        </p:spPr>
        <p:txBody>
          <a:bodyPr anchor="b"/>
          <a:lstStyle>
            <a:lvl1pPr algn="l">
              <a:defRPr sz="2000" b="1"/>
            </a:lvl1pPr>
          </a:lstStyle>
          <a:p>
            <a:r>
              <a:rPr lang="zh-CN" altLang="en-US"/>
              <a:t>单击此处编辑母版标题样式</a:t>
            </a:r>
          </a:p>
        </p:txBody>
      </p:sp>
      <p:sp>
        <p:nvSpPr>
          <p:cNvPr id="1048700" name="内容占位符 2"/>
          <p:cNvSpPr>
            <a:spLocks noGrp="1"/>
          </p:cNvSpPr>
          <p:nvPr>
            <p:ph idx="1"/>
          </p:nvPr>
        </p:nvSpPr>
        <p:spPr>
          <a:xfrm>
            <a:off x="4768850" y="273052"/>
            <a:ext cx="681831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01" name="文本占位符 3"/>
          <p:cNvSpPr>
            <a:spLocks noGrp="1"/>
          </p:cNvSpPr>
          <p:nvPr>
            <p:ph type="body" sz="half" idx="2"/>
          </p:nvPr>
        </p:nvSpPr>
        <p:spPr>
          <a:xfrm>
            <a:off x="609600" y="1435102"/>
            <a:ext cx="4013201" cy="46910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advTm="9437"/>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48684" name="标题 1"/>
          <p:cNvSpPr>
            <a:spLocks noGrp="1"/>
          </p:cNvSpPr>
          <p:nvPr>
            <p:ph type="title"/>
          </p:nvPr>
        </p:nvSpPr>
        <p:spPr>
          <a:xfrm>
            <a:off x="2390775" y="4800600"/>
            <a:ext cx="7318375" cy="566739"/>
          </a:xfrm>
        </p:spPr>
        <p:txBody>
          <a:bodyPr anchor="b"/>
          <a:lstStyle>
            <a:lvl1pPr algn="l">
              <a:defRPr sz="2000" b="1"/>
            </a:lvl1pPr>
          </a:lstStyle>
          <a:p>
            <a:r>
              <a:rPr lang="zh-CN" altLang="en-US"/>
              <a:t>单击此处编辑母版标题样式</a:t>
            </a:r>
          </a:p>
        </p:txBody>
      </p:sp>
      <p:sp>
        <p:nvSpPr>
          <p:cNvPr id="1048685" name="图片占位符 2"/>
          <p:cNvSpPr>
            <a:spLocks noGrp="1"/>
          </p:cNvSpPr>
          <p:nvPr>
            <p:ph type="pic" idx="1"/>
          </p:nvPr>
        </p:nvSpPr>
        <p:spPr>
          <a:xfrm>
            <a:off x="2390775" y="612775"/>
            <a:ext cx="731837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48686" name="文本占位符 3"/>
          <p:cNvSpPr>
            <a:spLocks noGrp="1"/>
          </p:cNvSpPr>
          <p:nvPr>
            <p:ph type="body" sz="half" idx="2"/>
          </p:nvPr>
        </p:nvSpPr>
        <p:spPr>
          <a:xfrm>
            <a:off x="2390775" y="5367338"/>
            <a:ext cx="7318375" cy="8048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advTm="9437"/>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48687" name="标题 1"/>
          <p:cNvSpPr>
            <a:spLocks noGrp="1"/>
          </p:cNvSpPr>
          <p:nvPr>
            <p:ph type="title"/>
          </p:nvPr>
        </p:nvSpPr>
        <p:spPr/>
        <p:txBody>
          <a:bodyPr/>
          <a:lstStyle/>
          <a:p>
            <a:r>
              <a:rPr lang="zh-CN" altLang="en-US"/>
              <a:t>单击此处编辑母版标题样式</a:t>
            </a:r>
          </a:p>
        </p:txBody>
      </p:sp>
      <p:sp>
        <p:nvSpPr>
          <p:cNvPr id="1048688"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advTm="9437"/>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1048682" name="竖排标题 1"/>
          <p:cNvSpPr>
            <a:spLocks noGrp="1"/>
          </p:cNvSpPr>
          <p:nvPr>
            <p:ph type="title" orient="vert"/>
          </p:nvPr>
        </p:nvSpPr>
        <p:spPr>
          <a:xfrm>
            <a:off x="8843963" y="908052"/>
            <a:ext cx="2743201" cy="5218113"/>
          </a:xfrm>
        </p:spPr>
        <p:txBody>
          <a:bodyPr vert="eaVert"/>
          <a:lstStyle/>
          <a:p>
            <a:r>
              <a:rPr lang="zh-CN" altLang="en-US"/>
              <a:t>单击此处编辑母版标题样式</a:t>
            </a:r>
          </a:p>
        </p:txBody>
      </p:sp>
      <p:sp>
        <p:nvSpPr>
          <p:cNvPr id="1048683" name="竖排文字占位符 2"/>
          <p:cNvSpPr>
            <a:spLocks noGrp="1"/>
          </p:cNvSpPr>
          <p:nvPr>
            <p:ph type="body" orient="vert" idx="1"/>
          </p:nvPr>
        </p:nvSpPr>
        <p:spPr>
          <a:xfrm>
            <a:off x="609601" y="908052"/>
            <a:ext cx="8081963" cy="521811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advTm="9437"/>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spTree>
      <p:nvGrpSpPr>
        <p:cNvPr id="1" name=""/>
        <p:cNvGrpSpPr/>
        <p:nvPr/>
      </p:nvGrpSpPr>
      <p:grpSpPr>
        <a:xfrm>
          <a:off x="0" y="0"/>
          <a:ext cx="0" cy="0"/>
          <a:chOff x="0" y="0"/>
          <a:chExt cx="0" cy="0"/>
        </a:xfrm>
      </p:grpSpPr>
      <p:pic>
        <p:nvPicPr>
          <p:cNvPr id="2097155" name="Picture 2" descr="PPECLOGO-eff-0-1"/>
          <p:cNvPicPr>
            <a:picLocks noChangeAspect="1" noChangeArrowheads="1"/>
          </p:cNvPicPr>
          <p:nvPr userDrawn="1"/>
        </p:nvPicPr>
        <p:blipFill>
          <a:blip r:embed="rId2" cstate="screen"/>
          <a:srcRect/>
          <a:stretch>
            <a:fillRect/>
          </a:stretch>
        </p:blipFill>
        <p:spPr bwMode="auto">
          <a:xfrm>
            <a:off x="4146915" y="2886610"/>
            <a:ext cx="1060349" cy="798789"/>
          </a:xfrm>
          <a:prstGeom prst="rect">
            <a:avLst/>
          </a:prstGeom>
          <a:noFill/>
        </p:spPr>
      </p:pic>
      <p:pic>
        <p:nvPicPr>
          <p:cNvPr id="2097156" name="Picture 3" descr="PPECLOGO-eff-0-2"/>
          <p:cNvPicPr>
            <a:picLocks noChangeAspect="1" noChangeArrowheads="1"/>
          </p:cNvPicPr>
          <p:nvPr userDrawn="1"/>
        </p:nvPicPr>
        <p:blipFill>
          <a:blip r:embed="rId3" cstate="screen"/>
          <a:srcRect/>
          <a:stretch>
            <a:fillRect/>
          </a:stretch>
        </p:blipFill>
        <p:spPr bwMode="auto">
          <a:xfrm>
            <a:off x="8430462" y="2758265"/>
            <a:ext cx="1096814" cy="838939"/>
          </a:xfrm>
          <a:prstGeom prst="rect">
            <a:avLst/>
          </a:prstGeom>
          <a:noFill/>
        </p:spPr>
      </p:pic>
      <p:pic>
        <p:nvPicPr>
          <p:cNvPr id="2097157" name="Picture 4" descr="PPECLOGO-eff-0-3"/>
          <p:cNvPicPr>
            <a:picLocks noChangeAspect="1" noChangeArrowheads="1"/>
          </p:cNvPicPr>
          <p:nvPr userDrawn="1"/>
        </p:nvPicPr>
        <p:blipFill>
          <a:blip r:embed="rId4" cstate="print"/>
          <a:srcRect/>
          <a:stretch>
            <a:fillRect/>
          </a:stretch>
        </p:blipFill>
        <p:spPr bwMode="auto">
          <a:xfrm>
            <a:off x="1040451" y="1447780"/>
            <a:ext cx="3013732" cy="2376211"/>
          </a:xfrm>
          <a:prstGeom prst="rect">
            <a:avLst/>
          </a:prstGeom>
          <a:noFill/>
        </p:spPr>
      </p:pic>
      <p:pic>
        <p:nvPicPr>
          <p:cNvPr id="2097158" name="Picture 5" descr="PPECLOGO-eff-0-1"/>
          <p:cNvPicPr>
            <a:picLocks noChangeAspect="1" noChangeArrowheads="1"/>
          </p:cNvPicPr>
          <p:nvPr userDrawn="1"/>
        </p:nvPicPr>
        <p:blipFill>
          <a:blip r:embed="rId5" cstate="screen"/>
          <a:srcRect/>
          <a:stretch>
            <a:fillRect/>
          </a:stretch>
        </p:blipFill>
        <p:spPr bwMode="auto">
          <a:xfrm>
            <a:off x="4467437" y="3771071"/>
            <a:ext cx="524127" cy="395616"/>
          </a:xfrm>
          <a:prstGeom prst="rect">
            <a:avLst/>
          </a:prstGeom>
          <a:noFill/>
        </p:spPr>
      </p:pic>
      <p:pic>
        <p:nvPicPr>
          <p:cNvPr id="2097159" name="Picture 6" descr="PPECLOGO-eff-0-1"/>
          <p:cNvPicPr>
            <a:picLocks noChangeAspect="1" noChangeArrowheads="1"/>
          </p:cNvPicPr>
          <p:nvPr userDrawn="1"/>
        </p:nvPicPr>
        <p:blipFill>
          <a:blip r:embed="rId6" cstate="screen"/>
          <a:srcRect/>
          <a:stretch>
            <a:fillRect/>
          </a:stretch>
        </p:blipFill>
        <p:spPr bwMode="auto">
          <a:xfrm>
            <a:off x="7376341" y="2904247"/>
            <a:ext cx="401158" cy="302381"/>
          </a:xfrm>
          <a:prstGeom prst="rect">
            <a:avLst/>
          </a:prstGeom>
          <a:noFill/>
        </p:spPr>
      </p:pic>
      <p:pic>
        <p:nvPicPr>
          <p:cNvPr id="2097160" name="Picture 8" descr="PPECLOGO-eff-0-2"/>
          <p:cNvPicPr>
            <a:picLocks noChangeAspect="1" noChangeArrowheads="1"/>
          </p:cNvPicPr>
          <p:nvPr userDrawn="1"/>
        </p:nvPicPr>
        <p:blipFill>
          <a:blip r:embed="rId7" cstate="screen"/>
          <a:srcRect/>
          <a:stretch>
            <a:fillRect/>
          </a:stretch>
        </p:blipFill>
        <p:spPr bwMode="auto">
          <a:xfrm>
            <a:off x="5277818" y="2574150"/>
            <a:ext cx="981731" cy="750913"/>
          </a:xfrm>
          <a:prstGeom prst="rect">
            <a:avLst/>
          </a:prstGeom>
          <a:noFill/>
        </p:spPr>
      </p:pic>
      <p:pic>
        <p:nvPicPr>
          <p:cNvPr id="2097161" name="Picture 9" descr="PPECLOGO-eff-5-4"/>
          <p:cNvPicPr>
            <a:picLocks noChangeAspect="1" noChangeArrowheads="1"/>
          </p:cNvPicPr>
          <p:nvPr userDrawn="1"/>
        </p:nvPicPr>
        <p:blipFill>
          <a:blip r:embed="rId8" cstate="print"/>
          <a:srcRect/>
          <a:stretch>
            <a:fillRect/>
          </a:stretch>
        </p:blipFill>
        <p:spPr bwMode="auto">
          <a:xfrm>
            <a:off x="3261942" y="3206629"/>
            <a:ext cx="1477636" cy="1123849"/>
          </a:xfrm>
          <a:prstGeom prst="rect">
            <a:avLst/>
          </a:prstGeom>
          <a:noFill/>
        </p:spPr>
      </p:pic>
      <p:pic>
        <p:nvPicPr>
          <p:cNvPr id="2097162" name="Picture 10" descr="PPECLOGO-eff-5-2"/>
          <p:cNvPicPr>
            <a:picLocks noChangeAspect="1" noChangeArrowheads="1"/>
          </p:cNvPicPr>
          <p:nvPr userDrawn="1"/>
        </p:nvPicPr>
        <p:blipFill>
          <a:blip r:embed="rId9" cstate="print"/>
          <a:srcRect/>
          <a:stretch>
            <a:fillRect/>
          </a:stretch>
        </p:blipFill>
        <p:spPr bwMode="auto">
          <a:xfrm>
            <a:off x="5352404" y="3446015"/>
            <a:ext cx="1834444" cy="1436309"/>
          </a:xfrm>
          <a:prstGeom prst="rect">
            <a:avLst/>
          </a:prstGeom>
          <a:noFill/>
        </p:spPr>
      </p:pic>
      <p:pic>
        <p:nvPicPr>
          <p:cNvPr id="2097163" name="Picture 11" descr="PPECLOGO-eff-5-4"/>
          <p:cNvPicPr>
            <a:picLocks noChangeAspect="1" noChangeArrowheads="1"/>
          </p:cNvPicPr>
          <p:nvPr userDrawn="1"/>
        </p:nvPicPr>
        <p:blipFill>
          <a:blip r:embed="rId10" cstate="screen"/>
          <a:srcRect/>
          <a:stretch>
            <a:fillRect/>
          </a:stretch>
        </p:blipFill>
        <p:spPr bwMode="auto">
          <a:xfrm>
            <a:off x="9886102" y="2725339"/>
            <a:ext cx="1116793" cy="851707"/>
          </a:xfrm>
          <a:prstGeom prst="rect">
            <a:avLst/>
          </a:prstGeom>
          <a:noFill/>
        </p:spPr>
      </p:pic>
      <p:pic>
        <p:nvPicPr>
          <p:cNvPr id="2097164" name="Picture 12" descr="PPECLOGO-eff-0-1"/>
          <p:cNvPicPr>
            <a:picLocks noChangeAspect="1" noChangeArrowheads="1"/>
          </p:cNvPicPr>
          <p:nvPr userDrawn="1"/>
        </p:nvPicPr>
        <p:blipFill>
          <a:blip r:embed="rId11" cstate="screen"/>
          <a:srcRect/>
          <a:stretch>
            <a:fillRect/>
          </a:stretch>
        </p:blipFill>
        <p:spPr bwMode="auto">
          <a:xfrm>
            <a:off x="7942801" y="3624922"/>
            <a:ext cx="522112" cy="393095"/>
          </a:xfrm>
          <a:prstGeom prst="rect">
            <a:avLst/>
          </a:prstGeom>
          <a:noFill/>
        </p:spPr>
      </p:pic>
      <p:pic>
        <p:nvPicPr>
          <p:cNvPr id="2097165" name="Picture 13" descr="PPECLOGO-eff-0-1"/>
          <p:cNvPicPr>
            <a:picLocks noChangeAspect="1" noChangeArrowheads="1"/>
          </p:cNvPicPr>
          <p:nvPr userDrawn="1"/>
        </p:nvPicPr>
        <p:blipFill>
          <a:blip r:embed="rId11" cstate="screen"/>
          <a:srcRect/>
          <a:stretch>
            <a:fillRect/>
          </a:stretch>
        </p:blipFill>
        <p:spPr bwMode="auto">
          <a:xfrm>
            <a:off x="11254879" y="2365002"/>
            <a:ext cx="522111" cy="393095"/>
          </a:xfrm>
          <a:prstGeom prst="rect">
            <a:avLst/>
          </a:prstGeom>
          <a:noFill/>
        </p:spPr>
      </p:pic>
      <p:pic>
        <p:nvPicPr>
          <p:cNvPr id="2097166" name="Picture 14" descr="PPECLOGO-eff2-1-2"/>
          <p:cNvPicPr>
            <a:picLocks noChangeAspect="1" noChangeArrowheads="1"/>
          </p:cNvPicPr>
          <p:nvPr userDrawn="1"/>
        </p:nvPicPr>
        <p:blipFill>
          <a:blip r:embed="rId12" cstate="print"/>
          <a:srcRect/>
          <a:stretch>
            <a:fillRect/>
          </a:stretch>
        </p:blipFill>
        <p:spPr bwMode="auto">
          <a:xfrm>
            <a:off x="2054437" y="2795895"/>
            <a:ext cx="1697366" cy="1428749"/>
          </a:xfrm>
          <a:prstGeom prst="rect">
            <a:avLst/>
          </a:prstGeom>
          <a:noFill/>
        </p:spPr>
      </p:pic>
      <p:pic>
        <p:nvPicPr>
          <p:cNvPr id="2097167" name="Picture 15" descr="PPECLOGO-eff2-1-3"/>
          <p:cNvPicPr>
            <a:picLocks noChangeAspect="1" noChangeArrowheads="1"/>
          </p:cNvPicPr>
          <p:nvPr userDrawn="1"/>
        </p:nvPicPr>
        <p:blipFill>
          <a:blip r:embed="rId13" cstate="print"/>
          <a:srcRect/>
          <a:stretch>
            <a:fillRect/>
          </a:stretch>
        </p:blipFill>
        <p:spPr bwMode="auto">
          <a:xfrm>
            <a:off x="3983627" y="2785815"/>
            <a:ext cx="437445" cy="365376"/>
          </a:xfrm>
          <a:prstGeom prst="rect">
            <a:avLst/>
          </a:prstGeom>
          <a:noFill/>
        </p:spPr>
      </p:pic>
      <p:pic>
        <p:nvPicPr>
          <p:cNvPr id="2097168" name="Picture 16" descr="PPECLOGO-eff2-1-4"/>
          <p:cNvPicPr>
            <a:picLocks noChangeAspect="1" noChangeArrowheads="1"/>
          </p:cNvPicPr>
          <p:nvPr userDrawn="1"/>
        </p:nvPicPr>
        <p:blipFill>
          <a:blip r:embed="rId14" cstate="print"/>
          <a:srcRect/>
          <a:stretch>
            <a:fillRect/>
          </a:stretch>
        </p:blipFill>
        <p:spPr bwMode="auto">
          <a:xfrm>
            <a:off x="8519341" y="3325061"/>
            <a:ext cx="703540" cy="587123"/>
          </a:xfrm>
          <a:prstGeom prst="rect">
            <a:avLst/>
          </a:prstGeom>
          <a:noFill/>
        </p:spPr>
      </p:pic>
      <p:pic>
        <p:nvPicPr>
          <p:cNvPr id="2097169" name="Picture 17" descr="PPECLOGO-eff2-1-3"/>
          <p:cNvPicPr>
            <a:picLocks noChangeAspect="1" noChangeArrowheads="1"/>
          </p:cNvPicPr>
          <p:nvPr userDrawn="1"/>
        </p:nvPicPr>
        <p:blipFill>
          <a:blip r:embed="rId13" cstate="print"/>
          <a:srcRect/>
          <a:stretch>
            <a:fillRect/>
          </a:stretch>
        </p:blipFill>
        <p:spPr bwMode="auto">
          <a:xfrm>
            <a:off x="9239009" y="2909286"/>
            <a:ext cx="360841" cy="302381"/>
          </a:xfrm>
          <a:prstGeom prst="rect">
            <a:avLst/>
          </a:prstGeom>
          <a:noFill/>
        </p:spPr>
      </p:pic>
      <p:pic>
        <p:nvPicPr>
          <p:cNvPr id="2097170" name="Picture 18" descr="PPECLOGO-eff2-1-3"/>
          <p:cNvPicPr>
            <a:picLocks noChangeAspect="1" noChangeArrowheads="1"/>
          </p:cNvPicPr>
          <p:nvPr userDrawn="1"/>
        </p:nvPicPr>
        <p:blipFill>
          <a:blip r:embed="rId13" cstate="print"/>
          <a:srcRect/>
          <a:stretch>
            <a:fillRect/>
          </a:stretch>
        </p:blipFill>
        <p:spPr bwMode="auto">
          <a:xfrm>
            <a:off x="9744990" y="3446014"/>
            <a:ext cx="282222" cy="236865"/>
          </a:xfrm>
          <a:prstGeom prst="rect">
            <a:avLst/>
          </a:prstGeom>
          <a:noFill/>
        </p:spPr>
      </p:pic>
    </p:spTree>
  </p:cSld>
  <p:clrMapOvr>
    <a:masterClrMapping/>
  </p:clrMapOvr>
  <p:transition advTm="943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97161"/>
                                        </p:tgtEl>
                                        <p:attrNameLst>
                                          <p:attrName>style.visibility</p:attrName>
                                        </p:attrNameLst>
                                      </p:cBhvr>
                                      <p:to>
                                        <p:strVal val="visible"/>
                                      </p:to>
                                    </p:set>
                                    <p:animEffect transition="in" filter="fade">
                                      <p:cBhvr>
                                        <p:cTn id="7" dur="500"/>
                                        <p:tgtEl>
                                          <p:spTgt spid="2097161"/>
                                        </p:tgtEl>
                                      </p:cBhvr>
                                    </p:animEffect>
                                  </p:childTnLst>
                                </p:cTn>
                              </p:par>
                              <p:par>
                                <p:cTn id="8" presetID="10" presetClass="entr" presetSubtype="0" fill="hold" nodeType="withEffect">
                                  <p:stCondLst>
                                    <p:cond delay="0"/>
                                  </p:stCondLst>
                                  <p:childTnLst>
                                    <p:set>
                                      <p:cBhvr>
                                        <p:cTn id="9" dur="1" fill="hold">
                                          <p:stCondLst>
                                            <p:cond delay="0"/>
                                          </p:stCondLst>
                                        </p:cTn>
                                        <p:tgtEl>
                                          <p:spTgt spid="2097158"/>
                                        </p:tgtEl>
                                        <p:attrNameLst>
                                          <p:attrName>style.visibility</p:attrName>
                                        </p:attrNameLst>
                                      </p:cBhvr>
                                      <p:to>
                                        <p:strVal val="visible"/>
                                      </p:to>
                                    </p:set>
                                    <p:animEffect transition="in" filter="fade">
                                      <p:cBhvr>
                                        <p:cTn id="10" dur="500"/>
                                        <p:tgtEl>
                                          <p:spTgt spid="2097158"/>
                                        </p:tgtEl>
                                      </p:cBhvr>
                                    </p:animEffect>
                                  </p:childTnLst>
                                </p:cTn>
                              </p:par>
                              <p:par>
                                <p:cTn id="11" presetID="10" presetClass="entr" presetSubtype="0" fill="hold" nodeType="withEffect">
                                  <p:stCondLst>
                                    <p:cond delay="0"/>
                                  </p:stCondLst>
                                  <p:childTnLst>
                                    <p:set>
                                      <p:cBhvr>
                                        <p:cTn id="12" dur="1" fill="hold">
                                          <p:stCondLst>
                                            <p:cond delay="0"/>
                                          </p:stCondLst>
                                        </p:cTn>
                                        <p:tgtEl>
                                          <p:spTgt spid="2097157"/>
                                        </p:tgtEl>
                                        <p:attrNameLst>
                                          <p:attrName>style.visibility</p:attrName>
                                        </p:attrNameLst>
                                      </p:cBhvr>
                                      <p:to>
                                        <p:strVal val="visible"/>
                                      </p:to>
                                    </p:set>
                                    <p:animEffect transition="in" filter="fade">
                                      <p:cBhvr>
                                        <p:cTn id="13" dur="500"/>
                                        <p:tgtEl>
                                          <p:spTgt spid="2097157"/>
                                        </p:tgtEl>
                                      </p:cBhvr>
                                    </p:animEffect>
                                  </p:childTnLst>
                                </p:cTn>
                              </p:par>
                              <p:par>
                                <p:cTn id="14" presetID="10" presetClass="entr" presetSubtype="0" fill="hold" nodeType="withEffect">
                                  <p:stCondLst>
                                    <p:cond delay="0"/>
                                  </p:stCondLst>
                                  <p:childTnLst>
                                    <p:set>
                                      <p:cBhvr>
                                        <p:cTn id="15" dur="1" fill="hold">
                                          <p:stCondLst>
                                            <p:cond delay="0"/>
                                          </p:stCondLst>
                                        </p:cTn>
                                        <p:tgtEl>
                                          <p:spTgt spid="2097155"/>
                                        </p:tgtEl>
                                        <p:attrNameLst>
                                          <p:attrName>style.visibility</p:attrName>
                                        </p:attrNameLst>
                                      </p:cBhvr>
                                      <p:to>
                                        <p:strVal val="visible"/>
                                      </p:to>
                                    </p:set>
                                    <p:animEffect transition="in" filter="fade">
                                      <p:cBhvr>
                                        <p:cTn id="16" dur="500"/>
                                        <p:tgtEl>
                                          <p:spTgt spid="2097155"/>
                                        </p:tgtEl>
                                      </p:cBhvr>
                                    </p:animEffect>
                                  </p:childTnLst>
                                </p:cTn>
                              </p:par>
                              <p:par>
                                <p:cTn id="17" presetID="10" presetClass="entr" presetSubtype="0" fill="hold" nodeType="withEffect">
                                  <p:stCondLst>
                                    <p:cond delay="0"/>
                                  </p:stCondLst>
                                  <p:childTnLst>
                                    <p:set>
                                      <p:cBhvr>
                                        <p:cTn id="18" dur="1" fill="hold">
                                          <p:stCondLst>
                                            <p:cond delay="0"/>
                                          </p:stCondLst>
                                        </p:cTn>
                                        <p:tgtEl>
                                          <p:spTgt spid="2097160"/>
                                        </p:tgtEl>
                                        <p:attrNameLst>
                                          <p:attrName>style.visibility</p:attrName>
                                        </p:attrNameLst>
                                      </p:cBhvr>
                                      <p:to>
                                        <p:strVal val="visible"/>
                                      </p:to>
                                    </p:set>
                                    <p:animEffect transition="in" filter="fade">
                                      <p:cBhvr>
                                        <p:cTn id="19" dur="500"/>
                                        <p:tgtEl>
                                          <p:spTgt spid="2097160"/>
                                        </p:tgtEl>
                                      </p:cBhvr>
                                    </p:animEffect>
                                  </p:childTnLst>
                                </p:cTn>
                              </p:par>
                              <p:par>
                                <p:cTn id="20" presetID="10" presetClass="entr" presetSubtype="0" fill="hold" nodeType="withEffect">
                                  <p:stCondLst>
                                    <p:cond delay="0"/>
                                  </p:stCondLst>
                                  <p:childTnLst>
                                    <p:set>
                                      <p:cBhvr>
                                        <p:cTn id="21" dur="1" fill="hold">
                                          <p:stCondLst>
                                            <p:cond delay="0"/>
                                          </p:stCondLst>
                                        </p:cTn>
                                        <p:tgtEl>
                                          <p:spTgt spid="2097162"/>
                                        </p:tgtEl>
                                        <p:attrNameLst>
                                          <p:attrName>style.visibility</p:attrName>
                                        </p:attrNameLst>
                                      </p:cBhvr>
                                      <p:to>
                                        <p:strVal val="visible"/>
                                      </p:to>
                                    </p:set>
                                    <p:animEffect transition="in" filter="fade">
                                      <p:cBhvr>
                                        <p:cTn id="22" dur="500"/>
                                        <p:tgtEl>
                                          <p:spTgt spid="2097162"/>
                                        </p:tgtEl>
                                      </p:cBhvr>
                                    </p:animEffect>
                                  </p:childTnLst>
                                </p:cTn>
                              </p:par>
                              <p:par>
                                <p:cTn id="23" presetID="10" presetClass="entr" presetSubtype="0" fill="hold" nodeType="withEffect">
                                  <p:stCondLst>
                                    <p:cond delay="0"/>
                                  </p:stCondLst>
                                  <p:childTnLst>
                                    <p:set>
                                      <p:cBhvr>
                                        <p:cTn id="24" dur="1" fill="hold">
                                          <p:stCondLst>
                                            <p:cond delay="0"/>
                                          </p:stCondLst>
                                        </p:cTn>
                                        <p:tgtEl>
                                          <p:spTgt spid="2097164"/>
                                        </p:tgtEl>
                                        <p:attrNameLst>
                                          <p:attrName>style.visibility</p:attrName>
                                        </p:attrNameLst>
                                      </p:cBhvr>
                                      <p:to>
                                        <p:strVal val="visible"/>
                                      </p:to>
                                    </p:set>
                                    <p:animEffect transition="in" filter="fade">
                                      <p:cBhvr>
                                        <p:cTn id="25" dur="500"/>
                                        <p:tgtEl>
                                          <p:spTgt spid="2097164"/>
                                        </p:tgtEl>
                                      </p:cBhvr>
                                    </p:animEffect>
                                  </p:childTnLst>
                                </p:cTn>
                              </p:par>
                              <p:par>
                                <p:cTn id="26" presetID="10" presetClass="entr" presetSubtype="0" fill="hold" nodeType="withEffect">
                                  <p:stCondLst>
                                    <p:cond delay="0"/>
                                  </p:stCondLst>
                                  <p:childTnLst>
                                    <p:set>
                                      <p:cBhvr>
                                        <p:cTn id="27" dur="1" fill="hold">
                                          <p:stCondLst>
                                            <p:cond delay="0"/>
                                          </p:stCondLst>
                                        </p:cTn>
                                        <p:tgtEl>
                                          <p:spTgt spid="2097156"/>
                                        </p:tgtEl>
                                        <p:attrNameLst>
                                          <p:attrName>style.visibility</p:attrName>
                                        </p:attrNameLst>
                                      </p:cBhvr>
                                      <p:to>
                                        <p:strVal val="visible"/>
                                      </p:to>
                                    </p:set>
                                    <p:animEffect transition="in" filter="fade">
                                      <p:cBhvr>
                                        <p:cTn id="28" dur="500"/>
                                        <p:tgtEl>
                                          <p:spTgt spid="2097156"/>
                                        </p:tgtEl>
                                      </p:cBhvr>
                                    </p:animEffect>
                                  </p:childTnLst>
                                </p:cTn>
                              </p:par>
                              <p:par>
                                <p:cTn id="29" presetID="10" presetClass="entr" presetSubtype="0" fill="hold" nodeType="withEffect">
                                  <p:stCondLst>
                                    <p:cond delay="0"/>
                                  </p:stCondLst>
                                  <p:childTnLst>
                                    <p:set>
                                      <p:cBhvr>
                                        <p:cTn id="30" dur="1" fill="hold">
                                          <p:stCondLst>
                                            <p:cond delay="0"/>
                                          </p:stCondLst>
                                        </p:cTn>
                                        <p:tgtEl>
                                          <p:spTgt spid="2097163"/>
                                        </p:tgtEl>
                                        <p:attrNameLst>
                                          <p:attrName>style.visibility</p:attrName>
                                        </p:attrNameLst>
                                      </p:cBhvr>
                                      <p:to>
                                        <p:strVal val="visible"/>
                                      </p:to>
                                    </p:set>
                                    <p:animEffect transition="in" filter="fade">
                                      <p:cBhvr>
                                        <p:cTn id="31" dur="500"/>
                                        <p:tgtEl>
                                          <p:spTgt spid="2097163"/>
                                        </p:tgtEl>
                                      </p:cBhvr>
                                    </p:animEffect>
                                  </p:childTnLst>
                                </p:cTn>
                              </p:par>
                              <p:par>
                                <p:cTn id="32" presetID="10" presetClass="entr" presetSubtype="0" fill="hold" nodeType="withEffect">
                                  <p:stCondLst>
                                    <p:cond delay="0"/>
                                  </p:stCondLst>
                                  <p:childTnLst>
                                    <p:set>
                                      <p:cBhvr>
                                        <p:cTn id="33" dur="1" fill="hold">
                                          <p:stCondLst>
                                            <p:cond delay="0"/>
                                          </p:stCondLst>
                                        </p:cTn>
                                        <p:tgtEl>
                                          <p:spTgt spid="2097159"/>
                                        </p:tgtEl>
                                        <p:attrNameLst>
                                          <p:attrName>style.visibility</p:attrName>
                                        </p:attrNameLst>
                                      </p:cBhvr>
                                      <p:to>
                                        <p:strVal val="visible"/>
                                      </p:to>
                                    </p:set>
                                    <p:animEffect transition="in" filter="fade">
                                      <p:cBhvr>
                                        <p:cTn id="34" dur="500"/>
                                        <p:tgtEl>
                                          <p:spTgt spid="2097159"/>
                                        </p:tgtEl>
                                      </p:cBhvr>
                                    </p:animEffect>
                                  </p:childTnLst>
                                </p:cTn>
                              </p:par>
                              <p:par>
                                <p:cTn id="35" presetID="10" presetClass="entr" presetSubtype="0" fill="hold" nodeType="withEffect">
                                  <p:stCondLst>
                                    <p:cond delay="0"/>
                                  </p:stCondLst>
                                  <p:childTnLst>
                                    <p:set>
                                      <p:cBhvr>
                                        <p:cTn id="36" dur="1" fill="hold">
                                          <p:stCondLst>
                                            <p:cond delay="0"/>
                                          </p:stCondLst>
                                        </p:cTn>
                                        <p:tgtEl>
                                          <p:spTgt spid="2097165"/>
                                        </p:tgtEl>
                                        <p:attrNameLst>
                                          <p:attrName>style.visibility</p:attrName>
                                        </p:attrNameLst>
                                      </p:cBhvr>
                                      <p:to>
                                        <p:strVal val="visible"/>
                                      </p:to>
                                    </p:set>
                                    <p:animEffect transition="in" filter="fade">
                                      <p:cBhvr>
                                        <p:cTn id="37" dur="500"/>
                                        <p:tgtEl>
                                          <p:spTgt spid="2097165"/>
                                        </p:tgtEl>
                                      </p:cBhvr>
                                    </p:animEffect>
                                  </p:childTnLst>
                                </p:cTn>
                              </p:par>
                              <p:par>
                                <p:cTn id="38" presetID="35" presetClass="path" presetSubtype="0" fill="hold" nodeType="withEffect">
                                  <p:stCondLst>
                                    <p:cond delay="0"/>
                                  </p:stCondLst>
                                  <p:childTnLst>
                                    <p:animMotion origin="layout" path="M 0 0  L -0.25 0  E" pathEditMode="relative" rAng="0" ptsTypes="">
                                      <p:cBhvr>
                                        <p:cTn id="39" dur="3000" fill="hold"/>
                                        <p:tgtEl>
                                          <p:spTgt spid="2097163"/>
                                        </p:tgtEl>
                                        <p:attrNameLst>
                                          <p:attrName>ppt_x</p:attrName>
                                          <p:attrName>ppt_y</p:attrName>
                                        </p:attrNameLst>
                                      </p:cBhvr>
                                      <p:rCtr x="0" y="0"/>
                                    </p:animMotion>
                                  </p:childTnLst>
                                </p:cTn>
                              </p:par>
                              <p:par>
                                <p:cTn id="40" presetID="35" presetClass="path" presetSubtype="0" fill="hold" nodeType="withEffect">
                                  <p:stCondLst>
                                    <p:cond delay="0"/>
                                  </p:stCondLst>
                                  <p:childTnLst>
                                    <p:animMotion origin="layout" path="M 4.16667E-6 3.33333E-6 L -0.31632 3.33333E-6 " pathEditMode="relative" rAng="0" ptsTypes="AA">
                                      <p:cBhvr>
                                        <p:cTn id="41" dur="3000" fill="hold"/>
                                        <p:tgtEl>
                                          <p:spTgt spid="2097156"/>
                                        </p:tgtEl>
                                        <p:attrNameLst>
                                          <p:attrName>ppt_x</p:attrName>
                                          <p:attrName>ppt_y</p:attrName>
                                        </p:attrNameLst>
                                      </p:cBhvr>
                                      <p:rCtr x="-15816" y="0"/>
                                    </p:animMotion>
                                  </p:childTnLst>
                                </p:cTn>
                              </p:par>
                              <p:par>
                                <p:cTn id="42" presetID="35" presetClass="path" presetSubtype="0" fill="hold" nodeType="withEffect">
                                  <p:stCondLst>
                                    <p:cond delay="0"/>
                                  </p:stCondLst>
                                  <p:childTnLst>
                                    <p:animMotion origin="layout" path="M 0.00504 -1.85185E-6 L -0.46684 -1.85185E-6 " pathEditMode="relative" rAng="0" ptsTypes="AA">
                                      <p:cBhvr>
                                        <p:cTn id="43" dur="3000" fill="hold"/>
                                        <p:tgtEl>
                                          <p:spTgt spid="2097159"/>
                                        </p:tgtEl>
                                        <p:attrNameLst>
                                          <p:attrName>ppt_x</p:attrName>
                                          <p:attrName>ppt_y</p:attrName>
                                        </p:attrNameLst>
                                      </p:cBhvr>
                                      <p:rCtr x="-23594" y="0"/>
                                    </p:animMotion>
                                  </p:childTnLst>
                                </p:cTn>
                              </p:par>
                              <p:par>
                                <p:cTn id="44" presetID="35" presetClass="path" presetSubtype="0" fill="hold" nodeType="withEffect">
                                  <p:stCondLst>
                                    <p:cond delay="0"/>
                                  </p:stCondLst>
                                  <p:childTnLst>
                                    <p:animMotion origin="layout" path="M -3.05556E-6 1.11111E-6 L -0.19531 1.11111E-6 " pathEditMode="relative" rAng="0" ptsTypes="AA">
                                      <p:cBhvr>
                                        <p:cTn id="45" dur="3000" fill="hold"/>
                                        <p:tgtEl>
                                          <p:spTgt spid="2097160"/>
                                        </p:tgtEl>
                                        <p:attrNameLst>
                                          <p:attrName>ppt_x</p:attrName>
                                          <p:attrName>ppt_y</p:attrName>
                                        </p:attrNameLst>
                                      </p:cBhvr>
                                      <p:rCtr x="-9774" y="0"/>
                                    </p:animMotion>
                                  </p:childTnLst>
                                </p:cTn>
                              </p:par>
                              <p:par>
                                <p:cTn id="46" presetID="35" presetClass="path" presetSubtype="0" fill="hold" nodeType="withEffect">
                                  <p:stCondLst>
                                    <p:cond delay="0"/>
                                  </p:stCondLst>
                                  <p:childTnLst>
                                    <p:animMotion origin="layout" path="M 5.55556E-7 2.59259E-6 L -0.43594 2.59259E-6 " pathEditMode="relative" rAng="0" ptsTypes="AA">
                                      <p:cBhvr>
                                        <p:cTn id="47" dur="3000" fill="hold"/>
                                        <p:tgtEl>
                                          <p:spTgt spid="2097158"/>
                                        </p:tgtEl>
                                        <p:attrNameLst>
                                          <p:attrName>ppt_x</p:attrName>
                                          <p:attrName>ppt_y</p:attrName>
                                        </p:attrNameLst>
                                      </p:cBhvr>
                                      <p:rCtr x="-21806" y="0"/>
                                    </p:animMotion>
                                  </p:childTnLst>
                                </p:cTn>
                              </p:par>
                              <p:par>
                                <p:cTn id="48" presetID="35" presetClass="path" presetSubtype="0" fill="hold" nodeType="withEffect">
                                  <p:stCondLst>
                                    <p:cond delay="0"/>
                                  </p:stCondLst>
                                  <p:childTnLst>
                                    <p:animMotion origin="layout" path="M 3.05556E-6 -1.85185E-6 L -0.33577 -1.85185E-6 " pathEditMode="relative" rAng="0" ptsTypes="AA">
                                      <p:cBhvr>
                                        <p:cTn id="49" dur="3000" fill="hold"/>
                                        <p:tgtEl>
                                          <p:spTgt spid="2097155"/>
                                        </p:tgtEl>
                                        <p:attrNameLst>
                                          <p:attrName>ppt_x</p:attrName>
                                          <p:attrName>ppt_y</p:attrName>
                                        </p:attrNameLst>
                                      </p:cBhvr>
                                      <p:rCtr x="-16788" y="0"/>
                                    </p:animMotion>
                                  </p:childTnLst>
                                </p:cTn>
                              </p:par>
                              <p:par>
                                <p:cTn id="50" presetID="35" presetClass="path" presetSubtype="0" fill="hold" nodeType="withEffect">
                                  <p:stCondLst>
                                    <p:cond delay="0"/>
                                  </p:stCondLst>
                                  <p:childTnLst>
                                    <p:animMotion origin="layout" path="M 1.66667E-6 -1.85185E-6 L -0.57188 -1.85185E-6 " pathEditMode="relative" rAng="0" ptsTypes="AA">
                                      <p:cBhvr>
                                        <p:cTn id="51" dur="3000" fill="hold"/>
                                        <p:tgtEl>
                                          <p:spTgt spid="2097164"/>
                                        </p:tgtEl>
                                        <p:attrNameLst>
                                          <p:attrName>ppt_x</p:attrName>
                                          <p:attrName>ppt_y</p:attrName>
                                        </p:attrNameLst>
                                      </p:cBhvr>
                                      <p:rCtr x="-28594" y="0"/>
                                    </p:animMotion>
                                  </p:childTnLst>
                                </p:cTn>
                              </p:par>
                              <p:par>
                                <p:cTn id="52" presetID="35" presetClass="path" presetSubtype="0" fill="hold" nodeType="withEffect">
                                  <p:stCondLst>
                                    <p:cond delay="0"/>
                                  </p:stCondLst>
                                  <p:childTnLst>
                                    <p:animMotion origin="layout" path="M 1.66667E-6 -1.85185E-6 L -0.57188 -1.85185E-6 " pathEditMode="relative" rAng="0" ptsTypes="AA">
                                      <p:cBhvr>
                                        <p:cTn id="53" dur="3000" fill="hold"/>
                                        <p:tgtEl>
                                          <p:spTgt spid="2097165"/>
                                        </p:tgtEl>
                                        <p:attrNameLst>
                                          <p:attrName>ppt_x</p:attrName>
                                          <p:attrName>ppt_y</p:attrName>
                                        </p:attrNameLst>
                                      </p:cBhvr>
                                      <p:rCtr x="-28594" y="0"/>
                                    </p:animMotion>
                                  </p:childTnLst>
                                </p:cTn>
                              </p:par>
                              <p:par>
                                <p:cTn id="54" presetID="63" presetClass="path" presetSubtype="0" fill="hold" nodeType="withEffect">
                                  <p:stCondLst>
                                    <p:cond delay="0"/>
                                  </p:stCondLst>
                                  <p:childTnLst>
                                    <p:animMotion origin="layout" path="M 5.55556E-7 2.59259E-6 L 0.43906 2.59259E-6 " pathEditMode="relative" rAng="0" ptsTypes="AA">
                                      <p:cBhvr>
                                        <p:cTn id="55" dur="3000" fill="hold"/>
                                        <p:tgtEl>
                                          <p:spTgt spid="2097162"/>
                                        </p:tgtEl>
                                        <p:attrNameLst>
                                          <p:attrName>ppt_x</p:attrName>
                                          <p:attrName>ppt_y</p:attrName>
                                        </p:attrNameLst>
                                      </p:cBhvr>
                                      <p:rCtr x="21944" y="0"/>
                                    </p:animMotion>
                                  </p:childTnLst>
                                </p:cTn>
                              </p:par>
                              <p:par>
                                <p:cTn id="56" presetID="63" presetClass="path" presetSubtype="0" fill="hold" nodeType="withEffect">
                                  <p:stCondLst>
                                    <p:cond delay="0"/>
                                  </p:stCondLst>
                                  <p:childTnLst>
                                    <p:animMotion origin="layout" path="M -1.38889E-6 2.96296E-6 L 0.62813 2.96296E-6 " pathEditMode="relative" rAng="0" ptsTypes="AA">
                                      <p:cBhvr>
                                        <p:cTn id="57" dur="3000" fill="hold"/>
                                        <p:tgtEl>
                                          <p:spTgt spid="2097161"/>
                                        </p:tgtEl>
                                        <p:attrNameLst>
                                          <p:attrName>ppt_x</p:attrName>
                                          <p:attrName>ppt_y</p:attrName>
                                        </p:attrNameLst>
                                      </p:cBhvr>
                                      <p:rCtr x="31406" y="0"/>
                                    </p:animMotion>
                                  </p:childTnLst>
                                </p:cTn>
                              </p:par>
                              <p:par>
                                <p:cTn id="58" presetID="63" presetClass="path" presetSubtype="0" fill="hold" nodeType="withEffect">
                                  <p:stCondLst>
                                    <p:cond delay="0"/>
                                  </p:stCondLst>
                                  <p:childTnLst>
                                    <p:animMotion origin="layout" path="M 2.77778E-6 -2.96296E-6 L 0.42465 -2.96296E-6 " pathEditMode="relative" rAng="0" ptsTypes="AA">
                                      <p:cBhvr>
                                        <p:cTn id="59" dur="3000" fill="hold"/>
                                        <p:tgtEl>
                                          <p:spTgt spid="2097157"/>
                                        </p:tgtEl>
                                        <p:attrNameLst>
                                          <p:attrName>ppt_x</p:attrName>
                                          <p:attrName>ppt_y</p:attrName>
                                        </p:attrNameLst>
                                      </p:cBhvr>
                                      <p:rCtr x="21233" y="0"/>
                                    </p:animMotion>
                                  </p:childTnLst>
                                </p:cTn>
                              </p:par>
                              <p:par>
                                <p:cTn id="60" presetID="10" presetClass="exit" presetSubtype="0" fill="hold" nodeType="withEffect">
                                  <p:stCondLst>
                                    <p:cond delay="2500"/>
                                  </p:stCondLst>
                                  <p:childTnLst>
                                    <p:animEffect transition="out" filter="fade">
                                      <p:cBhvr>
                                        <p:cTn id="61" dur="500"/>
                                        <p:tgtEl>
                                          <p:spTgt spid="2097161"/>
                                        </p:tgtEl>
                                      </p:cBhvr>
                                    </p:animEffect>
                                    <p:set>
                                      <p:cBhvr>
                                        <p:cTn id="62" dur="1" fill="hold">
                                          <p:stCondLst>
                                            <p:cond delay="499"/>
                                          </p:stCondLst>
                                        </p:cTn>
                                        <p:tgtEl>
                                          <p:spTgt spid="2097161"/>
                                        </p:tgtEl>
                                        <p:attrNameLst>
                                          <p:attrName>style.visibility</p:attrName>
                                        </p:attrNameLst>
                                      </p:cBhvr>
                                      <p:to>
                                        <p:strVal val="hidden"/>
                                      </p:to>
                                    </p:set>
                                  </p:childTnLst>
                                </p:cTn>
                              </p:par>
                              <p:par>
                                <p:cTn id="63" presetID="10" presetClass="exit" presetSubtype="0" fill="hold" nodeType="withEffect">
                                  <p:stCondLst>
                                    <p:cond delay="2500"/>
                                  </p:stCondLst>
                                  <p:childTnLst>
                                    <p:animEffect transition="out" filter="fade">
                                      <p:cBhvr>
                                        <p:cTn id="64" dur="500"/>
                                        <p:tgtEl>
                                          <p:spTgt spid="2097162"/>
                                        </p:tgtEl>
                                      </p:cBhvr>
                                    </p:animEffect>
                                    <p:set>
                                      <p:cBhvr>
                                        <p:cTn id="65" dur="1" fill="hold">
                                          <p:stCondLst>
                                            <p:cond delay="499"/>
                                          </p:stCondLst>
                                        </p:cTn>
                                        <p:tgtEl>
                                          <p:spTgt spid="2097162"/>
                                        </p:tgtEl>
                                        <p:attrNameLst>
                                          <p:attrName>style.visibility</p:attrName>
                                        </p:attrNameLst>
                                      </p:cBhvr>
                                      <p:to>
                                        <p:strVal val="hidden"/>
                                      </p:to>
                                    </p:set>
                                  </p:childTnLst>
                                </p:cTn>
                              </p:par>
                              <p:par>
                                <p:cTn id="66" presetID="10" presetClass="exit" presetSubtype="0" fill="hold" nodeType="withEffect">
                                  <p:stCondLst>
                                    <p:cond delay="2500"/>
                                  </p:stCondLst>
                                  <p:childTnLst>
                                    <p:animEffect transition="out" filter="fade">
                                      <p:cBhvr>
                                        <p:cTn id="67" dur="500"/>
                                        <p:tgtEl>
                                          <p:spTgt spid="2097164"/>
                                        </p:tgtEl>
                                      </p:cBhvr>
                                    </p:animEffect>
                                    <p:set>
                                      <p:cBhvr>
                                        <p:cTn id="68" dur="1" fill="hold">
                                          <p:stCondLst>
                                            <p:cond delay="499"/>
                                          </p:stCondLst>
                                        </p:cTn>
                                        <p:tgtEl>
                                          <p:spTgt spid="2097164"/>
                                        </p:tgtEl>
                                        <p:attrNameLst>
                                          <p:attrName>style.visibility</p:attrName>
                                        </p:attrNameLst>
                                      </p:cBhvr>
                                      <p:to>
                                        <p:strVal val="hidden"/>
                                      </p:to>
                                    </p:set>
                                  </p:childTnLst>
                                </p:cTn>
                              </p:par>
                              <p:par>
                                <p:cTn id="69" presetID="10" presetClass="exit" presetSubtype="0" fill="hold" nodeType="withEffect">
                                  <p:stCondLst>
                                    <p:cond delay="2500"/>
                                  </p:stCondLst>
                                  <p:childTnLst>
                                    <p:animEffect transition="out" filter="fade">
                                      <p:cBhvr>
                                        <p:cTn id="70" dur="500"/>
                                        <p:tgtEl>
                                          <p:spTgt spid="2097158"/>
                                        </p:tgtEl>
                                      </p:cBhvr>
                                    </p:animEffect>
                                    <p:set>
                                      <p:cBhvr>
                                        <p:cTn id="71" dur="1" fill="hold">
                                          <p:stCondLst>
                                            <p:cond delay="499"/>
                                          </p:stCondLst>
                                        </p:cTn>
                                        <p:tgtEl>
                                          <p:spTgt spid="2097158"/>
                                        </p:tgtEl>
                                        <p:attrNameLst>
                                          <p:attrName>style.visibility</p:attrName>
                                        </p:attrNameLst>
                                      </p:cBhvr>
                                      <p:to>
                                        <p:strVal val="hidden"/>
                                      </p:to>
                                    </p:set>
                                  </p:childTnLst>
                                </p:cTn>
                              </p:par>
                              <p:par>
                                <p:cTn id="72" presetID="10" presetClass="exit" presetSubtype="0" fill="hold" nodeType="withEffect">
                                  <p:stCondLst>
                                    <p:cond delay="2500"/>
                                  </p:stCondLst>
                                  <p:childTnLst>
                                    <p:animEffect transition="out" filter="fade">
                                      <p:cBhvr>
                                        <p:cTn id="73" dur="500"/>
                                        <p:tgtEl>
                                          <p:spTgt spid="2097160"/>
                                        </p:tgtEl>
                                      </p:cBhvr>
                                    </p:animEffect>
                                    <p:set>
                                      <p:cBhvr>
                                        <p:cTn id="74" dur="1" fill="hold">
                                          <p:stCondLst>
                                            <p:cond delay="499"/>
                                          </p:stCondLst>
                                        </p:cTn>
                                        <p:tgtEl>
                                          <p:spTgt spid="2097160"/>
                                        </p:tgtEl>
                                        <p:attrNameLst>
                                          <p:attrName>style.visibility</p:attrName>
                                        </p:attrNameLst>
                                      </p:cBhvr>
                                      <p:to>
                                        <p:strVal val="hidden"/>
                                      </p:to>
                                    </p:set>
                                  </p:childTnLst>
                                </p:cTn>
                              </p:par>
                              <p:par>
                                <p:cTn id="75" presetID="10" presetClass="exit" presetSubtype="0" fill="hold" nodeType="withEffect">
                                  <p:stCondLst>
                                    <p:cond delay="2500"/>
                                  </p:stCondLst>
                                  <p:childTnLst>
                                    <p:animEffect transition="out" filter="fade">
                                      <p:cBhvr>
                                        <p:cTn id="76" dur="500"/>
                                        <p:tgtEl>
                                          <p:spTgt spid="2097156"/>
                                        </p:tgtEl>
                                      </p:cBhvr>
                                    </p:animEffect>
                                    <p:set>
                                      <p:cBhvr>
                                        <p:cTn id="77" dur="1" fill="hold">
                                          <p:stCondLst>
                                            <p:cond delay="499"/>
                                          </p:stCondLst>
                                        </p:cTn>
                                        <p:tgtEl>
                                          <p:spTgt spid="2097156"/>
                                        </p:tgtEl>
                                        <p:attrNameLst>
                                          <p:attrName>style.visibility</p:attrName>
                                        </p:attrNameLst>
                                      </p:cBhvr>
                                      <p:to>
                                        <p:strVal val="hidden"/>
                                      </p:to>
                                    </p:set>
                                  </p:childTnLst>
                                </p:cTn>
                              </p:par>
                              <p:par>
                                <p:cTn id="78" presetID="10" presetClass="exit" presetSubtype="0" fill="hold" nodeType="withEffect">
                                  <p:stCondLst>
                                    <p:cond delay="2500"/>
                                  </p:stCondLst>
                                  <p:childTnLst>
                                    <p:animEffect transition="out" filter="fade">
                                      <p:cBhvr>
                                        <p:cTn id="79" dur="500"/>
                                        <p:tgtEl>
                                          <p:spTgt spid="2097163"/>
                                        </p:tgtEl>
                                      </p:cBhvr>
                                    </p:animEffect>
                                    <p:set>
                                      <p:cBhvr>
                                        <p:cTn id="80" dur="1" fill="hold">
                                          <p:stCondLst>
                                            <p:cond delay="499"/>
                                          </p:stCondLst>
                                        </p:cTn>
                                        <p:tgtEl>
                                          <p:spTgt spid="2097163"/>
                                        </p:tgtEl>
                                        <p:attrNameLst>
                                          <p:attrName>style.visibility</p:attrName>
                                        </p:attrNameLst>
                                      </p:cBhvr>
                                      <p:to>
                                        <p:strVal val="hidden"/>
                                      </p:to>
                                    </p:set>
                                  </p:childTnLst>
                                </p:cTn>
                              </p:par>
                              <p:par>
                                <p:cTn id="81" presetID="10" presetClass="exit" presetSubtype="0" fill="hold" nodeType="withEffect">
                                  <p:stCondLst>
                                    <p:cond delay="2500"/>
                                  </p:stCondLst>
                                  <p:childTnLst>
                                    <p:animEffect transition="out" filter="fade">
                                      <p:cBhvr>
                                        <p:cTn id="82" dur="500"/>
                                        <p:tgtEl>
                                          <p:spTgt spid="2097165"/>
                                        </p:tgtEl>
                                      </p:cBhvr>
                                    </p:animEffect>
                                    <p:set>
                                      <p:cBhvr>
                                        <p:cTn id="83" dur="1" fill="hold">
                                          <p:stCondLst>
                                            <p:cond delay="499"/>
                                          </p:stCondLst>
                                        </p:cTn>
                                        <p:tgtEl>
                                          <p:spTgt spid="2097165"/>
                                        </p:tgtEl>
                                        <p:attrNameLst>
                                          <p:attrName>style.visibility</p:attrName>
                                        </p:attrNameLst>
                                      </p:cBhvr>
                                      <p:to>
                                        <p:strVal val="hidden"/>
                                      </p:to>
                                    </p:set>
                                  </p:childTnLst>
                                </p:cTn>
                              </p:par>
                              <p:par>
                                <p:cTn id="84" presetID="10" presetClass="exit" presetSubtype="0" fill="hold" nodeType="withEffect">
                                  <p:stCondLst>
                                    <p:cond delay="2500"/>
                                  </p:stCondLst>
                                  <p:childTnLst>
                                    <p:animEffect transition="out" filter="fade">
                                      <p:cBhvr>
                                        <p:cTn id="85" dur="500"/>
                                        <p:tgtEl>
                                          <p:spTgt spid="2097157"/>
                                        </p:tgtEl>
                                      </p:cBhvr>
                                    </p:animEffect>
                                    <p:set>
                                      <p:cBhvr>
                                        <p:cTn id="86" dur="1" fill="hold">
                                          <p:stCondLst>
                                            <p:cond delay="499"/>
                                          </p:stCondLst>
                                        </p:cTn>
                                        <p:tgtEl>
                                          <p:spTgt spid="2097157"/>
                                        </p:tgtEl>
                                        <p:attrNameLst>
                                          <p:attrName>style.visibility</p:attrName>
                                        </p:attrNameLst>
                                      </p:cBhvr>
                                      <p:to>
                                        <p:strVal val="hidden"/>
                                      </p:to>
                                    </p:set>
                                  </p:childTnLst>
                                </p:cTn>
                              </p:par>
                              <p:par>
                                <p:cTn id="87" presetID="10" presetClass="exit" presetSubtype="0" fill="hold" nodeType="withEffect">
                                  <p:stCondLst>
                                    <p:cond delay="2500"/>
                                  </p:stCondLst>
                                  <p:childTnLst>
                                    <p:animEffect transition="out" filter="fade">
                                      <p:cBhvr>
                                        <p:cTn id="88" dur="500"/>
                                        <p:tgtEl>
                                          <p:spTgt spid="2097155"/>
                                        </p:tgtEl>
                                      </p:cBhvr>
                                    </p:animEffect>
                                    <p:set>
                                      <p:cBhvr>
                                        <p:cTn id="89" dur="1" fill="hold">
                                          <p:stCondLst>
                                            <p:cond delay="499"/>
                                          </p:stCondLst>
                                        </p:cTn>
                                        <p:tgtEl>
                                          <p:spTgt spid="2097155"/>
                                        </p:tgtEl>
                                        <p:attrNameLst>
                                          <p:attrName>style.visibility</p:attrName>
                                        </p:attrNameLst>
                                      </p:cBhvr>
                                      <p:to>
                                        <p:strVal val="hidden"/>
                                      </p:to>
                                    </p:set>
                                  </p:childTnLst>
                                </p:cTn>
                              </p:par>
                              <p:par>
                                <p:cTn id="90" presetID="10" presetClass="exit" presetSubtype="0" fill="hold" nodeType="withEffect">
                                  <p:stCondLst>
                                    <p:cond delay="2500"/>
                                  </p:stCondLst>
                                  <p:childTnLst>
                                    <p:animEffect transition="out" filter="fade">
                                      <p:cBhvr>
                                        <p:cTn id="91" dur="500"/>
                                        <p:tgtEl>
                                          <p:spTgt spid="2097159"/>
                                        </p:tgtEl>
                                      </p:cBhvr>
                                    </p:animEffect>
                                    <p:set>
                                      <p:cBhvr>
                                        <p:cTn id="92" dur="1" fill="hold">
                                          <p:stCondLst>
                                            <p:cond delay="499"/>
                                          </p:stCondLst>
                                        </p:cTn>
                                        <p:tgtEl>
                                          <p:spTgt spid="2097159"/>
                                        </p:tgtEl>
                                        <p:attrNameLst>
                                          <p:attrName>style.visibility</p:attrName>
                                        </p:attrNameLst>
                                      </p:cBhvr>
                                      <p:to>
                                        <p:strVal val="hidden"/>
                                      </p:to>
                                    </p:set>
                                  </p:childTnLst>
                                </p:cTn>
                              </p:par>
                              <p:par>
                                <p:cTn id="93" presetID="10" presetClass="entr" presetSubtype="0" fill="hold" nodeType="withEffect">
                                  <p:stCondLst>
                                    <p:cond delay="0"/>
                                  </p:stCondLst>
                                  <p:childTnLst>
                                    <p:set>
                                      <p:cBhvr>
                                        <p:cTn id="94" dur="1" fill="hold">
                                          <p:stCondLst>
                                            <p:cond delay="0"/>
                                          </p:stCondLst>
                                        </p:cTn>
                                        <p:tgtEl>
                                          <p:spTgt spid="2097166"/>
                                        </p:tgtEl>
                                        <p:attrNameLst>
                                          <p:attrName>style.visibility</p:attrName>
                                        </p:attrNameLst>
                                      </p:cBhvr>
                                      <p:to>
                                        <p:strVal val="visible"/>
                                      </p:to>
                                    </p:set>
                                    <p:animEffect transition="in" filter="fade">
                                      <p:cBhvr>
                                        <p:cTn id="95" dur="100"/>
                                        <p:tgtEl>
                                          <p:spTgt spid="2097166"/>
                                        </p:tgtEl>
                                      </p:cBhvr>
                                    </p:animEffect>
                                  </p:childTnLst>
                                </p:cTn>
                              </p:par>
                              <p:par>
                                <p:cTn id="96" presetID="10" presetClass="entr" presetSubtype="0" fill="hold" nodeType="withEffect">
                                  <p:stCondLst>
                                    <p:cond delay="600"/>
                                  </p:stCondLst>
                                  <p:childTnLst>
                                    <p:set>
                                      <p:cBhvr>
                                        <p:cTn id="97" dur="1" fill="hold">
                                          <p:stCondLst>
                                            <p:cond delay="0"/>
                                          </p:stCondLst>
                                        </p:cTn>
                                        <p:tgtEl>
                                          <p:spTgt spid="2097167"/>
                                        </p:tgtEl>
                                        <p:attrNameLst>
                                          <p:attrName>style.visibility</p:attrName>
                                        </p:attrNameLst>
                                      </p:cBhvr>
                                      <p:to>
                                        <p:strVal val="visible"/>
                                      </p:to>
                                    </p:set>
                                    <p:animEffect transition="in" filter="fade">
                                      <p:cBhvr>
                                        <p:cTn id="98" dur="100"/>
                                        <p:tgtEl>
                                          <p:spTgt spid="2097167"/>
                                        </p:tgtEl>
                                      </p:cBhvr>
                                    </p:animEffect>
                                  </p:childTnLst>
                                </p:cTn>
                              </p:par>
                              <p:par>
                                <p:cTn id="99" presetID="10" presetClass="entr" presetSubtype="0" fill="hold" nodeType="withEffect">
                                  <p:stCondLst>
                                    <p:cond delay="200"/>
                                  </p:stCondLst>
                                  <p:childTnLst>
                                    <p:set>
                                      <p:cBhvr>
                                        <p:cTn id="100" dur="1" fill="hold">
                                          <p:stCondLst>
                                            <p:cond delay="0"/>
                                          </p:stCondLst>
                                        </p:cTn>
                                        <p:tgtEl>
                                          <p:spTgt spid="2097168"/>
                                        </p:tgtEl>
                                        <p:attrNameLst>
                                          <p:attrName>style.visibility</p:attrName>
                                        </p:attrNameLst>
                                      </p:cBhvr>
                                      <p:to>
                                        <p:strVal val="visible"/>
                                      </p:to>
                                    </p:set>
                                    <p:animEffect transition="in" filter="fade">
                                      <p:cBhvr>
                                        <p:cTn id="101" dur="100"/>
                                        <p:tgtEl>
                                          <p:spTgt spid="2097168"/>
                                        </p:tgtEl>
                                      </p:cBhvr>
                                    </p:animEffect>
                                  </p:childTnLst>
                                </p:cTn>
                              </p:par>
                              <p:par>
                                <p:cTn id="102" presetID="10" presetClass="entr" presetSubtype="0" fill="hold" nodeType="withEffect">
                                  <p:stCondLst>
                                    <p:cond delay="1800"/>
                                  </p:stCondLst>
                                  <p:childTnLst>
                                    <p:set>
                                      <p:cBhvr>
                                        <p:cTn id="103" dur="1" fill="hold">
                                          <p:stCondLst>
                                            <p:cond delay="0"/>
                                          </p:stCondLst>
                                        </p:cTn>
                                        <p:tgtEl>
                                          <p:spTgt spid="2097169"/>
                                        </p:tgtEl>
                                        <p:attrNameLst>
                                          <p:attrName>style.visibility</p:attrName>
                                        </p:attrNameLst>
                                      </p:cBhvr>
                                      <p:to>
                                        <p:strVal val="visible"/>
                                      </p:to>
                                    </p:set>
                                    <p:animEffect transition="in" filter="fade">
                                      <p:cBhvr>
                                        <p:cTn id="104" dur="100"/>
                                        <p:tgtEl>
                                          <p:spTgt spid="2097169"/>
                                        </p:tgtEl>
                                      </p:cBhvr>
                                    </p:animEffect>
                                  </p:childTnLst>
                                </p:cTn>
                              </p:par>
                              <p:par>
                                <p:cTn id="105" presetID="10" presetClass="entr" presetSubtype="0" fill="hold" nodeType="withEffect">
                                  <p:stCondLst>
                                    <p:cond delay="2200"/>
                                  </p:stCondLst>
                                  <p:childTnLst>
                                    <p:set>
                                      <p:cBhvr>
                                        <p:cTn id="106" dur="1" fill="hold">
                                          <p:stCondLst>
                                            <p:cond delay="0"/>
                                          </p:stCondLst>
                                        </p:cTn>
                                        <p:tgtEl>
                                          <p:spTgt spid="2097170"/>
                                        </p:tgtEl>
                                        <p:attrNameLst>
                                          <p:attrName>style.visibility</p:attrName>
                                        </p:attrNameLst>
                                      </p:cBhvr>
                                      <p:to>
                                        <p:strVal val="visible"/>
                                      </p:to>
                                    </p:set>
                                    <p:animEffect transition="in" filter="fade">
                                      <p:cBhvr>
                                        <p:cTn id="107" dur="100"/>
                                        <p:tgtEl>
                                          <p:spTgt spid="2097170"/>
                                        </p:tgtEl>
                                      </p:cBhvr>
                                    </p:animEffect>
                                  </p:childTnLst>
                                </p:cTn>
                              </p:par>
                              <p:par>
                                <p:cTn id="108" presetID="53" presetClass="exit" presetSubtype="16" fill="hold" nodeType="withEffect">
                                  <p:stCondLst>
                                    <p:cond delay="100"/>
                                  </p:stCondLst>
                                  <p:childTnLst>
                                    <p:anim calcmode="lin" valueType="num">
                                      <p:cBhvr>
                                        <p:cTn id="109" dur="1000"/>
                                        <p:tgtEl>
                                          <p:spTgt spid="2097166"/>
                                        </p:tgtEl>
                                        <p:attrNameLst>
                                          <p:attrName>ppt_w</p:attrName>
                                        </p:attrNameLst>
                                      </p:cBhvr>
                                      <p:tavLst>
                                        <p:tav tm="0">
                                          <p:val>
                                            <p:strVal val="ppt_w"/>
                                          </p:val>
                                        </p:tav>
                                        <p:tav tm="100000">
                                          <p:val>
                                            <p:fltVal val="0"/>
                                          </p:val>
                                        </p:tav>
                                      </p:tavLst>
                                    </p:anim>
                                    <p:anim calcmode="lin" valueType="num">
                                      <p:cBhvr>
                                        <p:cTn id="110" dur="1000"/>
                                        <p:tgtEl>
                                          <p:spTgt spid="2097166"/>
                                        </p:tgtEl>
                                        <p:attrNameLst>
                                          <p:attrName>ppt_h</p:attrName>
                                        </p:attrNameLst>
                                      </p:cBhvr>
                                      <p:tavLst>
                                        <p:tav tm="0">
                                          <p:val>
                                            <p:strVal val="ppt_h"/>
                                          </p:val>
                                        </p:tav>
                                        <p:tav tm="100000">
                                          <p:val>
                                            <p:fltVal val="0"/>
                                          </p:val>
                                        </p:tav>
                                      </p:tavLst>
                                    </p:anim>
                                    <p:animEffect transition="out" filter="fade">
                                      <p:cBhvr>
                                        <p:cTn id="111" dur="1000"/>
                                        <p:tgtEl>
                                          <p:spTgt spid="2097166"/>
                                        </p:tgtEl>
                                      </p:cBhvr>
                                    </p:animEffect>
                                    <p:set>
                                      <p:cBhvr>
                                        <p:cTn id="112" dur="1" fill="hold">
                                          <p:stCondLst>
                                            <p:cond delay="999"/>
                                          </p:stCondLst>
                                        </p:cTn>
                                        <p:tgtEl>
                                          <p:spTgt spid="2097166"/>
                                        </p:tgtEl>
                                        <p:attrNameLst>
                                          <p:attrName>style.visibility</p:attrName>
                                        </p:attrNameLst>
                                      </p:cBhvr>
                                      <p:to>
                                        <p:strVal val="hidden"/>
                                      </p:to>
                                    </p:set>
                                  </p:childTnLst>
                                </p:cTn>
                              </p:par>
                              <p:par>
                                <p:cTn id="113" presetID="53" presetClass="exit" presetSubtype="16" fill="hold" nodeType="withEffect">
                                  <p:stCondLst>
                                    <p:cond delay="700"/>
                                  </p:stCondLst>
                                  <p:childTnLst>
                                    <p:anim calcmode="lin" valueType="num">
                                      <p:cBhvr>
                                        <p:cTn id="114" dur="500"/>
                                        <p:tgtEl>
                                          <p:spTgt spid="2097167"/>
                                        </p:tgtEl>
                                        <p:attrNameLst>
                                          <p:attrName>ppt_w</p:attrName>
                                        </p:attrNameLst>
                                      </p:cBhvr>
                                      <p:tavLst>
                                        <p:tav tm="0">
                                          <p:val>
                                            <p:strVal val="ppt_w"/>
                                          </p:val>
                                        </p:tav>
                                        <p:tav tm="100000">
                                          <p:val>
                                            <p:fltVal val="0"/>
                                          </p:val>
                                        </p:tav>
                                      </p:tavLst>
                                    </p:anim>
                                    <p:anim calcmode="lin" valueType="num">
                                      <p:cBhvr>
                                        <p:cTn id="115" dur="500"/>
                                        <p:tgtEl>
                                          <p:spTgt spid="2097167"/>
                                        </p:tgtEl>
                                        <p:attrNameLst>
                                          <p:attrName>ppt_h</p:attrName>
                                        </p:attrNameLst>
                                      </p:cBhvr>
                                      <p:tavLst>
                                        <p:tav tm="0">
                                          <p:val>
                                            <p:strVal val="ppt_h"/>
                                          </p:val>
                                        </p:tav>
                                        <p:tav tm="100000">
                                          <p:val>
                                            <p:fltVal val="0"/>
                                          </p:val>
                                        </p:tav>
                                      </p:tavLst>
                                    </p:anim>
                                    <p:animEffect transition="out" filter="fade">
                                      <p:cBhvr>
                                        <p:cTn id="116" dur="500"/>
                                        <p:tgtEl>
                                          <p:spTgt spid="2097167"/>
                                        </p:tgtEl>
                                      </p:cBhvr>
                                    </p:animEffect>
                                    <p:set>
                                      <p:cBhvr>
                                        <p:cTn id="117" dur="1" fill="hold">
                                          <p:stCondLst>
                                            <p:cond delay="499"/>
                                          </p:stCondLst>
                                        </p:cTn>
                                        <p:tgtEl>
                                          <p:spTgt spid="2097167"/>
                                        </p:tgtEl>
                                        <p:attrNameLst>
                                          <p:attrName>style.visibility</p:attrName>
                                        </p:attrNameLst>
                                      </p:cBhvr>
                                      <p:to>
                                        <p:strVal val="hidden"/>
                                      </p:to>
                                    </p:set>
                                  </p:childTnLst>
                                </p:cTn>
                              </p:par>
                              <p:par>
                                <p:cTn id="118" presetID="53" presetClass="exit" presetSubtype="16" fill="hold" nodeType="withEffect">
                                  <p:stCondLst>
                                    <p:cond delay="300"/>
                                  </p:stCondLst>
                                  <p:childTnLst>
                                    <p:anim calcmode="lin" valueType="num">
                                      <p:cBhvr>
                                        <p:cTn id="119" dur="500"/>
                                        <p:tgtEl>
                                          <p:spTgt spid="2097168"/>
                                        </p:tgtEl>
                                        <p:attrNameLst>
                                          <p:attrName>ppt_w</p:attrName>
                                        </p:attrNameLst>
                                      </p:cBhvr>
                                      <p:tavLst>
                                        <p:tav tm="0">
                                          <p:val>
                                            <p:strVal val="ppt_w"/>
                                          </p:val>
                                        </p:tav>
                                        <p:tav tm="100000">
                                          <p:val>
                                            <p:fltVal val="0"/>
                                          </p:val>
                                        </p:tav>
                                      </p:tavLst>
                                    </p:anim>
                                    <p:anim calcmode="lin" valueType="num">
                                      <p:cBhvr>
                                        <p:cTn id="120" dur="500"/>
                                        <p:tgtEl>
                                          <p:spTgt spid="2097168"/>
                                        </p:tgtEl>
                                        <p:attrNameLst>
                                          <p:attrName>ppt_h</p:attrName>
                                        </p:attrNameLst>
                                      </p:cBhvr>
                                      <p:tavLst>
                                        <p:tav tm="0">
                                          <p:val>
                                            <p:strVal val="ppt_h"/>
                                          </p:val>
                                        </p:tav>
                                        <p:tav tm="100000">
                                          <p:val>
                                            <p:fltVal val="0"/>
                                          </p:val>
                                        </p:tav>
                                      </p:tavLst>
                                    </p:anim>
                                    <p:animEffect transition="out" filter="fade">
                                      <p:cBhvr>
                                        <p:cTn id="121" dur="500"/>
                                        <p:tgtEl>
                                          <p:spTgt spid="2097168"/>
                                        </p:tgtEl>
                                      </p:cBhvr>
                                    </p:animEffect>
                                    <p:set>
                                      <p:cBhvr>
                                        <p:cTn id="122" dur="1" fill="hold">
                                          <p:stCondLst>
                                            <p:cond delay="499"/>
                                          </p:stCondLst>
                                        </p:cTn>
                                        <p:tgtEl>
                                          <p:spTgt spid="2097168"/>
                                        </p:tgtEl>
                                        <p:attrNameLst>
                                          <p:attrName>style.visibility</p:attrName>
                                        </p:attrNameLst>
                                      </p:cBhvr>
                                      <p:to>
                                        <p:strVal val="hidden"/>
                                      </p:to>
                                    </p:set>
                                  </p:childTnLst>
                                </p:cTn>
                              </p:par>
                              <p:par>
                                <p:cTn id="123" presetID="53" presetClass="exit" presetSubtype="16" fill="hold" nodeType="withEffect">
                                  <p:stCondLst>
                                    <p:cond delay="1900"/>
                                  </p:stCondLst>
                                  <p:childTnLst>
                                    <p:anim calcmode="lin" valueType="num">
                                      <p:cBhvr>
                                        <p:cTn id="124" dur="500"/>
                                        <p:tgtEl>
                                          <p:spTgt spid="2097169"/>
                                        </p:tgtEl>
                                        <p:attrNameLst>
                                          <p:attrName>ppt_w</p:attrName>
                                        </p:attrNameLst>
                                      </p:cBhvr>
                                      <p:tavLst>
                                        <p:tav tm="0">
                                          <p:val>
                                            <p:strVal val="ppt_w"/>
                                          </p:val>
                                        </p:tav>
                                        <p:tav tm="100000">
                                          <p:val>
                                            <p:fltVal val="0"/>
                                          </p:val>
                                        </p:tav>
                                      </p:tavLst>
                                    </p:anim>
                                    <p:anim calcmode="lin" valueType="num">
                                      <p:cBhvr>
                                        <p:cTn id="125" dur="500"/>
                                        <p:tgtEl>
                                          <p:spTgt spid="2097169"/>
                                        </p:tgtEl>
                                        <p:attrNameLst>
                                          <p:attrName>ppt_h</p:attrName>
                                        </p:attrNameLst>
                                      </p:cBhvr>
                                      <p:tavLst>
                                        <p:tav tm="0">
                                          <p:val>
                                            <p:strVal val="ppt_h"/>
                                          </p:val>
                                        </p:tav>
                                        <p:tav tm="100000">
                                          <p:val>
                                            <p:fltVal val="0"/>
                                          </p:val>
                                        </p:tav>
                                      </p:tavLst>
                                    </p:anim>
                                    <p:animEffect transition="out" filter="fade">
                                      <p:cBhvr>
                                        <p:cTn id="126" dur="500"/>
                                        <p:tgtEl>
                                          <p:spTgt spid="2097169"/>
                                        </p:tgtEl>
                                      </p:cBhvr>
                                    </p:animEffect>
                                    <p:set>
                                      <p:cBhvr>
                                        <p:cTn id="127" dur="1" fill="hold">
                                          <p:stCondLst>
                                            <p:cond delay="499"/>
                                          </p:stCondLst>
                                        </p:cTn>
                                        <p:tgtEl>
                                          <p:spTgt spid="2097169"/>
                                        </p:tgtEl>
                                        <p:attrNameLst>
                                          <p:attrName>style.visibility</p:attrName>
                                        </p:attrNameLst>
                                      </p:cBhvr>
                                      <p:to>
                                        <p:strVal val="hidden"/>
                                      </p:to>
                                    </p:set>
                                  </p:childTnLst>
                                </p:cTn>
                              </p:par>
                              <p:par>
                                <p:cTn id="128" presetID="53" presetClass="exit" presetSubtype="16" fill="hold" nodeType="withEffect">
                                  <p:stCondLst>
                                    <p:cond delay="2300"/>
                                  </p:stCondLst>
                                  <p:childTnLst>
                                    <p:anim calcmode="lin" valueType="num">
                                      <p:cBhvr>
                                        <p:cTn id="129" dur="500"/>
                                        <p:tgtEl>
                                          <p:spTgt spid="2097170"/>
                                        </p:tgtEl>
                                        <p:attrNameLst>
                                          <p:attrName>ppt_w</p:attrName>
                                        </p:attrNameLst>
                                      </p:cBhvr>
                                      <p:tavLst>
                                        <p:tav tm="0">
                                          <p:val>
                                            <p:strVal val="ppt_w"/>
                                          </p:val>
                                        </p:tav>
                                        <p:tav tm="100000">
                                          <p:val>
                                            <p:fltVal val="0"/>
                                          </p:val>
                                        </p:tav>
                                      </p:tavLst>
                                    </p:anim>
                                    <p:anim calcmode="lin" valueType="num">
                                      <p:cBhvr>
                                        <p:cTn id="130" dur="500"/>
                                        <p:tgtEl>
                                          <p:spTgt spid="2097170"/>
                                        </p:tgtEl>
                                        <p:attrNameLst>
                                          <p:attrName>ppt_h</p:attrName>
                                        </p:attrNameLst>
                                      </p:cBhvr>
                                      <p:tavLst>
                                        <p:tav tm="0">
                                          <p:val>
                                            <p:strVal val="ppt_h"/>
                                          </p:val>
                                        </p:tav>
                                        <p:tav tm="100000">
                                          <p:val>
                                            <p:fltVal val="0"/>
                                          </p:val>
                                        </p:tav>
                                      </p:tavLst>
                                    </p:anim>
                                    <p:animEffect transition="out" filter="fade">
                                      <p:cBhvr>
                                        <p:cTn id="131" dur="500"/>
                                        <p:tgtEl>
                                          <p:spTgt spid="2097170"/>
                                        </p:tgtEl>
                                      </p:cBhvr>
                                    </p:animEffect>
                                    <p:set>
                                      <p:cBhvr>
                                        <p:cTn id="132" dur="1" fill="hold">
                                          <p:stCondLst>
                                            <p:cond delay="499"/>
                                          </p:stCondLst>
                                        </p:cTn>
                                        <p:tgtEl>
                                          <p:spTgt spid="209717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4" cstate="print">
            <a:lum/>
          </a:blip>
          <a:srcRect/>
          <a:stretch>
            <a:fillRect/>
          </a:stretch>
        </a:blipFill>
        <a:effectLst/>
      </p:bgPr>
    </p:bg>
    <p:spTree>
      <p:nvGrpSpPr>
        <p:cNvPr id="1" name=""/>
        <p:cNvGrpSpPr/>
        <p:nvPr/>
      </p:nvGrpSpPr>
      <p:grpSpPr>
        <a:xfrm>
          <a:off x="0" y="0"/>
          <a:ext cx="0" cy="0"/>
          <a:chOff x="0" y="0"/>
          <a:chExt cx="0" cy="0"/>
        </a:xfrm>
      </p:grpSpPr>
      <p:sp>
        <p:nvSpPr>
          <p:cNvPr id="1048576" name="Rectangle 2"/>
          <p:cNvSpPr>
            <a:spLocks noGrp="1" noChangeArrowheads="1"/>
          </p:cNvSpPr>
          <p:nvPr>
            <p:ph type="title"/>
          </p:nvPr>
        </p:nvSpPr>
        <p:spPr bwMode="auto">
          <a:xfrm>
            <a:off x="609601" y="908051"/>
            <a:ext cx="10977563" cy="635000"/>
          </a:xfrm>
          <a:prstGeom prst="rect">
            <a:avLst/>
          </a:prstGeom>
          <a:noFill/>
          <a:ln>
            <a:noFill/>
          </a:ln>
        </p:spPr>
        <p:txBody>
          <a:bodyPr vert="horz" wrap="square" lIns="91434" tIns="45717" rIns="91434" bIns="45717" numCol="1" anchor="ctr" anchorCtr="0" compatLnSpc="1"/>
          <a:lstStyle/>
          <a:p>
            <a:pPr lvl="0"/>
            <a:r>
              <a:rPr lang="zh-CN" dirty="0"/>
              <a:t>单击此处编辑母版标题样式</a:t>
            </a:r>
          </a:p>
        </p:txBody>
      </p:sp>
      <p:sp>
        <p:nvSpPr>
          <p:cNvPr id="1048577" name="Rectangle 3"/>
          <p:cNvSpPr>
            <a:spLocks noGrp="1" noChangeArrowheads="1"/>
          </p:cNvSpPr>
          <p:nvPr>
            <p:ph type="body" idx="1"/>
          </p:nvPr>
        </p:nvSpPr>
        <p:spPr bwMode="auto">
          <a:xfrm>
            <a:off x="609601" y="1600201"/>
            <a:ext cx="10977563" cy="4525963"/>
          </a:xfrm>
          <a:prstGeom prst="rect">
            <a:avLst/>
          </a:prstGeom>
          <a:noFill/>
          <a:ln>
            <a:noFill/>
          </a:ln>
        </p:spPr>
        <p:txBody>
          <a:bodyPr vert="horz" wrap="square" lIns="91434" tIns="45717" rIns="91434" bIns="45717" numCol="1" anchor="t" anchorCtr="0" compatLnSpc="1"/>
          <a:lstStyle/>
          <a:p>
            <a:pPr lvl="0"/>
            <a:r>
              <a:rPr lang="zh-CN" dirty="0"/>
              <a:t>单击此处编辑母版文本样式</a:t>
            </a:r>
          </a:p>
          <a:p>
            <a:pPr lvl="1"/>
            <a:r>
              <a:rPr lang="zh-CN" dirty="0"/>
              <a:t>第二级</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advTm="9437"/>
  <p:txStyles>
    <p:titleStyle>
      <a:lvl1pPr algn="l" rtl="0" fontAlgn="base">
        <a:spcBef>
          <a:spcPct val="0"/>
        </a:spcBef>
        <a:spcAft>
          <a:spcPct val="0"/>
        </a:spcAft>
        <a:defRPr sz="2400">
          <a:solidFill>
            <a:schemeClr val="accent1"/>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p:titleStyle>
    <p:bodyStyle>
      <a:lvl1pPr marL="342900" indent="-342900" algn="l" rtl="0" fontAlgn="base">
        <a:spcBef>
          <a:spcPct val="20000"/>
        </a:spcBef>
        <a:spcAft>
          <a:spcPct val="0"/>
        </a:spcAft>
        <a:buChar char="•"/>
        <a:defRPr sz="20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a:solidFill>
            <a:schemeClr val="accent1"/>
          </a:solidFill>
          <a:latin typeface="+mn-lt"/>
          <a:ea typeface="仿宋_GB2312"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18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90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8.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lum/>
          </a:blip>
          <a:srcRect/>
          <a:stretch>
            <a:fillRect/>
          </a:stretch>
        </a:blipFill>
        <a:effectLst/>
      </p:bgPr>
    </p:bg>
    <p:spTree>
      <p:nvGrpSpPr>
        <p:cNvPr id="1" name=""/>
        <p:cNvGrpSpPr/>
        <p:nvPr/>
      </p:nvGrpSpPr>
      <p:grpSpPr>
        <a:xfrm>
          <a:off x="0" y="0"/>
          <a:ext cx="0" cy="0"/>
          <a:chOff x="0" y="0"/>
          <a:chExt cx="0" cy="0"/>
        </a:xfrm>
      </p:grpSpPr>
      <p:pic>
        <p:nvPicPr>
          <p:cNvPr id="2097152" name="图片 2"/>
          <p:cNvPicPr>
            <a:picLocks noChangeAspect="1"/>
          </p:cNvPicPr>
          <p:nvPr/>
        </p:nvPicPr>
        <p:blipFill>
          <a:blip r:embed="rId4" cstate="print"/>
          <a:srcRect/>
          <a:stretch>
            <a:fillRect/>
          </a:stretch>
        </p:blipFill>
        <p:spPr>
          <a:xfrm>
            <a:off x="0" y="0"/>
            <a:ext cx="12196800" cy="2060848"/>
          </a:xfrm>
          <a:prstGeom prst="rect">
            <a:avLst/>
          </a:prstGeom>
        </p:spPr>
      </p:pic>
      <p:sp>
        <p:nvSpPr>
          <p:cNvPr id="1048578" name="Rectangle 3"/>
          <p:cNvSpPr txBox="1">
            <a:spLocks noChangeArrowheads="1"/>
          </p:cNvSpPr>
          <p:nvPr/>
        </p:nvSpPr>
        <p:spPr bwMode="auto">
          <a:xfrm>
            <a:off x="622937" y="2142368"/>
            <a:ext cx="11092068" cy="3446871"/>
          </a:xfrm>
          <a:prstGeom prst="rect">
            <a:avLst/>
          </a:prstGeom>
          <a:noFill/>
          <a:ln>
            <a:noFill/>
          </a:ln>
          <a:effectLst/>
        </p:spPr>
        <p:txBody>
          <a:bodyPr vert="horz" wrap="square" lIns="91434" tIns="45717" rIns="91434" bIns="45717"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algn="ctr"/>
            <a:r>
              <a:rPr lang="en-US" altLang="zh-CN" sz="4800" dirty="0">
                <a:solidFill>
                  <a:srgbClr val="0070C0"/>
                </a:solidFill>
              </a:rPr>
              <a:t>11.7 </a:t>
            </a:r>
            <a:r>
              <a:rPr lang="zh-CN" altLang="zh-CN" sz="4800" dirty="0">
                <a:solidFill>
                  <a:srgbClr val="0070C0"/>
                </a:solidFill>
              </a:rPr>
              <a:t>量化投资策略设计与分析</a:t>
            </a:r>
            <a:endParaRPr lang="zh-CN" altLang="en-US" dirty="0">
              <a:solidFill>
                <a:schemeClr val="tx1"/>
              </a:solidFill>
              <a:latin typeface="+mn-ea"/>
              <a:ea typeface="+mn-ea"/>
            </a:endParaRPr>
          </a:p>
        </p:txBody>
      </p:sp>
      <p:sp>
        <p:nvSpPr>
          <p:cNvPr id="1048579" name="Rectangle 5"/>
          <p:cNvSpPr>
            <a:spLocks noChangeArrowheads="1"/>
          </p:cNvSpPr>
          <p:nvPr/>
        </p:nvSpPr>
        <p:spPr bwMode="auto">
          <a:xfrm>
            <a:off x="-12541" y="2060848"/>
            <a:ext cx="7145630" cy="81520"/>
          </a:xfrm>
          <a:prstGeom prst="rect">
            <a:avLst/>
          </a:prstGeom>
          <a:solidFill>
            <a:schemeClr val="tx1"/>
          </a:solidFill>
          <a:ln>
            <a:noFill/>
          </a:ln>
        </p:spPr>
        <p:txBody>
          <a:bodyPr vert="horz" wrap="square" lIns="91434" tIns="45717" rIns="91434" bIns="45717" numCol="1" anchor="t" anchorCtr="0" compatLnSpc="1"/>
          <a:lstStyle/>
          <a:p>
            <a:endParaRPr lang="zh-CN" altLang="en-US"/>
          </a:p>
        </p:txBody>
      </p:sp>
      <p:sp>
        <p:nvSpPr>
          <p:cNvPr id="1048580" name="Rectangle 6"/>
          <p:cNvSpPr>
            <a:spLocks noChangeArrowheads="1"/>
          </p:cNvSpPr>
          <p:nvPr/>
        </p:nvSpPr>
        <p:spPr bwMode="auto">
          <a:xfrm>
            <a:off x="7120546" y="2060848"/>
            <a:ext cx="1266711" cy="81520"/>
          </a:xfrm>
          <a:prstGeom prst="rect">
            <a:avLst/>
          </a:prstGeom>
          <a:solidFill>
            <a:schemeClr val="accent1"/>
          </a:solidFill>
          <a:ln>
            <a:noFill/>
          </a:ln>
        </p:spPr>
        <p:txBody>
          <a:bodyPr vert="horz" wrap="square" lIns="91434" tIns="45717" rIns="91434" bIns="45717" numCol="1" anchor="t" anchorCtr="0" compatLnSpc="1"/>
          <a:lstStyle/>
          <a:p>
            <a:endParaRPr lang="zh-CN" altLang="en-US"/>
          </a:p>
        </p:txBody>
      </p:sp>
      <p:sp>
        <p:nvSpPr>
          <p:cNvPr id="1048581" name="Rectangle 7"/>
          <p:cNvSpPr>
            <a:spLocks noChangeArrowheads="1"/>
          </p:cNvSpPr>
          <p:nvPr/>
        </p:nvSpPr>
        <p:spPr bwMode="auto">
          <a:xfrm>
            <a:off x="8387259" y="2060848"/>
            <a:ext cx="1265143" cy="81520"/>
          </a:xfrm>
          <a:prstGeom prst="rect">
            <a:avLst/>
          </a:prstGeom>
          <a:solidFill>
            <a:schemeClr val="bg1"/>
          </a:solidFill>
          <a:ln>
            <a:noFill/>
          </a:ln>
        </p:spPr>
        <p:txBody>
          <a:bodyPr vert="horz" wrap="square" lIns="91434" tIns="45717" rIns="91434" bIns="45717" numCol="1" anchor="t" anchorCtr="0" compatLnSpc="1"/>
          <a:lstStyle/>
          <a:p>
            <a:endParaRPr lang="zh-CN" altLang="en-US"/>
          </a:p>
        </p:txBody>
      </p:sp>
      <p:sp>
        <p:nvSpPr>
          <p:cNvPr id="1048582" name="Rectangle 8"/>
          <p:cNvSpPr>
            <a:spLocks noChangeArrowheads="1"/>
          </p:cNvSpPr>
          <p:nvPr/>
        </p:nvSpPr>
        <p:spPr bwMode="auto">
          <a:xfrm>
            <a:off x="9652403" y="2060848"/>
            <a:ext cx="1266711" cy="81520"/>
          </a:xfrm>
          <a:prstGeom prst="rect">
            <a:avLst/>
          </a:prstGeom>
          <a:solidFill>
            <a:schemeClr val="tx2"/>
          </a:solidFill>
          <a:ln>
            <a:noFill/>
          </a:ln>
        </p:spPr>
        <p:txBody>
          <a:bodyPr vert="horz" wrap="square" lIns="91434" tIns="45717" rIns="91434" bIns="45717" numCol="1" anchor="t" anchorCtr="0" compatLnSpc="1"/>
          <a:lstStyle/>
          <a:p>
            <a:endParaRPr lang="zh-CN" altLang="en-US"/>
          </a:p>
        </p:txBody>
      </p:sp>
      <p:sp>
        <p:nvSpPr>
          <p:cNvPr id="1048583" name="Rectangle 9"/>
          <p:cNvSpPr>
            <a:spLocks noChangeArrowheads="1"/>
          </p:cNvSpPr>
          <p:nvPr/>
        </p:nvSpPr>
        <p:spPr bwMode="auto">
          <a:xfrm>
            <a:off x="10919115" y="2060848"/>
            <a:ext cx="1265143" cy="81520"/>
          </a:xfrm>
          <a:prstGeom prst="rect">
            <a:avLst/>
          </a:prstGeom>
          <a:solidFill>
            <a:schemeClr val="bg2"/>
          </a:solidFill>
          <a:ln>
            <a:noFill/>
          </a:ln>
        </p:spPr>
        <p:txBody>
          <a:bodyPr vert="horz" wrap="square" lIns="91434" tIns="45717" rIns="91434" bIns="45717" numCol="1" anchor="t" anchorCtr="0" compatLnSpc="1"/>
          <a:lstStyle/>
          <a:p>
            <a:endParaRPr lang="zh-CN" altLang="en-US"/>
          </a:p>
        </p:txBody>
      </p:sp>
    </p:spTree>
  </p:cSld>
  <p:clrMapOvr>
    <a:masterClrMapping/>
  </p:clrMapOvr>
  <p:transition advTm="9437"/>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11</a:t>
            </a:r>
            <a:r>
              <a:rPr lang="en-US" altLang="zh-CN" dirty="0" smtClean="0">
                <a:solidFill>
                  <a:schemeClr val="accent2"/>
                </a:solidFill>
              </a:rPr>
              <a:t> </a:t>
            </a:r>
            <a:endParaRPr lang="zh-CN" altLang="en-US" dirty="0">
              <a:solidFill>
                <a:schemeClr val="accent2"/>
              </a:solidFill>
            </a:endParaRPr>
          </a:p>
        </p:txBody>
      </p:sp>
      <p:sp>
        <p:nvSpPr>
          <p:cNvPr id="1048595" name="矩形 10"/>
          <p:cNvSpPr>
            <a:spLocks noChangeArrowheads="1"/>
          </p:cNvSpPr>
          <p:nvPr/>
        </p:nvSpPr>
        <p:spPr bwMode="auto">
          <a:xfrm>
            <a:off x="672393" y="1276846"/>
            <a:ext cx="1465548" cy="715924"/>
          </a:xfrm>
          <a:prstGeom prst="rect">
            <a:avLst/>
          </a:prstGeom>
          <a:solidFill>
            <a:srgbClr val="006BBC">
              <a:alpha val="74117"/>
            </a:srgbClr>
          </a:solidFill>
          <a:ln w="9525">
            <a:solidFill>
              <a:schemeClr val="accent2"/>
            </a:solidFill>
            <a:round/>
          </a:ln>
        </p:spPr>
        <p:txBody>
          <a:bodyPr lIns="117221" tIns="58610" rIns="117221" bIns="58610" anchor="ct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 typeface="Arial" panose="020B0604020202020204" pitchFamily="34" charset="0"/>
              <a:buNone/>
            </a:pPr>
            <a:r>
              <a:rPr kumimoji="0" lang="zh-CN" altLang="en-US" sz="2100" b="1" dirty="0" smtClean="0">
                <a:solidFill>
                  <a:schemeClr val="accent2"/>
                </a:solidFill>
                <a:latin typeface="微软雅黑" panose="020B0503020204020204" pitchFamily="34" charset="-122"/>
              </a:rPr>
              <a:t>规则一</a:t>
            </a:r>
            <a:endParaRPr kumimoji="0" lang="zh-CN" altLang="en-US" sz="2100" b="1" dirty="0">
              <a:solidFill>
                <a:schemeClr val="accent2"/>
              </a:solidFill>
              <a:latin typeface="微软雅黑" panose="020B0503020204020204" pitchFamily="34" charset="-122"/>
            </a:endParaRPr>
          </a:p>
        </p:txBody>
      </p:sp>
      <p:sp>
        <p:nvSpPr>
          <p:cNvPr id="1048596" name="矩形 10"/>
          <p:cNvSpPr>
            <a:spLocks noChangeArrowheads="1"/>
          </p:cNvSpPr>
          <p:nvPr/>
        </p:nvSpPr>
        <p:spPr bwMode="auto">
          <a:xfrm>
            <a:off x="672393" y="2422480"/>
            <a:ext cx="1465548" cy="715924"/>
          </a:xfrm>
          <a:prstGeom prst="rect">
            <a:avLst/>
          </a:prstGeom>
          <a:solidFill>
            <a:srgbClr val="006BBC">
              <a:alpha val="74117"/>
            </a:srgbClr>
          </a:solidFill>
          <a:ln w="9525">
            <a:solidFill>
              <a:schemeClr val="accent2"/>
            </a:solidFill>
            <a:round/>
          </a:ln>
        </p:spPr>
        <p:txBody>
          <a:bodyPr lIns="117221" tIns="58610" rIns="117221" bIns="58610" anchor="ct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 typeface="Arial" panose="020B0604020202020204" pitchFamily="34" charset="0"/>
              <a:buNone/>
            </a:pPr>
            <a:r>
              <a:rPr kumimoji="0" lang="zh-CN" altLang="en-US" sz="2100" b="1" dirty="0">
                <a:solidFill>
                  <a:schemeClr val="accent2"/>
                </a:solidFill>
                <a:latin typeface="微软雅黑" panose="020B0503020204020204" pitchFamily="34" charset="-122"/>
              </a:rPr>
              <a:t>规则二</a:t>
            </a:r>
          </a:p>
        </p:txBody>
      </p:sp>
      <p:sp>
        <p:nvSpPr>
          <p:cNvPr id="1048597" name="矩形 10"/>
          <p:cNvSpPr>
            <a:spLocks noChangeArrowheads="1"/>
          </p:cNvSpPr>
          <p:nvPr/>
        </p:nvSpPr>
        <p:spPr bwMode="auto">
          <a:xfrm>
            <a:off x="642115" y="3429000"/>
            <a:ext cx="1512168" cy="715924"/>
          </a:xfrm>
          <a:prstGeom prst="rect">
            <a:avLst/>
          </a:prstGeom>
          <a:solidFill>
            <a:srgbClr val="006BBC">
              <a:alpha val="74117"/>
            </a:srgbClr>
          </a:solidFill>
          <a:ln w="9525">
            <a:solidFill>
              <a:schemeClr val="accent2"/>
            </a:solidFill>
            <a:round/>
          </a:ln>
        </p:spPr>
        <p:txBody>
          <a:bodyPr lIns="117221" tIns="58610" rIns="117221" bIns="58610" anchor="ct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 typeface="Arial" panose="020B0604020202020204" pitchFamily="34" charset="0"/>
              <a:buNone/>
            </a:pPr>
            <a:r>
              <a:rPr kumimoji="0" lang="zh-CN" altLang="en-US" sz="2100" b="1" dirty="0">
                <a:solidFill>
                  <a:schemeClr val="accent2"/>
                </a:solidFill>
                <a:latin typeface="微软雅黑" panose="020B0503020204020204" pitchFamily="34" charset="-122"/>
              </a:rPr>
              <a:t>规则三</a:t>
            </a:r>
          </a:p>
        </p:txBody>
      </p:sp>
      <p:sp>
        <p:nvSpPr>
          <p:cNvPr id="1048598" name="下弧形箭头 6"/>
          <p:cNvSpPr/>
          <p:nvPr/>
        </p:nvSpPr>
        <p:spPr bwMode="auto">
          <a:xfrm rot="20595946">
            <a:off x="475557" y="4520103"/>
            <a:ext cx="9173376" cy="1724233"/>
          </a:xfrm>
          <a:prstGeom prst="curvedUpArrow">
            <a:avLst>
              <a:gd name="adj1" fmla="val 25000"/>
              <a:gd name="adj2" fmla="val 74682"/>
              <a:gd name="adj3" fmla="val 47349"/>
            </a:avLst>
          </a:prstGeom>
          <a:solidFill>
            <a:srgbClr val="00B0F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048599" name="云形标注 11"/>
          <p:cNvSpPr/>
          <p:nvPr/>
        </p:nvSpPr>
        <p:spPr bwMode="auto">
          <a:xfrm>
            <a:off x="7898581" y="1545205"/>
            <a:ext cx="2232248" cy="1593199"/>
          </a:xfrm>
          <a:prstGeom prst="cloudCallout">
            <a:avLst/>
          </a:prstGeom>
          <a:solidFill>
            <a:srgbClr val="00B0F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r>
              <a:rPr lang="zh-CN" altLang="en-US" sz="2400" dirty="0"/>
              <a:t>置信度</a:t>
            </a:r>
            <a:r>
              <a:rPr lang="zh-CN" altLang="en-US" sz="2400" dirty="0" smtClean="0"/>
              <a:t>大于</a:t>
            </a:r>
            <a:r>
              <a:rPr lang="en-US" altLang="zh-CN" sz="2400" dirty="0" smtClean="0"/>
              <a:t>0.7</a:t>
            </a:r>
            <a:r>
              <a:rPr lang="zh-CN" altLang="en-US" sz="2400" dirty="0" smtClean="0"/>
              <a:t>的四条规则</a:t>
            </a:r>
            <a:endParaRPr kumimoji="0" lang="zh-CN" altLang="en-US" sz="2400" b="0" i="0" u="none" strike="noStrike" cap="none" normalizeH="0" baseline="0" dirty="0" smtClean="0">
              <a:ln>
                <a:noFill/>
              </a:ln>
              <a:solidFill>
                <a:schemeClr val="tx1"/>
              </a:solidFill>
              <a:effectLst/>
            </a:endParaRPr>
          </a:p>
        </p:txBody>
      </p:sp>
      <p:sp>
        <p:nvSpPr>
          <p:cNvPr id="1048600" name="TextBox 1"/>
          <p:cNvSpPr txBox="1"/>
          <p:nvPr/>
        </p:nvSpPr>
        <p:spPr>
          <a:xfrm>
            <a:off x="1345853" y="141303"/>
            <a:ext cx="5347196" cy="369332"/>
          </a:xfrm>
          <a:prstGeom prst="rect">
            <a:avLst/>
          </a:prstGeom>
          <a:noFill/>
        </p:spPr>
        <p:txBody>
          <a:bodyPr wrap="square" rtlCol="0">
            <a:spAutoFit/>
          </a:bodyPr>
          <a:lstStyle/>
          <a:p>
            <a:r>
              <a:rPr lang="zh-CN" altLang="en-US" dirty="0">
                <a:solidFill>
                  <a:schemeClr val="accent2"/>
                </a:solidFill>
              </a:rPr>
              <a:t>置信</a:t>
            </a:r>
            <a:r>
              <a:rPr lang="zh-CN" altLang="en-US" dirty="0" smtClean="0">
                <a:solidFill>
                  <a:schemeClr val="accent2"/>
                </a:solidFill>
              </a:rPr>
              <a:t>度的四条规则</a:t>
            </a:r>
            <a:endParaRPr lang="zh-CN" altLang="en-US" dirty="0">
              <a:solidFill>
                <a:schemeClr val="accent2"/>
              </a:solidFill>
            </a:endParaRPr>
          </a:p>
        </p:txBody>
      </p:sp>
      <p:sp>
        <p:nvSpPr>
          <p:cNvPr id="1048601" name="矩形 10"/>
          <p:cNvSpPr>
            <a:spLocks noChangeArrowheads="1"/>
          </p:cNvSpPr>
          <p:nvPr/>
        </p:nvSpPr>
        <p:spPr bwMode="auto">
          <a:xfrm>
            <a:off x="625773" y="4438539"/>
            <a:ext cx="1512168" cy="715924"/>
          </a:xfrm>
          <a:prstGeom prst="rect">
            <a:avLst/>
          </a:prstGeom>
          <a:solidFill>
            <a:srgbClr val="006BBC">
              <a:alpha val="74117"/>
            </a:srgbClr>
          </a:solidFill>
          <a:ln w="9525">
            <a:solidFill>
              <a:schemeClr val="accent2"/>
            </a:solidFill>
            <a:round/>
          </a:ln>
        </p:spPr>
        <p:txBody>
          <a:bodyPr lIns="117221" tIns="58610" rIns="117221" bIns="58610" anchor="ct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 typeface="Arial" panose="020B0604020202020204" pitchFamily="34" charset="0"/>
              <a:buNone/>
            </a:pPr>
            <a:r>
              <a:rPr kumimoji="0" lang="zh-CN" altLang="en-US" sz="2100" b="1" dirty="0" smtClean="0">
                <a:solidFill>
                  <a:schemeClr val="accent2"/>
                </a:solidFill>
                <a:latin typeface="微软雅黑" panose="020B0503020204020204" pitchFamily="34" charset="-122"/>
              </a:rPr>
              <a:t>规则四</a:t>
            </a:r>
            <a:endParaRPr kumimoji="0" lang="zh-CN" altLang="en-US" sz="2100" b="1" dirty="0">
              <a:solidFill>
                <a:schemeClr val="accent2"/>
              </a:solidFill>
              <a:latin typeface="微软雅黑" panose="020B0503020204020204" pitchFamily="34" charset="-122"/>
            </a:endParaRPr>
          </a:p>
        </p:txBody>
      </p:sp>
      <p:sp>
        <p:nvSpPr>
          <p:cNvPr id="1048602" name="TextBox 2"/>
          <p:cNvSpPr txBox="1"/>
          <p:nvPr/>
        </p:nvSpPr>
        <p:spPr>
          <a:xfrm>
            <a:off x="2497981" y="1450142"/>
            <a:ext cx="4464496" cy="369332"/>
          </a:xfrm>
          <a:prstGeom prst="rect">
            <a:avLst/>
          </a:prstGeom>
          <a:noFill/>
        </p:spPr>
        <p:txBody>
          <a:bodyPr wrap="square" rtlCol="0">
            <a:spAutoFit/>
          </a:bodyPr>
          <a:lstStyle/>
          <a:p>
            <a:r>
              <a:rPr lang="zh-CN" altLang="zh-CN" b="1" dirty="0"/>
              <a:t>商业贸易</a:t>
            </a:r>
            <a:r>
              <a:rPr lang="en-US" altLang="zh-CN" b="1" dirty="0"/>
              <a:t>_up--</a:t>
            </a:r>
            <a:r>
              <a:rPr lang="zh-CN" altLang="zh-CN" b="1" dirty="0"/>
              <a:t>家用电器</a:t>
            </a:r>
            <a:r>
              <a:rPr lang="en-US" altLang="zh-CN" b="1" dirty="0"/>
              <a:t>_</a:t>
            </a:r>
            <a:r>
              <a:rPr lang="en-US" altLang="zh-CN" b="1" dirty="0" smtClean="0"/>
              <a:t>up</a:t>
            </a:r>
            <a:endParaRPr lang="zh-CN" altLang="en-US" dirty="0"/>
          </a:p>
        </p:txBody>
      </p:sp>
      <p:sp>
        <p:nvSpPr>
          <p:cNvPr id="1048603" name="TextBox 3"/>
          <p:cNvSpPr txBox="1"/>
          <p:nvPr/>
        </p:nvSpPr>
        <p:spPr>
          <a:xfrm>
            <a:off x="2497981" y="2717943"/>
            <a:ext cx="4320480" cy="369332"/>
          </a:xfrm>
          <a:prstGeom prst="rect">
            <a:avLst/>
          </a:prstGeom>
          <a:noFill/>
        </p:spPr>
        <p:txBody>
          <a:bodyPr wrap="square" rtlCol="0">
            <a:spAutoFit/>
          </a:bodyPr>
          <a:lstStyle/>
          <a:p>
            <a:r>
              <a:rPr lang="zh-CN" altLang="zh-CN" b="1" dirty="0" smtClean="0"/>
              <a:t>通信</a:t>
            </a:r>
            <a:r>
              <a:rPr lang="en-US" altLang="zh-CN" b="1" dirty="0"/>
              <a:t>_up--</a:t>
            </a:r>
            <a:r>
              <a:rPr lang="zh-CN" altLang="zh-CN" b="1" dirty="0"/>
              <a:t>家用电器</a:t>
            </a:r>
            <a:r>
              <a:rPr lang="en-US" altLang="zh-CN" b="1" dirty="0"/>
              <a:t>_</a:t>
            </a:r>
            <a:r>
              <a:rPr lang="en-US" altLang="zh-CN" b="1" dirty="0" smtClean="0"/>
              <a:t>up</a:t>
            </a:r>
            <a:endParaRPr lang="zh-CN" altLang="en-US" dirty="0"/>
          </a:p>
        </p:txBody>
      </p:sp>
      <p:sp>
        <p:nvSpPr>
          <p:cNvPr id="1048604" name="TextBox 4"/>
          <p:cNvSpPr txBox="1"/>
          <p:nvPr/>
        </p:nvSpPr>
        <p:spPr>
          <a:xfrm>
            <a:off x="2641997" y="3573016"/>
            <a:ext cx="4464496" cy="369332"/>
          </a:xfrm>
          <a:prstGeom prst="rect">
            <a:avLst/>
          </a:prstGeom>
          <a:noFill/>
        </p:spPr>
        <p:txBody>
          <a:bodyPr wrap="square" rtlCol="0">
            <a:spAutoFit/>
          </a:bodyPr>
          <a:lstStyle/>
          <a:p>
            <a:r>
              <a:rPr lang="zh-CN" altLang="zh-CN" b="1" dirty="0" smtClean="0"/>
              <a:t>非</a:t>
            </a:r>
            <a:r>
              <a:rPr lang="zh-CN" altLang="zh-CN" b="1" dirty="0"/>
              <a:t>银金融</a:t>
            </a:r>
            <a:r>
              <a:rPr lang="en-US" altLang="zh-CN" b="1" dirty="0"/>
              <a:t>_up--</a:t>
            </a:r>
            <a:r>
              <a:rPr lang="zh-CN" altLang="zh-CN" b="1" dirty="0"/>
              <a:t>家用电器</a:t>
            </a:r>
            <a:r>
              <a:rPr lang="en-US" altLang="zh-CN" b="1" dirty="0"/>
              <a:t>_</a:t>
            </a:r>
            <a:r>
              <a:rPr lang="en-US" altLang="zh-CN" b="1" dirty="0" smtClean="0"/>
              <a:t>up</a:t>
            </a:r>
            <a:endParaRPr lang="zh-CN" altLang="en-US" dirty="0"/>
          </a:p>
        </p:txBody>
      </p:sp>
      <p:sp>
        <p:nvSpPr>
          <p:cNvPr id="1048605" name="TextBox 5"/>
          <p:cNvSpPr txBox="1"/>
          <p:nvPr/>
        </p:nvSpPr>
        <p:spPr>
          <a:xfrm>
            <a:off x="2497981" y="4635659"/>
            <a:ext cx="2880320" cy="369332"/>
          </a:xfrm>
          <a:prstGeom prst="rect">
            <a:avLst/>
          </a:prstGeom>
          <a:noFill/>
        </p:spPr>
        <p:txBody>
          <a:bodyPr wrap="square" rtlCol="0">
            <a:spAutoFit/>
          </a:bodyPr>
          <a:lstStyle/>
          <a:p>
            <a:r>
              <a:rPr lang="zh-CN" altLang="zh-CN" b="1" dirty="0" smtClean="0"/>
              <a:t>采掘</a:t>
            </a:r>
            <a:r>
              <a:rPr lang="en-US" altLang="zh-CN" b="1" dirty="0"/>
              <a:t>_up--</a:t>
            </a:r>
            <a:r>
              <a:rPr lang="zh-CN" altLang="zh-CN" b="1" dirty="0"/>
              <a:t>家用电器</a:t>
            </a:r>
            <a:r>
              <a:rPr lang="en-US" altLang="zh-CN" b="1" dirty="0"/>
              <a:t>_up</a:t>
            </a:r>
            <a:endParaRPr lang="zh-CN" altLang="en-US" dirty="0"/>
          </a:p>
        </p:txBody>
      </p:sp>
      <p:cxnSp>
        <p:nvCxnSpPr>
          <p:cNvPr id="3145728" name="直接连接符 10"/>
          <p:cNvCxnSpPr/>
          <p:nvPr/>
        </p:nvCxnSpPr>
        <p:spPr bwMode="auto">
          <a:xfrm>
            <a:off x="2137941" y="1276846"/>
            <a:ext cx="3456384" cy="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3145729" name="直接连接符 25"/>
          <p:cNvCxnSpPr/>
          <p:nvPr/>
        </p:nvCxnSpPr>
        <p:spPr bwMode="auto">
          <a:xfrm>
            <a:off x="2137941" y="1992770"/>
            <a:ext cx="3456384" cy="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3145730" name="直接连接符 26"/>
          <p:cNvCxnSpPr/>
          <p:nvPr/>
        </p:nvCxnSpPr>
        <p:spPr bwMode="auto">
          <a:xfrm>
            <a:off x="2122738" y="5154463"/>
            <a:ext cx="3456384" cy="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3145731" name="直接连接符 27"/>
          <p:cNvCxnSpPr/>
          <p:nvPr/>
        </p:nvCxnSpPr>
        <p:spPr bwMode="auto">
          <a:xfrm>
            <a:off x="2122738" y="4438539"/>
            <a:ext cx="3456384" cy="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3145732" name="直接连接符 28"/>
          <p:cNvCxnSpPr/>
          <p:nvPr/>
        </p:nvCxnSpPr>
        <p:spPr bwMode="auto">
          <a:xfrm>
            <a:off x="2122738" y="4137719"/>
            <a:ext cx="3456384" cy="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3145733" name="直接连接符 29"/>
          <p:cNvCxnSpPr/>
          <p:nvPr/>
        </p:nvCxnSpPr>
        <p:spPr bwMode="auto">
          <a:xfrm>
            <a:off x="2154283" y="3447735"/>
            <a:ext cx="3456384" cy="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3145734" name="直接连接符 30"/>
          <p:cNvCxnSpPr/>
          <p:nvPr/>
        </p:nvCxnSpPr>
        <p:spPr bwMode="auto">
          <a:xfrm>
            <a:off x="2154283" y="3138404"/>
            <a:ext cx="3456384" cy="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3145735" name="直接连接符 31"/>
          <p:cNvCxnSpPr/>
          <p:nvPr/>
        </p:nvCxnSpPr>
        <p:spPr bwMode="auto">
          <a:xfrm>
            <a:off x="2122738" y="2444458"/>
            <a:ext cx="3456384" cy="0"/>
          </a:xfrm>
          <a:prstGeom prst="line">
            <a:avLst/>
          </a:prstGeom>
          <a:solidFill>
            <a:schemeClr val="accent1"/>
          </a:solidFill>
          <a:ln w="9525" cap="flat" cmpd="sng" algn="ctr">
            <a:solidFill>
              <a:schemeClr val="tx1"/>
            </a:solidFill>
            <a:prstDash val="solid"/>
            <a:round/>
            <a:headEnd type="none" w="med" len="med"/>
            <a:tailEnd type="none" w="med" len="med"/>
          </a:ln>
        </p:spPr>
      </p:cxnSp>
    </p:spTree>
  </p:cSld>
  <p:clrMapOvr>
    <a:masterClrMapping/>
  </p:clrMapOvr>
  <p:transition advTm="9437"/>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48595"/>
                                        </p:tgtEl>
                                        <p:attrNameLst>
                                          <p:attrName>style.visibility</p:attrName>
                                        </p:attrNameLst>
                                      </p:cBhvr>
                                      <p:to>
                                        <p:strVal val="visible"/>
                                      </p:to>
                                    </p:set>
                                    <p:animEffect transition="in" filter="fade">
                                      <p:cBhvr>
                                        <p:cTn id="7" dur="1000"/>
                                        <p:tgtEl>
                                          <p:spTgt spid="1048595"/>
                                        </p:tgtEl>
                                      </p:cBhvr>
                                    </p:animEffect>
                                    <p:anim calcmode="lin" valueType="num">
                                      <p:cBhvr>
                                        <p:cTn id="8" dur="1000" fill="hold"/>
                                        <p:tgtEl>
                                          <p:spTgt spid="1048595"/>
                                        </p:tgtEl>
                                        <p:attrNameLst>
                                          <p:attrName>ppt_x</p:attrName>
                                        </p:attrNameLst>
                                      </p:cBhvr>
                                      <p:tavLst>
                                        <p:tav tm="0">
                                          <p:val>
                                            <p:strVal val="#ppt_x"/>
                                          </p:val>
                                        </p:tav>
                                        <p:tav tm="100000">
                                          <p:val>
                                            <p:strVal val="#ppt_x"/>
                                          </p:val>
                                        </p:tav>
                                      </p:tavLst>
                                    </p:anim>
                                    <p:anim calcmode="lin" valueType="num">
                                      <p:cBhvr>
                                        <p:cTn id="9" dur="1000" fill="hold"/>
                                        <p:tgtEl>
                                          <p:spTgt spid="104859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48596"/>
                                        </p:tgtEl>
                                        <p:attrNameLst>
                                          <p:attrName>style.visibility</p:attrName>
                                        </p:attrNameLst>
                                      </p:cBhvr>
                                      <p:to>
                                        <p:strVal val="visible"/>
                                      </p:to>
                                    </p:set>
                                    <p:animEffect transition="in" filter="fade">
                                      <p:cBhvr>
                                        <p:cTn id="14" dur="1000"/>
                                        <p:tgtEl>
                                          <p:spTgt spid="1048596"/>
                                        </p:tgtEl>
                                      </p:cBhvr>
                                    </p:animEffect>
                                    <p:anim calcmode="lin" valueType="num">
                                      <p:cBhvr>
                                        <p:cTn id="15" dur="1000" fill="hold"/>
                                        <p:tgtEl>
                                          <p:spTgt spid="1048596"/>
                                        </p:tgtEl>
                                        <p:attrNameLst>
                                          <p:attrName>ppt_x</p:attrName>
                                        </p:attrNameLst>
                                      </p:cBhvr>
                                      <p:tavLst>
                                        <p:tav tm="0">
                                          <p:val>
                                            <p:strVal val="#ppt_x"/>
                                          </p:val>
                                        </p:tav>
                                        <p:tav tm="100000">
                                          <p:val>
                                            <p:strVal val="#ppt_x"/>
                                          </p:val>
                                        </p:tav>
                                      </p:tavLst>
                                    </p:anim>
                                    <p:anim calcmode="lin" valueType="num">
                                      <p:cBhvr>
                                        <p:cTn id="16" dur="1000" fill="hold"/>
                                        <p:tgtEl>
                                          <p:spTgt spid="104859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48597"/>
                                        </p:tgtEl>
                                        <p:attrNameLst>
                                          <p:attrName>style.visibility</p:attrName>
                                        </p:attrNameLst>
                                      </p:cBhvr>
                                      <p:to>
                                        <p:strVal val="visible"/>
                                      </p:to>
                                    </p:set>
                                    <p:animEffect transition="in" filter="fade">
                                      <p:cBhvr>
                                        <p:cTn id="21" dur="1000"/>
                                        <p:tgtEl>
                                          <p:spTgt spid="1048597"/>
                                        </p:tgtEl>
                                      </p:cBhvr>
                                    </p:animEffect>
                                    <p:anim calcmode="lin" valueType="num">
                                      <p:cBhvr>
                                        <p:cTn id="22" dur="1000" fill="hold"/>
                                        <p:tgtEl>
                                          <p:spTgt spid="1048597"/>
                                        </p:tgtEl>
                                        <p:attrNameLst>
                                          <p:attrName>ppt_x</p:attrName>
                                        </p:attrNameLst>
                                      </p:cBhvr>
                                      <p:tavLst>
                                        <p:tav tm="0">
                                          <p:val>
                                            <p:strVal val="#ppt_x"/>
                                          </p:val>
                                        </p:tav>
                                        <p:tav tm="100000">
                                          <p:val>
                                            <p:strVal val="#ppt_x"/>
                                          </p:val>
                                        </p:tav>
                                      </p:tavLst>
                                    </p:anim>
                                    <p:anim calcmode="lin" valueType="num">
                                      <p:cBhvr>
                                        <p:cTn id="23" dur="1000" fill="hold"/>
                                        <p:tgtEl>
                                          <p:spTgt spid="104859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48598"/>
                                        </p:tgtEl>
                                        <p:attrNameLst>
                                          <p:attrName>style.visibility</p:attrName>
                                        </p:attrNameLst>
                                      </p:cBhvr>
                                      <p:to>
                                        <p:strVal val="visible"/>
                                      </p:to>
                                    </p:set>
                                    <p:animEffect transition="in" filter="fade">
                                      <p:cBhvr>
                                        <p:cTn id="28" dur="1000"/>
                                        <p:tgtEl>
                                          <p:spTgt spid="1048598"/>
                                        </p:tgtEl>
                                      </p:cBhvr>
                                    </p:animEffect>
                                    <p:anim calcmode="lin" valueType="num">
                                      <p:cBhvr>
                                        <p:cTn id="29" dur="1000" fill="hold"/>
                                        <p:tgtEl>
                                          <p:spTgt spid="1048598"/>
                                        </p:tgtEl>
                                        <p:attrNameLst>
                                          <p:attrName>ppt_x</p:attrName>
                                        </p:attrNameLst>
                                      </p:cBhvr>
                                      <p:tavLst>
                                        <p:tav tm="0">
                                          <p:val>
                                            <p:strVal val="#ppt_x"/>
                                          </p:val>
                                        </p:tav>
                                        <p:tav tm="100000">
                                          <p:val>
                                            <p:strVal val="#ppt_x"/>
                                          </p:val>
                                        </p:tav>
                                      </p:tavLst>
                                    </p:anim>
                                    <p:anim calcmode="lin" valueType="num">
                                      <p:cBhvr>
                                        <p:cTn id="30" dur="1000" fill="hold"/>
                                        <p:tgtEl>
                                          <p:spTgt spid="1048598"/>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48599"/>
                                        </p:tgtEl>
                                        <p:attrNameLst>
                                          <p:attrName>style.visibility</p:attrName>
                                        </p:attrNameLst>
                                      </p:cBhvr>
                                      <p:to>
                                        <p:strVal val="visible"/>
                                      </p:to>
                                    </p:set>
                                    <p:animEffect transition="in" filter="fade">
                                      <p:cBhvr>
                                        <p:cTn id="33" dur="1000"/>
                                        <p:tgtEl>
                                          <p:spTgt spid="1048599"/>
                                        </p:tgtEl>
                                      </p:cBhvr>
                                    </p:animEffect>
                                    <p:anim calcmode="lin" valueType="num">
                                      <p:cBhvr>
                                        <p:cTn id="34" dur="1000" fill="hold"/>
                                        <p:tgtEl>
                                          <p:spTgt spid="1048599"/>
                                        </p:tgtEl>
                                        <p:attrNameLst>
                                          <p:attrName>ppt_x</p:attrName>
                                        </p:attrNameLst>
                                      </p:cBhvr>
                                      <p:tavLst>
                                        <p:tav tm="0">
                                          <p:val>
                                            <p:strVal val="#ppt_x"/>
                                          </p:val>
                                        </p:tav>
                                        <p:tav tm="100000">
                                          <p:val>
                                            <p:strVal val="#ppt_x"/>
                                          </p:val>
                                        </p:tav>
                                      </p:tavLst>
                                    </p:anim>
                                    <p:anim calcmode="lin" valueType="num">
                                      <p:cBhvr>
                                        <p:cTn id="35" dur="1000" fill="hold"/>
                                        <p:tgtEl>
                                          <p:spTgt spid="1048599"/>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048601"/>
                                        </p:tgtEl>
                                        <p:attrNameLst>
                                          <p:attrName>style.visibility</p:attrName>
                                        </p:attrNameLst>
                                      </p:cBhvr>
                                      <p:to>
                                        <p:strVal val="visible"/>
                                      </p:to>
                                    </p:set>
                                    <p:animEffect transition="in" filter="fade">
                                      <p:cBhvr>
                                        <p:cTn id="40" dur="1000"/>
                                        <p:tgtEl>
                                          <p:spTgt spid="1048601"/>
                                        </p:tgtEl>
                                      </p:cBhvr>
                                    </p:animEffect>
                                    <p:anim calcmode="lin" valueType="num">
                                      <p:cBhvr>
                                        <p:cTn id="41" dur="1000" fill="hold"/>
                                        <p:tgtEl>
                                          <p:spTgt spid="1048601"/>
                                        </p:tgtEl>
                                        <p:attrNameLst>
                                          <p:attrName>ppt_x</p:attrName>
                                        </p:attrNameLst>
                                      </p:cBhvr>
                                      <p:tavLst>
                                        <p:tav tm="0">
                                          <p:val>
                                            <p:strVal val="#ppt_x"/>
                                          </p:val>
                                        </p:tav>
                                        <p:tav tm="100000">
                                          <p:val>
                                            <p:strVal val="#ppt_x"/>
                                          </p:val>
                                        </p:tav>
                                      </p:tavLst>
                                    </p:anim>
                                    <p:anim calcmode="lin" valueType="num">
                                      <p:cBhvr>
                                        <p:cTn id="42" dur="1000" fill="hold"/>
                                        <p:tgtEl>
                                          <p:spTgt spid="104860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595" grpId="0" animBg="1"/>
      <p:bldP spid="1048596" grpId="0" animBg="1"/>
      <p:bldP spid="1048597" grpId="0" animBg="1"/>
      <p:bldP spid="1048598" grpId="0" animBg="1"/>
      <p:bldP spid="1048599" grpId="0" animBg="1"/>
      <p:bldP spid="104860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TextBox 54"/>
          <p:cNvSpPr txBox="1"/>
          <p:nvPr/>
        </p:nvSpPr>
        <p:spPr>
          <a:xfrm>
            <a:off x="1330766" y="44625"/>
            <a:ext cx="504222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zh-CN" sz="2800" dirty="0" smtClean="0">
                <a:solidFill>
                  <a:schemeClr val="accent2"/>
                </a:solidFill>
              </a:rPr>
              <a:t>具体</a:t>
            </a:r>
            <a:r>
              <a:rPr lang="zh-CN" altLang="zh-CN" sz="2800" dirty="0">
                <a:solidFill>
                  <a:schemeClr val="accent2"/>
                </a:solidFill>
              </a:rPr>
              <a:t>设计思路</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1048610"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1 </a:t>
            </a:r>
            <a:r>
              <a:rPr lang="en-US" altLang="zh-CN" dirty="0" smtClean="0">
                <a:solidFill>
                  <a:schemeClr val="accent2"/>
                </a:solidFill>
              </a:rPr>
              <a:t>1</a:t>
            </a:r>
            <a:endParaRPr lang="zh-CN" altLang="en-US" dirty="0">
              <a:solidFill>
                <a:schemeClr val="accent2"/>
              </a:solidFill>
            </a:endParaRPr>
          </a:p>
        </p:txBody>
      </p:sp>
      <p:sp>
        <p:nvSpPr>
          <p:cNvPr id="1048611" name="文本框 10"/>
          <p:cNvSpPr txBox="1"/>
          <p:nvPr>
            <p:custDataLst>
              <p:tags r:id="rId1"/>
            </p:custDataLst>
          </p:nvPr>
        </p:nvSpPr>
        <p:spPr>
          <a:xfrm>
            <a:off x="1204523" y="3825035"/>
            <a:ext cx="698500" cy="646112"/>
          </a:xfrm>
          <a:prstGeom prst="rect">
            <a:avLst/>
          </a:prstGeom>
          <a:noFill/>
          <a:ln w="9525">
            <a:noFill/>
          </a:ln>
        </p:spPr>
        <p:txBody>
          <a:bodyPr wrap="none" anchor="ctr">
            <a:scene3d>
              <a:camera prst="orthographicFront"/>
              <a:lightRig rig="soft" dir="t">
                <a:rot lat="0" lon="0" rev="15600000"/>
              </a:lightRig>
            </a:scene3d>
            <a:sp3d extrusionH="57150" prstMaterial="softEdge">
              <a:bevelT w="25400" h="38100"/>
            </a:sp3d>
          </a:bodyPr>
          <a:lstStyle/>
          <a:p>
            <a:pPr algn="ctr" eaLnBrk="1" hangingPunct="1">
              <a:buFont typeface="Arial" panose="020B0604020202020204" pitchFamily="34" charset="0"/>
              <a:buNone/>
            </a:pPr>
            <a:endParaRPr lang="en-US" altLang="zh-CN" sz="3600" b="1" noProof="1">
              <a:solidFill>
                <a:schemeClr val="accent4"/>
              </a:solidFill>
              <a:cs typeface="宋体" panose="02010600030101010101" pitchFamily="2" charset="-122"/>
            </a:endParaRPr>
          </a:p>
        </p:txBody>
      </p:sp>
      <p:sp>
        <p:nvSpPr>
          <p:cNvPr id="1048612" name="矩形 10"/>
          <p:cNvSpPr>
            <a:spLocks noChangeArrowheads="1"/>
          </p:cNvSpPr>
          <p:nvPr/>
        </p:nvSpPr>
        <p:spPr bwMode="auto">
          <a:xfrm>
            <a:off x="553765" y="980728"/>
            <a:ext cx="10801200" cy="1014307"/>
          </a:xfrm>
          <a:prstGeom prst="rect">
            <a:avLst/>
          </a:prstGeom>
          <a:noFill/>
          <a:ln w="9525">
            <a:solidFill>
              <a:schemeClr val="accent2"/>
            </a:solidFill>
            <a:round/>
          </a:ln>
        </p:spPr>
        <p:txBody>
          <a:bodyPr lIns="117221" tIns="58610" rIns="117221" bIns="58610" anchor="ct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pPr>
              <a:buNone/>
            </a:pPr>
            <a:r>
              <a:rPr lang="en-US" altLang="zh-CN" sz="2000" i="1" dirty="0" smtClean="0">
                <a:solidFill>
                  <a:schemeClr val="tx1"/>
                </a:solidFill>
              </a:rPr>
              <a:t>1.</a:t>
            </a:r>
            <a:r>
              <a:rPr lang="zh-CN" altLang="zh-CN" sz="2000" dirty="0" smtClean="0">
                <a:solidFill>
                  <a:schemeClr val="tx1"/>
                </a:solidFill>
              </a:rPr>
              <a:t>计算</a:t>
            </a:r>
            <a:r>
              <a:rPr lang="zh-CN" altLang="zh-CN" sz="2000" dirty="0">
                <a:solidFill>
                  <a:schemeClr val="tx1"/>
                </a:solidFill>
              </a:rPr>
              <a:t>商业贸易、通信、非银金融、采掘四个行业指数在</a:t>
            </a:r>
            <a:r>
              <a:rPr lang="en-US" altLang="zh-CN" sz="2000" dirty="0">
                <a:solidFill>
                  <a:schemeClr val="tx1"/>
                </a:solidFill>
              </a:rPr>
              <a:t>2017</a:t>
            </a:r>
            <a:r>
              <a:rPr lang="zh-CN" altLang="zh-CN" sz="2000" dirty="0">
                <a:solidFill>
                  <a:schemeClr val="tx1"/>
                </a:solidFill>
              </a:rPr>
              <a:t>年中每个月的涨跌情况，如果当月上涨，根据行业轮动关联规则的意义，则家用电器行业指数下个月上涨的概率（置信度）在</a:t>
            </a:r>
            <a:r>
              <a:rPr lang="en-US" altLang="zh-CN" sz="2000" dirty="0">
                <a:solidFill>
                  <a:schemeClr val="tx1"/>
                </a:solidFill>
              </a:rPr>
              <a:t>70%</a:t>
            </a:r>
            <a:r>
              <a:rPr lang="zh-CN" altLang="zh-CN" sz="2000" dirty="0">
                <a:solidFill>
                  <a:schemeClr val="tx1"/>
                </a:solidFill>
              </a:rPr>
              <a:t>以上，因此可以考虑在下个月对家用电器行业指数进行投资</a:t>
            </a:r>
            <a:r>
              <a:rPr lang="zh-CN" altLang="zh-CN" sz="2000" dirty="0">
                <a:solidFill>
                  <a:srgbClr val="000000"/>
                </a:solidFill>
              </a:rPr>
              <a:t>。</a:t>
            </a:r>
          </a:p>
        </p:txBody>
      </p:sp>
      <p:sp>
        <p:nvSpPr>
          <p:cNvPr id="1048613" name="矩形 10"/>
          <p:cNvSpPr>
            <a:spLocks noChangeArrowheads="1"/>
          </p:cNvSpPr>
          <p:nvPr/>
        </p:nvSpPr>
        <p:spPr bwMode="auto">
          <a:xfrm>
            <a:off x="550771" y="2132856"/>
            <a:ext cx="10801199" cy="715924"/>
          </a:xfrm>
          <a:prstGeom prst="rect">
            <a:avLst/>
          </a:prstGeom>
          <a:noFill/>
          <a:ln w="9525">
            <a:solidFill>
              <a:schemeClr val="accent2"/>
            </a:solidFill>
            <a:round/>
          </a:ln>
        </p:spPr>
        <p:txBody>
          <a:bodyPr lIns="117221" tIns="58610" rIns="117221" bIns="58610" anchor="ct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pPr algn="ctr">
              <a:lnSpc>
                <a:spcPct val="100000"/>
              </a:lnSpc>
              <a:spcBef>
                <a:spcPct val="0"/>
              </a:spcBef>
              <a:buNone/>
            </a:pPr>
            <a:r>
              <a:rPr lang="en-US" altLang="zh-CN" sz="2000" b="1" i="1" dirty="0" smtClean="0">
                <a:solidFill>
                  <a:schemeClr val="tx1"/>
                </a:solidFill>
              </a:rPr>
              <a:t>2.</a:t>
            </a:r>
            <a:r>
              <a:rPr lang="zh-CN" altLang="zh-CN" sz="2000" dirty="0" smtClean="0">
                <a:solidFill>
                  <a:schemeClr val="tx1"/>
                </a:solidFill>
              </a:rPr>
              <a:t>由于</a:t>
            </a:r>
            <a:r>
              <a:rPr lang="zh-CN" altLang="zh-CN" sz="2000" dirty="0">
                <a:solidFill>
                  <a:schemeClr val="tx1"/>
                </a:solidFill>
              </a:rPr>
              <a:t>家用电器行业指数不能进行买卖交易，故我们可以考虑对该行业指数的样本股进行投资</a:t>
            </a:r>
            <a:endParaRPr kumimoji="0" lang="zh-CN" altLang="en-US" sz="2100" b="1" dirty="0">
              <a:solidFill>
                <a:schemeClr val="tx1"/>
              </a:solidFill>
              <a:latin typeface="微软雅黑" panose="020B0503020204020204" pitchFamily="34" charset="-122"/>
            </a:endParaRPr>
          </a:p>
        </p:txBody>
      </p:sp>
      <p:sp>
        <p:nvSpPr>
          <p:cNvPr id="1048614" name="矩形 10"/>
          <p:cNvSpPr>
            <a:spLocks noChangeArrowheads="1"/>
          </p:cNvSpPr>
          <p:nvPr/>
        </p:nvSpPr>
        <p:spPr bwMode="auto">
          <a:xfrm>
            <a:off x="561303" y="2996952"/>
            <a:ext cx="10756972" cy="936104"/>
          </a:xfrm>
          <a:prstGeom prst="rect">
            <a:avLst/>
          </a:prstGeom>
          <a:noFill/>
          <a:ln w="9525">
            <a:solidFill>
              <a:schemeClr val="accent2"/>
            </a:solidFill>
            <a:round/>
          </a:ln>
        </p:spPr>
        <p:txBody>
          <a:bodyPr lIns="117221" tIns="58610" rIns="117221" bIns="58610" anchor="ct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pPr>
              <a:lnSpc>
                <a:spcPct val="100000"/>
              </a:lnSpc>
              <a:spcBef>
                <a:spcPct val="0"/>
              </a:spcBef>
              <a:buNone/>
            </a:pPr>
            <a:r>
              <a:rPr lang="en-US" altLang="zh-CN" sz="2000" b="1" i="1" dirty="0" smtClean="0">
                <a:solidFill>
                  <a:schemeClr val="tx1"/>
                </a:solidFill>
              </a:rPr>
              <a:t>3.</a:t>
            </a:r>
            <a:r>
              <a:rPr lang="zh-CN" altLang="zh-CN" sz="2000" dirty="0" smtClean="0">
                <a:solidFill>
                  <a:schemeClr val="tx1"/>
                </a:solidFill>
              </a:rPr>
              <a:t>如何</a:t>
            </a:r>
            <a:r>
              <a:rPr lang="zh-CN" altLang="zh-CN" sz="2000" dirty="0">
                <a:solidFill>
                  <a:schemeClr val="tx1"/>
                </a:solidFill>
              </a:rPr>
              <a:t>选择家用电器行业指数的样本股呢？我们可以使用第</a:t>
            </a:r>
            <a:r>
              <a:rPr lang="en-US" altLang="zh-CN" sz="2000" dirty="0">
                <a:solidFill>
                  <a:schemeClr val="tx1"/>
                </a:solidFill>
              </a:rPr>
              <a:t>8</a:t>
            </a:r>
            <a:r>
              <a:rPr lang="zh-CN" altLang="zh-CN" sz="2000" dirty="0">
                <a:solidFill>
                  <a:schemeClr val="tx1"/>
                </a:solidFill>
              </a:rPr>
              <a:t>章中基于总体规模与投资效率指标的综合评价方法，选择综合排名比较靠前的股票构建投资组合，这里选择排名前</a:t>
            </a:r>
            <a:r>
              <a:rPr lang="en-US" altLang="zh-CN" sz="2000" dirty="0">
                <a:solidFill>
                  <a:schemeClr val="tx1"/>
                </a:solidFill>
              </a:rPr>
              <a:t>20</a:t>
            </a:r>
            <a:r>
              <a:rPr lang="zh-CN" altLang="zh-CN" sz="2000" dirty="0">
                <a:solidFill>
                  <a:schemeClr val="tx1"/>
                </a:solidFill>
              </a:rPr>
              <a:t>的股票构建投资组合，从而进行计算投资收益</a:t>
            </a:r>
            <a:endParaRPr kumimoji="0" lang="zh-CN" altLang="en-US" sz="2100" b="1" dirty="0">
              <a:solidFill>
                <a:schemeClr val="tx1"/>
              </a:solidFill>
              <a:latin typeface="微软雅黑" panose="020B0503020204020204" pitchFamily="34" charset="-122"/>
            </a:endParaRPr>
          </a:p>
        </p:txBody>
      </p:sp>
      <p:sp>
        <p:nvSpPr>
          <p:cNvPr id="1048615" name="矩形 10"/>
          <p:cNvSpPr>
            <a:spLocks noChangeArrowheads="1"/>
          </p:cNvSpPr>
          <p:nvPr/>
        </p:nvSpPr>
        <p:spPr bwMode="auto">
          <a:xfrm>
            <a:off x="538391" y="4159776"/>
            <a:ext cx="10779884" cy="2293560"/>
          </a:xfrm>
          <a:prstGeom prst="rect">
            <a:avLst/>
          </a:prstGeom>
          <a:noFill/>
          <a:ln w="9525">
            <a:solidFill>
              <a:schemeClr val="accent2"/>
            </a:solidFill>
            <a:round/>
          </a:ln>
        </p:spPr>
        <p:txBody>
          <a:bodyPr lIns="117221" tIns="58610" rIns="117221" bIns="58610" anchor="ct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pPr>
              <a:lnSpc>
                <a:spcPct val="100000"/>
              </a:lnSpc>
              <a:spcBef>
                <a:spcPct val="0"/>
              </a:spcBef>
              <a:buNone/>
            </a:pPr>
            <a:r>
              <a:rPr lang="en-US" altLang="zh-CN" sz="2000" b="1" i="1" dirty="0" smtClean="0">
                <a:solidFill>
                  <a:schemeClr val="tx1"/>
                </a:solidFill>
              </a:rPr>
              <a:t>4.</a:t>
            </a:r>
            <a:r>
              <a:rPr lang="zh-CN" altLang="zh-CN" sz="2000" dirty="0" smtClean="0">
                <a:solidFill>
                  <a:schemeClr val="tx1"/>
                </a:solidFill>
              </a:rPr>
              <a:t>由于</a:t>
            </a:r>
            <a:r>
              <a:rPr lang="zh-CN" altLang="zh-CN" sz="2000" dirty="0">
                <a:solidFill>
                  <a:schemeClr val="tx1"/>
                </a:solidFill>
              </a:rPr>
              <a:t>月行业联动与轮动分析的数据区间为</a:t>
            </a:r>
            <a:r>
              <a:rPr lang="en-US" altLang="zh-CN" sz="2000" dirty="0">
                <a:solidFill>
                  <a:schemeClr val="tx1"/>
                </a:solidFill>
              </a:rPr>
              <a:t>2010</a:t>
            </a:r>
            <a:r>
              <a:rPr lang="zh-CN" altLang="zh-CN" sz="2000" dirty="0">
                <a:solidFill>
                  <a:schemeClr val="tx1"/>
                </a:solidFill>
              </a:rPr>
              <a:t>年</a:t>
            </a:r>
            <a:r>
              <a:rPr lang="en-US" altLang="zh-CN" sz="2000" dirty="0">
                <a:solidFill>
                  <a:schemeClr val="tx1"/>
                </a:solidFill>
              </a:rPr>
              <a:t>1</a:t>
            </a:r>
            <a:r>
              <a:rPr lang="zh-CN" altLang="zh-CN" sz="2000" dirty="0">
                <a:solidFill>
                  <a:schemeClr val="tx1"/>
                </a:solidFill>
              </a:rPr>
              <a:t>月</a:t>
            </a:r>
            <a:r>
              <a:rPr lang="en-US" altLang="zh-CN" sz="2000" dirty="0">
                <a:solidFill>
                  <a:schemeClr val="tx1"/>
                </a:solidFill>
              </a:rPr>
              <a:t>~2017</a:t>
            </a:r>
            <a:r>
              <a:rPr lang="zh-CN" altLang="zh-CN" sz="2000" dirty="0">
                <a:solidFill>
                  <a:schemeClr val="tx1"/>
                </a:solidFill>
              </a:rPr>
              <a:t>年</a:t>
            </a:r>
            <a:r>
              <a:rPr lang="en-US" altLang="zh-CN" sz="2000" dirty="0">
                <a:solidFill>
                  <a:schemeClr val="tx1"/>
                </a:solidFill>
              </a:rPr>
              <a:t>2</a:t>
            </a:r>
            <a:r>
              <a:rPr lang="zh-CN" altLang="zh-CN" sz="2000" dirty="0">
                <a:solidFill>
                  <a:schemeClr val="tx1"/>
                </a:solidFill>
              </a:rPr>
              <a:t>月，故我们在设计量化投资策略的时候，计算商业贸易、通信、非银金融、采掘四个行业指数涨跌情况的数据区间为</a:t>
            </a:r>
            <a:r>
              <a:rPr lang="en-US" altLang="zh-CN" sz="2000" dirty="0">
                <a:solidFill>
                  <a:schemeClr val="tx1"/>
                </a:solidFill>
              </a:rPr>
              <a:t>2017</a:t>
            </a:r>
            <a:r>
              <a:rPr lang="zh-CN" altLang="zh-CN" sz="2000" dirty="0">
                <a:solidFill>
                  <a:schemeClr val="tx1"/>
                </a:solidFill>
              </a:rPr>
              <a:t>年</a:t>
            </a:r>
            <a:r>
              <a:rPr lang="en-US" altLang="zh-CN" sz="2000" dirty="0">
                <a:solidFill>
                  <a:schemeClr val="tx1"/>
                </a:solidFill>
              </a:rPr>
              <a:t>2</a:t>
            </a:r>
            <a:r>
              <a:rPr lang="zh-CN" altLang="zh-CN" sz="2000" dirty="0">
                <a:solidFill>
                  <a:schemeClr val="tx1"/>
                </a:solidFill>
              </a:rPr>
              <a:t>月</a:t>
            </a:r>
            <a:r>
              <a:rPr lang="en-US" altLang="zh-CN" sz="2000" dirty="0">
                <a:solidFill>
                  <a:schemeClr val="tx1"/>
                </a:solidFill>
              </a:rPr>
              <a:t>~2017</a:t>
            </a:r>
            <a:r>
              <a:rPr lang="zh-CN" altLang="zh-CN" sz="2000" dirty="0">
                <a:solidFill>
                  <a:schemeClr val="tx1"/>
                </a:solidFill>
              </a:rPr>
              <a:t>年</a:t>
            </a:r>
            <a:r>
              <a:rPr lang="en-US" altLang="zh-CN" sz="2000" dirty="0">
                <a:solidFill>
                  <a:schemeClr val="tx1"/>
                </a:solidFill>
              </a:rPr>
              <a:t>11</a:t>
            </a:r>
            <a:r>
              <a:rPr lang="zh-CN" altLang="zh-CN" sz="2000" dirty="0">
                <a:solidFill>
                  <a:schemeClr val="tx1"/>
                </a:solidFill>
              </a:rPr>
              <a:t>月，家用电器行业股票投资数据区间为</a:t>
            </a:r>
            <a:r>
              <a:rPr lang="en-US" altLang="zh-CN" sz="2000" dirty="0">
                <a:solidFill>
                  <a:schemeClr val="tx1"/>
                </a:solidFill>
              </a:rPr>
              <a:t>2017</a:t>
            </a:r>
            <a:r>
              <a:rPr lang="zh-CN" altLang="zh-CN" sz="2000" dirty="0">
                <a:solidFill>
                  <a:schemeClr val="tx1"/>
                </a:solidFill>
              </a:rPr>
              <a:t>年</a:t>
            </a:r>
            <a:r>
              <a:rPr lang="en-US" altLang="zh-CN" sz="2000" dirty="0">
                <a:solidFill>
                  <a:schemeClr val="tx1"/>
                </a:solidFill>
              </a:rPr>
              <a:t>3</a:t>
            </a:r>
            <a:r>
              <a:rPr lang="zh-CN" altLang="zh-CN" sz="2000" dirty="0">
                <a:solidFill>
                  <a:schemeClr val="tx1"/>
                </a:solidFill>
              </a:rPr>
              <a:t>月</a:t>
            </a:r>
            <a:r>
              <a:rPr lang="en-US" altLang="zh-CN" sz="2000" dirty="0">
                <a:solidFill>
                  <a:schemeClr val="tx1"/>
                </a:solidFill>
              </a:rPr>
              <a:t>~2017</a:t>
            </a:r>
            <a:r>
              <a:rPr lang="zh-CN" altLang="zh-CN" sz="2000" dirty="0">
                <a:solidFill>
                  <a:schemeClr val="tx1"/>
                </a:solidFill>
              </a:rPr>
              <a:t>年</a:t>
            </a:r>
            <a:r>
              <a:rPr lang="en-US" altLang="zh-CN" sz="2000" dirty="0">
                <a:solidFill>
                  <a:schemeClr val="tx1"/>
                </a:solidFill>
              </a:rPr>
              <a:t>12</a:t>
            </a:r>
            <a:r>
              <a:rPr lang="zh-CN" altLang="zh-CN" sz="2000" dirty="0">
                <a:solidFill>
                  <a:schemeClr val="tx1"/>
                </a:solidFill>
              </a:rPr>
              <a:t>月。即如果商业贸易、通信、非银金融、采掘这四个行业指数在</a:t>
            </a:r>
            <a:r>
              <a:rPr lang="en-US" altLang="zh-CN" sz="2000" dirty="0">
                <a:solidFill>
                  <a:schemeClr val="tx1"/>
                </a:solidFill>
              </a:rPr>
              <a:t>2017</a:t>
            </a:r>
            <a:r>
              <a:rPr lang="zh-CN" altLang="zh-CN" sz="2000" dirty="0">
                <a:solidFill>
                  <a:schemeClr val="tx1"/>
                </a:solidFill>
              </a:rPr>
              <a:t>年</a:t>
            </a:r>
            <a:r>
              <a:rPr lang="en-US" altLang="zh-CN" sz="2000" dirty="0">
                <a:solidFill>
                  <a:schemeClr val="tx1"/>
                </a:solidFill>
              </a:rPr>
              <a:t>2</a:t>
            </a:r>
            <a:r>
              <a:rPr lang="zh-CN" altLang="zh-CN" sz="2000" dirty="0">
                <a:solidFill>
                  <a:schemeClr val="tx1"/>
                </a:solidFill>
              </a:rPr>
              <a:t>月</a:t>
            </a:r>
            <a:r>
              <a:rPr lang="en-US" altLang="zh-CN" sz="2000" dirty="0">
                <a:solidFill>
                  <a:schemeClr val="tx1"/>
                </a:solidFill>
              </a:rPr>
              <a:t>~11</a:t>
            </a:r>
            <a:r>
              <a:rPr lang="zh-CN" altLang="zh-CN" sz="2000" dirty="0">
                <a:solidFill>
                  <a:schemeClr val="tx1"/>
                </a:solidFill>
              </a:rPr>
              <a:t>月共</a:t>
            </a:r>
            <a:r>
              <a:rPr lang="en-US" altLang="zh-CN" sz="2000" dirty="0">
                <a:solidFill>
                  <a:schemeClr val="tx1"/>
                </a:solidFill>
              </a:rPr>
              <a:t>10</a:t>
            </a:r>
            <a:r>
              <a:rPr lang="zh-CN" altLang="zh-CN" sz="2000" dirty="0">
                <a:solidFill>
                  <a:schemeClr val="tx1"/>
                </a:solidFill>
              </a:rPr>
              <a:t>个交易月中，如果当月指数上涨，则取家用电器行业综合排名前</a:t>
            </a:r>
            <a:r>
              <a:rPr lang="en-US" altLang="zh-CN" sz="2000" dirty="0">
                <a:solidFill>
                  <a:schemeClr val="tx1"/>
                </a:solidFill>
              </a:rPr>
              <a:t>20</a:t>
            </a:r>
            <a:r>
              <a:rPr lang="zh-CN" altLang="zh-CN" sz="2000" dirty="0">
                <a:solidFill>
                  <a:schemeClr val="tx1"/>
                </a:solidFill>
              </a:rPr>
              <a:t>的样本股作为投资组合，以下个月最小交易日收盘价买入和下个月最大交易日收盘价卖出，计算投资组合的总收益率</a:t>
            </a:r>
            <a:endParaRPr kumimoji="0" lang="zh-CN" altLang="en-US" sz="2100" b="1" dirty="0">
              <a:solidFill>
                <a:schemeClr val="tx1"/>
              </a:solidFill>
              <a:latin typeface="微软雅黑" panose="020B0503020204020204" pitchFamily="34" charset="-122"/>
            </a:endParaRPr>
          </a:p>
        </p:txBody>
      </p:sp>
    </p:spTree>
  </p:cSld>
  <p:clrMapOvr>
    <a:masterClrMapping/>
  </p:clrMapOvr>
  <p:transition advTm="943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nodePh="1">
                                  <p:stCondLst>
                                    <p:cond delay="0"/>
                                  </p:stCondLst>
                                  <p:endCondLst>
                                    <p:cond evt="begin" delay="0">
                                      <p:tn val="5"/>
                                    </p:cond>
                                  </p:endCondLst>
                                  <p:childTnLst>
                                    <p:set>
                                      <p:cBhvr>
                                        <p:cTn id="6" dur="1" fill="hold">
                                          <p:stCondLst>
                                            <p:cond delay="0"/>
                                          </p:stCondLst>
                                        </p:cTn>
                                        <p:tgtEl>
                                          <p:spTgt spid="1048611"/>
                                        </p:tgtEl>
                                        <p:attrNameLst>
                                          <p:attrName>style.visibility</p:attrName>
                                        </p:attrNameLst>
                                      </p:cBhvr>
                                      <p:to>
                                        <p:strVal val="visible"/>
                                      </p:to>
                                    </p:set>
                                    <p:animEffect transition="in" filter="fade">
                                      <p:cBhvr>
                                        <p:cTn id="7" dur="1000"/>
                                        <p:tgtEl>
                                          <p:spTgt spid="1048611"/>
                                        </p:tgtEl>
                                      </p:cBhvr>
                                    </p:animEffect>
                                    <p:anim calcmode="lin" valueType="num">
                                      <p:cBhvr>
                                        <p:cTn id="8" dur="1000" fill="hold"/>
                                        <p:tgtEl>
                                          <p:spTgt spid="1048611"/>
                                        </p:tgtEl>
                                        <p:attrNameLst>
                                          <p:attrName>ppt_x</p:attrName>
                                        </p:attrNameLst>
                                      </p:cBhvr>
                                      <p:tavLst>
                                        <p:tav tm="0">
                                          <p:val>
                                            <p:strVal val="#ppt_x"/>
                                          </p:val>
                                        </p:tav>
                                        <p:tav tm="100000">
                                          <p:val>
                                            <p:strVal val="#ppt_x"/>
                                          </p:val>
                                        </p:tav>
                                      </p:tavLst>
                                    </p:anim>
                                    <p:anim calcmode="lin" valueType="num">
                                      <p:cBhvr>
                                        <p:cTn id="9" dur="1000" fill="hold"/>
                                        <p:tgtEl>
                                          <p:spTgt spid="10486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48612"/>
                                        </p:tgtEl>
                                        <p:attrNameLst>
                                          <p:attrName>style.visibility</p:attrName>
                                        </p:attrNameLst>
                                      </p:cBhvr>
                                      <p:to>
                                        <p:strVal val="visible"/>
                                      </p:to>
                                    </p:set>
                                    <p:animEffect transition="in" filter="fade">
                                      <p:cBhvr>
                                        <p:cTn id="14" dur="1000"/>
                                        <p:tgtEl>
                                          <p:spTgt spid="1048612"/>
                                        </p:tgtEl>
                                      </p:cBhvr>
                                    </p:animEffect>
                                    <p:anim calcmode="lin" valueType="num">
                                      <p:cBhvr>
                                        <p:cTn id="15" dur="1000" fill="hold"/>
                                        <p:tgtEl>
                                          <p:spTgt spid="1048612"/>
                                        </p:tgtEl>
                                        <p:attrNameLst>
                                          <p:attrName>ppt_x</p:attrName>
                                        </p:attrNameLst>
                                      </p:cBhvr>
                                      <p:tavLst>
                                        <p:tav tm="0">
                                          <p:val>
                                            <p:strVal val="#ppt_x"/>
                                          </p:val>
                                        </p:tav>
                                        <p:tav tm="100000">
                                          <p:val>
                                            <p:strVal val="#ppt_x"/>
                                          </p:val>
                                        </p:tav>
                                      </p:tavLst>
                                    </p:anim>
                                    <p:anim calcmode="lin" valueType="num">
                                      <p:cBhvr>
                                        <p:cTn id="16" dur="1000" fill="hold"/>
                                        <p:tgtEl>
                                          <p:spTgt spid="10486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48613"/>
                                        </p:tgtEl>
                                        <p:attrNameLst>
                                          <p:attrName>style.visibility</p:attrName>
                                        </p:attrNameLst>
                                      </p:cBhvr>
                                      <p:to>
                                        <p:strVal val="visible"/>
                                      </p:to>
                                    </p:set>
                                    <p:animEffect transition="in" filter="fade">
                                      <p:cBhvr>
                                        <p:cTn id="21" dur="1000"/>
                                        <p:tgtEl>
                                          <p:spTgt spid="1048613"/>
                                        </p:tgtEl>
                                      </p:cBhvr>
                                    </p:animEffect>
                                    <p:anim calcmode="lin" valueType="num">
                                      <p:cBhvr>
                                        <p:cTn id="22" dur="1000" fill="hold"/>
                                        <p:tgtEl>
                                          <p:spTgt spid="1048613"/>
                                        </p:tgtEl>
                                        <p:attrNameLst>
                                          <p:attrName>ppt_x</p:attrName>
                                        </p:attrNameLst>
                                      </p:cBhvr>
                                      <p:tavLst>
                                        <p:tav tm="0">
                                          <p:val>
                                            <p:strVal val="#ppt_x"/>
                                          </p:val>
                                        </p:tav>
                                        <p:tav tm="100000">
                                          <p:val>
                                            <p:strVal val="#ppt_x"/>
                                          </p:val>
                                        </p:tav>
                                      </p:tavLst>
                                    </p:anim>
                                    <p:anim calcmode="lin" valueType="num">
                                      <p:cBhvr>
                                        <p:cTn id="23" dur="1000" fill="hold"/>
                                        <p:tgtEl>
                                          <p:spTgt spid="104861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48614"/>
                                        </p:tgtEl>
                                        <p:attrNameLst>
                                          <p:attrName>style.visibility</p:attrName>
                                        </p:attrNameLst>
                                      </p:cBhvr>
                                      <p:to>
                                        <p:strVal val="visible"/>
                                      </p:to>
                                    </p:set>
                                    <p:animEffect transition="in" filter="fade">
                                      <p:cBhvr>
                                        <p:cTn id="28" dur="1000"/>
                                        <p:tgtEl>
                                          <p:spTgt spid="1048614"/>
                                        </p:tgtEl>
                                      </p:cBhvr>
                                    </p:animEffect>
                                    <p:anim calcmode="lin" valueType="num">
                                      <p:cBhvr>
                                        <p:cTn id="29" dur="1000" fill="hold"/>
                                        <p:tgtEl>
                                          <p:spTgt spid="1048614"/>
                                        </p:tgtEl>
                                        <p:attrNameLst>
                                          <p:attrName>ppt_x</p:attrName>
                                        </p:attrNameLst>
                                      </p:cBhvr>
                                      <p:tavLst>
                                        <p:tav tm="0">
                                          <p:val>
                                            <p:strVal val="#ppt_x"/>
                                          </p:val>
                                        </p:tav>
                                        <p:tav tm="100000">
                                          <p:val>
                                            <p:strVal val="#ppt_x"/>
                                          </p:val>
                                        </p:tav>
                                      </p:tavLst>
                                    </p:anim>
                                    <p:anim calcmode="lin" valueType="num">
                                      <p:cBhvr>
                                        <p:cTn id="30" dur="1000" fill="hold"/>
                                        <p:tgtEl>
                                          <p:spTgt spid="1048614"/>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48615"/>
                                        </p:tgtEl>
                                        <p:attrNameLst>
                                          <p:attrName>style.visibility</p:attrName>
                                        </p:attrNameLst>
                                      </p:cBhvr>
                                      <p:to>
                                        <p:strVal val="visible"/>
                                      </p:to>
                                    </p:set>
                                    <p:animEffect transition="in" filter="fade">
                                      <p:cBhvr>
                                        <p:cTn id="35" dur="1000"/>
                                        <p:tgtEl>
                                          <p:spTgt spid="1048615"/>
                                        </p:tgtEl>
                                      </p:cBhvr>
                                    </p:animEffect>
                                    <p:anim calcmode="lin" valueType="num">
                                      <p:cBhvr>
                                        <p:cTn id="36" dur="1000" fill="hold"/>
                                        <p:tgtEl>
                                          <p:spTgt spid="1048615"/>
                                        </p:tgtEl>
                                        <p:attrNameLst>
                                          <p:attrName>ppt_x</p:attrName>
                                        </p:attrNameLst>
                                      </p:cBhvr>
                                      <p:tavLst>
                                        <p:tav tm="0">
                                          <p:val>
                                            <p:strVal val="#ppt_x"/>
                                          </p:val>
                                        </p:tav>
                                        <p:tav tm="100000">
                                          <p:val>
                                            <p:strVal val="#ppt_x"/>
                                          </p:val>
                                        </p:tav>
                                      </p:tavLst>
                                    </p:anim>
                                    <p:anim calcmode="lin" valueType="num">
                                      <p:cBhvr>
                                        <p:cTn id="37" dur="1000" fill="hold"/>
                                        <p:tgtEl>
                                          <p:spTgt spid="10486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11" grpId="0"/>
      <p:bldP spid="1048612" grpId="0" animBg="1"/>
      <p:bldP spid="1048613" grpId="0" animBg="1"/>
      <p:bldP spid="1048614" grpId="0" animBg="1"/>
      <p:bldP spid="10486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2" name="TextBox 54"/>
          <p:cNvSpPr txBox="1"/>
          <p:nvPr/>
        </p:nvSpPr>
        <p:spPr>
          <a:xfrm>
            <a:off x="1330765" y="44625"/>
            <a:ext cx="685584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sz="2800" dirty="0" smtClean="0">
                <a:solidFill>
                  <a:schemeClr val="accent2"/>
                </a:solidFill>
                <a:latin typeface="微软雅黑" panose="020B0503020204020204" pitchFamily="34" charset="-122"/>
                <a:ea typeface="微软雅黑" panose="020B0503020204020204" pitchFamily="34" charset="-122"/>
              </a:rPr>
              <a:t>具体流程</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1048633"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11</a:t>
            </a:r>
            <a:endParaRPr lang="zh-CN" altLang="en-US" dirty="0">
              <a:solidFill>
                <a:schemeClr val="accent2"/>
              </a:solidFill>
            </a:endParaRPr>
          </a:p>
        </p:txBody>
      </p:sp>
      <p:sp>
        <p:nvSpPr>
          <p:cNvPr id="6" name="矩形 4"/>
          <p:cNvSpPr/>
          <p:nvPr/>
        </p:nvSpPr>
        <p:spPr>
          <a:xfrm>
            <a:off x="754836" y="744101"/>
            <a:ext cx="10240089" cy="400110"/>
          </a:xfrm>
          <a:prstGeom prst="rect">
            <a:avLst/>
          </a:prstGeom>
        </p:spPr>
        <p:txBody>
          <a:bodyPr wrap="square">
            <a:spAutoFit/>
          </a:bodyPr>
          <a:lstStyle/>
          <a:p>
            <a:r>
              <a:rPr lang="en-US" altLang="zh-CN" sz="2000" dirty="0" smtClean="0"/>
              <a:t>Step1</a:t>
            </a:r>
            <a:r>
              <a:rPr lang="zh-CN" altLang="en-US" sz="2000" dirty="0" smtClean="0"/>
              <a:t>：根据</a:t>
            </a:r>
            <a:r>
              <a:rPr lang="zh-CN" altLang="en-US" sz="2000" dirty="0"/>
              <a:t>交易日历数据表，获得</a:t>
            </a:r>
            <a:r>
              <a:rPr lang="en-US" altLang="zh-CN" sz="2000" dirty="0"/>
              <a:t>2017</a:t>
            </a:r>
            <a:r>
              <a:rPr lang="zh-CN" altLang="en-US" sz="2000" dirty="0"/>
              <a:t>年中每个月的最大交易日期和最小交易日期。</a:t>
            </a:r>
            <a:endParaRPr lang="zh-CN" altLang="en-US" sz="2000" dirty="0"/>
          </a:p>
        </p:txBody>
      </p:sp>
      <p:sp>
        <p:nvSpPr>
          <p:cNvPr id="7" name="矩形 4"/>
          <p:cNvSpPr/>
          <p:nvPr/>
        </p:nvSpPr>
        <p:spPr>
          <a:xfrm>
            <a:off x="754836" y="1556792"/>
            <a:ext cx="10240089" cy="1015663"/>
          </a:xfrm>
          <a:prstGeom prst="rect">
            <a:avLst/>
          </a:prstGeom>
        </p:spPr>
        <p:txBody>
          <a:bodyPr wrap="square">
            <a:spAutoFit/>
          </a:bodyPr>
          <a:lstStyle/>
          <a:p>
            <a:r>
              <a:rPr lang="en-US" altLang="zh-CN" sz="2000" dirty="0" smtClean="0"/>
              <a:t>Step2</a:t>
            </a:r>
            <a:r>
              <a:rPr lang="zh-CN" altLang="en-US" sz="2000" dirty="0" smtClean="0"/>
              <a:t>：通过</a:t>
            </a:r>
            <a:r>
              <a:rPr lang="en-US" altLang="zh-CN" sz="2000" dirty="0"/>
              <a:t>2017</a:t>
            </a:r>
            <a:r>
              <a:rPr lang="zh-CN" altLang="en-US" sz="2000" dirty="0"/>
              <a:t>年度的行业指数行情数据表和每个月的最小交易日期</a:t>
            </a:r>
            <a:r>
              <a:rPr lang="en-US" altLang="zh-CN" sz="2000" dirty="0"/>
              <a:t>list1</a:t>
            </a:r>
            <a:r>
              <a:rPr lang="zh-CN" altLang="en-US" sz="2000" dirty="0"/>
              <a:t>和最大交易日期</a:t>
            </a:r>
            <a:r>
              <a:rPr lang="en-US" altLang="zh-CN" sz="2000" dirty="0"/>
              <a:t>list2</a:t>
            </a:r>
            <a:r>
              <a:rPr lang="zh-CN" altLang="en-US" sz="2000" dirty="0"/>
              <a:t>，计算商业</a:t>
            </a:r>
            <a:r>
              <a:rPr lang="zh-CN" altLang="en-US" sz="2000" dirty="0" smtClean="0"/>
              <a:t>贸</a:t>
            </a:r>
            <a:r>
              <a:rPr lang="en-US" altLang="zh-CN" sz="2000" dirty="0" smtClean="0"/>
              <a:t>:</a:t>
            </a:r>
            <a:r>
              <a:rPr lang="zh-CN" altLang="en-US" sz="2000" dirty="0" smtClean="0"/>
              <a:t>、通信、</a:t>
            </a:r>
            <a:r>
              <a:rPr lang="zh-CN" altLang="en-US" sz="2000" dirty="0"/>
              <a:t>非银</a:t>
            </a:r>
            <a:r>
              <a:rPr lang="zh-CN" altLang="en-US" sz="2000" dirty="0" smtClean="0"/>
              <a:t>金融、采掘、家电行业这五个</a:t>
            </a:r>
            <a:r>
              <a:rPr lang="zh-CN" altLang="en-US" sz="2000" dirty="0"/>
              <a:t>指数的在</a:t>
            </a:r>
            <a:r>
              <a:rPr lang="en-US" altLang="zh-CN" sz="2000" dirty="0"/>
              <a:t>2017</a:t>
            </a:r>
            <a:r>
              <a:rPr lang="zh-CN" altLang="en-US" sz="2000" dirty="0"/>
              <a:t>年度每个月的涨跌情况</a:t>
            </a:r>
            <a:endParaRPr lang="zh-CN" altLang="en-US" sz="2000" dirty="0"/>
          </a:p>
        </p:txBody>
      </p:sp>
      <p:sp>
        <p:nvSpPr>
          <p:cNvPr id="2" name="矩形 1"/>
          <p:cNvSpPr/>
          <p:nvPr/>
        </p:nvSpPr>
        <p:spPr>
          <a:xfrm>
            <a:off x="708121" y="2773377"/>
            <a:ext cx="9865096" cy="1015663"/>
          </a:xfrm>
          <a:prstGeom prst="rect">
            <a:avLst/>
          </a:prstGeom>
        </p:spPr>
        <p:txBody>
          <a:bodyPr wrap="square">
            <a:spAutoFit/>
          </a:bodyPr>
          <a:lstStyle/>
          <a:p>
            <a:r>
              <a:rPr lang="en-US" altLang="zh-CN" sz="2000" dirty="0" smtClean="0"/>
              <a:t>Step3</a:t>
            </a:r>
            <a:r>
              <a:rPr lang="zh-CN" altLang="en-US" sz="2000" dirty="0" smtClean="0"/>
              <a:t>：根据</a:t>
            </a:r>
            <a:r>
              <a:rPr lang="zh-CN" altLang="en-US" sz="2000" dirty="0"/>
              <a:t>申银万国行业分类标准以及第</a:t>
            </a:r>
            <a:r>
              <a:rPr lang="en-US" altLang="zh-CN" sz="2000" dirty="0"/>
              <a:t>8</a:t>
            </a:r>
            <a:r>
              <a:rPr lang="zh-CN" altLang="en-US" sz="2000" dirty="0"/>
              <a:t>章中基于总体规模与投资效率指标的综合评价方法对应的财务数据，筛选出家用电器行业上市公司对应的财务数据，并利用其综合评价方法，得到家用电器行业排名前</a:t>
            </a:r>
            <a:r>
              <a:rPr lang="en-US" altLang="zh-CN" sz="2000" dirty="0"/>
              <a:t>20</a:t>
            </a:r>
            <a:r>
              <a:rPr lang="zh-CN" altLang="en-US" sz="2000" dirty="0"/>
              <a:t>的上市公司股票</a:t>
            </a:r>
          </a:p>
        </p:txBody>
      </p:sp>
      <p:sp>
        <p:nvSpPr>
          <p:cNvPr id="3" name="矩形 2"/>
          <p:cNvSpPr/>
          <p:nvPr/>
        </p:nvSpPr>
        <p:spPr>
          <a:xfrm>
            <a:off x="729303" y="4246056"/>
            <a:ext cx="10081120" cy="1631216"/>
          </a:xfrm>
          <a:prstGeom prst="rect">
            <a:avLst/>
          </a:prstGeom>
        </p:spPr>
        <p:txBody>
          <a:bodyPr wrap="square">
            <a:spAutoFit/>
          </a:bodyPr>
          <a:lstStyle/>
          <a:p>
            <a:r>
              <a:rPr lang="en-US" altLang="zh-CN" sz="2000" dirty="0" smtClean="0"/>
              <a:t>Step4</a:t>
            </a:r>
            <a:r>
              <a:rPr lang="zh-CN" altLang="en-US" sz="2000" dirty="0" smtClean="0"/>
              <a:t>：下面</a:t>
            </a:r>
            <a:r>
              <a:rPr lang="zh-CN" altLang="en-US" sz="2000" dirty="0"/>
              <a:t>我们以商业</a:t>
            </a:r>
            <a:r>
              <a:rPr lang="zh-CN" altLang="en-US" sz="2000" dirty="0" smtClean="0"/>
              <a:t>贸易</a:t>
            </a:r>
            <a:r>
              <a:rPr lang="en-US" altLang="zh-CN" sz="2000" dirty="0" smtClean="0"/>
              <a:t>—</a:t>
            </a:r>
            <a:r>
              <a:rPr lang="en-US" altLang="zh-CN" sz="2000" dirty="0"/>
              <a:t>&gt;</a:t>
            </a:r>
            <a:r>
              <a:rPr lang="zh-CN" altLang="en-US" sz="2000" dirty="0" smtClean="0"/>
              <a:t>家用电器</a:t>
            </a:r>
            <a:r>
              <a:rPr lang="zh-CN" altLang="en-US" sz="2000" dirty="0"/>
              <a:t>这条关联规则为</a:t>
            </a:r>
            <a:r>
              <a:rPr lang="zh-CN" altLang="en-US" sz="2000" dirty="0" smtClean="0"/>
              <a:t>例（其他关联规则类似），</a:t>
            </a:r>
            <a:r>
              <a:rPr lang="zh-CN" altLang="en-US" sz="2000" dirty="0"/>
              <a:t>设计其投资量化投资策略：即如果商业贸易行业指数在</a:t>
            </a:r>
            <a:r>
              <a:rPr lang="en-US" altLang="zh-CN" sz="2000" dirty="0"/>
              <a:t>2017</a:t>
            </a:r>
            <a:r>
              <a:rPr lang="zh-CN" altLang="en-US" sz="2000" dirty="0"/>
              <a:t>年</a:t>
            </a:r>
            <a:r>
              <a:rPr lang="en-US" altLang="zh-CN" sz="2000" dirty="0"/>
              <a:t>2</a:t>
            </a:r>
            <a:r>
              <a:rPr lang="zh-CN" altLang="en-US" sz="2000" dirty="0"/>
              <a:t>月</a:t>
            </a:r>
            <a:r>
              <a:rPr lang="en-US" altLang="zh-CN" sz="2000" dirty="0"/>
              <a:t>~11</a:t>
            </a:r>
            <a:r>
              <a:rPr lang="zh-CN" altLang="en-US" sz="2000" dirty="0"/>
              <a:t>月共</a:t>
            </a:r>
            <a:r>
              <a:rPr lang="en-US" altLang="zh-CN" sz="2000" dirty="0"/>
              <a:t>10</a:t>
            </a:r>
            <a:r>
              <a:rPr lang="zh-CN" altLang="en-US" sz="2000" dirty="0"/>
              <a:t>个交易月中，如果当月指数上涨，则取家用电器行业综合排名前</a:t>
            </a:r>
            <a:r>
              <a:rPr lang="en-US" altLang="zh-CN" sz="2000" dirty="0"/>
              <a:t>20</a:t>
            </a:r>
            <a:r>
              <a:rPr lang="zh-CN" altLang="en-US" sz="2000" dirty="0"/>
              <a:t>的样本股作为投资组合，以下个月最小交易日收盘价买入和下个月最大交易日收盘价卖出，计算投资组合的总收益率，这里收盘价采用考虑现金红利再投资的收盘价可比进行计算</a:t>
            </a:r>
          </a:p>
        </p:txBody>
      </p:sp>
    </p:spTree>
  </p:cSld>
  <p:clrMapOvr>
    <a:masterClrMapping/>
  </p:clrMapOvr>
  <p:transition advTm="9437"/>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TextBox 54"/>
          <p:cNvSpPr txBox="1"/>
          <p:nvPr/>
        </p:nvSpPr>
        <p:spPr>
          <a:xfrm>
            <a:off x="1330765" y="44625"/>
            <a:ext cx="9736168" cy="461659"/>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400" dirty="0" smtClean="0">
                <a:solidFill>
                  <a:schemeClr val="accent2"/>
                </a:solidFill>
                <a:latin typeface="微软雅黑" panose="020B0503020204020204" pitchFamily="34" charset="-122"/>
                <a:ea typeface="微软雅黑" panose="020B0503020204020204" pitchFamily="34" charset="-122"/>
              </a:rPr>
              <a:t>Step1:</a:t>
            </a:r>
            <a:r>
              <a:rPr lang="zh-CN" altLang="en-US" sz="2400" dirty="0" smtClean="0">
                <a:solidFill>
                  <a:schemeClr val="accent2"/>
                </a:solidFill>
                <a:latin typeface="微软雅黑" panose="020B0503020204020204" pitchFamily="34" charset="-122"/>
                <a:ea typeface="微软雅黑" panose="020B0503020204020204" pitchFamily="34" charset="-122"/>
              </a:rPr>
              <a:t>获得</a:t>
            </a:r>
            <a:r>
              <a:rPr lang="en-US" altLang="zh-CN" sz="2400" dirty="0">
                <a:solidFill>
                  <a:schemeClr val="accent2"/>
                </a:solidFill>
                <a:latin typeface="微软雅黑" panose="020B0503020204020204" pitchFamily="34" charset="-122"/>
                <a:ea typeface="微软雅黑" panose="020B0503020204020204" pitchFamily="34" charset="-122"/>
              </a:rPr>
              <a:t>2017</a:t>
            </a:r>
            <a:r>
              <a:rPr lang="zh-CN" altLang="en-US" sz="2400" dirty="0">
                <a:solidFill>
                  <a:schemeClr val="accent2"/>
                </a:solidFill>
                <a:latin typeface="微软雅黑" panose="020B0503020204020204" pitchFamily="34" charset="-122"/>
                <a:ea typeface="微软雅黑" panose="020B0503020204020204" pitchFamily="34" charset="-122"/>
              </a:rPr>
              <a:t>年中每个月的最大交易日期和最小交易日期</a:t>
            </a:r>
            <a:endParaRPr lang="zh-CN" altLang="en-US" sz="2400" dirty="0">
              <a:solidFill>
                <a:schemeClr val="accent2"/>
              </a:solidFill>
              <a:latin typeface="微软雅黑" panose="020B0503020204020204" pitchFamily="34" charset="-122"/>
              <a:ea typeface="微软雅黑" panose="020B0503020204020204" pitchFamily="34" charset="-122"/>
            </a:endParaRPr>
          </a:p>
        </p:txBody>
      </p:sp>
      <p:sp>
        <p:nvSpPr>
          <p:cNvPr id="1048620"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1</a:t>
            </a:r>
            <a:r>
              <a:rPr lang="en-US" altLang="zh-CN" dirty="0" smtClean="0">
                <a:solidFill>
                  <a:schemeClr val="accent2"/>
                </a:solidFill>
              </a:rPr>
              <a:t>1 </a:t>
            </a:r>
            <a:endParaRPr lang="zh-CN" altLang="en-US" dirty="0">
              <a:solidFill>
                <a:schemeClr val="accent2"/>
              </a:solidFill>
            </a:endParaRPr>
          </a:p>
        </p:txBody>
      </p:sp>
      <p:sp>
        <p:nvSpPr>
          <p:cNvPr id="1048625" name="矩形 4"/>
          <p:cNvSpPr/>
          <p:nvPr/>
        </p:nvSpPr>
        <p:spPr>
          <a:xfrm>
            <a:off x="754836" y="744101"/>
            <a:ext cx="4767481" cy="5262979"/>
          </a:xfrm>
          <a:prstGeom prst="rect">
            <a:avLst/>
          </a:prstGeom>
        </p:spPr>
        <p:txBody>
          <a:bodyPr wrap="square">
            <a:spAutoFit/>
          </a:bodyPr>
          <a:lstStyle/>
          <a:p>
            <a:r>
              <a:rPr lang="en-US" altLang="zh-CN" sz="1600" dirty="0"/>
              <a:t>import pandas as </a:t>
            </a:r>
            <a:r>
              <a:rPr lang="en-US" altLang="zh-CN" sz="1600" dirty="0" err="1"/>
              <a:t>pd</a:t>
            </a:r>
            <a:endParaRPr lang="en-US" altLang="zh-CN" sz="1600" dirty="0"/>
          </a:p>
          <a:p>
            <a:r>
              <a:rPr lang="en-US" altLang="zh-CN" sz="1600" dirty="0"/>
              <a:t>import </a:t>
            </a:r>
            <a:r>
              <a:rPr lang="en-US" altLang="zh-CN" sz="1600" dirty="0" err="1"/>
              <a:t>numpy</a:t>
            </a:r>
            <a:r>
              <a:rPr lang="en-US" altLang="zh-CN" sz="1600" dirty="0"/>
              <a:t> as </a:t>
            </a:r>
            <a:r>
              <a:rPr lang="en-US" altLang="zh-CN" sz="1600" dirty="0" err="1"/>
              <a:t>np</a:t>
            </a:r>
            <a:endParaRPr lang="en-US" altLang="zh-CN" sz="1600" dirty="0"/>
          </a:p>
          <a:p>
            <a:r>
              <a:rPr lang="en-US" altLang="zh-CN" sz="1600" dirty="0"/>
              <a:t>x=</a:t>
            </a:r>
            <a:r>
              <a:rPr lang="en-US" altLang="zh-CN" sz="1600" dirty="0" err="1"/>
              <a:t>pd.read_excel</a:t>
            </a:r>
            <a:r>
              <a:rPr lang="en-US" altLang="zh-CN" sz="1600" dirty="0"/>
              <a:t>('</a:t>
            </a:r>
            <a:r>
              <a:rPr lang="zh-CN" altLang="en-US" sz="1600" dirty="0"/>
              <a:t>交易日历数据表</a:t>
            </a:r>
            <a:r>
              <a:rPr lang="en-US" altLang="zh-CN" sz="1600" dirty="0"/>
              <a:t>.</a:t>
            </a:r>
            <a:r>
              <a:rPr lang="en-US" altLang="zh-CN" sz="1600" dirty="0" err="1"/>
              <a:t>xlsx</a:t>
            </a:r>
            <a:r>
              <a:rPr lang="en-US" altLang="zh-CN" sz="1600" dirty="0"/>
              <a:t>')</a:t>
            </a:r>
          </a:p>
          <a:p>
            <a:r>
              <a:rPr lang="en-US" altLang="zh-CN" sz="1600" dirty="0"/>
              <a:t>x=</a:t>
            </a:r>
            <a:r>
              <a:rPr lang="en-US" altLang="zh-CN" sz="1600" dirty="0" err="1"/>
              <a:t>x.iloc</a:t>
            </a:r>
            <a:r>
              <a:rPr lang="en-US" altLang="zh-CN" sz="1600" dirty="0"/>
              <a:t>[1700:,:]</a:t>
            </a:r>
          </a:p>
          <a:p>
            <a:r>
              <a:rPr lang="en-US" altLang="zh-CN" sz="1600" dirty="0"/>
              <a:t>list1=[]</a:t>
            </a:r>
          </a:p>
          <a:p>
            <a:r>
              <a:rPr lang="en-US" altLang="zh-CN" sz="1600" dirty="0"/>
              <a:t>list2=[]</a:t>
            </a:r>
          </a:p>
          <a:p>
            <a:r>
              <a:rPr lang="en-US" altLang="zh-CN" sz="1600" dirty="0"/>
              <a:t>for m in </a:t>
            </a:r>
            <a:r>
              <a:rPr lang="en-US" altLang="zh-CN" sz="1600" dirty="0" err="1"/>
              <a:t>np.arange</a:t>
            </a:r>
            <a:r>
              <a:rPr lang="en-US" altLang="zh-CN" sz="1600" dirty="0"/>
              <a:t>(1,13):</a:t>
            </a:r>
          </a:p>
          <a:p>
            <a:r>
              <a:rPr lang="en-US" altLang="zh-CN" sz="1600" dirty="0"/>
              <a:t>    if m&lt;10:</a:t>
            </a:r>
          </a:p>
          <a:p>
            <a:r>
              <a:rPr lang="en-US" altLang="zh-CN" sz="1600" dirty="0"/>
              <a:t>        d1=</a:t>
            </a:r>
            <a:r>
              <a:rPr lang="en-US" altLang="zh-CN" sz="1600" dirty="0" err="1"/>
              <a:t>str</a:t>
            </a:r>
            <a:r>
              <a:rPr lang="en-US" altLang="zh-CN" sz="1600" dirty="0"/>
              <a:t>(2017)+'-0'+str(m)+'-01'</a:t>
            </a:r>
          </a:p>
          <a:p>
            <a:r>
              <a:rPr lang="en-US" altLang="zh-CN" sz="1600" dirty="0"/>
              <a:t>        d2=</a:t>
            </a:r>
            <a:r>
              <a:rPr lang="en-US" altLang="zh-CN" sz="1600" dirty="0" err="1"/>
              <a:t>str</a:t>
            </a:r>
            <a:r>
              <a:rPr lang="en-US" altLang="zh-CN" sz="1600" dirty="0"/>
              <a:t>(2017)+'-0'+str(m)+'-31'</a:t>
            </a:r>
          </a:p>
          <a:p>
            <a:r>
              <a:rPr lang="en-US" altLang="zh-CN" sz="1600" dirty="0"/>
              <a:t>    else:</a:t>
            </a:r>
          </a:p>
          <a:p>
            <a:r>
              <a:rPr lang="en-US" altLang="zh-CN" sz="1600" dirty="0"/>
              <a:t>        d1=</a:t>
            </a:r>
            <a:r>
              <a:rPr lang="en-US" altLang="zh-CN" sz="1600" dirty="0" err="1"/>
              <a:t>str</a:t>
            </a:r>
            <a:r>
              <a:rPr lang="en-US" altLang="zh-CN" sz="1600" dirty="0"/>
              <a:t>(2017)+'-'+</a:t>
            </a:r>
            <a:r>
              <a:rPr lang="en-US" altLang="zh-CN" sz="1600" dirty="0" err="1"/>
              <a:t>str</a:t>
            </a:r>
            <a:r>
              <a:rPr lang="en-US" altLang="zh-CN" sz="1600" dirty="0"/>
              <a:t>(m)+'-01'</a:t>
            </a:r>
          </a:p>
          <a:p>
            <a:r>
              <a:rPr lang="en-US" altLang="zh-CN" sz="1600" dirty="0"/>
              <a:t>        d2=</a:t>
            </a:r>
            <a:r>
              <a:rPr lang="en-US" altLang="zh-CN" sz="1600" dirty="0" err="1"/>
              <a:t>str</a:t>
            </a:r>
            <a:r>
              <a:rPr lang="en-US" altLang="zh-CN" sz="1600" dirty="0"/>
              <a:t>(2017)+'-'+</a:t>
            </a:r>
            <a:r>
              <a:rPr lang="en-US" altLang="zh-CN" sz="1600" dirty="0" err="1"/>
              <a:t>str</a:t>
            </a:r>
            <a:r>
              <a:rPr lang="en-US" altLang="zh-CN" sz="1600" dirty="0"/>
              <a:t>(m)+'-31'</a:t>
            </a:r>
          </a:p>
          <a:p>
            <a:r>
              <a:rPr lang="en-US" altLang="zh-CN" sz="1600" dirty="0"/>
              <a:t>    I1=</a:t>
            </a:r>
            <a:r>
              <a:rPr lang="en-US" altLang="zh-CN" sz="1600" dirty="0" err="1"/>
              <a:t>x.iloc</a:t>
            </a:r>
            <a:r>
              <a:rPr lang="en-US" altLang="zh-CN" sz="1600" dirty="0"/>
              <a:t>[:,1]&gt;=d1</a:t>
            </a:r>
          </a:p>
          <a:p>
            <a:r>
              <a:rPr lang="en-US" altLang="zh-CN" sz="1600" dirty="0"/>
              <a:t>    I2=</a:t>
            </a:r>
            <a:r>
              <a:rPr lang="en-US" altLang="zh-CN" sz="1600" dirty="0" err="1"/>
              <a:t>x.iloc</a:t>
            </a:r>
            <a:r>
              <a:rPr lang="en-US" altLang="zh-CN" sz="1600" dirty="0"/>
              <a:t>[:,1]&lt;=d2</a:t>
            </a:r>
          </a:p>
          <a:p>
            <a:r>
              <a:rPr lang="en-US" altLang="zh-CN" sz="1600" dirty="0"/>
              <a:t>    I=I1&amp;I2</a:t>
            </a:r>
          </a:p>
          <a:p>
            <a:r>
              <a:rPr lang="en-US" altLang="zh-CN" sz="1600" dirty="0"/>
              <a:t>    </a:t>
            </a:r>
            <a:r>
              <a:rPr lang="en-US" altLang="zh-CN" sz="1600" dirty="0" err="1"/>
              <a:t>xs</a:t>
            </a:r>
            <a:r>
              <a:rPr lang="en-US" altLang="zh-CN" sz="1600" dirty="0"/>
              <a:t>=</a:t>
            </a:r>
            <a:r>
              <a:rPr lang="en-US" altLang="zh-CN" sz="1600" dirty="0" err="1"/>
              <a:t>x.iloc</a:t>
            </a:r>
            <a:r>
              <a:rPr lang="en-US" altLang="zh-CN" sz="1600" dirty="0"/>
              <a:t>[</a:t>
            </a:r>
            <a:r>
              <a:rPr lang="en-US" altLang="zh-CN" sz="1600" dirty="0" err="1"/>
              <a:t>I.values</a:t>
            </a:r>
            <a:r>
              <a:rPr lang="en-US" altLang="zh-CN" sz="1600" dirty="0"/>
              <a:t>,[1]]['</a:t>
            </a:r>
            <a:r>
              <a:rPr lang="en-US" altLang="zh-CN" sz="1600" dirty="0" err="1"/>
              <a:t>Clddt</a:t>
            </a:r>
            <a:r>
              <a:rPr lang="en-US" altLang="zh-CN" sz="1600" dirty="0"/>
              <a:t>'].</a:t>
            </a:r>
            <a:r>
              <a:rPr lang="en-US" altLang="zh-CN" sz="1600" dirty="0" err="1"/>
              <a:t>sort_values</a:t>
            </a:r>
            <a:r>
              <a:rPr lang="en-US" altLang="zh-CN" sz="1600" dirty="0"/>
              <a:t>()</a:t>
            </a:r>
          </a:p>
          <a:p>
            <a:r>
              <a:rPr lang="en-US" altLang="zh-CN" sz="1600" dirty="0"/>
              <a:t>    if </a:t>
            </a:r>
            <a:r>
              <a:rPr lang="en-US" altLang="zh-CN" sz="1600" dirty="0" err="1"/>
              <a:t>len</a:t>
            </a:r>
            <a:r>
              <a:rPr lang="en-US" altLang="zh-CN" sz="1600" dirty="0"/>
              <a:t>(</a:t>
            </a:r>
            <a:r>
              <a:rPr lang="en-US" altLang="zh-CN" sz="1600" dirty="0" err="1"/>
              <a:t>xs</a:t>
            </a:r>
            <a:r>
              <a:rPr lang="en-US" altLang="zh-CN" sz="1600" dirty="0"/>
              <a:t>)&gt;1:</a:t>
            </a:r>
          </a:p>
          <a:p>
            <a:r>
              <a:rPr lang="en-US" altLang="zh-CN" sz="1600" dirty="0"/>
              <a:t>         list1.append(</a:t>
            </a:r>
            <a:r>
              <a:rPr lang="en-US" altLang="zh-CN" sz="1600" dirty="0" err="1"/>
              <a:t>xs.values</a:t>
            </a:r>
            <a:r>
              <a:rPr lang="en-US" altLang="zh-CN" sz="1600" dirty="0"/>
              <a:t>[0])</a:t>
            </a:r>
          </a:p>
          <a:p>
            <a:r>
              <a:rPr lang="en-US" altLang="zh-CN" sz="1600" dirty="0"/>
              <a:t>         list2.append(</a:t>
            </a:r>
            <a:r>
              <a:rPr lang="en-US" altLang="zh-CN" sz="1600" dirty="0" err="1"/>
              <a:t>xs.values</a:t>
            </a:r>
            <a:r>
              <a:rPr lang="en-US" altLang="zh-CN" sz="1600" dirty="0"/>
              <a:t>[</a:t>
            </a:r>
            <a:r>
              <a:rPr lang="en-US" altLang="zh-CN" sz="1600" dirty="0" err="1"/>
              <a:t>len</a:t>
            </a:r>
            <a:r>
              <a:rPr lang="en-US" altLang="zh-CN" sz="1600" dirty="0"/>
              <a:t>(</a:t>
            </a:r>
            <a:r>
              <a:rPr lang="en-US" altLang="zh-CN" sz="1600" dirty="0" err="1"/>
              <a:t>xs</a:t>
            </a:r>
            <a:r>
              <a:rPr lang="en-US" altLang="zh-CN" sz="1600" dirty="0"/>
              <a:t>)-1])</a:t>
            </a:r>
          </a:p>
          <a:p>
            <a:r>
              <a:rPr lang="zh-CN" altLang="en-US" sz="1600" dirty="0"/>
              <a:t>结果如图</a:t>
            </a:r>
            <a:r>
              <a:rPr lang="en-US" altLang="zh-CN" sz="1600" dirty="0"/>
              <a:t>11-8</a:t>
            </a:r>
            <a:r>
              <a:rPr lang="zh-CN" altLang="en-US" sz="1600" dirty="0"/>
              <a:t>所示。</a:t>
            </a:r>
            <a:endParaRPr lang="zh-CN" altLang="en-US" sz="1600" dirty="0"/>
          </a:p>
        </p:txBody>
      </p:sp>
      <p:pic>
        <p:nvPicPr>
          <p:cNvPr id="12" name="图片 11"/>
          <p:cNvPicPr/>
          <p:nvPr/>
        </p:nvPicPr>
        <p:blipFill>
          <a:blip r:embed="rId3" cstate="print"/>
          <a:stretch>
            <a:fillRect/>
          </a:stretch>
        </p:blipFill>
        <p:spPr>
          <a:xfrm>
            <a:off x="6242397" y="3068960"/>
            <a:ext cx="3877253" cy="3356992"/>
          </a:xfrm>
          <a:prstGeom prst="rect">
            <a:avLst/>
          </a:prstGeom>
        </p:spPr>
      </p:pic>
      <p:graphicFrame>
        <p:nvGraphicFramePr>
          <p:cNvPr id="2" name="表格 1"/>
          <p:cNvGraphicFramePr>
            <a:graphicFrameLocks noGrp="1"/>
          </p:cNvGraphicFramePr>
          <p:nvPr>
            <p:extLst>
              <p:ext uri="{D42A27DB-BD31-4B8C-83A1-F6EECF244321}">
                <p14:modId xmlns:p14="http://schemas.microsoft.com/office/powerpoint/2010/main" val="3336091310"/>
              </p:ext>
            </p:extLst>
          </p:nvPr>
        </p:nvGraphicFramePr>
        <p:xfrm>
          <a:off x="6499860" y="980728"/>
          <a:ext cx="3362325" cy="1885950"/>
        </p:xfrm>
        <a:graphic>
          <a:graphicData uri="http://schemas.openxmlformats.org/drawingml/2006/table">
            <a:tbl>
              <a:tblPr firstRow="1" firstCol="1" bandRow="1">
                <a:tableStyleId>{5C22544A-7EE6-4342-B048-85BDC9FD1C3A}</a:tableStyleId>
              </a:tblPr>
              <a:tblGrid>
                <a:gridCol w="951601"/>
                <a:gridCol w="1040418"/>
                <a:gridCol w="685153"/>
                <a:gridCol w="685153"/>
              </a:tblGrid>
              <a:tr h="171450">
                <a:tc>
                  <a:txBody>
                    <a:bodyPr/>
                    <a:lstStyle/>
                    <a:p>
                      <a:pPr marL="0" marR="0" algn="l">
                        <a:spcBef>
                          <a:spcPts val="0"/>
                        </a:spcBef>
                        <a:spcAft>
                          <a:spcPts val="0"/>
                        </a:spcAft>
                      </a:pPr>
                      <a:r>
                        <a:rPr lang="en-US" sz="1050" kern="0" dirty="0" err="1">
                          <a:effectLst/>
                        </a:rPr>
                        <a:t>Markettype</a:t>
                      </a:r>
                      <a:endParaRPr lang="zh-CN" sz="1050" kern="100" dirty="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Clddt</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Daywk</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State</a:t>
                      </a:r>
                      <a:endParaRPr lang="zh-CN" sz="1050" kern="100">
                        <a:effectLst/>
                        <a:latin typeface="Calibri"/>
                        <a:ea typeface="宋体"/>
                        <a:cs typeface="Times New Roman"/>
                      </a:endParaRPr>
                    </a:p>
                  </a:txBody>
                  <a:tcPr marL="68580" marR="68580" marT="0" marB="0" anchor="b"/>
                </a:tc>
              </a:tr>
              <a:tr h="171450">
                <a:tc>
                  <a:txBody>
                    <a:bodyPr/>
                    <a:lstStyle/>
                    <a:p>
                      <a:pPr marL="0" marR="0" algn="l">
                        <a:spcBef>
                          <a:spcPts val="0"/>
                        </a:spcBef>
                        <a:spcAft>
                          <a:spcPts val="0"/>
                        </a:spcAft>
                      </a:pPr>
                      <a:r>
                        <a:rPr lang="en-US" sz="1050" kern="0">
                          <a:effectLst/>
                        </a:rPr>
                        <a:t>1</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2010-01-04</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1</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O</a:t>
                      </a:r>
                      <a:endParaRPr lang="zh-CN" sz="1050" kern="100">
                        <a:effectLst/>
                        <a:latin typeface="Calibri"/>
                        <a:ea typeface="宋体"/>
                        <a:cs typeface="Times New Roman"/>
                      </a:endParaRPr>
                    </a:p>
                  </a:txBody>
                  <a:tcPr marL="68580" marR="68580" marT="0" marB="0" anchor="b"/>
                </a:tc>
              </a:tr>
              <a:tr h="171450">
                <a:tc>
                  <a:txBody>
                    <a:bodyPr/>
                    <a:lstStyle/>
                    <a:p>
                      <a:pPr marL="0" marR="0" algn="l">
                        <a:spcBef>
                          <a:spcPts val="0"/>
                        </a:spcBef>
                        <a:spcAft>
                          <a:spcPts val="0"/>
                        </a:spcAft>
                      </a:pPr>
                      <a:r>
                        <a:rPr lang="en-US" sz="1050" kern="0">
                          <a:effectLst/>
                        </a:rPr>
                        <a:t>1</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2010-01-05</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2</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O</a:t>
                      </a:r>
                      <a:endParaRPr lang="zh-CN" sz="1050" kern="100">
                        <a:effectLst/>
                        <a:latin typeface="Calibri"/>
                        <a:ea typeface="宋体"/>
                        <a:cs typeface="Times New Roman"/>
                      </a:endParaRPr>
                    </a:p>
                  </a:txBody>
                  <a:tcPr marL="68580" marR="68580" marT="0" marB="0" anchor="b"/>
                </a:tc>
              </a:tr>
              <a:tr h="171450">
                <a:tc>
                  <a:txBody>
                    <a:bodyPr/>
                    <a:lstStyle/>
                    <a:p>
                      <a:pPr marL="0" marR="0" algn="l">
                        <a:spcBef>
                          <a:spcPts val="0"/>
                        </a:spcBef>
                        <a:spcAft>
                          <a:spcPts val="0"/>
                        </a:spcAft>
                      </a:pPr>
                      <a:r>
                        <a:rPr lang="en-US" sz="1050" kern="0">
                          <a:effectLst/>
                        </a:rPr>
                        <a:t>1</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2010-01-06</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O</a:t>
                      </a:r>
                      <a:endParaRPr lang="zh-CN" sz="1050" kern="100">
                        <a:effectLst/>
                        <a:latin typeface="Calibri"/>
                        <a:ea typeface="宋体"/>
                        <a:cs typeface="Times New Roman"/>
                      </a:endParaRPr>
                    </a:p>
                  </a:txBody>
                  <a:tcPr marL="68580" marR="68580" marT="0" marB="0" anchor="b"/>
                </a:tc>
              </a:tr>
              <a:tr h="171450">
                <a:tc>
                  <a:txBody>
                    <a:bodyPr/>
                    <a:lstStyle/>
                    <a:p>
                      <a:pPr marL="0" marR="0" algn="l">
                        <a:spcBef>
                          <a:spcPts val="0"/>
                        </a:spcBef>
                        <a:spcAft>
                          <a:spcPts val="0"/>
                        </a:spcAft>
                      </a:pPr>
                      <a:r>
                        <a:rPr lang="en-US" sz="1050" kern="0">
                          <a:effectLst/>
                        </a:rPr>
                        <a:t>1</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2010-01-07</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4</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O</a:t>
                      </a:r>
                      <a:endParaRPr lang="zh-CN" sz="1050" kern="100">
                        <a:effectLst/>
                        <a:latin typeface="Calibri"/>
                        <a:ea typeface="宋体"/>
                        <a:cs typeface="Times New Roman"/>
                      </a:endParaRPr>
                    </a:p>
                  </a:txBody>
                  <a:tcPr marL="68580" marR="68580" marT="0" marB="0" anchor="b"/>
                </a:tc>
              </a:tr>
              <a:tr h="171450">
                <a:tc>
                  <a:txBody>
                    <a:bodyPr/>
                    <a:lstStyle/>
                    <a:p>
                      <a:pPr marL="0" marR="0" algn="l">
                        <a:spcBef>
                          <a:spcPts val="0"/>
                        </a:spcBef>
                        <a:spcAft>
                          <a:spcPts val="0"/>
                        </a:spcAft>
                      </a:pPr>
                      <a:r>
                        <a:rPr lang="en-US" sz="1050" kern="0">
                          <a:effectLst/>
                        </a:rPr>
                        <a:t>1</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2010-01-08</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5</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O</a:t>
                      </a:r>
                      <a:endParaRPr lang="zh-CN" sz="1050" kern="100">
                        <a:effectLst/>
                        <a:latin typeface="Calibri"/>
                        <a:ea typeface="宋体"/>
                        <a:cs typeface="Times New Roman"/>
                      </a:endParaRPr>
                    </a:p>
                  </a:txBody>
                  <a:tcPr marL="68580" marR="68580" marT="0" marB="0" anchor="b"/>
                </a:tc>
              </a:tr>
              <a:tr h="171450">
                <a:tc>
                  <a:txBody>
                    <a:bodyPr/>
                    <a:lstStyle/>
                    <a:p>
                      <a:pPr marL="0" marR="0" algn="l">
                        <a:spcBef>
                          <a:spcPts val="0"/>
                        </a:spcBef>
                        <a:spcAft>
                          <a:spcPts val="0"/>
                        </a:spcAft>
                      </a:pPr>
                      <a:r>
                        <a:rPr lang="en-US" sz="1050" kern="0">
                          <a:effectLst/>
                        </a:rPr>
                        <a:t>1</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2010-01-11</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1</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O</a:t>
                      </a:r>
                      <a:endParaRPr lang="zh-CN" sz="1050" kern="100">
                        <a:effectLst/>
                        <a:latin typeface="Calibri"/>
                        <a:ea typeface="宋体"/>
                        <a:cs typeface="Times New Roman"/>
                      </a:endParaRPr>
                    </a:p>
                  </a:txBody>
                  <a:tcPr marL="68580" marR="68580" marT="0" marB="0" anchor="b"/>
                </a:tc>
              </a:tr>
              <a:tr h="171450">
                <a:tc>
                  <a:txBody>
                    <a:bodyPr/>
                    <a:lstStyle/>
                    <a:p>
                      <a:pPr marL="0" marR="0" algn="l">
                        <a:spcBef>
                          <a:spcPts val="0"/>
                        </a:spcBef>
                        <a:spcAft>
                          <a:spcPts val="0"/>
                        </a:spcAft>
                      </a:pPr>
                      <a:r>
                        <a:rPr lang="en-US" sz="1050" kern="0">
                          <a:effectLst/>
                        </a:rPr>
                        <a:t>1</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dirty="0">
                          <a:effectLst/>
                        </a:rPr>
                        <a:t>2010-01-12</a:t>
                      </a:r>
                      <a:endParaRPr lang="zh-CN" sz="1050" kern="100" dirty="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2</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O</a:t>
                      </a:r>
                      <a:endParaRPr lang="zh-CN" sz="1050" kern="100">
                        <a:effectLst/>
                        <a:latin typeface="Calibri"/>
                        <a:ea typeface="宋体"/>
                        <a:cs typeface="Times New Roman"/>
                      </a:endParaRPr>
                    </a:p>
                  </a:txBody>
                  <a:tcPr marL="68580" marR="68580" marT="0" marB="0" anchor="b"/>
                </a:tc>
              </a:tr>
              <a:tr h="171450">
                <a:tc>
                  <a:txBody>
                    <a:bodyPr/>
                    <a:lstStyle/>
                    <a:p>
                      <a:pPr marL="0" marR="0" algn="l">
                        <a:spcBef>
                          <a:spcPts val="0"/>
                        </a:spcBef>
                        <a:spcAft>
                          <a:spcPts val="0"/>
                        </a:spcAft>
                      </a:pPr>
                      <a:r>
                        <a:rPr lang="en-US" sz="1050" kern="0">
                          <a:effectLst/>
                        </a:rPr>
                        <a:t>1</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2010-01-13</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O</a:t>
                      </a:r>
                      <a:endParaRPr lang="zh-CN" sz="1050" kern="100">
                        <a:effectLst/>
                        <a:latin typeface="Calibri"/>
                        <a:ea typeface="宋体"/>
                        <a:cs typeface="Times New Roman"/>
                      </a:endParaRPr>
                    </a:p>
                  </a:txBody>
                  <a:tcPr marL="68580" marR="68580" marT="0" marB="0" anchor="b"/>
                </a:tc>
              </a:tr>
              <a:tr h="171450">
                <a:tc>
                  <a:txBody>
                    <a:bodyPr/>
                    <a:lstStyle/>
                    <a:p>
                      <a:pPr marL="0" marR="0" algn="l">
                        <a:spcBef>
                          <a:spcPts val="0"/>
                        </a:spcBef>
                        <a:spcAft>
                          <a:spcPts val="0"/>
                        </a:spcAft>
                      </a:pPr>
                      <a:r>
                        <a:rPr lang="en-US" sz="1050" kern="0">
                          <a:effectLst/>
                        </a:rPr>
                        <a:t>1</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2010-01-14</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4</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O</a:t>
                      </a:r>
                      <a:endParaRPr lang="zh-CN" sz="1050" kern="100">
                        <a:effectLst/>
                        <a:latin typeface="Calibri"/>
                        <a:ea typeface="宋体"/>
                        <a:cs typeface="Times New Roman"/>
                      </a:endParaRPr>
                    </a:p>
                  </a:txBody>
                  <a:tcPr marL="68580" marR="68580" marT="0" marB="0" anchor="b"/>
                </a:tc>
              </a:tr>
              <a:tr h="171450">
                <a:tc>
                  <a:txBody>
                    <a:bodyPr/>
                    <a:lstStyle/>
                    <a:p>
                      <a:pPr marL="0" marR="0" algn="l">
                        <a:spcBef>
                          <a:spcPts val="0"/>
                        </a:spcBef>
                        <a:spcAft>
                          <a:spcPts val="0"/>
                        </a:spcAft>
                      </a:pPr>
                      <a:r>
                        <a:rPr lang="zh-CN" sz="1050" kern="0">
                          <a:effectLst/>
                        </a:rPr>
                        <a:t>……</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zh-CN" sz="1050" kern="0">
                          <a:effectLst/>
                        </a:rPr>
                        <a:t>……</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zh-CN" sz="1050" kern="0">
                          <a:effectLst/>
                        </a:rPr>
                        <a:t>……</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zh-CN" sz="1050" kern="0" dirty="0">
                          <a:effectLst/>
                        </a:rPr>
                        <a:t>……</a:t>
                      </a:r>
                      <a:endParaRPr lang="zh-CN" sz="1050" kern="100" dirty="0">
                        <a:effectLst/>
                        <a:latin typeface="Calibri"/>
                        <a:ea typeface="宋体"/>
                        <a:cs typeface="Times New Roman"/>
                      </a:endParaRPr>
                    </a:p>
                  </a:txBody>
                  <a:tcPr marL="68580" marR="68580" marT="0" marB="0" anchor="b"/>
                </a:tc>
              </a:tr>
            </a:tbl>
          </a:graphicData>
        </a:graphic>
      </p:graphicFrame>
      <p:sp>
        <p:nvSpPr>
          <p:cNvPr id="3" name="矩形 2"/>
          <p:cNvSpPr/>
          <p:nvPr/>
        </p:nvSpPr>
        <p:spPr>
          <a:xfrm>
            <a:off x="6515133" y="611396"/>
            <a:ext cx="1620957" cy="338554"/>
          </a:xfrm>
          <a:prstGeom prst="rect">
            <a:avLst/>
          </a:prstGeom>
        </p:spPr>
        <p:txBody>
          <a:bodyPr wrap="none">
            <a:spAutoFit/>
          </a:bodyPr>
          <a:lstStyle/>
          <a:p>
            <a:r>
              <a:rPr lang="zh-CN" altLang="en-US" sz="1600" dirty="0"/>
              <a:t>交易日历数据表</a:t>
            </a:r>
          </a:p>
        </p:txBody>
      </p:sp>
    </p:spTree>
    <p:extLst>
      <p:ext uri="{BB962C8B-B14F-4D97-AF65-F5344CB8AC3E}">
        <p14:creationId xmlns:p14="http://schemas.microsoft.com/office/powerpoint/2010/main" val="1234947902"/>
      </p:ext>
    </p:extLst>
  </p:cSld>
  <p:clrMapOvr>
    <a:masterClrMapping/>
  </p:clrMapOvr>
  <p:transition advTm="9437"/>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TextBox 54"/>
          <p:cNvSpPr txBox="1"/>
          <p:nvPr/>
        </p:nvSpPr>
        <p:spPr>
          <a:xfrm>
            <a:off x="1330765" y="44625"/>
            <a:ext cx="9304120" cy="461659"/>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400" dirty="0" smtClean="0">
                <a:solidFill>
                  <a:schemeClr val="accent2"/>
                </a:solidFill>
                <a:latin typeface="微软雅黑" panose="020B0503020204020204" pitchFamily="34" charset="-122"/>
                <a:ea typeface="微软雅黑" panose="020B0503020204020204" pitchFamily="34" charset="-122"/>
              </a:rPr>
              <a:t>Step2:</a:t>
            </a:r>
            <a:r>
              <a:rPr lang="zh-CN" altLang="en-US" sz="2400" dirty="0" smtClean="0">
                <a:solidFill>
                  <a:schemeClr val="accent2"/>
                </a:solidFill>
                <a:latin typeface="微软雅黑" panose="020B0503020204020204" pitchFamily="34" charset="-122"/>
                <a:ea typeface="微软雅黑" panose="020B0503020204020204" pitchFamily="34" charset="-122"/>
              </a:rPr>
              <a:t>五行业指数的</a:t>
            </a:r>
            <a:r>
              <a:rPr lang="zh-CN" altLang="en-US" sz="2400" dirty="0">
                <a:solidFill>
                  <a:schemeClr val="accent2"/>
                </a:solidFill>
                <a:latin typeface="微软雅黑" panose="020B0503020204020204" pitchFamily="34" charset="-122"/>
                <a:ea typeface="微软雅黑" panose="020B0503020204020204" pitchFamily="34" charset="-122"/>
              </a:rPr>
              <a:t>在</a:t>
            </a:r>
            <a:r>
              <a:rPr lang="en-US" altLang="zh-CN" sz="2400" dirty="0">
                <a:solidFill>
                  <a:schemeClr val="accent2"/>
                </a:solidFill>
                <a:latin typeface="微软雅黑" panose="020B0503020204020204" pitchFamily="34" charset="-122"/>
                <a:ea typeface="微软雅黑" panose="020B0503020204020204" pitchFamily="34" charset="-122"/>
              </a:rPr>
              <a:t>2017</a:t>
            </a:r>
            <a:r>
              <a:rPr lang="zh-CN" altLang="en-US" sz="2400" dirty="0">
                <a:solidFill>
                  <a:schemeClr val="accent2"/>
                </a:solidFill>
                <a:latin typeface="微软雅黑" panose="020B0503020204020204" pitchFamily="34" charset="-122"/>
                <a:ea typeface="微软雅黑" panose="020B0503020204020204" pitchFamily="34" charset="-122"/>
              </a:rPr>
              <a:t>年度每个月的涨跌情况</a:t>
            </a:r>
          </a:p>
        </p:txBody>
      </p:sp>
      <p:sp>
        <p:nvSpPr>
          <p:cNvPr id="1048620"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1</a:t>
            </a:r>
            <a:r>
              <a:rPr lang="en-US" altLang="zh-CN" dirty="0" smtClean="0">
                <a:solidFill>
                  <a:schemeClr val="accent2"/>
                </a:solidFill>
              </a:rPr>
              <a:t>1 </a:t>
            </a:r>
            <a:endParaRPr lang="zh-CN" altLang="en-US" dirty="0">
              <a:solidFill>
                <a:schemeClr val="accent2"/>
              </a:solidFill>
            </a:endParaRPr>
          </a:p>
        </p:txBody>
      </p:sp>
      <p:sp>
        <p:nvSpPr>
          <p:cNvPr id="1048625" name="矩形 4"/>
          <p:cNvSpPr/>
          <p:nvPr/>
        </p:nvSpPr>
        <p:spPr>
          <a:xfrm>
            <a:off x="754836" y="744100"/>
            <a:ext cx="5559569" cy="5632311"/>
          </a:xfrm>
          <a:prstGeom prst="rect">
            <a:avLst/>
          </a:prstGeom>
        </p:spPr>
        <p:txBody>
          <a:bodyPr wrap="square">
            <a:spAutoFit/>
          </a:bodyPr>
          <a:lstStyle/>
          <a:p>
            <a:r>
              <a:rPr lang="en-US" altLang="zh-CN" sz="1200" dirty="0" err="1"/>
              <a:t>trd</a:t>
            </a:r>
            <a:r>
              <a:rPr lang="en-US" altLang="zh-CN" sz="1200" dirty="0"/>
              <a:t>=</a:t>
            </a:r>
            <a:r>
              <a:rPr lang="en-US" altLang="zh-CN" sz="1200" dirty="0" err="1"/>
              <a:t>pd.read_excel</a:t>
            </a:r>
            <a:r>
              <a:rPr lang="en-US" altLang="zh-CN" sz="1200" dirty="0"/>
              <a:t>('IDX_Idxtrd.xlsx')         </a:t>
            </a:r>
          </a:p>
          <a:p>
            <a:r>
              <a:rPr lang="en-US" altLang="zh-CN" sz="1200" dirty="0"/>
              <a:t>#</a:t>
            </a:r>
            <a:r>
              <a:rPr lang="zh-CN" altLang="en-US" sz="1200" dirty="0"/>
              <a:t>行业代码依次对应：商业贸易、通信、非银金融、采掘、家用电器</a:t>
            </a:r>
          </a:p>
          <a:p>
            <a:r>
              <a:rPr lang="en-US" altLang="zh-CN" sz="1200" dirty="0" err="1"/>
              <a:t>Icode</a:t>
            </a:r>
            <a:r>
              <a:rPr lang="en-US" altLang="zh-CN" sz="1200" dirty="0"/>
              <a:t>=[801200,801770,801790,801020,801110]</a:t>
            </a:r>
          </a:p>
          <a:p>
            <a:r>
              <a:rPr lang="en-US" altLang="zh-CN" sz="1200" dirty="0"/>
              <a:t>#</a:t>
            </a:r>
            <a:r>
              <a:rPr lang="zh-CN" altLang="en-US" sz="1200" dirty="0"/>
              <a:t>预定义每个行业指数的涨跌指标列表</a:t>
            </a:r>
          </a:p>
          <a:p>
            <a:r>
              <a:rPr lang="en-US" altLang="zh-CN" sz="1200" dirty="0"/>
              <a:t>list1_=[]</a:t>
            </a:r>
          </a:p>
          <a:p>
            <a:r>
              <a:rPr lang="en-US" altLang="zh-CN" sz="1200" dirty="0"/>
              <a:t>list2_=[]</a:t>
            </a:r>
          </a:p>
          <a:p>
            <a:r>
              <a:rPr lang="en-US" altLang="zh-CN" sz="1200" dirty="0"/>
              <a:t>list3_=[]</a:t>
            </a:r>
          </a:p>
          <a:p>
            <a:r>
              <a:rPr lang="en-US" altLang="zh-CN" sz="1200" dirty="0"/>
              <a:t>list4_=[]</a:t>
            </a:r>
          </a:p>
          <a:p>
            <a:r>
              <a:rPr lang="en-US" altLang="zh-CN" sz="1200" dirty="0"/>
              <a:t>list5_=[]</a:t>
            </a:r>
          </a:p>
          <a:p>
            <a:r>
              <a:rPr lang="en-US" altLang="zh-CN" sz="1200" dirty="0"/>
              <a:t>#</a:t>
            </a:r>
            <a:r>
              <a:rPr lang="zh-CN" altLang="en-US" sz="1200" dirty="0"/>
              <a:t>对每一个行业指数进行计算</a:t>
            </a:r>
          </a:p>
          <a:p>
            <a:r>
              <a:rPr lang="en-US" altLang="zh-CN" sz="1200" dirty="0"/>
              <a:t>for t in range(</a:t>
            </a:r>
            <a:r>
              <a:rPr lang="en-US" altLang="zh-CN" sz="1200" dirty="0" err="1"/>
              <a:t>len</a:t>
            </a:r>
            <a:r>
              <a:rPr lang="en-US" altLang="zh-CN" sz="1200" dirty="0"/>
              <a:t>(</a:t>
            </a:r>
            <a:r>
              <a:rPr lang="en-US" altLang="zh-CN" sz="1200" dirty="0" err="1"/>
              <a:t>Icode</a:t>
            </a:r>
            <a:r>
              <a:rPr lang="en-US" altLang="zh-CN" sz="1200" dirty="0"/>
              <a:t>)):</a:t>
            </a:r>
          </a:p>
          <a:p>
            <a:r>
              <a:rPr lang="en-US" altLang="zh-CN" sz="1200" dirty="0"/>
              <a:t>    #</a:t>
            </a:r>
            <a:r>
              <a:rPr lang="zh-CN" altLang="en-US" sz="1200" dirty="0"/>
              <a:t>获得第</a:t>
            </a:r>
            <a:r>
              <a:rPr lang="en-US" altLang="zh-CN" sz="1200" dirty="0"/>
              <a:t>t</a:t>
            </a:r>
            <a:r>
              <a:rPr lang="zh-CN" altLang="en-US" sz="1200" dirty="0"/>
              <a:t>个行业指数的交易数据</a:t>
            </a:r>
          </a:p>
          <a:p>
            <a:r>
              <a:rPr lang="zh-CN" altLang="en-US" sz="1200" dirty="0"/>
              <a:t>    </a:t>
            </a:r>
            <a:r>
              <a:rPr lang="en-US" altLang="zh-CN" sz="1200" dirty="0" err="1"/>
              <a:t>dt</a:t>
            </a:r>
            <a:r>
              <a:rPr lang="en-US" altLang="zh-CN" sz="1200" dirty="0"/>
              <a:t>=</a:t>
            </a:r>
            <a:r>
              <a:rPr lang="en-US" altLang="zh-CN" sz="1200" dirty="0" err="1"/>
              <a:t>trd.loc</a:t>
            </a:r>
            <a:r>
              <a:rPr lang="en-US" altLang="zh-CN" sz="1200" dirty="0"/>
              <a:t>[</a:t>
            </a:r>
            <a:r>
              <a:rPr lang="en-US" altLang="zh-CN" sz="1200" dirty="0" err="1"/>
              <a:t>trd</a:t>
            </a:r>
            <a:r>
              <a:rPr lang="en-US" altLang="zh-CN" sz="1200" dirty="0"/>
              <a:t>['</a:t>
            </a:r>
            <a:r>
              <a:rPr lang="en-US" altLang="zh-CN" sz="1200" dirty="0" err="1"/>
              <a:t>Indexcd</a:t>
            </a:r>
            <a:r>
              <a:rPr lang="en-US" altLang="zh-CN" sz="1200" dirty="0"/>
              <a:t>'].values==</a:t>
            </a:r>
            <a:r>
              <a:rPr lang="en-US" altLang="zh-CN" sz="1200" dirty="0" err="1"/>
              <a:t>Icode</a:t>
            </a:r>
            <a:r>
              <a:rPr lang="en-US" altLang="zh-CN" sz="1200" dirty="0"/>
              <a:t>[t],['Idxtrd01','Idxtrd05']]</a:t>
            </a:r>
          </a:p>
          <a:p>
            <a:r>
              <a:rPr lang="en-US" altLang="zh-CN" sz="1200" dirty="0"/>
              <a:t>for k in range(1,len(list1)):</a:t>
            </a:r>
          </a:p>
          <a:p>
            <a:r>
              <a:rPr lang="en-US" altLang="zh-CN" sz="1200" dirty="0"/>
              <a:t>    #</a:t>
            </a:r>
            <a:r>
              <a:rPr lang="zh-CN" altLang="en-US" sz="1200" dirty="0"/>
              <a:t>获得第</a:t>
            </a:r>
            <a:r>
              <a:rPr lang="en-US" altLang="zh-CN" sz="1200" dirty="0"/>
              <a:t>t</a:t>
            </a:r>
            <a:r>
              <a:rPr lang="zh-CN" altLang="en-US" sz="1200" dirty="0"/>
              <a:t>个行业指数第</a:t>
            </a:r>
            <a:r>
              <a:rPr lang="en-US" altLang="zh-CN" sz="1200" dirty="0"/>
              <a:t>k</a:t>
            </a:r>
            <a:r>
              <a:rPr lang="zh-CN" altLang="en-US" sz="1200" dirty="0"/>
              <a:t>个月份的最大交易日和最小交易日对应的收盘指数</a:t>
            </a:r>
          </a:p>
          <a:p>
            <a:r>
              <a:rPr lang="zh-CN" altLang="en-US" sz="1200" dirty="0"/>
              <a:t>    </a:t>
            </a:r>
            <a:r>
              <a:rPr lang="en-US" altLang="zh-CN" sz="1200" dirty="0"/>
              <a:t>#</a:t>
            </a:r>
            <a:r>
              <a:rPr lang="zh-CN" altLang="en-US" sz="1200" dirty="0"/>
              <a:t>分别为</a:t>
            </a:r>
            <a:r>
              <a:rPr lang="en-US" altLang="zh-CN" sz="1200" dirty="0"/>
              <a:t>p2</a:t>
            </a:r>
            <a:r>
              <a:rPr lang="zh-CN" altLang="en-US" sz="1200" dirty="0"/>
              <a:t>和</a:t>
            </a:r>
            <a:r>
              <a:rPr lang="en-US" altLang="zh-CN" sz="1200" dirty="0"/>
              <a:t>p1</a:t>
            </a:r>
          </a:p>
          <a:p>
            <a:r>
              <a:rPr lang="en-US" altLang="zh-CN" sz="1200" dirty="0"/>
              <a:t>        p1=</a:t>
            </a:r>
            <a:r>
              <a:rPr lang="en-US" altLang="zh-CN" sz="1200" dirty="0" err="1"/>
              <a:t>dt.loc</a:t>
            </a:r>
            <a:r>
              <a:rPr lang="en-US" altLang="zh-CN" sz="1200" dirty="0"/>
              <a:t>[</a:t>
            </a:r>
            <a:r>
              <a:rPr lang="en-US" altLang="zh-CN" sz="1200" dirty="0" err="1"/>
              <a:t>dt</a:t>
            </a:r>
            <a:r>
              <a:rPr lang="en-US" altLang="zh-CN" sz="1200" dirty="0"/>
              <a:t>['Idxtrd01'].values==list1[k],'Idxtrd05'].values</a:t>
            </a:r>
          </a:p>
          <a:p>
            <a:r>
              <a:rPr lang="en-US" altLang="zh-CN" sz="1200" dirty="0"/>
              <a:t>        p2=</a:t>
            </a:r>
            <a:r>
              <a:rPr lang="en-US" altLang="zh-CN" sz="1200" dirty="0" err="1"/>
              <a:t>dt.loc</a:t>
            </a:r>
            <a:r>
              <a:rPr lang="en-US" altLang="zh-CN" sz="1200" dirty="0"/>
              <a:t>[</a:t>
            </a:r>
            <a:r>
              <a:rPr lang="en-US" altLang="zh-CN" sz="1200" dirty="0" err="1"/>
              <a:t>dt</a:t>
            </a:r>
            <a:r>
              <a:rPr lang="en-US" altLang="zh-CN" sz="1200" dirty="0"/>
              <a:t>['Idxtrd01'].values==list2[k],'Idxtrd05'].values</a:t>
            </a:r>
          </a:p>
          <a:p>
            <a:r>
              <a:rPr lang="en-US" altLang="zh-CN" sz="1200" dirty="0"/>
              <a:t>        if t==0:</a:t>
            </a:r>
          </a:p>
          <a:p>
            <a:r>
              <a:rPr lang="en-US" altLang="zh-CN" sz="1200" dirty="0"/>
              <a:t>           list1_.append(p2-p1)</a:t>
            </a:r>
          </a:p>
          <a:p>
            <a:r>
              <a:rPr lang="en-US" altLang="zh-CN" sz="1200" dirty="0"/>
              <a:t>        if t==1:</a:t>
            </a:r>
          </a:p>
          <a:p>
            <a:r>
              <a:rPr lang="en-US" altLang="zh-CN" sz="1200" dirty="0"/>
              <a:t>           list2_.append(p2-p1)</a:t>
            </a:r>
          </a:p>
          <a:p>
            <a:r>
              <a:rPr lang="en-US" altLang="zh-CN" sz="1200" dirty="0"/>
              <a:t>        if t==2:</a:t>
            </a:r>
          </a:p>
          <a:p>
            <a:r>
              <a:rPr lang="en-US" altLang="zh-CN" sz="1200" dirty="0"/>
              <a:t>           list3_.append(p2-p1)</a:t>
            </a:r>
          </a:p>
          <a:p>
            <a:r>
              <a:rPr lang="en-US" altLang="zh-CN" sz="1200" dirty="0"/>
              <a:t>        if t==3:</a:t>
            </a:r>
          </a:p>
          <a:p>
            <a:r>
              <a:rPr lang="en-US" altLang="zh-CN" sz="1200" dirty="0"/>
              <a:t>           list4_.append(p2-p1)</a:t>
            </a:r>
          </a:p>
          <a:p>
            <a:r>
              <a:rPr lang="en-US" altLang="zh-CN" sz="1200" dirty="0"/>
              <a:t>        if t==4:</a:t>
            </a:r>
          </a:p>
          <a:p>
            <a:r>
              <a:rPr lang="en-US" altLang="zh-CN" sz="1200" dirty="0"/>
              <a:t>           list5_.append(p2-p1)</a:t>
            </a:r>
          </a:p>
          <a:p>
            <a:r>
              <a:rPr lang="en-US" altLang="zh-CN" sz="1200" dirty="0"/>
              <a:t>UD={'</a:t>
            </a:r>
            <a:r>
              <a:rPr lang="zh-CN" altLang="en-US" sz="1200" dirty="0"/>
              <a:t>商业贸易</a:t>
            </a:r>
            <a:r>
              <a:rPr lang="en-US" altLang="zh-CN" sz="1200" dirty="0"/>
              <a:t>':list1_,'</a:t>
            </a:r>
            <a:r>
              <a:rPr lang="zh-CN" altLang="en-US" sz="1200" dirty="0"/>
              <a:t>通信</a:t>
            </a:r>
            <a:r>
              <a:rPr lang="en-US" altLang="zh-CN" sz="1200" dirty="0"/>
              <a:t>':list2_,'</a:t>
            </a:r>
            <a:r>
              <a:rPr lang="zh-CN" altLang="en-US" sz="1200" dirty="0"/>
              <a:t>非银金融</a:t>
            </a:r>
            <a:r>
              <a:rPr lang="en-US" altLang="zh-CN" sz="1200" dirty="0"/>
              <a:t>':list3_,'</a:t>
            </a:r>
            <a:r>
              <a:rPr lang="zh-CN" altLang="en-US" sz="1200" dirty="0"/>
              <a:t>采掘</a:t>
            </a:r>
            <a:r>
              <a:rPr lang="en-US" altLang="zh-CN" sz="1200" dirty="0"/>
              <a:t>':list4_,'</a:t>
            </a:r>
            <a:r>
              <a:rPr lang="zh-CN" altLang="en-US" sz="1200" dirty="0"/>
              <a:t>家用电器</a:t>
            </a:r>
            <a:r>
              <a:rPr lang="en-US" altLang="zh-CN" sz="1200" dirty="0"/>
              <a:t>':list5_}</a:t>
            </a:r>
          </a:p>
          <a:p>
            <a:r>
              <a:rPr lang="en-US" altLang="zh-CN" sz="1200" dirty="0"/>
              <a:t>U=</a:t>
            </a:r>
            <a:r>
              <a:rPr lang="en-US" altLang="zh-CN" sz="1200" dirty="0" err="1"/>
              <a:t>pd.DataFrame</a:t>
            </a:r>
            <a:r>
              <a:rPr lang="en-US" altLang="zh-CN" sz="1200" dirty="0"/>
              <a:t>(</a:t>
            </a:r>
            <a:r>
              <a:rPr lang="en-US" altLang="zh-CN" sz="1200" dirty="0" err="1"/>
              <a:t>UD,index</a:t>
            </a:r>
            <a:r>
              <a:rPr lang="en-US" altLang="zh-CN" sz="1200" dirty="0"/>
              <a:t>=range(2,len(list1)+1))</a:t>
            </a:r>
          </a:p>
        </p:txBody>
      </p:sp>
      <p:graphicFrame>
        <p:nvGraphicFramePr>
          <p:cNvPr id="2" name="表格 1"/>
          <p:cNvGraphicFramePr>
            <a:graphicFrameLocks noGrp="1"/>
          </p:cNvGraphicFramePr>
          <p:nvPr>
            <p:extLst>
              <p:ext uri="{D42A27DB-BD31-4B8C-83A1-F6EECF244321}">
                <p14:modId xmlns:p14="http://schemas.microsoft.com/office/powerpoint/2010/main" val="806891796"/>
              </p:ext>
            </p:extLst>
          </p:nvPr>
        </p:nvGraphicFramePr>
        <p:xfrm>
          <a:off x="6458421" y="1231678"/>
          <a:ext cx="4863374" cy="1765270"/>
        </p:xfrm>
        <a:graphic>
          <a:graphicData uri="http://schemas.openxmlformats.org/drawingml/2006/table">
            <a:tbl>
              <a:tblPr firstRow="1" firstCol="1" bandRow="1">
                <a:tableStyleId>{5C22544A-7EE6-4342-B048-85BDC9FD1C3A}</a:tableStyleId>
              </a:tblPr>
              <a:tblGrid>
                <a:gridCol w="760583"/>
                <a:gridCol w="965131"/>
                <a:gridCol w="784415"/>
                <a:gridCol w="784415"/>
                <a:gridCol w="784415"/>
                <a:gridCol w="784415"/>
              </a:tblGrid>
              <a:tr h="176527">
                <a:tc>
                  <a:txBody>
                    <a:bodyPr/>
                    <a:lstStyle/>
                    <a:p>
                      <a:pPr marL="0" marR="0" algn="l">
                        <a:spcBef>
                          <a:spcPts val="0"/>
                        </a:spcBef>
                        <a:spcAft>
                          <a:spcPts val="0"/>
                        </a:spcAft>
                      </a:pPr>
                      <a:r>
                        <a:rPr lang="en-US" sz="1050" kern="0" dirty="0" err="1">
                          <a:effectLst/>
                        </a:rPr>
                        <a:t>Indexcd</a:t>
                      </a:r>
                      <a:endParaRPr lang="zh-CN" sz="1050" kern="100" dirty="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dirty="0">
                          <a:effectLst/>
                        </a:rPr>
                        <a:t>Idxtrd01</a:t>
                      </a:r>
                      <a:endParaRPr lang="zh-CN" sz="1050" kern="100" dirty="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Idxtrd02</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Idxtrd03</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Idxtrd04</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Idxtrd05</a:t>
                      </a:r>
                      <a:endParaRPr lang="zh-CN" sz="1050" kern="100">
                        <a:effectLst/>
                        <a:latin typeface="Calibri"/>
                        <a:ea typeface="宋体"/>
                        <a:cs typeface="Times New Roman"/>
                      </a:endParaRPr>
                    </a:p>
                  </a:txBody>
                  <a:tcPr marL="68580" marR="68580" marT="0" marB="0" anchor="b"/>
                </a:tc>
              </a:tr>
              <a:tr h="176527">
                <a:tc>
                  <a:txBody>
                    <a:bodyPr/>
                    <a:lstStyle/>
                    <a:p>
                      <a:pPr marL="0" marR="0" algn="l">
                        <a:spcBef>
                          <a:spcPts val="0"/>
                        </a:spcBef>
                        <a:spcAft>
                          <a:spcPts val="0"/>
                        </a:spcAft>
                      </a:pPr>
                      <a:r>
                        <a:rPr lang="en-US" sz="1050" kern="0">
                          <a:effectLst/>
                        </a:rPr>
                        <a:t>801010</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2017-01-03</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3362.02</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3394.79</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3361.52</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3388.74</a:t>
                      </a:r>
                      <a:endParaRPr lang="zh-CN" sz="1050" kern="100">
                        <a:effectLst/>
                        <a:latin typeface="Calibri"/>
                        <a:ea typeface="宋体"/>
                        <a:cs typeface="Times New Roman"/>
                      </a:endParaRPr>
                    </a:p>
                  </a:txBody>
                  <a:tcPr marL="68580" marR="68580" marT="0" marB="0" anchor="b"/>
                </a:tc>
              </a:tr>
              <a:tr h="176527">
                <a:tc>
                  <a:txBody>
                    <a:bodyPr/>
                    <a:lstStyle/>
                    <a:p>
                      <a:pPr marL="0" marR="0" algn="l">
                        <a:spcBef>
                          <a:spcPts val="0"/>
                        </a:spcBef>
                        <a:spcAft>
                          <a:spcPts val="0"/>
                        </a:spcAft>
                      </a:pPr>
                      <a:r>
                        <a:rPr lang="en-US" sz="1050" kern="0">
                          <a:effectLst/>
                        </a:rPr>
                        <a:t>801010</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2017-01-04</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3393.08</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3424.67</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3392.1</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3423.82</a:t>
                      </a:r>
                      <a:endParaRPr lang="zh-CN" sz="1050" kern="100">
                        <a:effectLst/>
                        <a:latin typeface="Calibri"/>
                        <a:ea typeface="宋体"/>
                        <a:cs typeface="Times New Roman"/>
                      </a:endParaRPr>
                    </a:p>
                  </a:txBody>
                  <a:tcPr marL="68580" marR="68580" marT="0" marB="0" anchor="b"/>
                </a:tc>
              </a:tr>
              <a:tr h="176527">
                <a:tc>
                  <a:txBody>
                    <a:bodyPr/>
                    <a:lstStyle/>
                    <a:p>
                      <a:pPr marL="0" marR="0" algn="l">
                        <a:spcBef>
                          <a:spcPts val="0"/>
                        </a:spcBef>
                        <a:spcAft>
                          <a:spcPts val="0"/>
                        </a:spcAft>
                      </a:pPr>
                      <a:r>
                        <a:rPr lang="en-US" sz="1050" kern="0">
                          <a:effectLst/>
                        </a:rPr>
                        <a:t>801010</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2017-01-05</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3421.3</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3433.15</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3410.13</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3421.9</a:t>
                      </a:r>
                      <a:endParaRPr lang="zh-CN" sz="1050" kern="100">
                        <a:effectLst/>
                        <a:latin typeface="Calibri"/>
                        <a:ea typeface="宋体"/>
                        <a:cs typeface="Times New Roman"/>
                      </a:endParaRPr>
                    </a:p>
                  </a:txBody>
                  <a:tcPr marL="68580" marR="68580" marT="0" marB="0" anchor="b"/>
                </a:tc>
              </a:tr>
              <a:tr h="176527">
                <a:tc>
                  <a:txBody>
                    <a:bodyPr/>
                    <a:lstStyle/>
                    <a:p>
                      <a:pPr marL="0" marR="0" algn="l">
                        <a:spcBef>
                          <a:spcPts val="0"/>
                        </a:spcBef>
                        <a:spcAft>
                          <a:spcPts val="0"/>
                        </a:spcAft>
                      </a:pPr>
                      <a:r>
                        <a:rPr lang="en-US" sz="1050" kern="0">
                          <a:effectLst/>
                        </a:rPr>
                        <a:t>801010</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2017-01-06</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dirty="0">
                          <a:effectLst/>
                        </a:rPr>
                        <a:t>3412.29</a:t>
                      </a:r>
                      <a:endParaRPr lang="zh-CN" sz="1050" kern="100" dirty="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3417.89</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3401.37</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3410.66</a:t>
                      </a:r>
                      <a:endParaRPr lang="zh-CN" sz="1050" kern="100">
                        <a:effectLst/>
                        <a:latin typeface="Calibri"/>
                        <a:ea typeface="宋体"/>
                        <a:cs typeface="Times New Roman"/>
                      </a:endParaRPr>
                    </a:p>
                  </a:txBody>
                  <a:tcPr marL="68580" marR="68580" marT="0" marB="0" anchor="b"/>
                </a:tc>
              </a:tr>
              <a:tr h="176527">
                <a:tc>
                  <a:txBody>
                    <a:bodyPr/>
                    <a:lstStyle/>
                    <a:p>
                      <a:pPr marL="0" marR="0" algn="l">
                        <a:spcBef>
                          <a:spcPts val="0"/>
                        </a:spcBef>
                        <a:spcAft>
                          <a:spcPts val="0"/>
                        </a:spcAft>
                      </a:pPr>
                      <a:r>
                        <a:rPr lang="en-US" sz="1050" kern="0">
                          <a:effectLst/>
                        </a:rPr>
                        <a:t>801010</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2017-01-09</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3406.89</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3407.06</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3375.97</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3399.36</a:t>
                      </a:r>
                      <a:endParaRPr lang="zh-CN" sz="1050" kern="100">
                        <a:effectLst/>
                        <a:latin typeface="Calibri"/>
                        <a:ea typeface="宋体"/>
                        <a:cs typeface="Times New Roman"/>
                      </a:endParaRPr>
                    </a:p>
                  </a:txBody>
                  <a:tcPr marL="68580" marR="68580" marT="0" marB="0" anchor="b"/>
                </a:tc>
              </a:tr>
              <a:tr h="176527">
                <a:tc>
                  <a:txBody>
                    <a:bodyPr/>
                    <a:lstStyle/>
                    <a:p>
                      <a:pPr marL="0" marR="0" algn="l">
                        <a:spcBef>
                          <a:spcPts val="0"/>
                        </a:spcBef>
                        <a:spcAft>
                          <a:spcPts val="0"/>
                        </a:spcAft>
                      </a:pPr>
                      <a:r>
                        <a:rPr lang="en-US" sz="1050" kern="0">
                          <a:effectLst/>
                        </a:rPr>
                        <a:t>801010</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2017-01-10</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3396.67</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3402.5</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3376.81</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3377.76</a:t>
                      </a:r>
                      <a:endParaRPr lang="zh-CN" sz="1050" kern="100">
                        <a:effectLst/>
                        <a:latin typeface="Calibri"/>
                        <a:ea typeface="宋体"/>
                        <a:cs typeface="Times New Roman"/>
                      </a:endParaRPr>
                    </a:p>
                  </a:txBody>
                  <a:tcPr marL="68580" marR="68580" marT="0" marB="0" anchor="b"/>
                </a:tc>
              </a:tr>
              <a:tr h="176527">
                <a:tc>
                  <a:txBody>
                    <a:bodyPr/>
                    <a:lstStyle/>
                    <a:p>
                      <a:pPr marL="0" marR="0" algn="l">
                        <a:spcBef>
                          <a:spcPts val="0"/>
                        </a:spcBef>
                        <a:spcAft>
                          <a:spcPts val="0"/>
                        </a:spcAft>
                      </a:pPr>
                      <a:r>
                        <a:rPr lang="en-US" sz="1050" kern="0">
                          <a:effectLst/>
                        </a:rPr>
                        <a:t>801010</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2017-01-11</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3366.76</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3376.55</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3342.46</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3344.89</a:t>
                      </a:r>
                      <a:endParaRPr lang="zh-CN" sz="1050" kern="100">
                        <a:effectLst/>
                        <a:latin typeface="Calibri"/>
                        <a:ea typeface="宋体"/>
                        <a:cs typeface="Times New Roman"/>
                      </a:endParaRPr>
                    </a:p>
                  </a:txBody>
                  <a:tcPr marL="68580" marR="68580" marT="0" marB="0" anchor="b"/>
                </a:tc>
              </a:tr>
              <a:tr h="176527">
                <a:tc>
                  <a:txBody>
                    <a:bodyPr/>
                    <a:lstStyle/>
                    <a:p>
                      <a:pPr marL="0" marR="0" algn="l">
                        <a:spcBef>
                          <a:spcPts val="0"/>
                        </a:spcBef>
                        <a:spcAft>
                          <a:spcPts val="0"/>
                        </a:spcAft>
                      </a:pPr>
                      <a:r>
                        <a:rPr lang="en-US" sz="1050" kern="0">
                          <a:effectLst/>
                        </a:rPr>
                        <a:t>801010</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2017-01-12</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3342.93</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3359.05</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3324.91</a:t>
                      </a:r>
                      <a:endParaRPr lang="zh-CN" sz="1050" kern="10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sz="1050" kern="0">
                          <a:effectLst/>
                        </a:rPr>
                        <a:t>3326.66</a:t>
                      </a:r>
                      <a:endParaRPr lang="zh-CN" sz="1050" kern="100">
                        <a:effectLst/>
                        <a:latin typeface="Calibri"/>
                        <a:ea typeface="宋体"/>
                        <a:cs typeface="Times New Roman"/>
                      </a:endParaRPr>
                    </a:p>
                  </a:txBody>
                  <a:tcPr marL="68580" marR="68580" marT="0" marB="0" anchor="b"/>
                </a:tc>
              </a:tr>
              <a:tr h="176527">
                <a:tc>
                  <a:txBody>
                    <a:bodyPr/>
                    <a:lstStyle/>
                    <a:p>
                      <a:pPr marL="0" marR="0" algn="l">
                        <a:spcBef>
                          <a:spcPts val="0"/>
                        </a:spcBef>
                        <a:spcAft>
                          <a:spcPts val="0"/>
                        </a:spcAft>
                      </a:pPr>
                      <a:r>
                        <a:rPr lang="en-US" altLang="zh-CN" sz="1050" kern="0" dirty="0" smtClean="0">
                          <a:effectLst/>
                          <a:latin typeface="+mn-lt"/>
                          <a:ea typeface="+mn-ea"/>
                          <a:cs typeface="+mn-cs"/>
                        </a:rPr>
                        <a:t>……</a:t>
                      </a:r>
                      <a:endParaRPr lang="zh-CN" sz="1050" kern="100" dirty="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altLang="zh-CN" sz="1050" kern="100" dirty="0" smtClean="0">
                          <a:effectLst/>
                          <a:latin typeface="Calibri"/>
                          <a:ea typeface="宋体"/>
                          <a:cs typeface="Times New Roman"/>
                        </a:rPr>
                        <a:t>……</a:t>
                      </a:r>
                      <a:endParaRPr lang="zh-CN" sz="1050" kern="100" dirty="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altLang="zh-CN" sz="1050" kern="0" dirty="0" smtClean="0">
                          <a:effectLst/>
                          <a:latin typeface="+mn-lt"/>
                          <a:ea typeface="+mn-ea"/>
                          <a:cs typeface="+mn-cs"/>
                        </a:rPr>
                        <a:t>……</a:t>
                      </a:r>
                      <a:endParaRPr lang="zh-CN" sz="1050" kern="100" dirty="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altLang="zh-CN" sz="1050" kern="0" dirty="0" smtClean="0">
                          <a:effectLst/>
                          <a:latin typeface="+mn-lt"/>
                          <a:ea typeface="+mn-ea"/>
                          <a:cs typeface="+mn-cs"/>
                        </a:rPr>
                        <a:t>……</a:t>
                      </a:r>
                      <a:endParaRPr lang="zh-CN" sz="1050" kern="100" dirty="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altLang="zh-CN" sz="1050" kern="0" dirty="0" smtClean="0">
                          <a:effectLst/>
                          <a:latin typeface="+mn-lt"/>
                          <a:ea typeface="+mn-ea"/>
                          <a:cs typeface="+mn-cs"/>
                        </a:rPr>
                        <a:t>……</a:t>
                      </a:r>
                      <a:endParaRPr lang="zh-CN" sz="1050" kern="100" dirty="0">
                        <a:effectLst/>
                        <a:latin typeface="Calibri"/>
                        <a:ea typeface="宋体"/>
                        <a:cs typeface="Times New Roman"/>
                      </a:endParaRPr>
                    </a:p>
                  </a:txBody>
                  <a:tcPr marL="68580" marR="68580" marT="0" marB="0" anchor="b"/>
                </a:tc>
                <a:tc>
                  <a:txBody>
                    <a:bodyPr/>
                    <a:lstStyle/>
                    <a:p>
                      <a:pPr marL="0" marR="0" algn="l">
                        <a:spcBef>
                          <a:spcPts val="0"/>
                        </a:spcBef>
                        <a:spcAft>
                          <a:spcPts val="0"/>
                        </a:spcAft>
                      </a:pPr>
                      <a:r>
                        <a:rPr lang="en-US" altLang="zh-CN" sz="1050" kern="0" dirty="0" smtClean="0">
                          <a:effectLst/>
                          <a:latin typeface="+mn-lt"/>
                          <a:ea typeface="+mn-ea"/>
                          <a:cs typeface="+mn-cs"/>
                        </a:rPr>
                        <a:t>……</a:t>
                      </a:r>
                      <a:endParaRPr lang="zh-CN" sz="1050" kern="100" dirty="0">
                        <a:effectLst/>
                        <a:latin typeface="Calibri"/>
                        <a:ea typeface="宋体"/>
                        <a:cs typeface="Times New Roman"/>
                      </a:endParaRPr>
                    </a:p>
                  </a:txBody>
                  <a:tcPr marL="68580" marR="68580" marT="0" marB="0" anchor="b"/>
                </a:tc>
              </a:tr>
            </a:tbl>
          </a:graphicData>
        </a:graphic>
      </p:graphicFrame>
      <p:sp>
        <p:nvSpPr>
          <p:cNvPr id="3" name="矩形 2"/>
          <p:cNvSpPr/>
          <p:nvPr/>
        </p:nvSpPr>
        <p:spPr>
          <a:xfrm>
            <a:off x="6429110" y="744100"/>
            <a:ext cx="4892686" cy="338554"/>
          </a:xfrm>
          <a:prstGeom prst="rect">
            <a:avLst/>
          </a:prstGeom>
        </p:spPr>
        <p:txBody>
          <a:bodyPr wrap="none">
            <a:spAutoFit/>
          </a:bodyPr>
          <a:lstStyle/>
          <a:p>
            <a:r>
              <a:rPr lang="en-US" altLang="zh-CN" sz="1600" dirty="0"/>
              <a:t>2017</a:t>
            </a:r>
            <a:r>
              <a:rPr lang="zh-CN" altLang="en-US" sz="1600" dirty="0"/>
              <a:t>年度的行业指数行情数据表（</a:t>
            </a:r>
            <a:r>
              <a:rPr lang="en-US" altLang="zh-CN" sz="1600" dirty="0"/>
              <a:t>IDX_Idxtrd.xlsx</a:t>
            </a:r>
            <a:r>
              <a:rPr lang="zh-CN" altLang="en-US" sz="1600" dirty="0"/>
              <a:t>）</a:t>
            </a:r>
          </a:p>
        </p:txBody>
      </p:sp>
      <p:pic>
        <p:nvPicPr>
          <p:cNvPr id="8" name="图片 7"/>
          <p:cNvPicPr/>
          <p:nvPr/>
        </p:nvPicPr>
        <p:blipFill>
          <a:blip r:embed="rId3" cstate="print"/>
          <a:stretch>
            <a:fillRect/>
          </a:stretch>
        </p:blipFill>
        <p:spPr>
          <a:xfrm>
            <a:off x="7322517" y="3417788"/>
            <a:ext cx="3648075" cy="2864485"/>
          </a:xfrm>
          <a:prstGeom prst="rect">
            <a:avLst/>
          </a:prstGeom>
        </p:spPr>
      </p:pic>
    </p:spTree>
    <p:extLst>
      <p:ext uri="{BB962C8B-B14F-4D97-AF65-F5344CB8AC3E}">
        <p14:creationId xmlns:p14="http://schemas.microsoft.com/office/powerpoint/2010/main" val="3407316117"/>
      </p:ext>
    </p:extLst>
  </p:cSld>
  <p:clrMapOvr>
    <a:masterClrMapping/>
  </p:clrMapOvr>
  <p:transition advTm="9437"/>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TextBox 54"/>
          <p:cNvSpPr txBox="1"/>
          <p:nvPr/>
        </p:nvSpPr>
        <p:spPr>
          <a:xfrm>
            <a:off x="1330765" y="44625"/>
            <a:ext cx="8584040" cy="461659"/>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400" dirty="0">
                <a:solidFill>
                  <a:schemeClr val="accent2"/>
                </a:solidFill>
                <a:latin typeface="微软雅黑" panose="020B0503020204020204" pitchFamily="34" charset="-122"/>
                <a:ea typeface="微软雅黑" panose="020B0503020204020204" pitchFamily="34" charset="-122"/>
              </a:rPr>
              <a:t>Step2:</a:t>
            </a:r>
            <a:r>
              <a:rPr lang="zh-CN" altLang="en-US" sz="2400" dirty="0">
                <a:solidFill>
                  <a:schemeClr val="accent2"/>
                </a:solidFill>
                <a:latin typeface="微软雅黑" panose="020B0503020204020204" pitchFamily="34" charset="-122"/>
                <a:ea typeface="微软雅黑" panose="020B0503020204020204" pitchFamily="34" charset="-122"/>
              </a:rPr>
              <a:t>五行业指数的在</a:t>
            </a:r>
            <a:r>
              <a:rPr lang="en-US" altLang="zh-CN" sz="2400" dirty="0">
                <a:solidFill>
                  <a:schemeClr val="accent2"/>
                </a:solidFill>
                <a:latin typeface="微软雅黑" panose="020B0503020204020204" pitchFamily="34" charset="-122"/>
                <a:ea typeface="微软雅黑" panose="020B0503020204020204" pitchFamily="34" charset="-122"/>
              </a:rPr>
              <a:t>2017</a:t>
            </a:r>
            <a:r>
              <a:rPr lang="zh-CN" altLang="en-US" sz="2400" dirty="0">
                <a:solidFill>
                  <a:schemeClr val="accent2"/>
                </a:solidFill>
                <a:latin typeface="微软雅黑" panose="020B0503020204020204" pitchFamily="34" charset="-122"/>
                <a:ea typeface="微软雅黑" panose="020B0503020204020204" pitchFamily="34" charset="-122"/>
              </a:rPr>
              <a:t>年度每个月的涨跌情况</a:t>
            </a:r>
          </a:p>
        </p:txBody>
      </p:sp>
      <p:sp>
        <p:nvSpPr>
          <p:cNvPr id="1048645"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1</a:t>
            </a:r>
            <a:r>
              <a:rPr lang="en-US" altLang="zh-CN" dirty="0" smtClean="0">
                <a:solidFill>
                  <a:schemeClr val="accent2"/>
                </a:solidFill>
              </a:rPr>
              <a:t>1</a:t>
            </a:r>
            <a:endParaRPr lang="zh-CN" altLang="en-US" dirty="0">
              <a:solidFill>
                <a:schemeClr val="accent2"/>
              </a:solidFill>
            </a:endParaRPr>
          </a:p>
        </p:txBody>
      </p:sp>
      <p:sp>
        <p:nvSpPr>
          <p:cNvPr id="1048646" name="矩形 1"/>
          <p:cNvSpPr/>
          <p:nvPr/>
        </p:nvSpPr>
        <p:spPr>
          <a:xfrm>
            <a:off x="672393" y="1340768"/>
            <a:ext cx="10538556" cy="4524315"/>
          </a:xfrm>
          <a:prstGeom prst="rect">
            <a:avLst/>
          </a:prstGeom>
        </p:spPr>
        <p:txBody>
          <a:bodyPr wrap="square">
            <a:spAutoFit/>
          </a:bodyPr>
          <a:lstStyle/>
          <a:p>
            <a:r>
              <a:rPr lang="zh-CN" altLang="zh-CN" sz="2400" dirty="0"/>
              <a:t>从结果可以看出，商业贸易行业指数</a:t>
            </a:r>
            <a:r>
              <a:rPr lang="en-US" altLang="zh-CN" sz="2400" dirty="0"/>
              <a:t>2-11</a:t>
            </a:r>
            <a:r>
              <a:rPr lang="zh-CN" altLang="zh-CN" sz="2400" dirty="0"/>
              <a:t>个月中，第</a:t>
            </a:r>
            <a:r>
              <a:rPr lang="en-US" altLang="zh-CN" sz="2400" dirty="0"/>
              <a:t>2</a:t>
            </a:r>
            <a:r>
              <a:rPr lang="zh-CN" altLang="zh-CN" sz="2400" dirty="0"/>
              <a:t>、</a:t>
            </a:r>
            <a:r>
              <a:rPr lang="en-US" altLang="zh-CN" sz="2400" dirty="0"/>
              <a:t>6</a:t>
            </a:r>
            <a:r>
              <a:rPr lang="zh-CN" altLang="zh-CN" sz="2400" dirty="0"/>
              <a:t>、</a:t>
            </a:r>
            <a:r>
              <a:rPr lang="en-US" altLang="zh-CN" sz="2400" dirty="0"/>
              <a:t>7</a:t>
            </a:r>
            <a:r>
              <a:rPr lang="zh-CN" altLang="zh-CN" sz="2400" dirty="0"/>
              <a:t>、</a:t>
            </a:r>
            <a:r>
              <a:rPr lang="en-US" altLang="zh-CN" sz="2400" dirty="0"/>
              <a:t>8</a:t>
            </a:r>
            <a:r>
              <a:rPr lang="zh-CN" altLang="zh-CN" sz="2400" dirty="0"/>
              <a:t>、</a:t>
            </a:r>
            <a:r>
              <a:rPr lang="en-US" altLang="zh-CN" sz="2400" dirty="0"/>
              <a:t>9</a:t>
            </a:r>
            <a:r>
              <a:rPr lang="zh-CN" altLang="zh-CN" sz="2400" dirty="0"/>
              <a:t>、</a:t>
            </a:r>
            <a:r>
              <a:rPr lang="en-US" altLang="zh-CN" sz="2400" dirty="0"/>
              <a:t>10</a:t>
            </a:r>
            <a:r>
              <a:rPr lang="zh-CN" altLang="zh-CN" sz="2400" dirty="0"/>
              <a:t>共</a:t>
            </a:r>
            <a:r>
              <a:rPr lang="en-US" altLang="zh-CN" sz="2400" dirty="0"/>
              <a:t>6</a:t>
            </a:r>
            <a:r>
              <a:rPr lang="zh-CN" altLang="zh-CN" sz="2400" dirty="0"/>
              <a:t>个月上涨，家用电器下个月上涨统计数为</a:t>
            </a:r>
            <a:r>
              <a:rPr lang="en-US" altLang="zh-CN" sz="2400" dirty="0"/>
              <a:t>3</a:t>
            </a:r>
            <a:r>
              <a:rPr lang="zh-CN" altLang="zh-CN" sz="2400" dirty="0"/>
              <a:t>，置信度为</a:t>
            </a:r>
            <a:r>
              <a:rPr lang="en-US" altLang="zh-CN" sz="2400" dirty="0"/>
              <a:t>50%</a:t>
            </a:r>
            <a:r>
              <a:rPr lang="zh-CN" altLang="zh-CN" sz="2400" dirty="0"/>
              <a:t>；通信行业指数</a:t>
            </a:r>
            <a:r>
              <a:rPr lang="en-US" altLang="zh-CN" sz="2400" dirty="0"/>
              <a:t>2-11</a:t>
            </a:r>
            <a:r>
              <a:rPr lang="zh-CN" altLang="zh-CN" sz="2400" dirty="0"/>
              <a:t>个月中，第</a:t>
            </a:r>
            <a:r>
              <a:rPr lang="en-US" altLang="zh-CN" sz="2400" dirty="0"/>
              <a:t>2</a:t>
            </a:r>
            <a:r>
              <a:rPr lang="zh-CN" altLang="zh-CN" sz="2400" dirty="0"/>
              <a:t>、</a:t>
            </a:r>
            <a:r>
              <a:rPr lang="en-US" altLang="zh-CN" sz="2400" dirty="0"/>
              <a:t>6</a:t>
            </a:r>
            <a:r>
              <a:rPr lang="zh-CN" altLang="zh-CN" sz="2400" dirty="0"/>
              <a:t>、</a:t>
            </a:r>
            <a:r>
              <a:rPr lang="en-US" altLang="zh-CN" sz="2400" dirty="0"/>
              <a:t>8</a:t>
            </a:r>
            <a:r>
              <a:rPr lang="zh-CN" altLang="zh-CN" sz="2400" dirty="0"/>
              <a:t>、</a:t>
            </a:r>
            <a:r>
              <a:rPr lang="en-US" altLang="zh-CN" sz="2400" dirty="0"/>
              <a:t>9</a:t>
            </a:r>
            <a:r>
              <a:rPr lang="zh-CN" altLang="zh-CN" sz="2400" dirty="0"/>
              <a:t>共</a:t>
            </a:r>
            <a:r>
              <a:rPr lang="en-US" altLang="zh-CN" sz="2400" dirty="0"/>
              <a:t>4</a:t>
            </a:r>
            <a:r>
              <a:rPr lang="zh-CN" altLang="zh-CN" sz="2400" dirty="0"/>
              <a:t>个月上涨，家用电器下个月上涨统计数为</a:t>
            </a:r>
            <a:r>
              <a:rPr lang="en-US" altLang="zh-CN" sz="2400" dirty="0"/>
              <a:t>3</a:t>
            </a:r>
            <a:r>
              <a:rPr lang="zh-CN" altLang="zh-CN" sz="2400" dirty="0"/>
              <a:t>，置信度为</a:t>
            </a:r>
            <a:r>
              <a:rPr lang="en-US" altLang="zh-CN" sz="2400" dirty="0"/>
              <a:t>75%</a:t>
            </a:r>
            <a:r>
              <a:rPr lang="zh-CN" altLang="zh-CN" sz="2400" dirty="0"/>
              <a:t>；非银金融</a:t>
            </a:r>
            <a:r>
              <a:rPr lang="en-US" altLang="zh-CN" sz="2400" dirty="0"/>
              <a:t>2-11</a:t>
            </a:r>
            <a:r>
              <a:rPr lang="zh-CN" altLang="zh-CN" sz="2400" dirty="0"/>
              <a:t>个月中，第</a:t>
            </a:r>
            <a:r>
              <a:rPr lang="en-US" altLang="zh-CN" sz="2400" dirty="0"/>
              <a:t>2</a:t>
            </a:r>
            <a:r>
              <a:rPr lang="zh-CN" altLang="zh-CN" sz="2400" dirty="0"/>
              <a:t>、</a:t>
            </a:r>
            <a:r>
              <a:rPr lang="en-US" altLang="zh-CN" sz="2400" dirty="0"/>
              <a:t>5</a:t>
            </a:r>
            <a:r>
              <a:rPr lang="zh-CN" altLang="zh-CN" sz="2400" dirty="0"/>
              <a:t>、</a:t>
            </a:r>
            <a:r>
              <a:rPr lang="en-US" altLang="zh-CN" sz="2400" dirty="0"/>
              <a:t>6</a:t>
            </a:r>
            <a:r>
              <a:rPr lang="zh-CN" altLang="zh-CN" sz="2400" dirty="0"/>
              <a:t>、</a:t>
            </a:r>
            <a:r>
              <a:rPr lang="en-US" altLang="zh-CN" sz="2400" dirty="0"/>
              <a:t>7</a:t>
            </a:r>
            <a:r>
              <a:rPr lang="zh-CN" altLang="zh-CN" sz="2400" dirty="0"/>
              <a:t>、</a:t>
            </a:r>
            <a:r>
              <a:rPr lang="en-US" altLang="zh-CN" sz="2400" dirty="0"/>
              <a:t>8</a:t>
            </a:r>
            <a:r>
              <a:rPr lang="zh-CN" altLang="zh-CN" sz="2400" dirty="0"/>
              <a:t>、</a:t>
            </a:r>
            <a:r>
              <a:rPr lang="en-US" altLang="zh-CN" sz="2400" dirty="0"/>
              <a:t>10</a:t>
            </a:r>
            <a:r>
              <a:rPr lang="zh-CN" altLang="zh-CN" sz="2400" dirty="0"/>
              <a:t>、</a:t>
            </a:r>
            <a:r>
              <a:rPr lang="en-US" altLang="zh-CN" sz="2400" dirty="0"/>
              <a:t>11</a:t>
            </a:r>
            <a:r>
              <a:rPr lang="zh-CN" altLang="zh-CN" sz="2400" dirty="0"/>
              <a:t>共</a:t>
            </a:r>
            <a:r>
              <a:rPr lang="en-US" altLang="zh-CN" sz="2400" dirty="0"/>
              <a:t>7</a:t>
            </a:r>
            <a:r>
              <a:rPr lang="zh-CN" altLang="zh-CN" sz="2400" dirty="0"/>
              <a:t>个月上涨，家用电器下个月上涨统计数为</a:t>
            </a:r>
            <a:r>
              <a:rPr lang="en-US" altLang="zh-CN" sz="2400" dirty="0"/>
              <a:t>4</a:t>
            </a:r>
            <a:r>
              <a:rPr lang="zh-CN" altLang="zh-CN" sz="2400" dirty="0"/>
              <a:t>，置信度为</a:t>
            </a:r>
            <a:r>
              <a:rPr lang="en-US" altLang="zh-CN" sz="2400" dirty="0"/>
              <a:t>57%</a:t>
            </a:r>
            <a:r>
              <a:rPr lang="zh-CN" altLang="zh-CN" sz="2400" dirty="0"/>
              <a:t>；采掘行业指数</a:t>
            </a:r>
            <a:r>
              <a:rPr lang="en-US" altLang="zh-CN" sz="2400" dirty="0"/>
              <a:t>2-11</a:t>
            </a:r>
            <a:r>
              <a:rPr lang="zh-CN" altLang="zh-CN" sz="2400" dirty="0"/>
              <a:t>个月中，第</a:t>
            </a:r>
            <a:r>
              <a:rPr lang="en-US" altLang="zh-CN" sz="2400" dirty="0"/>
              <a:t>2</a:t>
            </a:r>
            <a:r>
              <a:rPr lang="zh-CN" altLang="zh-CN" sz="2400" dirty="0"/>
              <a:t>、</a:t>
            </a:r>
            <a:r>
              <a:rPr lang="en-US" altLang="zh-CN" sz="2400" dirty="0"/>
              <a:t>6</a:t>
            </a:r>
            <a:r>
              <a:rPr lang="zh-CN" altLang="zh-CN" sz="2400" dirty="0"/>
              <a:t>、</a:t>
            </a:r>
            <a:r>
              <a:rPr lang="en-US" altLang="zh-CN" sz="2400" dirty="0"/>
              <a:t>7</a:t>
            </a:r>
            <a:r>
              <a:rPr lang="zh-CN" altLang="zh-CN" sz="2400" dirty="0"/>
              <a:t>、</a:t>
            </a:r>
            <a:r>
              <a:rPr lang="en-US" altLang="zh-CN" sz="2400" dirty="0"/>
              <a:t>8</a:t>
            </a:r>
            <a:r>
              <a:rPr lang="zh-CN" altLang="zh-CN" sz="2400" dirty="0"/>
              <a:t>、</a:t>
            </a:r>
            <a:r>
              <a:rPr lang="en-US" altLang="zh-CN" sz="2400" dirty="0"/>
              <a:t>11</a:t>
            </a:r>
            <a:r>
              <a:rPr lang="zh-CN" altLang="zh-CN" sz="2400" dirty="0"/>
              <a:t>共</a:t>
            </a:r>
            <a:r>
              <a:rPr lang="en-US" altLang="zh-CN" sz="2400" dirty="0"/>
              <a:t>5</a:t>
            </a:r>
            <a:r>
              <a:rPr lang="zh-CN" altLang="zh-CN" sz="2400" dirty="0"/>
              <a:t>个月上涨，家用电器下个月上涨统计数为</a:t>
            </a:r>
            <a:r>
              <a:rPr lang="en-US" altLang="zh-CN" sz="2400" dirty="0"/>
              <a:t>3</a:t>
            </a:r>
            <a:r>
              <a:rPr lang="zh-CN" altLang="zh-CN" sz="2400" dirty="0"/>
              <a:t>，置信度为</a:t>
            </a:r>
            <a:r>
              <a:rPr lang="en-US" altLang="zh-CN" sz="2400" dirty="0"/>
              <a:t>60%</a:t>
            </a:r>
            <a:r>
              <a:rPr lang="zh-CN" altLang="zh-CN" sz="2400" dirty="0"/>
              <a:t>。即：</a:t>
            </a:r>
          </a:p>
          <a:p>
            <a:r>
              <a:rPr lang="zh-CN" altLang="zh-CN" sz="2400" dirty="0"/>
              <a:t>商业贸易</a:t>
            </a:r>
            <a:r>
              <a:rPr lang="en-US" altLang="zh-CN" sz="2400" dirty="0">
                <a:sym typeface="Wingdings" panose="05000000000000000000"/>
              </a:rPr>
              <a:t></a:t>
            </a:r>
            <a:r>
              <a:rPr lang="zh-CN" altLang="zh-CN" sz="2400" dirty="0"/>
              <a:t>家用电器：模型置信度（</a:t>
            </a:r>
            <a:r>
              <a:rPr lang="en-US" altLang="zh-CN" sz="2400" dirty="0"/>
              <a:t>71.79%</a:t>
            </a:r>
            <a:r>
              <a:rPr lang="zh-CN" altLang="zh-CN" sz="2400" dirty="0"/>
              <a:t>），实际置信度（</a:t>
            </a:r>
            <a:r>
              <a:rPr lang="en-US" altLang="zh-CN" sz="2400" dirty="0"/>
              <a:t>50%</a:t>
            </a:r>
            <a:r>
              <a:rPr lang="zh-CN" altLang="zh-CN" sz="2400" dirty="0"/>
              <a:t>）</a:t>
            </a:r>
          </a:p>
          <a:p>
            <a:r>
              <a:rPr lang="zh-CN" altLang="zh-CN" sz="2400" dirty="0"/>
              <a:t>通信</a:t>
            </a:r>
            <a:r>
              <a:rPr lang="en-US" altLang="zh-CN" sz="2400" dirty="0">
                <a:sym typeface="Wingdings" panose="05000000000000000000"/>
              </a:rPr>
              <a:t></a:t>
            </a:r>
            <a:r>
              <a:rPr lang="zh-CN" altLang="zh-CN" sz="2400" dirty="0"/>
              <a:t>家用电器：</a:t>
            </a:r>
            <a:r>
              <a:rPr lang="en-US" altLang="zh-CN" sz="2400" dirty="0"/>
              <a:t>   </a:t>
            </a:r>
            <a:r>
              <a:rPr lang="en-US" altLang="zh-CN" sz="2400" dirty="0" smtClean="0"/>
              <a:t>    </a:t>
            </a:r>
            <a:r>
              <a:rPr lang="zh-CN" altLang="zh-CN" sz="2400" dirty="0" smtClean="0"/>
              <a:t>模型置信度</a:t>
            </a:r>
            <a:r>
              <a:rPr lang="zh-CN" altLang="zh-CN" sz="2400" dirty="0"/>
              <a:t>（</a:t>
            </a:r>
            <a:r>
              <a:rPr lang="en-US" altLang="zh-CN" sz="2400" dirty="0"/>
              <a:t>71.43%</a:t>
            </a:r>
            <a:r>
              <a:rPr lang="zh-CN" altLang="zh-CN" sz="2400" dirty="0"/>
              <a:t>），实际置信度（</a:t>
            </a:r>
            <a:r>
              <a:rPr lang="en-US" altLang="zh-CN" sz="2400" dirty="0"/>
              <a:t>75%</a:t>
            </a:r>
            <a:r>
              <a:rPr lang="zh-CN" altLang="zh-CN" sz="2400" dirty="0"/>
              <a:t>）</a:t>
            </a:r>
          </a:p>
          <a:p>
            <a:r>
              <a:rPr lang="zh-CN" altLang="zh-CN" sz="2400" dirty="0"/>
              <a:t>采掘</a:t>
            </a:r>
            <a:r>
              <a:rPr lang="en-US" altLang="zh-CN" sz="2400" dirty="0">
                <a:sym typeface="Wingdings" panose="05000000000000000000"/>
              </a:rPr>
              <a:t></a:t>
            </a:r>
            <a:r>
              <a:rPr lang="zh-CN" altLang="zh-CN" sz="2400" dirty="0"/>
              <a:t>家用电器：</a:t>
            </a:r>
            <a:r>
              <a:rPr lang="en-US" altLang="zh-CN" sz="2400" dirty="0"/>
              <a:t>	   </a:t>
            </a:r>
            <a:r>
              <a:rPr lang="zh-CN" altLang="zh-CN" sz="2400" dirty="0" smtClean="0"/>
              <a:t>模型置信度</a:t>
            </a:r>
            <a:r>
              <a:rPr lang="zh-CN" altLang="zh-CN" sz="2400" dirty="0"/>
              <a:t>（</a:t>
            </a:r>
            <a:r>
              <a:rPr lang="en-US" altLang="zh-CN" sz="2400" dirty="0"/>
              <a:t>70.45%</a:t>
            </a:r>
            <a:r>
              <a:rPr lang="zh-CN" altLang="zh-CN" sz="2400" dirty="0"/>
              <a:t>），实际置信度（</a:t>
            </a:r>
            <a:r>
              <a:rPr lang="en-US" altLang="zh-CN" sz="2400" dirty="0"/>
              <a:t>57%</a:t>
            </a:r>
            <a:r>
              <a:rPr lang="zh-CN" altLang="zh-CN" sz="2400" dirty="0"/>
              <a:t>）</a:t>
            </a:r>
          </a:p>
          <a:p>
            <a:r>
              <a:rPr lang="zh-CN" altLang="zh-CN" sz="2400" dirty="0"/>
              <a:t>非银金融</a:t>
            </a:r>
            <a:r>
              <a:rPr lang="en-US" altLang="zh-CN" sz="2400" dirty="0">
                <a:sym typeface="Wingdings" panose="05000000000000000000"/>
              </a:rPr>
              <a:t></a:t>
            </a:r>
            <a:r>
              <a:rPr lang="zh-CN" altLang="zh-CN" sz="2400" dirty="0"/>
              <a:t>家用电器：模型置信度（</a:t>
            </a:r>
            <a:r>
              <a:rPr lang="en-US" altLang="zh-CN" sz="2400" dirty="0"/>
              <a:t>73.17%</a:t>
            </a:r>
            <a:r>
              <a:rPr lang="zh-CN" altLang="zh-CN" sz="2400" dirty="0"/>
              <a:t>），实际置信度（</a:t>
            </a:r>
            <a:r>
              <a:rPr lang="en-US" altLang="zh-CN" sz="2400" dirty="0"/>
              <a:t>60%</a:t>
            </a:r>
            <a:r>
              <a:rPr lang="zh-CN" altLang="zh-CN" sz="2400" dirty="0"/>
              <a:t>）</a:t>
            </a:r>
          </a:p>
          <a:p>
            <a:r>
              <a:rPr lang="zh-CN" altLang="zh-CN" sz="2400" dirty="0"/>
              <a:t>由此可见，我们挖掘出来的月行业轮动关联规则具有较好的预测效果。</a:t>
            </a:r>
          </a:p>
        </p:txBody>
      </p:sp>
    </p:spTree>
  </p:cSld>
  <p:clrMapOvr>
    <a:masterClrMapping/>
  </p:clrMapOvr>
  <p:transition advTm="9437"/>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0" name="TextBox 54"/>
          <p:cNvSpPr txBox="1"/>
          <p:nvPr/>
        </p:nvSpPr>
        <p:spPr>
          <a:xfrm>
            <a:off x="1330765" y="44625"/>
            <a:ext cx="1011143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Step3:</a:t>
            </a:r>
            <a:r>
              <a:rPr lang="zh-CN" altLang="en-US" sz="2800" dirty="0" smtClean="0">
                <a:solidFill>
                  <a:schemeClr val="accent2"/>
                </a:solidFill>
                <a:latin typeface="微软雅黑" panose="020B0503020204020204" pitchFamily="34" charset="-122"/>
                <a:ea typeface="微软雅黑" panose="020B0503020204020204" pitchFamily="34" charset="-122"/>
              </a:rPr>
              <a:t>家电行业</a:t>
            </a:r>
            <a:r>
              <a:rPr lang="zh-CN" altLang="en-US" sz="2800" dirty="0" smtClean="0">
                <a:solidFill>
                  <a:schemeClr val="accent2"/>
                </a:solidFill>
                <a:latin typeface="微软雅黑" panose="020B0503020204020204" pitchFamily="34" charset="-122"/>
                <a:ea typeface="微软雅黑" panose="020B0503020204020204" pitchFamily="34" charset="-122"/>
              </a:rPr>
              <a:t>排名前</a:t>
            </a:r>
            <a:r>
              <a:rPr lang="en-US" altLang="zh-CN" sz="2800" dirty="0" smtClean="0">
                <a:solidFill>
                  <a:schemeClr val="accent2"/>
                </a:solidFill>
                <a:latin typeface="微软雅黑" panose="020B0503020204020204" pitchFamily="34" charset="-122"/>
                <a:ea typeface="微软雅黑" panose="020B0503020204020204" pitchFamily="34" charset="-122"/>
              </a:rPr>
              <a:t>20</a:t>
            </a:r>
            <a:r>
              <a:rPr lang="zh-CN" altLang="en-US" sz="2800" dirty="0" smtClean="0">
                <a:solidFill>
                  <a:schemeClr val="accent2"/>
                </a:solidFill>
                <a:latin typeface="微软雅黑" panose="020B0503020204020204" pitchFamily="34" charset="-122"/>
                <a:ea typeface="微软雅黑" panose="020B0503020204020204" pitchFamily="34" charset="-122"/>
              </a:rPr>
              <a:t>的样本股选择</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1048651"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11</a:t>
            </a:r>
            <a:endParaRPr lang="zh-CN" altLang="en-US" dirty="0">
              <a:solidFill>
                <a:schemeClr val="accent2"/>
              </a:solidFill>
            </a:endParaRPr>
          </a:p>
        </p:txBody>
      </p:sp>
      <p:graphicFrame>
        <p:nvGraphicFramePr>
          <p:cNvPr id="4194305" name="表格 1"/>
          <p:cNvGraphicFramePr>
            <a:graphicFrameLocks noGrp="1"/>
          </p:cNvGraphicFramePr>
          <p:nvPr/>
        </p:nvGraphicFramePr>
        <p:xfrm>
          <a:off x="1417861" y="2953544"/>
          <a:ext cx="7848872" cy="2635699"/>
        </p:xfrm>
        <a:graphic>
          <a:graphicData uri="http://schemas.openxmlformats.org/drawingml/2006/table">
            <a:tbl>
              <a:tblPr firstRow="1" firstCol="1" bandRow="1">
                <a:tableStyleId>{5C22544A-7EE6-4342-B048-85BDC9FD1C3A}</a:tableStyleId>
              </a:tblPr>
              <a:tblGrid>
                <a:gridCol w="1390370"/>
                <a:gridCol w="1412798"/>
                <a:gridCol w="1480073"/>
                <a:gridCol w="2152833"/>
                <a:gridCol w="1412798"/>
              </a:tblGrid>
              <a:tr h="275989">
                <a:tc>
                  <a:txBody>
                    <a:bodyPr/>
                    <a:lstStyle/>
                    <a:p>
                      <a:pPr algn="l">
                        <a:spcAft>
                          <a:spcPts val="0"/>
                        </a:spcAft>
                      </a:pPr>
                      <a:r>
                        <a:rPr lang="zh-CN" sz="1100" kern="0" dirty="0">
                          <a:effectLst/>
                        </a:rPr>
                        <a:t>行业名称</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zh-CN" sz="1100" kern="0" dirty="0">
                          <a:effectLst/>
                        </a:rPr>
                        <a:t>股票代码</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zh-CN" sz="1100" kern="0">
                          <a:effectLst/>
                        </a:rPr>
                        <a:t>股票名称</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zh-CN" sz="1100" kern="0">
                          <a:effectLst/>
                        </a:rPr>
                        <a:t>起始日期</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zh-CN" sz="1100" kern="0">
                          <a:effectLst/>
                        </a:rPr>
                        <a:t>结束日期</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262190">
                <a:tc>
                  <a:txBody>
                    <a:bodyPr/>
                    <a:lstStyle/>
                    <a:p>
                      <a:pPr algn="l">
                        <a:spcAft>
                          <a:spcPts val="0"/>
                        </a:spcAft>
                      </a:pPr>
                      <a:r>
                        <a:rPr lang="zh-CN" sz="1100" kern="0">
                          <a:effectLst/>
                        </a:rPr>
                        <a:t>采掘</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en-US" sz="1100" kern="0">
                          <a:effectLst/>
                        </a:rPr>
                        <a:t>000552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zh-CN" sz="1100" kern="0">
                          <a:effectLst/>
                        </a:rPr>
                        <a:t>靖远煤电</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en-US" sz="1100" kern="0">
                          <a:effectLst/>
                        </a:rPr>
                        <a:t>2008/6/2 0:00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zh-CN" sz="11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262190">
                <a:tc>
                  <a:txBody>
                    <a:bodyPr/>
                    <a:lstStyle/>
                    <a:p>
                      <a:pPr algn="l">
                        <a:spcAft>
                          <a:spcPts val="0"/>
                        </a:spcAft>
                      </a:pPr>
                      <a:r>
                        <a:rPr lang="zh-CN" sz="1100" kern="0">
                          <a:effectLst/>
                        </a:rPr>
                        <a:t>采掘</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en-US" sz="1100" kern="0">
                          <a:effectLst/>
                        </a:rPr>
                        <a:t>000571</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zh-CN" sz="1100" kern="0">
                          <a:effectLst/>
                        </a:rPr>
                        <a:t>新大洲</a:t>
                      </a:r>
                      <a:r>
                        <a:rPr lang="en-US" sz="1100" kern="0">
                          <a:effectLst/>
                        </a:rPr>
                        <a:t>A</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en-US" sz="1100" kern="0">
                          <a:effectLst/>
                        </a:rPr>
                        <a:t>2011/10/10 0:00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zh-CN" sz="11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262190">
                <a:tc>
                  <a:txBody>
                    <a:bodyPr/>
                    <a:lstStyle/>
                    <a:p>
                      <a:pPr algn="l">
                        <a:spcAft>
                          <a:spcPts val="0"/>
                        </a:spcAft>
                      </a:pPr>
                      <a:r>
                        <a:rPr lang="zh-CN" sz="1100" kern="0">
                          <a:effectLst/>
                        </a:rPr>
                        <a:t>采掘</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en-US" sz="1100" kern="0">
                          <a:effectLst/>
                        </a:rPr>
                        <a:t>000629</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zh-CN" sz="1100" kern="0">
                          <a:effectLst/>
                        </a:rPr>
                        <a:t>攀钢钒钛</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en-US" sz="1100" kern="0">
                          <a:effectLst/>
                        </a:rPr>
                        <a:t>2015/10/31 0:00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zh-CN" sz="11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262190">
                <a:tc>
                  <a:txBody>
                    <a:bodyPr/>
                    <a:lstStyle/>
                    <a:p>
                      <a:pPr algn="l">
                        <a:spcAft>
                          <a:spcPts val="0"/>
                        </a:spcAft>
                      </a:pPr>
                      <a:r>
                        <a:rPr lang="zh-CN" sz="1100" kern="0">
                          <a:effectLst/>
                        </a:rPr>
                        <a:t>采掘</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en-US" sz="1100" kern="0">
                          <a:effectLst/>
                        </a:rPr>
                        <a:t>000655</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en-US" sz="1100" kern="0">
                          <a:effectLst/>
                        </a:rPr>
                        <a:t>*ST</a:t>
                      </a:r>
                      <a:r>
                        <a:rPr lang="zh-CN" sz="1100" kern="0">
                          <a:effectLst/>
                        </a:rPr>
                        <a:t>金岭</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en-US" sz="1100" kern="0">
                          <a:effectLst/>
                        </a:rPr>
                        <a:t>2015/10/31 0:00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zh-CN" sz="11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262190">
                <a:tc>
                  <a:txBody>
                    <a:bodyPr/>
                    <a:lstStyle/>
                    <a:p>
                      <a:pPr algn="l">
                        <a:spcAft>
                          <a:spcPts val="0"/>
                        </a:spcAft>
                      </a:pPr>
                      <a:r>
                        <a:rPr lang="zh-CN" sz="1100" kern="0">
                          <a:effectLst/>
                        </a:rPr>
                        <a:t>采掘</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en-US" sz="1100" kern="0">
                          <a:effectLst/>
                        </a:rPr>
                        <a:t>000723</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zh-CN" sz="1100" kern="0">
                          <a:effectLst/>
                        </a:rPr>
                        <a:t>美锦能源</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en-US" sz="1100" kern="0">
                          <a:effectLst/>
                        </a:rPr>
                        <a:t>2008/6/2 0:00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zh-CN" sz="11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262190">
                <a:tc>
                  <a:txBody>
                    <a:bodyPr/>
                    <a:lstStyle/>
                    <a:p>
                      <a:pPr algn="l">
                        <a:spcAft>
                          <a:spcPts val="0"/>
                        </a:spcAft>
                      </a:pPr>
                      <a:r>
                        <a:rPr lang="zh-CN" sz="1100" kern="0">
                          <a:effectLst/>
                        </a:rPr>
                        <a:t>采掘</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en-US" sz="1100" kern="0">
                          <a:effectLst/>
                        </a:rPr>
                        <a:t>000762</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zh-CN" sz="1100" kern="0">
                          <a:effectLst/>
                        </a:rPr>
                        <a:t>西藏矿业</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en-US" sz="1100" kern="0">
                          <a:effectLst/>
                        </a:rPr>
                        <a:t>2008/6/2 0:00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zh-CN" sz="11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262190">
                <a:tc>
                  <a:txBody>
                    <a:bodyPr/>
                    <a:lstStyle/>
                    <a:p>
                      <a:pPr algn="l">
                        <a:spcAft>
                          <a:spcPts val="0"/>
                        </a:spcAft>
                      </a:pPr>
                      <a:r>
                        <a:rPr lang="zh-CN" sz="1100" kern="0">
                          <a:effectLst/>
                        </a:rPr>
                        <a:t>采掘</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en-US" sz="1100" kern="0">
                          <a:effectLst/>
                        </a:rPr>
                        <a:t>000780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zh-CN" sz="1100" kern="0">
                          <a:effectLst/>
                        </a:rPr>
                        <a:t>平庄能源</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en-US" sz="1100" kern="0">
                          <a:effectLst/>
                        </a:rPr>
                        <a:t>2016/9/14 0:00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zh-CN" sz="11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262190">
                <a:tc>
                  <a:txBody>
                    <a:bodyPr/>
                    <a:lstStyle/>
                    <a:p>
                      <a:pPr algn="l">
                        <a:spcAft>
                          <a:spcPts val="0"/>
                        </a:spcAft>
                      </a:pPr>
                      <a:r>
                        <a:rPr lang="zh-CN" sz="1100" kern="0">
                          <a:effectLst/>
                        </a:rPr>
                        <a:t>采掘</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en-US" sz="1100" kern="0">
                          <a:effectLst/>
                        </a:rPr>
                        <a:t>000937</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zh-CN" sz="1100" kern="0">
                          <a:effectLst/>
                        </a:rPr>
                        <a:t>冀中能源</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en-US" sz="1100" kern="0">
                          <a:effectLst/>
                        </a:rPr>
                        <a:t>2016/9/14 0:00</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zh-CN" sz="11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262190">
                <a:tc>
                  <a:txBody>
                    <a:bodyPr/>
                    <a:lstStyle/>
                    <a:p>
                      <a:pPr algn="l">
                        <a:spcAft>
                          <a:spcPts val="0"/>
                        </a:spcAft>
                      </a:pPr>
                      <a:r>
                        <a:rPr lang="zh-CN" sz="1100" kern="0">
                          <a:effectLst/>
                        </a:rPr>
                        <a:t>……</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zh-CN" sz="1100" kern="0">
                          <a:effectLst/>
                        </a:rPr>
                        <a:t>……</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zh-CN" sz="1100" kern="0">
                          <a:effectLst/>
                        </a:rPr>
                        <a:t>……</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zh-CN" sz="1100" kern="0">
                          <a:effectLst/>
                        </a:rPr>
                        <a:t>……</a:t>
                      </a:r>
                      <a:endParaRPr lang="zh-CN" sz="105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en-US" sz="1100" kern="0" dirty="0">
                          <a:effectLst/>
                        </a:rPr>
                        <a:t> </a:t>
                      </a:r>
                      <a:endParaRPr lang="zh-CN" sz="105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bl>
          </a:graphicData>
        </a:graphic>
      </p:graphicFrame>
      <p:sp>
        <p:nvSpPr>
          <p:cNvPr id="1048652" name="Rectangle 1"/>
          <p:cNvSpPr>
            <a:spLocks noChangeArrowheads="1"/>
          </p:cNvSpPr>
          <p:nvPr/>
        </p:nvSpPr>
        <p:spPr bwMode="auto">
          <a:xfrm>
            <a:off x="265733" y="1062608"/>
            <a:ext cx="9433993" cy="1600438"/>
          </a:xfrm>
          <a:prstGeom prst="rect">
            <a:avLst/>
          </a:prstGeom>
          <a:noFill/>
          <a:ln>
            <a:noFill/>
          </a:ln>
          <a:effectLst/>
        </p:spPr>
        <p:txBody>
          <a:bodyPr vert="horz" wrap="none" lIns="91440" tIns="45720" rIns="91440" bIns="45720" numCol="1" anchor="ctr" anchorCtr="0" compatLnSpc="1">
            <a:spAutoFit/>
          </a:bodyPr>
          <a:lstStyle/>
          <a:p>
            <a:pPr marL="0" marR="0" lvl="0" indent="266700" algn="l" defTabSz="914400" rtl="0" eaLnBrk="1" fontAlgn="base" latinLnBrk="0" hangingPunct="1">
              <a:lnSpc>
                <a:spcPct val="100000"/>
              </a:lnSpc>
              <a:spcBef>
                <a:spcPct val="0"/>
              </a:spcBef>
              <a:spcAft>
                <a:spcPct val="0"/>
              </a:spcAft>
              <a:buClrTx/>
              <a:buSzTx/>
              <a:buFontTx/>
              <a:buNone/>
            </a:pPr>
            <a:r>
              <a:rPr kumimoji="0" lang="zh-CN" sz="20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我们根据申银万国行业分类标准以及第</a:t>
            </a:r>
            <a:r>
              <a:rPr kumimoji="0" lang="en-US" altLang="zh-CN" sz="20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8</a:t>
            </a:r>
            <a:r>
              <a:rPr kumimoji="0" lang="zh-CN" altLang="en-US" sz="20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章中基于总体规模与投资效率指标的综</a:t>
            </a:r>
            <a:endParaRPr kumimoji="0" lang="en-US" altLang="zh-CN" sz="20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26670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合评价方法对应的财务数据，筛选出家用电器行业上市公司对应的财务数据，并</a:t>
            </a:r>
            <a:endParaRPr kumimoji="0" lang="en-US" altLang="zh-CN" sz="20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26670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利用其综合评价方法，得到家用电器行业排名前</a:t>
            </a:r>
            <a:r>
              <a:rPr kumimoji="0" lang="en-US" altLang="zh-CN" sz="20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20</a:t>
            </a:r>
            <a:r>
              <a:rPr kumimoji="0" lang="zh-CN" altLang="en-US" sz="20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的上市公司股票。申银万国行</a:t>
            </a:r>
            <a:endParaRPr kumimoji="0" lang="en-US" altLang="zh-CN" sz="20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26670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业分类标准数据表如下：</a:t>
            </a:r>
            <a:endParaRPr kumimoji="0" lang="zh-CN" altLang="en-US" sz="2000" b="0" i="0" u="none" strike="noStrike" cap="none" normalizeH="0" baseline="0" dirty="0" smtClean="0">
              <a:ln>
                <a:noFill/>
              </a:ln>
              <a:solidFill>
                <a:schemeClr val="tx1"/>
              </a:solidFill>
              <a:effectLst/>
              <a:ea typeface="宋体" panose="0201060003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048653" name="矩形 3"/>
          <p:cNvSpPr/>
          <p:nvPr/>
        </p:nvSpPr>
        <p:spPr>
          <a:xfrm>
            <a:off x="4554363" y="2663046"/>
            <a:ext cx="2765501" cy="307777"/>
          </a:xfrm>
          <a:prstGeom prst="rect">
            <a:avLst/>
          </a:prstGeom>
        </p:spPr>
        <p:txBody>
          <a:bodyPr wrap="none">
            <a:spAutoFit/>
          </a:bodyPr>
          <a:lstStyle/>
          <a:p>
            <a:r>
              <a:rPr lang="zh-CN" altLang="en-US" sz="900" dirty="0">
                <a:latin typeface="Calibri" panose="020F0502020204030204" pitchFamily="34" charset="0"/>
                <a:cs typeface="Times New Roman" panose="02020603050405020304" pitchFamily="18" charset="0"/>
              </a:rPr>
              <a:t> </a:t>
            </a:r>
            <a:r>
              <a:rPr lang="zh-CN" altLang="en-US" sz="1400" dirty="0">
                <a:latin typeface="Calibri" panose="020F0502020204030204" pitchFamily="34" charset="0"/>
                <a:cs typeface="Times New Roman" panose="02020603050405020304" pitchFamily="18" charset="0"/>
              </a:rPr>
              <a:t>表</a:t>
            </a:r>
            <a:r>
              <a:rPr lang="en-US" altLang="zh-CN" sz="1400" dirty="0">
                <a:latin typeface="Calibri" panose="020F0502020204030204" pitchFamily="34" charset="0"/>
                <a:cs typeface="Times New Roman" panose="02020603050405020304" pitchFamily="18" charset="0"/>
              </a:rPr>
              <a:t>11-11    </a:t>
            </a:r>
            <a:r>
              <a:rPr lang="zh-CN" altLang="en-US" sz="1400" dirty="0">
                <a:latin typeface="Calibri" panose="020F0502020204030204" pitchFamily="34" charset="0"/>
                <a:cs typeface="Times New Roman" panose="02020603050405020304" pitchFamily="18" charset="0"/>
              </a:rPr>
              <a:t>申银万国行业分类标准</a:t>
            </a:r>
            <a:endParaRPr lang="zh-CN" altLang="en-US" sz="1400" dirty="0"/>
          </a:p>
        </p:txBody>
      </p:sp>
    </p:spTree>
  </p:cSld>
  <p:clrMapOvr>
    <a:masterClrMapping/>
  </p:clrMapOvr>
  <p:transition advTm="9437"/>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0" name="TextBox 54"/>
          <p:cNvSpPr txBox="1"/>
          <p:nvPr/>
        </p:nvSpPr>
        <p:spPr>
          <a:xfrm>
            <a:off x="1330765" y="44625"/>
            <a:ext cx="1011143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Step3:</a:t>
            </a:r>
            <a:r>
              <a:rPr lang="zh-CN" altLang="en-US" sz="2800" dirty="0">
                <a:solidFill>
                  <a:schemeClr val="accent2"/>
                </a:solidFill>
                <a:latin typeface="微软雅黑" panose="020B0503020204020204" pitchFamily="34" charset="-122"/>
                <a:ea typeface="微软雅黑" panose="020B0503020204020204" pitchFamily="34" charset="-122"/>
              </a:rPr>
              <a:t>家电行业排名前</a:t>
            </a:r>
            <a:r>
              <a:rPr lang="en-US" altLang="zh-CN" sz="2800" dirty="0">
                <a:solidFill>
                  <a:schemeClr val="accent2"/>
                </a:solidFill>
                <a:latin typeface="微软雅黑" panose="020B0503020204020204" pitchFamily="34" charset="-122"/>
                <a:ea typeface="微软雅黑" panose="020B0503020204020204" pitchFamily="34" charset="-122"/>
              </a:rPr>
              <a:t>20</a:t>
            </a:r>
            <a:r>
              <a:rPr lang="zh-CN" altLang="en-US" sz="2800" dirty="0">
                <a:solidFill>
                  <a:schemeClr val="accent2"/>
                </a:solidFill>
                <a:latin typeface="微软雅黑" panose="020B0503020204020204" pitchFamily="34" charset="-122"/>
                <a:ea typeface="微软雅黑" panose="020B0503020204020204" pitchFamily="34" charset="-122"/>
              </a:rPr>
              <a:t>的样本股选择</a:t>
            </a:r>
          </a:p>
        </p:txBody>
      </p:sp>
      <p:sp>
        <p:nvSpPr>
          <p:cNvPr id="1048651"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11</a:t>
            </a:r>
            <a:endParaRPr lang="zh-CN" altLang="en-US" dirty="0">
              <a:solidFill>
                <a:schemeClr val="accent2"/>
              </a:solidFill>
            </a:endParaRPr>
          </a:p>
        </p:txBody>
      </p:sp>
      <p:sp>
        <p:nvSpPr>
          <p:cNvPr id="2" name="矩形 1"/>
          <p:cNvSpPr/>
          <p:nvPr/>
        </p:nvSpPr>
        <p:spPr>
          <a:xfrm>
            <a:off x="287842" y="836712"/>
            <a:ext cx="6096000" cy="5262979"/>
          </a:xfrm>
          <a:prstGeom prst="rect">
            <a:avLst/>
          </a:prstGeom>
        </p:spPr>
        <p:txBody>
          <a:bodyPr>
            <a:spAutoFit/>
          </a:bodyPr>
          <a:lstStyle/>
          <a:p>
            <a:r>
              <a:rPr lang="en-US" altLang="zh-CN" sz="1600" dirty="0"/>
              <a:t>#</a:t>
            </a:r>
            <a:r>
              <a:rPr lang="zh-CN" altLang="en-US" sz="1600" dirty="0"/>
              <a:t>获取申万行业分类标准中家用电器行业对应的股票代码</a:t>
            </a:r>
          </a:p>
          <a:p>
            <a:r>
              <a:rPr lang="en-US" altLang="zh-CN" sz="1600" dirty="0" err="1"/>
              <a:t>dta</a:t>
            </a:r>
            <a:r>
              <a:rPr lang="en-US" altLang="zh-CN" sz="1600" dirty="0"/>
              <a:t>=</a:t>
            </a:r>
            <a:r>
              <a:rPr lang="en-US" altLang="zh-CN" sz="1600" dirty="0" err="1"/>
              <a:t>pd.read_excel</a:t>
            </a:r>
            <a:r>
              <a:rPr lang="en-US" altLang="zh-CN" sz="1600" dirty="0"/>
              <a:t>('</a:t>
            </a:r>
            <a:r>
              <a:rPr lang="zh-CN" altLang="en-US" sz="1600" dirty="0"/>
              <a:t>申万行业分类</a:t>
            </a:r>
            <a:r>
              <a:rPr lang="en-US" altLang="zh-CN" sz="1600" dirty="0"/>
              <a:t>.</a:t>
            </a:r>
            <a:r>
              <a:rPr lang="en-US" altLang="zh-CN" sz="1600" dirty="0" err="1"/>
              <a:t>xlsx</a:t>
            </a:r>
            <a:r>
              <a:rPr lang="en-US" altLang="zh-CN" sz="1600" dirty="0"/>
              <a:t>')</a:t>
            </a:r>
          </a:p>
          <a:p>
            <a:r>
              <a:rPr lang="en-US" altLang="zh-CN" sz="1600" dirty="0" err="1"/>
              <a:t>stkcd</a:t>
            </a:r>
            <a:r>
              <a:rPr lang="en-US" altLang="zh-CN" sz="1600" dirty="0"/>
              <a:t>=</a:t>
            </a:r>
            <a:r>
              <a:rPr lang="en-US" altLang="zh-CN" sz="1600" dirty="0" err="1"/>
              <a:t>dta.loc</a:t>
            </a:r>
            <a:r>
              <a:rPr lang="en-US" altLang="zh-CN" sz="1600" dirty="0"/>
              <a:t>[</a:t>
            </a:r>
            <a:r>
              <a:rPr lang="en-US" altLang="zh-CN" sz="1600" dirty="0" err="1"/>
              <a:t>dta</a:t>
            </a:r>
            <a:r>
              <a:rPr lang="en-US" altLang="zh-CN" sz="1600" dirty="0"/>
              <a:t>['</a:t>
            </a:r>
            <a:r>
              <a:rPr lang="zh-CN" altLang="en-US" sz="1600" dirty="0"/>
              <a:t>行业名称</a:t>
            </a:r>
            <a:r>
              <a:rPr lang="en-US" altLang="zh-CN" sz="1600" dirty="0"/>
              <a:t>'].values=='</a:t>
            </a:r>
            <a:r>
              <a:rPr lang="zh-CN" altLang="en-US" sz="1600" dirty="0"/>
              <a:t>家用电器</a:t>
            </a:r>
            <a:r>
              <a:rPr lang="en-US" altLang="zh-CN" sz="1600" dirty="0"/>
              <a:t>','</a:t>
            </a:r>
            <a:r>
              <a:rPr lang="zh-CN" altLang="en-US" sz="1600" dirty="0"/>
              <a:t>股票代码</a:t>
            </a:r>
            <a:r>
              <a:rPr lang="en-US" altLang="zh-CN" sz="1600" dirty="0"/>
              <a:t>'].values</a:t>
            </a:r>
          </a:p>
          <a:p>
            <a:r>
              <a:rPr lang="en-US" altLang="zh-CN" sz="1600" dirty="0"/>
              <a:t>#</a:t>
            </a:r>
            <a:r>
              <a:rPr lang="zh-CN" altLang="en-US" sz="1600" dirty="0"/>
              <a:t>获取第</a:t>
            </a:r>
            <a:r>
              <a:rPr lang="en-US" altLang="zh-CN" sz="1600" dirty="0"/>
              <a:t>8</a:t>
            </a:r>
            <a:r>
              <a:rPr lang="zh-CN" altLang="en-US" sz="1600" dirty="0"/>
              <a:t>章中基于总体规模与投资效率指标的综合评价方法对应的指标数据</a:t>
            </a:r>
            <a:r>
              <a:rPr lang="en-US" altLang="zh-CN" sz="1600" dirty="0" err="1"/>
              <a:t>ddata</a:t>
            </a:r>
            <a:endParaRPr lang="en-US" altLang="zh-CN" sz="1600" dirty="0"/>
          </a:p>
          <a:p>
            <a:r>
              <a:rPr lang="en-US" altLang="zh-CN" sz="1600" dirty="0" err="1"/>
              <a:t>ddata</a:t>
            </a:r>
            <a:r>
              <a:rPr lang="en-US" altLang="zh-CN" sz="1600" dirty="0"/>
              <a:t>=</a:t>
            </a:r>
            <a:r>
              <a:rPr lang="en-US" altLang="zh-CN" sz="1600" dirty="0" err="1"/>
              <a:t>pd.read_excel</a:t>
            </a:r>
            <a:r>
              <a:rPr lang="en-US" altLang="zh-CN" sz="1600" dirty="0"/>
              <a:t>('ddata.xlsx')</a:t>
            </a:r>
          </a:p>
          <a:p>
            <a:r>
              <a:rPr lang="en-US" altLang="zh-CN" sz="1600" dirty="0"/>
              <a:t>#</a:t>
            </a:r>
            <a:r>
              <a:rPr lang="zh-CN" altLang="en-US" sz="1600" dirty="0"/>
              <a:t>从</a:t>
            </a:r>
            <a:r>
              <a:rPr lang="en-US" altLang="zh-CN" sz="1600" dirty="0" err="1"/>
              <a:t>ddata</a:t>
            </a:r>
            <a:r>
              <a:rPr lang="zh-CN" altLang="en-US" sz="1600" dirty="0"/>
              <a:t>中筛选出家用电器行业对应股票代码的指标数据</a:t>
            </a:r>
            <a:r>
              <a:rPr lang="en-US" altLang="zh-CN" sz="1600" dirty="0" err="1"/>
              <a:t>dt</a:t>
            </a:r>
            <a:endParaRPr lang="en-US" altLang="zh-CN" sz="1600" dirty="0"/>
          </a:p>
          <a:p>
            <a:r>
              <a:rPr lang="en-US" altLang="zh-CN" sz="1600" dirty="0"/>
              <a:t>s=</a:t>
            </a:r>
            <a:r>
              <a:rPr lang="en-US" altLang="zh-CN" sz="1600" dirty="0" err="1"/>
              <a:t>ddata</a:t>
            </a:r>
            <a:r>
              <a:rPr lang="en-US" altLang="zh-CN" sz="1600" dirty="0"/>
              <a:t>['</a:t>
            </a:r>
            <a:r>
              <a:rPr lang="en-US" altLang="zh-CN" sz="1600" dirty="0" err="1"/>
              <a:t>Stkcd</a:t>
            </a:r>
            <a:r>
              <a:rPr lang="en-US" altLang="zh-CN" sz="1600" dirty="0"/>
              <a:t>'].values</a:t>
            </a:r>
          </a:p>
          <a:p>
            <a:r>
              <a:rPr lang="en-US" altLang="zh-CN" sz="1600" dirty="0"/>
              <a:t>I=s==</a:t>
            </a:r>
            <a:r>
              <a:rPr lang="en-US" altLang="zh-CN" sz="1600" dirty="0" err="1"/>
              <a:t>stkcd</a:t>
            </a:r>
            <a:r>
              <a:rPr lang="en-US" altLang="zh-CN" sz="1600" dirty="0"/>
              <a:t>[0]</a:t>
            </a:r>
          </a:p>
          <a:p>
            <a:r>
              <a:rPr lang="en-US" altLang="zh-CN" sz="1600" dirty="0"/>
              <a:t>for i in range(1,len(</a:t>
            </a:r>
            <a:r>
              <a:rPr lang="en-US" altLang="zh-CN" sz="1600" dirty="0" err="1"/>
              <a:t>stkcd</a:t>
            </a:r>
            <a:r>
              <a:rPr lang="en-US" altLang="zh-CN" sz="1600" dirty="0"/>
              <a:t>)):</a:t>
            </a:r>
          </a:p>
          <a:p>
            <a:r>
              <a:rPr lang="en-US" altLang="zh-CN" sz="1600" dirty="0"/>
              <a:t>    I1=s==</a:t>
            </a:r>
            <a:r>
              <a:rPr lang="en-US" altLang="zh-CN" sz="1600" dirty="0" err="1"/>
              <a:t>stkcd</a:t>
            </a:r>
            <a:r>
              <a:rPr lang="en-US" altLang="zh-CN" sz="1600" dirty="0"/>
              <a:t>[i]</a:t>
            </a:r>
          </a:p>
          <a:p>
            <a:r>
              <a:rPr lang="en-US" altLang="zh-CN" sz="1600" dirty="0"/>
              <a:t>    I=I|I1</a:t>
            </a:r>
          </a:p>
          <a:p>
            <a:r>
              <a:rPr lang="en-US" altLang="zh-CN" sz="1600" dirty="0" err="1"/>
              <a:t>dt</a:t>
            </a:r>
            <a:r>
              <a:rPr lang="en-US" altLang="zh-CN" sz="1600" dirty="0"/>
              <a:t>=</a:t>
            </a:r>
            <a:r>
              <a:rPr lang="en-US" altLang="zh-CN" sz="1600" dirty="0" err="1"/>
              <a:t>ddata.iloc</a:t>
            </a:r>
            <a:r>
              <a:rPr lang="en-US" altLang="zh-CN" sz="1600" dirty="0"/>
              <a:t>[I,:]</a:t>
            </a:r>
          </a:p>
          <a:p>
            <a:r>
              <a:rPr lang="en-US" altLang="zh-CN" sz="1600" dirty="0"/>
              <a:t>#</a:t>
            </a:r>
            <a:r>
              <a:rPr lang="zh-CN" altLang="en-US" sz="1600" dirty="0"/>
              <a:t>调用第</a:t>
            </a:r>
            <a:r>
              <a:rPr lang="en-US" altLang="zh-CN" sz="1600" dirty="0"/>
              <a:t>8</a:t>
            </a:r>
            <a:r>
              <a:rPr lang="zh-CN" altLang="en-US" sz="1600" dirty="0"/>
              <a:t>章中基于总体规模与投资效率指标的综合评价方法函数，获得家用电器行业排名</a:t>
            </a:r>
            <a:r>
              <a:rPr lang="en-US" altLang="zh-CN" sz="1600" dirty="0"/>
              <a:t>#</a:t>
            </a:r>
            <a:r>
              <a:rPr lang="zh-CN" altLang="en-US" sz="1600" dirty="0"/>
              <a:t>前</a:t>
            </a:r>
            <a:r>
              <a:rPr lang="en-US" altLang="zh-CN" sz="1600" dirty="0"/>
              <a:t>20</a:t>
            </a:r>
            <a:r>
              <a:rPr lang="zh-CN" altLang="en-US" sz="1600" dirty="0"/>
              <a:t>的股票代码</a:t>
            </a:r>
          </a:p>
          <a:p>
            <a:r>
              <a:rPr lang="en-US" altLang="zh-CN" sz="1600" dirty="0"/>
              <a:t>import fun</a:t>
            </a:r>
          </a:p>
          <a:p>
            <a:r>
              <a:rPr lang="en-US" altLang="zh-CN" sz="1600" dirty="0"/>
              <a:t>r=</a:t>
            </a:r>
            <a:r>
              <a:rPr lang="en-US" altLang="zh-CN" sz="1600" dirty="0" err="1"/>
              <a:t>fun.Fr</a:t>
            </a:r>
            <a:r>
              <a:rPr lang="en-US" altLang="zh-CN" sz="1600" dirty="0"/>
              <a:t>(dt,'2016')</a:t>
            </a:r>
          </a:p>
          <a:p>
            <a:r>
              <a:rPr lang="en-US" altLang="zh-CN" sz="1600" dirty="0"/>
              <a:t>c=r[0]</a:t>
            </a:r>
          </a:p>
          <a:p>
            <a:r>
              <a:rPr lang="en-US" altLang="zh-CN" sz="1600" dirty="0" err="1"/>
              <a:t>fname</a:t>
            </a:r>
            <a:r>
              <a:rPr lang="en-US" altLang="zh-CN" sz="1600" dirty="0"/>
              <a:t>=r[1][0:20]</a:t>
            </a:r>
          </a:p>
          <a:p>
            <a:r>
              <a:rPr lang="en-US" altLang="zh-CN" sz="1600" dirty="0"/>
              <a:t>code=list(</a:t>
            </a:r>
            <a:r>
              <a:rPr lang="en-US" altLang="zh-CN" sz="1600" dirty="0" err="1"/>
              <a:t>c.index</a:t>
            </a:r>
            <a:r>
              <a:rPr lang="en-US" altLang="zh-CN" sz="1600" dirty="0"/>
              <a:t>[0:20])</a:t>
            </a:r>
          </a:p>
        </p:txBody>
      </p:sp>
      <p:pic>
        <p:nvPicPr>
          <p:cNvPr id="8" name="图片 7"/>
          <p:cNvPicPr/>
          <p:nvPr/>
        </p:nvPicPr>
        <p:blipFill>
          <a:blip r:embed="rId3" cstate="print"/>
          <a:stretch>
            <a:fillRect/>
          </a:stretch>
        </p:blipFill>
        <p:spPr>
          <a:xfrm>
            <a:off x="7322517" y="1569546"/>
            <a:ext cx="4191694" cy="3797310"/>
          </a:xfrm>
          <a:prstGeom prst="rect">
            <a:avLst/>
          </a:prstGeom>
        </p:spPr>
      </p:pic>
    </p:spTree>
    <p:extLst>
      <p:ext uri="{BB962C8B-B14F-4D97-AF65-F5344CB8AC3E}">
        <p14:creationId xmlns:p14="http://schemas.microsoft.com/office/powerpoint/2010/main" val="19200192"/>
      </p:ext>
    </p:extLst>
  </p:cSld>
  <p:clrMapOvr>
    <a:masterClrMapping/>
  </p:clrMapOvr>
  <p:transition advTm="9437"/>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0" name="TextBox 54"/>
          <p:cNvSpPr txBox="1"/>
          <p:nvPr/>
        </p:nvSpPr>
        <p:spPr>
          <a:xfrm>
            <a:off x="1330765" y="44625"/>
            <a:ext cx="10111438" cy="461659"/>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400" dirty="0" smtClean="0">
                <a:solidFill>
                  <a:schemeClr val="accent2"/>
                </a:solidFill>
                <a:latin typeface="微软雅黑" panose="020B0503020204020204" pitchFamily="34" charset="-122"/>
                <a:ea typeface="微软雅黑" panose="020B0503020204020204" pitchFamily="34" charset="-122"/>
              </a:rPr>
              <a:t>Step4</a:t>
            </a:r>
            <a:r>
              <a:rPr lang="en-US" altLang="zh-CN" sz="2400" dirty="0">
                <a:solidFill>
                  <a:schemeClr val="accent2"/>
                </a:solidFill>
                <a:latin typeface="微软雅黑" panose="020B0503020204020204" pitchFamily="34" charset="-122"/>
                <a:ea typeface="微软雅黑" panose="020B0503020204020204" pitchFamily="34" charset="-122"/>
              </a:rPr>
              <a:t>:</a:t>
            </a:r>
            <a:r>
              <a:rPr lang="zh-CN" altLang="en-US" sz="2400" dirty="0" smtClean="0">
                <a:solidFill>
                  <a:schemeClr val="accent2"/>
                </a:solidFill>
                <a:latin typeface="微软雅黑" panose="020B0503020204020204" pitchFamily="34" charset="-122"/>
                <a:ea typeface="微软雅黑" panose="020B0503020204020204" pitchFamily="34" charset="-122"/>
              </a:rPr>
              <a:t>商业</a:t>
            </a:r>
            <a:r>
              <a:rPr lang="zh-CN" altLang="en-US" sz="2400" dirty="0">
                <a:solidFill>
                  <a:schemeClr val="accent2"/>
                </a:solidFill>
                <a:latin typeface="微软雅黑" panose="020B0503020204020204" pitchFamily="34" charset="-122"/>
                <a:ea typeface="微软雅黑" panose="020B0503020204020204" pitchFamily="34" charset="-122"/>
              </a:rPr>
              <a:t>贸易</a:t>
            </a:r>
            <a:r>
              <a:rPr lang="en-US" altLang="zh-CN" sz="2400" dirty="0">
                <a:solidFill>
                  <a:schemeClr val="accent2"/>
                </a:solidFill>
                <a:latin typeface="微软雅黑" panose="020B0503020204020204" pitchFamily="34" charset="-122"/>
                <a:ea typeface="微软雅黑" panose="020B0503020204020204" pitchFamily="34" charset="-122"/>
              </a:rPr>
              <a:t>—&gt;</a:t>
            </a:r>
            <a:r>
              <a:rPr lang="zh-CN" altLang="en-US" sz="2400" dirty="0" smtClean="0">
                <a:solidFill>
                  <a:schemeClr val="accent2"/>
                </a:solidFill>
                <a:latin typeface="微软雅黑" panose="020B0503020204020204" pitchFamily="34" charset="-122"/>
                <a:ea typeface="微软雅黑" panose="020B0503020204020204" pitchFamily="34" charset="-122"/>
              </a:rPr>
              <a:t>家用电器关联</a:t>
            </a:r>
            <a:r>
              <a:rPr lang="zh-CN" altLang="en-US" sz="2400" dirty="0">
                <a:solidFill>
                  <a:schemeClr val="accent2"/>
                </a:solidFill>
                <a:latin typeface="微软雅黑" panose="020B0503020204020204" pitchFamily="34" charset="-122"/>
                <a:ea typeface="微软雅黑" panose="020B0503020204020204" pitchFamily="34" charset="-122"/>
              </a:rPr>
              <a:t>规则为</a:t>
            </a:r>
            <a:r>
              <a:rPr lang="zh-CN" altLang="en-US" sz="2400" dirty="0" smtClean="0">
                <a:solidFill>
                  <a:schemeClr val="accent2"/>
                </a:solidFill>
                <a:latin typeface="微软雅黑" panose="020B0503020204020204" pitchFamily="34" charset="-122"/>
                <a:ea typeface="微软雅黑" panose="020B0503020204020204" pitchFamily="34" charset="-122"/>
              </a:rPr>
              <a:t>例设计量化投资策略</a:t>
            </a:r>
            <a:endParaRPr lang="zh-CN" altLang="en-US" sz="2400" dirty="0">
              <a:solidFill>
                <a:schemeClr val="accent2"/>
              </a:solidFill>
              <a:latin typeface="微软雅黑" panose="020B0503020204020204" pitchFamily="34" charset="-122"/>
              <a:ea typeface="微软雅黑" panose="020B0503020204020204" pitchFamily="34" charset="-122"/>
            </a:endParaRPr>
          </a:p>
        </p:txBody>
      </p:sp>
      <p:sp>
        <p:nvSpPr>
          <p:cNvPr id="1048651"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11</a:t>
            </a:r>
            <a:endParaRPr lang="zh-CN" altLang="en-US" dirty="0">
              <a:solidFill>
                <a:schemeClr val="accent2"/>
              </a:solidFill>
            </a:endParaRPr>
          </a:p>
        </p:txBody>
      </p:sp>
      <p:sp>
        <p:nvSpPr>
          <p:cNvPr id="2" name="矩形 1"/>
          <p:cNvSpPr/>
          <p:nvPr/>
        </p:nvSpPr>
        <p:spPr>
          <a:xfrm>
            <a:off x="672393" y="823570"/>
            <a:ext cx="5954555" cy="5047536"/>
          </a:xfrm>
          <a:prstGeom prst="rect">
            <a:avLst/>
          </a:prstGeom>
        </p:spPr>
        <p:txBody>
          <a:bodyPr wrap="square">
            <a:spAutoFit/>
          </a:bodyPr>
          <a:lstStyle/>
          <a:p>
            <a:r>
              <a:rPr lang="en-US" altLang="zh-CN" sz="1400" dirty="0"/>
              <a:t>DA=</a:t>
            </a:r>
            <a:r>
              <a:rPr lang="en-US" altLang="zh-CN" sz="1400" dirty="0" err="1"/>
              <a:t>pd.read_excel</a:t>
            </a:r>
            <a:r>
              <a:rPr lang="en-US" altLang="zh-CN" sz="1400" dirty="0"/>
              <a:t>('trd_2017.xlsx')</a:t>
            </a:r>
          </a:p>
          <a:p>
            <a:r>
              <a:rPr lang="en-US" altLang="zh-CN" sz="1400" dirty="0" err="1"/>
              <a:t>list_r</a:t>
            </a:r>
            <a:r>
              <a:rPr lang="en-US" altLang="zh-CN" sz="1400" dirty="0"/>
              <a:t>=[] #</a:t>
            </a:r>
            <a:r>
              <a:rPr lang="zh-CN" altLang="en-US" sz="1400" dirty="0"/>
              <a:t>预定义股票收益率列表</a:t>
            </a:r>
          </a:p>
          <a:p>
            <a:r>
              <a:rPr lang="en-US" altLang="zh-CN" sz="1400" dirty="0"/>
              <a:t>#</a:t>
            </a:r>
            <a:r>
              <a:rPr lang="zh-CN" altLang="en-US" sz="1400" dirty="0"/>
              <a:t>循环对每个股票进行计算投资收益率</a:t>
            </a:r>
          </a:p>
          <a:p>
            <a:r>
              <a:rPr lang="en-US" altLang="zh-CN" sz="1400" dirty="0"/>
              <a:t>for i in range(</a:t>
            </a:r>
            <a:r>
              <a:rPr lang="en-US" altLang="zh-CN" sz="1400" dirty="0" err="1"/>
              <a:t>len</a:t>
            </a:r>
            <a:r>
              <a:rPr lang="en-US" altLang="zh-CN" sz="1400" dirty="0"/>
              <a:t>(code)):</a:t>
            </a:r>
          </a:p>
          <a:p>
            <a:r>
              <a:rPr lang="en-US" altLang="zh-CN" sz="1400" dirty="0"/>
              <a:t>   </a:t>
            </a:r>
            <a:r>
              <a:rPr lang="zh-CN" altLang="en-US" sz="1400" dirty="0"/>
              <a:t>获得第</a:t>
            </a:r>
            <a:r>
              <a:rPr lang="en-US" altLang="zh-CN" sz="1400" dirty="0"/>
              <a:t>i</a:t>
            </a:r>
            <a:r>
              <a:rPr lang="zh-CN" altLang="en-US" sz="1400" dirty="0"/>
              <a:t>个股票</a:t>
            </a:r>
            <a:r>
              <a:rPr lang="en-US" altLang="zh-CN" sz="1400" dirty="0"/>
              <a:t>2017</a:t>
            </a:r>
            <a:r>
              <a:rPr lang="zh-CN" altLang="en-US" sz="1400" dirty="0"/>
              <a:t>年度的交易数据，并按日期排序</a:t>
            </a:r>
          </a:p>
          <a:p>
            <a:r>
              <a:rPr lang="zh-CN" altLang="en-US" sz="1400" dirty="0"/>
              <a:t>   </a:t>
            </a:r>
            <a:r>
              <a:rPr lang="en-US" altLang="zh-CN" sz="1400" dirty="0" err="1"/>
              <a:t>dat</a:t>
            </a:r>
            <a:r>
              <a:rPr lang="en-US" altLang="zh-CN" sz="1400" dirty="0"/>
              <a:t>=</a:t>
            </a:r>
            <a:r>
              <a:rPr lang="en-US" altLang="zh-CN" sz="1400" dirty="0" err="1"/>
              <a:t>DA.iloc</a:t>
            </a:r>
            <a:r>
              <a:rPr lang="en-US" altLang="zh-CN" sz="1400" dirty="0"/>
              <a:t>[</a:t>
            </a:r>
            <a:r>
              <a:rPr lang="en-US" altLang="zh-CN" sz="1400" dirty="0" err="1"/>
              <a:t>DA.iloc</a:t>
            </a:r>
            <a:r>
              <a:rPr lang="en-US" altLang="zh-CN" sz="1400" dirty="0"/>
              <a:t>[:,0].values==code[i],:]</a:t>
            </a:r>
          </a:p>
          <a:p>
            <a:r>
              <a:rPr lang="en-US" altLang="zh-CN" sz="1400" dirty="0"/>
              <a:t>   </a:t>
            </a:r>
            <a:r>
              <a:rPr lang="en-US" altLang="zh-CN" sz="1400" dirty="0" err="1"/>
              <a:t>dat</a:t>
            </a:r>
            <a:r>
              <a:rPr lang="en-US" altLang="zh-CN" sz="1400" dirty="0"/>
              <a:t>=</a:t>
            </a:r>
            <a:r>
              <a:rPr lang="en-US" altLang="zh-CN" sz="1400" dirty="0" err="1"/>
              <a:t>dat.sort_values</a:t>
            </a:r>
            <a:r>
              <a:rPr lang="en-US" altLang="zh-CN" sz="1400" dirty="0"/>
              <a:t>('</a:t>
            </a:r>
            <a:r>
              <a:rPr lang="en-US" altLang="zh-CN" sz="1400" dirty="0" err="1"/>
              <a:t>Trddt</a:t>
            </a:r>
            <a:r>
              <a:rPr lang="en-US" altLang="zh-CN" sz="1400" dirty="0"/>
              <a:t>')</a:t>
            </a:r>
          </a:p>
          <a:p>
            <a:r>
              <a:rPr lang="en-US" altLang="zh-CN" sz="1400" dirty="0"/>
              <a:t>   </a:t>
            </a:r>
            <a:r>
              <a:rPr lang="en-US" altLang="zh-CN" sz="1400" dirty="0" err="1"/>
              <a:t>r_c</a:t>
            </a:r>
            <a:r>
              <a:rPr lang="en-US" altLang="zh-CN" sz="1400" dirty="0"/>
              <a:t>=0 #</a:t>
            </a:r>
            <a:r>
              <a:rPr lang="zh-CN" altLang="en-US" sz="1400" dirty="0"/>
              <a:t>预定义第</a:t>
            </a:r>
            <a:r>
              <a:rPr lang="en-US" altLang="zh-CN" sz="1400" dirty="0"/>
              <a:t>i</a:t>
            </a:r>
            <a:r>
              <a:rPr lang="zh-CN" altLang="en-US" sz="1400" dirty="0"/>
              <a:t>个股票初始收益率</a:t>
            </a:r>
          </a:p>
          <a:p>
            <a:r>
              <a:rPr lang="zh-CN" altLang="en-US" sz="1400" dirty="0"/>
              <a:t>   </a:t>
            </a:r>
            <a:r>
              <a:rPr lang="en-US" altLang="zh-CN" sz="1400" dirty="0"/>
              <a:t>for k in range(1,len(list1)-1):</a:t>
            </a:r>
          </a:p>
          <a:p>
            <a:r>
              <a:rPr lang="en-US" altLang="zh-CN" sz="1400" dirty="0"/>
              <a:t>       #</a:t>
            </a:r>
            <a:r>
              <a:rPr lang="zh-CN" altLang="en-US" sz="1400" dirty="0"/>
              <a:t>获得第</a:t>
            </a:r>
            <a:r>
              <a:rPr lang="en-US" altLang="zh-CN" sz="1400" dirty="0"/>
              <a:t>i</a:t>
            </a:r>
            <a:r>
              <a:rPr lang="zh-CN" altLang="en-US" sz="1400" dirty="0"/>
              <a:t>个股票第</a:t>
            </a:r>
            <a:r>
              <a:rPr lang="en-US" altLang="zh-CN" sz="1400" dirty="0"/>
              <a:t>k+1</a:t>
            </a:r>
            <a:r>
              <a:rPr lang="zh-CN" altLang="en-US" sz="1400" dirty="0"/>
              <a:t>个月份的交易数据的收盘价</a:t>
            </a:r>
            <a:r>
              <a:rPr lang="en-US" altLang="zh-CN" sz="1400" dirty="0"/>
              <a:t>p</a:t>
            </a:r>
          </a:p>
          <a:p>
            <a:r>
              <a:rPr lang="en-US" altLang="zh-CN" sz="1400" dirty="0"/>
              <a:t>       I1=</a:t>
            </a:r>
            <a:r>
              <a:rPr lang="en-US" altLang="zh-CN" sz="1400" dirty="0" err="1"/>
              <a:t>dat.iloc</a:t>
            </a:r>
            <a:r>
              <a:rPr lang="en-US" altLang="zh-CN" sz="1400" dirty="0"/>
              <a:t>[:,1].values&gt;=list1[k+1]</a:t>
            </a:r>
          </a:p>
          <a:p>
            <a:r>
              <a:rPr lang="en-US" altLang="zh-CN" sz="1400" dirty="0"/>
              <a:t>       I2=</a:t>
            </a:r>
            <a:r>
              <a:rPr lang="en-US" altLang="zh-CN" sz="1400" dirty="0" err="1"/>
              <a:t>dat.iloc</a:t>
            </a:r>
            <a:r>
              <a:rPr lang="en-US" altLang="zh-CN" sz="1400" dirty="0"/>
              <a:t>[:,1].values&lt;=list2[k+1]</a:t>
            </a:r>
          </a:p>
          <a:p>
            <a:r>
              <a:rPr lang="en-US" altLang="zh-CN" sz="1400" dirty="0"/>
              <a:t>       I=I1&amp;I2</a:t>
            </a:r>
          </a:p>
          <a:p>
            <a:r>
              <a:rPr lang="en-US" altLang="zh-CN" sz="1400" dirty="0"/>
              <a:t>       p=</a:t>
            </a:r>
            <a:r>
              <a:rPr lang="en-US" altLang="zh-CN" sz="1400" dirty="0" err="1"/>
              <a:t>dat.iloc</a:t>
            </a:r>
            <a:r>
              <a:rPr lang="en-US" altLang="zh-CN" sz="1400" dirty="0"/>
              <a:t>[I,3].values</a:t>
            </a:r>
          </a:p>
          <a:p>
            <a:r>
              <a:rPr lang="en-US" altLang="zh-CN" sz="1400" dirty="0"/>
              <a:t>       if </a:t>
            </a:r>
            <a:r>
              <a:rPr lang="en-US" altLang="zh-CN" sz="1400" dirty="0" err="1"/>
              <a:t>len</a:t>
            </a:r>
            <a:r>
              <a:rPr lang="en-US" altLang="zh-CN" sz="1400" dirty="0"/>
              <a:t>(p)&gt;0:</a:t>
            </a:r>
          </a:p>
          <a:p>
            <a:r>
              <a:rPr lang="en-US" altLang="zh-CN" sz="1400" dirty="0"/>
              <a:t>          #</a:t>
            </a:r>
            <a:r>
              <a:rPr lang="zh-CN" altLang="en-US" sz="1400" dirty="0"/>
              <a:t>如果</a:t>
            </a:r>
            <a:r>
              <a:rPr lang="en-US" altLang="zh-CN" sz="1400" dirty="0"/>
              <a:t>p</a:t>
            </a:r>
            <a:r>
              <a:rPr lang="zh-CN" altLang="en-US" sz="1400" dirty="0"/>
              <a:t>不为空，计算收益率</a:t>
            </a:r>
          </a:p>
          <a:p>
            <a:r>
              <a:rPr lang="zh-CN" altLang="en-US" sz="1400" dirty="0"/>
              <a:t>          </a:t>
            </a:r>
            <a:r>
              <a:rPr lang="en-US" altLang="zh-CN" sz="1400" dirty="0"/>
              <a:t>r=(p[</a:t>
            </a:r>
            <a:r>
              <a:rPr lang="en-US" altLang="zh-CN" sz="1400" dirty="0" err="1"/>
              <a:t>len</a:t>
            </a:r>
            <a:r>
              <a:rPr lang="en-US" altLang="zh-CN" sz="1400" dirty="0"/>
              <a:t>(p)-1]-p[0])/p[0]</a:t>
            </a:r>
          </a:p>
          <a:p>
            <a:r>
              <a:rPr lang="en-US" altLang="zh-CN" sz="1400" dirty="0"/>
              <a:t>          #</a:t>
            </a:r>
            <a:r>
              <a:rPr lang="zh-CN" altLang="en-US" sz="1400" dirty="0"/>
              <a:t>只有当关联的行业指数上个月为上涨的时候，才计算其收益率</a:t>
            </a:r>
          </a:p>
          <a:p>
            <a:r>
              <a:rPr lang="zh-CN" altLang="en-US" sz="1400" dirty="0"/>
              <a:t>          </a:t>
            </a:r>
            <a:r>
              <a:rPr lang="en-US" altLang="zh-CN" sz="1400" dirty="0"/>
              <a:t>if list1_[k-1]&gt;0:</a:t>
            </a:r>
          </a:p>
          <a:p>
            <a:r>
              <a:rPr lang="en-US" altLang="zh-CN" sz="1400" dirty="0"/>
              <a:t>             </a:t>
            </a:r>
            <a:r>
              <a:rPr lang="en-US" altLang="zh-CN" sz="1400" dirty="0" err="1"/>
              <a:t>r_c</a:t>
            </a:r>
            <a:r>
              <a:rPr lang="en-US" altLang="zh-CN" sz="1400" dirty="0"/>
              <a:t>=</a:t>
            </a:r>
            <a:r>
              <a:rPr lang="en-US" altLang="zh-CN" sz="1400" dirty="0" err="1"/>
              <a:t>r_c+r</a:t>
            </a:r>
            <a:endParaRPr lang="en-US" altLang="zh-CN" sz="1400" dirty="0"/>
          </a:p>
          <a:p>
            <a:r>
              <a:rPr lang="en-US" altLang="zh-CN" sz="1400" dirty="0"/>
              <a:t>   </a:t>
            </a:r>
            <a:r>
              <a:rPr lang="en-US" altLang="zh-CN" sz="1400" dirty="0" err="1"/>
              <a:t>list_r.append</a:t>
            </a:r>
            <a:r>
              <a:rPr lang="en-US" altLang="zh-CN" sz="1400" dirty="0"/>
              <a:t>(</a:t>
            </a:r>
            <a:r>
              <a:rPr lang="en-US" altLang="zh-CN" sz="1400" dirty="0" err="1"/>
              <a:t>r_c</a:t>
            </a:r>
            <a:r>
              <a:rPr lang="en-US" altLang="zh-CN" sz="1400" dirty="0"/>
              <a:t>)</a:t>
            </a:r>
          </a:p>
          <a:p>
            <a:r>
              <a:rPr lang="en-US" altLang="zh-CN" sz="1400" dirty="0" err="1"/>
              <a:t>s_list</a:t>
            </a:r>
            <a:r>
              <a:rPr lang="en-US" altLang="zh-CN" sz="1400" dirty="0"/>
              <a:t>=sum(</a:t>
            </a:r>
            <a:r>
              <a:rPr lang="en-US" altLang="zh-CN" sz="1400" dirty="0" err="1"/>
              <a:t>list_r</a:t>
            </a:r>
            <a:r>
              <a:rPr lang="en-US" altLang="zh-CN" sz="1400" dirty="0"/>
              <a:t>)</a:t>
            </a:r>
          </a:p>
          <a:p>
            <a:r>
              <a:rPr lang="en-US" altLang="zh-CN" sz="1400" dirty="0" err="1"/>
              <a:t>m_list</a:t>
            </a:r>
            <a:r>
              <a:rPr lang="en-US" altLang="zh-CN" sz="1400" dirty="0"/>
              <a:t>=</a:t>
            </a:r>
            <a:r>
              <a:rPr lang="en-US" altLang="zh-CN" sz="1400" dirty="0" err="1"/>
              <a:t>np.mean</a:t>
            </a:r>
            <a:r>
              <a:rPr lang="en-US" altLang="zh-CN" sz="1400" dirty="0"/>
              <a:t>(</a:t>
            </a:r>
            <a:r>
              <a:rPr lang="en-US" altLang="zh-CN" sz="1400" dirty="0" err="1"/>
              <a:t>list_r</a:t>
            </a:r>
            <a:r>
              <a:rPr lang="en-US" altLang="zh-CN" sz="1400" dirty="0"/>
              <a:t>)</a:t>
            </a:r>
          </a:p>
        </p:txBody>
      </p:sp>
      <p:sp>
        <p:nvSpPr>
          <p:cNvPr id="3" name="矩形 2"/>
          <p:cNvSpPr/>
          <p:nvPr/>
        </p:nvSpPr>
        <p:spPr>
          <a:xfrm>
            <a:off x="7682557" y="1052736"/>
            <a:ext cx="2952327" cy="3970318"/>
          </a:xfrm>
          <a:prstGeom prst="rect">
            <a:avLst/>
          </a:prstGeom>
        </p:spPr>
        <p:txBody>
          <a:bodyPr wrap="square">
            <a:spAutoFit/>
          </a:bodyPr>
          <a:lstStyle/>
          <a:p>
            <a:r>
              <a:rPr lang="zh-CN" altLang="en-US" dirty="0" smtClean="0">
                <a:solidFill>
                  <a:schemeClr val="bg2"/>
                </a:solidFill>
              </a:rPr>
              <a:t>执行策略</a:t>
            </a:r>
            <a:r>
              <a:rPr lang="zh-CN" altLang="en-US" dirty="0">
                <a:solidFill>
                  <a:schemeClr val="bg2"/>
                </a:solidFill>
              </a:rPr>
              <a:t>代码得到投资组合的总收益率</a:t>
            </a:r>
            <a:r>
              <a:rPr lang="en-US" altLang="zh-CN" dirty="0" err="1">
                <a:solidFill>
                  <a:schemeClr val="bg2"/>
                </a:solidFill>
              </a:rPr>
              <a:t>s_list</a:t>
            </a:r>
            <a:r>
              <a:rPr lang="zh-CN" altLang="en-US" dirty="0">
                <a:solidFill>
                  <a:schemeClr val="bg2"/>
                </a:solidFill>
              </a:rPr>
              <a:t>和平均收益率</a:t>
            </a:r>
            <a:r>
              <a:rPr lang="en-US" altLang="zh-CN" dirty="0" err="1">
                <a:solidFill>
                  <a:schemeClr val="bg2"/>
                </a:solidFill>
              </a:rPr>
              <a:t>m_list</a:t>
            </a:r>
            <a:r>
              <a:rPr lang="en-US" altLang="zh-CN" dirty="0">
                <a:solidFill>
                  <a:schemeClr val="bg2"/>
                </a:solidFill>
              </a:rPr>
              <a:t> </a:t>
            </a:r>
            <a:r>
              <a:rPr lang="zh-CN" altLang="en-US" dirty="0">
                <a:solidFill>
                  <a:schemeClr val="bg2"/>
                </a:solidFill>
              </a:rPr>
              <a:t>分别为</a:t>
            </a:r>
            <a:r>
              <a:rPr lang="en-US" altLang="zh-CN" dirty="0">
                <a:solidFill>
                  <a:schemeClr val="bg2"/>
                </a:solidFill>
              </a:rPr>
              <a:t>0.6895</a:t>
            </a:r>
            <a:r>
              <a:rPr lang="zh-CN" altLang="en-US" dirty="0">
                <a:solidFill>
                  <a:schemeClr val="bg2"/>
                </a:solidFill>
              </a:rPr>
              <a:t>和</a:t>
            </a:r>
            <a:r>
              <a:rPr lang="en-US" altLang="zh-CN" dirty="0">
                <a:solidFill>
                  <a:schemeClr val="bg2"/>
                </a:solidFill>
              </a:rPr>
              <a:t>0.03447</a:t>
            </a:r>
            <a:r>
              <a:rPr lang="zh-CN" altLang="en-US" dirty="0">
                <a:solidFill>
                  <a:schemeClr val="bg2"/>
                </a:solidFill>
              </a:rPr>
              <a:t>。同理可以得到通信家用电器、采掘家用电器、非银金融家用电器这三条行业轮动关联规则投资策略的总收益率和平均收益率分别为：</a:t>
            </a:r>
            <a:r>
              <a:rPr lang="en-US" altLang="zh-CN" dirty="0">
                <a:solidFill>
                  <a:schemeClr val="bg2"/>
                </a:solidFill>
              </a:rPr>
              <a:t>1.4463</a:t>
            </a:r>
            <a:r>
              <a:rPr lang="zh-CN" altLang="en-US" dirty="0">
                <a:solidFill>
                  <a:schemeClr val="bg2"/>
                </a:solidFill>
              </a:rPr>
              <a:t>和</a:t>
            </a:r>
            <a:r>
              <a:rPr lang="en-US" altLang="zh-CN" dirty="0">
                <a:solidFill>
                  <a:schemeClr val="bg2"/>
                </a:solidFill>
              </a:rPr>
              <a:t>0.0723</a:t>
            </a:r>
            <a:r>
              <a:rPr lang="zh-CN" altLang="en-US" dirty="0">
                <a:solidFill>
                  <a:schemeClr val="bg2"/>
                </a:solidFill>
              </a:rPr>
              <a:t>、</a:t>
            </a:r>
            <a:r>
              <a:rPr lang="en-US" altLang="zh-CN" dirty="0">
                <a:solidFill>
                  <a:schemeClr val="bg2"/>
                </a:solidFill>
              </a:rPr>
              <a:t>1.5500</a:t>
            </a:r>
            <a:r>
              <a:rPr lang="zh-CN" altLang="en-US" dirty="0">
                <a:solidFill>
                  <a:schemeClr val="bg2"/>
                </a:solidFill>
              </a:rPr>
              <a:t>和</a:t>
            </a:r>
            <a:r>
              <a:rPr lang="en-US" altLang="zh-CN" dirty="0">
                <a:solidFill>
                  <a:schemeClr val="bg2"/>
                </a:solidFill>
              </a:rPr>
              <a:t>0.0775</a:t>
            </a:r>
            <a:r>
              <a:rPr lang="zh-CN" altLang="en-US" dirty="0">
                <a:solidFill>
                  <a:schemeClr val="bg2"/>
                </a:solidFill>
              </a:rPr>
              <a:t>、</a:t>
            </a:r>
            <a:r>
              <a:rPr lang="en-US" altLang="zh-CN" dirty="0">
                <a:solidFill>
                  <a:schemeClr val="bg2"/>
                </a:solidFill>
              </a:rPr>
              <a:t>0.5132</a:t>
            </a:r>
            <a:r>
              <a:rPr lang="zh-CN" altLang="en-US" dirty="0">
                <a:solidFill>
                  <a:schemeClr val="bg2"/>
                </a:solidFill>
              </a:rPr>
              <a:t>和</a:t>
            </a:r>
            <a:r>
              <a:rPr lang="en-US" altLang="zh-CN" dirty="0">
                <a:solidFill>
                  <a:schemeClr val="bg2"/>
                </a:solidFill>
              </a:rPr>
              <a:t>0.02566</a:t>
            </a:r>
            <a:r>
              <a:rPr lang="zh-CN" altLang="en-US" dirty="0">
                <a:solidFill>
                  <a:schemeClr val="bg2"/>
                </a:solidFill>
              </a:rPr>
              <a:t>。由此可以，基于月行业轮动规则的量化投资策略取得了较好的投资效果。</a:t>
            </a:r>
          </a:p>
        </p:txBody>
      </p:sp>
    </p:spTree>
    <p:extLst>
      <p:ext uri="{BB962C8B-B14F-4D97-AF65-F5344CB8AC3E}">
        <p14:creationId xmlns:p14="http://schemas.microsoft.com/office/powerpoint/2010/main" val="83570147"/>
      </p:ext>
    </p:extLst>
  </p:cSld>
  <p:clrMapOvr>
    <a:masterClrMapping/>
  </p:clrMapOvr>
  <p:transition advTm="9437"/>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5" name="TextBox 54"/>
          <p:cNvSpPr txBox="1"/>
          <p:nvPr/>
        </p:nvSpPr>
        <p:spPr>
          <a:xfrm>
            <a:off x="1330765" y="44625"/>
            <a:ext cx="973616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sz="2800" dirty="0" smtClean="0">
                <a:solidFill>
                  <a:schemeClr val="accent2"/>
                </a:solidFill>
                <a:latin typeface="微软雅黑" panose="020B0503020204020204" pitchFamily="34" charset="-122"/>
                <a:ea typeface="微软雅黑" panose="020B0503020204020204" pitchFamily="34" charset="-122"/>
              </a:rPr>
              <a:t>本章小结</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104866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11</a:t>
            </a:r>
            <a:endParaRPr lang="zh-CN" altLang="en-US" dirty="0">
              <a:solidFill>
                <a:schemeClr val="accent2"/>
              </a:solidFill>
            </a:endParaRPr>
          </a:p>
        </p:txBody>
      </p:sp>
      <p:sp>
        <p:nvSpPr>
          <p:cNvPr id="1048667" name="矩形 1"/>
          <p:cNvSpPr/>
          <p:nvPr/>
        </p:nvSpPr>
        <p:spPr>
          <a:xfrm>
            <a:off x="769789" y="1340768"/>
            <a:ext cx="9937104" cy="2246769"/>
          </a:xfrm>
          <a:prstGeom prst="rect">
            <a:avLst/>
          </a:prstGeom>
        </p:spPr>
        <p:txBody>
          <a:bodyPr wrap="square">
            <a:spAutoFit/>
          </a:bodyPr>
          <a:lstStyle/>
          <a:p>
            <a:r>
              <a:rPr lang="zh-CN" altLang="zh-CN" sz="2000" dirty="0">
                <a:solidFill>
                  <a:srgbClr val="0070C0"/>
                </a:solidFill>
              </a:rPr>
              <a:t>通过实证分析可以看出，无论是日、周、月三个不同维度的行业联动关联规则其置信度普遍较高，而行业轮动关联规则的置信度相对较低，但是行业轮动关联规则具有预测性，其投资意义更大。通过挖掘，我们发现月行业轮动关联规则的置信度大于</a:t>
            </a:r>
            <a:r>
              <a:rPr lang="en-US" altLang="zh-CN" sz="2000" dirty="0">
                <a:solidFill>
                  <a:srgbClr val="0070C0"/>
                </a:solidFill>
              </a:rPr>
              <a:t>0.7</a:t>
            </a:r>
            <a:r>
              <a:rPr lang="zh-CN" altLang="zh-CN" sz="2000" dirty="0">
                <a:solidFill>
                  <a:srgbClr val="0070C0"/>
                </a:solidFill>
              </a:rPr>
              <a:t>的有</a:t>
            </a:r>
            <a:r>
              <a:rPr lang="en-US" altLang="zh-CN" sz="2000" dirty="0">
                <a:solidFill>
                  <a:srgbClr val="0070C0"/>
                </a:solidFill>
              </a:rPr>
              <a:t>4</a:t>
            </a:r>
            <a:r>
              <a:rPr lang="zh-CN" altLang="zh-CN" sz="2000" dirty="0">
                <a:solidFill>
                  <a:srgbClr val="0070C0"/>
                </a:solidFill>
              </a:rPr>
              <a:t>条关联规则，它们分别是：商业贸易</a:t>
            </a:r>
            <a:r>
              <a:rPr lang="en-US" altLang="zh-CN" sz="2000" dirty="0">
                <a:solidFill>
                  <a:srgbClr val="0070C0"/>
                </a:solidFill>
              </a:rPr>
              <a:t>_up--</a:t>
            </a:r>
            <a:r>
              <a:rPr lang="zh-CN" altLang="zh-CN" sz="2000" dirty="0">
                <a:solidFill>
                  <a:srgbClr val="0070C0"/>
                </a:solidFill>
              </a:rPr>
              <a:t>家用电器</a:t>
            </a:r>
            <a:r>
              <a:rPr lang="en-US" altLang="zh-CN" sz="2000" dirty="0">
                <a:solidFill>
                  <a:srgbClr val="0070C0"/>
                </a:solidFill>
              </a:rPr>
              <a:t>_up</a:t>
            </a:r>
            <a:r>
              <a:rPr lang="zh-CN" altLang="zh-CN" sz="2000" dirty="0">
                <a:solidFill>
                  <a:srgbClr val="0070C0"/>
                </a:solidFill>
              </a:rPr>
              <a:t>、通信</a:t>
            </a:r>
            <a:r>
              <a:rPr lang="en-US" altLang="zh-CN" sz="2000" dirty="0">
                <a:solidFill>
                  <a:srgbClr val="0070C0"/>
                </a:solidFill>
              </a:rPr>
              <a:t>_up--</a:t>
            </a:r>
            <a:r>
              <a:rPr lang="zh-CN" altLang="zh-CN" sz="2000" dirty="0">
                <a:solidFill>
                  <a:srgbClr val="0070C0"/>
                </a:solidFill>
              </a:rPr>
              <a:t>家用电器、采掘</a:t>
            </a:r>
            <a:r>
              <a:rPr lang="en-US" altLang="zh-CN" sz="2000" dirty="0">
                <a:solidFill>
                  <a:srgbClr val="0070C0"/>
                </a:solidFill>
              </a:rPr>
              <a:t>_up--</a:t>
            </a:r>
            <a:r>
              <a:rPr lang="zh-CN" altLang="zh-CN" sz="2000" dirty="0">
                <a:solidFill>
                  <a:srgbClr val="0070C0"/>
                </a:solidFill>
              </a:rPr>
              <a:t>家用电器</a:t>
            </a:r>
            <a:r>
              <a:rPr lang="en-US" altLang="zh-CN" sz="2000" dirty="0">
                <a:solidFill>
                  <a:srgbClr val="0070C0"/>
                </a:solidFill>
              </a:rPr>
              <a:t>_up</a:t>
            </a:r>
            <a:r>
              <a:rPr lang="zh-CN" altLang="zh-CN" sz="2000" dirty="0">
                <a:solidFill>
                  <a:srgbClr val="0070C0"/>
                </a:solidFill>
              </a:rPr>
              <a:t>、非银金融</a:t>
            </a:r>
            <a:r>
              <a:rPr lang="en-US" altLang="zh-CN" sz="2000" dirty="0">
                <a:solidFill>
                  <a:srgbClr val="0070C0"/>
                </a:solidFill>
              </a:rPr>
              <a:t>_up--</a:t>
            </a:r>
            <a:r>
              <a:rPr lang="zh-CN" altLang="zh-CN" sz="2000" dirty="0">
                <a:solidFill>
                  <a:srgbClr val="0070C0"/>
                </a:solidFill>
              </a:rPr>
              <a:t>家用电器。最后，根据这</a:t>
            </a:r>
            <a:r>
              <a:rPr lang="en-US" altLang="zh-CN" sz="2000" dirty="0">
                <a:solidFill>
                  <a:srgbClr val="0070C0"/>
                </a:solidFill>
              </a:rPr>
              <a:t>4</a:t>
            </a:r>
            <a:r>
              <a:rPr lang="zh-CN" altLang="zh-CN" sz="2000" dirty="0">
                <a:solidFill>
                  <a:srgbClr val="0070C0"/>
                </a:solidFill>
              </a:rPr>
              <a:t>条关联规则，设计了量化投资策略，也获得了较好的投资收益率。作为一个应用案例，本章对行业资产配置，具有较好的实践指导意义和一定的参考价值。</a:t>
            </a:r>
          </a:p>
        </p:txBody>
      </p:sp>
    </p:spTree>
  </p:cSld>
  <p:clrMapOvr>
    <a:masterClrMapping/>
  </p:clrMapOvr>
  <p:transition advTm="9437"/>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4561"/>
  <p:tag name="KSO_WM_TAG_VERSION" val="1.0"/>
  <p:tag name="KSO_WM_BEAUTIFY_FLAG" val="#wm#"/>
  <p:tag name="KSO_WM_UNIT_TYPE" val="l_h_i"/>
  <p:tag name="KSO_WM_UNIT_INDEX" val="1_1_2"/>
  <p:tag name="KSO_WM_UNIT_LAYERLEVEL" val="1_1_1"/>
  <p:tag name="KSO_WM_DIAGRAM_GROUP_CODE" val="l1-1"/>
  <p:tag name="KSO_WM_UNIT_ID" val="custom20184561_6*l_h_i*1_1_2"/>
  <p:tag name="KSO_WM_UNIT_TEXT_FILL_FORE_SCHEMECOLOR_INDEX" val="14"/>
  <p:tag name="KSO_WM_UNIT_TEXT_FILL_TYPE" val="1"/>
  <p:tag name="KSO_WM_UNIT_USESOURCEFORMAT_APPLY" val="1"/>
</p:tagLst>
</file>

<file path=ppt/theme/theme1.xml><?xml version="1.0" encoding="utf-8"?>
<a:theme xmlns:a="http://schemas.openxmlformats.org/drawingml/2006/main" name="第一PPT，www.1ppt.com">
  <a:themeElements>
    <a:clrScheme name="155">
      <a:dk1>
        <a:srgbClr val="294A5A"/>
      </a:dk1>
      <a:lt1>
        <a:srgbClr val="99CC39"/>
      </a:lt1>
      <a:dk2>
        <a:srgbClr val="F9C900"/>
      </a:dk2>
      <a:lt2>
        <a:srgbClr val="ED5A00"/>
      </a:lt2>
      <a:accent1>
        <a:srgbClr val="484849"/>
      </a:accent1>
      <a:accent2>
        <a:srgbClr val="FFFFFF"/>
      </a:accent2>
      <a:accent3>
        <a:srgbClr val="969696"/>
      </a:accent3>
      <a:accent4>
        <a:srgbClr val="00AAA2"/>
      </a:accent4>
      <a:accent5>
        <a:srgbClr val="99CC39"/>
      </a:accent5>
      <a:accent6>
        <a:srgbClr val="F9C900"/>
      </a:accent6>
      <a:hlink>
        <a:srgbClr val="ED5A00"/>
      </a:hlink>
      <a:folHlink>
        <a:srgbClr val="48484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2091</Words>
  <Application>Microsoft Office PowerPoint</Application>
  <PresentationFormat>自定义</PresentationFormat>
  <Paragraphs>311</Paragraphs>
  <Slides>11</Slides>
  <Notes>11</Notes>
  <HiddenSlides>0</HiddenSlides>
  <MMClips>0</MMClips>
  <ScaleCrop>false</ScaleCrop>
  <HeadingPairs>
    <vt:vector size="4" baseType="variant">
      <vt:variant>
        <vt:lpstr>主题</vt:lpstr>
      </vt:variant>
      <vt:variant>
        <vt:i4>1</vt:i4>
      </vt:variant>
      <vt:variant>
        <vt:lpstr>幻灯片标题</vt:lpstr>
      </vt:variant>
      <vt:variant>
        <vt:i4>11</vt:i4>
      </vt:variant>
    </vt:vector>
  </HeadingPairs>
  <TitlesOfParts>
    <vt:vector size="12" baseType="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商业融资计划书</dc:title>
  <dc:creator>第一PPT</dc:creator>
  <cp:lastModifiedBy>lenovo</cp:lastModifiedBy>
  <cp:revision>3</cp:revision>
  <dcterms:created xsi:type="dcterms:W3CDTF">2020-01-10T03:39:43Z</dcterms:created>
  <dcterms:modified xsi:type="dcterms:W3CDTF">2020-01-12T08:22:43Z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2052-11.1.0.9339</vt:lpwstr>
  </property>
</Properties>
</file>