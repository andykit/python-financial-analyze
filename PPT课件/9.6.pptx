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handoutMasterIdLst>
    <p:handoutMasterId r:id="rId12"/>
  </p:handoutMasterIdLst>
  <p:sldIdLst>
    <p:sldId id="828" r:id="rId2"/>
    <p:sldId id="829" r:id="rId3"/>
    <p:sldId id="831" r:id="rId4"/>
    <p:sldId id="832" r:id="rId5"/>
    <p:sldId id="833" r:id="rId6"/>
    <p:sldId id="834" r:id="rId7"/>
    <p:sldId id="830" r:id="rId8"/>
    <p:sldId id="835" r:id="rId9"/>
    <p:sldId id="836" r:id="rId10"/>
  </p:sldIdLst>
  <p:sldSz cx="12196763" cy="6858000"/>
  <p:notesSz cx="6858000" cy="9144000"/>
  <p:defaultTextStyle>
    <a:defPPr>
      <a:defRPr lang="zh-CN"/>
    </a:defPPr>
    <a:lvl1pPr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1pPr>
    <a:lvl2pPr marL="457170"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2pPr>
    <a:lvl3pPr marL="914339"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3pPr>
    <a:lvl4pPr marL="1371509"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4pPr>
    <a:lvl5pPr marL="1828678"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5pPr>
    <a:lvl6pPr marL="2285848" algn="l" defTabSz="914339" rtl="0" eaLnBrk="1" latinLnBrk="0" hangingPunct="1">
      <a:defRPr kern="1200">
        <a:solidFill>
          <a:schemeClr val="tx1"/>
        </a:solidFill>
        <a:latin typeface="Arial" pitchFamily="34" charset="0"/>
        <a:ea typeface="宋体" pitchFamily="2" charset="-122"/>
        <a:cs typeface="+mn-cs"/>
      </a:defRPr>
    </a:lvl6pPr>
    <a:lvl7pPr marL="2743016" algn="l" defTabSz="914339" rtl="0" eaLnBrk="1" latinLnBrk="0" hangingPunct="1">
      <a:defRPr kern="1200">
        <a:solidFill>
          <a:schemeClr val="tx1"/>
        </a:solidFill>
        <a:latin typeface="Arial" pitchFamily="34" charset="0"/>
        <a:ea typeface="宋体" pitchFamily="2" charset="-122"/>
        <a:cs typeface="+mn-cs"/>
      </a:defRPr>
    </a:lvl7pPr>
    <a:lvl8pPr marL="3200187" algn="l" defTabSz="914339" rtl="0" eaLnBrk="1" latinLnBrk="0" hangingPunct="1">
      <a:defRPr kern="1200">
        <a:solidFill>
          <a:schemeClr val="tx1"/>
        </a:solidFill>
        <a:latin typeface="Arial" pitchFamily="34" charset="0"/>
        <a:ea typeface="宋体" pitchFamily="2" charset="-122"/>
        <a:cs typeface="+mn-cs"/>
      </a:defRPr>
    </a:lvl8pPr>
    <a:lvl9pPr marL="3657355" algn="l" defTabSz="914339" rtl="0" eaLnBrk="1" latinLnBrk="0" hangingPunct="1">
      <a:defRPr kern="1200">
        <a:solidFill>
          <a:schemeClr val="tx1"/>
        </a:solidFill>
        <a:latin typeface="Arial" pitchFamily="34" charset="0"/>
        <a:ea typeface="宋体" pitchFamily="2" charset="-122"/>
        <a:cs typeface="+mn-cs"/>
      </a:defRPr>
    </a:lvl9pPr>
  </p:defaultTextStyle>
  <p:extLst>
    <p:ext uri="{EFAFB233-063F-42B5-8137-9DF3F51BA10A}">
      <p15:sldGuideLst xmlns:p15="http://schemas.microsoft.com/office/powerpoint/2012/main" xmlns="">
        <p15:guide id="1" orient="horz" pos="2143">
          <p15:clr>
            <a:srgbClr val="A4A3A4"/>
          </p15:clr>
        </p15:guide>
        <p15:guide id="2" pos="3842">
          <p15:clr>
            <a:srgbClr val="A4A3A4"/>
          </p15:clr>
        </p15:guide>
      </p15:sldGuideLst>
    </p:ext>
    <p:ext uri="{2D200454-40CA-4A62-9FC3-DE9A4176ACB9}">
      <p15:notesGuideLst xmlns:p15="http://schemas.microsoft.com/office/powerpoint/2012/main" xmlns="">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张 尚佳" initials="张" lastIdx="1" clrIdx="0">
    <p:extLst>
      <p:ext uri="{19B8F6BF-5375-455C-9EA6-DF929625EA0E}">
        <p15:presenceInfo xmlns:p15="http://schemas.microsoft.com/office/powerpoint/2012/main" xmlns="" userId="087c17d4da352b3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8F8F8"/>
    <a:srgbClr val="17DCF1"/>
    <a:srgbClr val="0DC2D5"/>
    <a:srgbClr val="006BBC"/>
    <a:srgbClr val="00AAA2"/>
    <a:srgbClr val="EFEFEF"/>
    <a:srgbClr val="FFFFFF"/>
    <a:srgbClr val="F0F0F0"/>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699" autoAdjust="0"/>
    <p:restoredTop sz="94270" autoAdjust="0"/>
  </p:normalViewPr>
  <p:slideViewPr>
    <p:cSldViewPr snapToObjects="1">
      <p:cViewPr varScale="1">
        <p:scale>
          <a:sx n="50" d="100"/>
          <a:sy n="50" d="100"/>
        </p:scale>
        <p:origin x="-90" y="-486"/>
      </p:cViewPr>
      <p:guideLst>
        <p:guide orient="horz" pos="2143"/>
        <p:guide pos="3842"/>
      </p:guideLst>
    </p:cSldViewPr>
  </p:slideViewPr>
  <p:outlineViewPr>
    <p:cViewPr>
      <p:scale>
        <a:sx n="33" d="100"/>
        <a:sy n="33" d="100"/>
      </p:scale>
      <p:origin x="0" y="0"/>
    </p:cViewPr>
  </p:outlineViewPr>
  <p:notesTextViewPr>
    <p:cViewPr>
      <p:scale>
        <a:sx n="1" d="1"/>
        <a:sy n="1" d="1"/>
      </p:scale>
      <p:origin x="0" y="0"/>
    </p:cViewPr>
  </p:notesTextViewPr>
  <p:sorterViewPr>
    <p:cViewPr>
      <p:scale>
        <a:sx n="139" d="100"/>
        <a:sy n="139" d="100"/>
      </p:scale>
      <p:origin x="0" y="0"/>
    </p:cViewPr>
  </p:sorterViewPr>
  <p:notesViewPr>
    <p:cSldViewPr snapToObjects="1">
      <p:cViewPr varScale="1">
        <p:scale>
          <a:sx n="69" d="100"/>
          <a:sy n="69" d="100"/>
        </p:scale>
        <p:origin x="-2838"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commentAuthors" Target="commen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E610686-844B-4A1B-87C8-BB90DB4BAB84}" type="slidenum">
              <a:rPr lang="zh-CN" altLang="en-US" smtClean="0"/>
              <a:pPr/>
              <a:t>‹#›</a:t>
            </a:fld>
            <a:endParaRPr lang="zh-CN" altLang="en-US"/>
          </a:p>
        </p:txBody>
      </p:sp>
    </p:spTree>
    <p:extLst>
      <p:ext uri="{BB962C8B-B14F-4D97-AF65-F5344CB8AC3E}">
        <p14:creationId xmlns:p14="http://schemas.microsoft.com/office/powerpoint/2010/main" val="235408308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0" hangingPunct="0">
              <a:defRPr sz="1200"/>
            </a:lvl1pPr>
          </a:lstStyle>
          <a:p>
            <a:endParaRPr lang="zh-CN" altLang="en-US"/>
          </a:p>
        </p:txBody>
      </p:sp>
      <p:sp>
        <p:nvSpPr>
          <p:cNvPr id="3075"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0" hangingPunct="0">
              <a:defRPr sz="1200"/>
            </a:lvl1pPr>
          </a:lstStyle>
          <a:p>
            <a:fld id="{B9EEDA17-7CE7-49CA-897E-A1888A19DA62}" type="datetimeFigureOut">
              <a:rPr lang="zh-CN" altLang="en-US"/>
              <a:pPr/>
              <a:t>2019/11/30</a:t>
            </a:fld>
            <a:endParaRPr lang="en-US"/>
          </a:p>
        </p:txBody>
      </p:sp>
      <p:sp>
        <p:nvSpPr>
          <p:cNvPr id="3076" name="Rectangle 4"/>
          <p:cNvSpPr>
            <a:spLocks noGrp="1" noRot="1" noChangeAspect="1" noChangeArrowheads="1"/>
          </p:cNvSpPr>
          <p:nvPr>
            <p:ph type="sldImg" idx="2"/>
          </p:nvPr>
        </p:nvSpPr>
        <p:spPr bwMode="auto">
          <a:xfrm>
            <a:off x="381000" y="685800"/>
            <a:ext cx="6096000"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3077"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078"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0" hangingPunct="0">
              <a:defRPr sz="1200"/>
            </a:lvl1pPr>
          </a:lstStyle>
          <a:p>
            <a:endParaRPr lang="en-US"/>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0" hangingPunct="0">
              <a:defRPr sz="1200"/>
            </a:lvl1pPr>
          </a:lstStyle>
          <a:p>
            <a:fld id="{CE1689F0-D8FB-450F-A36F-553F26501FEE}" type="slidenum">
              <a:rPr lang="zh-CN" altLang="en-US"/>
              <a:pPr/>
              <a:t>‹#›</a:t>
            </a:fld>
            <a:endParaRPr lang="en-US"/>
          </a:p>
        </p:txBody>
      </p:sp>
    </p:spTree>
    <p:extLst>
      <p:ext uri="{BB962C8B-B14F-4D97-AF65-F5344CB8AC3E}">
        <p14:creationId xmlns:p14="http://schemas.microsoft.com/office/powerpoint/2010/main" val="357186104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1pPr>
    <a:lvl2pPr marL="45717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2pPr>
    <a:lvl3pPr marL="914339"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3pPr>
    <a:lvl4pPr marL="1371509"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4pPr>
    <a:lvl5pPr marL="1828678"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5pPr>
    <a:lvl6pPr marL="2285848" algn="l" defTabSz="914339" rtl="0" eaLnBrk="1" latinLnBrk="0" hangingPunct="1">
      <a:defRPr sz="1200" kern="1200">
        <a:solidFill>
          <a:schemeClr val="tx1"/>
        </a:solidFill>
        <a:latin typeface="+mn-lt"/>
        <a:ea typeface="+mn-ea"/>
        <a:cs typeface="+mn-cs"/>
      </a:defRPr>
    </a:lvl6pPr>
    <a:lvl7pPr marL="2743016" algn="l" defTabSz="914339" rtl="0" eaLnBrk="1" latinLnBrk="0" hangingPunct="1">
      <a:defRPr sz="1200" kern="1200">
        <a:solidFill>
          <a:schemeClr val="tx1"/>
        </a:solidFill>
        <a:latin typeface="+mn-lt"/>
        <a:ea typeface="+mn-ea"/>
        <a:cs typeface="+mn-cs"/>
      </a:defRPr>
    </a:lvl7pPr>
    <a:lvl8pPr marL="3200187" algn="l" defTabSz="914339" rtl="0" eaLnBrk="1" latinLnBrk="0" hangingPunct="1">
      <a:defRPr sz="1200" kern="1200">
        <a:solidFill>
          <a:schemeClr val="tx1"/>
        </a:solidFill>
        <a:latin typeface="+mn-lt"/>
        <a:ea typeface="+mn-ea"/>
        <a:cs typeface="+mn-cs"/>
      </a:defRPr>
    </a:lvl8pPr>
    <a:lvl9pPr marL="3657355" algn="l" defTabSz="914339"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1</a:t>
            </a:fld>
            <a:endParaRPr lang="en-US">
              <a:solidFill>
                <a:prstClr val="black"/>
              </a:solidFill>
            </a:endParaRPr>
          </a:p>
        </p:txBody>
      </p:sp>
    </p:spTree>
    <p:extLst>
      <p:ext uri="{BB962C8B-B14F-4D97-AF65-F5344CB8AC3E}">
        <p14:creationId xmlns:p14="http://schemas.microsoft.com/office/powerpoint/2010/main" val="36767239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2</a:t>
            </a:fld>
            <a:endParaRPr lang="en-US">
              <a:solidFill>
                <a:prstClr val="black"/>
              </a:solidFill>
            </a:endParaRPr>
          </a:p>
        </p:txBody>
      </p:sp>
    </p:spTree>
    <p:extLst>
      <p:ext uri="{BB962C8B-B14F-4D97-AF65-F5344CB8AC3E}">
        <p14:creationId xmlns:p14="http://schemas.microsoft.com/office/powerpoint/2010/main" val="36767239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3</a:t>
            </a:fld>
            <a:endParaRPr lang="en-US">
              <a:solidFill>
                <a:prstClr val="black"/>
              </a:solidFill>
            </a:endParaRPr>
          </a:p>
        </p:txBody>
      </p:sp>
    </p:spTree>
    <p:extLst>
      <p:ext uri="{BB962C8B-B14F-4D97-AF65-F5344CB8AC3E}">
        <p14:creationId xmlns:p14="http://schemas.microsoft.com/office/powerpoint/2010/main" val="36767239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4</a:t>
            </a:fld>
            <a:endParaRPr lang="en-US">
              <a:solidFill>
                <a:prstClr val="black"/>
              </a:solidFill>
            </a:endParaRPr>
          </a:p>
        </p:txBody>
      </p:sp>
    </p:spTree>
    <p:extLst>
      <p:ext uri="{BB962C8B-B14F-4D97-AF65-F5344CB8AC3E}">
        <p14:creationId xmlns:p14="http://schemas.microsoft.com/office/powerpoint/2010/main" val="36767239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5</a:t>
            </a:fld>
            <a:endParaRPr lang="en-US">
              <a:solidFill>
                <a:prstClr val="black"/>
              </a:solidFill>
            </a:endParaRPr>
          </a:p>
        </p:txBody>
      </p:sp>
    </p:spTree>
    <p:extLst>
      <p:ext uri="{BB962C8B-B14F-4D97-AF65-F5344CB8AC3E}">
        <p14:creationId xmlns:p14="http://schemas.microsoft.com/office/powerpoint/2010/main" val="36767239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6</a:t>
            </a:fld>
            <a:endParaRPr lang="en-US">
              <a:solidFill>
                <a:prstClr val="black"/>
              </a:solidFill>
            </a:endParaRPr>
          </a:p>
        </p:txBody>
      </p:sp>
    </p:spTree>
    <p:extLst>
      <p:ext uri="{BB962C8B-B14F-4D97-AF65-F5344CB8AC3E}">
        <p14:creationId xmlns:p14="http://schemas.microsoft.com/office/powerpoint/2010/main" val="36767239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7</a:t>
            </a:fld>
            <a:endParaRPr lang="en-US">
              <a:solidFill>
                <a:prstClr val="black"/>
              </a:solidFill>
            </a:endParaRPr>
          </a:p>
        </p:txBody>
      </p:sp>
    </p:spTree>
    <p:extLst>
      <p:ext uri="{BB962C8B-B14F-4D97-AF65-F5344CB8AC3E}">
        <p14:creationId xmlns:p14="http://schemas.microsoft.com/office/powerpoint/2010/main" val="36767239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8</a:t>
            </a:fld>
            <a:endParaRPr lang="en-US">
              <a:solidFill>
                <a:prstClr val="black"/>
              </a:solidFill>
            </a:endParaRPr>
          </a:p>
        </p:txBody>
      </p:sp>
    </p:spTree>
    <p:extLst>
      <p:ext uri="{BB962C8B-B14F-4D97-AF65-F5344CB8AC3E}">
        <p14:creationId xmlns:p14="http://schemas.microsoft.com/office/powerpoint/2010/main" val="36767239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9</a:t>
            </a:fld>
            <a:endParaRPr lang="en-US">
              <a:solidFill>
                <a:prstClr val="black"/>
              </a:solidFill>
            </a:endParaRPr>
          </a:p>
        </p:txBody>
      </p:sp>
    </p:spTree>
    <p:extLst>
      <p:ext uri="{BB962C8B-B14F-4D97-AF65-F5344CB8AC3E}">
        <p14:creationId xmlns:p14="http://schemas.microsoft.com/office/powerpoint/2010/main" val="36767239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2" name="矩形 11"/>
          <p:cNvSpPr/>
          <p:nvPr userDrawn="1"/>
        </p:nvSpPr>
        <p:spPr>
          <a:xfrm>
            <a:off x="6170389" y="134946"/>
            <a:ext cx="775136" cy="246221"/>
          </a:xfrm>
          <a:prstGeom prst="rect">
            <a:avLst/>
          </a:prstGeom>
        </p:spPr>
        <p:txBody>
          <a:bodyPr wrap="square">
            <a:spAutoFit/>
          </a:bodyPr>
          <a:lstStyle/>
          <a:p>
            <a:pPr fontAlgn="auto">
              <a:spcBef>
                <a:spcPts val="0"/>
              </a:spcBef>
              <a:spcAft>
                <a:spcPts val="0"/>
              </a:spcAft>
              <a:buFontTx/>
              <a:buNone/>
            </a:pPr>
            <a:r>
              <a:rPr lang="en-US" altLang="zh-CN" sz="100" dirty="0">
                <a:solidFill>
                  <a:prstClr val="white"/>
                </a:solidFill>
                <a:latin typeface="Calibri"/>
                <a:ea typeface="宋体"/>
              </a:rPr>
              <a:t>PPT</a:t>
            </a:r>
            <a:r>
              <a:rPr lang="zh-CN" altLang="en-US" sz="100" dirty="0">
                <a:solidFill>
                  <a:prstClr val="white"/>
                </a:solidFill>
                <a:latin typeface="Calibri"/>
                <a:ea typeface="宋体"/>
              </a:rPr>
              <a:t>模板下载：</a:t>
            </a:r>
            <a:r>
              <a:rPr lang="en-US" altLang="zh-CN" sz="100" dirty="0">
                <a:solidFill>
                  <a:prstClr val="white"/>
                </a:solidFill>
                <a:latin typeface="Calibri"/>
                <a:ea typeface="宋体"/>
              </a:rPr>
              <a:t>www.1ppt.com/moban/     </a:t>
            </a:r>
            <a:r>
              <a:rPr lang="zh-CN" altLang="en-US" sz="100" dirty="0">
                <a:solidFill>
                  <a:prstClr val="white"/>
                </a:solidFill>
                <a:latin typeface="Calibri"/>
                <a:ea typeface="宋体"/>
              </a:rPr>
              <a:t>行业</a:t>
            </a:r>
            <a:r>
              <a:rPr lang="en-US" altLang="zh-CN" sz="100" dirty="0">
                <a:solidFill>
                  <a:prstClr val="white"/>
                </a:solidFill>
                <a:latin typeface="Calibri"/>
                <a:ea typeface="宋体"/>
              </a:rPr>
              <a:t>PPT</a:t>
            </a:r>
            <a:r>
              <a:rPr lang="zh-CN" altLang="en-US" sz="100" dirty="0">
                <a:solidFill>
                  <a:prstClr val="white"/>
                </a:solidFill>
                <a:latin typeface="Calibri"/>
                <a:ea typeface="宋体"/>
              </a:rPr>
              <a:t>模板：</a:t>
            </a:r>
            <a:r>
              <a:rPr lang="en-US" altLang="zh-CN" sz="100" dirty="0">
                <a:solidFill>
                  <a:prstClr val="white"/>
                </a:solidFill>
                <a:latin typeface="Calibri"/>
                <a:ea typeface="宋体"/>
              </a:rPr>
              <a:t>www.1ppt.com/hangye/ </a:t>
            </a:r>
          </a:p>
          <a:p>
            <a:pPr fontAlgn="auto">
              <a:spcBef>
                <a:spcPts val="0"/>
              </a:spcBef>
              <a:spcAft>
                <a:spcPts val="0"/>
              </a:spcAft>
              <a:buFontTx/>
              <a:buNone/>
            </a:pPr>
            <a:r>
              <a:rPr lang="zh-CN" altLang="en-US" sz="100" dirty="0">
                <a:solidFill>
                  <a:prstClr val="white"/>
                </a:solidFill>
                <a:latin typeface="Calibri"/>
                <a:ea typeface="宋体"/>
              </a:rPr>
              <a:t>节日</a:t>
            </a:r>
            <a:r>
              <a:rPr lang="en-US" altLang="zh-CN" sz="100" dirty="0">
                <a:solidFill>
                  <a:prstClr val="white"/>
                </a:solidFill>
                <a:latin typeface="Calibri"/>
                <a:ea typeface="宋体"/>
              </a:rPr>
              <a:t>PPT</a:t>
            </a:r>
            <a:r>
              <a:rPr lang="zh-CN" altLang="en-US" sz="100" dirty="0">
                <a:solidFill>
                  <a:prstClr val="white"/>
                </a:solidFill>
                <a:latin typeface="Calibri"/>
                <a:ea typeface="宋体"/>
              </a:rPr>
              <a:t>模板：</a:t>
            </a:r>
            <a:r>
              <a:rPr lang="en-US" altLang="zh-CN" sz="100" dirty="0">
                <a:solidFill>
                  <a:prstClr val="white"/>
                </a:solidFill>
                <a:latin typeface="Calibri"/>
                <a:ea typeface="宋体"/>
              </a:rPr>
              <a:t>www.1ppt.com/jieri/           PPT</a:t>
            </a:r>
            <a:r>
              <a:rPr lang="zh-CN" altLang="en-US" sz="100" dirty="0">
                <a:solidFill>
                  <a:prstClr val="white"/>
                </a:solidFill>
                <a:latin typeface="Calibri"/>
                <a:ea typeface="宋体"/>
              </a:rPr>
              <a:t>素材下载：</a:t>
            </a:r>
            <a:r>
              <a:rPr lang="en-US" altLang="zh-CN" sz="100" dirty="0">
                <a:solidFill>
                  <a:prstClr val="white"/>
                </a:solidFill>
                <a:latin typeface="Calibri"/>
                <a:ea typeface="宋体"/>
              </a:rPr>
              <a:t>www.1ppt.com/sucai/</a:t>
            </a:r>
          </a:p>
          <a:p>
            <a:pPr fontAlgn="auto">
              <a:spcBef>
                <a:spcPts val="0"/>
              </a:spcBef>
              <a:spcAft>
                <a:spcPts val="0"/>
              </a:spcAft>
              <a:buFontTx/>
              <a:buNone/>
            </a:pPr>
            <a:r>
              <a:rPr lang="en-US" altLang="zh-CN" sz="100" dirty="0">
                <a:solidFill>
                  <a:prstClr val="white"/>
                </a:solidFill>
                <a:latin typeface="Calibri"/>
                <a:ea typeface="宋体"/>
              </a:rPr>
              <a:t>PPT</a:t>
            </a:r>
            <a:r>
              <a:rPr lang="zh-CN" altLang="en-US" sz="100" dirty="0">
                <a:solidFill>
                  <a:prstClr val="white"/>
                </a:solidFill>
                <a:latin typeface="Calibri"/>
                <a:ea typeface="宋体"/>
              </a:rPr>
              <a:t>背景图片：</a:t>
            </a:r>
            <a:r>
              <a:rPr lang="en-US" altLang="zh-CN" sz="100" dirty="0">
                <a:solidFill>
                  <a:prstClr val="white"/>
                </a:solidFill>
                <a:latin typeface="Calibri"/>
                <a:ea typeface="宋体"/>
              </a:rPr>
              <a:t>www.1ppt.com/beijing/      PPT</a:t>
            </a:r>
            <a:r>
              <a:rPr lang="zh-CN" altLang="en-US" sz="100" dirty="0">
                <a:solidFill>
                  <a:prstClr val="white"/>
                </a:solidFill>
                <a:latin typeface="Calibri"/>
                <a:ea typeface="宋体"/>
              </a:rPr>
              <a:t>图表下载：</a:t>
            </a:r>
            <a:r>
              <a:rPr lang="en-US" altLang="zh-CN" sz="100" dirty="0">
                <a:solidFill>
                  <a:prstClr val="white"/>
                </a:solidFill>
                <a:latin typeface="Calibri"/>
                <a:ea typeface="宋体"/>
              </a:rPr>
              <a:t>www.1ppt.com/tubiao/      </a:t>
            </a:r>
          </a:p>
          <a:p>
            <a:pPr fontAlgn="auto">
              <a:spcBef>
                <a:spcPts val="0"/>
              </a:spcBef>
              <a:spcAft>
                <a:spcPts val="0"/>
              </a:spcAft>
              <a:buFontTx/>
              <a:buNone/>
            </a:pPr>
            <a:r>
              <a:rPr lang="zh-CN" altLang="en-US" sz="100" dirty="0">
                <a:solidFill>
                  <a:prstClr val="white"/>
                </a:solidFill>
                <a:latin typeface="Calibri"/>
                <a:ea typeface="宋体"/>
              </a:rPr>
              <a:t>优秀</a:t>
            </a:r>
            <a:r>
              <a:rPr lang="en-US" altLang="zh-CN" sz="100" dirty="0">
                <a:solidFill>
                  <a:prstClr val="white"/>
                </a:solidFill>
                <a:latin typeface="Calibri"/>
                <a:ea typeface="宋体"/>
              </a:rPr>
              <a:t>PPT</a:t>
            </a:r>
            <a:r>
              <a:rPr lang="zh-CN" altLang="en-US" sz="100" dirty="0">
                <a:solidFill>
                  <a:prstClr val="white"/>
                </a:solidFill>
                <a:latin typeface="Calibri"/>
                <a:ea typeface="宋体"/>
              </a:rPr>
              <a:t>下载：</a:t>
            </a:r>
            <a:r>
              <a:rPr lang="en-US" altLang="zh-CN" sz="100" dirty="0">
                <a:solidFill>
                  <a:prstClr val="white"/>
                </a:solidFill>
                <a:latin typeface="Calibri"/>
                <a:ea typeface="宋体"/>
              </a:rPr>
              <a:t>www.1ppt.com/xiazai/        PPT</a:t>
            </a:r>
            <a:r>
              <a:rPr lang="zh-CN" altLang="en-US" sz="100" dirty="0">
                <a:solidFill>
                  <a:prstClr val="white"/>
                </a:solidFill>
                <a:latin typeface="Calibri"/>
                <a:ea typeface="宋体"/>
              </a:rPr>
              <a:t>教程： </a:t>
            </a:r>
            <a:r>
              <a:rPr lang="en-US" altLang="zh-CN" sz="100" dirty="0">
                <a:solidFill>
                  <a:prstClr val="white"/>
                </a:solidFill>
                <a:latin typeface="Calibri"/>
                <a:ea typeface="宋体"/>
              </a:rPr>
              <a:t>www.1ppt.com/powerpoint/      </a:t>
            </a:r>
          </a:p>
          <a:p>
            <a:pPr fontAlgn="auto">
              <a:spcBef>
                <a:spcPts val="0"/>
              </a:spcBef>
              <a:spcAft>
                <a:spcPts val="0"/>
              </a:spcAft>
              <a:buFontTx/>
              <a:buNone/>
            </a:pPr>
            <a:r>
              <a:rPr lang="en-US" altLang="zh-CN" sz="100" dirty="0">
                <a:solidFill>
                  <a:prstClr val="white"/>
                </a:solidFill>
                <a:latin typeface="Calibri"/>
                <a:ea typeface="宋体"/>
              </a:rPr>
              <a:t>Word</a:t>
            </a:r>
            <a:r>
              <a:rPr lang="zh-CN" altLang="en-US" sz="100" dirty="0">
                <a:solidFill>
                  <a:prstClr val="white"/>
                </a:solidFill>
                <a:latin typeface="Calibri"/>
                <a:ea typeface="宋体"/>
              </a:rPr>
              <a:t>教程： </a:t>
            </a:r>
            <a:r>
              <a:rPr lang="en-US" altLang="zh-CN" sz="100" dirty="0">
                <a:solidFill>
                  <a:prstClr val="white"/>
                </a:solidFill>
                <a:latin typeface="Calibri"/>
                <a:ea typeface="宋体"/>
              </a:rPr>
              <a:t>www.1ppt.com/word/              Excel</a:t>
            </a:r>
            <a:r>
              <a:rPr lang="zh-CN" altLang="en-US" sz="100" dirty="0">
                <a:solidFill>
                  <a:prstClr val="white"/>
                </a:solidFill>
                <a:latin typeface="Calibri"/>
                <a:ea typeface="宋体"/>
              </a:rPr>
              <a:t>教程：</a:t>
            </a:r>
            <a:r>
              <a:rPr lang="en-US" altLang="zh-CN" sz="100" dirty="0">
                <a:solidFill>
                  <a:prstClr val="white"/>
                </a:solidFill>
                <a:latin typeface="Calibri"/>
                <a:ea typeface="宋体"/>
              </a:rPr>
              <a:t>www.1ppt.com/excel/  </a:t>
            </a:r>
          </a:p>
          <a:p>
            <a:pPr fontAlgn="auto">
              <a:spcBef>
                <a:spcPts val="0"/>
              </a:spcBef>
              <a:spcAft>
                <a:spcPts val="0"/>
              </a:spcAft>
              <a:buFontTx/>
              <a:buNone/>
            </a:pPr>
            <a:r>
              <a:rPr lang="zh-CN" altLang="en-US" sz="100" dirty="0">
                <a:solidFill>
                  <a:prstClr val="white"/>
                </a:solidFill>
                <a:latin typeface="Calibri"/>
                <a:ea typeface="宋体"/>
              </a:rPr>
              <a:t>资料下载：</a:t>
            </a:r>
            <a:r>
              <a:rPr lang="en-US" altLang="zh-CN" sz="100" dirty="0">
                <a:solidFill>
                  <a:prstClr val="white"/>
                </a:solidFill>
                <a:latin typeface="Calibri"/>
                <a:ea typeface="宋体"/>
              </a:rPr>
              <a:t>www.1ppt.com/ziliao/                PPT</a:t>
            </a:r>
            <a:r>
              <a:rPr lang="zh-CN" altLang="en-US" sz="100" dirty="0">
                <a:solidFill>
                  <a:prstClr val="white"/>
                </a:solidFill>
                <a:latin typeface="Calibri"/>
                <a:ea typeface="宋体"/>
              </a:rPr>
              <a:t>课件下载：</a:t>
            </a:r>
            <a:r>
              <a:rPr lang="en-US" altLang="zh-CN" sz="100" dirty="0">
                <a:solidFill>
                  <a:prstClr val="white"/>
                </a:solidFill>
                <a:latin typeface="Calibri"/>
                <a:ea typeface="宋体"/>
              </a:rPr>
              <a:t>www.1ppt.com/kejian/ </a:t>
            </a:r>
          </a:p>
          <a:p>
            <a:pPr fontAlgn="auto">
              <a:spcBef>
                <a:spcPts val="0"/>
              </a:spcBef>
              <a:spcAft>
                <a:spcPts val="0"/>
              </a:spcAft>
              <a:buFontTx/>
              <a:buNone/>
            </a:pPr>
            <a:r>
              <a:rPr lang="zh-CN" altLang="en-US" sz="100" dirty="0">
                <a:solidFill>
                  <a:prstClr val="white"/>
                </a:solidFill>
                <a:latin typeface="Calibri"/>
                <a:ea typeface="宋体"/>
              </a:rPr>
              <a:t>范文下载：</a:t>
            </a:r>
            <a:r>
              <a:rPr lang="en-US" altLang="zh-CN" sz="100" dirty="0">
                <a:solidFill>
                  <a:prstClr val="white"/>
                </a:solidFill>
                <a:latin typeface="Calibri"/>
                <a:ea typeface="宋体"/>
              </a:rPr>
              <a:t>www.1ppt.com/fanwen/             </a:t>
            </a:r>
            <a:r>
              <a:rPr lang="zh-CN" altLang="en-US" sz="100" dirty="0">
                <a:solidFill>
                  <a:prstClr val="white"/>
                </a:solidFill>
                <a:latin typeface="Calibri"/>
                <a:ea typeface="宋体"/>
              </a:rPr>
              <a:t>试卷下载：</a:t>
            </a:r>
            <a:r>
              <a:rPr lang="en-US" altLang="zh-CN" sz="100" dirty="0">
                <a:solidFill>
                  <a:prstClr val="white"/>
                </a:solidFill>
                <a:latin typeface="Calibri"/>
                <a:ea typeface="宋体"/>
              </a:rPr>
              <a:t>www.1ppt.com/shiti/  </a:t>
            </a:r>
          </a:p>
          <a:p>
            <a:pPr fontAlgn="auto">
              <a:spcBef>
                <a:spcPts val="0"/>
              </a:spcBef>
              <a:spcAft>
                <a:spcPts val="0"/>
              </a:spcAft>
              <a:buFontTx/>
              <a:buNone/>
            </a:pPr>
            <a:r>
              <a:rPr lang="zh-CN" altLang="en-US" sz="100" dirty="0">
                <a:solidFill>
                  <a:prstClr val="white"/>
                </a:solidFill>
                <a:latin typeface="Calibri"/>
                <a:ea typeface="宋体"/>
              </a:rPr>
              <a:t>教案下载：</a:t>
            </a:r>
            <a:r>
              <a:rPr lang="en-US" altLang="zh-CN" sz="100" dirty="0">
                <a:solidFill>
                  <a:prstClr val="white"/>
                </a:solidFill>
                <a:latin typeface="Calibri"/>
                <a:ea typeface="宋体"/>
              </a:rPr>
              <a:t>www.1ppt.com/jiaoan/        </a:t>
            </a:r>
          </a:p>
          <a:p>
            <a:pPr fontAlgn="auto">
              <a:spcBef>
                <a:spcPts val="0"/>
              </a:spcBef>
              <a:spcAft>
                <a:spcPts val="0"/>
              </a:spcAft>
              <a:buFontTx/>
              <a:buNone/>
            </a:pPr>
            <a:r>
              <a:rPr lang="zh-CN" altLang="en-US" sz="100" dirty="0">
                <a:solidFill>
                  <a:prstClr val="white"/>
                </a:solidFill>
                <a:latin typeface="Calibri"/>
                <a:ea typeface="宋体"/>
              </a:rPr>
              <a:t>字体下载：</a:t>
            </a:r>
            <a:r>
              <a:rPr lang="en-US" altLang="zh-CN" sz="100" dirty="0">
                <a:solidFill>
                  <a:prstClr val="white"/>
                </a:solidFill>
                <a:latin typeface="Calibri"/>
                <a:ea typeface="宋体"/>
              </a:rPr>
              <a:t>www.1ppt.com/ziti/</a:t>
            </a:r>
          </a:p>
          <a:p>
            <a:pPr fontAlgn="auto">
              <a:spcBef>
                <a:spcPts val="0"/>
              </a:spcBef>
              <a:spcAft>
                <a:spcPts val="0"/>
              </a:spcAft>
              <a:buFontTx/>
              <a:buNone/>
            </a:pPr>
            <a:r>
              <a:rPr lang="en-US" altLang="zh-CN" sz="100" dirty="0">
                <a:solidFill>
                  <a:prstClr val="white"/>
                </a:solidFill>
                <a:latin typeface="Calibri"/>
                <a:ea typeface="宋体"/>
              </a:rPr>
              <a:t> </a:t>
            </a:r>
            <a:endParaRPr lang="zh-CN" altLang="en-US" sz="100" dirty="0">
              <a:solidFill>
                <a:prstClr val="white"/>
              </a:solidFill>
              <a:latin typeface="Calibri"/>
              <a:ea typeface="宋体"/>
            </a:endParaRPr>
          </a:p>
        </p:txBody>
      </p:sp>
      <p:sp>
        <p:nvSpPr>
          <p:cNvPr id="2" name="标题 1"/>
          <p:cNvSpPr>
            <a:spLocks noGrp="1"/>
          </p:cNvSpPr>
          <p:nvPr>
            <p:ph type="title"/>
          </p:nvPr>
        </p:nvSpPr>
        <p:spPr>
          <a:xfrm>
            <a:off x="825625" y="908051"/>
            <a:ext cx="10601349" cy="635000"/>
          </a:xfrm>
        </p:spPr>
        <p:txBody>
          <a:bodyPr/>
          <a:lstStyle>
            <a:lvl1pPr>
              <a:defRPr>
                <a:solidFill>
                  <a:schemeClr val="accent1"/>
                </a:solidFill>
              </a:defRPr>
            </a:lvl1pPr>
          </a:lstStyle>
          <a:p>
            <a:r>
              <a:rPr lang="zh-CN" altLang="en-US"/>
              <a:t>单击此处编辑母版标题样式</a:t>
            </a:r>
          </a:p>
        </p:txBody>
      </p:sp>
      <p:sp>
        <p:nvSpPr>
          <p:cNvPr id="3" name="内容占位符 2"/>
          <p:cNvSpPr>
            <a:spLocks noGrp="1"/>
          </p:cNvSpPr>
          <p:nvPr>
            <p:ph idx="1"/>
          </p:nvPr>
        </p:nvSpPr>
        <p:spPr>
          <a:xfrm>
            <a:off x="825625" y="1600201"/>
            <a:ext cx="10601349" cy="4525963"/>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Freeform 5"/>
          <p:cNvSpPr/>
          <p:nvPr userDrawn="1"/>
        </p:nvSpPr>
        <p:spPr bwMode="auto">
          <a:xfrm>
            <a:off x="63836" y="73173"/>
            <a:ext cx="1227153" cy="486467"/>
          </a:xfrm>
          <a:custGeom>
            <a:avLst/>
            <a:gdLst>
              <a:gd name="T0" fmla="*/ 0 w 1600"/>
              <a:gd name="T1" fmla="*/ 0 h 617"/>
              <a:gd name="T2" fmla="*/ 1429 w 1600"/>
              <a:gd name="T3" fmla="*/ 0 h 617"/>
              <a:gd name="T4" fmla="*/ 1600 w 1600"/>
              <a:gd name="T5" fmla="*/ 308 h 617"/>
              <a:gd name="T6" fmla="*/ 1429 w 1600"/>
              <a:gd name="T7" fmla="*/ 617 h 617"/>
              <a:gd name="T8" fmla="*/ 0 w 1600"/>
              <a:gd name="T9" fmla="*/ 617 h 617"/>
              <a:gd name="T10" fmla="*/ 0 w 1600"/>
              <a:gd name="T11" fmla="*/ 0 h 617"/>
            </a:gdLst>
            <a:ahLst/>
            <a:cxnLst>
              <a:cxn ang="0">
                <a:pos x="T0" y="T1"/>
              </a:cxn>
              <a:cxn ang="0">
                <a:pos x="T2" y="T3"/>
              </a:cxn>
              <a:cxn ang="0">
                <a:pos x="T4" y="T5"/>
              </a:cxn>
              <a:cxn ang="0">
                <a:pos x="T6" y="T7"/>
              </a:cxn>
              <a:cxn ang="0">
                <a:pos x="T8" y="T9"/>
              </a:cxn>
              <a:cxn ang="0">
                <a:pos x="T10" y="T11"/>
              </a:cxn>
            </a:cxnLst>
            <a:rect l="0" t="0" r="r" b="b"/>
            <a:pathLst>
              <a:path w="1600" h="617">
                <a:moveTo>
                  <a:pt x="0" y="0"/>
                </a:moveTo>
                <a:lnTo>
                  <a:pt x="1429" y="0"/>
                </a:lnTo>
                <a:lnTo>
                  <a:pt x="1600" y="308"/>
                </a:lnTo>
                <a:lnTo>
                  <a:pt x="1429" y="617"/>
                </a:lnTo>
                <a:lnTo>
                  <a:pt x="0" y="617"/>
                </a:lnTo>
                <a:lnTo>
                  <a:pt x="0" y="0"/>
                </a:lnTo>
                <a:close/>
              </a:path>
            </a:pathLst>
          </a:custGeom>
          <a:solidFill>
            <a:schemeClr val="tx1"/>
          </a:solidFill>
          <a:ln>
            <a:noFill/>
          </a:ln>
        </p:spPr>
        <p:txBody>
          <a:bodyPr vert="horz" wrap="square" lIns="91434" tIns="45717" rIns="91434" bIns="45717" numCol="1" anchor="t" anchorCtr="0" compatLnSpc="1"/>
          <a:lstStyle/>
          <a:p>
            <a:endParaRPr lang="zh-CN" altLang="en-US"/>
          </a:p>
        </p:txBody>
      </p:sp>
      <p:sp>
        <p:nvSpPr>
          <p:cNvPr id="9" name="Freeform 6"/>
          <p:cNvSpPr/>
          <p:nvPr userDrawn="1"/>
        </p:nvSpPr>
        <p:spPr bwMode="auto">
          <a:xfrm>
            <a:off x="1196835" y="73173"/>
            <a:ext cx="10215809" cy="486467"/>
          </a:xfrm>
          <a:custGeom>
            <a:avLst/>
            <a:gdLst>
              <a:gd name="T0" fmla="*/ 0 w 13327"/>
              <a:gd name="T1" fmla="*/ 0 h 617"/>
              <a:gd name="T2" fmla="*/ 13155 w 13327"/>
              <a:gd name="T3" fmla="*/ 0 h 617"/>
              <a:gd name="T4" fmla="*/ 13327 w 13327"/>
              <a:gd name="T5" fmla="*/ 308 h 617"/>
              <a:gd name="T6" fmla="*/ 13155 w 13327"/>
              <a:gd name="T7" fmla="*/ 617 h 617"/>
              <a:gd name="T8" fmla="*/ 0 w 13327"/>
              <a:gd name="T9" fmla="*/ 617 h 617"/>
              <a:gd name="T10" fmla="*/ 171 w 13327"/>
              <a:gd name="T11" fmla="*/ 308 h 617"/>
              <a:gd name="T12" fmla="*/ 0 w 13327"/>
              <a:gd name="T13" fmla="*/ 0 h 617"/>
            </a:gdLst>
            <a:ahLst/>
            <a:cxnLst>
              <a:cxn ang="0">
                <a:pos x="T0" y="T1"/>
              </a:cxn>
              <a:cxn ang="0">
                <a:pos x="T2" y="T3"/>
              </a:cxn>
              <a:cxn ang="0">
                <a:pos x="T4" y="T5"/>
              </a:cxn>
              <a:cxn ang="0">
                <a:pos x="T6" y="T7"/>
              </a:cxn>
              <a:cxn ang="0">
                <a:pos x="T8" y="T9"/>
              </a:cxn>
              <a:cxn ang="0">
                <a:pos x="T10" y="T11"/>
              </a:cxn>
              <a:cxn ang="0">
                <a:pos x="T12" y="T13"/>
              </a:cxn>
            </a:cxnLst>
            <a:rect l="0" t="0" r="r" b="b"/>
            <a:pathLst>
              <a:path w="13327" h="617">
                <a:moveTo>
                  <a:pt x="0" y="0"/>
                </a:moveTo>
                <a:lnTo>
                  <a:pt x="13155" y="0"/>
                </a:lnTo>
                <a:lnTo>
                  <a:pt x="13327" y="308"/>
                </a:lnTo>
                <a:lnTo>
                  <a:pt x="13155" y="617"/>
                </a:lnTo>
                <a:lnTo>
                  <a:pt x="0" y="617"/>
                </a:lnTo>
                <a:lnTo>
                  <a:pt x="171" y="308"/>
                </a:lnTo>
                <a:lnTo>
                  <a:pt x="0" y="0"/>
                </a:lnTo>
                <a:close/>
              </a:path>
            </a:pathLst>
          </a:custGeom>
          <a:solidFill>
            <a:schemeClr val="accent1"/>
          </a:solidFill>
          <a:ln>
            <a:noFill/>
          </a:ln>
        </p:spPr>
        <p:txBody>
          <a:bodyPr vert="horz" wrap="square" lIns="91434" tIns="45717" rIns="91434" bIns="45717" numCol="1" anchor="t" anchorCtr="0" compatLnSpc="1"/>
          <a:lstStyle/>
          <a:p>
            <a:endParaRPr lang="zh-CN" altLang="en-US"/>
          </a:p>
        </p:txBody>
      </p:sp>
      <p:sp>
        <p:nvSpPr>
          <p:cNvPr id="10" name="Freeform 7"/>
          <p:cNvSpPr/>
          <p:nvPr userDrawn="1"/>
        </p:nvSpPr>
        <p:spPr bwMode="auto">
          <a:xfrm>
            <a:off x="11320057" y="73173"/>
            <a:ext cx="812871" cy="486467"/>
          </a:xfrm>
          <a:custGeom>
            <a:avLst/>
            <a:gdLst>
              <a:gd name="T0" fmla="*/ 0 w 1060"/>
              <a:gd name="T1" fmla="*/ 0 h 617"/>
              <a:gd name="T2" fmla="*/ 1060 w 1060"/>
              <a:gd name="T3" fmla="*/ 0 h 617"/>
              <a:gd name="T4" fmla="*/ 1060 w 1060"/>
              <a:gd name="T5" fmla="*/ 617 h 617"/>
              <a:gd name="T6" fmla="*/ 0 w 1060"/>
              <a:gd name="T7" fmla="*/ 617 h 617"/>
              <a:gd name="T8" fmla="*/ 172 w 1060"/>
              <a:gd name="T9" fmla="*/ 308 h 617"/>
              <a:gd name="T10" fmla="*/ 0 w 1060"/>
              <a:gd name="T11" fmla="*/ 0 h 617"/>
            </a:gdLst>
            <a:ahLst/>
            <a:cxnLst>
              <a:cxn ang="0">
                <a:pos x="T0" y="T1"/>
              </a:cxn>
              <a:cxn ang="0">
                <a:pos x="T2" y="T3"/>
              </a:cxn>
              <a:cxn ang="0">
                <a:pos x="T4" y="T5"/>
              </a:cxn>
              <a:cxn ang="0">
                <a:pos x="T6" y="T7"/>
              </a:cxn>
              <a:cxn ang="0">
                <a:pos x="T8" y="T9"/>
              </a:cxn>
              <a:cxn ang="0">
                <a:pos x="T10" y="T11"/>
              </a:cxn>
            </a:cxnLst>
            <a:rect l="0" t="0" r="r" b="b"/>
            <a:pathLst>
              <a:path w="1060" h="617">
                <a:moveTo>
                  <a:pt x="0" y="0"/>
                </a:moveTo>
                <a:lnTo>
                  <a:pt x="1060" y="0"/>
                </a:lnTo>
                <a:lnTo>
                  <a:pt x="1060" y="617"/>
                </a:lnTo>
                <a:lnTo>
                  <a:pt x="0" y="617"/>
                </a:lnTo>
                <a:lnTo>
                  <a:pt x="172" y="308"/>
                </a:lnTo>
                <a:lnTo>
                  <a:pt x="0" y="0"/>
                </a:lnTo>
                <a:close/>
              </a:path>
            </a:pathLst>
          </a:custGeom>
          <a:solidFill>
            <a:schemeClr val="accent1"/>
          </a:solidFill>
          <a:ln>
            <a:noFill/>
          </a:ln>
        </p:spPr>
        <p:txBody>
          <a:bodyPr vert="horz" wrap="square" lIns="91434" tIns="45717" rIns="91434" bIns="45717" numCol="1" anchor="t" anchorCtr="0" compatLnSpc="1"/>
          <a:lstStyle/>
          <a:p>
            <a:endParaRPr lang="zh-CN" altLang="en-US"/>
          </a:p>
        </p:txBody>
      </p:sp>
      <p:sp>
        <p:nvSpPr>
          <p:cNvPr id="15" name="TextBox 14"/>
          <p:cNvSpPr txBox="1"/>
          <p:nvPr userDrawn="1"/>
        </p:nvSpPr>
        <p:spPr>
          <a:xfrm>
            <a:off x="11537052" y="116633"/>
            <a:ext cx="474797" cy="353937"/>
          </a:xfrm>
          <a:prstGeom prst="rect">
            <a:avLst/>
          </a:prstGeom>
          <a:noFill/>
        </p:spPr>
        <p:txBody>
          <a:bodyPr wrap="none" lIns="91434" tIns="45717" rIns="91434" bIns="45717" rtlCol="0">
            <a:spAutoFit/>
          </a:bodyPr>
          <a:lstStyle/>
          <a:p>
            <a:pPr algn="ctr"/>
            <a:fld id="{B879B013-EF15-44F9-9A4C-93BE492C244C}" type="slidenum">
              <a:rPr lang="zh-CN" altLang="en-US" sz="1700" smtClean="0">
                <a:solidFill>
                  <a:schemeClr val="accent2"/>
                </a:solidFill>
                <a:latin typeface="+mn-ea"/>
                <a:ea typeface="+mn-ea"/>
              </a:rPr>
              <a:pPr algn="ctr"/>
              <a:t>‹#›</a:t>
            </a:fld>
            <a:endParaRPr lang="zh-CN" altLang="en-US" sz="1700" dirty="0">
              <a:solidFill>
                <a:schemeClr val="accent2"/>
              </a:solidFill>
              <a:latin typeface="+mn-ea"/>
              <a:ea typeface="+mn-ea"/>
            </a:endParaRPr>
          </a:p>
        </p:txBody>
      </p:sp>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14:presetBounceEnd="33000">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14:bounceEnd="33000">
                                          <p:cBhvr additive="base">
                                            <p:cTn id="7" dur="300" fill="hold"/>
                                            <p:tgtEl>
                                              <p:spTgt spid="8"/>
                                            </p:tgtEl>
                                            <p:attrNameLst>
                                              <p:attrName>ppt_x</p:attrName>
                                            </p:attrNameLst>
                                          </p:cBhvr>
                                          <p:tavLst>
                                            <p:tav tm="0">
                                              <p:val>
                                                <p:strVal val="0-#ppt_w/2"/>
                                              </p:val>
                                            </p:tav>
                                            <p:tav tm="100000">
                                              <p:val>
                                                <p:strVal val="#ppt_x"/>
                                              </p:val>
                                            </p:tav>
                                          </p:tavLst>
                                        </p:anim>
                                        <p:anim calcmode="lin" valueType="num" p14:bounceEnd="33000">
                                          <p:cBhvr additive="base">
                                            <p:cTn id="8" dur="3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300"/>
                                            <p:tgtEl>
                                              <p:spTgt spid="9"/>
                                            </p:tgtEl>
                                          </p:cBhvr>
                                        </p:animEffect>
                                      </p:childTnLst>
                                    </p:cTn>
                                  </p:par>
                                </p:childTnLst>
                              </p:cTn>
                            </p:par>
                            <p:par>
                              <p:cTn id="13" fill="hold">
                                <p:stCondLst>
                                  <p:cond delay="1000"/>
                                </p:stCondLst>
                                <p:childTnLst>
                                  <p:par>
                                    <p:cTn id="14" presetID="2" presetClass="entr" presetSubtype="2" fill="hold" grpId="0" nodeType="afterEffect" p14:presetBounceEnd="33000">
                                      <p:stCondLst>
                                        <p:cond delay="0"/>
                                      </p:stCondLst>
                                      <p:childTnLst>
                                        <p:set>
                                          <p:cBhvr>
                                            <p:cTn id="15" dur="1" fill="hold">
                                              <p:stCondLst>
                                                <p:cond delay="0"/>
                                              </p:stCondLst>
                                            </p:cTn>
                                            <p:tgtEl>
                                              <p:spTgt spid="10"/>
                                            </p:tgtEl>
                                            <p:attrNameLst>
                                              <p:attrName>style.visibility</p:attrName>
                                            </p:attrNameLst>
                                          </p:cBhvr>
                                          <p:to>
                                            <p:strVal val="visible"/>
                                          </p:to>
                                        </p:set>
                                        <p:anim calcmode="lin" valueType="num" p14:bounceEnd="33000">
                                          <p:cBhvr additive="base">
                                            <p:cTn id="16" dur="300" fill="hold"/>
                                            <p:tgtEl>
                                              <p:spTgt spid="10"/>
                                            </p:tgtEl>
                                            <p:attrNameLst>
                                              <p:attrName>ppt_x</p:attrName>
                                            </p:attrNameLst>
                                          </p:cBhvr>
                                          <p:tavLst>
                                            <p:tav tm="0">
                                              <p:val>
                                                <p:strVal val="1+#ppt_w/2"/>
                                              </p:val>
                                            </p:tav>
                                            <p:tav tm="100000">
                                              <p:val>
                                                <p:strVal val="#ppt_x"/>
                                              </p:val>
                                            </p:tav>
                                          </p:tavLst>
                                        </p:anim>
                                        <p:anim calcmode="lin" valueType="num" p14:bounceEnd="33000">
                                          <p:cBhvr additive="base">
                                            <p:cTn id="17" dur="3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300" fill="hold"/>
                                            <p:tgtEl>
                                              <p:spTgt spid="8"/>
                                            </p:tgtEl>
                                            <p:attrNameLst>
                                              <p:attrName>ppt_x</p:attrName>
                                            </p:attrNameLst>
                                          </p:cBhvr>
                                          <p:tavLst>
                                            <p:tav tm="0">
                                              <p:val>
                                                <p:strVal val="0-#ppt_w/2"/>
                                              </p:val>
                                            </p:tav>
                                            <p:tav tm="100000">
                                              <p:val>
                                                <p:strVal val="#ppt_x"/>
                                              </p:val>
                                            </p:tav>
                                          </p:tavLst>
                                        </p:anim>
                                        <p:anim calcmode="lin" valueType="num">
                                          <p:cBhvr additive="base">
                                            <p:cTn id="8" dur="3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300"/>
                                            <p:tgtEl>
                                              <p:spTgt spid="9"/>
                                            </p:tgtEl>
                                          </p:cBhvr>
                                        </p:animEffect>
                                      </p:childTnLst>
                                    </p:cTn>
                                  </p:par>
                                </p:childTnLst>
                              </p:cTn>
                            </p:par>
                            <p:par>
                              <p:cTn id="13" fill="hold">
                                <p:stCondLst>
                                  <p:cond delay="1000"/>
                                </p:stCondLst>
                                <p:childTnLst>
                                  <p:par>
                                    <p:cTn id="14" presetID="2" presetClass="entr" presetSubtype="2"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 calcmode="lin" valueType="num">
                                          <p:cBhvr additive="base">
                                            <p:cTn id="16" dur="300" fill="hold"/>
                                            <p:tgtEl>
                                              <p:spTgt spid="10"/>
                                            </p:tgtEl>
                                            <p:attrNameLst>
                                              <p:attrName>ppt_x</p:attrName>
                                            </p:attrNameLst>
                                          </p:cBhvr>
                                          <p:tavLst>
                                            <p:tav tm="0">
                                              <p:val>
                                                <p:strVal val="1+#ppt_w/2"/>
                                              </p:val>
                                            </p:tav>
                                            <p:tav tm="100000">
                                              <p:val>
                                                <p:strVal val="#ppt_x"/>
                                              </p:val>
                                            </p:tav>
                                          </p:tavLst>
                                        </p:anim>
                                        <p:anim calcmode="lin" valueType="num">
                                          <p:cBhvr additive="base">
                                            <p:cTn id="17" dur="3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63614" y="4406901"/>
            <a:ext cx="10366375" cy="1362075"/>
          </a:xfrm>
        </p:spPr>
        <p:txBody>
          <a:bodyPr anchor="t"/>
          <a:lstStyle>
            <a:lvl1pPr algn="l">
              <a:defRPr sz="4000" b="1" cap="all">
                <a:solidFill>
                  <a:srgbClr val="F8F8F8"/>
                </a:solidFill>
              </a:defRPr>
            </a:lvl1pPr>
          </a:lstStyle>
          <a:p>
            <a:r>
              <a:rPr lang="zh-CN" altLang="en-US"/>
              <a:t>单击此处编辑母版标题样式</a:t>
            </a:r>
          </a:p>
        </p:txBody>
      </p:sp>
      <p:sp>
        <p:nvSpPr>
          <p:cNvPr id="3" name="文本占位符 2"/>
          <p:cNvSpPr>
            <a:spLocks noGrp="1"/>
          </p:cNvSpPr>
          <p:nvPr>
            <p:ph type="body" idx="1"/>
          </p:nvPr>
        </p:nvSpPr>
        <p:spPr>
          <a:xfrm>
            <a:off x="963614" y="2906713"/>
            <a:ext cx="10366375" cy="1500187"/>
          </a:xfrm>
        </p:spPr>
        <p:txBody>
          <a:bodyPr anchor="b"/>
          <a:lstStyle>
            <a:lvl1pPr marL="0" indent="0">
              <a:buNone/>
              <a:defRPr sz="2000">
                <a:solidFill>
                  <a:srgbClr val="F8F8F8"/>
                </a:solidFill>
              </a:defRPr>
            </a:lvl1pPr>
            <a:lvl2pPr marL="457170" indent="0">
              <a:buNone/>
              <a:defRPr sz="1700"/>
            </a:lvl2pPr>
            <a:lvl3pPr marL="914339" indent="0">
              <a:buNone/>
              <a:defRPr sz="1600"/>
            </a:lvl3pPr>
            <a:lvl4pPr marL="1371509" indent="0">
              <a:buNone/>
              <a:defRPr sz="1300"/>
            </a:lvl4pPr>
            <a:lvl5pPr marL="1828678" indent="0">
              <a:buNone/>
              <a:defRPr sz="1300"/>
            </a:lvl5pPr>
            <a:lvl6pPr marL="2285848" indent="0">
              <a:buNone/>
              <a:defRPr sz="1300"/>
            </a:lvl6pPr>
            <a:lvl7pPr marL="2743016" indent="0">
              <a:buNone/>
              <a:defRPr sz="1300"/>
            </a:lvl7pPr>
            <a:lvl8pPr marL="3200187" indent="0">
              <a:buNone/>
              <a:defRPr sz="1300"/>
            </a:lvl8pPr>
            <a:lvl9pPr marL="3657355" indent="0">
              <a:buNone/>
              <a:defRPr sz="1300"/>
            </a:lvl9pPr>
          </a:lstStyle>
          <a:p>
            <a:pPr lvl="0"/>
            <a:r>
              <a:rPr lang="zh-CN" altLang="en-US"/>
              <a:t>单击此处编辑母版文本样式</a:t>
            </a:r>
          </a:p>
        </p:txBody>
      </p:sp>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599" y="1600201"/>
            <a:ext cx="5411788" cy="4525963"/>
          </a:xfrm>
        </p:spPr>
        <p:txBody>
          <a:bodyPr/>
          <a:lstStyle>
            <a:lvl1pPr>
              <a:defRPr sz="2800"/>
            </a:lvl1pPr>
            <a:lvl2pPr>
              <a:defRPr sz="2400"/>
            </a:lvl2pPr>
            <a:lvl3pPr>
              <a:defRPr sz="2000"/>
            </a:lvl3pPr>
            <a:lvl4pPr>
              <a:defRPr sz="1700"/>
            </a:lvl4pPr>
            <a:lvl5pPr>
              <a:defRPr sz="1700"/>
            </a:lvl5pPr>
            <a:lvl6pPr>
              <a:defRPr sz="1700"/>
            </a:lvl6pPr>
            <a:lvl7pPr>
              <a:defRPr sz="1700"/>
            </a:lvl7pPr>
            <a:lvl8pPr>
              <a:defRPr sz="1700"/>
            </a:lvl8pPr>
            <a:lvl9pPr>
              <a:defRPr sz="17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3788" y="1600201"/>
            <a:ext cx="5413375" cy="4525963"/>
          </a:xfrm>
        </p:spPr>
        <p:txBody>
          <a:bodyPr/>
          <a:lstStyle>
            <a:lvl1pPr>
              <a:defRPr sz="2800"/>
            </a:lvl1pPr>
            <a:lvl2pPr>
              <a:defRPr sz="2400"/>
            </a:lvl2pPr>
            <a:lvl3pPr>
              <a:defRPr sz="2000"/>
            </a:lvl3pPr>
            <a:lvl4pPr>
              <a:defRPr sz="1700"/>
            </a:lvl4pPr>
            <a:lvl5pPr>
              <a:defRPr sz="1700"/>
            </a:lvl5pPr>
            <a:lvl6pPr>
              <a:defRPr sz="1700"/>
            </a:lvl6pPr>
            <a:lvl7pPr>
              <a:defRPr sz="1700"/>
            </a:lvl7pPr>
            <a:lvl8pPr>
              <a:defRPr sz="1700"/>
            </a:lvl8pPr>
            <a:lvl9pPr>
              <a:defRPr sz="17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pic>
        <p:nvPicPr>
          <p:cNvPr id="5" name="图片 13" descr="泰迪logo无底色.png">
            <a:extLst>
              <a:ext uri="{FF2B5EF4-FFF2-40B4-BE49-F238E27FC236}">
                <a16:creationId xmlns:a16="http://schemas.microsoft.com/office/drawing/2014/main" xmlns="" id="{6E7842DF-66E6-42B7-A225-E6735EEA8AB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01940" y="6309320"/>
            <a:ext cx="918092" cy="242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1" y="274637"/>
            <a:ext cx="10977563"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1" y="1535113"/>
            <a:ext cx="5389563" cy="639763"/>
          </a:xfrm>
        </p:spPr>
        <p:txBody>
          <a:bodyPr anchor="b"/>
          <a:lstStyle>
            <a:lvl1pPr marL="0" indent="0">
              <a:buNone/>
              <a:defRPr sz="2400" b="1"/>
            </a:lvl1pPr>
            <a:lvl2pPr marL="457170" indent="0">
              <a:buNone/>
              <a:defRPr sz="2000" b="1"/>
            </a:lvl2pPr>
            <a:lvl3pPr marL="914339" indent="0">
              <a:buNone/>
              <a:defRPr sz="1700" b="1"/>
            </a:lvl3pPr>
            <a:lvl4pPr marL="1371509" indent="0">
              <a:buNone/>
              <a:defRPr sz="1600" b="1"/>
            </a:lvl4pPr>
            <a:lvl5pPr marL="1828678" indent="0">
              <a:buNone/>
              <a:defRPr sz="1600" b="1"/>
            </a:lvl5pPr>
            <a:lvl6pPr marL="2285848" indent="0">
              <a:buNone/>
              <a:defRPr sz="1600" b="1"/>
            </a:lvl6pPr>
            <a:lvl7pPr marL="2743016" indent="0">
              <a:buNone/>
              <a:defRPr sz="1600" b="1"/>
            </a:lvl7pPr>
            <a:lvl8pPr marL="3200187" indent="0">
              <a:buNone/>
              <a:defRPr sz="1600" b="1"/>
            </a:lvl8pPr>
            <a:lvl9pPr marL="3657355"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1" y="2174875"/>
            <a:ext cx="5389563" cy="3951288"/>
          </a:xfrm>
        </p:spPr>
        <p:txBody>
          <a:bodyPr/>
          <a:lstStyle>
            <a:lvl1pPr>
              <a:defRPr sz="2400"/>
            </a:lvl1pPr>
            <a:lvl2pPr>
              <a:defRPr sz="2000"/>
            </a:lvl2pPr>
            <a:lvl3pPr>
              <a:defRPr sz="17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6013" y="1535113"/>
            <a:ext cx="5391151" cy="639763"/>
          </a:xfrm>
        </p:spPr>
        <p:txBody>
          <a:bodyPr anchor="b"/>
          <a:lstStyle>
            <a:lvl1pPr marL="0" indent="0">
              <a:buNone/>
              <a:defRPr sz="2400" b="1"/>
            </a:lvl1pPr>
            <a:lvl2pPr marL="457170" indent="0">
              <a:buNone/>
              <a:defRPr sz="2000" b="1"/>
            </a:lvl2pPr>
            <a:lvl3pPr marL="914339" indent="0">
              <a:buNone/>
              <a:defRPr sz="1700" b="1"/>
            </a:lvl3pPr>
            <a:lvl4pPr marL="1371509" indent="0">
              <a:buNone/>
              <a:defRPr sz="1600" b="1"/>
            </a:lvl4pPr>
            <a:lvl5pPr marL="1828678" indent="0">
              <a:buNone/>
              <a:defRPr sz="1600" b="1"/>
            </a:lvl5pPr>
            <a:lvl6pPr marL="2285848" indent="0">
              <a:buNone/>
              <a:defRPr sz="1600" b="1"/>
            </a:lvl6pPr>
            <a:lvl7pPr marL="2743016" indent="0">
              <a:buNone/>
              <a:defRPr sz="1600" b="1"/>
            </a:lvl7pPr>
            <a:lvl8pPr marL="3200187" indent="0">
              <a:buNone/>
              <a:defRPr sz="1600" b="1"/>
            </a:lvl8pPr>
            <a:lvl9pPr marL="3657355"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6013" y="2174875"/>
            <a:ext cx="5391151" cy="3951288"/>
          </a:xfrm>
        </p:spPr>
        <p:txBody>
          <a:bodyPr/>
          <a:lstStyle>
            <a:lvl1pPr>
              <a:defRPr sz="2400"/>
            </a:lvl1pPr>
            <a:lvl2pPr>
              <a:defRPr sz="2000"/>
            </a:lvl2pPr>
            <a:lvl3pPr>
              <a:defRPr sz="17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49"/>
            <a:ext cx="4013201" cy="1162051"/>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8850" y="273052"/>
            <a:ext cx="681831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0" y="1435102"/>
            <a:ext cx="4013201" cy="4691063"/>
          </a:xfrm>
        </p:spPr>
        <p:txBody>
          <a:bodyPr/>
          <a:lstStyle>
            <a:lvl1pPr marL="0" indent="0">
              <a:buNone/>
              <a:defRPr sz="1300"/>
            </a:lvl1pPr>
            <a:lvl2pPr marL="457170" indent="0">
              <a:buNone/>
              <a:defRPr sz="1200"/>
            </a:lvl2pPr>
            <a:lvl3pPr marL="914339" indent="0">
              <a:buNone/>
              <a:defRPr sz="900"/>
            </a:lvl3pPr>
            <a:lvl4pPr marL="1371509" indent="0">
              <a:buNone/>
              <a:defRPr sz="900"/>
            </a:lvl4pPr>
            <a:lvl5pPr marL="1828678" indent="0">
              <a:buNone/>
              <a:defRPr sz="900"/>
            </a:lvl5pPr>
            <a:lvl6pPr marL="2285848" indent="0">
              <a:buNone/>
              <a:defRPr sz="900"/>
            </a:lvl6pPr>
            <a:lvl7pPr marL="2743016" indent="0">
              <a:buNone/>
              <a:defRPr sz="900"/>
            </a:lvl7pPr>
            <a:lvl8pPr marL="3200187" indent="0">
              <a:buNone/>
              <a:defRPr sz="900"/>
            </a:lvl8pPr>
            <a:lvl9pPr marL="3657355" indent="0">
              <a:buNone/>
              <a:defRPr sz="900"/>
            </a:lvl9pPr>
          </a:lstStyle>
          <a:p>
            <a:pPr lvl="0"/>
            <a:r>
              <a:rPr lang="zh-CN" altLang="en-US"/>
              <a:t>单击此处编辑母版文本样式</a:t>
            </a:r>
          </a:p>
        </p:txBody>
      </p:sp>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775" y="4800600"/>
            <a:ext cx="7318375" cy="566739"/>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90775" y="612775"/>
            <a:ext cx="7318375" cy="4114800"/>
          </a:xfrm>
        </p:spPr>
        <p:txBody>
          <a:bodyPr/>
          <a:lstStyle>
            <a:lvl1pPr marL="0" indent="0">
              <a:buNone/>
              <a:defRPr sz="3200"/>
            </a:lvl1pPr>
            <a:lvl2pPr marL="457170" indent="0">
              <a:buNone/>
              <a:defRPr sz="2800"/>
            </a:lvl2pPr>
            <a:lvl3pPr marL="914339" indent="0">
              <a:buNone/>
              <a:defRPr sz="2400"/>
            </a:lvl3pPr>
            <a:lvl4pPr marL="1371509" indent="0">
              <a:buNone/>
              <a:defRPr sz="2000"/>
            </a:lvl4pPr>
            <a:lvl5pPr marL="1828678" indent="0">
              <a:buNone/>
              <a:defRPr sz="2000"/>
            </a:lvl5pPr>
            <a:lvl6pPr marL="2285848" indent="0">
              <a:buNone/>
              <a:defRPr sz="2000"/>
            </a:lvl6pPr>
            <a:lvl7pPr marL="2743016" indent="0">
              <a:buNone/>
              <a:defRPr sz="2000"/>
            </a:lvl7pPr>
            <a:lvl8pPr marL="3200187" indent="0">
              <a:buNone/>
              <a:defRPr sz="2000"/>
            </a:lvl8pPr>
            <a:lvl9pPr marL="3657355" indent="0">
              <a:buNone/>
              <a:defRPr sz="2000"/>
            </a:lvl9pPr>
          </a:lstStyle>
          <a:p>
            <a:endParaRPr lang="zh-CN" altLang="en-US"/>
          </a:p>
        </p:txBody>
      </p:sp>
      <p:sp>
        <p:nvSpPr>
          <p:cNvPr id="4" name="文本占位符 3"/>
          <p:cNvSpPr>
            <a:spLocks noGrp="1"/>
          </p:cNvSpPr>
          <p:nvPr>
            <p:ph type="body" sz="half" idx="2"/>
          </p:nvPr>
        </p:nvSpPr>
        <p:spPr>
          <a:xfrm>
            <a:off x="2390775" y="5367338"/>
            <a:ext cx="7318375" cy="804863"/>
          </a:xfrm>
        </p:spPr>
        <p:txBody>
          <a:bodyPr/>
          <a:lstStyle>
            <a:lvl1pPr marL="0" indent="0">
              <a:buNone/>
              <a:defRPr sz="1300"/>
            </a:lvl1pPr>
            <a:lvl2pPr marL="457170" indent="0">
              <a:buNone/>
              <a:defRPr sz="1200"/>
            </a:lvl2pPr>
            <a:lvl3pPr marL="914339" indent="0">
              <a:buNone/>
              <a:defRPr sz="900"/>
            </a:lvl3pPr>
            <a:lvl4pPr marL="1371509" indent="0">
              <a:buNone/>
              <a:defRPr sz="900"/>
            </a:lvl4pPr>
            <a:lvl5pPr marL="1828678" indent="0">
              <a:buNone/>
              <a:defRPr sz="900"/>
            </a:lvl5pPr>
            <a:lvl6pPr marL="2285848" indent="0">
              <a:buNone/>
              <a:defRPr sz="900"/>
            </a:lvl6pPr>
            <a:lvl7pPr marL="2743016" indent="0">
              <a:buNone/>
              <a:defRPr sz="900"/>
            </a:lvl7pPr>
            <a:lvl8pPr marL="3200187" indent="0">
              <a:buNone/>
              <a:defRPr sz="900"/>
            </a:lvl8pPr>
            <a:lvl9pPr marL="3657355" indent="0">
              <a:buNone/>
              <a:defRPr sz="900"/>
            </a:lvl9pPr>
          </a:lstStyle>
          <a:p>
            <a:pPr lvl="0"/>
            <a:r>
              <a:rPr lang="zh-CN" altLang="en-US"/>
              <a:t>单击此处编辑母版文本样式</a:t>
            </a:r>
          </a:p>
        </p:txBody>
      </p:sp>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3963" y="908052"/>
            <a:ext cx="2743201" cy="5218113"/>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1" y="908052"/>
            <a:ext cx="8081963" cy="5218113"/>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spTree>
      <p:nvGrpSpPr>
        <p:cNvPr id="1" name=""/>
        <p:cNvGrpSpPr/>
        <p:nvPr/>
      </p:nvGrpSpPr>
      <p:grpSpPr>
        <a:xfrm>
          <a:off x="0" y="0"/>
          <a:ext cx="0" cy="0"/>
          <a:chOff x="0" y="0"/>
          <a:chExt cx="0" cy="0"/>
        </a:xfrm>
      </p:grpSpPr>
      <p:pic>
        <p:nvPicPr>
          <p:cNvPr id="4" name="Picture 2" descr="PPECLOGO-eff-0-1"/>
          <p:cNvPicPr>
            <a:picLocks noChangeAspect="1" noChangeArrowheads="1"/>
          </p:cNvPicPr>
          <p:nvPr userDrawn="1"/>
        </p:nvPicPr>
        <p:blipFill>
          <a:blip r:embed="rId2" cstate="screen"/>
          <a:srcRect/>
          <a:stretch>
            <a:fillRect/>
          </a:stretch>
        </p:blipFill>
        <p:spPr bwMode="auto">
          <a:xfrm>
            <a:off x="4146915" y="2886610"/>
            <a:ext cx="1060349" cy="79878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3" descr="PPECLOGO-eff-0-2"/>
          <p:cNvPicPr>
            <a:picLocks noChangeAspect="1" noChangeArrowheads="1"/>
          </p:cNvPicPr>
          <p:nvPr userDrawn="1"/>
        </p:nvPicPr>
        <p:blipFill>
          <a:blip r:embed="rId3" cstate="screen"/>
          <a:srcRect/>
          <a:stretch>
            <a:fillRect/>
          </a:stretch>
        </p:blipFill>
        <p:spPr bwMode="auto">
          <a:xfrm>
            <a:off x="8430462" y="2758265"/>
            <a:ext cx="1096814" cy="83893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PPECLOGO-eff-0-3"/>
          <p:cNvPicPr>
            <a:picLocks noChangeAspect="1" noChangeArrowheads="1"/>
          </p:cNvPicPr>
          <p:nvPr userDrawn="1"/>
        </p:nvPicPr>
        <p:blipFill>
          <a:blip r:embed="rId4" cstate="print"/>
          <a:srcRect/>
          <a:stretch>
            <a:fillRect/>
          </a:stretch>
        </p:blipFill>
        <p:spPr bwMode="auto">
          <a:xfrm>
            <a:off x="1040451" y="1447780"/>
            <a:ext cx="3013732" cy="237621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5" descr="PPECLOGO-eff-0-1"/>
          <p:cNvPicPr>
            <a:picLocks noChangeAspect="1" noChangeArrowheads="1"/>
          </p:cNvPicPr>
          <p:nvPr userDrawn="1"/>
        </p:nvPicPr>
        <p:blipFill>
          <a:blip r:embed="rId5" cstate="screen"/>
          <a:srcRect/>
          <a:stretch>
            <a:fillRect/>
          </a:stretch>
        </p:blipFill>
        <p:spPr bwMode="auto">
          <a:xfrm>
            <a:off x="4467437" y="3771071"/>
            <a:ext cx="524127" cy="39561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PPECLOGO-eff-0-1"/>
          <p:cNvPicPr>
            <a:picLocks noChangeAspect="1" noChangeArrowheads="1"/>
          </p:cNvPicPr>
          <p:nvPr userDrawn="1"/>
        </p:nvPicPr>
        <p:blipFill>
          <a:blip r:embed="rId6" cstate="screen">
            <a:extLst>
              <a:ext uri="{28A0092B-C50C-407E-A947-70E740481C1C}">
                <a14:useLocalDpi xmlns:a14="http://schemas.microsoft.com/office/drawing/2010/main"/>
              </a:ext>
            </a:extLst>
          </a:blip>
          <a:srcRect/>
          <a:stretch>
            <a:fillRect/>
          </a:stretch>
        </p:blipFill>
        <p:spPr bwMode="auto">
          <a:xfrm>
            <a:off x="7376341" y="2904247"/>
            <a:ext cx="401158" cy="30238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PPECLOGO-eff-0-2"/>
          <p:cNvPicPr>
            <a:picLocks noChangeAspect="1" noChangeArrowheads="1"/>
          </p:cNvPicPr>
          <p:nvPr userDrawn="1"/>
        </p:nvPicPr>
        <p:blipFill>
          <a:blip r:embed="rId7" cstate="screen"/>
          <a:srcRect/>
          <a:stretch>
            <a:fillRect/>
          </a:stretch>
        </p:blipFill>
        <p:spPr bwMode="auto">
          <a:xfrm>
            <a:off x="5277818" y="2574150"/>
            <a:ext cx="981731" cy="75091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PPECLOGO-eff-5-4"/>
          <p:cNvPicPr>
            <a:picLocks noChangeAspect="1" noChangeArrowheads="1"/>
          </p:cNvPicPr>
          <p:nvPr userDrawn="1"/>
        </p:nvPicPr>
        <p:blipFill>
          <a:blip r:embed="rId8" cstate="print"/>
          <a:srcRect/>
          <a:stretch>
            <a:fillRect/>
          </a:stretch>
        </p:blipFill>
        <p:spPr bwMode="auto">
          <a:xfrm>
            <a:off x="3261942" y="3206629"/>
            <a:ext cx="1477636" cy="1123849"/>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PPECLOGO-eff-5-2"/>
          <p:cNvPicPr>
            <a:picLocks noChangeAspect="1" noChangeArrowheads="1"/>
          </p:cNvPicPr>
          <p:nvPr userDrawn="1"/>
        </p:nvPicPr>
        <p:blipFill>
          <a:blip r:embed="rId9" cstate="print"/>
          <a:srcRect/>
          <a:stretch>
            <a:fillRect/>
          </a:stretch>
        </p:blipFill>
        <p:spPr bwMode="auto">
          <a:xfrm>
            <a:off x="5352404" y="3446015"/>
            <a:ext cx="1834444" cy="1436309"/>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descr="PPECLOGO-eff-5-4"/>
          <p:cNvPicPr>
            <a:picLocks noChangeAspect="1" noChangeArrowheads="1"/>
          </p:cNvPicPr>
          <p:nvPr userDrawn="1"/>
        </p:nvPicPr>
        <p:blipFill>
          <a:blip r:embed="rId10" cstate="screen">
            <a:extLst>
              <a:ext uri="{28A0092B-C50C-407E-A947-70E740481C1C}">
                <a14:useLocalDpi xmlns:a14="http://schemas.microsoft.com/office/drawing/2010/main"/>
              </a:ext>
            </a:extLst>
          </a:blip>
          <a:srcRect/>
          <a:stretch>
            <a:fillRect/>
          </a:stretch>
        </p:blipFill>
        <p:spPr bwMode="auto">
          <a:xfrm>
            <a:off x="9886102" y="2725339"/>
            <a:ext cx="1116793" cy="851707"/>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descr="PPECLOGO-eff-0-1"/>
          <p:cNvPicPr>
            <a:picLocks noChangeAspect="1" noChangeArrowheads="1"/>
          </p:cNvPicPr>
          <p:nvPr userDrawn="1"/>
        </p:nvPicPr>
        <p:blipFill>
          <a:blip r:embed="rId11" cstate="screen"/>
          <a:srcRect/>
          <a:stretch>
            <a:fillRect/>
          </a:stretch>
        </p:blipFill>
        <p:spPr bwMode="auto">
          <a:xfrm>
            <a:off x="7942801" y="3624922"/>
            <a:ext cx="522112" cy="393095"/>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descr="PPECLOGO-eff-0-1"/>
          <p:cNvPicPr>
            <a:picLocks noChangeAspect="1" noChangeArrowheads="1"/>
          </p:cNvPicPr>
          <p:nvPr userDrawn="1"/>
        </p:nvPicPr>
        <p:blipFill>
          <a:blip r:embed="rId11" cstate="screen"/>
          <a:srcRect/>
          <a:stretch>
            <a:fillRect/>
          </a:stretch>
        </p:blipFill>
        <p:spPr bwMode="auto">
          <a:xfrm>
            <a:off x="11254879" y="2365002"/>
            <a:ext cx="522111" cy="393095"/>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descr="PPECLOGO-eff2-1-2"/>
          <p:cNvPicPr>
            <a:picLocks noChangeAspect="1" noChangeArrowheads="1"/>
          </p:cNvPicPr>
          <p:nvPr userDrawn="1"/>
        </p:nvPicPr>
        <p:blipFill>
          <a:blip r:embed="rId12" cstate="print"/>
          <a:srcRect/>
          <a:stretch>
            <a:fillRect/>
          </a:stretch>
        </p:blipFill>
        <p:spPr bwMode="auto">
          <a:xfrm>
            <a:off x="2054437" y="2795895"/>
            <a:ext cx="1697366" cy="1428749"/>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descr="PPECLOGO-eff2-1-3"/>
          <p:cNvPicPr>
            <a:picLocks noChangeAspect="1" noChangeArrowheads="1"/>
          </p:cNvPicPr>
          <p:nvPr userDrawn="1"/>
        </p:nvPicPr>
        <p:blipFill>
          <a:blip r:embed="rId13" cstate="print"/>
          <a:srcRect/>
          <a:stretch>
            <a:fillRect/>
          </a:stretch>
        </p:blipFill>
        <p:spPr bwMode="auto">
          <a:xfrm>
            <a:off x="3983627" y="2785815"/>
            <a:ext cx="437445" cy="365376"/>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descr="PPECLOGO-eff2-1-4"/>
          <p:cNvPicPr>
            <a:picLocks noChangeAspect="1" noChangeArrowheads="1"/>
          </p:cNvPicPr>
          <p:nvPr userDrawn="1"/>
        </p:nvPicPr>
        <p:blipFill>
          <a:blip r:embed="rId14" cstate="print"/>
          <a:srcRect/>
          <a:stretch>
            <a:fillRect/>
          </a:stretch>
        </p:blipFill>
        <p:spPr bwMode="auto">
          <a:xfrm>
            <a:off x="8519341" y="3325061"/>
            <a:ext cx="703540" cy="587123"/>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descr="PPECLOGO-eff2-1-3"/>
          <p:cNvPicPr>
            <a:picLocks noChangeAspect="1" noChangeArrowheads="1"/>
          </p:cNvPicPr>
          <p:nvPr userDrawn="1"/>
        </p:nvPicPr>
        <p:blipFill>
          <a:blip r:embed="rId13" cstate="print"/>
          <a:srcRect/>
          <a:stretch>
            <a:fillRect/>
          </a:stretch>
        </p:blipFill>
        <p:spPr bwMode="auto">
          <a:xfrm>
            <a:off x="9239009" y="2909286"/>
            <a:ext cx="360841" cy="302381"/>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8" descr="PPECLOGO-eff2-1-3"/>
          <p:cNvPicPr>
            <a:picLocks noChangeAspect="1" noChangeArrowheads="1"/>
          </p:cNvPicPr>
          <p:nvPr userDrawn="1"/>
        </p:nvPicPr>
        <p:blipFill>
          <a:blip r:embed="rId13" cstate="print"/>
          <a:srcRect/>
          <a:stretch>
            <a:fillRect/>
          </a:stretch>
        </p:blipFill>
        <p:spPr bwMode="auto">
          <a:xfrm>
            <a:off x="9744990" y="3446014"/>
            <a:ext cx="282222" cy="23686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par>
                                <p:cTn id="17" presetID="10"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10"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par>
                                <p:cTn id="26" presetID="10" presetClass="entr" presetSubtype="0" fill="hold" nodeType="with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500"/>
                                        <p:tgtEl>
                                          <p:spTgt spid="5"/>
                                        </p:tgtEl>
                                      </p:cBhvr>
                                    </p:animEffect>
                                  </p:childTnLst>
                                </p:cTn>
                              </p:par>
                              <p:par>
                                <p:cTn id="29" presetID="10"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500"/>
                                        <p:tgtEl>
                                          <p:spTgt spid="8"/>
                                        </p:tgtEl>
                                      </p:cBhvr>
                                    </p:animEffect>
                                  </p:childTnLst>
                                </p:cTn>
                              </p:par>
                              <p:par>
                                <p:cTn id="35" presetID="10" presetClass="entr" presetSubtype="0" fill="hold"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38" presetID="35" presetClass="path" presetSubtype="0" fill="hold" nodeType="withEffect">
                                  <p:stCondLst>
                                    <p:cond delay="0"/>
                                  </p:stCondLst>
                                  <p:childTnLst>
                                    <p:animMotion origin="layout" path="M 0 0  L -0.25 0  E" pathEditMode="relative" rAng="0" ptsTypes="">
                                      <p:cBhvr>
                                        <p:cTn id="39" dur="3000" fill="hold"/>
                                        <p:tgtEl>
                                          <p:spTgt spid="12"/>
                                        </p:tgtEl>
                                        <p:attrNameLst>
                                          <p:attrName>ppt_x</p:attrName>
                                          <p:attrName>ppt_y</p:attrName>
                                        </p:attrNameLst>
                                      </p:cBhvr>
                                      <p:rCtr x="0" y="0"/>
                                    </p:animMotion>
                                  </p:childTnLst>
                                </p:cTn>
                              </p:par>
                              <p:par>
                                <p:cTn id="40" presetID="35" presetClass="path" presetSubtype="0" fill="hold" nodeType="withEffect">
                                  <p:stCondLst>
                                    <p:cond delay="0"/>
                                  </p:stCondLst>
                                  <p:childTnLst>
                                    <p:animMotion origin="layout" path="M 4.16667E-6 3.33333E-6 L -0.31632 3.33333E-6 " pathEditMode="relative" rAng="0" ptsTypes="AA">
                                      <p:cBhvr>
                                        <p:cTn id="41" dur="3000" fill="hold"/>
                                        <p:tgtEl>
                                          <p:spTgt spid="5"/>
                                        </p:tgtEl>
                                        <p:attrNameLst>
                                          <p:attrName>ppt_x</p:attrName>
                                          <p:attrName>ppt_y</p:attrName>
                                        </p:attrNameLst>
                                      </p:cBhvr>
                                      <p:rCtr x="-15816" y="0"/>
                                    </p:animMotion>
                                  </p:childTnLst>
                                </p:cTn>
                              </p:par>
                              <p:par>
                                <p:cTn id="42" presetID="35" presetClass="path" presetSubtype="0" fill="hold" nodeType="withEffect">
                                  <p:stCondLst>
                                    <p:cond delay="0"/>
                                  </p:stCondLst>
                                  <p:childTnLst>
                                    <p:animMotion origin="layout" path="M 0.00504 -1.85185E-6 L -0.46684 -1.85185E-6 " pathEditMode="relative" rAng="0" ptsTypes="AA">
                                      <p:cBhvr>
                                        <p:cTn id="43" dur="3000" fill="hold"/>
                                        <p:tgtEl>
                                          <p:spTgt spid="8"/>
                                        </p:tgtEl>
                                        <p:attrNameLst>
                                          <p:attrName>ppt_x</p:attrName>
                                          <p:attrName>ppt_y</p:attrName>
                                        </p:attrNameLst>
                                      </p:cBhvr>
                                      <p:rCtr x="-23594" y="0"/>
                                    </p:animMotion>
                                  </p:childTnLst>
                                </p:cTn>
                              </p:par>
                              <p:par>
                                <p:cTn id="44" presetID="35" presetClass="path" presetSubtype="0" fill="hold" nodeType="withEffect">
                                  <p:stCondLst>
                                    <p:cond delay="0"/>
                                  </p:stCondLst>
                                  <p:childTnLst>
                                    <p:animMotion origin="layout" path="M -3.05556E-6 1.11111E-6 L -0.19531 1.11111E-6 " pathEditMode="relative" rAng="0" ptsTypes="AA">
                                      <p:cBhvr>
                                        <p:cTn id="45" dur="3000" fill="hold"/>
                                        <p:tgtEl>
                                          <p:spTgt spid="9"/>
                                        </p:tgtEl>
                                        <p:attrNameLst>
                                          <p:attrName>ppt_x</p:attrName>
                                          <p:attrName>ppt_y</p:attrName>
                                        </p:attrNameLst>
                                      </p:cBhvr>
                                      <p:rCtr x="-9774" y="0"/>
                                    </p:animMotion>
                                  </p:childTnLst>
                                </p:cTn>
                              </p:par>
                              <p:par>
                                <p:cTn id="46" presetID="35" presetClass="path" presetSubtype="0" fill="hold" nodeType="withEffect">
                                  <p:stCondLst>
                                    <p:cond delay="0"/>
                                  </p:stCondLst>
                                  <p:childTnLst>
                                    <p:animMotion origin="layout" path="M 5.55556E-7 2.59259E-6 L -0.43594 2.59259E-6 " pathEditMode="relative" rAng="0" ptsTypes="AA">
                                      <p:cBhvr>
                                        <p:cTn id="47" dur="3000" fill="hold"/>
                                        <p:tgtEl>
                                          <p:spTgt spid="7"/>
                                        </p:tgtEl>
                                        <p:attrNameLst>
                                          <p:attrName>ppt_x</p:attrName>
                                          <p:attrName>ppt_y</p:attrName>
                                        </p:attrNameLst>
                                      </p:cBhvr>
                                      <p:rCtr x="-21806" y="0"/>
                                    </p:animMotion>
                                  </p:childTnLst>
                                </p:cTn>
                              </p:par>
                              <p:par>
                                <p:cTn id="48" presetID="35" presetClass="path" presetSubtype="0" fill="hold" nodeType="withEffect">
                                  <p:stCondLst>
                                    <p:cond delay="0"/>
                                  </p:stCondLst>
                                  <p:childTnLst>
                                    <p:animMotion origin="layout" path="M 3.05556E-6 -1.85185E-6 L -0.33577 -1.85185E-6 " pathEditMode="relative" rAng="0" ptsTypes="AA">
                                      <p:cBhvr>
                                        <p:cTn id="49" dur="3000" fill="hold"/>
                                        <p:tgtEl>
                                          <p:spTgt spid="4"/>
                                        </p:tgtEl>
                                        <p:attrNameLst>
                                          <p:attrName>ppt_x</p:attrName>
                                          <p:attrName>ppt_y</p:attrName>
                                        </p:attrNameLst>
                                      </p:cBhvr>
                                      <p:rCtr x="-16788" y="0"/>
                                    </p:animMotion>
                                  </p:childTnLst>
                                </p:cTn>
                              </p:par>
                              <p:par>
                                <p:cTn id="50" presetID="35" presetClass="path" presetSubtype="0" fill="hold" nodeType="withEffect">
                                  <p:stCondLst>
                                    <p:cond delay="0"/>
                                  </p:stCondLst>
                                  <p:childTnLst>
                                    <p:animMotion origin="layout" path="M 1.66667E-6 -1.85185E-6 L -0.57188 -1.85185E-6 " pathEditMode="relative" rAng="0" ptsTypes="AA">
                                      <p:cBhvr>
                                        <p:cTn id="51" dur="3000" fill="hold"/>
                                        <p:tgtEl>
                                          <p:spTgt spid="13"/>
                                        </p:tgtEl>
                                        <p:attrNameLst>
                                          <p:attrName>ppt_x</p:attrName>
                                          <p:attrName>ppt_y</p:attrName>
                                        </p:attrNameLst>
                                      </p:cBhvr>
                                      <p:rCtr x="-28594" y="0"/>
                                    </p:animMotion>
                                  </p:childTnLst>
                                </p:cTn>
                              </p:par>
                              <p:par>
                                <p:cTn id="52" presetID="35" presetClass="path" presetSubtype="0" fill="hold" nodeType="withEffect">
                                  <p:stCondLst>
                                    <p:cond delay="0"/>
                                  </p:stCondLst>
                                  <p:childTnLst>
                                    <p:animMotion origin="layout" path="M 1.66667E-6 -1.85185E-6 L -0.57188 -1.85185E-6 " pathEditMode="relative" rAng="0" ptsTypes="AA">
                                      <p:cBhvr>
                                        <p:cTn id="53" dur="3000" fill="hold"/>
                                        <p:tgtEl>
                                          <p:spTgt spid="14"/>
                                        </p:tgtEl>
                                        <p:attrNameLst>
                                          <p:attrName>ppt_x</p:attrName>
                                          <p:attrName>ppt_y</p:attrName>
                                        </p:attrNameLst>
                                      </p:cBhvr>
                                      <p:rCtr x="-28594" y="0"/>
                                    </p:animMotion>
                                  </p:childTnLst>
                                </p:cTn>
                              </p:par>
                              <p:par>
                                <p:cTn id="54" presetID="63" presetClass="path" presetSubtype="0" fill="hold" nodeType="withEffect">
                                  <p:stCondLst>
                                    <p:cond delay="0"/>
                                  </p:stCondLst>
                                  <p:childTnLst>
                                    <p:animMotion origin="layout" path="M 5.55556E-7 2.59259E-6 L 0.43906 2.59259E-6 " pathEditMode="relative" rAng="0" ptsTypes="AA">
                                      <p:cBhvr>
                                        <p:cTn id="55" dur="3000" fill="hold"/>
                                        <p:tgtEl>
                                          <p:spTgt spid="11"/>
                                        </p:tgtEl>
                                        <p:attrNameLst>
                                          <p:attrName>ppt_x</p:attrName>
                                          <p:attrName>ppt_y</p:attrName>
                                        </p:attrNameLst>
                                      </p:cBhvr>
                                      <p:rCtr x="21944" y="0"/>
                                    </p:animMotion>
                                  </p:childTnLst>
                                </p:cTn>
                              </p:par>
                              <p:par>
                                <p:cTn id="56" presetID="63" presetClass="path" presetSubtype="0" fill="hold" nodeType="withEffect">
                                  <p:stCondLst>
                                    <p:cond delay="0"/>
                                  </p:stCondLst>
                                  <p:childTnLst>
                                    <p:animMotion origin="layout" path="M -1.38889E-6 2.96296E-6 L 0.62813 2.96296E-6 " pathEditMode="relative" rAng="0" ptsTypes="AA">
                                      <p:cBhvr>
                                        <p:cTn id="57" dur="3000" fill="hold"/>
                                        <p:tgtEl>
                                          <p:spTgt spid="10"/>
                                        </p:tgtEl>
                                        <p:attrNameLst>
                                          <p:attrName>ppt_x</p:attrName>
                                          <p:attrName>ppt_y</p:attrName>
                                        </p:attrNameLst>
                                      </p:cBhvr>
                                      <p:rCtr x="31406" y="0"/>
                                    </p:animMotion>
                                  </p:childTnLst>
                                </p:cTn>
                              </p:par>
                              <p:par>
                                <p:cTn id="58" presetID="63" presetClass="path" presetSubtype="0" fill="hold" nodeType="withEffect">
                                  <p:stCondLst>
                                    <p:cond delay="0"/>
                                  </p:stCondLst>
                                  <p:childTnLst>
                                    <p:animMotion origin="layout" path="M 2.77778E-6 -2.96296E-6 L 0.42465 -2.96296E-6 " pathEditMode="relative" rAng="0" ptsTypes="AA">
                                      <p:cBhvr>
                                        <p:cTn id="59" dur="3000" fill="hold"/>
                                        <p:tgtEl>
                                          <p:spTgt spid="6"/>
                                        </p:tgtEl>
                                        <p:attrNameLst>
                                          <p:attrName>ppt_x</p:attrName>
                                          <p:attrName>ppt_y</p:attrName>
                                        </p:attrNameLst>
                                      </p:cBhvr>
                                      <p:rCtr x="21233" y="0"/>
                                    </p:animMotion>
                                  </p:childTnLst>
                                </p:cTn>
                              </p:par>
                              <p:par>
                                <p:cTn id="60" presetID="10" presetClass="exit" presetSubtype="0" fill="hold" nodeType="withEffect">
                                  <p:stCondLst>
                                    <p:cond delay="2500"/>
                                  </p:stCondLst>
                                  <p:childTnLst>
                                    <p:animEffect transition="out" filter="fade">
                                      <p:cBhvr>
                                        <p:cTn id="61" dur="500"/>
                                        <p:tgtEl>
                                          <p:spTgt spid="10"/>
                                        </p:tgtEl>
                                      </p:cBhvr>
                                    </p:animEffect>
                                    <p:set>
                                      <p:cBhvr>
                                        <p:cTn id="62" dur="1" fill="hold">
                                          <p:stCondLst>
                                            <p:cond delay="499"/>
                                          </p:stCondLst>
                                        </p:cTn>
                                        <p:tgtEl>
                                          <p:spTgt spid="10"/>
                                        </p:tgtEl>
                                        <p:attrNameLst>
                                          <p:attrName>style.visibility</p:attrName>
                                        </p:attrNameLst>
                                      </p:cBhvr>
                                      <p:to>
                                        <p:strVal val="hidden"/>
                                      </p:to>
                                    </p:set>
                                  </p:childTnLst>
                                </p:cTn>
                              </p:par>
                              <p:par>
                                <p:cTn id="63" presetID="10" presetClass="exit" presetSubtype="0" fill="hold" nodeType="withEffect">
                                  <p:stCondLst>
                                    <p:cond delay="2500"/>
                                  </p:stCondLst>
                                  <p:childTnLst>
                                    <p:animEffect transition="out" filter="fade">
                                      <p:cBhvr>
                                        <p:cTn id="64" dur="500"/>
                                        <p:tgtEl>
                                          <p:spTgt spid="11"/>
                                        </p:tgtEl>
                                      </p:cBhvr>
                                    </p:animEffect>
                                    <p:set>
                                      <p:cBhvr>
                                        <p:cTn id="65" dur="1" fill="hold">
                                          <p:stCondLst>
                                            <p:cond delay="499"/>
                                          </p:stCondLst>
                                        </p:cTn>
                                        <p:tgtEl>
                                          <p:spTgt spid="11"/>
                                        </p:tgtEl>
                                        <p:attrNameLst>
                                          <p:attrName>style.visibility</p:attrName>
                                        </p:attrNameLst>
                                      </p:cBhvr>
                                      <p:to>
                                        <p:strVal val="hidden"/>
                                      </p:to>
                                    </p:set>
                                  </p:childTnLst>
                                </p:cTn>
                              </p:par>
                              <p:par>
                                <p:cTn id="66" presetID="10" presetClass="exit" presetSubtype="0" fill="hold" nodeType="withEffect">
                                  <p:stCondLst>
                                    <p:cond delay="2500"/>
                                  </p:stCondLst>
                                  <p:childTnLst>
                                    <p:animEffect transition="out" filter="fade">
                                      <p:cBhvr>
                                        <p:cTn id="67" dur="500"/>
                                        <p:tgtEl>
                                          <p:spTgt spid="13"/>
                                        </p:tgtEl>
                                      </p:cBhvr>
                                    </p:animEffect>
                                    <p:set>
                                      <p:cBhvr>
                                        <p:cTn id="68" dur="1" fill="hold">
                                          <p:stCondLst>
                                            <p:cond delay="499"/>
                                          </p:stCondLst>
                                        </p:cTn>
                                        <p:tgtEl>
                                          <p:spTgt spid="13"/>
                                        </p:tgtEl>
                                        <p:attrNameLst>
                                          <p:attrName>style.visibility</p:attrName>
                                        </p:attrNameLst>
                                      </p:cBhvr>
                                      <p:to>
                                        <p:strVal val="hidden"/>
                                      </p:to>
                                    </p:set>
                                  </p:childTnLst>
                                </p:cTn>
                              </p:par>
                              <p:par>
                                <p:cTn id="69" presetID="10" presetClass="exit" presetSubtype="0" fill="hold" nodeType="withEffect">
                                  <p:stCondLst>
                                    <p:cond delay="2500"/>
                                  </p:stCondLst>
                                  <p:childTnLst>
                                    <p:animEffect transition="out" filter="fade">
                                      <p:cBhvr>
                                        <p:cTn id="70" dur="500"/>
                                        <p:tgtEl>
                                          <p:spTgt spid="7"/>
                                        </p:tgtEl>
                                      </p:cBhvr>
                                    </p:animEffect>
                                    <p:set>
                                      <p:cBhvr>
                                        <p:cTn id="71" dur="1" fill="hold">
                                          <p:stCondLst>
                                            <p:cond delay="499"/>
                                          </p:stCondLst>
                                        </p:cTn>
                                        <p:tgtEl>
                                          <p:spTgt spid="7"/>
                                        </p:tgtEl>
                                        <p:attrNameLst>
                                          <p:attrName>style.visibility</p:attrName>
                                        </p:attrNameLst>
                                      </p:cBhvr>
                                      <p:to>
                                        <p:strVal val="hidden"/>
                                      </p:to>
                                    </p:set>
                                  </p:childTnLst>
                                </p:cTn>
                              </p:par>
                              <p:par>
                                <p:cTn id="72" presetID="10" presetClass="exit" presetSubtype="0" fill="hold" nodeType="withEffect">
                                  <p:stCondLst>
                                    <p:cond delay="2500"/>
                                  </p:stCondLst>
                                  <p:childTnLst>
                                    <p:animEffect transition="out" filter="fade">
                                      <p:cBhvr>
                                        <p:cTn id="73" dur="500"/>
                                        <p:tgtEl>
                                          <p:spTgt spid="9"/>
                                        </p:tgtEl>
                                      </p:cBhvr>
                                    </p:animEffect>
                                    <p:set>
                                      <p:cBhvr>
                                        <p:cTn id="74" dur="1" fill="hold">
                                          <p:stCondLst>
                                            <p:cond delay="499"/>
                                          </p:stCondLst>
                                        </p:cTn>
                                        <p:tgtEl>
                                          <p:spTgt spid="9"/>
                                        </p:tgtEl>
                                        <p:attrNameLst>
                                          <p:attrName>style.visibility</p:attrName>
                                        </p:attrNameLst>
                                      </p:cBhvr>
                                      <p:to>
                                        <p:strVal val="hidden"/>
                                      </p:to>
                                    </p:set>
                                  </p:childTnLst>
                                </p:cTn>
                              </p:par>
                              <p:par>
                                <p:cTn id="75" presetID="10" presetClass="exit" presetSubtype="0" fill="hold" nodeType="withEffect">
                                  <p:stCondLst>
                                    <p:cond delay="2500"/>
                                  </p:stCondLst>
                                  <p:childTnLst>
                                    <p:animEffect transition="out" filter="fade">
                                      <p:cBhvr>
                                        <p:cTn id="76" dur="500"/>
                                        <p:tgtEl>
                                          <p:spTgt spid="5"/>
                                        </p:tgtEl>
                                      </p:cBhvr>
                                    </p:animEffect>
                                    <p:set>
                                      <p:cBhvr>
                                        <p:cTn id="77" dur="1" fill="hold">
                                          <p:stCondLst>
                                            <p:cond delay="499"/>
                                          </p:stCondLst>
                                        </p:cTn>
                                        <p:tgtEl>
                                          <p:spTgt spid="5"/>
                                        </p:tgtEl>
                                        <p:attrNameLst>
                                          <p:attrName>style.visibility</p:attrName>
                                        </p:attrNameLst>
                                      </p:cBhvr>
                                      <p:to>
                                        <p:strVal val="hidden"/>
                                      </p:to>
                                    </p:set>
                                  </p:childTnLst>
                                </p:cTn>
                              </p:par>
                              <p:par>
                                <p:cTn id="78" presetID="10" presetClass="exit" presetSubtype="0" fill="hold" nodeType="withEffect">
                                  <p:stCondLst>
                                    <p:cond delay="2500"/>
                                  </p:stCondLst>
                                  <p:childTnLst>
                                    <p:animEffect transition="out" filter="fade">
                                      <p:cBhvr>
                                        <p:cTn id="79" dur="500"/>
                                        <p:tgtEl>
                                          <p:spTgt spid="12"/>
                                        </p:tgtEl>
                                      </p:cBhvr>
                                    </p:animEffect>
                                    <p:set>
                                      <p:cBhvr>
                                        <p:cTn id="80" dur="1" fill="hold">
                                          <p:stCondLst>
                                            <p:cond delay="499"/>
                                          </p:stCondLst>
                                        </p:cTn>
                                        <p:tgtEl>
                                          <p:spTgt spid="12"/>
                                        </p:tgtEl>
                                        <p:attrNameLst>
                                          <p:attrName>style.visibility</p:attrName>
                                        </p:attrNameLst>
                                      </p:cBhvr>
                                      <p:to>
                                        <p:strVal val="hidden"/>
                                      </p:to>
                                    </p:set>
                                  </p:childTnLst>
                                </p:cTn>
                              </p:par>
                              <p:par>
                                <p:cTn id="81" presetID="10" presetClass="exit" presetSubtype="0" fill="hold" nodeType="withEffect">
                                  <p:stCondLst>
                                    <p:cond delay="2500"/>
                                  </p:stCondLst>
                                  <p:childTnLst>
                                    <p:animEffect transition="out" filter="fade">
                                      <p:cBhvr>
                                        <p:cTn id="82" dur="500"/>
                                        <p:tgtEl>
                                          <p:spTgt spid="14"/>
                                        </p:tgtEl>
                                      </p:cBhvr>
                                    </p:animEffect>
                                    <p:set>
                                      <p:cBhvr>
                                        <p:cTn id="83" dur="1" fill="hold">
                                          <p:stCondLst>
                                            <p:cond delay="499"/>
                                          </p:stCondLst>
                                        </p:cTn>
                                        <p:tgtEl>
                                          <p:spTgt spid="14"/>
                                        </p:tgtEl>
                                        <p:attrNameLst>
                                          <p:attrName>style.visibility</p:attrName>
                                        </p:attrNameLst>
                                      </p:cBhvr>
                                      <p:to>
                                        <p:strVal val="hidden"/>
                                      </p:to>
                                    </p:set>
                                  </p:childTnLst>
                                </p:cTn>
                              </p:par>
                              <p:par>
                                <p:cTn id="84" presetID="10" presetClass="exit" presetSubtype="0" fill="hold" nodeType="withEffect">
                                  <p:stCondLst>
                                    <p:cond delay="2500"/>
                                  </p:stCondLst>
                                  <p:childTnLst>
                                    <p:animEffect transition="out" filter="fade">
                                      <p:cBhvr>
                                        <p:cTn id="85" dur="500"/>
                                        <p:tgtEl>
                                          <p:spTgt spid="6"/>
                                        </p:tgtEl>
                                      </p:cBhvr>
                                    </p:animEffect>
                                    <p:set>
                                      <p:cBhvr>
                                        <p:cTn id="86" dur="1" fill="hold">
                                          <p:stCondLst>
                                            <p:cond delay="499"/>
                                          </p:stCondLst>
                                        </p:cTn>
                                        <p:tgtEl>
                                          <p:spTgt spid="6"/>
                                        </p:tgtEl>
                                        <p:attrNameLst>
                                          <p:attrName>style.visibility</p:attrName>
                                        </p:attrNameLst>
                                      </p:cBhvr>
                                      <p:to>
                                        <p:strVal val="hidden"/>
                                      </p:to>
                                    </p:set>
                                  </p:childTnLst>
                                </p:cTn>
                              </p:par>
                              <p:par>
                                <p:cTn id="87" presetID="10" presetClass="exit" presetSubtype="0" fill="hold" nodeType="withEffect">
                                  <p:stCondLst>
                                    <p:cond delay="2500"/>
                                  </p:stCondLst>
                                  <p:childTnLst>
                                    <p:animEffect transition="out" filter="fade">
                                      <p:cBhvr>
                                        <p:cTn id="88" dur="500"/>
                                        <p:tgtEl>
                                          <p:spTgt spid="4"/>
                                        </p:tgtEl>
                                      </p:cBhvr>
                                    </p:animEffect>
                                    <p:set>
                                      <p:cBhvr>
                                        <p:cTn id="89" dur="1" fill="hold">
                                          <p:stCondLst>
                                            <p:cond delay="499"/>
                                          </p:stCondLst>
                                        </p:cTn>
                                        <p:tgtEl>
                                          <p:spTgt spid="4"/>
                                        </p:tgtEl>
                                        <p:attrNameLst>
                                          <p:attrName>style.visibility</p:attrName>
                                        </p:attrNameLst>
                                      </p:cBhvr>
                                      <p:to>
                                        <p:strVal val="hidden"/>
                                      </p:to>
                                    </p:set>
                                  </p:childTnLst>
                                </p:cTn>
                              </p:par>
                              <p:par>
                                <p:cTn id="90" presetID="10" presetClass="exit" presetSubtype="0" fill="hold" nodeType="withEffect">
                                  <p:stCondLst>
                                    <p:cond delay="2500"/>
                                  </p:stCondLst>
                                  <p:childTnLst>
                                    <p:animEffect transition="out" filter="fade">
                                      <p:cBhvr>
                                        <p:cTn id="91" dur="500"/>
                                        <p:tgtEl>
                                          <p:spTgt spid="8"/>
                                        </p:tgtEl>
                                      </p:cBhvr>
                                    </p:animEffect>
                                    <p:set>
                                      <p:cBhvr>
                                        <p:cTn id="92" dur="1" fill="hold">
                                          <p:stCondLst>
                                            <p:cond delay="499"/>
                                          </p:stCondLst>
                                        </p:cTn>
                                        <p:tgtEl>
                                          <p:spTgt spid="8"/>
                                        </p:tgtEl>
                                        <p:attrNameLst>
                                          <p:attrName>style.visibility</p:attrName>
                                        </p:attrNameLst>
                                      </p:cBhvr>
                                      <p:to>
                                        <p:strVal val="hidden"/>
                                      </p:to>
                                    </p:set>
                                  </p:childTnLst>
                                </p:cTn>
                              </p:par>
                              <p:par>
                                <p:cTn id="93" presetID="10" presetClass="entr" presetSubtype="0" fill="hold" nodeType="withEffect">
                                  <p:stCondLst>
                                    <p:cond delay="0"/>
                                  </p:stCondLst>
                                  <p:childTnLst>
                                    <p:set>
                                      <p:cBhvr>
                                        <p:cTn id="94" dur="1" fill="hold">
                                          <p:stCondLst>
                                            <p:cond delay="0"/>
                                          </p:stCondLst>
                                        </p:cTn>
                                        <p:tgtEl>
                                          <p:spTgt spid="15"/>
                                        </p:tgtEl>
                                        <p:attrNameLst>
                                          <p:attrName>style.visibility</p:attrName>
                                        </p:attrNameLst>
                                      </p:cBhvr>
                                      <p:to>
                                        <p:strVal val="visible"/>
                                      </p:to>
                                    </p:set>
                                    <p:animEffect transition="in" filter="fade">
                                      <p:cBhvr>
                                        <p:cTn id="95" dur="100"/>
                                        <p:tgtEl>
                                          <p:spTgt spid="15"/>
                                        </p:tgtEl>
                                      </p:cBhvr>
                                    </p:animEffect>
                                  </p:childTnLst>
                                </p:cTn>
                              </p:par>
                              <p:par>
                                <p:cTn id="96" presetID="10" presetClass="entr" presetSubtype="0" fill="hold" nodeType="withEffect">
                                  <p:stCondLst>
                                    <p:cond delay="600"/>
                                  </p:stCondLst>
                                  <p:childTnLst>
                                    <p:set>
                                      <p:cBhvr>
                                        <p:cTn id="97" dur="1" fill="hold">
                                          <p:stCondLst>
                                            <p:cond delay="0"/>
                                          </p:stCondLst>
                                        </p:cTn>
                                        <p:tgtEl>
                                          <p:spTgt spid="16"/>
                                        </p:tgtEl>
                                        <p:attrNameLst>
                                          <p:attrName>style.visibility</p:attrName>
                                        </p:attrNameLst>
                                      </p:cBhvr>
                                      <p:to>
                                        <p:strVal val="visible"/>
                                      </p:to>
                                    </p:set>
                                    <p:animEffect transition="in" filter="fade">
                                      <p:cBhvr>
                                        <p:cTn id="98" dur="100"/>
                                        <p:tgtEl>
                                          <p:spTgt spid="16"/>
                                        </p:tgtEl>
                                      </p:cBhvr>
                                    </p:animEffect>
                                  </p:childTnLst>
                                </p:cTn>
                              </p:par>
                              <p:par>
                                <p:cTn id="99" presetID="10" presetClass="entr" presetSubtype="0" fill="hold" nodeType="withEffect">
                                  <p:stCondLst>
                                    <p:cond delay="200"/>
                                  </p:stCondLst>
                                  <p:childTnLst>
                                    <p:set>
                                      <p:cBhvr>
                                        <p:cTn id="100" dur="1" fill="hold">
                                          <p:stCondLst>
                                            <p:cond delay="0"/>
                                          </p:stCondLst>
                                        </p:cTn>
                                        <p:tgtEl>
                                          <p:spTgt spid="17"/>
                                        </p:tgtEl>
                                        <p:attrNameLst>
                                          <p:attrName>style.visibility</p:attrName>
                                        </p:attrNameLst>
                                      </p:cBhvr>
                                      <p:to>
                                        <p:strVal val="visible"/>
                                      </p:to>
                                    </p:set>
                                    <p:animEffect transition="in" filter="fade">
                                      <p:cBhvr>
                                        <p:cTn id="101" dur="100"/>
                                        <p:tgtEl>
                                          <p:spTgt spid="17"/>
                                        </p:tgtEl>
                                      </p:cBhvr>
                                    </p:animEffect>
                                  </p:childTnLst>
                                </p:cTn>
                              </p:par>
                              <p:par>
                                <p:cTn id="102" presetID="10" presetClass="entr" presetSubtype="0" fill="hold" nodeType="withEffect">
                                  <p:stCondLst>
                                    <p:cond delay="1800"/>
                                  </p:stCondLst>
                                  <p:childTnLst>
                                    <p:set>
                                      <p:cBhvr>
                                        <p:cTn id="103" dur="1" fill="hold">
                                          <p:stCondLst>
                                            <p:cond delay="0"/>
                                          </p:stCondLst>
                                        </p:cTn>
                                        <p:tgtEl>
                                          <p:spTgt spid="18"/>
                                        </p:tgtEl>
                                        <p:attrNameLst>
                                          <p:attrName>style.visibility</p:attrName>
                                        </p:attrNameLst>
                                      </p:cBhvr>
                                      <p:to>
                                        <p:strVal val="visible"/>
                                      </p:to>
                                    </p:set>
                                    <p:animEffect transition="in" filter="fade">
                                      <p:cBhvr>
                                        <p:cTn id="104" dur="100"/>
                                        <p:tgtEl>
                                          <p:spTgt spid="18"/>
                                        </p:tgtEl>
                                      </p:cBhvr>
                                    </p:animEffect>
                                  </p:childTnLst>
                                </p:cTn>
                              </p:par>
                              <p:par>
                                <p:cTn id="105" presetID="10" presetClass="entr" presetSubtype="0" fill="hold" nodeType="withEffect">
                                  <p:stCondLst>
                                    <p:cond delay="2200"/>
                                  </p:stCondLst>
                                  <p:childTnLst>
                                    <p:set>
                                      <p:cBhvr>
                                        <p:cTn id="106" dur="1" fill="hold">
                                          <p:stCondLst>
                                            <p:cond delay="0"/>
                                          </p:stCondLst>
                                        </p:cTn>
                                        <p:tgtEl>
                                          <p:spTgt spid="19"/>
                                        </p:tgtEl>
                                        <p:attrNameLst>
                                          <p:attrName>style.visibility</p:attrName>
                                        </p:attrNameLst>
                                      </p:cBhvr>
                                      <p:to>
                                        <p:strVal val="visible"/>
                                      </p:to>
                                    </p:set>
                                    <p:animEffect transition="in" filter="fade">
                                      <p:cBhvr>
                                        <p:cTn id="107" dur="100"/>
                                        <p:tgtEl>
                                          <p:spTgt spid="19"/>
                                        </p:tgtEl>
                                      </p:cBhvr>
                                    </p:animEffect>
                                  </p:childTnLst>
                                </p:cTn>
                              </p:par>
                              <p:par>
                                <p:cTn id="108" presetID="53" presetClass="exit" presetSubtype="0" fill="hold" nodeType="withEffect">
                                  <p:stCondLst>
                                    <p:cond delay="100"/>
                                  </p:stCondLst>
                                  <p:childTnLst>
                                    <p:anim calcmode="lin" valueType="num">
                                      <p:cBhvr>
                                        <p:cTn id="109" dur="1000"/>
                                        <p:tgtEl>
                                          <p:spTgt spid="15"/>
                                        </p:tgtEl>
                                        <p:attrNameLst>
                                          <p:attrName>ppt_w</p:attrName>
                                        </p:attrNameLst>
                                      </p:cBhvr>
                                      <p:tavLst>
                                        <p:tav tm="0">
                                          <p:val>
                                            <p:strVal val="ppt_w"/>
                                          </p:val>
                                        </p:tav>
                                        <p:tav tm="100000">
                                          <p:val>
                                            <p:fltVal val="0"/>
                                          </p:val>
                                        </p:tav>
                                      </p:tavLst>
                                    </p:anim>
                                    <p:anim calcmode="lin" valueType="num">
                                      <p:cBhvr>
                                        <p:cTn id="110" dur="1000"/>
                                        <p:tgtEl>
                                          <p:spTgt spid="15"/>
                                        </p:tgtEl>
                                        <p:attrNameLst>
                                          <p:attrName>ppt_h</p:attrName>
                                        </p:attrNameLst>
                                      </p:cBhvr>
                                      <p:tavLst>
                                        <p:tav tm="0">
                                          <p:val>
                                            <p:strVal val="ppt_h"/>
                                          </p:val>
                                        </p:tav>
                                        <p:tav tm="100000">
                                          <p:val>
                                            <p:fltVal val="0"/>
                                          </p:val>
                                        </p:tav>
                                      </p:tavLst>
                                    </p:anim>
                                    <p:animEffect transition="out" filter="fade">
                                      <p:cBhvr>
                                        <p:cTn id="111" dur="1000"/>
                                        <p:tgtEl>
                                          <p:spTgt spid="15"/>
                                        </p:tgtEl>
                                      </p:cBhvr>
                                    </p:animEffect>
                                    <p:set>
                                      <p:cBhvr>
                                        <p:cTn id="112" dur="1" fill="hold">
                                          <p:stCondLst>
                                            <p:cond delay="999"/>
                                          </p:stCondLst>
                                        </p:cTn>
                                        <p:tgtEl>
                                          <p:spTgt spid="15"/>
                                        </p:tgtEl>
                                        <p:attrNameLst>
                                          <p:attrName>style.visibility</p:attrName>
                                        </p:attrNameLst>
                                      </p:cBhvr>
                                      <p:to>
                                        <p:strVal val="hidden"/>
                                      </p:to>
                                    </p:set>
                                  </p:childTnLst>
                                </p:cTn>
                              </p:par>
                              <p:par>
                                <p:cTn id="113" presetID="53" presetClass="exit" presetSubtype="0" fill="hold" nodeType="withEffect">
                                  <p:stCondLst>
                                    <p:cond delay="700"/>
                                  </p:stCondLst>
                                  <p:childTnLst>
                                    <p:anim calcmode="lin" valueType="num">
                                      <p:cBhvr>
                                        <p:cTn id="114" dur="500"/>
                                        <p:tgtEl>
                                          <p:spTgt spid="16"/>
                                        </p:tgtEl>
                                        <p:attrNameLst>
                                          <p:attrName>ppt_w</p:attrName>
                                        </p:attrNameLst>
                                      </p:cBhvr>
                                      <p:tavLst>
                                        <p:tav tm="0">
                                          <p:val>
                                            <p:strVal val="ppt_w"/>
                                          </p:val>
                                        </p:tav>
                                        <p:tav tm="100000">
                                          <p:val>
                                            <p:fltVal val="0"/>
                                          </p:val>
                                        </p:tav>
                                      </p:tavLst>
                                    </p:anim>
                                    <p:anim calcmode="lin" valueType="num">
                                      <p:cBhvr>
                                        <p:cTn id="115" dur="500"/>
                                        <p:tgtEl>
                                          <p:spTgt spid="16"/>
                                        </p:tgtEl>
                                        <p:attrNameLst>
                                          <p:attrName>ppt_h</p:attrName>
                                        </p:attrNameLst>
                                      </p:cBhvr>
                                      <p:tavLst>
                                        <p:tav tm="0">
                                          <p:val>
                                            <p:strVal val="ppt_h"/>
                                          </p:val>
                                        </p:tav>
                                        <p:tav tm="100000">
                                          <p:val>
                                            <p:fltVal val="0"/>
                                          </p:val>
                                        </p:tav>
                                      </p:tavLst>
                                    </p:anim>
                                    <p:animEffect transition="out" filter="fade">
                                      <p:cBhvr>
                                        <p:cTn id="116" dur="500"/>
                                        <p:tgtEl>
                                          <p:spTgt spid="16"/>
                                        </p:tgtEl>
                                      </p:cBhvr>
                                    </p:animEffect>
                                    <p:set>
                                      <p:cBhvr>
                                        <p:cTn id="117" dur="1" fill="hold">
                                          <p:stCondLst>
                                            <p:cond delay="499"/>
                                          </p:stCondLst>
                                        </p:cTn>
                                        <p:tgtEl>
                                          <p:spTgt spid="16"/>
                                        </p:tgtEl>
                                        <p:attrNameLst>
                                          <p:attrName>style.visibility</p:attrName>
                                        </p:attrNameLst>
                                      </p:cBhvr>
                                      <p:to>
                                        <p:strVal val="hidden"/>
                                      </p:to>
                                    </p:set>
                                  </p:childTnLst>
                                </p:cTn>
                              </p:par>
                              <p:par>
                                <p:cTn id="118" presetID="53" presetClass="exit" presetSubtype="0" fill="hold" nodeType="withEffect">
                                  <p:stCondLst>
                                    <p:cond delay="300"/>
                                  </p:stCondLst>
                                  <p:childTnLst>
                                    <p:anim calcmode="lin" valueType="num">
                                      <p:cBhvr>
                                        <p:cTn id="119" dur="500"/>
                                        <p:tgtEl>
                                          <p:spTgt spid="17"/>
                                        </p:tgtEl>
                                        <p:attrNameLst>
                                          <p:attrName>ppt_w</p:attrName>
                                        </p:attrNameLst>
                                      </p:cBhvr>
                                      <p:tavLst>
                                        <p:tav tm="0">
                                          <p:val>
                                            <p:strVal val="ppt_w"/>
                                          </p:val>
                                        </p:tav>
                                        <p:tav tm="100000">
                                          <p:val>
                                            <p:fltVal val="0"/>
                                          </p:val>
                                        </p:tav>
                                      </p:tavLst>
                                    </p:anim>
                                    <p:anim calcmode="lin" valueType="num">
                                      <p:cBhvr>
                                        <p:cTn id="120" dur="500"/>
                                        <p:tgtEl>
                                          <p:spTgt spid="17"/>
                                        </p:tgtEl>
                                        <p:attrNameLst>
                                          <p:attrName>ppt_h</p:attrName>
                                        </p:attrNameLst>
                                      </p:cBhvr>
                                      <p:tavLst>
                                        <p:tav tm="0">
                                          <p:val>
                                            <p:strVal val="ppt_h"/>
                                          </p:val>
                                        </p:tav>
                                        <p:tav tm="100000">
                                          <p:val>
                                            <p:fltVal val="0"/>
                                          </p:val>
                                        </p:tav>
                                      </p:tavLst>
                                    </p:anim>
                                    <p:animEffect transition="out" filter="fade">
                                      <p:cBhvr>
                                        <p:cTn id="121" dur="500"/>
                                        <p:tgtEl>
                                          <p:spTgt spid="17"/>
                                        </p:tgtEl>
                                      </p:cBhvr>
                                    </p:animEffect>
                                    <p:set>
                                      <p:cBhvr>
                                        <p:cTn id="122" dur="1" fill="hold">
                                          <p:stCondLst>
                                            <p:cond delay="499"/>
                                          </p:stCondLst>
                                        </p:cTn>
                                        <p:tgtEl>
                                          <p:spTgt spid="17"/>
                                        </p:tgtEl>
                                        <p:attrNameLst>
                                          <p:attrName>style.visibility</p:attrName>
                                        </p:attrNameLst>
                                      </p:cBhvr>
                                      <p:to>
                                        <p:strVal val="hidden"/>
                                      </p:to>
                                    </p:set>
                                  </p:childTnLst>
                                </p:cTn>
                              </p:par>
                              <p:par>
                                <p:cTn id="123" presetID="53" presetClass="exit" presetSubtype="0" fill="hold" nodeType="withEffect">
                                  <p:stCondLst>
                                    <p:cond delay="1900"/>
                                  </p:stCondLst>
                                  <p:childTnLst>
                                    <p:anim calcmode="lin" valueType="num">
                                      <p:cBhvr>
                                        <p:cTn id="124" dur="500"/>
                                        <p:tgtEl>
                                          <p:spTgt spid="18"/>
                                        </p:tgtEl>
                                        <p:attrNameLst>
                                          <p:attrName>ppt_w</p:attrName>
                                        </p:attrNameLst>
                                      </p:cBhvr>
                                      <p:tavLst>
                                        <p:tav tm="0">
                                          <p:val>
                                            <p:strVal val="ppt_w"/>
                                          </p:val>
                                        </p:tav>
                                        <p:tav tm="100000">
                                          <p:val>
                                            <p:fltVal val="0"/>
                                          </p:val>
                                        </p:tav>
                                      </p:tavLst>
                                    </p:anim>
                                    <p:anim calcmode="lin" valueType="num">
                                      <p:cBhvr>
                                        <p:cTn id="125" dur="500"/>
                                        <p:tgtEl>
                                          <p:spTgt spid="18"/>
                                        </p:tgtEl>
                                        <p:attrNameLst>
                                          <p:attrName>ppt_h</p:attrName>
                                        </p:attrNameLst>
                                      </p:cBhvr>
                                      <p:tavLst>
                                        <p:tav tm="0">
                                          <p:val>
                                            <p:strVal val="ppt_h"/>
                                          </p:val>
                                        </p:tav>
                                        <p:tav tm="100000">
                                          <p:val>
                                            <p:fltVal val="0"/>
                                          </p:val>
                                        </p:tav>
                                      </p:tavLst>
                                    </p:anim>
                                    <p:animEffect transition="out" filter="fade">
                                      <p:cBhvr>
                                        <p:cTn id="126" dur="500"/>
                                        <p:tgtEl>
                                          <p:spTgt spid="18"/>
                                        </p:tgtEl>
                                      </p:cBhvr>
                                    </p:animEffect>
                                    <p:set>
                                      <p:cBhvr>
                                        <p:cTn id="127" dur="1" fill="hold">
                                          <p:stCondLst>
                                            <p:cond delay="499"/>
                                          </p:stCondLst>
                                        </p:cTn>
                                        <p:tgtEl>
                                          <p:spTgt spid="18"/>
                                        </p:tgtEl>
                                        <p:attrNameLst>
                                          <p:attrName>style.visibility</p:attrName>
                                        </p:attrNameLst>
                                      </p:cBhvr>
                                      <p:to>
                                        <p:strVal val="hidden"/>
                                      </p:to>
                                    </p:set>
                                  </p:childTnLst>
                                </p:cTn>
                              </p:par>
                              <p:par>
                                <p:cTn id="128" presetID="53" presetClass="exit" presetSubtype="0" fill="hold" nodeType="withEffect">
                                  <p:stCondLst>
                                    <p:cond delay="2300"/>
                                  </p:stCondLst>
                                  <p:childTnLst>
                                    <p:anim calcmode="lin" valueType="num">
                                      <p:cBhvr>
                                        <p:cTn id="129" dur="500"/>
                                        <p:tgtEl>
                                          <p:spTgt spid="19"/>
                                        </p:tgtEl>
                                        <p:attrNameLst>
                                          <p:attrName>ppt_w</p:attrName>
                                        </p:attrNameLst>
                                      </p:cBhvr>
                                      <p:tavLst>
                                        <p:tav tm="0">
                                          <p:val>
                                            <p:strVal val="ppt_w"/>
                                          </p:val>
                                        </p:tav>
                                        <p:tav tm="100000">
                                          <p:val>
                                            <p:fltVal val="0"/>
                                          </p:val>
                                        </p:tav>
                                      </p:tavLst>
                                    </p:anim>
                                    <p:anim calcmode="lin" valueType="num">
                                      <p:cBhvr>
                                        <p:cTn id="130" dur="500"/>
                                        <p:tgtEl>
                                          <p:spTgt spid="19"/>
                                        </p:tgtEl>
                                        <p:attrNameLst>
                                          <p:attrName>ppt_h</p:attrName>
                                        </p:attrNameLst>
                                      </p:cBhvr>
                                      <p:tavLst>
                                        <p:tav tm="0">
                                          <p:val>
                                            <p:strVal val="ppt_h"/>
                                          </p:val>
                                        </p:tav>
                                        <p:tav tm="100000">
                                          <p:val>
                                            <p:fltVal val="0"/>
                                          </p:val>
                                        </p:tav>
                                      </p:tavLst>
                                    </p:anim>
                                    <p:animEffect transition="out" filter="fade">
                                      <p:cBhvr>
                                        <p:cTn id="131" dur="500"/>
                                        <p:tgtEl>
                                          <p:spTgt spid="19"/>
                                        </p:tgtEl>
                                      </p:cBhvr>
                                    </p:animEffect>
                                    <p:set>
                                      <p:cBhvr>
                                        <p:cTn id="132" dur="1" fill="hold">
                                          <p:stCondLst>
                                            <p:cond delay="499"/>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4" cstate="print">
            <a:lum/>
          </a:blip>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1" y="908051"/>
            <a:ext cx="10977563"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4" tIns="45717" rIns="91434" bIns="45717" numCol="1" anchor="ctr" anchorCtr="0" compatLnSpc="1"/>
          <a:lstStyle/>
          <a:p>
            <a:pPr lvl="0"/>
            <a:r>
              <a:rPr lang="zh-CN" dirty="0"/>
              <a:t>单击此处编辑母版标题样式</a:t>
            </a:r>
          </a:p>
        </p:txBody>
      </p:sp>
      <p:sp>
        <p:nvSpPr>
          <p:cNvPr id="1027" name="Rectangle 3"/>
          <p:cNvSpPr>
            <a:spLocks noGrp="1" noChangeArrowheads="1"/>
          </p:cNvSpPr>
          <p:nvPr>
            <p:ph type="body" idx="1"/>
          </p:nvPr>
        </p:nvSpPr>
        <p:spPr bwMode="auto">
          <a:xfrm>
            <a:off x="609601" y="1600201"/>
            <a:ext cx="10977563"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4" tIns="45717" rIns="91434" bIns="45717" numCol="1" anchor="t" anchorCtr="0" compatLnSpc="1"/>
          <a:lstStyle/>
          <a:p>
            <a:pPr lvl="0"/>
            <a:r>
              <a:rPr lang="zh-CN" dirty="0"/>
              <a:t>单击此处编辑母版文本样式</a:t>
            </a:r>
          </a:p>
          <a:p>
            <a:pPr lvl="1"/>
            <a:r>
              <a:rPr lang="zh-CN" dirty="0"/>
              <a:t>第二级</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xmlns:p14="http://schemas.microsoft.com/office/powerpoint/2010/main">
    <mc:Choice Requires="p14">
      <p:transition p14:dur="10" advTm="9437"/>
    </mc:Choice>
    <mc:Fallback xmlns="">
      <p:transition advTm="9437"/>
    </mc:Fallback>
  </mc:AlternateContent>
  <p:txStyles>
    <p:titleStyle>
      <a:lvl1pPr algn="l" rtl="0" fontAlgn="base">
        <a:spcBef>
          <a:spcPct val="0"/>
        </a:spcBef>
        <a:spcAft>
          <a:spcPct val="0"/>
        </a:spcAft>
        <a:defRPr sz="2400">
          <a:solidFill>
            <a:schemeClr val="accent1"/>
          </a:solidFill>
          <a:latin typeface="+mj-lt"/>
          <a:ea typeface="+mj-ea"/>
          <a:cs typeface="+mj-cs"/>
        </a:defRPr>
      </a:lvl1pPr>
      <a:lvl2pPr algn="l" rtl="0" fontAlgn="base">
        <a:spcBef>
          <a:spcPct val="0"/>
        </a:spcBef>
        <a:spcAft>
          <a:spcPct val="0"/>
        </a:spcAft>
        <a:defRPr sz="2400">
          <a:solidFill>
            <a:schemeClr val="tx2"/>
          </a:solidFill>
          <a:latin typeface="Arial" pitchFamily="34" charset="0"/>
          <a:ea typeface="微软雅黑" pitchFamily="34" charset="-122"/>
        </a:defRPr>
      </a:lvl2pPr>
      <a:lvl3pPr algn="l" rtl="0" fontAlgn="base">
        <a:spcBef>
          <a:spcPct val="0"/>
        </a:spcBef>
        <a:spcAft>
          <a:spcPct val="0"/>
        </a:spcAft>
        <a:defRPr sz="2400">
          <a:solidFill>
            <a:schemeClr val="tx2"/>
          </a:solidFill>
          <a:latin typeface="Arial" pitchFamily="34" charset="0"/>
          <a:ea typeface="微软雅黑" pitchFamily="34" charset="-122"/>
        </a:defRPr>
      </a:lvl3pPr>
      <a:lvl4pPr algn="l" rtl="0" fontAlgn="base">
        <a:spcBef>
          <a:spcPct val="0"/>
        </a:spcBef>
        <a:spcAft>
          <a:spcPct val="0"/>
        </a:spcAft>
        <a:defRPr sz="2400">
          <a:solidFill>
            <a:schemeClr val="tx2"/>
          </a:solidFill>
          <a:latin typeface="Arial" pitchFamily="34" charset="0"/>
          <a:ea typeface="微软雅黑" pitchFamily="34" charset="-122"/>
        </a:defRPr>
      </a:lvl4pPr>
      <a:lvl5pPr algn="l" rtl="0" fontAlgn="base">
        <a:spcBef>
          <a:spcPct val="0"/>
        </a:spcBef>
        <a:spcAft>
          <a:spcPct val="0"/>
        </a:spcAft>
        <a:defRPr sz="2400">
          <a:solidFill>
            <a:schemeClr val="tx2"/>
          </a:solidFill>
          <a:latin typeface="Arial" pitchFamily="34" charset="0"/>
          <a:ea typeface="微软雅黑" pitchFamily="34" charset="-122"/>
        </a:defRPr>
      </a:lvl5pPr>
      <a:lvl6pPr marL="457170" algn="l" rtl="0" fontAlgn="base">
        <a:spcBef>
          <a:spcPct val="0"/>
        </a:spcBef>
        <a:spcAft>
          <a:spcPct val="0"/>
        </a:spcAft>
        <a:defRPr sz="2400">
          <a:solidFill>
            <a:schemeClr val="tx2"/>
          </a:solidFill>
          <a:latin typeface="Arial" pitchFamily="34" charset="0"/>
          <a:ea typeface="微软雅黑" pitchFamily="34" charset="-122"/>
        </a:defRPr>
      </a:lvl6pPr>
      <a:lvl7pPr marL="914339" algn="l" rtl="0" fontAlgn="base">
        <a:spcBef>
          <a:spcPct val="0"/>
        </a:spcBef>
        <a:spcAft>
          <a:spcPct val="0"/>
        </a:spcAft>
        <a:defRPr sz="2400">
          <a:solidFill>
            <a:schemeClr val="tx2"/>
          </a:solidFill>
          <a:latin typeface="Arial" pitchFamily="34" charset="0"/>
          <a:ea typeface="微软雅黑" pitchFamily="34" charset="-122"/>
        </a:defRPr>
      </a:lvl7pPr>
      <a:lvl8pPr marL="1371509" algn="l" rtl="0" fontAlgn="base">
        <a:spcBef>
          <a:spcPct val="0"/>
        </a:spcBef>
        <a:spcAft>
          <a:spcPct val="0"/>
        </a:spcAft>
        <a:defRPr sz="2400">
          <a:solidFill>
            <a:schemeClr val="tx2"/>
          </a:solidFill>
          <a:latin typeface="Arial" pitchFamily="34" charset="0"/>
          <a:ea typeface="微软雅黑" pitchFamily="34" charset="-122"/>
        </a:defRPr>
      </a:lvl8pPr>
      <a:lvl9pPr marL="1828678" algn="l" rtl="0" fontAlgn="base">
        <a:spcBef>
          <a:spcPct val="0"/>
        </a:spcBef>
        <a:spcAft>
          <a:spcPct val="0"/>
        </a:spcAft>
        <a:defRPr sz="2400">
          <a:solidFill>
            <a:schemeClr val="tx2"/>
          </a:solidFill>
          <a:latin typeface="Arial" pitchFamily="34" charset="0"/>
          <a:ea typeface="微软雅黑" pitchFamily="34" charset="-122"/>
        </a:defRPr>
      </a:lvl9pPr>
    </p:titleStyle>
    <p:bodyStyle>
      <a:lvl1pPr marL="342877" indent="-342877" algn="l" rtl="0" fontAlgn="base">
        <a:spcBef>
          <a:spcPct val="20000"/>
        </a:spcBef>
        <a:spcAft>
          <a:spcPct val="0"/>
        </a:spcAft>
        <a:buChar char="•"/>
        <a:defRPr sz="2000">
          <a:solidFill>
            <a:schemeClr val="accent1"/>
          </a:solidFill>
          <a:latin typeface="+mn-lt"/>
          <a:ea typeface="+mn-ea"/>
          <a:cs typeface="+mn-cs"/>
        </a:defRPr>
      </a:lvl1pPr>
      <a:lvl2pPr marL="742901" indent="-285730" algn="l" rtl="0" eaLnBrk="0" fontAlgn="base" hangingPunct="0">
        <a:spcBef>
          <a:spcPct val="20000"/>
        </a:spcBef>
        <a:spcAft>
          <a:spcPct val="0"/>
        </a:spcAft>
        <a:buChar char="–"/>
        <a:defRPr sz="2000">
          <a:solidFill>
            <a:schemeClr val="accent1"/>
          </a:solidFill>
          <a:latin typeface="+mn-lt"/>
          <a:ea typeface="仿宋_GB2312" pitchFamily="49" charset="-122"/>
        </a:defRPr>
      </a:lvl2pPr>
      <a:lvl3pPr marL="1142923" indent="-228584" algn="l" rtl="0" eaLnBrk="0" fontAlgn="base" hangingPunct="0">
        <a:spcBef>
          <a:spcPct val="20000"/>
        </a:spcBef>
        <a:spcAft>
          <a:spcPct val="0"/>
        </a:spcAft>
        <a:buChar char="•"/>
        <a:defRPr sz="2400">
          <a:solidFill>
            <a:schemeClr val="tx1"/>
          </a:solidFill>
          <a:latin typeface="+mn-lt"/>
          <a:ea typeface="宋体" pitchFamily="2" charset="-122"/>
        </a:defRPr>
      </a:lvl3pPr>
      <a:lvl4pPr marL="1600093" indent="-228584" algn="l" rtl="0" eaLnBrk="0" fontAlgn="base" hangingPunct="0">
        <a:spcBef>
          <a:spcPct val="20000"/>
        </a:spcBef>
        <a:spcAft>
          <a:spcPct val="0"/>
        </a:spcAft>
        <a:buChar char="–"/>
        <a:defRPr sz="2000">
          <a:solidFill>
            <a:schemeClr val="tx1"/>
          </a:solidFill>
          <a:latin typeface="+mn-lt"/>
          <a:ea typeface="宋体" pitchFamily="2" charset="-122"/>
        </a:defRPr>
      </a:lvl4pPr>
      <a:lvl5pPr marL="2057263" indent="-228584" algn="l" rtl="0" eaLnBrk="0" fontAlgn="base" hangingPunct="0">
        <a:spcBef>
          <a:spcPct val="20000"/>
        </a:spcBef>
        <a:spcAft>
          <a:spcPct val="0"/>
        </a:spcAft>
        <a:buChar char="»"/>
        <a:defRPr sz="2000">
          <a:solidFill>
            <a:schemeClr val="tx1"/>
          </a:solidFill>
          <a:latin typeface="+mn-lt"/>
          <a:ea typeface="宋体" pitchFamily="2" charset="-122"/>
        </a:defRPr>
      </a:lvl5pPr>
      <a:lvl6pPr marL="2514432" indent="-228584" algn="l" rtl="0" eaLnBrk="0" fontAlgn="base" hangingPunct="0">
        <a:spcBef>
          <a:spcPct val="20000"/>
        </a:spcBef>
        <a:spcAft>
          <a:spcPct val="0"/>
        </a:spcAft>
        <a:buChar char="»"/>
        <a:defRPr sz="2000">
          <a:solidFill>
            <a:schemeClr val="tx1"/>
          </a:solidFill>
          <a:latin typeface="+mn-lt"/>
          <a:ea typeface="宋体" pitchFamily="2" charset="-122"/>
        </a:defRPr>
      </a:lvl6pPr>
      <a:lvl7pPr marL="2971602" indent="-228584" algn="l" rtl="0" eaLnBrk="0" fontAlgn="base" hangingPunct="0">
        <a:spcBef>
          <a:spcPct val="20000"/>
        </a:spcBef>
        <a:spcAft>
          <a:spcPct val="0"/>
        </a:spcAft>
        <a:buChar char="»"/>
        <a:defRPr sz="2000">
          <a:solidFill>
            <a:schemeClr val="tx1"/>
          </a:solidFill>
          <a:latin typeface="+mn-lt"/>
          <a:ea typeface="宋体" pitchFamily="2" charset="-122"/>
        </a:defRPr>
      </a:lvl7pPr>
      <a:lvl8pPr marL="3428771" indent="-228584" algn="l" rtl="0" eaLnBrk="0" fontAlgn="base" hangingPunct="0">
        <a:spcBef>
          <a:spcPct val="20000"/>
        </a:spcBef>
        <a:spcAft>
          <a:spcPct val="0"/>
        </a:spcAft>
        <a:buChar char="»"/>
        <a:defRPr sz="2000">
          <a:solidFill>
            <a:schemeClr val="tx1"/>
          </a:solidFill>
          <a:latin typeface="+mn-lt"/>
          <a:ea typeface="宋体" pitchFamily="2" charset="-122"/>
        </a:defRPr>
      </a:lvl8pPr>
      <a:lvl9pPr marL="3885941" indent="-228584" algn="l" rtl="0" eaLnBrk="0" fontAlgn="base" hangingPunct="0">
        <a:spcBef>
          <a:spcPct val="20000"/>
        </a:spcBef>
        <a:spcAft>
          <a:spcPct val="0"/>
        </a:spcAft>
        <a:buChar char="»"/>
        <a:defRPr sz="2000">
          <a:solidFill>
            <a:schemeClr val="tx1"/>
          </a:solidFill>
          <a:latin typeface="+mn-lt"/>
          <a:ea typeface="宋体" pitchFamily="2" charset="-122"/>
        </a:defRPr>
      </a:lvl9pPr>
    </p:bodyStyle>
    <p:otherStyle>
      <a:defPPr>
        <a:defRPr lang="zh-CN"/>
      </a:defPPr>
      <a:lvl1pPr marL="0" algn="l" defTabSz="914339" rtl="0" eaLnBrk="1" latinLnBrk="0" hangingPunct="1">
        <a:defRPr sz="1700" kern="1200">
          <a:solidFill>
            <a:schemeClr val="tx1"/>
          </a:solidFill>
          <a:latin typeface="+mn-lt"/>
          <a:ea typeface="+mn-ea"/>
          <a:cs typeface="+mn-cs"/>
        </a:defRPr>
      </a:lvl1pPr>
      <a:lvl2pPr marL="457170" algn="l" defTabSz="914339" rtl="0" eaLnBrk="1" latinLnBrk="0" hangingPunct="1">
        <a:defRPr sz="1700" kern="1200">
          <a:solidFill>
            <a:schemeClr val="tx1"/>
          </a:solidFill>
          <a:latin typeface="+mn-lt"/>
          <a:ea typeface="+mn-ea"/>
          <a:cs typeface="+mn-cs"/>
        </a:defRPr>
      </a:lvl2pPr>
      <a:lvl3pPr marL="914339" algn="l" defTabSz="914339" rtl="0" eaLnBrk="1" latinLnBrk="0" hangingPunct="1">
        <a:defRPr sz="1700" kern="1200">
          <a:solidFill>
            <a:schemeClr val="tx1"/>
          </a:solidFill>
          <a:latin typeface="+mn-lt"/>
          <a:ea typeface="+mn-ea"/>
          <a:cs typeface="+mn-cs"/>
        </a:defRPr>
      </a:lvl3pPr>
      <a:lvl4pPr marL="1371509" algn="l" defTabSz="914339" rtl="0" eaLnBrk="1" latinLnBrk="0" hangingPunct="1">
        <a:defRPr sz="1700" kern="1200">
          <a:solidFill>
            <a:schemeClr val="tx1"/>
          </a:solidFill>
          <a:latin typeface="+mn-lt"/>
          <a:ea typeface="+mn-ea"/>
          <a:cs typeface="+mn-cs"/>
        </a:defRPr>
      </a:lvl4pPr>
      <a:lvl5pPr marL="1828678" algn="l" defTabSz="914339" rtl="0" eaLnBrk="1" latinLnBrk="0" hangingPunct="1">
        <a:defRPr sz="1700" kern="1200">
          <a:solidFill>
            <a:schemeClr val="tx1"/>
          </a:solidFill>
          <a:latin typeface="+mn-lt"/>
          <a:ea typeface="+mn-ea"/>
          <a:cs typeface="+mn-cs"/>
        </a:defRPr>
      </a:lvl5pPr>
      <a:lvl6pPr marL="2285848" algn="l" defTabSz="914339" rtl="0" eaLnBrk="1" latinLnBrk="0" hangingPunct="1">
        <a:defRPr sz="1700" kern="1200">
          <a:solidFill>
            <a:schemeClr val="tx1"/>
          </a:solidFill>
          <a:latin typeface="+mn-lt"/>
          <a:ea typeface="+mn-ea"/>
          <a:cs typeface="+mn-cs"/>
        </a:defRPr>
      </a:lvl6pPr>
      <a:lvl7pPr marL="2743016" algn="l" defTabSz="914339" rtl="0" eaLnBrk="1" latinLnBrk="0" hangingPunct="1">
        <a:defRPr sz="1700" kern="1200">
          <a:solidFill>
            <a:schemeClr val="tx1"/>
          </a:solidFill>
          <a:latin typeface="+mn-lt"/>
          <a:ea typeface="+mn-ea"/>
          <a:cs typeface="+mn-cs"/>
        </a:defRPr>
      </a:lvl7pPr>
      <a:lvl8pPr marL="3200187" algn="l" defTabSz="914339" rtl="0" eaLnBrk="1" latinLnBrk="0" hangingPunct="1">
        <a:defRPr sz="1700" kern="1200">
          <a:solidFill>
            <a:schemeClr val="tx1"/>
          </a:solidFill>
          <a:latin typeface="+mn-lt"/>
          <a:ea typeface="+mn-ea"/>
          <a:cs typeface="+mn-cs"/>
        </a:defRPr>
      </a:lvl8pPr>
      <a:lvl9pPr marL="3657355" algn="l" defTabSz="914339" rtl="0" eaLnBrk="1" latinLnBrk="0" hangingPunct="1">
        <a:defRPr sz="1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6" y="44625"/>
            <a:ext cx="5042228"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smtClean="0">
                <a:solidFill>
                  <a:schemeClr val="accent2"/>
                </a:solidFill>
                <a:latin typeface="微软雅黑"/>
                <a:ea typeface="微软雅黑"/>
              </a:rPr>
              <a:t>9.6</a:t>
            </a:r>
            <a:r>
              <a:rPr lang="en-US" altLang="zh-CN" sz="2800" dirty="0">
                <a:solidFill>
                  <a:schemeClr val="accent2"/>
                </a:solidFill>
                <a:latin typeface="微软雅黑"/>
                <a:ea typeface="微软雅黑"/>
              </a:rPr>
              <a:t> </a:t>
            </a:r>
            <a:r>
              <a:rPr lang="zh-CN" altLang="en-US" sz="2800" dirty="0" smtClean="0">
                <a:solidFill>
                  <a:schemeClr val="accent2"/>
                </a:solidFill>
                <a:latin typeface="微软雅黑"/>
                <a:ea typeface="微软雅黑"/>
              </a:rPr>
              <a:t>量化投资策略设计与分析</a:t>
            </a:r>
            <a:endParaRPr lang="zh-CN" altLang="en-US" sz="2800" dirty="0">
              <a:solidFill>
                <a:schemeClr val="accent2"/>
              </a:solidFill>
              <a:latin typeface="微软雅黑"/>
              <a:ea typeface="微软雅黑"/>
            </a:endParaRP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 </a:t>
            </a:r>
            <a:r>
              <a:rPr lang="en-US" altLang="zh-CN" sz="2000" dirty="0" smtClean="0">
                <a:solidFill>
                  <a:schemeClr val="accent2"/>
                </a:solidFill>
              </a:rPr>
              <a:t>9</a:t>
            </a:r>
            <a:r>
              <a:rPr lang="en-US" altLang="zh-CN" dirty="0" smtClean="0">
                <a:solidFill>
                  <a:schemeClr val="accent2"/>
                </a:solidFill>
              </a:rPr>
              <a:t> </a:t>
            </a:r>
            <a:endParaRPr lang="zh-CN" altLang="en-US" dirty="0">
              <a:solidFill>
                <a:schemeClr val="accent2"/>
              </a:solidFill>
            </a:endParaRPr>
          </a:p>
        </p:txBody>
      </p:sp>
      <p:sp>
        <p:nvSpPr>
          <p:cNvPr id="3" name="矩形 2"/>
          <p:cNvSpPr/>
          <p:nvPr/>
        </p:nvSpPr>
        <p:spPr>
          <a:xfrm>
            <a:off x="841797" y="980728"/>
            <a:ext cx="10369152" cy="1938992"/>
          </a:xfrm>
          <a:prstGeom prst="rect">
            <a:avLst/>
          </a:prstGeom>
        </p:spPr>
        <p:txBody>
          <a:bodyPr wrap="square">
            <a:spAutoFit/>
          </a:bodyPr>
          <a:lstStyle/>
          <a:p>
            <a:pPr indent="266700" algn="just">
              <a:spcAft>
                <a:spcPts val="0"/>
              </a:spcAft>
            </a:pPr>
            <a:r>
              <a:rPr lang="zh-CN" altLang="zh-CN" sz="2000" kern="100" dirty="0">
                <a:latin typeface="Calibri"/>
                <a:ea typeface="宋体"/>
                <a:cs typeface="Times New Roman"/>
              </a:rPr>
              <a:t>作为一个例子，在</a:t>
            </a:r>
            <a:r>
              <a:rPr lang="en-US" altLang="zh-CN" sz="2000" kern="100" dirty="0">
                <a:latin typeface="Calibri"/>
                <a:ea typeface="宋体"/>
                <a:cs typeface="Times New Roman"/>
              </a:rPr>
              <a:t>9.3~9.5</a:t>
            </a:r>
            <a:r>
              <a:rPr lang="zh-CN" altLang="zh-CN" sz="2000" kern="100" dirty="0">
                <a:latin typeface="Calibri"/>
                <a:ea typeface="宋体"/>
                <a:cs typeface="Times New Roman"/>
              </a:rPr>
              <a:t>中我们以上汽集团股票代码</a:t>
            </a:r>
            <a:r>
              <a:rPr lang="en-US" altLang="zh-CN" sz="2000" kern="100" dirty="0">
                <a:latin typeface="Calibri"/>
                <a:ea typeface="宋体"/>
                <a:cs typeface="Times New Roman"/>
              </a:rPr>
              <a:t>2017</a:t>
            </a:r>
            <a:r>
              <a:rPr lang="zh-CN" altLang="zh-CN" sz="2000" kern="100" dirty="0">
                <a:latin typeface="Calibri"/>
                <a:ea typeface="宋体"/>
                <a:cs typeface="Times New Roman"/>
              </a:rPr>
              <a:t>年</a:t>
            </a:r>
            <a:r>
              <a:rPr lang="en-US" altLang="zh-CN" sz="2000" kern="100" dirty="0">
                <a:latin typeface="Calibri"/>
                <a:ea typeface="宋体"/>
                <a:cs typeface="Times New Roman"/>
              </a:rPr>
              <a:t>1</a:t>
            </a:r>
            <a:r>
              <a:rPr lang="zh-CN" altLang="zh-CN" sz="2000" kern="100" dirty="0">
                <a:latin typeface="Calibri"/>
                <a:ea typeface="宋体"/>
                <a:cs typeface="Times New Roman"/>
              </a:rPr>
              <a:t>月</a:t>
            </a:r>
            <a:r>
              <a:rPr lang="en-US" altLang="zh-CN" sz="2000" kern="100" dirty="0">
                <a:latin typeface="Calibri"/>
                <a:ea typeface="宋体"/>
                <a:cs typeface="Times New Roman"/>
              </a:rPr>
              <a:t>~11</a:t>
            </a:r>
            <a:r>
              <a:rPr lang="zh-CN" altLang="zh-CN" sz="2000" kern="100" dirty="0">
                <a:latin typeface="Calibri"/>
                <a:ea typeface="宋体"/>
                <a:cs typeface="Times New Roman"/>
              </a:rPr>
              <a:t>月的交易数据计算技术分析指标和涨跌趋势指标作为训练样本，以</a:t>
            </a:r>
            <a:r>
              <a:rPr lang="en-US" altLang="zh-CN" sz="2000" kern="100" dirty="0">
                <a:latin typeface="Calibri"/>
                <a:ea typeface="宋体"/>
                <a:cs typeface="Times New Roman"/>
              </a:rPr>
              <a:t>2017</a:t>
            </a:r>
            <a:r>
              <a:rPr lang="zh-CN" altLang="zh-CN" sz="2000" kern="100" dirty="0">
                <a:latin typeface="Calibri"/>
                <a:ea typeface="宋体"/>
                <a:cs typeface="Times New Roman"/>
              </a:rPr>
              <a:t>年</a:t>
            </a:r>
            <a:r>
              <a:rPr lang="en-US" altLang="zh-CN" sz="2000" kern="100" dirty="0">
                <a:latin typeface="Calibri"/>
                <a:ea typeface="宋体"/>
                <a:cs typeface="Times New Roman"/>
              </a:rPr>
              <a:t>12</a:t>
            </a:r>
            <a:r>
              <a:rPr lang="zh-CN" altLang="zh-CN" sz="2000" kern="100" dirty="0">
                <a:latin typeface="Calibri"/>
                <a:ea typeface="宋体"/>
                <a:cs typeface="Times New Roman"/>
              </a:rPr>
              <a:t>月的交易数据计算的技术分析指标数据作为测试样本，并预测其涨跌趋势，同时根据其预测结果设计了一个投资策略并进行了投资收益率分析。本节我们将这一分析过程的程序代码定义为一个函数（见</a:t>
            </a:r>
            <a:r>
              <a:rPr lang="en-US" altLang="zh-CN" sz="2000" kern="100" dirty="0">
                <a:latin typeface="Calibri"/>
                <a:ea typeface="宋体"/>
                <a:cs typeface="Times New Roman"/>
              </a:rPr>
              <a:t>9.6.1</a:t>
            </a:r>
            <a:r>
              <a:rPr lang="zh-CN" altLang="zh-CN" sz="2000" kern="100" dirty="0">
                <a:latin typeface="Calibri"/>
                <a:ea typeface="宋体"/>
                <a:cs typeface="Times New Roman"/>
              </a:rPr>
              <a:t>），并以第</a:t>
            </a:r>
            <a:r>
              <a:rPr lang="en-US" altLang="zh-CN" sz="2000" kern="100" dirty="0">
                <a:latin typeface="Calibri"/>
                <a:ea typeface="宋体"/>
                <a:cs typeface="Times New Roman"/>
              </a:rPr>
              <a:t>8</a:t>
            </a:r>
            <a:r>
              <a:rPr lang="zh-CN" altLang="zh-CN" sz="2000" kern="100" dirty="0">
                <a:latin typeface="Calibri"/>
                <a:ea typeface="宋体"/>
                <a:cs typeface="Times New Roman"/>
              </a:rPr>
              <a:t>章中基于总体规模与投资效率指标的综合评价方法获得的优质股票构建投资组合，在此基础上进行量化投资策略设计。下面给出具体的计算流程及代码实现。</a:t>
            </a:r>
            <a:endParaRPr lang="zh-CN" altLang="zh-CN" sz="2000" kern="100" dirty="0">
              <a:effectLst/>
              <a:latin typeface="Calibri"/>
              <a:ea typeface="宋体"/>
              <a:cs typeface="Times New Roman"/>
            </a:endParaRPr>
          </a:p>
        </p:txBody>
      </p:sp>
    </p:spTree>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 </a:t>
            </a:r>
            <a:r>
              <a:rPr lang="en-US" altLang="zh-CN" sz="2000" dirty="0" smtClean="0">
                <a:solidFill>
                  <a:schemeClr val="accent2"/>
                </a:solidFill>
              </a:rPr>
              <a:t>9</a:t>
            </a:r>
            <a:r>
              <a:rPr lang="en-US" altLang="zh-CN" dirty="0" smtClean="0">
                <a:solidFill>
                  <a:schemeClr val="accent2"/>
                </a:solidFill>
              </a:rPr>
              <a:t> </a:t>
            </a:r>
            <a:endParaRPr lang="zh-CN" altLang="en-US" dirty="0">
              <a:solidFill>
                <a:schemeClr val="accent2"/>
              </a:solidFill>
            </a:endParaRPr>
          </a:p>
        </p:txBody>
      </p:sp>
      <p:sp>
        <p:nvSpPr>
          <p:cNvPr id="9" name="燕尾形 8"/>
          <p:cNvSpPr/>
          <p:nvPr/>
        </p:nvSpPr>
        <p:spPr bwMode="auto">
          <a:xfrm>
            <a:off x="6353299" y="63783"/>
            <a:ext cx="321146" cy="442499"/>
          </a:xfrm>
          <a:prstGeom prst="chevron">
            <a:avLst/>
          </a:prstGeom>
          <a:solidFill>
            <a:schemeClr val="accent2"/>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spcBef>
                <a:spcPct val="0"/>
              </a:spcBef>
              <a:spcAft>
                <a:spcPct val="0"/>
              </a:spcAft>
              <a:buClrTx/>
              <a:buSzTx/>
              <a:buFont typeface="Arial" pitchFamily="34" charset="0"/>
              <a:buNone/>
            </a:pPr>
            <a:endParaRPr kumimoji="0" lang="zh-CN" altLang="en-US" sz="1800" b="0" i="0" u="none" strike="noStrike" cap="none" normalizeH="0" baseline="0" smtClean="0">
              <a:ln>
                <a:noFill/>
              </a:ln>
              <a:solidFill>
                <a:schemeClr val="tx1"/>
              </a:solidFill>
              <a:effectLst/>
              <a:latin typeface="Arial" pitchFamily="34" charset="0"/>
              <a:ea typeface="宋体" pitchFamily="2" charset="-122"/>
            </a:endParaRPr>
          </a:p>
        </p:txBody>
      </p:sp>
      <p:sp>
        <p:nvSpPr>
          <p:cNvPr id="6" name="TextBox 5"/>
          <p:cNvSpPr txBox="1"/>
          <p:nvPr/>
        </p:nvSpPr>
        <p:spPr>
          <a:xfrm>
            <a:off x="7034485" y="121564"/>
            <a:ext cx="3312368" cy="523220"/>
          </a:xfrm>
          <a:prstGeom prst="rect">
            <a:avLst/>
          </a:prstGeom>
          <a:noFill/>
        </p:spPr>
        <p:txBody>
          <a:bodyPr wrap="square" rtlCol="0">
            <a:spAutoFit/>
          </a:bodyPr>
          <a:lstStyle/>
          <a:p>
            <a:pPr lvl="0"/>
            <a:r>
              <a:rPr lang="en-US" altLang="zh-CN" sz="2800" dirty="0">
                <a:solidFill>
                  <a:srgbClr val="FFFFFF"/>
                </a:solidFill>
                <a:latin typeface="微软雅黑"/>
                <a:ea typeface="微软雅黑"/>
              </a:rPr>
              <a:t>9.6.1 </a:t>
            </a:r>
            <a:r>
              <a:rPr lang="zh-CN" altLang="en-US" sz="2800" dirty="0">
                <a:solidFill>
                  <a:srgbClr val="FFFFFF"/>
                </a:solidFill>
                <a:latin typeface="微软雅黑"/>
                <a:ea typeface="微软雅黑"/>
              </a:rPr>
              <a:t>函数定义</a:t>
            </a:r>
            <a:endParaRPr lang="zh-CN" altLang="en-US" sz="2800" dirty="0">
              <a:solidFill>
                <a:srgbClr val="FFFFFF"/>
              </a:solidFill>
              <a:latin typeface="微软雅黑"/>
              <a:ea typeface="微软雅黑"/>
            </a:endParaRPr>
          </a:p>
        </p:txBody>
      </p:sp>
      <p:sp>
        <p:nvSpPr>
          <p:cNvPr id="14" name="TextBox 13"/>
          <p:cNvSpPr txBox="1"/>
          <p:nvPr/>
        </p:nvSpPr>
        <p:spPr>
          <a:xfrm>
            <a:off x="1330766" y="44625"/>
            <a:ext cx="5042228"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smtClean="0">
                <a:solidFill>
                  <a:schemeClr val="accent2"/>
                </a:solidFill>
                <a:latin typeface="微软雅黑"/>
                <a:ea typeface="微软雅黑"/>
              </a:rPr>
              <a:t>9.6</a:t>
            </a:r>
            <a:r>
              <a:rPr lang="en-US" altLang="zh-CN" sz="2800" dirty="0">
                <a:solidFill>
                  <a:schemeClr val="accent2"/>
                </a:solidFill>
                <a:latin typeface="微软雅黑"/>
                <a:ea typeface="微软雅黑"/>
              </a:rPr>
              <a:t> </a:t>
            </a:r>
            <a:r>
              <a:rPr lang="zh-CN" altLang="en-US" sz="2800" dirty="0" smtClean="0">
                <a:solidFill>
                  <a:schemeClr val="accent2"/>
                </a:solidFill>
                <a:latin typeface="微软雅黑"/>
                <a:ea typeface="微软雅黑"/>
              </a:rPr>
              <a:t>量化投资策略设计与分析</a:t>
            </a:r>
            <a:endParaRPr lang="zh-CN" altLang="en-US" sz="2800" dirty="0">
              <a:solidFill>
                <a:schemeClr val="accent2"/>
              </a:solidFill>
              <a:latin typeface="微软雅黑"/>
              <a:ea typeface="微软雅黑"/>
            </a:endParaRPr>
          </a:p>
        </p:txBody>
      </p:sp>
      <p:sp>
        <p:nvSpPr>
          <p:cNvPr id="13" name="矩形 12"/>
          <p:cNvSpPr/>
          <p:nvPr/>
        </p:nvSpPr>
        <p:spPr>
          <a:xfrm>
            <a:off x="637914" y="669687"/>
            <a:ext cx="10739462" cy="2585323"/>
          </a:xfrm>
          <a:prstGeom prst="rect">
            <a:avLst/>
          </a:prstGeom>
        </p:spPr>
        <p:txBody>
          <a:bodyPr wrap="square">
            <a:spAutoFit/>
          </a:bodyPr>
          <a:lstStyle/>
          <a:p>
            <a:pPr indent="266700" algn="just">
              <a:spcAft>
                <a:spcPts val="0"/>
              </a:spcAft>
            </a:pPr>
            <a:r>
              <a:rPr lang="zh-CN" altLang="zh-CN" kern="100" dirty="0">
                <a:latin typeface="Calibri"/>
                <a:ea typeface="宋体"/>
                <a:cs typeface="Times New Roman"/>
              </a:rPr>
              <a:t>为了方便量化投资策略的使用，我们将</a:t>
            </a:r>
            <a:r>
              <a:rPr lang="en-US" altLang="zh-CN" kern="100" dirty="0">
                <a:latin typeface="Calibri"/>
                <a:ea typeface="宋体"/>
                <a:cs typeface="Times New Roman"/>
              </a:rPr>
              <a:t>9.3~9.5</a:t>
            </a:r>
            <a:r>
              <a:rPr lang="zh-CN" altLang="zh-CN" kern="100" dirty="0">
                <a:latin typeface="Calibri"/>
                <a:ea typeface="宋体"/>
                <a:cs typeface="Times New Roman"/>
              </a:rPr>
              <a:t>的分析内容及程序脚本定义为函数的形式，其函数名称为</a:t>
            </a:r>
            <a:r>
              <a:rPr lang="en-US" altLang="zh-CN" kern="100" dirty="0">
                <a:latin typeface="Calibri"/>
                <a:ea typeface="宋体"/>
                <a:cs typeface="Times New Roman"/>
              </a:rPr>
              <a:t>Re</a:t>
            </a:r>
            <a:r>
              <a:rPr lang="zh-CN" altLang="zh-CN" kern="100" dirty="0">
                <a:latin typeface="Calibri"/>
                <a:ea typeface="宋体"/>
                <a:cs typeface="Times New Roman"/>
              </a:rPr>
              <a:t>，存在于</a:t>
            </a:r>
            <a:r>
              <a:rPr lang="en-US" altLang="zh-CN" kern="100" dirty="0">
                <a:latin typeface="Calibri"/>
                <a:ea typeface="宋体"/>
                <a:cs typeface="Times New Roman"/>
              </a:rPr>
              <a:t>Re_comput.py</a:t>
            </a:r>
            <a:r>
              <a:rPr lang="zh-CN" altLang="zh-CN" kern="100" dirty="0">
                <a:latin typeface="Calibri"/>
                <a:ea typeface="宋体"/>
                <a:cs typeface="Times New Roman"/>
              </a:rPr>
              <a:t>文件中。该函数定义示例代码如下：</a:t>
            </a:r>
          </a:p>
          <a:p>
            <a:pPr algn="just">
              <a:spcAft>
                <a:spcPts val="0"/>
              </a:spcAft>
            </a:pPr>
            <a:r>
              <a:rPr lang="en-US" altLang="zh-CN" kern="100" dirty="0" err="1">
                <a:latin typeface="Calibri"/>
                <a:ea typeface="宋体"/>
                <a:cs typeface="Times New Roman"/>
              </a:rPr>
              <a:t>def</a:t>
            </a:r>
            <a:r>
              <a:rPr lang="en-US" altLang="zh-CN" kern="100" dirty="0">
                <a:latin typeface="Calibri"/>
                <a:ea typeface="宋体"/>
                <a:cs typeface="Times New Roman"/>
              </a:rPr>
              <a:t> Re(</a:t>
            </a:r>
            <a:r>
              <a:rPr lang="en-US" altLang="zh-CN" kern="100" dirty="0" err="1">
                <a:latin typeface="Calibri"/>
                <a:ea typeface="宋体"/>
                <a:cs typeface="Times New Roman"/>
              </a:rPr>
              <a:t>data,n</a:t>
            </a:r>
            <a:r>
              <a:rPr lang="en-US" altLang="zh-CN" kern="100" dirty="0">
                <a:latin typeface="Calibri"/>
                <a:ea typeface="宋体"/>
                <a:cs typeface="Times New Roman"/>
              </a:rPr>
              <a:t>):</a:t>
            </a:r>
            <a:endParaRPr lang="zh-CN" altLang="zh-CN" kern="100" dirty="0">
              <a:latin typeface="Calibri"/>
              <a:ea typeface="宋体"/>
              <a:cs typeface="Times New Roman"/>
            </a:endParaRPr>
          </a:p>
          <a:p>
            <a:pPr algn="just">
              <a:spcAft>
                <a:spcPts val="0"/>
              </a:spcAft>
            </a:pPr>
            <a:r>
              <a:rPr lang="en-US" altLang="zh-CN" kern="100" dirty="0">
                <a:latin typeface="Calibri"/>
                <a:ea typeface="宋体"/>
                <a:cs typeface="Times New Roman"/>
              </a:rPr>
              <a:t>   #data--</a:t>
            </a:r>
            <a:r>
              <a:rPr lang="zh-CN" altLang="zh-CN" kern="100" dirty="0">
                <a:latin typeface="Calibri"/>
                <a:ea typeface="宋体"/>
                <a:cs typeface="Times New Roman"/>
              </a:rPr>
              <a:t>表示某只股票代码的交易数据</a:t>
            </a:r>
          </a:p>
          <a:p>
            <a:pPr algn="just">
              <a:spcAft>
                <a:spcPts val="0"/>
              </a:spcAft>
            </a:pPr>
            <a:r>
              <a:rPr lang="en-US" altLang="zh-CN" kern="100" dirty="0">
                <a:latin typeface="Calibri"/>
                <a:ea typeface="宋体"/>
                <a:cs typeface="Times New Roman"/>
              </a:rPr>
              <a:t>   #n--</a:t>
            </a:r>
            <a:r>
              <a:rPr lang="zh-CN" altLang="zh-CN" kern="100" dirty="0">
                <a:latin typeface="Calibri"/>
                <a:ea typeface="宋体"/>
                <a:cs typeface="Times New Roman"/>
              </a:rPr>
              <a:t>表示选用的方法，</a:t>
            </a:r>
            <a:r>
              <a:rPr lang="en-US" altLang="zh-CN" kern="100" dirty="0">
                <a:latin typeface="Calibri"/>
                <a:ea typeface="宋体"/>
                <a:cs typeface="Times New Roman"/>
              </a:rPr>
              <a:t>0--</a:t>
            </a:r>
            <a:r>
              <a:rPr lang="zh-CN" altLang="zh-CN" kern="100" dirty="0">
                <a:latin typeface="Calibri"/>
                <a:ea typeface="宋体"/>
                <a:cs typeface="Times New Roman"/>
              </a:rPr>
              <a:t>神经网络，</a:t>
            </a:r>
            <a:r>
              <a:rPr lang="en-US" altLang="zh-CN" kern="100" dirty="0">
                <a:latin typeface="Calibri"/>
                <a:ea typeface="宋体"/>
                <a:cs typeface="Times New Roman"/>
              </a:rPr>
              <a:t>1--</a:t>
            </a:r>
            <a:r>
              <a:rPr lang="zh-CN" altLang="zh-CN" kern="100" dirty="0">
                <a:latin typeface="Calibri"/>
                <a:ea typeface="宋体"/>
                <a:cs typeface="Times New Roman"/>
              </a:rPr>
              <a:t>支持向量机，</a:t>
            </a:r>
            <a:r>
              <a:rPr lang="en-US" altLang="zh-CN" kern="100" dirty="0">
                <a:latin typeface="Calibri"/>
                <a:ea typeface="宋体"/>
                <a:cs typeface="Times New Roman"/>
              </a:rPr>
              <a:t>2--</a:t>
            </a:r>
            <a:r>
              <a:rPr lang="zh-CN" altLang="zh-CN" kern="100" dirty="0">
                <a:latin typeface="Calibri"/>
                <a:ea typeface="宋体"/>
                <a:cs typeface="Times New Roman"/>
              </a:rPr>
              <a:t>逻辑回归</a:t>
            </a:r>
          </a:p>
          <a:p>
            <a:pPr algn="just">
              <a:spcAft>
                <a:spcPts val="0"/>
              </a:spcAft>
            </a:pPr>
            <a:r>
              <a:rPr lang="en-US" altLang="zh-CN" kern="100" dirty="0">
                <a:latin typeface="Calibri"/>
                <a:ea typeface="宋体"/>
                <a:cs typeface="Times New Roman"/>
              </a:rPr>
              <a:t>   #</a:t>
            </a:r>
            <a:r>
              <a:rPr lang="zh-CN" altLang="zh-CN" kern="100" dirty="0">
                <a:latin typeface="Calibri"/>
                <a:ea typeface="宋体"/>
                <a:cs typeface="Times New Roman"/>
              </a:rPr>
              <a:t>返回结果为一个元组</a:t>
            </a:r>
            <a:r>
              <a:rPr lang="en-US" altLang="zh-CN" kern="100" dirty="0">
                <a:latin typeface="Calibri"/>
                <a:ea typeface="宋体"/>
                <a:cs typeface="Times New Roman"/>
              </a:rPr>
              <a:t>(</a:t>
            </a:r>
            <a:r>
              <a:rPr lang="en-US" altLang="zh-CN" kern="100" dirty="0" err="1">
                <a:latin typeface="Calibri"/>
                <a:ea typeface="宋体"/>
                <a:cs typeface="Times New Roman"/>
              </a:rPr>
              <a:t>R,r_list,r_total,sc</a:t>
            </a:r>
            <a:r>
              <a:rPr lang="en-US" altLang="zh-CN" kern="100" dirty="0">
                <a:latin typeface="Calibri"/>
                <a:ea typeface="宋体"/>
                <a:cs typeface="Times New Roman"/>
              </a:rPr>
              <a:t>)</a:t>
            </a:r>
            <a:endParaRPr lang="zh-CN" altLang="zh-CN" kern="100" dirty="0">
              <a:latin typeface="Calibri"/>
              <a:ea typeface="宋体"/>
              <a:cs typeface="Times New Roman"/>
            </a:endParaRPr>
          </a:p>
          <a:p>
            <a:pPr algn="just">
              <a:spcAft>
                <a:spcPts val="0"/>
              </a:spcAft>
            </a:pPr>
            <a:r>
              <a:rPr lang="en-US" altLang="zh-CN" kern="100" dirty="0">
                <a:latin typeface="Calibri"/>
                <a:ea typeface="宋体"/>
                <a:cs typeface="Times New Roman"/>
              </a:rPr>
              <a:t>   #</a:t>
            </a:r>
            <a:r>
              <a:rPr lang="zh-CN" altLang="zh-CN" kern="100" dirty="0">
                <a:latin typeface="Calibri"/>
                <a:ea typeface="宋体"/>
                <a:cs typeface="Times New Roman"/>
              </a:rPr>
              <a:t>其中</a:t>
            </a:r>
            <a:r>
              <a:rPr lang="en-US" altLang="zh-CN" kern="100" dirty="0">
                <a:latin typeface="Calibri"/>
                <a:ea typeface="宋体"/>
                <a:cs typeface="Times New Roman"/>
              </a:rPr>
              <a:t>R--</a:t>
            </a:r>
            <a:r>
              <a:rPr lang="zh-CN" altLang="zh-CN" kern="100" dirty="0">
                <a:latin typeface="Calibri"/>
                <a:ea typeface="宋体"/>
                <a:cs typeface="Times New Roman"/>
              </a:rPr>
              <a:t>表示预测准确率，</a:t>
            </a:r>
            <a:r>
              <a:rPr lang="en-US" altLang="zh-CN" kern="100" dirty="0" err="1">
                <a:latin typeface="Calibri"/>
                <a:ea typeface="宋体"/>
                <a:cs typeface="Times New Roman"/>
              </a:rPr>
              <a:t>r_list</a:t>
            </a:r>
            <a:r>
              <a:rPr lang="en-US" altLang="zh-CN" kern="100" dirty="0">
                <a:latin typeface="Calibri"/>
                <a:ea typeface="宋体"/>
                <a:cs typeface="Times New Roman"/>
              </a:rPr>
              <a:t>--</a:t>
            </a:r>
            <a:r>
              <a:rPr lang="zh-CN" altLang="zh-CN" kern="100" dirty="0">
                <a:latin typeface="Calibri"/>
                <a:ea typeface="宋体"/>
                <a:cs typeface="Times New Roman"/>
              </a:rPr>
              <a:t>表示策略每次投资收益</a:t>
            </a:r>
          </a:p>
          <a:p>
            <a:pPr algn="just">
              <a:spcAft>
                <a:spcPts val="0"/>
              </a:spcAft>
            </a:pPr>
            <a:r>
              <a:rPr lang="en-US" altLang="zh-CN" kern="100" dirty="0">
                <a:latin typeface="Calibri"/>
                <a:ea typeface="宋体"/>
                <a:cs typeface="Times New Roman"/>
              </a:rPr>
              <a:t>   # </a:t>
            </a:r>
            <a:r>
              <a:rPr lang="en-US" altLang="zh-CN" kern="100" dirty="0" err="1">
                <a:latin typeface="Calibri"/>
                <a:ea typeface="宋体"/>
                <a:cs typeface="Times New Roman"/>
              </a:rPr>
              <a:t>r_total</a:t>
            </a:r>
            <a:r>
              <a:rPr lang="en-US" altLang="zh-CN" kern="100" dirty="0">
                <a:latin typeface="Calibri"/>
                <a:ea typeface="宋体"/>
                <a:cs typeface="Times New Roman"/>
              </a:rPr>
              <a:t>--</a:t>
            </a:r>
            <a:r>
              <a:rPr lang="zh-CN" altLang="zh-CN" kern="100" dirty="0">
                <a:latin typeface="Calibri"/>
                <a:ea typeface="宋体"/>
                <a:cs typeface="Times New Roman"/>
              </a:rPr>
              <a:t>表示总收益，</a:t>
            </a:r>
            <a:r>
              <a:rPr lang="en-US" altLang="zh-CN" kern="100" dirty="0" err="1">
                <a:latin typeface="Calibri"/>
                <a:ea typeface="宋体"/>
                <a:cs typeface="Times New Roman"/>
              </a:rPr>
              <a:t>sc</a:t>
            </a:r>
            <a:r>
              <a:rPr lang="en-US" altLang="zh-CN" kern="100" dirty="0">
                <a:latin typeface="Calibri"/>
                <a:ea typeface="宋体"/>
                <a:cs typeface="Times New Roman"/>
              </a:rPr>
              <a:t>--</a:t>
            </a:r>
            <a:r>
              <a:rPr lang="zh-CN" altLang="zh-CN" kern="100" dirty="0">
                <a:latin typeface="Calibri"/>
                <a:ea typeface="宋体"/>
                <a:cs typeface="Times New Roman"/>
              </a:rPr>
              <a:t>表示模型准确率</a:t>
            </a:r>
          </a:p>
          <a:p>
            <a:pPr algn="just">
              <a:spcAft>
                <a:spcPts val="0"/>
              </a:spcAft>
            </a:pPr>
            <a:r>
              <a:rPr lang="en-US" altLang="zh-CN" kern="100" dirty="0">
                <a:latin typeface="Calibri"/>
                <a:ea typeface="宋体"/>
                <a:cs typeface="Times New Roman"/>
              </a:rPr>
              <a:t> </a:t>
            </a:r>
            <a:endParaRPr lang="zh-CN" altLang="zh-CN" kern="100" dirty="0">
              <a:effectLst/>
              <a:latin typeface="Calibri"/>
              <a:ea typeface="宋体"/>
              <a:cs typeface="Times New Roman"/>
            </a:endParaRPr>
          </a:p>
        </p:txBody>
      </p:sp>
      <p:sp>
        <p:nvSpPr>
          <p:cNvPr id="21" name="矩形 20"/>
          <p:cNvSpPr/>
          <p:nvPr/>
        </p:nvSpPr>
        <p:spPr>
          <a:xfrm>
            <a:off x="747998" y="3248346"/>
            <a:ext cx="4198255" cy="3139321"/>
          </a:xfrm>
          <a:prstGeom prst="rect">
            <a:avLst/>
          </a:prstGeom>
        </p:spPr>
        <p:txBody>
          <a:bodyPr wrap="square">
            <a:spAutoFit/>
          </a:bodyPr>
          <a:lstStyle/>
          <a:p>
            <a:pPr algn="just">
              <a:spcAft>
                <a:spcPts val="0"/>
              </a:spcAft>
            </a:pPr>
            <a:r>
              <a:rPr lang="en-US" altLang="zh-CN" kern="100" dirty="0">
                <a:latin typeface="Calibri"/>
                <a:ea typeface="宋体"/>
                <a:cs typeface="Times New Roman"/>
              </a:rPr>
              <a:t> ##1.</a:t>
            </a:r>
            <a:r>
              <a:rPr lang="zh-CN" altLang="zh-CN" kern="100" dirty="0">
                <a:latin typeface="Calibri"/>
                <a:ea typeface="宋体"/>
                <a:cs typeface="Times New Roman"/>
              </a:rPr>
              <a:t>计算指标</a:t>
            </a:r>
          </a:p>
          <a:p>
            <a:pPr algn="just">
              <a:spcAft>
                <a:spcPts val="0"/>
              </a:spcAft>
            </a:pPr>
            <a:r>
              <a:rPr lang="en-US" altLang="zh-CN" kern="100" dirty="0">
                <a:latin typeface="Calibri"/>
                <a:ea typeface="宋体"/>
                <a:cs typeface="Times New Roman"/>
              </a:rPr>
              <a:t>   import pandas as </a:t>
            </a:r>
            <a:r>
              <a:rPr lang="en-US" altLang="zh-CN" kern="100" dirty="0" err="1">
                <a:latin typeface="Calibri"/>
                <a:ea typeface="宋体"/>
                <a:cs typeface="Times New Roman"/>
              </a:rPr>
              <a:t>pd</a:t>
            </a:r>
            <a:endParaRPr lang="zh-CN" altLang="zh-CN" kern="100" dirty="0">
              <a:latin typeface="Calibri"/>
              <a:ea typeface="宋体"/>
              <a:cs typeface="Times New Roman"/>
            </a:endParaRPr>
          </a:p>
          <a:p>
            <a:pPr algn="just">
              <a:spcAft>
                <a:spcPts val="0"/>
              </a:spcAft>
            </a:pPr>
            <a:r>
              <a:rPr lang="en-US" altLang="zh-CN" kern="100" dirty="0">
                <a:latin typeface="Calibri"/>
                <a:ea typeface="宋体"/>
                <a:cs typeface="Times New Roman"/>
              </a:rPr>
              <a:t>   import </a:t>
            </a:r>
            <a:r>
              <a:rPr lang="en-US" altLang="zh-CN" kern="100" dirty="0" err="1">
                <a:latin typeface="Calibri"/>
                <a:ea typeface="宋体"/>
                <a:cs typeface="Times New Roman"/>
              </a:rPr>
              <a:t>Ind</a:t>
            </a:r>
            <a:endParaRPr lang="zh-CN" altLang="zh-CN" kern="100" dirty="0">
              <a:latin typeface="Calibri"/>
              <a:ea typeface="宋体"/>
              <a:cs typeface="Times New Roman"/>
            </a:endParaRPr>
          </a:p>
          <a:p>
            <a:pPr algn="just">
              <a:spcAft>
                <a:spcPts val="0"/>
              </a:spcAft>
            </a:pPr>
            <a:r>
              <a:rPr lang="en-US" altLang="zh-CN" kern="100" dirty="0">
                <a:latin typeface="Calibri"/>
                <a:ea typeface="宋体"/>
                <a:cs typeface="Times New Roman"/>
              </a:rPr>
              <a:t>   import </a:t>
            </a:r>
            <a:r>
              <a:rPr lang="en-US" altLang="zh-CN" kern="100" dirty="0" err="1">
                <a:latin typeface="Calibri"/>
                <a:ea typeface="宋体"/>
                <a:cs typeface="Times New Roman"/>
              </a:rPr>
              <a:t>numpy</a:t>
            </a:r>
            <a:r>
              <a:rPr lang="en-US" altLang="zh-CN" kern="100" dirty="0">
                <a:latin typeface="Calibri"/>
                <a:ea typeface="宋体"/>
                <a:cs typeface="Times New Roman"/>
              </a:rPr>
              <a:t> as </a:t>
            </a:r>
            <a:r>
              <a:rPr lang="en-US" altLang="zh-CN" kern="100" dirty="0" err="1">
                <a:latin typeface="Calibri"/>
                <a:ea typeface="宋体"/>
                <a:cs typeface="Times New Roman"/>
              </a:rPr>
              <a:t>np</a:t>
            </a:r>
            <a:endParaRPr lang="zh-CN" altLang="zh-CN" kern="100" dirty="0">
              <a:latin typeface="Calibri"/>
              <a:ea typeface="宋体"/>
              <a:cs typeface="Times New Roman"/>
            </a:endParaRPr>
          </a:p>
          <a:p>
            <a:pPr algn="just">
              <a:spcAft>
                <a:spcPts val="0"/>
              </a:spcAft>
            </a:pPr>
            <a:r>
              <a:rPr lang="en-US" altLang="zh-CN" kern="100" dirty="0">
                <a:latin typeface="Calibri"/>
                <a:ea typeface="宋体"/>
                <a:cs typeface="Times New Roman"/>
              </a:rPr>
              <a:t>   MA= Ind.MA(data,5,10,20) </a:t>
            </a:r>
            <a:endParaRPr lang="zh-CN" altLang="zh-CN" kern="100" dirty="0">
              <a:latin typeface="Calibri"/>
              <a:ea typeface="宋体"/>
              <a:cs typeface="Times New Roman"/>
            </a:endParaRPr>
          </a:p>
          <a:p>
            <a:pPr algn="just">
              <a:spcAft>
                <a:spcPts val="0"/>
              </a:spcAft>
            </a:pPr>
            <a:r>
              <a:rPr lang="en-US" altLang="zh-CN" kern="100" dirty="0">
                <a:latin typeface="Calibri"/>
                <a:ea typeface="宋体"/>
                <a:cs typeface="Times New Roman"/>
              </a:rPr>
              <a:t>   </a:t>
            </a:r>
            <a:r>
              <a:rPr lang="en-US" altLang="zh-CN" kern="100" dirty="0" err="1">
                <a:latin typeface="Calibri"/>
                <a:ea typeface="宋体"/>
                <a:cs typeface="Times New Roman"/>
              </a:rPr>
              <a:t>macd</a:t>
            </a:r>
            <a:r>
              <a:rPr lang="en-US" altLang="zh-CN" kern="100" dirty="0">
                <a:latin typeface="Calibri"/>
                <a:ea typeface="宋体"/>
                <a:cs typeface="Times New Roman"/>
              </a:rPr>
              <a:t>=</a:t>
            </a:r>
            <a:r>
              <a:rPr lang="en-US" altLang="zh-CN" kern="100" dirty="0" err="1">
                <a:latin typeface="Calibri"/>
                <a:ea typeface="宋体"/>
                <a:cs typeface="Times New Roman"/>
              </a:rPr>
              <a:t>Ind.MACD</a:t>
            </a:r>
            <a:r>
              <a:rPr lang="en-US" altLang="zh-CN" kern="100" dirty="0">
                <a:latin typeface="Calibri"/>
                <a:ea typeface="宋体"/>
                <a:cs typeface="Times New Roman"/>
              </a:rPr>
              <a:t>(data)</a:t>
            </a:r>
            <a:endParaRPr lang="zh-CN" altLang="zh-CN" kern="100" dirty="0">
              <a:latin typeface="Calibri"/>
              <a:ea typeface="宋体"/>
              <a:cs typeface="Times New Roman"/>
            </a:endParaRPr>
          </a:p>
          <a:p>
            <a:pPr algn="just">
              <a:spcAft>
                <a:spcPts val="0"/>
              </a:spcAft>
            </a:pPr>
            <a:r>
              <a:rPr lang="en-US" altLang="zh-CN" kern="100" dirty="0">
                <a:latin typeface="Calibri"/>
                <a:ea typeface="宋体"/>
                <a:cs typeface="Times New Roman"/>
              </a:rPr>
              <a:t>   </a:t>
            </a:r>
            <a:r>
              <a:rPr lang="en-US" altLang="zh-CN" kern="100" dirty="0" err="1">
                <a:latin typeface="Calibri"/>
                <a:ea typeface="宋体"/>
                <a:cs typeface="Times New Roman"/>
              </a:rPr>
              <a:t>kdj</a:t>
            </a:r>
            <a:r>
              <a:rPr lang="en-US" altLang="zh-CN" kern="100" dirty="0">
                <a:latin typeface="Calibri"/>
                <a:ea typeface="宋体"/>
                <a:cs typeface="Times New Roman"/>
              </a:rPr>
              <a:t>=</a:t>
            </a:r>
            <a:r>
              <a:rPr lang="en-US" altLang="zh-CN" kern="100" dirty="0" err="1">
                <a:latin typeface="Calibri"/>
                <a:ea typeface="宋体"/>
                <a:cs typeface="Times New Roman"/>
              </a:rPr>
              <a:t>Ind.KDJ</a:t>
            </a:r>
            <a:r>
              <a:rPr lang="en-US" altLang="zh-CN" kern="100" dirty="0">
                <a:latin typeface="Calibri"/>
                <a:ea typeface="宋体"/>
                <a:cs typeface="Times New Roman"/>
              </a:rPr>
              <a:t>(data,9)</a:t>
            </a:r>
            <a:endParaRPr lang="zh-CN" altLang="zh-CN" kern="100" dirty="0">
              <a:latin typeface="Calibri"/>
              <a:ea typeface="宋体"/>
              <a:cs typeface="Times New Roman"/>
            </a:endParaRPr>
          </a:p>
          <a:p>
            <a:pPr algn="just">
              <a:spcAft>
                <a:spcPts val="0"/>
              </a:spcAft>
            </a:pPr>
            <a:r>
              <a:rPr lang="en-US" altLang="zh-CN" kern="100" dirty="0">
                <a:latin typeface="Calibri"/>
                <a:ea typeface="宋体"/>
                <a:cs typeface="Times New Roman"/>
              </a:rPr>
              <a:t>   rsi6=</a:t>
            </a:r>
            <a:r>
              <a:rPr lang="en-US" altLang="zh-CN" kern="100" dirty="0" err="1">
                <a:latin typeface="Calibri"/>
                <a:ea typeface="宋体"/>
                <a:cs typeface="Times New Roman"/>
              </a:rPr>
              <a:t>Ind.RSI</a:t>
            </a:r>
            <a:r>
              <a:rPr lang="en-US" altLang="zh-CN" kern="100" dirty="0">
                <a:latin typeface="Calibri"/>
                <a:ea typeface="宋体"/>
                <a:cs typeface="Times New Roman"/>
              </a:rPr>
              <a:t>(data,6)</a:t>
            </a:r>
            <a:endParaRPr lang="zh-CN" altLang="zh-CN" kern="100" dirty="0">
              <a:latin typeface="Calibri"/>
              <a:ea typeface="宋体"/>
              <a:cs typeface="Times New Roman"/>
            </a:endParaRPr>
          </a:p>
          <a:p>
            <a:pPr algn="just">
              <a:spcAft>
                <a:spcPts val="0"/>
              </a:spcAft>
            </a:pPr>
            <a:r>
              <a:rPr lang="en-US" altLang="zh-CN" kern="100" dirty="0">
                <a:latin typeface="Calibri"/>
                <a:ea typeface="宋体"/>
                <a:cs typeface="Times New Roman"/>
              </a:rPr>
              <a:t>   rsi12=</a:t>
            </a:r>
            <a:r>
              <a:rPr lang="en-US" altLang="zh-CN" kern="100" dirty="0" err="1">
                <a:latin typeface="Calibri"/>
                <a:ea typeface="宋体"/>
                <a:cs typeface="Times New Roman"/>
              </a:rPr>
              <a:t>Ind.RSI</a:t>
            </a:r>
            <a:r>
              <a:rPr lang="en-US" altLang="zh-CN" kern="100" dirty="0">
                <a:latin typeface="Calibri"/>
                <a:ea typeface="宋体"/>
                <a:cs typeface="Times New Roman"/>
              </a:rPr>
              <a:t>(data,12)</a:t>
            </a:r>
            <a:endParaRPr lang="zh-CN" altLang="zh-CN" kern="100" dirty="0">
              <a:latin typeface="Calibri"/>
              <a:ea typeface="宋体"/>
              <a:cs typeface="Times New Roman"/>
            </a:endParaRPr>
          </a:p>
          <a:p>
            <a:pPr algn="just">
              <a:spcAft>
                <a:spcPts val="0"/>
              </a:spcAft>
            </a:pPr>
            <a:r>
              <a:rPr lang="en-US" altLang="zh-CN" kern="100" dirty="0">
                <a:latin typeface="Calibri"/>
                <a:ea typeface="宋体"/>
                <a:cs typeface="Times New Roman"/>
              </a:rPr>
              <a:t>   rsi24=</a:t>
            </a:r>
            <a:r>
              <a:rPr lang="en-US" altLang="zh-CN" kern="100" dirty="0" err="1">
                <a:latin typeface="Calibri"/>
                <a:ea typeface="宋体"/>
                <a:cs typeface="Times New Roman"/>
              </a:rPr>
              <a:t>Ind.RSI</a:t>
            </a:r>
            <a:r>
              <a:rPr lang="en-US" altLang="zh-CN" kern="100" dirty="0">
                <a:latin typeface="Calibri"/>
                <a:ea typeface="宋体"/>
                <a:cs typeface="Times New Roman"/>
              </a:rPr>
              <a:t>(data,24)</a:t>
            </a:r>
            <a:endParaRPr lang="zh-CN" altLang="zh-CN" kern="100" dirty="0">
              <a:latin typeface="Calibri"/>
              <a:ea typeface="宋体"/>
              <a:cs typeface="Times New Roman"/>
            </a:endParaRPr>
          </a:p>
          <a:p>
            <a:pPr algn="just">
              <a:spcAft>
                <a:spcPts val="0"/>
              </a:spcAft>
            </a:pPr>
            <a:r>
              <a:rPr lang="en-US" altLang="zh-CN" kern="100" dirty="0">
                <a:latin typeface="Calibri"/>
                <a:ea typeface="宋体"/>
                <a:cs typeface="Times New Roman"/>
              </a:rPr>
              <a:t>   bias5=</a:t>
            </a:r>
            <a:r>
              <a:rPr lang="en-US" altLang="zh-CN" kern="100" dirty="0" err="1">
                <a:latin typeface="Calibri"/>
                <a:ea typeface="宋体"/>
                <a:cs typeface="Times New Roman"/>
              </a:rPr>
              <a:t>Ind.BIAS</a:t>
            </a:r>
            <a:r>
              <a:rPr lang="en-US" altLang="zh-CN" kern="100" dirty="0">
                <a:latin typeface="Calibri"/>
                <a:ea typeface="宋体"/>
                <a:cs typeface="Times New Roman"/>
              </a:rPr>
              <a:t>(data,5</a:t>
            </a:r>
            <a:r>
              <a:rPr lang="en-US" altLang="zh-CN" kern="100" dirty="0" smtClean="0">
                <a:latin typeface="Calibri"/>
                <a:ea typeface="宋体"/>
                <a:cs typeface="Times New Roman"/>
              </a:rPr>
              <a:t>)</a:t>
            </a:r>
            <a:endParaRPr lang="zh-CN" altLang="zh-CN" kern="100" dirty="0">
              <a:latin typeface="Calibri"/>
              <a:ea typeface="宋体"/>
              <a:cs typeface="Times New Roman"/>
            </a:endParaRPr>
          </a:p>
        </p:txBody>
      </p:sp>
      <p:sp>
        <p:nvSpPr>
          <p:cNvPr id="17" name="矩形 16"/>
          <p:cNvSpPr/>
          <p:nvPr/>
        </p:nvSpPr>
        <p:spPr>
          <a:xfrm>
            <a:off x="4946253" y="3663844"/>
            <a:ext cx="6101332" cy="2308324"/>
          </a:xfrm>
          <a:prstGeom prst="rect">
            <a:avLst/>
          </a:prstGeom>
        </p:spPr>
        <p:txBody>
          <a:bodyPr wrap="square">
            <a:spAutoFit/>
          </a:bodyPr>
          <a:lstStyle/>
          <a:p>
            <a:pPr algn="just">
              <a:spcAft>
                <a:spcPts val="0"/>
              </a:spcAft>
            </a:pPr>
            <a:r>
              <a:rPr lang="en-US" altLang="zh-CN" kern="100" dirty="0">
                <a:latin typeface="Calibri"/>
                <a:ea typeface="宋体"/>
                <a:cs typeface="Times New Roman"/>
              </a:rPr>
              <a:t> bias10=</a:t>
            </a:r>
            <a:r>
              <a:rPr lang="en-US" altLang="zh-CN" kern="100" dirty="0" err="1">
                <a:latin typeface="Calibri"/>
                <a:ea typeface="宋体"/>
                <a:cs typeface="Times New Roman"/>
              </a:rPr>
              <a:t>Ind.BIAS</a:t>
            </a:r>
            <a:r>
              <a:rPr lang="en-US" altLang="zh-CN" kern="100" dirty="0">
                <a:latin typeface="Calibri"/>
                <a:ea typeface="宋体"/>
                <a:cs typeface="Times New Roman"/>
              </a:rPr>
              <a:t>(data,10)</a:t>
            </a:r>
            <a:endParaRPr lang="zh-CN" altLang="zh-CN" kern="100" dirty="0">
              <a:latin typeface="Calibri"/>
              <a:ea typeface="宋体"/>
              <a:cs typeface="Times New Roman"/>
            </a:endParaRPr>
          </a:p>
          <a:p>
            <a:pPr algn="just">
              <a:spcAft>
                <a:spcPts val="0"/>
              </a:spcAft>
            </a:pPr>
            <a:r>
              <a:rPr lang="en-US" altLang="zh-CN" kern="100" dirty="0">
                <a:latin typeface="Calibri"/>
                <a:ea typeface="宋体"/>
                <a:cs typeface="Times New Roman"/>
              </a:rPr>
              <a:t>   bias20=</a:t>
            </a:r>
            <a:r>
              <a:rPr lang="en-US" altLang="zh-CN" kern="100" dirty="0" err="1">
                <a:latin typeface="Calibri"/>
                <a:ea typeface="宋体"/>
                <a:cs typeface="Times New Roman"/>
              </a:rPr>
              <a:t>Ind.BIAS</a:t>
            </a:r>
            <a:r>
              <a:rPr lang="en-US" altLang="zh-CN" kern="100" dirty="0">
                <a:latin typeface="Calibri"/>
                <a:ea typeface="宋体"/>
                <a:cs typeface="Times New Roman"/>
              </a:rPr>
              <a:t>(data,20)</a:t>
            </a:r>
            <a:endParaRPr lang="zh-CN" altLang="zh-CN" kern="100" dirty="0">
              <a:latin typeface="Calibri"/>
              <a:ea typeface="宋体"/>
              <a:cs typeface="Times New Roman"/>
            </a:endParaRPr>
          </a:p>
          <a:p>
            <a:pPr algn="just">
              <a:spcAft>
                <a:spcPts val="0"/>
              </a:spcAft>
            </a:pPr>
            <a:r>
              <a:rPr lang="en-US" altLang="zh-CN" kern="100" dirty="0">
                <a:latin typeface="Calibri"/>
                <a:ea typeface="宋体"/>
                <a:cs typeface="Times New Roman"/>
              </a:rPr>
              <a:t>   </a:t>
            </a:r>
            <a:r>
              <a:rPr lang="en-US" altLang="zh-CN" kern="100" dirty="0" err="1">
                <a:latin typeface="Calibri"/>
                <a:ea typeface="宋体"/>
                <a:cs typeface="Times New Roman"/>
              </a:rPr>
              <a:t>obv</a:t>
            </a:r>
            <a:r>
              <a:rPr lang="en-US" altLang="zh-CN" kern="100" dirty="0">
                <a:latin typeface="Calibri"/>
                <a:ea typeface="宋体"/>
                <a:cs typeface="Times New Roman"/>
              </a:rPr>
              <a:t>=</a:t>
            </a:r>
            <a:r>
              <a:rPr lang="en-US" altLang="zh-CN" kern="100" dirty="0" err="1">
                <a:latin typeface="Calibri"/>
                <a:ea typeface="宋体"/>
                <a:cs typeface="Times New Roman"/>
              </a:rPr>
              <a:t>Ind.OBV</a:t>
            </a:r>
            <a:r>
              <a:rPr lang="en-US" altLang="zh-CN" kern="100" dirty="0">
                <a:latin typeface="Calibri"/>
                <a:ea typeface="宋体"/>
                <a:cs typeface="Times New Roman"/>
              </a:rPr>
              <a:t>(data) </a:t>
            </a:r>
            <a:endParaRPr lang="zh-CN" altLang="zh-CN" kern="100" dirty="0">
              <a:latin typeface="Calibri"/>
              <a:ea typeface="宋体"/>
              <a:cs typeface="Times New Roman"/>
            </a:endParaRPr>
          </a:p>
          <a:p>
            <a:pPr algn="just">
              <a:spcAft>
                <a:spcPts val="0"/>
              </a:spcAft>
            </a:pPr>
            <a:r>
              <a:rPr lang="en-US" altLang="zh-CN" kern="100" dirty="0">
                <a:latin typeface="Calibri"/>
                <a:ea typeface="宋体"/>
                <a:cs typeface="Times New Roman"/>
              </a:rPr>
              <a:t>   y=</a:t>
            </a:r>
            <a:r>
              <a:rPr lang="en-US" altLang="zh-CN" kern="100" dirty="0" err="1">
                <a:latin typeface="Calibri"/>
                <a:ea typeface="宋体"/>
                <a:cs typeface="Times New Roman"/>
              </a:rPr>
              <a:t>Ind.cla</a:t>
            </a:r>
            <a:r>
              <a:rPr lang="en-US" altLang="zh-CN" kern="100" dirty="0">
                <a:latin typeface="Calibri"/>
                <a:ea typeface="宋体"/>
                <a:cs typeface="Times New Roman"/>
              </a:rPr>
              <a:t>(data)</a:t>
            </a:r>
            <a:endParaRPr lang="zh-CN" altLang="zh-CN" kern="100" dirty="0">
              <a:latin typeface="Calibri"/>
              <a:ea typeface="宋体"/>
              <a:cs typeface="Times New Roman"/>
            </a:endParaRPr>
          </a:p>
          <a:p>
            <a:pPr algn="just">
              <a:spcAft>
                <a:spcPts val="0"/>
              </a:spcAft>
            </a:pPr>
            <a:r>
              <a:rPr lang="en-US" altLang="zh-CN" kern="100" dirty="0">
                <a:latin typeface="Calibri"/>
                <a:ea typeface="宋体"/>
                <a:cs typeface="Times New Roman"/>
              </a:rPr>
              <a:t>   pm={'</a:t>
            </a:r>
            <a:r>
              <a:rPr lang="zh-CN" altLang="zh-CN" kern="100" dirty="0">
                <a:latin typeface="Calibri"/>
                <a:ea typeface="宋体"/>
                <a:cs typeface="Times New Roman"/>
              </a:rPr>
              <a:t>交易日期</a:t>
            </a:r>
            <a:r>
              <a:rPr lang="en-US" altLang="zh-CN" kern="100" dirty="0">
                <a:latin typeface="Calibri"/>
                <a:ea typeface="宋体"/>
                <a:cs typeface="Times New Roman"/>
              </a:rPr>
              <a:t>':data['</a:t>
            </a:r>
            <a:r>
              <a:rPr lang="en-US" altLang="zh-CN" kern="100" dirty="0" err="1">
                <a:latin typeface="Calibri"/>
                <a:ea typeface="宋体"/>
                <a:cs typeface="Times New Roman"/>
              </a:rPr>
              <a:t>Trddt</a:t>
            </a:r>
            <a:r>
              <a:rPr lang="en-US" altLang="zh-CN" kern="100" dirty="0">
                <a:latin typeface="Calibri"/>
                <a:ea typeface="宋体"/>
                <a:cs typeface="Times New Roman"/>
              </a:rPr>
              <a:t>'].values}</a:t>
            </a:r>
            <a:endParaRPr lang="zh-CN" altLang="zh-CN" kern="100" dirty="0">
              <a:latin typeface="Calibri"/>
              <a:ea typeface="宋体"/>
              <a:cs typeface="Times New Roman"/>
            </a:endParaRPr>
          </a:p>
          <a:p>
            <a:pPr algn="just">
              <a:spcAft>
                <a:spcPts val="0"/>
              </a:spcAft>
            </a:pPr>
            <a:r>
              <a:rPr lang="en-US" altLang="zh-CN" kern="100" dirty="0">
                <a:latin typeface="Calibri"/>
                <a:ea typeface="宋体"/>
                <a:cs typeface="Times New Roman"/>
              </a:rPr>
              <a:t>   PM=</a:t>
            </a:r>
            <a:r>
              <a:rPr lang="en-US" altLang="zh-CN" kern="100" dirty="0" err="1">
                <a:latin typeface="Calibri"/>
                <a:ea typeface="宋体"/>
                <a:cs typeface="Times New Roman"/>
              </a:rPr>
              <a:t>pd.DataFrame</a:t>
            </a:r>
            <a:r>
              <a:rPr lang="en-US" altLang="zh-CN" kern="100" dirty="0">
                <a:latin typeface="Calibri"/>
                <a:ea typeface="宋体"/>
                <a:cs typeface="Times New Roman"/>
              </a:rPr>
              <a:t>(pm)</a:t>
            </a:r>
            <a:endParaRPr lang="zh-CN" altLang="zh-CN" kern="100" dirty="0">
              <a:latin typeface="Calibri"/>
              <a:ea typeface="宋体"/>
              <a:cs typeface="Times New Roman"/>
            </a:endParaRPr>
          </a:p>
          <a:p>
            <a:pPr algn="just">
              <a:spcAft>
                <a:spcPts val="0"/>
              </a:spcAft>
            </a:pPr>
            <a:r>
              <a:rPr lang="en-US" altLang="zh-CN" kern="100" dirty="0">
                <a:latin typeface="Calibri"/>
                <a:ea typeface="宋体"/>
                <a:cs typeface="Times New Roman"/>
              </a:rPr>
              <a:t>   DF={'MA5':MA[0],'MA10':MA[1],'MA20':MA[2],'MACD':</a:t>
            </a:r>
            <a:r>
              <a:rPr lang="en-US" altLang="zh-CN" kern="100" dirty="0" err="1">
                <a:latin typeface="Calibri"/>
                <a:ea typeface="宋体"/>
                <a:cs typeface="Times New Roman"/>
              </a:rPr>
              <a:t>macd</a:t>
            </a:r>
            <a:r>
              <a:rPr lang="en-US" altLang="zh-CN" kern="100" dirty="0">
                <a:latin typeface="Calibri"/>
                <a:ea typeface="宋体"/>
                <a:cs typeface="Times New Roman"/>
              </a:rPr>
              <a:t>,</a:t>
            </a:r>
            <a:endParaRPr lang="zh-CN" altLang="zh-CN" kern="100" dirty="0">
              <a:latin typeface="Calibri"/>
              <a:ea typeface="宋体"/>
              <a:cs typeface="Times New Roman"/>
            </a:endParaRPr>
          </a:p>
          <a:p>
            <a:pPr algn="just">
              <a:spcAft>
                <a:spcPts val="0"/>
              </a:spcAft>
            </a:pPr>
            <a:r>
              <a:rPr lang="en-US" altLang="zh-CN" kern="100" dirty="0">
                <a:latin typeface="Calibri"/>
                <a:ea typeface="宋体"/>
                <a:cs typeface="Times New Roman"/>
              </a:rPr>
              <a:t>    'K':</a:t>
            </a:r>
            <a:r>
              <a:rPr lang="en-US" altLang="zh-CN" kern="100" dirty="0" err="1">
                <a:latin typeface="Calibri"/>
                <a:ea typeface="宋体"/>
                <a:cs typeface="Times New Roman"/>
              </a:rPr>
              <a:t>kdj</a:t>
            </a:r>
            <a:r>
              <a:rPr lang="en-US" altLang="zh-CN" kern="100" dirty="0">
                <a:latin typeface="Calibri"/>
                <a:ea typeface="宋体"/>
                <a:cs typeface="Times New Roman"/>
              </a:rPr>
              <a:t>[0],'D':</a:t>
            </a:r>
            <a:r>
              <a:rPr lang="en-US" altLang="zh-CN" kern="100" dirty="0" err="1">
                <a:latin typeface="Calibri"/>
                <a:ea typeface="宋体"/>
                <a:cs typeface="Times New Roman"/>
              </a:rPr>
              <a:t>kdj</a:t>
            </a:r>
            <a:r>
              <a:rPr lang="en-US" altLang="zh-CN" kern="100" dirty="0">
                <a:latin typeface="Calibri"/>
                <a:ea typeface="宋体"/>
                <a:cs typeface="Times New Roman"/>
              </a:rPr>
              <a:t>[1],'J':</a:t>
            </a:r>
            <a:r>
              <a:rPr lang="en-US" altLang="zh-CN" kern="100" dirty="0" err="1">
                <a:latin typeface="Calibri"/>
                <a:ea typeface="宋体"/>
                <a:cs typeface="Times New Roman"/>
              </a:rPr>
              <a:t>kdj</a:t>
            </a:r>
            <a:r>
              <a:rPr lang="en-US" altLang="zh-CN" kern="100" dirty="0">
                <a:latin typeface="Calibri"/>
                <a:ea typeface="宋体"/>
                <a:cs typeface="Times New Roman"/>
              </a:rPr>
              <a:t>[2],'RSI6':rsi6,'RSI12':rsi12,</a:t>
            </a:r>
            <a:endParaRPr lang="zh-CN" altLang="zh-CN" kern="100" dirty="0">
              <a:latin typeface="Calibri"/>
              <a:ea typeface="宋体"/>
              <a:cs typeface="Times New Roman"/>
            </a:endParaRPr>
          </a:p>
        </p:txBody>
      </p:sp>
    </p:spTree>
    <p:extLst>
      <p:ext uri="{BB962C8B-B14F-4D97-AF65-F5344CB8AC3E}">
        <p14:creationId xmlns:p14="http://schemas.microsoft.com/office/powerpoint/2010/main" val="1843421816"/>
      </p:ext>
    </p:extLst>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 </a:t>
            </a:r>
            <a:r>
              <a:rPr lang="en-US" altLang="zh-CN" sz="2000" dirty="0" smtClean="0">
                <a:solidFill>
                  <a:schemeClr val="accent2"/>
                </a:solidFill>
              </a:rPr>
              <a:t>9</a:t>
            </a:r>
            <a:r>
              <a:rPr lang="en-US" altLang="zh-CN" dirty="0" smtClean="0">
                <a:solidFill>
                  <a:schemeClr val="accent2"/>
                </a:solidFill>
              </a:rPr>
              <a:t> </a:t>
            </a:r>
            <a:endParaRPr lang="zh-CN" altLang="en-US" dirty="0">
              <a:solidFill>
                <a:schemeClr val="accent2"/>
              </a:solidFill>
            </a:endParaRPr>
          </a:p>
        </p:txBody>
      </p:sp>
      <p:sp>
        <p:nvSpPr>
          <p:cNvPr id="9" name="燕尾形 8"/>
          <p:cNvSpPr/>
          <p:nvPr/>
        </p:nvSpPr>
        <p:spPr bwMode="auto">
          <a:xfrm>
            <a:off x="6353299" y="63783"/>
            <a:ext cx="321146" cy="442499"/>
          </a:xfrm>
          <a:prstGeom prst="chevron">
            <a:avLst/>
          </a:prstGeom>
          <a:solidFill>
            <a:schemeClr val="accent2"/>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spcBef>
                <a:spcPct val="0"/>
              </a:spcBef>
              <a:spcAft>
                <a:spcPct val="0"/>
              </a:spcAft>
              <a:buClrTx/>
              <a:buSzTx/>
              <a:buFont typeface="Arial" pitchFamily="34" charset="0"/>
              <a:buNone/>
            </a:pPr>
            <a:endParaRPr kumimoji="0" lang="zh-CN" altLang="en-US" sz="1800" b="0" i="0" u="none" strike="noStrike" cap="none" normalizeH="0" baseline="0" smtClean="0">
              <a:ln>
                <a:noFill/>
              </a:ln>
              <a:solidFill>
                <a:schemeClr val="tx1"/>
              </a:solidFill>
              <a:effectLst/>
              <a:latin typeface="Arial" pitchFamily="34" charset="0"/>
              <a:ea typeface="宋体" pitchFamily="2" charset="-122"/>
            </a:endParaRPr>
          </a:p>
        </p:txBody>
      </p:sp>
      <p:sp>
        <p:nvSpPr>
          <p:cNvPr id="6" name="TextBox 5"/>
          <p:cNvSpPr txBox="1"/>
          <p:nvPr/>
        </p:nvSpPr>
        <p:spPr>
          <a:xfrm>
            <a:off x="7034485" y="121564"/>
            <a:ext cx="3312368" cy="523220"/>
          </a:xfrm>
          <a:prstGeom prst="rect">
            <a:avLst/>
          </a:prstGeom>
          <a:noFill/>
        </p:spPr>
        <p:txBody>
          <a:bodyPr wrap="square" rtlCol="0">
            <a:spAutoFit/>
          </a:bodyPr>
          <a:lstStyle/>
          <a:p>
            <a:pPr lvl="0"/>
            <a:r>
              <a:rPr lang="en-US" altLang="zh-CN" sz="2800" dirty="0">
                <a:solidFill>
                  <a:srgbClr val="FFFFFF"/>
                </a:solidFill>
                <a:latin typeface="微软雅黑"/>
                <a:ea typeface="微软雅黑"/>
              </a:rPr>
              <a:t>9.6.1 </a:t>
            </a:r>
            <a:r>
              <a:rPr lang="zh-CN" altLang="en-US" sz="2800" dirty="0">
                <a:solidFill>
                  <a:srgbClr val="FFFFFF"/>
                </a:solidFill>
                <a:latin typeface="微软雅黑"/>
                <a:ea typeface="微软雅黑"/>
              </a:rPr>
              <a:t>函数定义</a:t>
            </a:r>
            <a:endParaRPr lang="zh-CN" altLang="en-US" sz="2800" dirty="0">
              <a:solidFill>
                <a:srgbClr val="FFFFFF"/>
              </a:solidFill>
              <a:latin typeface="微软雅黑"/>
              <a:ea typeface="微软雅黑"/>
            </a:endParaRPr>
          </a:p>
        </p:txBody>
      </p:sp>
      <p:sp>
        <p:nvSpPr>
          <p:cNvPr id="14" name="TextBox 13"/>
          <p:cNvSpPr txBox="1"/>
          <p:nvPr/>
        </p:nvSpPr>
        <p:spPr>
          <a:xfrm>
            <a:off x="1330766" y="44625"/>
            <a:ext cx="5042228"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smtClean="0">
                <a:solidFill>
                  <a:schemeClr val="accent2"/>
                </a:solidFill>
                <a:latin typeface="微软雅黑"/>
                <a:ea typeface="微软雅黑"/>
              </a:rPr>
              <a:t>9.6</a:t>
            </a:r>
            <a:r>
              <a:rPr lang="en-US" altLang="zh-CN" sz="2800" dirty="0">
                <a:solidFill>
                  <a:schemeClr val="accent2"/>
                </a:solidFill>
                <a:latin typeface="微软雅黑"/>
                <a:ea typeface="微软雅黑"/>
              </a:rPr>
              <a:t> </a:t>
            </a:r>
            <a:r>
              <a:rPr lang="zh-CN" altLang="en-US" sz="2800" dirty="0" smtClean="0">
                <a:solidFill>
                  <a:schemeClr val="accent2"/>
                </a:solidFill>
                <a:latin typeface="微软雅黑"/>
                <a:ea typeface="微软雅黑"/>
              </a:rPr>
              <a:t>量化投资策略设计与分析</a:t>
            </a:r>
            <a:endParaRPr lang="zh-CN" altLang="en-US" sz="2800" dirty="0">
              <a:solidFill>
                <a:schemeClr val="accent2"/>
              </a:solidFill>
              <a:latin typeface="微软雅黑"/>
              <a:ea typeface="微软雅黑"/>
            </a:endParaRPr>
          </a:p>
        </p:txBody>
      </p:sp>
      <p:sp>
        <p:nvSpPr>
          <p:cNvPr id="5" name="矩形 4"/>
          <p:cNvSpPr/>
          <p:nvPr/>
        </p:nvSpPr>
        <p:spPr>
          <a:xfrm>
            <a:off x="578445" y="908521"/>
            <a:ext cx="6600056" cy="2308324"/>
          </a:xfrm>
          <a:prstGeom prst="rect">
            <a:avLst/>
          </a:prstGeom>
        </p:spPr>
        <p:txBody>
          <a:bodyPr wrap="square">
            <a:spAutoFit/>
          </a:bodyPr>
          <a:lstStyle/>
          <a:p>
            <a:pPr algn="just">
              <a:spcAft>
                <a:spcPts val="0"/>
              </a:spcAft>
            </a:pPr>
            <a:r>
              <a:rPr lang="en-US" altLang="zh-CN" kern="100" dirty="0" smtClean="0">
                <a:latin typeface="Calibri"/>
                <a:ea typeface="宋体"/>
                <a:cs typeface="Times New Roman"/>
              </a:rPr>
              <a:t>'RSI24</a:t>
            </a:r>
            <a:r>
              <a:rPr lang="en-US" altLang="zh-CN" kern="100" dirty="0">
                <a:latin typeface="Calibri"/>
                <a:ea typeface="宋体"/>
                <a:cs typeface="Times New Roman"/>
              </a:rPr>
              <a:t>':rsi24,'BIAS5':bias5,'BIAS10':bias10,'BIAS20':bias20,'OBV':obv}</a:t>
            </a:r>
            <a:endParaRPr lang="zh-CN" altLang="zh-CN" kern="100" dirty="0">
              <a:latin typeface="Calibri"/>
              <a:ea typeface="宋体"/>
              <a:cs typeface="Times New Roman"/>
            </a:endParaRPr>
          </a:p>
          <a:p>
            <a:pPr algn="just">
              <a:spcAft>
                <a:spcPts val="0"/>
              </a:spcAft>
            </a:pPr>
            <a:r>
              <a:rPr lang="en-US" altLang="zh-CN" kern="100" dirty="0">
                <a:latin typeface="Calibri"/>
                <a:ea typeface="宋体"/>
                <a:cs typeface="Times New Roman"/>
              </a:rPr>
              <a:t>   DF=</a:t>
            </a:r>
            <a:r>
              <a:rPr lang="en-US" altLang="zh-CN" kern="100" dirty="0" err="1">
                <a:latin typeface="Calibri"/>
                <a:ea typeface="宋体"/>
                <a:cs typeface="Times New Roman"/>
              </a:rPr>
              <a:t>pd.DataFrame</a:t>
            </a:r>
            <a:r>
              <a:rPr lang="en-US" altLang="zh-CN" kern="100" dirty="0">
                <a:latin typeface="Calibri"/>
                <a:ea typeface="宋体"/>
                <a:cs typeface="Times New Roman"/>
              </a:rPr>
              <a:t>(DF)</a:t>
            </a:r>
            <a:endParaRPr lang="zh-CN" altLang="zh-CN" kern="100" dirty="0">
              <a:latin typeface="Calibri"/>
              <a:ea typeface="宋体"/>
              <a:cs typeface="Times New Roman"/>
            </a:endParaRPr>
          </a:p>
          <a:p>
            <a:pPr algn="just">
              <a:spcAft>
                <a:spcPts val="0"/>
              </a:spcAft>
            </a:pPr>
            <a:r>
              <a:rPr lang="en-US" altLang="zh-CN" kern="100" dirty="0">
                <a:latin typeface="Calibri"/>
                <a:ea typeface="宋体"/>
                <a:cs typeface="Times New Roman"/>
              </a:rPr>
              <a:t>   s1=</a:t>
            </a:r>
            <a:r>
              <a:rPr lang="en-US" altLang="zh-CN" kern="100" dirty="0" err="1">
                <a:latin typeface="Calibri"/>
                <a:ea typeface="宋体"/>
                <a:cs typeface="Times New Roman"/>
              </a:rPr>
              <a:t>PM.join</a:t>
            </a:r>
            <a:r>
              <a:rPr lang="en-US" altLang="zh-CN" kern="100" dirty="0">
                <a:latin typeface="Calibri"/>
                <a:ea typeface="宋体"/>
                <a:cs typeface="Times New Roman"/>
              </a:rPr>
              <a:t>(DF)</a:t>
            </a:r>
            <a:endParaRPr lang="zh-CN" altLang="zh-CN" kern="100" dirty="0">
              <a:latin typeface="Calibri"/>
              <a:ea typeface="宋体"/>
              <a:cs typeface="Times New Roman"/>
            </a:endParaRPr>
          </a:p>
          <a:p>
            <a:pPr algn="just">
              <a:spcAft>
                <a:spcPts val="0"/>
              </a:spcAft>
            </a:pPr>
            <a:r>
              <a:rPr lang="en-US" altLang="zh-CN" kern="100" dirty="0">
                <a:latin typeface="Calibri"/>
                <a:ea typeface="宋体"/>
                <a:cs typeface="Times New Roman"/>
              </a:rPr>
              <a:t>   y1={'</a:t>
            </a:r>
            <a:r>
              <a:rPr lang="zh-CN" altLang="zh-CN" kern="100" dirty="0">
                <a:latin typeface="Calibri"/>
                <a:ea typeface="宋体"/>
                <a:cs typeface="Times New Roman"/>
              </a:rPr>
              <a:t>涨跌趋势</a:t>
            </a:r>
            <a:r>
              <a:rPr lang="en-US" altLang="zh-CN" kern="100" dirty="0">
                <a:latin typeface="Calibri"/>
                <a:ea typeface="宋体"/>
                <a:cs typeface="Times New Roman"/>
              </a:rPr>
              <a:t>':y}</a:t>
            </a:r>
            <a:endParaRPr lang="zh-CN" altLang="zh-CN" kern="100" dirty="0">
              <a:latin typeface="Calibri"/>
              <a:ea typeface="宋体"/>
              <a:cs typeface="Times New Roman"/>
            </a:endParaRPr>
          </a:p>
          <a:p>
            <a:pPr algn="just">
              <a:spcAft>
                <a:spcPts val="0"/>
              </a:spcAft>
            </a:pPr>
            <a:r>
              <a:rPr lang="en-US" altLang="zh-CN" kern="100" dirty="0">
                <a:latin typeface="Calibri"/>
                <a:ea typeface="宋体"/>
                <a:cs typeface="Times New Roman"/>
              </a:rPr>
              <a:t>   ZZ=</a:t>
            </a:r>
            <a:r>
              <a:rPr lang="en-US" altLang="zh-CN" kern="100" dirty="0" err="1">
                <a:latin typeface="Calibri"/>
                <a:ea typeface="宋体"/>
                <a:cs typeface="Times New Roman"/>
              </a:rPr>
              <a:t>pd.DataFrame</a:t>
            </a:r>
            <a:r>
              <a:rPr lang="en-US" altLang="zh-CN" kern="100" dirty="0">
                <a:latin typeface="Calibri"/>
                <a:ea typeface="宋体"/>
                <a:cs typeface="Times New Roman"/>
              </a:rPr>
              <a:t>(y1)</a:t>
            </a:r>
            <a:endParaRPr lang="zh-CN" altLang="zh-CN" kern="100" dirty="0">
              <a:latin typeface="Calibri"/>
              <a:ea typeface="宋体"/>
              <a:cs typeface="Times New Roman"/>
            </a:endParaRPr>
          </a:p>
          <a:p>
            <a:pPr algn="just">
              <a:spcAft>
                <a:spcPts val="0"/>
              </a:spcAft>
            </a:pPr>
            <a:r>
              <a:rPr lang="en-US" altLang="zh-CN" kern="100" dirty="0">
                <a:latin typeface="Calibri"/>
                <a:ea typeface="宋体"/>
                <a:cs typeface="Times New Roman"/>
              </a:rPr>
              <a:t>   s2=s1.join(ZZ)</a:t>
            </a:r>
            <a:endParaRPr lang="zh-CN" altLang="zh-CN" kern="100" dirty="0">
              <a:latin typeface="Calibri"/>
              <a:ea typeface="宋体"/>
              <a:cs typeface="Times New Roman"/>
            </a:endParaRPr>
          </a:p>
          <a:p>
            <a:pPr algn="just">
              <a:spcAft>
                <a:spcPts val="0"/>
              </a:spcAft>
            </a:pPr>
            <a:r>
              <a:rPr lang="en-US" altLang="zh-CN" kern="100" dirty="0">
                <a:latin typeface="Calibri"/>
                <a:ea typeface="宋体"/>
                <a:cs typeface="Times New Roman"/>
              </a:rPr>
              <a:t>   </a:t>
            </a:r>
            <a:r>
              <a:rPr lang="en-US" altLang="zh-CN" kern="100" dirty="0" err="1">
                <a:latin typeface="Calibri"/>
                <a:ea typeface="宋体"/>
                <a:cs typeface="Times New Roman"/>
              </a:rPr>
              <a:t>ss</a:t>
            </a:r>
            <a:r>
              <a:rPr lang="en-US" altLang="zh-CN" kern="100" dirty="0">
                <a:latin typeface="Calibri"/>
                <a:ea typeface="宋体"/>
                <a:cs typeface="Times New Roman"/>
              </a:rPr>
              <a:t>=s2.dropna()</a:t>
            </a:r>
            <a:endParaRPr lang="zh-CN" altLang="zh-CN" kern="100" dirty="0">
              <a:latin typeface="Calibri"/>
              <a:ea typeface="宋体"/>
              <a:cs typeface="Times New Roman"/>
            </a:endParaRPr>
          </a:p>
          <a:p>
            <a:pPr algn="just">
              <a:spcAft>
                <a:spcPts val="0"/>
              </a:spcAft>
            </a:pPr>
            <a:r>
              <a:rPr lang="en-US" altLang="zh-CN" kern="100" dirty="0">
                <a:latin typeface="Calibri"/>
                <a:ea typeface="宋体"/>
                <a:cs typeface="Times New Roman"/>
              </a:rPr>
              <a:t>   Data=</a:t>
            </a:r>
            <a:r>
              <a:rPr lang="en-US" altLang="zh-CN" kern="100" dirty="0" err="1">
                <a:latin typeface="Calibri"/>
                <a:ea typeface="宋体"/>
                <a:cs typeface="Times New Roman"/>
              </a:rPr>
              <a:t>ss</a:t>
            </a:r>
            <a:r>
              <a:rPr lang="en-US" altLang="zh-CN" kern="100" dirty="0">
                <a:latin typeface="Calibri"/>
                <a:ea typeface="宋体"/>
                <a:cs typeface="Times New Roman"/>
              </a:rPr>
              <a:t>[</a:t>
            </a:r>
            <a:r>
              <a:rPr lang="en-US" altLang="zh-CN" kern="100" dirty="0" err="1">
                <a:latin typeface="Calibri"/>
                <a:ea typeface="宋体"/>
                <a:cs typeface="Times New Roman"/>
              </a:rPr>
              <a:t>ss.iloc</a:t>
            </a:r>
            <a:r>
              <a:rPr lang="en-US" altLang="zh-CN" kern="100" dirty="0">
                <a:latin typeface="Calibri"/>
                <a:ea typeface="宋体"/>
                <a:cs typeface="Times New Roman"/>
              </a:rPr>
              <a:t>[:,6].values!=0]</a:t>
            </a:r>
            <a:endParaRPr lang="zh-CN" altLang="zh-CN" kern="100" dirty="0">
              <a:effectLst/>
              <a:latin typeface="Calibri"/>
              <a:ea typeface="宋体"/>
              <a:cs typeface="Times New Roman"/>
            </a:endParaRPr>
          </a:p>
        </p:txBody>
      </p:sp>
      <p:sp>
        <p:nvSpPr>
          <p:cNvPr id="7" name="矩形 6"/>
          <p:cNvSpPr/>
          <p:nvPr/>
        </p:nvSpPr>
        <p:spPr>
          <a:xfrm>
            <a:off x="669838" y="3689598"/>
            <a:ext cx="6096000" cy="2862322"/>
          </a:xfrm>
          <a:prstGeom prst="rect">
            <a:avLst/>
          </a:prstGeom>
        </p:spPr>
        <p:txBody>
          <a:bodyPr>
            <a:spAutoFit/>
          </a:bodyPr>
          <a:lstStyle/>
          <a:p>
            <a:r>
              <a:rPr lang="en-US" altLang="zh-CN" dirty="0"/>
              <a:t> ##2.</a:t>
            </a:r>
            <a:r>
              <a:rPr lang="zh-CN" altLang="zh-CN" dirty="0"/>
              <a:t>训练样本与测试样本的划分</a:t>
            </a:r>
          </a:p>
          <a:p>
            <a:r>
              <a:rPr lang="en-US" altLang="zh-CN" dirty="0"/>
              <a:t>   x1=Data['</a:t>
            </a:r>
            <a:r>
              <a:rPr lang="zh-CN" altLang="zh-CN" dirty="0"/>
              <a:t>交易日期</a:t>
            </a:r>
            <a:r>
              <a:rPr lang="en-US" altLang="zh-CN" dirty="0"/>
              <a:t>']&gt;='2017-01-01'</a:t>
            </a:r>
            <a:endParaRPr lang="zh-CN" altLang="zh-CN" dirty="0"/>
          </a:p>
          <a:p>
            <a:r>
              <a:rPr lang="en-US" altLang="zh-CN" dirty="0"/>
              <a:t>   x2=Data['</a:t>
            </a:r>
            <a:r>
              <a:rPr lang="zh-CN" altLang="zh-CN" dirty="0"/>
              <a:t>交易日期</a:t>
            </a:r>
            <a:r>
              <a:rPr lang="en-US" altLang="zh-CN" dirty="0"/>
              <a:t>']&lt;='2017-11-30'</a:t>
            </a:r>
            <a:endParaRPr lang="zh-CN" altLang="zh-CN" dirty="0"/>
          </a:p>
          <a:p>
            <a:r>
              <a:rPr lang="en-US" altLang="zh-CN" dirty="0"/>
              <a:t>   xx=x1&amp;x2</a:t>
            </a:r>
            <a:endParaRPr lang="zh-CN" altLang="zh-CN" dirty="0"/>
          </a:p>
          <a:p>
            <a:r>
              <a:rPr lang="en-US" altLang="zh-CN" dirty="0"/>
              <a:t>   index=</a:t>
            </a:r>
            <a:r>
              <a:rPr lang="en-US" altLang="zh-CN" dirty="0" err="1"/>
              <a:t>xx.values</a:t>
            </a:r>
            <a:r>
              <a:rPr lang="en-US" altLang="zh-CN" dirty="0"/>
              <a:t>==True</a:t>
            </a:r>
            <a:endParaRPr lang="zh-CN" altLang="zh-CN" dirty="0"/>
          </a:p>
          <a:p>
            <a:r>
              <a:rPr lang="en-US" altLang="zh-CN" dirty="0"/>
              <a:t>   index1=</a:t>
            </a:r>
            <a:r>
              <a:rPr lang="en-US" altLang="zh-CN" dirty="0" err="1"/>
              <a:t>xx.values</a:t>
            </a:r>
            <a:r>
              <a:rPr lang="en-US" altLang="zh-CN" dirty="0"/>
              <a:t>==False</a:t>
            </a:r>
            <a:endParaRPr lang="zh-CN" altLang="zh-CN" dirty="0"/>
          </a:p>
          <a:p>
            <a:r>
              <a:rPr lang="en-US" altLang="zh-CN" dirty="0"/>
              <a:t>   </a:t>
            </a:r>
            <a:r>
              <a:rPr lang="en-US" altLang="zh-CN" dirty="0" err="1"/>
              <a:t>x_train</a:t>
            </a:r>
            <a:r>
              <a:rPr lang="en-US" altLang="zh-CN" dirty="0"/>
              <a:t>=</a:t>
            </a:r>
            <a:r>
              <a:rPr lang="en-US" altLang="zh-CN" dirty="0" err="1"/>
              <a:t>Data.iloc</a:t>
            </a:r>
            <a:r>
              <a:rPr lang="en-US" altLang="zh-CN" dirty="0"/>
              <a:t>[index,1:15]  </a:t>
            </a:r>
            <a:endParaRPr lang="zh-CN" altLang="zh-CN" dirty="0"/>
          </a:p>
          <a:p>
            <a:r>
              <a:rPr lang="en-US" altLang="zh-CN" dirty="0"/>
              <a:t>   </a:t>
            </a:r>
            <a:r>
              <a:rPr lang="en-US" altLang="zh-CN" dirty="0" err="1"/>
              <a:t>y_train</a:t>
            </a:r>
            <a:r>
              <a:rPr lang="en-US" altLang="zh-CN" dirty="0"/>
              <a:t>=</a:t>
            </a:r>
            <a:r>
              <a:rPr lang="en-US" altLang="zh-CN" dirty="0" err="1"/>
              <a:t>Data.iloc</a:t>
            </a:r>
            <a:r>
              <a:rPr lang="en-US" altLang="zh-CN" dirty="0"/>
              <a:t>[index,[15]]</a:t>
            </a:r>
            <a:endParaRPr lang="zh-CN" altLang="zh-CN" dirty="0"/>
          </a:p>
          <a:p>
            <a:r>
              <a:rPr lang="en-US" altLang="zh-CN" dirty="0"/>
              <a:t>   </a:t>
            </a:r>
            <a:r>
              <a:rPr lang="en-US" altLang="zh-CN" dirty="0" err="1"/>
              <a:t>x_test</a:t>
            </a:r>
            <a:r>
              <a:rPr lang="en-US" altLang="zh-CN" dirty="0"/>
              <a:t>=</a:t>
            </a:r>
            <a:r>
              <a:rPr lang="en-US" altLang="zh-CN" dirty="0" err="1"/>
              <a:t>Data.iloc</a:t>
            </a:r>
            <a:r>
              <a:rPr lang="en-US" altLang="zh-CN" dirty="0"/>
              <a:t>[index1,1:15]</a:t>
            </a:r>
            <a:endParaRPr lang="zh-CN" altLang="zh-CN" dirty="0"/>
          </a:p>
          <a:p>
            <a:r>
              <a:rPr lang="en-US" altLang="zh-CN" dirty="0"/>
              <a:t>   </a:t>
            </a:r>
            <a:r>
              <a:rPr lang="en-US" altLang="zh-CN" dirty="0" err="1"/>
              <a:t>y_test</a:t>
            </a:r>
            <a:r>
              <a:rPr lang="en-US" altLang="zh-CN" dirty="0"/>
              <a:t>=</a:t>
            </a:r>
            <a:r>
              <a:rPr lang="en-US" altLang="zh-CN" dirty="0" err="1"/>
              <a:t>Data.iloc</a:t>
            </a:r>
            <a:r>
              <a:rPr lang="en-US" altLang="zh-CN" dirty="0"/>
              <a:t>[index1,[15]]</a:t>
            </a:r>
            <a:endParaRPr lang="zh-CN" altLang="zh-CN" dirty="0"/>
          </a:p>
        </p:txBody>
      </p:sp>
      <p:sp>
        <p:nvSpPr>
          <p:cNvPr id="15" name="矩形 14"/>
          <p:cNvSpPr/>
          <p:nvPr/>
        </p:nvSpPr>
        <p:spPr>
          <a:xfrm>
            <a:off x="6100763" y="3861048"/>
            <a:ext cx="6096000" cy="1754326"/>
          </a:xfrm>
          <a:prstGeom prst="rect">
            <a:avLst/>
          </a:prstGeom>
        </p:spPr>
        <p:txBody>
          <a:bodyPr>
            <a:spAutoFit/>
          </a:bodyPr>
          <a:lstStyle/>
          <a:p>
            <a:r>
              <a:rPr lang="en-US" altLang="zh-CN" dirty="0" smtClean="0"/>
              <a:t> </a:t>
            </a:r>
            <a:r>
              <a:rPr lang="en-US" altLang="zh-CN" dirty="0"/>
              <a:t> </a:t>
            </a:r>
            <a:r>
              <a:rPr lang="en-US" altLang="zh-CN" dirty="0" smtClean="0"/>
              <a:t>  </a:t>
            </a:r>
            <a:r>
              <a:rPr lang="en-US" altLang="zh-CN" dirty="0"/>
              <a:t>##3.</a:t>
            </a:r>
            <a:r>
              <a:rPr lang="zh-CN" altLang="zh-CN" dirty="0"/>
              <a:t>数据标准化处理</a:t>
            </a:r>
          </a:p>
          <a:p>
            <a:r>
              <a:rPr lang="en-US" altLang="zh-CN" dirty="0"/>
              <a:t>   from </a:t>
            </a:r>
            <a:r>
              <a:rPr lang="en-US" altLang="zh-CN" dirty="0" err="1"/>
              <a:t>sklearn.preprocessing</a:t>
            </a:r>
            <a:r>
              <a:rPr lang="en-US" altLang="zh-CN" dirty="0"/>
              <a:t> import </a:t>
            </a:r>
            <a:r>
              <a:rPr lang="en-US" altLang="zh-CN" dirty="0" err="1"/>
              <a:t>StandardScaler</a:t>
            </a:r>
            <a:r>
              <a:rPr lang="en-US" altLang="zh-CN" dirty="0"/>
              <a:t>  </a:t>
            </a:r>
            <a:endParaRPr lang="zh-CN" altLang="zh-CN" dirty="0"/>
          </a:p>
          <a:p>
            <a:r>
              <a:rPr lang="en-US" altLang="zh-CN" dirty="0"/>
              <a:t>   </a:t>
            </a:r>
            <a:r>
              <a:rPr lang="en-US" altLang="zh-CN" dirty="0" err="1"/>
              <a:t>scaler</a:t>
            </a:r>
            <a:r>
              <a:rPr lang="en-US" altLang="zh-CN" dirty="0"/>
              <a:t> = </a:t>
            </a:r>
            <a:r>
              <a:rPr lang="en-US" altLang="zh-CN" dirty="0" err="1"/>
              <a:t>StandardScaler</a:t>
            </a:r>
            <a:r>
              <a:rPr lang="en-US" altLang="zh-CN" dirty="0"/>
              <a:t>()</a:t>
            </a:r>
            <a:endParaRPr lang="zh-CN" altLang="zh-CN" dirty="0"/>
          </a:p>
          <a:p>
            <a:r>
              <a:rPr lang="en-US" altLang="zh-CN" dirty="0"/>
              <a:t>   </a:t>
            </a:r>
            <a:r>
              <a:rPr lang="en-US" altLang="zh-CN" dirty="0" err="1"/>
              <a:t>scaler.fit</a:t>
            </a:r>
            <a:r>
              <a:rPr lang="en-US" altLang="zh-CN" dirty="0"/>
              <a:t>(</a:t>
            </a:r>
            <a:r>
              <a:rPr lang="en-US" altLang="zh-CN" dirty="0" err="1"/>
              <a:t>x_train</a:t>
            </a:r>
            <a:r>
              <a:rPr lang="en-US" altLang="zh-CN" dirty="0"/>
              <a:t>) </a:t>
            </a:r>
            <a:endParaRPr lang="zh-CN" altLang="zh-CN" dirty="0"/>
          </a:p>
          <a:p>
            <a:r>
              <a:rPr lang="en-US" altLang="zh-CN" dirty="0"/>
              <a:t>   </a:t>
            </a:r>
            <a:r>
              <a:rPr lang="en-US" altLang="zh-CN" dirty="0" err="1"/>
              <a:t>x_train</a:t>
            </a:r>
            <a:r>
              <a:rPr lang="en-US" altLang="zh-CN" dirty="0"/>
              <a:t>=</a:t>
            </a:r>
            <a:r>
              <a:rPr lang="en-US" altLang="zh-CN" dirty="0" err="1"/>
              <a:t>scaler.transform</a:t>
            </a:r>
            <a:r>
              <a:rPr lang="en-US" altLang="zh-CN" dirty="0"/>
              <a:t>(</a:t>
            </a:r>
            <a:r>
              <a:rPr lang="en-US" altLang="zh-CN" dirty="0" err="1"/>
              <a:t>x_train</a:t>
            </a:r>
            <a:r>
              <a:rPr lang="en-US" altLang="zh-CN" dirty="0"/>
              <a:t>)</a:t>
            </a:r>
            <a:endParaRPr lang="zh-CN" altLang="zh-CN" dirty="0"/>
          </a:p>
          <a:p>
            <a:r>
              <a:rPr lang="en-US" altLang="zh-CN" dirty="0"/>
              <a:t>   </a:t>
            </a:r>
            <a:r>
              <a:rPr lang="en-US" altLang="zh-CN" dirty="0" err="1"/>
              <a:t>x_test</a:t>
            </a:r>
            <a:r>
              <a:rPr lang="en-US" altLang="zh-CN" dirty="0"/>
              <a:t>=</a:t>
            </a:r>
            <a:r>
              <a:rPr lang="en-US" altLang="zh-CN" dirty="0" err="1"/>
              <a:t>scaler.transform</a:t>
            </a:r>
            <a:r>
              <a:rPr lang="en-US" altLang="zh-CN" dirty="0"/>
              <a:t>(</a:t>
            </a:r>
            <a:r>
              <a:rPr lang="en-US" altLang="zh-CN" dirty="0" err="1"/>
              <a:t>x_test</a:t>
            </a:r>
            <a:r>
              <a:rPr lang="en-US" altLang="zh-CN" dirty="0"/>
              <a:t>)  </a:t>
            </a:r>
            <a:endParaRPr lang="zh-CN" altLang="en-US" dirty="0"/>
          </a:p>
        </p:txBody>
      </p:sp>
    </p:spTree>
    <p:extLst>
      <p:ext uri="{BB962C8B-B14F-4D97-AF65-F5344CB8AC3E}">
        <p14:creationId xmlns:p14="http://schemas.microsoft.com/office/powerpoint/2010/main" val="3129157889"/>
      </p:ext>
    </p:extLst>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 </a:t>
            </a:r>
            <a:r>
              <a:rPr lang="en-US" altLang="zh-CN" sz="2000" dirty="0" smtClean="0">
                <a:solidFill>
                  <a:schemeClr val="accent2"/>
                </a:solidFill>
              </a:rPr>
              <a:t>9</a:t>
            </a:r>
            <a:r>
              <a:rPr lang="en-US" altLang="zh-CN" dirty="0" smtClean="0">
                <a:solidFill>
                  <a:schemeClr val="accent2"/>
                </a:solidFill>
              </a:rPr>
              <a:t> </a:t>
            </a:r>
            <a:endParaRPr lang="zh-CN" altLang="en-US" dirty="0">
              <a:solidFill>
                <a:schemeClr val="accent2"/>
              </a:solidFill>
            </a:endParaRPr>
          </a:p>
        </p:txBody>
      </p:sp>
      <p:sp>
        <p:nvSpPr>
          <p:cNvPr id="9" name="燕尾形 8"/>
          <p:cNvSpPr/>
          <p:nvPr/>
        </p:nvSpPr>
        <p:spPr bwMode="auto">
          <a:xfrm>
            <a:off x="6353299" y="63783"/>
            <a:ext cx="321146" cy="442499"/>
          </a:xfrm>
          <a:prstGeom prst="chevron">
            <a:avLst/>
          </a:prstGeom>
          <a:solidFill>
            <a:schemeClr val="accent2"/>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spcBef>
                <a:spcPct val="0"/>
              </a:spcBef>
              <a:spcAft>
                <a:spcPct val="0"/>
              </a:spcAft>
              <a:buClrTx/>
              <a:buSzTx/>
              <a:buFont typeface="Arial" pitchFamily="34" charset="0"/>
              <a:buNone/>
            </a:pPr>
            <a:endParaRPr kumimoji="0" lang="zh-CN" altLang="en-US" sz="1800" b="0" i="0" u="none" strike="noStrike" cap="none" normalizeH="0" baseline="0" smtClean="0">
              <a:ln>
                <a:noFill/>
              </a:ln>
              <a:solidFill>
                <a:schemeClr val="tx1"/>
              </a:solidFill>
              <a:effectLst/>
              <a:latin typeface="Arial" pitchFamily="34" charset="0"/>
              <a:ea typeface="宋体" pitchFamily="2" charset="-122"/>
            </a:endParaRPr>
          </a:p>
        </p:txBody>
      </p:sp>
      <p:sp>
        <p:nvSpPr>
          <p:cNvPr id="6" name="TextBox 5"/>
          <p:cNvSpPr txBox="1"/>
          <p:nvPr/>
        </p:nvSpPr>
        <p:spPr>
          <a:xfrm>
            <a:off x="7034485" y="121564"/>
            <a:ext cx="3312368" cy="523220"/>
          </a:xfrm>
          <a:prstGeom prst="rect">
            <a:avLst/>
          </a:prstGeom>
          <a:noFill/>
        </p:spPr>
        <p:txBody>
          <a:bodyPr wrap="square" rtlCol="0">
            <a:spAutoFit/>
          </a:bodyPr>
          <a:lstStyle/>
          <a:p>
            <a:pPr lvl="0"/>
            <a:r>
              <a:rPr lang="en-US" altLang="zh-CN" sz="2800" dirty="0">
                <a:solidFill>
                  <a:srgbClr val="FFFFFF"/>
                </a:solidFill>
                <a:latin typeface="微软雅黑"/>
                <a:ea typeface="微软雅黑"/>
              </a:rPr>
              <a:t>9.6.1 </a:t>
            </a:r>
            <a:r>
              <a:rPr lang="zh-CN" altLang="en-US" sz="2800" dirty="0">
                <a:solidFill>
                  <a:srgbClr val="FFFFFF"/>
                </a:solidFill>
                <a:latin typeface="微软雅黑"/>
                <a:ea typeface="微软雅黑"/>
              </a:rPr>
              <a:t>函数定义</a:t>
            </a:r>
            <a:endParaRPr lang="zh-CN" altLang="en-US" sz="2800" dirty="0">
              <a:solidFill>
                <a:srgbClr val="FFFFFF"/>
              </a:solidFill>
              <a:latin typeface="微软雅黑"/>
              <a:ea typeface="微软雅黑"/>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9545" y="3054350"/>
            <a:ext cx="5164137" cy="74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TextBox 13"/>
          <p:cNvSpPr txBox="1"/>
          <p:nvPr/>
        </p:nvSpPr>
        <p:spPr>
          <a:xfrm>
            <a:off x="1330766" y="44625"/>
            <a:ext cx="5042228"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smtClean="0">
                <a:solidFill>
                  <a:schemeClr val="accent2"/>
                </a:solidFill>
                <a:latin typeface="微软雅黑"/>
                <a:ea typeface="微软雅黑"/>
              </a:rPr>
              <a:t>9.6</a:t>
            </a:r>
            <a:r>
              <a:rPr lang="en-US" altLang="zh-CN" sz="2800" dirty="0">
                <a:solidFill>
                  <a:schemeClr val="accent2"/>
                </a:solidFill>
                <a:latin typeface="微软雅黑"/>
                <a:ea typeface="微软雅黑"/>
              </a:rPr>
              <a:t> </a:t>
            </a:r>
            <a:r>
              <a:rPr lang="zh-CN" altLang="en-US" sz="2800" dirty="0" smtClean="0">
                <a:solidFill>
                  <a:schemeClr val="accent2"/>
                </a:solidFill>
                <a:latin typeface="微软雅黑"/>
                <a:ea typeface="微软雅黑"/>
              </a:rPr>
              <a:t>量化投资策略设计与分析</a:t>
            </a:r>
            <a:endParaRPr lang="zh-CN" altLang="en-US" sz="2800" dirty="0">
              <a:solidFill>
                <a:schemeClr val="accent2"/>
              </a:solidFill>
              <a:latin typeface="微软雅黑"/>
              <a:ea typeface="微软雅黑"/>
            </a:endParaRPr>
          </a:p>
        </p:txBody>
      </p:sp>
      <p:sp>
        <p:nvSpPr>
          <p:cNvPr id="10" name="矩形 9"/>
          <p:cNvSpPr/>
          <p:nvPr/>
        </p:nvSpPr>
        <p:spPr>
          <a:xfrm>
            <a:off x="140412" y="970853"/>
            <a:ext cx="5800650" cy="3139321"/>
          </a:xfrm>
          <a:prstGeom prst="rect">
            <a:avLst/>
          </a:prstGeom>
        </p:spPr>
        <p:txBody>
          <a:bodyPr wrap="square">
            <a:spAutoFit/>
          </a:bodyPr>
          <a:lstStyle/>
          <a:p>
            <a:r>
              <a:rPr lang="en-US" altLang="zh-CN" dirty="0"/>
              <a:t> ##4.</a:t>
            </a:r>
            <a:r>
              <a:rPr lang="zh-CN" altLang="zh-CN" dirty="0"/>
              <a:t>模型选择及计算</a:t>
            </a:r>
          </a:p>
          <a:p>
            <a:r>
              <a:rPr lang="en-US" altLang="zh-CN" dirty="0"/>
              <a:t>   #</a:t>
            </a:r>
            <a:r>
              <a:rPr lang="zh-CN" altLang="zh-CN" dirty="0"/>
              <a:t>神经网络模型</a:t>
            </a:r>
          </a:p>
          <a:p>
            <a:r>
              <a:rPr lang="en-US" altLang="zh-CN" dirty="0"/>
              <a:t>   if n==0:</a:t>
            </a:r>
            <a:endParaRPr lang="zh-CN" altLang="zh-CN" dirty="0"/>
          </a:p>
          <a:p>
            <a:r>
              <a:rPr lang="en-US" altLang="zh-CN" dirty="0"/>
              <a:t>     from </a:t>
            </a:r>
            <a:r>
              <a:rPr lang="en-US" altLang="zh-CN" dirty="0" err="1"/>
              <a:t>sklearn.neural_network</a:t>
            </a:r>
            <a:r>
              <a:rPr lang="en-US" altLang="zh-CN" dirty="0"/>
              <a:t> import </a:t>
            </a:r>
            <a:r>
              <a:rPr lang="en-US" altLang="zh-CN" dirty="0" err="1"/>
              <a:t>MLPClassifier</a:t>
            </a:r>
            <a:endParaRPr lang="zh-CN" altLang="zh-CN" dirty="0"/>
          </a:p>
          <a:p>
            <a:r>
              <a:rPr lang="en-US" altLang="zh-CN" dirty="0"/>
              <a:t>     </a:t>
            </a:r>
            <a:r>
              <a:rPr lang="en-US" altLang="zh-CN" dirty="0" err="1"/>
              <a:t>clf</a:t>
            </a:r>
            <a:r>
              <a:rPr lang="en-US" altLang="zh-CN" dirty="0"/>
              <a:t> = </a:t>
            </a:r>
            <a:r>
              <a:rPr lang="en-US" altLang="zh-CN" dirty="0" err="1"/>
              <a:t>MLPClassifier</a:t>
            </a:r>
            <a:r>
              <a:rPr lang="en-US" altLang="zh-CN" dirty="0"/>
              <a:t>(solver='</a:t>
            </a:r>
            <a:r>
              <a:rPr lang="en-US" altLang="zh-CN" dirty="0" err="1"/>
              <a:t>lbfgs</a:t>
            </a:r>
            <a:r>
              <a:rPr lang="en-US" altLang="zh-CN" dirty="0"/>
              <a:t>', alpha=1e-5,</a:t>
            </a:r>
            <a:endParaRPr lang="zh-CN" altLang="zh-CN" dirty="0"/>
          </a:p>
          <a:p>
            <a:r>
              <a:rPr lang="en-US" altLang="zh-CN" dirty="0"/>
              <a:t>                    </a:t>
            </a:r>
            <a:r>
              <a:rPr lang="en-US" altLang="zh-CN" dirty="0" err="1"/>
              <a:t>hidden_layer_sizes</a:t>
            </a:r>
            <a:r>
              <a:rPr lang="en-US" altLang="zh-CN" dirty="0"/>
              <a:t>=8, </a:t>
            </a:r>
            <a:r>
              <a:rPr lang="en-US" altLang="zh-CN" dirty="0" err="1"/>
              <a:t>random_state</a:t>
            </a:r>
            <a:r>
              <a:rPr lang="en-US" altLang="zh-CN" dirty="0"/>
              <a:t>=1)</a:t>
            </a:r>
            <a:endParaRPr lang="zh-CN" altLang="zh-CN" dirty="0"/>
          </a:p>
          <a:p>
            <a:r>
              <a:rPr lang="en-US" altLang="zh-CN" dirty="0"/>
              <a:t>     # </a:t>
            </a:r>
            <a:r>
              <a:rPr lang="zh-CN" altLang="zh-CN" dirty="0"/>
              <a:t>多个隐含层</a:t>
            </a:r>
            <a:r>
              <a:rPr lang="en-US" altLang="zh-CN" dirty="0" err="1"/>
              <a:t>hidden_layer_sizes</a:t>
            </a:r>
            <a:r>
              <a:rPr lang="en-US" altLang="zh-CN" dirty="0"/>
              <a:t>(5,2)</a:t>
            </a:r>
            <a:endParaRPr lang="zh-CN" altLang="zh-CN" dirty="0"/>
          </a:p>
          <a:p>
            <a:r>
              <a:rPr lang="en-US" altLang="zh-CN" dirty="0"/>
              <a:t>     </a:t>
            </a:r>
            <a:r>
              <a:rPr lang="en-US" altLang="zh-CN" dirty="0" err="1"/>
              <a:t>clf.fit</a:t>
            </a:r>
            <a:r>
              <a:rPr lang="en-US" altLang="zh-CN" dirty="0"/>
              <a:t>(</a:t>
            </a:r>
            <a:r>
              <a:rPr lang="en-US" altLang="zh-CN" dirty="0" err="1"/>
              <a:t>x_train</a:t>
            </a:r>
            <a:r>
              <a:rPr lang="en-US" altLang="zh-CN" dirty="0"/>
              <a:t>, </a:t>
            </a:r>
            <a:r>
              <a:rPr lang="en-US" altLang="zh-CN" dirty="0" err="1"/>
              <a:t>y_train</a:t>
            </a:r>
            <a:r>
              <a:rPr lang="en-US" altLang="zh-CN" dirty="0"/>
              <a:t>) </a:t>
            </a:r>
            <a:endParaRPr lang="zh-CN" altLang="zh-CN" dirty="0"/>
          </a:p>
          <a:p>
            <a:r>
              <a:rPr lang="en-US" altLang="zh-CN" dirty="0"/>
              <a:t>     result=</a:t>
            </a:r>
            <a:r>
              <a:rPr lang="en-US" altLang="zh-CN" dirty="0" err="1"/>
              <a:t>clf.predict</a:t>
            </a:r>
            <a:r>
              <a:rPr lang="en-US" altLang="zh-CN" dirty="0"/>
              <a:t>(</a:t>
            </a:r>
            <a:r>
              <a:rPr lang="en-US" altLang="zh-CN" dirty="0" err="1"/>
              <a:t>x_test</a:t>
            </a:r>
            <a:r>
              <a:rPr lang="en-US" altLang="zh-CN" dirty="0"/>
              <a:t>)</a:t>
            </a:r>
            <a:endParaRPr lang="zh-CN" altLang="zh-CN" dirty="0"/>
          </a:p>
          <a:p>
            <a:r>
              <a:rPr lang="en-US" altLang="zh-CN" dirty="0"/>
              <a:t>     </a:t>
            </a:r>
            <a:r>
              <a:rPr lang="en-US" altLang="zh-CN" dirty="0" err="1"/>
              <a:t>sc</a:t>
            </a:r>
            <a:r>
              <a:rPr lang="en-US" altLang="zh-CN" dirty="0"/>
              <a:t>=</a:t>
            </a:r>
            <a:r>
              <a:rPr lang="en-US" altLang="zh-CN" dirty="0" err="1"/>
              <a:t>clf.score</a:t>
            </a:r>
            <a:r>
              <a:rPr lang="en-US" altLang="zh-CN" dirty="0"/>
              <a:t>(</a:t>
            </a:r>
            <a:r>
              <a:rPr lang="en-US" altLang="zh-CN" dirty="0" err="1"/>
              <a:t>x_train</a:t>
            </a:r>
            <a:r>
              <a:rPr lang="en-US" altLang="zh-CN" dirty="0"/>
              <a:t>, </a:t>
            </a:r>
            <a:r>
              <a:rPr lang="en-US" altLang="zh-CN" dirty="0" err="1"/>
              <a:t>y_train</a:t>
            </a:r>
            <a:r>
              <a:rPr lang="en-US" altLang="zh-CN" dirty="0"/>
              <a:t>)</a:t>
            </a:r>
            <a:endParaRPr lang="zh-CN" altLang="zh-CN" dirty="0"/>
          </a:p>
          <a:p>
            <a:r>
              <a:rPr lang="en-US" altLang="zh-CN" dirty="0"/>
              <a:t>     </a:t>
            </a:r>
            <a:r>
              <a:rPr lang="en-US" altLang="zh-CN" dirty="0" err="1"/>
              <a:t>sc</a:t>
            </a:r>
            <a:r>
              <a:rPr lang="en-US" altLang="zh-CN" dirty="0"/>
              <a:t>=</a:t>
            </a:r>
            <a:r>
              <a:rPr lang="en-US" altLang="zh-CN" dirty="0" err="1"/>
              <a:t>np.round</a:t>
            </a:r>
            <a:r>
              <a:rPr lang="en-US" altLang="zh-CN" dirty="0"/>
              <a:t>(sc,3)</a:t>
            </a:r>
            <a:endParaRPr lang="zh-CN" altLang="en-US" dirty="0"/>
          </a:p>
        </p:txBody>
      </p:sp>
      <p:sp>
        <p:nvSpPr>
          <p:cNvPr id="11" name="矩形 10"/>
          <p:cNvSpPr/>
          <p:nvPr/>
        </p:nvSpPr>
        <p:spPr>
          <a:xfrm>
            <a:off x="204078" y="4227016"/>
            <a:ext cx="4919687" cy="2308324"/>
          </a:xfrm>
          <a:prstGeom prst="rect">
            <a:avLst/>
          </a:prstGeom>
        </p:spPr>
        <p:txBody>
          <a:bodyPr wrap="square">
            <a:spAutoFit/>
          </a:bodyPr>
          <a:lstStyle/>
          <a:p>
            <a:r>
              <a:rPr lang="en-US" altLang="zh-CN" dirty="0"/>
              <a:t>#</a:t>
            </a:r>
            <a:r>
              <a:rPr lang="zh-CN" altLang="zh-CN" dirty="0"/>
              <a:t>支持向量机模型</a:t>
            </a:r>
          </a:p>
          <a:p>
            <a:r>
              <a:rPr lang="en-US" altLang="zh-CN" dirty="0"/>
              <a:t>   if n==1:</a:t>
            </a:r>
            <a:endParaRPr lang="zh-CN" altLang="zh-CN" dirty="0"/>
          </a:p>
          <a:p>
            <a:r>
              <a:rPr lang="en-US" altLang="zh-CN" dirty="0"/>
              <a:t>     from </a:t>
            </a:r>
            <a:r>
              <a:rPr lang="en-US" altLang="zh-CN" dirty="0" err="1"/>
              <a:t>sklearn</a:t>
            </a:r>
            <a:r>
              <a:rPr lang="en-US" altLang="zh-CN" dirty="0"/>
              <a:t> import </a:t>
            </a:r>
            <a:r>
              <a:rPr lang="en-US" altLang="zh-CN" dirty="0" err="1"/>
              <a:t>svm</a:t>
            </a:r>
            <a:endParaRPr lang="zh-CN" altLang="zh-CN" dirty="0"/>
          </a:p>
          <a:p>
            <a:r>
              <a:rPr lang="en-US" altLang="zh-CN" dirty="0"/>
              <a:t>     </a:t>
            </a:r>
            <a:r>
              <a:rPr lang="en-US" altLang="zh-CN" dirty="0" err="1"/>
              <a:t>clf</a:t>
            </a:r>
            <a:r>
              <a:rPr lang="en-US" altLang="zh-CN" dirty="0"/>
              <a:t> = </a:t>
            </a:r>
            <a:r>
              <a:rPr lang="en-US" altLang="zh-CN" dirty="0" err="1"/>
              <a:t>svm.SVC</a:t>
            </a:r>
            <a:r>
              <a:rPr lang="en-US" altLang="zh-CN" dirty="0"/>
              <a:t>()</a:t>
            </a:r>
            <a:endParaRPr lang="zh-CN" altLang="zh-CN" dirty="0"/>
          </a:p>
          <a:p>
            <a:r>
              <a:rPr lang="en-US" altLang="zh-CN" dirty="0"/>
              <a:t>     </a:t>
            </a:r>
            <a:r>
              <a:rPr lang="en-US" altLang="zh-CN" dirty="0" err="1"/>
              <a:t>clf.fit</a:t>
            </a:r>
            <a:r>
              <a:rPr lang="en-US" altLang="zh-CN" dirty="0"/>
              <a:t>(</a:t>
            </a:r>
            <a:r>
              <a:rPr lang="en-US" altLang="zh-CN" dirty="0" err="1"/>
              <a:t>x_train</a:t>
            </a:r>
            <a:r>
              <a:rPr lang="en-US" altLang="zh-CN" dirty="0"/>
              <a:t>, </a:t>
            </a:r>
            <a:r>
              <a:rPr lang="en-US" altLang="zh-CN" dirty="0" err="1"/>
              <a:t>y_train</a:t>
            </a:r>
            <a:r>
              <a:rPr lang="en-US" altLang="zh-CN" dirty="0"/>
              <a:t>) </a:t>
            </a:r>
            <a:endParaRPr lang="zh-CN" altLang="zh-CN" dirty="0"/>
          </a:p>
          <a:p>
            <a:r>
              <a:rPr lang="en-US" altLang="zh-CN" dirty="0"/>
              <a:t>     result=</a:t>
            </a:r>
            <a:r>
              <a:rPr lang="en-US" altLang="zh-CN" dirty="0" err="1"/>
              <a:t>clf.predict</a:t>
            </a:r>
            <a:r>
              <a:rPr lang="en-US" altLang="zh-CN" dirty="0"/>
              <a:t>(</a:t>
            </a:r>
            <a:r>
              <a:rPr lang="en-US" altLang="zh-CN" dirty="0" err="1"/>
              <a:t>x_test</a:t>
            </a:r>
            <a:r>
              <a:rPr lang="en-US" altLang="zh-CN" dirty="0"/>
              <a:t>)</a:t>
            </a:r>
            <a:endParaRPr lang="zh-CN" altLang="zh-CN" dirty="0"/>
          </a:p>
          <a:p>
            <a:r>
              <a:rPr lang="en-US" altLang="zh-CN" dirty="0"/>
              <a:t>     </a:t>
            </a:r>
            <a:r>
              <a:rPr lang="en-US" altLang="zh-CN" dirty="0" err="1"/>
              <a:t>sc</a:t>
            </a:r>
            <a:r>
              <a:rPr lang="en-US" altLang="zh-CN" dirty="0"/>
              <a:t>=</a:t>
            </a:r>
            <a:r>
              <a:rPr lang="en-US" altLang="zh-CN" dirty="0" err="1"/>
              <a:t>clf.score</a:t>
            </a:r>
            <a:r>
              <a:rPr lang="en-US" altLang="zh-CN" dirty="0"/>
              <a:t>(</a:t>
            </a:r>
            <a:r>
              <a:rPr lang="en-US" altLang="zh-CN" dirty="0" err="1"/>
              <a:t>x_train</a:t>
            </a:r>
            <a:r>
              <a:rPr lang="en-US" altLang="zh-CN" dirty="0"/>
              <a:t>, </a:t>
            </a:r>
            <a:r>
              <a:rPr lang="en-US" altLang="zh-CN" dirty="0" err="1"/>
              <a:t>y_train</a:t>
            </a:r>
            <a:r>
              <a:rPr lang="en-US" altLang="zh-CN" dirty="0"/>
              <a:t>)</a:t>
            </a:r>
            <a:endParaRPr lang="zh-CN" altLang="zh-CN" dirty="0"/>
          </a:p>
          <a:p>
            <a:r>
              <a:rPr lang="en-US" altLang="zh-CN" dirty="0"/>
              <a:t>     </a:t>
            </a:r>
            <a:r>
              <a:rPr lang="en-US" altLang="zh-CN" dirty="0" err="1"/>
              <a:t>sc</a:t>
            </a:r>
            <a:r>
              <a:rPr lang="en-US" altLang="zh-CN" dirty="0"/>
              <a:t>=</a:t>
            </a:r>
            <a:r>
              <a:rPr lang="en-US" altLang="zh-CN" dirty="0" err="1"/>
              <a:t>np.round</a:t>
            </a:r>
            <a:r>
              <a:rPr lang="en-US" altLang="zh-CN" dirty="0"/>
              <a:t>(sc,3)</a:t>
            </a:r>
            <a:endParaRPr lang="zh-CN" altLang="zh-CN" dirty="0"/>
          </a:p>
        </p:txBody>
      </p:sp>
      <p:sp>
        <p:nvSpPr>
          <p:cNvPr id="12" name="矩形 11"/>
          <p:cNvSpPr/>
          <p:nvPr/>
        </p:nvSpPr>
        <p:spPr>
          <a:xfrm>
            <a:off x="6353299" y="757476"/>
            <a:ext cx="6095999" cy="5355312"/>
          </a:xfrm>
          <a:prstGeom prst="rect">
            <a:avLst/>
          </a:prstGeom>
        </p:spPr>
        <p:txBody>
          <a:bodyPr wrap="square">
            <a:spAutoFit/>
          </a:bodyPr>
          <a:lstStyle/>
          <a:p>
            <a:r>
              <a:rPr lang="en-US" altLang="zh-CN" dirty="0"/>
              <a:t>#</a:t>
            </a:r>
            <a:r>
              <a:rPr lang="zh-CN" altLang="zh-CN" dirty="0"/>
              <a:t>逻辑回归模型</a:t>
            </a:r>
          </a:p>
          <a:p>
            <a:r>
              <a:rPr lang="en-US" altLang="zh-CN" dirty="0"/>
              <a:t>   if n==2:</a:t>
            </a:r>
            <a:endParaRPr lang="zh-CN" altLang="zh-CN" dirty="0"/>
          </a:p>
          <a:p>
            <a:r>
              <a:rPr lang="en-US" altLang="zh-CN" dirty="0"/>
              <a:t>     from </a:t>
            </a:r>
            <a:r>
              <a:rPr lang="en-US" altLang="zh-CN" dirty="0" err="1"/>
              <a:t>sklearn.linear_model</a:t>
            </a:r>
            <a:r>
              <a:rPr lang="en-US" altLang="zh-CN" dirty="0"/>
              <a:t> import </a:t>
            </a:r>
            <a:r>
              <a:rPr lang="en-US" altLang="zh-CN" dirty="0" err="1"/>
              <a:t>LogisticRegression</a:t>
            </a:r>
            <a:r>
              <a:rPr lang="en-US" altLang="zh-CN" dirty="0"/>
              <a:t> as LR</a:t>
            </a:r>
            <a:endParaRPr lang="zh-CN" altLang="zh-CN" dirty="0"/>
          </a:p>
          <a:p>
            <a:r>
              <a:rPr lang="en-US" altLang="zh-CN" dirty="0"/>
              <a:t>     </a:t>
            </a:r>
            <a:r>
              <a:rPr lang="en-US" altLang="zh-CN" dirty="0" err="1"/>
              <a:t>clf</a:t>
            </a:r>
            <a:r>
              <a:rPr lang="en-US" altLang="zh-CN" dirty="0"/>
              <a:t> = LR()</a:t>
            </a:r>
            <a:endParaRPr lang="zh-CN" altLang="zh-CN" dirty="0"/>
          </a:p>
          <a:p>
            <a:r>
              <a:rPr lang="en-US" altLang="zh-CN" dirty="0"/>
              <a:t>     </a:t>
            </a:r>
            <a:r>
              <a:rPr lang="en-US" altLang="zh-CN" dirty="0" err="1"/>
              <a:t>clf.fit</a:t>
            </a:r>
            <a:r>
              <a:rPr lang="en-US" altLang="zh-CN" dirty="0"/>
              <a:t>(</a:t>
            </a:r>
            <a:r>
              <a:rPr lang="en-US" altLang="zh-CN" dirty="0" err="1"/>
              <a:t>x_train</a:t>
            </a:r>
            <a:r>
              <a:rPr lang="en-US" altLang="zh-CN" dirty="0"/>
              <a:t>, </a:t>
            </a:r>
            <a:r>
              <a:rPr lang="en-US" altLang="zh-CN" dirty="0" err="1"/>
              <a:t>y_train</a:t>
            </a:r>
            <a:r>
              <a:rPr lang="en-US" altLang="zh-CN" dirty="0"/>
              <a:t>) </a:t>
            </a:r>
            <a:endParaRPr lang="zh-CN" altLang="zh-CN" dirty="0"/>
          </a:p>
          <a:p>
            <a:r>
              <a:rPr lang="en-US" altLang="zh-CN" dirty="0"/>
              <a:t>     result=</a:t>
            </a:r>
            <a:r>
              <a:rPr lang="en-US" altLang="zh-CN" dirty="0" err="1"/>
              <a:t>clf.predict</a:t>
            </a:r>
            <a:r>
              <a:rPr lang="en-US" altLang="zh-CN" dirty="0"/>
              <a:t>(</a:t>
            </a:r>
            <a:r>
              <a:rPr lang="en-US" altLang="zh-CN" dirty="0" err="1"/>
              <a:t>x_test</a:t>
            </a:r>
            <a:r>
              <a:rPr lang="en-US" altLang="zh-CN" dirty="0"/>
              <a:t>)</a:t>
            </a:r>
            <a:endParaRPr lang="zh-CN" altLang="zh-CN" dirty="0"/>
          </a:p>
          <a:p>
            <a:r>
              <a:rPr lang="en-US" altLang="zh-CN" dirty="0"/>
              <a:t>     </a:t>
            </a:r>
            <a:r>
              <a:rPr lang="en-US" altLang="zh-CN" dirty="0" err="1"/>
              <a:t>sc</a:t>
            </a:r>
            <a:r>
              <a:rPr lang="en-US" altLang="zh-CN" dirty="0"/>
              <a:t>=</a:t>
            </a:r>
            <a:r>
              <a:rPr lang="en-US" altLang="zh-CN" dirty="0" err="1"/>
              <a:t>clf.score</a:t>
            </a:r>
            <a:r>
              <a:rPr lang="en-US" altLang="zh-CN" dirty="0"/>
              <a:t>(</a:t>
            </a:r>
            <a:r>
              <a:rPr lang="en-US" altLang="zh-CN" dirty="0" err="1"/>
              <a:t>x_train</a:t>
            </a:r>
            <a:r>
              <a:rPr lang="en-US" altLang="zh-CN" dirty="0"/>
              <a:t>, </a:t>
            </a:r>
            <a:r>
              <a:rPr lang="en-US" altLang="zh-CN" dirty="0" err="1"/>
              <a:t>y_train</a:t>
            </a:r>
            <a:r>
              <a:rPr lang="en-US" altLang="zh-CN" dirty="0"/>
              <a:t>)</a:t>
            </a:r>
            <a:endParaRPr lang="zh-CN" altLang="zh-CN" dirty="0"/>
          </a:p>
          <a:p>
            <a:r>
              <a:rPr lang="en-US" altLang="zh-CN" dirty="0"/>
              <a:t>     </a:t>
            </a:r>
            <a:r>
              <a:rPr lang="en-US" altLang="zh-CN" dirty="0" err="1"/>
              <a:t>sc</a:t>
            </a:r>
            <a:r>
              <a:rPr lang="en-US" altLang="zh-CN" dirty="0"/>
              <a:t>=</a:t>
            </a:r>
            <a:r>
              <a:rPr lang="en-US" altLang="zh-CN" dirty="0" err="1"/>
              <a:t>np.round</a:t>
            </a:r>
            <a:r>
              <a:rPr lang="en-US" altLang="zh-CN" dirty="0"/>
              <a:t>(sc,3)</a:t>
            </a:r>
            <a:endParaRPr lang="zh-CN" altLang="zh-CN" dirty="0"/>
          </a:p>
          <a:p>
            <a:r>
              <a:rPr lang="en-US" altLang="zh-CN" dirty="0"/>
              <a:t>   result=</a:t>
            </a:r>
            <a:r>
              <a:rPr lang="en-US" altLang="zh-CN" dirty="0" err="1"/>
              <a:t>pd.DataFrame</a:t>
            </a:r>
            <a:r>
              <a:rPr lang="en-US" altLang="zh-CN" dirty="0"/>
              <a:t>(result)</a:t>
            </a:r>
            <a:endParaRPr lang="zh-CN" altLang="zh-CN" dirty="0"/>
          </a:p>
          <a:p>
            <a:r>
              <a:rPr lang="en-US" altLang="zh-CN" dirty="0"/>
              <a:t>   </a:t>
            </a:r>
            <a:r>
              <a:rPr lang="en-US" altLang="zh-CN" dirty="0" err="1"/>
              <a:t>ff</a:t>
            </a:r>
            <a:r>
              <a:rPr lang="en-US" altLang="zh-CN" dirty="0"/>
              <a:t>=</a:t>
            </a:r>
            <a:r>
              <a:rPr lang="en-US" altLang="zh-CN" dirty="0" err="1"/>
              <a:t>Data.iloc</a:t>
            </a:r>
            <a:r>
              <a:rPr lang="en-US" altLang="zh-CN" dirty="0"/>
              <a:t>[index1,0]</a:t>
            </a:r>
            <a:endParaRPr lang="zh-CN" altLang="zh-CN" dirty="0"/>
          </a:p>
          <a:p>
            <a:r>
              <a:rPr lang="en-US" altLang="zh-CN" dirty="0"/>
              <a:t>   #</a:t>
            </a:r>
            <a:r>
              <a:rPr lang="zh-CN" altLang="zh-CN" dirty="0"/>
              <a:t>将预测结果与实践结果整合在一起，进行比较</a:t>
            </a:r>
          </a:p>
          <a:p>
            <a:r>
              <a:rPr lang="en-US" altLang="zh-CN" dirty="0"/>
              <a:t>   pm1={'</a:t>
            </a:r>
            <a:r>
              <a:rPr lang="zh-CN" altLang="zh-CN" dirty="0"/>
              <a:t>交易日期</a:t>
            </a:r>
            <a:r>
              <a:rPr lang="en-US" altLang="zh-CN" dirty="0"/>
              <a:t>':</a:t>
            </a:r>
            <a:r>
              <a:rPr lang="en-US" altLang="zh-CN" dirty="0" err="1"/>
              <a:t>ff.values</a:t>
            </a:r>
            <a:r>
              <a:rPr lang="en-US" altLang="zh-CN" dirty="0"/>
              <a:t>,'</a:t>
            </a:r>
            <a:r>
              <a:rPr lang="zh-CN" altLang="zh-CN" dirty="0"/>
              <a:t>预测结果</a:t>
            </a:r>
            <a:r>
              <a:rPr lang="en-US" altLang="zh-CN" dirty="0"/>
              <a:t>':</a:t>
            </a:r>
            <a:r>
              <a:rPr lang="en-US" altLang="zh-CN" dirty="0" err="1"/>
              <a:t>result.iloc</a:t>
            </a:r>
            <a:r>
              <a:rPr lang="en-US" altLang="zh-CN" dirty="0"/>
              <a:t>[:,0].values,</a:t>
            </a:r>
            <a:endParaRPr lang="zh-CN" altLang="zh-CN" dirty="0"/>
          </a:p>
          <a:p>
            <a:r>
              <a:rPr lang="en-US" altLang="zh-CN" dirty="0"/>
              <a:t>        '</a:t>
            </a:r>
            <a:r>
              <a:rPr lang="zh-CN" altLang="zh-CN" dirty="0"/>
              <a:t>实际结果</a:t>
            </a:r>
            <a:r>
              <a:rPr lang="en-US" altLang="zh-CN" dirty="0"/>
              <a:t>':</a:t>
            </a:r>
            <a:r>
              <a:rPr lang="en-US" altLang="zh-CN" dirty="0" err="1"/>
              <a:t>y_test.iloc</a:t>
            </a:r>
            <a:r>
              <a:rPr lang="en-US" altLang="zh-CN" dirty="0"/>
              <a:t>[:,0].values}</a:t>
            </a:r>
            <a:endParaRPr lang="zh-CN" altLang="zh-CN" dirty="0"/>
          </a:p>
          <a:p>
            <a:r>
              <a:rPr lang="en-US" altLang="zh-CN" dirty="0"/>
              <a:t>   result1=</a:t>
            </a:r>
            <a:r>
              <a:rPr lang="en-US" altLang="zh-CN" dirty="0" err="1"/>
              <a:t>pd.DataFrame</a:t>
            </a:r>
            <a:r>
              <a:rPr lang="en-US" altLang="zh-CN" dirty="0"/>
              <a:t>(pm1)</a:t>
            </a:r>
            <a:endParaRPr lang="zh-CN" altLang="zh-CN" dirty="0"/>
          </a:p>
          <a:p>
            <a:r>
              <a:rPr lang="en-US" altLang="zh-CN" dirty="0"/>
              <a:t>   z=result1['</a:t>
            </a:r>
            <a:r>
              <a:rPr lang="zh-CN" altLang="zh-CN" dirty="0"/>
              <a:t>预测结果</a:t>
            </a:r>
            <a:r>
              <a:rPr lang="en-US" altLang="zh-CN" dirty="0"/>
              <a:t>'].values-result1['</a:t>
            </a:r>
            <a:r>
              <a:rPr lang="zh-CN" altLang="zh-CN" dirty="0"/>
              <a:t>实际结果</a:t>
            </a:r>
            <a:r>
              <a:rPr lang="en-US" altLang="zh-CN" dirty="0"/>
              <a:t>'].values</a:t>
            </a:r>
            <a:endParaRPr lang="zh-CN" altLang="zh-CN" dirty="0"/>
          </a:p>
          <a:p>
            <a:r>
              <a:rPr lang="en-US" altLang="zh-CN" dirty="0"/>
              <a:t>   R=</a:t>
            </a:r>
            <a:r>
              <a:rPr lang="en-US" altLang="zh-CN" dirty="0" err="1"/>
              <a:t>len</a:t>
            </a:r>
            <a:r>
              <a:rPr lang="en-US" altLang="zh-CN" dirty="0"/>
              <a:t>(z[z==0])/</a:t>
            </a:r>
            <a:r>
              <a:rPr lang="en-US" altLang="zh-CN" dirty="0" err="1"/>
              <a:t>len</a:t>
            </a:r>
            <a:r>
              <a:rPr lang="en-US" altLang="zh-CN" dirty="0"/>
              <a:t>(z)</a:t>
            </a:r>
            <a:endParaRPr lang="zh-CN" altLang="zh-CN" dirty="0"/>
          </a:p>
          <a:p>
            <a:r>
              <a:rPr lang="en-US" altLang="zh-CN" dirty="0"/>
              <a:t>   R=</a:t>
            </a:r>
            <a:r>
              <a:rPr lang="en-US" altLang="zh-CN" dirty="0" err="1"/>
              <a:t>np.round</a:t>
            </a:r>
            <a:r>
              <a:rPr lang="en-US" altLang="zh-CN" dirty="0"/>
              <a:t>(R,3)</a:t>
            </a:r>
            <a:endParaRPr lang="zh-CN" altLang="zh-CN" dirty="0"/>
          </a:p>
        </p:txBody>
      </p:sp>
    </p:spTree>
    <p:extLst>
      <p:ext uri="{BB962C8B-B14F-4D97-AF65-F5344CB8AC3E}">
        <p14:creationId xmlns:p14="http://schemas.microsoft.com/office/powerpoint/2010/main" val="3396134228"/>
      </p:ext>
    </p:extLst>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 </a:t>
            </a:r>
            <a:r>
              <a:rPr lang="en-US" altLang="zh-CN" sz="2000" dirty="0" smtClean="0">
                <a:solidFill>
                  <a:schemeClr val="accent2"/>
                </a:solidFill>
              </a:rPr>
              <a:t>9</a:t>
            </a:r>
            <a:r>
              <a:rPr lang="en-US" altLang="zh-CN" dirty="0" smtClean="0">
                <a:solidFill>
                  <a:schemeClr val="accent2"/>
                </a:solidFill>
              </a:rPr>
              <a:t> </a:t>
            </a:r>
            <a:endParaRPr lang="zh-CN" altLang="en-US" dirty="0">
              <a:solidFill>
                <a:schemeClr val="accent2"/>
              </a:solidFill>
            </a:endParaRPr>
          </a:p>
        </p:txBody>
      </p:sp>
      <p:sp>
        <p:nvSpPr>
          <p:cNvPr id="9" name="燕尾形 8"/>
          <p:cNvSpPr/>
          <p:nvPr/>
        </p:nvSpPr>
        <p:spPr bwMode="auto">
          <a:xfrm>
            <a:off x="6353299" y="63783"/>
            <a:ext cx="321146" cy="442499"/>
          </a:xfrm>
          <a:prstGeom prst="chevron">
            <a:avLst/>
          </a:prstGeom>
          <a:solidFill>
            <a:schemeClr val="accent2"/>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spcBef>
                <a:spcPct val="0"/>
              </a:spcBef>
              <a:spcAft>
                <a:spcPct val="0"/>
              </a:spcAft>
              <a:buClrTx/>
              <a:buSzTx/>
              <a:buFont typeface="Arial" pitchFamily="34" charset="0"/>
              <a:buNone/>
            </a:pPr>
            <a:endParaRPr kumimoji="0" lang="zh-CN" altLang="en-US" sz="1800" b="0" i="0" u="none" strike="noStrike" cap="none" normalizeH="0" baseline="0" smtClean="0">
              <a:ln>
                <a:noFill/>
              </a:ln>
              <a:solidFill>
                <a:schemeClr val="tx1"/>
              </a:solidFill>
              <a:effectLst/>
              <a:latin typeface="Arial" pitchFamily="34" charset="0"/>
              <a:ea typeface="宋体" pitchFamily="2" charset="-122"/>
            </a:endParaRPr>
          </a:p>
        </p:txBody>
      </p:sp>
      <p:sp>
        <p:nvSpPr>
          <p:cNvPr id="6" name="TextBox 5"/>
          <p:cNvSpPr txBox="1"/>
          <p:nvPr/>
        </p:nvSpPr>
        <p:spPr>
          <a:xfrm>
            <a:off x="7034485" y="121564"/>
            <a:ext cx="3312368" cy="523220"/>
          </a:xfrm>
          <a:prstGeom prst="rect">
            <a:avLst/>
          </a:prstGeom>
          <a:noFill/>
        </p:spPr>
        <p:txBody>
          <a:bodyPr wrap="square" rtlCol="0">
            <a:spAutoFit/>
          </a:bodyPr>
          <a:lstStyle/>
          <a:p>
            <a:pPr lvl="0"/>
            <a:r>
              <a:rPr lang="en-US" altLang="zh-CN" sz="2800" dirty="0">
                <a:solidFill>
                  <a:srgbClr val="FFFFFF"/>
                </a:solidFill>
                <a:latin typeface="微软雅黑"/>
                <a:ea typeface="微软雅黑"/>
              </a:rPr>
              <a:t>9.6.1 </a:t>
            </a:r>
            <a:r>
              <a:rPr lang="zh-CN" altLang="en-US" sz="2800" dirty="0">
                <a:solidFill>
                  <a:srgbClr val="FFFFFF"/>
                </a:solidFill>
                <a:latin typeface="微软雅黑"/>
                <a:ea typeface="微软雅黑"/>
              </a:rPr>
              <a:t>函数定义</a:t>
            </a:r>
            <a:endParaRPr lang="zh-CN" altLang="en-US" sz="2800" dirty="0">
              <a:solidFill>
                <a:srgbClr val="FFFFFF"/>
              </a:solidFill>
              <a:latin typeface="微软雅黑"/>
              <a:ea typeface="微软雅黑"/>
            </a:endParaRPr>
          </a:p>
        </p:txBody>
      </p:sp>
      <p:sp>
        <p:nvSpPr>
          <p:cNvPr id="14" name="TextBox 13"/>
          <p:cNvSpPr txBox="1"/>
          <p:nvPr/>
        </p:nvSpPr>
        <p:spPr>
          <a:xfrm>
            <a:off x="1330766" y="44625"/>
            <a:ext cx="5042228"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smtClean="0">
                <a:solidFill>
                  <a:schemeClr val="accent2"/>
                </a:solidFill>
                <a:latin typeface="微软雅黑"/>
                <a:ea typeface="微软雅黑"/>
              </a:rPr>
              <a:t>9.6</a:t>
            </a:r>
            <a:r>
              <a:rPr lang="en-US" altLang="zh-CN" sz="2800" dirty="0">
                <a:solidFill>
                  <a:schemeClr val="accent2"/>
                </a:solidFill>
                <a:latin typeface="微软雅黑"/>
                <a:ea typeface="微软雅黑"/>
              </a:rPr>
              <a:t> </a:t>
            </a:r>
            <a:r>
              <a:rPr lang="zh-CN" altLang="en-US" sz="2800" dirty="0" smtClean="0">
                <a:solidFill>
                  <a:schemeClr val="accent2"/>
                </a:solidFill>
                <a:latin typeface="微软雅黑"/>
                <a:ea typeface="微软雅黑"/>
              </a:rPr>
              <a:t>量化投资策略设计与分析</a:t>
            </a:r>
            <a:endParaRPr lang="zh-CN" altLang="en-US" sz="2800" dirty="0">
              <a:solidFill>
                <a:schemeClr val="accent2"/>
              </a:solidFill>
              <a:latin typeface="微软雅黑"/>
              <a:ea typeface="微软雅黑"/>
            </a:endParaRPr>
          </a:p>
        </p:txBody>
      </p:sp>
      <p:sp>
        <p:nvSpPr>
          <p:cNvPr id="5" name="矩形 4"/>
          <p:cNvSpPr/>
          <p:nvPr/>
        </p:nvSpPr>
        <p:spPr>
          <a:xfrm>
            <a:off x="417872" y="673776"/>
            <a:ext cx="6096000" cy="4247317"/>
          </a:xfrm>
          <a:prstGeom prst="rect">
            <a:avLst/>
          </a:prstGeom>
        </p:spPr>
        <p:txBody>
          <a:bodyPr>
            <a:spAutoFit/>
          </a:bodyPr>
          <a:lstStyle/>
          <a:p>
            <a:r>
              <a:rPr lang="en-US" altLang="zh-CN" dirty="0" smtClean="0"/>
              <a:t> ##5.</a:t>
            </a:r>
            <a:r>
              <a:rPr lang="zh-CN" altLang="zh-CN" dirty="0" smtClean="0"/>
              <a:t>收益率计算</a:t>
            </a:r>
          </a:p>
          <a:p>
            <a:r>
              <a:rPr lang="en-US" altLang="zh-CN" dirty="0" smtClean="0"/>
              <a:t>   </a:t>
            </a:r>
            <a:r>
              <a:rPr lang="en-US" altLang="zh-CN" dirty="0" err="1" smtClean="0"/>
              <a:t>r_list</a:t>
            </a:r>
            <a:r>
              <a:rPr lang="en-US" altLang="zh-CN" dirty="0" smtClean="0"/>
              <a:t>=[]</a:t>
            </a:r>
            <a:endParaRPr lang="zh-CN" altLang="zh-CN" dirty="0" smtClean="0"/>
          </a:p>
          <a:p>
            <a:r>
              <a:rPr lang="en-US" altLang="zh-CN" dirty="0" smtClean="0"/>
              <a:t>   for t in range(</a:t>
            </a:r>
            <a:r>
              <a:rPr lang="en-US" altLang="zh-CN" dirty="0" err="1" smtClean="0"/>
              <a:t>len</a:t>
            </a:r>
            <a:r>
              <a:rPr lang="en-US" altLang="zh-CN" dirty="0" smtClean="0"/>
              <a:t>(result1)-1):</a:t>
            </a:r>
            <a:endParaRPr lang="zh-CN" altLang="zh-CN" dirty="0" smtClean="0"/>
          </a:p>
          <a:p>
            <a:r>
              <a:rPr lang="en-US" altLang="zh-CN" dirty="0" smtClean="0"/>
              <a:t>      if result1['</a:t>
            </a:r>
            <a:r>
              <a:rPr lang="zh-CN" altLang="zh-CN" dirty="0" smtClean="0"/>
              <a:t>预测结果</a:t>
            </a:r>
            <a:r>
              <a:rPr lang="en-US" altLang="zh-CN" dirty="0" smtClean="0"/>
              <a:t>'].values[t]==1:</a:t>
            </a:r>
            <a:endParaRPr lang="zh-CN" altLang="zh-CN" dirty="0" smtClean="0"/>
          </a:p>
          <a:p>
            <a:r>
              <a:rPr lang="en-US" altLang="zh-CN" dirty="0" smtClean="0"/>
              <a:t>         p1=</a:t>
            </a:r>
            <a:r>
              <a:rPr lang="en-US" altLang="zh-CN" dirty="0" err="1" smtClean="0"/>
              <a:t>data.loc</a:t>
            </a:r>
            <a:r>
              <a:rPr lang="en-US" altLang="zh-CN" dirty="0" smtClean="0"/>
              <a:t>[data['</a:t>
            </a:r>
            <a:r>
              <a:rPr lang="en-US" altLang="zh-CN" dirty="0" err="1" smtClean="0"/>
              <a:t>Trddt</a:t>
            </a:r>
            <a:r>
              <a:rPr lang="en-US" altLang="zh-CN" dirty="0" smtClean="0"/>
              <a:t>'].values== result1['</a:t>
            </a:r>
            <a:r>
              <a:rPr lang="zh-CN" altLang="zh-CN" dirty="0" smtClean="0"/>
              <a:t>交易日期</a:t>
            </a:r>
            <a:r>
              <a:rPr lang="en-US" altLang="zh-CN" dirty="0" smtClean="0"/>
              <a:t>'].values[t],'</a:t>
            </a:r>
            <a:r>
              <a:rPr lang="en-US" altLang="zh-CN" dirty="0" err="1" smtClean="0"/>
              <a:t>Clsprc</a:t>
            </a:r>
            <a:r>
              <a:rPr lang="en-US" altLang="zh-CN" dirty="0" smtClean="0"/>
              <a:t>'].values</a:t>
            </a:r>
            <a:endParaRPr lang="zh-CN" altLang="zh-CN" dirty="0" smtClean="0"/>
          </a:p>
          <a:p>
            <a:r>
              <a:rPr lang="en-US" altLang="zh-CN" dirty="0" smtClean="0"/>
              <a:t>         </a:t>
            </a:r>
            <a:r>
              <a:rPr lang="en-US" altLang="zh-CN" dirty="0" err="1" smtClean="0"/>
              <a:t>dt</a:t>
            </a:r>
            <a:r>
              <a:rPr lang="en-US" altLang="zh-CN" dirty="0" smtClean="0"/>
              <a:t>=</a:t>
            </a:r>
            <a:r>
              <a:rPr lang="en-US" altLang="zh-CN" dirty="0" err="1" smtClean="0"/>
              <a:t>data.loc</a:t>
            </a:r>
            <a:r>
              <a:rPr lang="en-US" altLang="zh-CN" dirty="0" smtClean="0"/>
              <a:t>[data['</a:t>
            </a:r>
            <a:r>
              <a:rPr lang="en-US" altLang="zh-CN" dirty="0" err="1" smtClean="0"/>
              <a:t>Trddt</a:t>
            </a:r>
            <a:r>
              <a:rPr lang="en-US" altLang="zh-CN" dirty="0" smtClean="0"/>
              <a:t>'].values&gt;result1['</a:t>
            </a:r>
            <a:r>
              <a:rPr lang="zh-CN" altLang="zh-CN" dirty="0" smtClean="0"/>
              <a:t>交易日期</a:t>
            </a:r>
            <a:r>
              <a:rPr lang="en-US" altLang="zh-CN" dirty="0" smtClean="0"/>
              <a:t>'].values[t],['</a:t>
            </a:r>
            <a:r>
              <a:rPr lang="en-US" altLang="zh-CN" dirty="0" err="1" smtClean="0"/>
              <a:t>Trddt</a:t>
            </a:r>
            <a:r>
              <a:rPr lang="en-US" altLang="zh-CN" dirty="0" smtClean="0"/>
              <a:t>','</a:t>
            </a:r>
            <a:r>
              <a:rPr lang="en-US" altLang="zh-CN" dirty="0" err="1" smtClean="0"/>
              <a:t>Clsprc</a:t>
            </a:r>
            <a:r>
              <a:rPr lang="en-US" altLang="zh-CN" dirty="0" smtClean="0"/>
              <a:t>']]</a:t>
            </a:r>
            <a:endParaRPr lang="zh-CN" altLang="zh-CN" dirty="0" smtClean="0"/>
          </a:p>
          <a:p>
            <a:r>
              <a:rPr lang="en-US" altLang="zh-CN" dirty="0" smtClean="0"/>
              <a:t>         </a:t>
            </a:r>
            <a:r>
              <a:rPr lang="en-US" altLang="zh-CN" dirty="0" err="1" smtClean="0"/>
              <a:t>dt</a:t>
            </a:r>
            <a:r>
              <a:rPr lang="en-US" altLang="zh-CN" dirty="0" smtClean="0"/>
              <a:t>=</a:t>
            </a:r>
            <a:r>
              <a:rPr lang="en-US" altLang="zh-CN" dirty="0" err="1" smtClean="0"/>
              <a:t>dt.sort_values</a:t>
            </a:r>
            <a:r>
              <a:rPr lang="en-US" altLang="zh-CN" dirty="0" smtClean="0"/>
              <a:t>('</a:t>
            </a:r>
            <a:r>
              <a:rPr lang="en-US" altLang="zh-CN" dirty="0" err="1" smtClean="0"/>
              <a:t>Trddt</a:t>
            </a:r>
            <a:r>
              <a:rPr lang="en-US" altLang="zh-CN" dirty="0" smtClean="0"/>
              <a:t>')</a:t>
            </a:r>
            <a:endParaRPr lang="zh-CN" altLang="zh-CN" dirty="0" smtClean="0"/>
          </a:p>
          <a:p>
            <a:r>
              <a:rPr lang="en-US" altLang="zh-CN" dirty="0" smtClean="0"/>
              <a:t>         p2=</a:t>
            </a:r>
            <a:r>
              <a:rPr lang="en-US" altLang="zh-CN" dirty="0" err="1" smtClean="0"/>
              <a:t>dt</a:t>
            </a:r>
            <a:r>
              <a:rPr lang="en-US" altLang="zh-CN" dirty="0" smtClean="0"/>
              <a:t>['</a:t>
            </a:r>
            <a:r>
              <a:rPr lang="en-US" altLang="zh-CN" dirty="0" err="1" smtClean="0"/>
              <a:t>Clsprc</a:t>
            </a:r>
            <a:r>
              <a:rPr lang="en-US" altLang="zh-CN" dirty="0" smtClean="0"/>
              <a:t>'].values[0]</a:t>
            </a:r>
            <a:endParaRPr lang="zh-CN" altLang="zh-CN" dirty="0" smtClean="0"/>
          </a:p>
          <a:p>
            <a:r>
              <a:rPr lang="en-US" altLang="zh-CN" dirty="0" smtClean="0"/>
              <a:t>         r=(p2-p1)/p1</a:t>
            </a:r>
            <a:endParaRPr lang="zh-CN" altLang="zh-CN" dirty="0" smtClean="0"/>
          </a:p>
          <a:p>
            <a:r>
              <a:rPr lang="en-US" altLang="zh-CN" dirty="0" smtClean="0"/>
              <a:t>         </a:t>
            </a:r>
            <a:r>
              <a:rPr lang="en-US" altLang="zh-CN" dirty="0" err="1" smtClean="0"/>
              <a:t>r_list.append</a:t>
            </a:r>
            <a:r>
              <a:rPr lang="en-US" altLang="zh-CN" dirty="0" smtClean="0"/>
              <a:t>(r)</a:t>
            </a:r>
            <a:endParaRPr lang="zh-CN" altLang="zh-CN" dirty="0" smtClean="0"/>
          </a:p>
          <a:p>
            <a:r>
              <a:rPr lang="en-US" altLang="zh-CN" dirty="0" smtClean="0"/>
              <a:t>   </a:t>
            </a:r>
            <a:r>
              <a:rPr lang="en-US" altLang="zh-CN" dirty="0" err="1" smtClean="0"/>
              <a:t>r_total</a:t>
            </a:r>
            <a:r>
              <a:rPr lang="en-US" altLang="zh-CN" dirty="0" smtClean="0"/>
              <a:t>=sum(</a:t>
            </a:r>
            <a:r>
              <a:rPr lang="en-US" altLang="zh-CN" dirty="0" err="1" smtClean="0"/>
              <a:t>r_list</a:t>
            </a:r>
            <a:r>
              <a:rPr lang="en-US" altLang="zh-CN" dirty="0" smtClean="0"/>
              <a:t>)</a:t>
            </a:r>
            <a:endParaRPr lang="zh-CN" altLang="zh-CN" dirty="0" smtClean="0"/>
          </a:p>
          <a:p>
            <a:r>
              <a:rPr lang="en-US" altLang="zh-CN" dirty="0" smtClean="0"/>
              <a:t>   </a:t>
            </a:r>
            <a:r>
              <a:rPr lang="en-US" altLang="zh-CN" dirty="0" err="1" smtClean="0"/>
              <a:t>r_total</a:t>
            </a:r>
            <a:r>
              <a:rPr lang="en-US" altLang="zh-CN" dirty="0" smtClean="0"/>
              <a:t>=</a:t>
            </a:r>
            <a:r>
              <a:rPr lang="en-US" altLang="zh-CN" dirty="0" err="1" smtClean="0"/>
              <a:t>np.round</a:t>
            </a:r>
            <a:r>
              <a:rPr lang="en-US" altLang="zh-CN" dirty="0" smtClean="0"/>
              <a:t>(r_total,3)</a:t>
            </a:r>
            <a:endParaRPr lang="zh-CN" altLang="zh-CN" dirty="0" smtClean="0"/>
          </a:p>
          <a:p>
            <a:r>
              <a:rPr lang="en-US" altLang="zh-CN" dirty="0" smtClean="0"/>
              <a:t>   return (</a:t>
            </a:r>
            <a:r>
              <a:rPr lang="en-US" altLang="zh-CN" dirty="0" err="1" smtClean="0"/>
              <a:t>R,r_list,r_total,sc</a:t>
            </a:r>
            <a:r>
              <a:rPr lang="en-US" altLang="zh-CN" dirty="0" smtClean="0"/>
              <a:t>)</a:t>
            </a:r>
            <a:endParaRPr lang="zh-CN" altLang="zh-CN" dirty="0"/>
          </a:p>
        </p:txBody>
      </p:sp>
      <p:sp>
        <p:nvSpPr>
          <p:cNvPr id="7" name="矩形 6"/>
          <p:cNvSpPr/>
          <p:nvPr/>
        </p:nvSpPr>
        <p:spPr>
          <a:xfrm>
            <a:off x="302195" y="5157192"/>
            <a:ext cx="11268794" cy="923330"/>
          </a:xfrm>
          <a:prstGeom prst="rect">
            <a:avLst/>
          </a:prstGeom>
        </p:spPr>
        <p:txBody>
          <a:bodyPr wrap="square">
            <a:spAutoFit/>
          </a:bodyPr>
          <a:lstStyle/>
          <a:p>
            <a:r>
              <a:rPr lang="zh-CN" altLang="zh-CN" dirty="0"/>
              <a:t>该函数的输入参数为：</a:t>
            </a:r>
            <a:r>
              <a:rPr lang="en-US" altLang="zh-CN" dirty="0"/>
              <a:t>2017</a:t>
            </a:r>
            <a:r>
              <a:rPr lang="zh-CN" altLang="zh-CN" dirty="0"/>
              <a:t>年个股交易数据</a:t>
            </a:r>
            <a:r>
              <a:rPr lang="en-US" altLang="zh-CN" dirty="0"/>
              <a:t>data</a:t>
            </a:r>
            <a:r>
              <a:rPr lang="zh-CN" altLang="zh-CN" dirty="0"/>
              <a:t>（表结构同表</a:t>
            </a:r>
            <a:r>
              <a:rPr lang="en-US" altLang="zh-CN" dirty="0"/>
              <a:t>9-1</a:t>
            </a:r>
            <a:r>
              <a:rPr lang="zh-CN" altLang="zh-CN" dirty="0"/>
              <a:t>）、预测模型标识</a:t>
            </a:r>
            <a:r>
              <a:rPr lang="en-US" altLang="zh-CN" dirty="0"/>
              <a:t>n</a:t>
            </a:r>
            <a:r>
              <a:rPr lang="zh-CN" altLang="zh-CN" dirty="0"/>
              <a:t>（</a:t>
            </a:r>
            <a:r>
              <a:rPr lang="en-US" altLang="zh-CN" dirty="0"/>
              <a:t>0--</a:t>
            </a:r>
            <a:r>
              <a:rPr lang="zh-CN" altLang="zh-CN" dirty="0"/>
              <a:t>神经网络，</a:t>
            </a:r>
            <a:r>
              <a:rPr lang="en-US" altLang="zh-CN" dirty="0"/>
              <a:t>1--</a:t>
            </a:r>
            <a:r>
              <a:rPr lang="zh-CN" altLang="zh-CN" dirty="0"/>
              <a:t>支持向量机，</a:t>
            </a:r>
            <a:r>
              <a:rPr lang="en-US" altLang="zh-CN" dirty="0"/>
              <a:t>2--</a:t>
            </a:r>
            <a:r>
              <a:rPr lang="zh-CN" altLang="zh-CN" dirty="0"/>
              <a:t>逻辑回归）。返回结果为测试样本（</a:t>
            </a:r>
            <a:r>
              <a:rPr lang="en-US" altLang="zh-CN" dirty="0"/>
              <a:t>2017</a:t>
            </a:r>
            <a:r>
              <a:rPr lang="zh-CN" altLang="zh-CN" dirty="0"/>
              <a:t>年</a:t>
            </a:r>
            <a:r>
              <a:rPr lang="en-US" altLang="zh-CN" dirty="0"/>
              <a:t>12</a:t>
            </a:r>
            <a:r>
              <a:rPr lang="zh-CN" altLang="zh-CN" dirty="0"/>
              <a:t>月个股交易数据计算的技术分析指标）预测准确率、每次预测结果为</a:t>
            </a:r>
            <a:r>
              <a:rPr lang="en-US" altLang="zh-CN" dirty="0"/>
              <a:t>+1</a:t>
            </a:r>
            <a:r>
              <a:rPr lang="zh-CN" altLang="zh-CN" dirty="0"/>
              <a:t>的策略投资收益率和模型准确率。</a:t>
            </a:r>
          </a:p>
        </p:txBody>
      </p:sp>
    </p:spTree>
    <p:extLst>
      <p:ext uri="{BB962C8B-B14F-4D97-AF65-F5344CB8AC3E}">
        <p14:creationId xmlns:p14="http://schemas.microsoft.com/office/powerpoint/2010/main" val="2674065573"/>
      </p:ext>
    </p:extLst>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 </a:t>
            </a:r>
            <a:r>
              <a:rPr lang="en-US" altLang="zh-CN" sz="2000" dirty="0" smtClean="0">
                <a:solidFill>
                  <a:schemeClr val="accent2"/>
                </a:solidFill>
              </a:rPr>
              <a:t>9</a:t>
            </a:r>
            <a:r>
              <a:rPr lang="en-US" altLang="zh-CN" dirty="0" smtClean="0">
                <a:solidFill>
                  <a:schemeClr val="accent2"/>
                </a:solidFill>
              </a:rPr>
              <a:t> </a:t>
            </a:r>
            <a:endParaRPr lang="zh-CN" altLang="en-US" dirty="0">
              <a:solidFill>
                <a:schemeClr val="accent2"/>
              </a:solidFill>
            </a:endParaRPr>
          </a:p>
        </p:txBody>
      </p:sp>
      <p:sp>
        <p:nvSpPr>
          <p:cNvPr id="9" name="燕尾形 8"/>
          <p:cNvSpPr/>
          <p:nvPr/>
        </p:nvSpPr>
        <p:spPr bwMode="auto">
          <a:xfrm>
            <a:off x="6353299" y="63783"/>
            <a:ext cx="321146" cy="442499"/>
          </a:xfrm>
          <a:prstGeom prst="chevron">
            <a:avLst/>
          </a:prstGeom>
          <a:solidFill>
            <a:schemeClr val="accent2"/>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spcBef>
                <a:spcPct val="0"/>
              </a:spcBef>
              <a:spcAft>
                <a:spcPct val="0"/>
              </a:spcAft>
              <a:buClrTx/>
              <a:buSzTx/>
              <a:buFont typeface="Arial" pitchFamily="34" charset="0"/>
              <a:buNone/>
            </a:pPr>
            <a:endParaRPr kumimoji="0" lang="zh-CN" altLang="en-US" sz="1800" b="0" i="0" u="none" strike="noStrike" cap="none" normalizeH="0" baseline="0" smtClean="0">
              <a:ln>
                <a:noFill/>
              </a:ln>
              <a:solidFill>
                <a:schemeClr val="tx1"/>
              </a:solidFill>
              <a:effectLst/>
              <a:latin typeface="Arial" pitchFamily="34" charset="0"/>
              <a:ea typeface="宋体" pitchFamily="2" charset="-122"/>
            </a:endParaRPr>
          </a:p>
        </p:txBody>
      </p:sp>
      <p:sp>
        <p:nvSpPr>
          <p:cNvPr id="6" name="TextBox 5"/>
          <p:cNvSpPr txBox="1"/>
          <p:nvPr/>
        </p:nvSpPr>
        <p:spPr>
          <a:xfrm>
            <a:off x="7034485" y="74712"/>
            <a:ext cx="4176464" cy="523220"/>
          </a:xfrm>
          <a:prstGeom prst="rect">
            <a:avLst/>
          </a:prstGeom>
          <a:noFill/>
        </p:spPr>
        <p:txBody>
          <a:bodyPr wrap="square" rtlCol="0">
            <a:spAutoFit/>
          </a:bodyPr>
          <a:lstStyle/>
          <a:p>
            <a:pPr lvl="0"/>
            <a:r>
              <a:rPr lang="en-US" altLang="zh-CN" sz="2800" dirty="0" smtClean="0">
                <a:solidFill>
                  <a:srgbClr val="FFFFFF"/>
                </a:solidFill>
                <a:latin typeface="微软雅黑"/>
                <a:ea typeface="微软雅黑"/>
              </a:rPr>
              <a:t>9.6.2 </a:t>
            </a:r>
            <a:r>
              <a:rPr lang="zh-CN" altLang="en-US" sz="2800" dirty="0" smtClean="0">
                <a:solidFill>
                  <a:srgbClr val="FFFFFF"/>
                </a:solidFill>
                <a:latin typeface="微软雅黑"/>
                <a:ea typeface="微软雅黑"/>
              </a:rPr>
              <a:t>量化投资策略设计</a:t>
            </a:r>
            <a:endParaRPr lang="zh-CN" altLang="en-US" sz="2800" dirty="0">
              <a:solidFill>
                <a:srgbClr val="FFFFFF"/>
              </a:solidFill>
              <a:latin typeface="微软雅黑"/>
              <a:ea typeface="微软雅黑"/>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88207" y="2577584"/>
            <a:ext cx="5164137" cy="74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TextBox 13"/>
          <p:cNvSpPr txBox="1"/>
          <p:nvPr/>
        </p:nvSpPr>
        <p:spPr>
          <a:xfrm>
            <a:off x="1330766" y="44625"/>
            <a:ext cx="5042228"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smtClean="0">
                <a:solidFill>
                  <a:schemeClr val="accent2"/>
                </a:solidFill>
                <a:latin typeface="微软雅黑"/>
                <a:ea typeface="微软雅黑"/>
              </a:rPr>
              <a:t>9.6</a:t>
            </a:r>
            <a:r>
              <a:rPr lang="en-US" altLang="zh-CN" sz="2800" dirty="0">
                <a:solidFill>
                  <a:schemeClr val="accent2"/>
                </a:solidFill>
                <a:latin typeface="微软雅黑"/>
                <a:ea typeface="微软雅黑"/>
              </a:rPr>
              <a:t> </a:t>
            </a:r>
            <a:r>
              <a:rPr lang="zh-CN" altLang="en-US" sz="2800" dirty="0" smtClean="0">
                <a:solidFill>
                  <a:schemeClr val="accent2"/>
                </a:solidFill>
                <a:latin typeface="微软雅黑"/>
                <a:ea typeface="微软雅黑"/>
              </a:rPr>
              <a:t>量化投资策略设计与分析</a:t>
            </a:r>
            <a:endParaRPr lang="zh-CN" altLang="en-US" sz="2800" dirty="0">
              <a:solidFill>
                <a:schemeClr val="accent2"/>
              </a:solidFill>
              <a:latin typeface="微软雅黑"/>
              <a:ea typeface="微软雅黑"/>
            </a:endParaRPr>
          </a:p>
        </p:txBody>
      </p:sp>
      <p:sp>
        <p:nvSpPr>
          <p:cNvPr id="5" name="矩形 4"/>
          <p:cNvSpPr/>
          <p:nvPr/>
        </p:nvSpPr>
        <p:spPr>
          <a:xfrm>
            <a:off x="272454" y="919867"/>
            <a:ext cx="11618318" cy="1477328"/>
          </a:xfrm>
          <a:prstGeom prst="rect">
            <a:avLst/>
          </a:prstGeom>
        </p:spPr>
        <p:txBody>
          <a:bodyPr wrap="square">
            <a:spAutoFit/>
          </a:bodyPr>
          <a:lstStyle/>
          <a:p>
            <a:pPr indent="266700" algn="just">
              <a:spcAft>
                <a:spcPts val="0"/>
              </a:spcAft>
            </a:pPr>
            <a:r>
              <a:rPr lang="zh-CN" altLang="zh-CN" kern="100" dirty="0">
                <a:latin typeface="Calibri"/>
                <a:ea typeface="宋体"/>
                <a:cs typeface="Times New Roman"/>
              </a:rPr>
              <a:t>进一步地我们设计一个量化投资策略：以第</a:t>
            </a:r>
            <a:r>
              <a:rPr lang="en-US" altLang="zh-CN" kern="100" dirty="0">
                <a:latin typeface="Calibri"/>
                <a:ea typeface="宋体"/>
                <a:cs typeface="Times New Roman"/>
              </a:rPr>
              <a:t>8</a:t>
            </a:r>
            <a:r>
              <a:rPr lang="zh-CN" altLang="zh-CN" kern="100" dirty="0">
                <a:latin typeface="Calibri"/>
                <a:ea typeface="宋体"/>
                <a:cs typeface="Times New Roman"/>
              </a:rPr>
              <a:t>章中基于总体规模与投资效率指标的综合评价方法获得</a:t>
            </a:r>
            <a:r>
              <a:rPr lang="en-US" altLang="zh-CN" kern="100" dirty="0">
                <a:latin typeface="Calibri"/>
                <a:ea typeface="宋体"/>
                <a:cs typeface="Times New Roman"/>
              </a:rPr>
              <a:t>2016</a:t>
            </a:r>
            <a:r>
              <a:rPr lang="zh-CN" altLang="zh-CN" kern="100" dirty="0">
                <a:latin typeface="Calibri"/>
                <a:ea typeface="宋体"/>
                <a:cs typeface="Times New Roman"/>
              </a:rPr>
              <a:t>年排名前</a:t>
            </a:r>
            <a:r>
              <a:rPr lang="en-US" altLang="zh-CN" kern="100" dirty="0">
                <a:latin typeface="Calibri"/>
                <a:ea typeface="宋体"/>
                <a:cs typeface="Times New Roman"/>
              </a:rPr>
              <a:t>20</a:t>
            </a:r>
            <a:r>
              <a:rPr lang="zh-CN" altLang="zh-CN" kern="100" dirty="0">
                <a:latin typeface="Calibri"/>
                <a:ea typeface="宋体"/>
                <a:cs typeface="Times New Roman"/>
              </a:rPr>
              <a:t>只股票构建投资组合，对投资组合中每一只股票以</a:t>
            </a:r>
            <a:r>
              <a:rPr lang="en-US" altLang="zh-CN" kern="100" dirty="0">
                <a:latin typeface="Calibri"/>
                <a:ea typeface="宋体"/>
                <a:cs typeface="Times New Roman"/>
              </a:rPr>
              <a:t>2017</a:t>
            </a:r>
            <a:r>
              <a:rPr lang="zh-CN" altLang="zh-CN" kern="100" dirty="0">
                <a:latin typeface="Calibri"/>
                <a:ea typeface="宋体"/>
                <a:cs typeface="Times New Roman"/>
              </a:rPr>
              <a:t>年</a:t>
            </a:r>
            <a:r>
              <a:rPr lang="en-US" altLang="zh-CN" kern="100" dirty="0">
                <a:latin typeface="Calibri"/>
                <a:ea typeface="宋体"/>
                <a:cs typeface="Times New Roman"/>
              </a:rPr>
              <a:t>01</a:t>
            </a:r>
            <a:r>
              <a:rPr lang="zh-CN" altLang="zh-CN" kern="100" dirty="0">
                <a:latin typeface="Calibri"/>
                <a:ea typeface="宋体"/>
                <a:cs typeface="Times New Roman"/>
              </a:rPr>
              <a:t>月</a:t>
            </a:r>
            <a:r>
              <a:rPr lang="en-US" altLang="zh-CN" kern="100" dirty="0">
                <a:latin typeface="Calibri"/>
                <a:ea typeface="宋体"/>
                <a:cs typeface="Times New Roman"/>
              </a:rPr>
              <a:t>1</a:t>
            </a:r>
            <a:r>
              <a:rPr lang="zh-CN" altLang="zh-CN" kern="100" dirty="0">
                <a:latin typeface="Calibri"/>
                <a:ea typeface="宋体"/>
                <a:cs typeface="Times New Roman"/>
              </a:rPr>
              <a:t>日</a:t>
            </a:r>
            <a:r>
              <a:rPr lang="en-US" altLang="zh-CN" kern="100" dirty="0">
                <a:latin typeface="Calibri"/>
                <a:ea typeface="宋体"/>
                <a:cs typeface="Times New Roman"/>
              </a:rPr>
              <a:t>~2017</a:t>
            </a:r>
            <a:r>
              <a:rPr lang="zh-CN" altLang="zh-CN" kern="100" dirty="0">
                <a:latin typeface="Calibri"/>
                <a:ea typeface="宋体"/>
                <a:cs typeface="Times New Roman"/>
              </a:rPr>
              <a:t>年</a:t>
            </a:r>
            <a:r>
              <a:rPr lang="en-US" altLang="zh-CN" kern="100" dirty="0">
                <a:latin typeface="Calibri"/>
                <a:ea typeface="宋体"/>
                <a:cs typeface="Times New Roman"/>
              </a:rPr>
              <a:t>11</a:t>
            </a:r>
            <a:r>
              <a:rPr lang="zh-CN" altLang="zh-CN" kern="100" dirty="0">
                <a:latin typeface="Calibri"/>
                <a:ea typeface="宋体"/>
                <a:cs typeface="Times New Roman"/>
              </a:rPr>
              <a:t>月</a:t>
            </a:r>
            <a:r>
              <a:rPr lang="en-US" altLang="zh-CN" kern="100" dirty="0">
                <a:latin typeface="Calibri"/>
                <a:ea typeface="宋体"/>
                <a:cs typeface="Times New Roman"/>
              </a:rPr>
              <a:t>30</a:t>
            </a:r>
            <a:r>
              <a:rPr lang="zh-CN" altLang="zh-CN" kern="100" dirty="0">
                <a:latin typeface="Calibri"/>
                <a:ea typeface="宋体"/>
                <a:cs typeface="Times New Roman"/>
              </a:rPr>
              <a:t>日之间的交易数据为训练数据，预测</a:t>
            </a:r>
            <a:r>
              <a:rPr lang="en-US" altLang="zh-CN" kern="100" dirty="0">
                <a:latin typeface="Calibri"/>
                <a:ea typeface="宋体"/>
                <a:cs typeface="Times New Roman"/>
              </a:rPr>
              <a:t>2017</a:t>
            </a:r>
            <a:r>
              <a:rPr lang="zh-CN" altLang="zh-CN" kern="100" dirty="0">
                <a:latin typeface="Calibri"/>
                <a:ea typeface="宋体"/>
                <a:cs typeface="Times New Roman"/>
              </a:rPr>
              <a:t>年</a:t>
            </a:r>
            <a:r>
              <a:rPr lang="en-US" altLang="zh-CN" kern="100" dirty="0">
                <a:latin typeface="Calibri"/>
                <a:ea typeface="宋体"/>
                <a:cs typeface="Times New Roman"/>
              </a:rPr>
              <a:t>12</a:t>
            </a:r>
            <a:r>
              <a:rPr lang="zh-CN" altLang="zh-CN" kern="100" dirty="0">
                <a:latin typeface="Calibri"/>
                <a:ea typeface="宋体"/>
                <a:cs typeface="Times New Roman"/>
              </a:rPr>
              <a:t>月</a:t>
            </a:r>
            <a:r>
              <a:rPr lang="en-US" altLang="zh-CN" kern="100" dirty="0">
                <a:latin typeface="Calibri"/>
                <a:ea typeface="宋体"/>
                <a:cs typeface="Times New Roman"/>
              </a:rPr>
              <a:t>1</a:t>
            </a:r>
            <a:r>
              <a:rPr lang="zh-CN" altLang="zh-CN" kern="100" dirty="0">
                <a:latin typeface="Calibri"/>
                <a:ea typeface="宋体"/>
                <a:cs typeface="Times New Roman"/>
              </a:rPr>
              <a:t>日</a:t>
            </a:r>
            <a:r>
              <a:rPr lang="en-US" altLang="zh-CN" kern="100" dirty="0">
                <a:latin typeface="Calibri"/>
                <a:ea typeface="宋体"/>
                <a:cs typeface="Times New Roman"/>
              </a:rPr>
              <a:t>~2017</a:t>
            </a:r>
            <a:r>
              <a:rPr lang="zh-CN" altLang="zh-CN" kern="100" dirty="0">
                <a:latin typeface="Calibri"/>
                <a:ea typeface="宋体"/>
                <a:cs typeface="Times New Roman"/>
              </a:rPr>
              <a:t>年</a:t>
            </a:r>
            <a:r>
              <a:rPr lang="en-US" altLang="zh-CN" kern="100" dirty="0">
                <a:latin typeface="Calibri"/>
                <a:ea typeface="宋体"/>
                <a:cs typeface="Times New Roman"/>
              </a:rPr>
              <a:t>12</a:t>
            </a:r>
            <a:r>
              <a:rPr lang="zh-CN" altLang="zh-CN" kern="100" dirty="0">
                <a:latin typeface="Calibri"/>
                <a:ea typeface="宋体"/>
                <a:cs typeface="Times New Roman"/>
              </a:rPr>
              <a:t>月</a:t>
            </a:r>
            <a:r>
              <a:rPr lang="en-US" altLang="zh-CN" kern="100" dirty="0">
                <a:latin typeface="Calibri"/>
                <a:ea typeface="宋体"/>
                <a:cs typeface="Times New Roman"/>
              </a:rPr>
              <a:t>31</a:t>
            </a:r>
            <a:r>
              <a:rPr lang="zh-CN" altLang="zh-CN" kern="100" dirty="0">
                <a:latin typeface="Calibri"/>
                <a:ea typeface="宋体"/>
                <a:cs typeface="Times New Roman"/>
              </a:rPr>
              <a:t>日之间的交易涨跌情况。如果预测结果为</a:t>
            </a:r>
            <a:r>
              <a:rPr lang="en-US" altLang="zh-CN" kern="100" dirty="0">
                <a:latin typeface="Calibri"/>
                <a:ea typeface="宋体"/>
                <a:cs typeface="Times New Roman"/>
              </a:rPr>
              <a:t>+1</a:t>
            </a:r>
            <a:r>
              <a:rPr lang="zh-CN" altLang="zh-CN" kern="100" dirty="0">
                <a:latin typeface="Calibri"/>
                <a:ea typeface="宋体"/>
                <a:cs typeface="Times New Roman"/>
              </a:rPr>
              <a:t>，表示下一个交易日为上涨，则以当天收盘价买入，下一个交易日收盘价卖出，计算该股票的投资收益率。最终获得投资组合的收益率，其中投资组合的收益率为组合中所有股票收益率之和。</a:t>
            </a:r>
            <a:r>
              <a:rPr lang="en-US" altLang="zh-CN" kern="100" dirty="0">
                <a:latin typeface="Calibri"/>
                <a:ea typeface="宋体"/>
                <a:cs typeface="Times New Roman"/>
              </a:rPr>
              <a:t>2017</a:t>
            </a:r>
            <a:r>
              <a:rPr lang="zh-CN" altLang="zh-CN" kern="100" dirty="0">
                <a:latin typeface="Calibri"/>
                <a:ea typeface="宋体"/>
                <a:cs typeface="Times New Roman"/>
              </a:rPr>
              <a:t>年度交易数据表结构如下：</a:t>
            </a:r>
            <a:endParaRPr lang="zh-CN" altLang="zh-CN" kern="100" dirty="0">
              <a:effectLst/>
              <a:latin typeface="Calibri"/>
              <a:ea typeface="宋体"/>
              <a:cs typeface="Times New Roman"/>
            </a:endParaRPr>
          </a:p>
        </p:txBody>
      </p:sp>
      <p:sp>
        <p:nvSpPr>
          <p:cNvPr id="7" name="矩形 6"/>
          <p:cNvSpPr/>
          <p:nvPr/>
        </p:nvSpPr>
        <p:spPr>
          <a:xfrm>
            <a:off x="3824352" y="2441129"/>
            <a:ext cx="4442242" cy="369332"/>
          </a:xfrm>
          <a:prstGeom prst="rect">
            <a:avLst/>
          </a:prstGeom>
        </p:spPr>
        <p:txBody>
          <a:bodyPr wrap="none">
            <a:spAutoFit/>
          </a:bodyPr>
          <a:lstStyle/>
          <a:p>
            <a:r>
              <a:rPr lang="zh-CN" altLang="zh-CN" dirty="0"/>
              <a:t>表</a:t>
            </a:r>
            <a:r>
              <a:rPr lang="en-US" altLang="zh-CN" dirty="0"/>
              <a:t>9-2     2017</a:t>
            </a:r>
            <a:r>
              <a:rPr lang="zh-CN" altLang="zh-CN" dirty="0"/>
              <a:t>年度交易数据表（</a:t>
            </a:r>
            <a:r>
              <a:rPr lang="en-US" altLang="zh-CN" dirty="0"/>
              <a:t>DA.xlsx</a:t>
            </a:r>
            <a:r>
              <a:rPr lang="zh-CN" altLang="zh-CN" dirty="0"/>
              <a:t>）</a:t>
            </a:r>
          </a:p>
        </p:txBody>
      </p:sp>
      <p:graphicFrame>
        <p:nvGraphicFramePr>
          <p:cNvPr id="8" name="表格 7"/>
          <p:cNvGraphicFramePr>
            <a:graphicFrameLocks noGrp="1"/>
          </p:cNvGraphicFramePr>
          <p:nvPr>
            <p:extLst>
              <p:ext uri="{D42A27DB-BD31-4B8C-83A1-F6EECF244321}">
                <p14:modId xmlns:p14="http://schemas.microsoft.com/office/powerpoint/2010/main" val="1051216619"/>
              </p:ext>
            </p:extLst>
          </p:nvPr>
        </p:nvGraphicFramePr>
        <p:xfrm>
          <a:off x="1204523" y="2880194"/>
          <a:ext cx="9862410" cy="2198856"/>
        </p:xfrm>
        <a:graphic>
          <a:graphicData uri="http://schemas.openxmlformats.org/drawingml/2006/table">
            <a:tbl>
              <a:tblPr firstRow="1" firstCol="1" bandRow="1"/>
              <a:tblGrid>
                <a:gridCol w="1041411"/>
                <a:gridCol w="1713049"/>
                <a:gridCol w="1056783"/>
                <a:gridCol w="1447648"/>
                <a:gridCol w="1471775"/>
                <a:gridCol w="1056783"/>
                <a:gridCol w="1013353"/>
                <a:gridCol w="1061608"/>
              </a:tblGrid>
              <a:tr h="274857">
                <a:tc>
                  <a:txBody>
                    <a:bodyPr/>
                    <a:lstStyle/>
                    <a:p>
                      <a:pPr algn="l">
                        <a:spcAft>
                          <a:spcPts val="0"/>
                        </a:spcAft>
                      </a:pPr>
                      <a:r>
                        <a:rPr lang="en-US" sz="1400" kern="0" dirty="0" err="1">
                          <a:solidFill>
                            <a:srgbClr val="000000"/>
                          </a:solidFill>
                          <a:effectLst/>
                          <a:latin typeface="宋体"/>
                          <a:ea typeface="宋体"/>
                          <a:cs typeface="宋体"/>
                        </a:rPr>
                        <a:t>Stkcd</a:t>
                      </a:r>
                      <a:endParaRPr lang="zh-CN" sz="1200" kern="100" dirty="0">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400" kern="0">
                          <a:solidFill>
                            <a:srgbClr val="000000"/>
                          </a:solidFill>
                          <a:effectLst/>
                          <a:latin typeface="宋体"/>
                          <a:ea typeface="宋体"/>
                          <a:cs typeface="宋体"/>
                        </a:rPr>
                        <a:t>Trddt</a:t>
                      </a:r>
                      <a:endParaRPr lang="zh-CN" sz="1200" kern="100">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400" kern="0">
                          <a:solidFill>
                            <a:srgbClr val="000000"/>
                          </a:solidFill>
                          <a:effectLst/>
                          <a:latin typeface="宋体"/>
                          <a:ea typeface="宋体"/>
                          <a:cs typeface="宋体"/>
                        </a:rPr>
                        <a:t>Clsprc</a:t>
                      </a:r>
                      <a:endParaRPr lang="zh-CN" sz="1200" kern="100">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400" kern="0">
                          <a:solidFill>
                            <a:srgbClr val="000000"/>
                          </a:solidFill>
                          <a:effectLst/>
                          <a:latin typeface="宋体"/>
                          <a:ea typeface="宋体"/>
                          <a:cs typeface="宋体"/>
                        </a:rPr>
                        <a:t>Dnshrtrd</a:t>
                      </a:r>
                      <a:endParaRPr lang="zh-CN" sz="1200" kern="100">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400" kern="0">
                          <a:solidFill>
                            <a:srgbClr val="000000"/>
                          </a:solidFill>
                          <a:effectLst/>
                          <a:latin typeface="宋体"/>
                          <a:ea typeface="宋体"/>
                          <a:cs typeface="宋体"/>
                        </a:rPr>
                        <a:t>Dnvaltrd</a:t>
                      </a:r>
                      <a:endParaRPr lang="zh-CN" sz="1200" kern="100">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400" kern="0">
                          <a:solidFill>
                            <a:srgbClr val="000000"/>
                          </a:solidFill>
                          <a:effectLst/>
                          <a:latin typeface="宋体"/>
                          <a:ea typeface="宋体"/>
                          <a:cs typeface="宋体"/>
                        </a:rPr>
                        <a:t>Opnprc</a:t>
                      </a:r>
                      <a:endParaRPr lang="zh-CN" sz="1200" kern="100">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400" kern="0">
                          <a:solidFill>
                            <a:srgbClr val="000000"/>
                          </a:solidFill>
                          <a:effectLst/>
                          <a:latin typeface="宋体"/>
                          <a:ea typeface="宋体"/>
                          <a:cs typeface="宋体"/>
                        </a:rPr>
                        <a:t>Hiprc</a:t>
                      </a:r>
                      <a:endParaRPr lang="zh-CN" sz="1200" kern="100">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400" kern="0">
                          <a:solidFill>
                            <a:srgbClr val="000000"/>
                          </a:solidFill>
                          <a:effectLst/>
                          <a:latin typeface="宋体"/>
                          <a:ea typeface="宋体"/>
                          <a:cs typeface="宋体"/>
                        </a:rPr>
                        <a:t>Loprc</a:t>
                      </a:r>
                      <a:endParaRPr lang="zh-CN" sz="1200" kern="100">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4857">
                <a:tc>
                  <a:txBody>
                    <a:bodyPr/>
                    <a:lstStyle/>
                    <a:p>
                      <a:pPr algn="l">
                        <a:spcAft>
                          <a:spcPts val="0"/>
                        </a:spcAft>
                      </a:pPr>
                      <a:r>
                        <a:rPr lang="en-US" sz="1400" kern="0" dirty="0">
                          <a:solidFill>
                            <a:srgbClr val="000000"/>
                          </a:solidFill>
                          <a:effectLst/>
                          <a:latin typeface="宋体"/>
                          <a:ea typeface="宋体"/>
                          <a:cs typeface="宋体"/>
                        </a:rPr>
                        <a:t>000001</a:t>
                      </a:r>
                      <a:endParaRPr lang="zh-CN" sz="1200" kern="100" dirty="0">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a:spcAft>
                          <a:spcPts val="0"/>
                        </a:spcAft>
                      </a:pPr>
                      <a:r>
                        <a:rPr lang="en-US" sz="1400" kern="0">
                          <a:solidFill>
                            <a:srgbClr val="000000"/>
                          </a:solidFill>
                          <a:effectLst/>
                          <a:latin typeface="宋体"/>
                          <a:ea typeface="宋体"/>
                          <a:cs typeface="宋体"/>
                        </a:rPr>
                        <a:t>2017-01-03</a:t>
                      </a:r>
                      <a:endParaRPr lang="zh-CN" sz="1200" kern="100">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a:spcAft>
                          <a:spcPts val="0"/>
                        </a:spcAft>
                      </a:pPr>
                      <a:r>
                        <a:rPr lang="en-US" sz="1400" kern="0">
                          <a:solidFill>
                            <a:srgbClr val="000000"/>
                          </a:solidFill>
                          <a:effectLst/>
                          <a:latin typeface="宋体"/>
                          <a:ea typeface="宋体"/>
                          <a:cs typeface="宋体"/>
                        </a:rPr>
                        <a:t>9.16</a:t>
                      </a:r>
                      <a:endParaRPr lang="zh-CN" sz="1200" kern="100">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a:spcAft>
                          <a:spcPts val="0"/>
                        </a:spcAft>
                      </a:pPr>
                      <a:r>
                        <a:rPr lang="en-US" sz="1400" kern="0">
                          <a:solidFill>
                            <a:srgbClr val="000000"/>
                          </a:solidFill>
                          <a:effectLst/>
                          <a:latin typeface="宋体"/>
                          <a:ea typeface="宋体"/>
                          <a:cs typeface="宋体"/>
                        </a:rPr>
                        <a:t>45984049</a:t>
                      </a:r>
                      <a:endParaRPr lang="zh-CN" sz="1200" kern="100">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a:spcAft>
                          <a:spcPts val="0"/>
                        </a:spcAft>
                      </a:pPr>
                      <a:r>
                        <a:rPr lang="en-US" sz="1400" kern="0">
                          <a:solidFill>
                            <a:srgbClr val="000000"/>
                          </a:solidFill>
                          <a:effectLst/>
                          <a:latin typeface="宋体"/>
                          <a:ea typeface="宋体"/>
                          <a:cs typeface="宋体"/>
                        </a:rPr>
                        <a:t>420595176</a:t>
                      </a:r>
                      <a:endParaRPr lang="zh-CN" sz="1200" kern="100">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a:spcAft>
                          <a:spcPts val="0"/>
                        </a:spcAft>
                      </a:pPr>
                      <a:r>
                        <a:rPr lang="en-US" sz="1400" kern="0">
                          <a:solidFill>
                            <a:srgbClr val="000000"/>
                          </a:solidFill>
                          <a:effectLst/>
                          <a:latin typeface="宋体"/>
                          <a:ea typeface="宋体"/>
                          <a:cs typeface="宋体"/>
                        </a:rPr>
                        <a:t>9.11</a:t>
                      </a:r>
                      <a:endParaRPr lang="zh-CN" sz="1200" kern="100">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a:spcAft>
                          <a:spcPts val="0"/>
                        </a:spcAft>
                      </a:pPr>
                      <a:r>
                        <a:rPr lang="en-US" sz="1400" kern="0">
                          <a:solidFill>
                            <a:srgbClr val="000000"/>
                          </a:solidFill>
                          <a:effectLst/>
                          <a:latin typeface="宋体"/>
                          <a:ea typeface="宋体"/>
                          <a:cs typeface="宋体"/>
                        </a:rPr>
                        <a:t>9.18</a:t>
                      </a:r>
                      <a:endParaRPr lang="zh-CN" sz="1200" kern="100">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a:spcAft>
                          <a:spcPts val="0"/>
                        </a:spcAft>
                      </a:pPr>
                      <a:r>
                        <a:rPr lang="en-US" sz="1400" kern="0">
                          <a:solidFill>
                            <a:srgbClr val="000000"/>
                          </a:solidFill>
                          <a:effectLst/>
                          <a:latin typeface="宋体"/>
                          <a:ea typeface="宋体"/>
                          <a:cs typeface="宋体"/>
                        </a:rPr>
                        <a:t>9.09</a:t>
                      </a:r>
                      <a:endParaRPr lang="zh-CN" sz="1200" kern="100">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r>
              <a:tr h="274857">
                <a:tc>
                  <a:txBody>
                    <a:bodyPr/>
                    <a:lstStyle/>
                    <a:p>
                      <a:pPr algn="l">
                        <a:spcAft>
                          <a:spcPts val="0"/>
                        </a:spcAft>
                      </a:pPr>
                      <a:r>
                        <a:rPr lang="en-US" sz="1400" kern="0" dirty="0">
                          <a:solidFill>
                            <a:srgbClr val="000000"/>
                          </a:solidFill>
                          <a:effectLst/>
                          <a:latin typeface="宋体"/>
                          <a:ea typeface="宋体"/>
                          <a:cs typeface="宋体"/>
                        </a:rPr>
                        <a:t>000001</a:t>
                      </a:r>
                      <a:endParaRPr lang="zh-CN" sz="120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kern="0" dirty="0">
                          <a:solidFill>
                            <a:srgbClr val="000000"/>
                          </a:solidFill>
                          <a:effectLst/>
                          <a:latin typeface="宋体"/>
                          <a:ea typeface="宋体"/>
                          <a:cs typeface="宋体"/>
                        </a:rPr>
                        <a:t>2017-01-04</a:t>
                      </a:r>
                      <a:endParaRPr lang="zh-CN" sz="120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kern="0">
                          <a:solidFill>
                            <a:srgbClr val="000000"/>
                          </a:solidFill>
                          <a:effectLst/>
                          <a:latin typeface="宋体"/>
                          <a:ea typeface="宋体"/>
                          <a:cs typeface="宋体"/>
                        </a:rPr>
                        <a:t>9.16</a:t>
                      </a:r>
                      <a:endParaRPr lang="zh-CN" sz="12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kern="0">
                          <a:solidFill>
                            <a:srgbClr val="000000"/>
                          </a:solidFill>
                          <a:effectLst/>
                          <a:latin typeface="宋体"/>
                          <a:ea typeface="宋体"/>
                          <a:cs typeface="宋体"/>
                        </a:rPr>
                        <a:t>44932953</a:t>
                      </a:r>
                      <a:endParaRPr lang="zh-CN" sz="12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kern="0">
                          <a:solidFill>
                            <a:srgbClr val="000000"/>
                          </a:solidFill>
                          <a:effectLst/>
                          <a:latin typeface="宋体"/>
                          <a:ea typeface="宋体"/>
                          <a:cs typeface="宋体"/>
                        </a:rPr>
                        <a:t>411503444</a:t>
                      </a:r>
                      <a:endParaRPr lang="zh-CN" sz="12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kern="0">
                          <a:solidFill>
                            <a:srgbClr val="000000"/>
                          </a:solidFill>
                          <a:effectLst/>
                          <a:latin typeface="宋体"/>
                          <a:ea typeface="宋体"/>
                          <a:cs typeface="宋体"/>
                        </a:rPr>
                        <a:t>9.15</a:t>
                      </a:r>
                      <a:endParaRPr lang="zh-CN" sz="12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kern="0">
                          <a:solidFill>
                            <a:srgbClr val="000000"/>
                          </a:solidFill>
                          <a:effectLst/>
                          <a:latin typeface="宋体"/>
                          <a:ea typeface="宋体"/>
                          <a:cs typeface="宋体"/>
                        </a:rPr>
                        <a:t>9.18</a:t>
                      </a:r>
                      <a:endParaRPr lang="zh-CN" sz="12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kern="0">
                          <a:solidFill>
                            <a:srgbClr val="000000"/>
                          </a:solidFill>
                          <a:effectLst/>
                          <a:latin typeface="宋体"/>
                          <a:ea typeface="宋体"/>
                          <a:cs typeface="宋体"/>
                        </a:rPr>
                        <a:t>9.14</a:t>
                      </a:r>
                      <a:endParaRPr lang="zh-CN" sz="1200" kern="100">
                        <a:effectLst/>
                        <a:latin typeface="Calibri"/>
                        <a:ea typeface="宋体"/>
                        <a:cs typeface="Times New Roman"/>
                      </a:endParaRPr>
                    </a:p>
                  </a:txBody>
                  <a:tcPr marL="68580" marR="68580" marT="0" marB="0" anchor="b">
                    <a:lnL>
                      <a:noFill/>
                    </a:lnL>
                    <a:lnR>
                      <a:noFill/>
                    </a:lnR>
                    <a:lnT>
                      <a:noFill/>
                    </a:lnT>
                    <a:lnB>
                      <a:noFill/>
                    </a:lnB>
                  </a:tcPr>
                </a:tc>
              </a:tr>
              <a:tr h="274857">
                <a:tc>
                  <a:txBody>
                    <a:bodyPr/>
                    <a:lstStyle/>
                    <a:p>
                      <a:pPr algn="l">
                        <a:spcAft>
                          <a:spcPts val="0"/>
                        </a:spcAft>
                      </a:pPr>
                      <a:r>
                        <a:rPr lang="en-US" sz="1400" kern="0">
                          <a:solidFill>
                            <a:srgbClr val="000000"/>
                          </a:solidFill>
                          <a:effectLst/>
                          <a:latin typeface="宋体"/>
                          <a:ea typeface="宋体"/>
                          <a:cs typeface="宋体"/>
                        </a:rPr>
                        <a:t>000001</a:t>
                      </a:r>
                      <a:endParaRPr lang="zh-CN" sz="12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kern="0" dirty="0">
                          <a:solidFill>
                            <a:srgbClr val="000000"/>
                          </a:solidFill>
                          <a:effectLst/>
                          <a:latin typeface="宋体"/>
                          <a:ea typeface="宋体"/>
                          <a:cs typeface="宋体"/>
                        </a:rPr>
                        <a:t>2017-01-05</a:t>
                      </a:r>
                      <a:endParaRPr lang="zh-CN" sz="120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kern="0" dirty="0">
                          <a:solidFill>
                            <a:srgbClr val="000000"/>
                          </a:solidFill>
                          <a:effectLst/>
                          <a:latin typeface="宋体"/>
                          <a:ea typeface="宋体"/>
                          <a:cs typeface="宋体"/>
                        </a:rPr>
                        <a:t>9.17</a:t>
                      </a:r>
                      <a:endParaRPr lang="zh-CN" sz="120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kern="0">
                          <a:solidFill>
                            <a:srgbClr val="000000"/>
                          </a:solidFill>
                          <a:effectLst/>
                          <a:latin typeface="宋体"/>
                          <a:ea typeface="宋体"/>
                          <a:cs typeface="宋体"/>
                        </a:rPr>
                        <a:t>34437291</a:t>
                      </a:r>
                      <a:endParaRPr lang="zh-CN" sz="12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kern="0">
                          <a:solidFill>
                            <a:srgbClr val="000000"/>
                          </a:solidFill>
                          <a:effectLst/>
                          <a:latin typeface="宋体"/>
                          <a:ea typeface="宋体"/>
                          <a:cs typeface="宋体"/>
                        </a:rPr>
                        <a:t>315769694</a:t>
                      </a:r>
                      <a:endParaRPr lang="zh-CN" sz="12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kern="0">
                          <a:solidFill>
                            <a:srgbClr val="000000"/>
                          </a:solidFill>
                          <a:effectLst/>
                          <a:latin typeface="宋体"/>
                          <a:ea typeface="宋体"/>
                          <a:cs typeface="宋体"/>
                        </a:rPr>
                        <a:t>9.17</a:t>
                      </a:r>
                      <a:endParaRPr lang="zh-CN" sz="12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kern="0">
                          <a:solidFill>
                            <a:srgbClr val="000000"/>
                          </a:solidFill>
                          <a:effectLst/>
                          <a:latin typeface="宋体"/>
                          <a:ea typeface="宋体"/>
                          <a:cs typeface="宋体"/>
                        </a:rPr>
                        <a:t>9.18</a:t>
                      </a:r>
                      <a:endParaRPr lang="zh-CN" sz="12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kern="0">
                          <a:solidFill>
                            <a:srgbClr val="000000"/>
                          </a:solidFill>
                          <a:effectLst/>
                          <a:latin typeface="宋体"/>
                          <a:ea typeface="宋体"/>
                          <a:cs typeface="宋体"/>
                        </a:rPr>
                        <a:t>9.15</a:t>
                      </a:r>
                      <a:endParaRPr lang="zh-CN" sz="1200" kern="100">
                        <a:effectLst/>
                        <a:latin typeface="Calibri"/>
                        <a:ea typeface="宋体"/>
                        <a:cs typeface="Times New Roman"/>
                      </a:endParaRPr>
                    </a:p>
                  </a:txBody>
                  <a:tcPr marL="68580" marR="68580" marT="0" marB="0" anchor="b">
                    <a:lnL>
                      <a:noFill/>
                    </a:lnL>
                    <a:lnR>
                      <a:noFill/>
                    </a:lnR>
                    <a:lnT>
                      <a:noFill/>
                    </a:lnT>
                    <a:lnB>
                      <a:noFill/>
                    </a:lnB>
                  </a:tcPr>
                </a:tc>
              </a:tr>
              <a:tr h="274857">
                <a:tc>
                  <a:txBody>
                    <a:bodyPr/>
                    <a:lstStyle/>
                    <a:p>
                      <a:pPr algn="l">
                        <a:spcAft>
                          <a:spcPts val="0"/>
                        </a:spcAft>
                      </a:pPr>
                      <a:r>
                        <a:rPr lang="en-US" sz="1400" kern="0">
                          <a:solidFill>
                            <a:srgbClr val="000000"/>
                          </a:solidFill>
                          <a:effectLst/>
                          <a:latin typeface="宋体"/>
                          <a:ea typeface="宋体"/>
                          <a:cs typeface="宋体"/>
                        </a:rPr>
                        <a:t>000001</a:t>
                      </a:r>
                      <a:endParaRPr lang="zh-CN" sz="12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kern="0">
                          <a:solidFill>
                            <a:srgbClr val="000000"/>
                          </a:solidFill>
                          <a:effectLst/>
                          <a:latin typeface="宋体"/>
                          <a:ea typeface="宋体"/>
                          <a:cs typeface="宋体"/>
                        </a:rPr>
                        <a:t>2017-01-06</a:t>
                      </a:r>
                      <a:endParaRPr lang="zh-CN" sz="12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kern="0" dirty="0">
                          <a:solidFill>
                            <a:srgbClr val="000000"/>
                          </a:solidFill>
                          <a:effectLst/>
                          <a:latin typeface="宋体"/>
                          <a:ea typeface="宋体"/>
                          <a:cs typeface="宋体"/>
                        </a:rPr>
                        <a:t>9.13</a:t>
                      </a:r>
                      <a:endParaRPr lang="zh-CN" sz="120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kern="0">
                          <a:solidFill>
                            <a:srgbClr val="000000"/>
                          </a:solidFill>
                          <a:effectLst/>
                          <a:latin typeface="宋体"/>
                          <a:ea typeface="宋体"/>
                          <a:cs typeface="宋体"/>
                        </a:rPr>
                        <a:t>35815420</a:t>
                      </a:r>
                      <a:endParaRPr lang="zh-CN" sz="12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kern="0">
                          <a:solidFill>
                            <a:srgbClr val="000000"/>
                          </a:solidFill>
                          <a:effectLst/>
                          <a:latin typeface="宋体"/>
                          <a:ea typeface="宋体"/>
                          <a:cs typeface="宋体"/>
                        </a:rPr>
                        <a:t>327176434</a:t>
                      </a:r>
                      <a:endParaRPr lang="zh-CN" sz="12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kern="0" dirty="0">
                          <a:solidFill>
                            <a:srgbClr val="000000"/>
                          </a:solidFill>
                          <a:effectLst/>
                          <a:latin typeface="宋体"/>
                          <a:ea typeface="宋体"/>
                          <a:cs typeface="宋体"/>
                        </a:rPr>
                        <a:t>9.17</a:t>
                      </a:r>
                      <a:endParaRPr lang="zh-CN" sz="120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kern="0">
                          <a:solidFill>
                            <a:srgbClr val="000000"/>
                          </a:solidFill>
                          <a:effectLst/>
                          <a:latin typeface="宋体"/>
                          <a:ea typeface="宋体"/>
                          <a:cs typeface="宋体"/>
                        </a:rPr>
                        <a:t>9.17</a:t>
                      </a:r>
                      <a:endParaRPr lang="zh-CN" sz="12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kern="0">
                          <a:solidFill>
                            <a:srgbClr val="000000"/>
                          </a:solidFill>
                          <a:effectLst/>
                          <a:latin typeface="宋体"/>
                          <a:ea typeface="宋体"/>
                          <a:cs typeface="宋体"/>
                        </a:rPr>
                        <a:t>9.11</a:t>
                      </a:r>
                      <a:endParaRPr lang="zh-CN" sz="1200" kern="100">
                        <a:effectLst/>
                        <a:latin typeface="Calibri"/>
                        <a:ea typeface="宋体"/>
                        <a:cs typeface="Times New Roman"/>
                      </a:endParaRPr>
                    </a:p>
                  </a:txBody>
                  <a:tcPr marL="68580" marR="68580" marT="0" marB="0" anchor="b">
                    <a:lnL>
                      <a:noFill/>
                    </a:lnL>
                    <a:lnR>
                      <a:noFill/>
                    </a:lnR>
                    <a:lnT>
                      <a:noFill/>
                    </a:lnT>
                    <a:lnB>
                      <a:noFill/>
                    </a:lnB>
                  </a:tcPr>
                </a:tc>
              </a:tr>
              <a:tr h="274857">
                <a:tc>
                  <a:txBody>
                    <a:bodyPr/>
                    <a:lstStyle/>
                    <a:p>
                      <a:pPr algn="l">
                        <a:spcAft>
                          <a:spcPts val="0"/>
                        </a:spcAft>
                      </a:pPr>
                      <a:r>
                        <a:rPr lang="en-US" sz="1400" kern="0">
                          <a:solidFill>
                            <a:srgbClr val="000000"/>
                          </a:solidFill>
                          <a:effectLst/>
                          <a:latin typeface="宋体"/>
                          <a:ea typeface="宋体"/>
                          <a:cs typeface="宋体"/>
                        </a:rPr>
                        <a:t>000001</a:t>
                      </a:r>
                      <a:endParaRPr lang="zh-CN" sz="12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kern="0">
                          <a:solidFill>
                            <a:srgbClr val="000000"/>
                          </a:solidFill>
                          <a:effectLst/>
                          <a:latin typeface="宋体"/>
                          <a:ea typeface="宋体"/>
                          <a:cs typeface="宋体"/>
                        </a:rPr>
                        <a:t>2017-01-09</a:t>
                      </a:r>
                      <a:endParaRPr lang="zh-CN" sz="12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kern="0">
                          <a:solidFill>
                            <a:srgbClr val="000000"/>
                          </a:solidFill>
                          <a:effectLst/>
                          <a:latin typeface="宋体"/>
                          <a:ea typeface="宋体"/>
                          <a:cs typeface="宋体"/>
                        </a:rPr>
                        <a:t>9.15</a:t>
                      </a:r>
                      <a:endParaRPr lang="zh-CN" sz="12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kern="0" dirty="0">
                          <a:solidFill>
                            <a:srgbClr val="000000"/>
                          </a:solidFill>
                          <a:effectLst/>
                          <a:latin typeface="宋体"/>
                          <a:ea typeface="宋体"/>
                          <a:cs typeface="宋体"/>
                        </a:rPr>
                        <a:t>36108157</a:t>
                      </a:r>
                      <a:endParaRPr lang="zh-CN" sz="120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kern="0">
                          <a:solidFill>
                            <a:srgbClr val="000000"/>
                          </a:solidFill>
                          <a:effectLst/>
                          <a:latin typeface="宋体"/>
                          <a:ea typeface="宋体"/>
                          <a:cs typeface="宋体"/>
                        </a:rPr>
                        <a:t>329994604</a:t>
                      </a:r>
                      <a:endParaRPr lang="zh-CN" sz="12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kern="0">
                          <a:solidFill>
                            <a:srgbClr val="000000"/>
                          </a:solidFill>
                          <a:effectLst/>
                          <a:latin typeface="宋体"/>
                          <a:ea typeface="宋体"/>
                          <a:cs typeface="宋体"/>
                        </a:rPr>
                        <a:t>9.13</a:t>
                      </a:r>
                      <a:endParaRPr lang="zh-CN" sz="12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kern="0">
                          <a:solidFill>
                            <a:srgbClr val="000000"/>
                          </a:solidFill>
                          <a:effectLst/>
                          <a:latin typeface="宋体"/>
                          <a:ea typeface="宋体"/>
                          <a:cs typeface="宋体"/>
                        </a:rPr>
                        <a:t>9.17</a:t>
                      </a:r>
                      <a:endParaRPr lang="zh-CN" sz="12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kern="0" dirty="0">
                          <a:solidFill>
                            <a:srgbClr val="000000"/>
                          </a:solidFill>
                          <a:effectLst/>
                          <a:latin typeface="宋体"/>
                          <a:ea typeface="宋体"/>
                          <a:cs typeface="宋体"/>
                        </a:rPr>
                        <a:t>9.11</a:t>
                      </a:r>
                      <a:endParaRPr lang="zh-CN" sz="1200" kern="100" dirty="0">
                        <a:effectLst/>
                        <a:latin typeface="Calibri"/>
                        <a:ea typeface="宋体"/>
                        <a:cs typeface="Times New Roman"/>
                      </a:endParaRPr>
                    </a:p>
                  </a:txBody>
                  <a:tcPr marL="68580" marR="68580" marT="0" marB="0" anchor="b">
                    <a:lnL>
                      <a:noFill/>
                    </a:lnL>
                    <a:lnR>
                      <a:noFill/>
                    </a:lnR>
                    <a:lnT>
                      <a:noFill/>
                    </a:lnT>
                    <a:lnB>
                      <a:noFill/>
                    </a:lnB>
                  </a:tcPr>
                </a:tc>
              </a:tr>
              <a:tr h="274857">
                <a:tc>
                  <a:txBody>
                    <a:bodyPr/>
                    <a:lstStyle/>
                    <a:p>
                      <a:pPr algn="l">
                        <a:spcAft>
                          <a:spcPts val="0"/>
                        </a:spcAft>
                      </a:pPr>
                      <a:r>
                        <a:rPr lang="en-US" sz="1400" kern="0">
                          <a:solidFill>
                            <a:srgbClr val="000000"/>
                          </a:solidFill>
                          <a:effectLst/>
                          <a:latin typeface="宋体"/>
                          <a:ea typeface="宋体"/>
                          <a:cs typeface="宋体"/>
                        </a:rPr>
                        <a:t>000001</a:t>
                      </a:r>
                      <a:endParaRPr lang="zh-CN" sz="12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kern="0">
                          <a:solidFill>
                            <a:srgbClr val="000000"/>
                          </a:solidFill>
                          <a:effectLst/>
                          <a:latin typeface="宋体"/>
                          <a:ea typeface="宋体"/>
                          <a:cs typeface="宋体"/>
                        </a:rPr>
                        <a:t>2017-01-10</a:t>
                      </a:r>
                      <a:endParaRPr lang="zh-CN" sz="12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kern="0">
                          <a:solidFill>
                            <a:srgbClr val="000000"/>
                          </a:solidFill>
                          <a:effectLst/>
                          <a:latin typeface="宋体"/>
                          <a:ea typeface="宋体"/>
                          <a:cs typeface="宋体"/>
                        </a:rPr>
                        <a:t>9.15</a:t>
                      </a:r>
                      <a:endParaRPr lang="zh-CN" sz="12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kern="0" dirty="0">
                          <a:solidFill>
                            <a:srgbClr val="000000"/>
                          </a:solidFill>
                          <a:effectLst/>
                          <a:latin typeface="宋体"/>
                          <a:ea typeface="宋体"/>
                          <a:cs typeface="宋体"/>
                        </a:rPr>
                        <a:t>24105395</a:t>
                      </a:r>
                      <a:endParaRPr lang="zh-CN" sz="120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kern="0" dirty="0">
                          <a:solidFill>
                            <a:srgbClr val="000000"/>
                          </a:solidFill>
                          <a:effectLst/>
                          <a:latin typeface="宋体"/>
                          <a:ea typeface="宋体"/>
                          <a:cs typeface="宋体"/>
                        </a:rPr>
                        <a:t>220575132</a:t>
                      </a:r>
                      <a:endParaRPr lang="zh-CN" sz="120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kern="0" dirty="0">
                          <a:solidFill>
                            <a:srgbClr val="000000"/>
                          </a:solidFill>
                          <a:effectLst/>
                          <a:latin typeface="宋体"/>
                          <a:ea typeface="宋体"/>
                          <a:cs typeface="宋体"/>
                        </a:rPr>
                        <a:t>9.15</a:t>
                      </a:r>
                      <a:endParaRPr lang="zh-CN" sz="120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kern="0">
                          <a:solidFill>
                            <a:srgbClr val="000000"/>
                          </a:solidFill>
                          <a:effectLst/>
                          <a:latin typeface="宋体"/>
                          <a:ea typeface="宋体"/>
                          <a:cs typeface="宋体"/>
                        </a:rPr>
                        <a:t>9.16</a:t>
                      </a:r>
                      <a:endParaRPr lang="zh-CN" sz="12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l">
                        <a:spcAft>
                          <a:spcPts val="0"/>
                        </a:spcAft>
                      </a:pPr>
                      <a:r>
                        <a:rPr lang="en-US" sz="1400" kern="0">
                          <a:solidFill>
                            <a:srgbClr val="000000"/>
                          </a:solidFill>
                          <a:effectLst/>
                          <a:latin typeface="宋体"/>
                          <a:ea typeface="宋体"/>
                          <a:cs typeface="宋体"/>
                        </a:rPr>
                        <a:t>9.14</a:t>
                      </a:r>
                      <a:endParaRPr lang="zh-CN" sz="1200" kern="100">
                        <a:effectLst/>
                        <a:latin typeface="Calibri"/>
                        <a:ea typeface="宋体"/>
                        <a:cs typeface="Times New Roman"/>
                      </a:endParaRPr>
                    </a:p>
                  </a:txBody>
                  <a:tcPr marL="68580" marR="68580" marT="0" marB="0" anchor="b">
                    <a:lnL>
                      <a:noFill/>
                    </a:lnL>
                    <a:lnR>
                      <a:noFill/>
                    </a:lnR>
                    <a:lnT>
                      <a:noFill/>
                    </a:lnT>
                    <a:lnB>
                      <a:noFill/>
                    </a:lnB>
                  </a:tcPr>
                </a:tc>
              </a:tr>
              <a:tr h="274857">
                <a:tc>
                  <a:txBody>
                    <a:bodyPr/>
                    <a:lstStyle/>
                    <a:p>
                      <a:pPr algn="l">
                        <a:spcAft>
                          <a:spcPts val="0"/>
                        </a:spcAft>
                      </a:pPr>
                      <a:r>
                        <a:rPr lang="zh-CN" sz="1400" kern="0" dirty="0">
                          <a:solidFill>
                            <a:srgbClr val="000000"/>
                          </a:solidFill>
                          <a:effectLst/>
                          <a:latin typeface="Calibri"/>
                          <a:ea typeface="宋体"/>
                          <a:cs typeface="宋体"/>
                        </a:rPr>
                        <a:t>……</a:t>
                      </a:r>
                      <a:endParaRPr lang="zh-CN" sz="1200" kern="100" dirty="0">
                        <a:effectLst/>
                        <a:latin typeface="Calibri"/>
                        <a:ea typeface="宋体"/>
                        <a:cs typeface="Times New Roman"/>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400" kern="0">
                          <a:solidFill>
                            <a:srgbClr val="000000"/>
                          </a:solidFill>
                          <a:effectLst/>
                          <a:latin typeface="Calibri"/>
                          <a:ea typeface="宋体"/>
                          <a:cs typeface="宋体"/>
                        </a:rPr>
                        <a:t>……</a:t>
                      </a:r>
                      <a:endParaRPr lang="zh-CN" sz="1200" kern="100">
                        <a:effectLst/>
                        <a:latin typeface="Calibri"/>
                        <a:ea typeface="宋体"/>
                        <a:cs typeface="Times New Roman"/>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400" kern="0">
                          <a:solidFill>
                            <a:srgbClr val="000000"/>
                          </a:solidFill>
                          <a:effectLst/>
                          <a:latin typeface="Calibri"/>
                          <a:ea typeface="宋体"/>
                          <a:cs typeface="宋体"/>
                        </a:rPr>
                        <a:t>……</a:t>
                      </a:r>
                      <a:endParaRPr lang="zh-CN" sz="1200" kern="100">
                        <a:effectLst/>
                        <a:latin typeface="Calibri"/>
                        <a:ea typeface="宋体"/>
                        <a:cs typeface="Times New Roman"/>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400" kern="0" dirty="0">
                          <a:solidFill>
                            <a:srgbClr val="000000"/>
                          </a:solidFill>
                          <a:effectLst/>
                          <a:latin typeface="Calibri"/>
                          <a:ea typeface="宋体"/>
                          <a:cs typeface="宋体"/>
                        </a:rPr>
                        <a:t>……</a:t>
                      </a:r>
                      <a:endParaRPr lang="zh-CN" sz="1200" kern="100" dirty="0">
                        <a:effectLst/>
                        <a:latin typeface="Calibri"/>
                        <a:ea typeface="宋体"/>
                        <a:cs typeface="Times New Roman"/>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400" kern="0" dirty="0">
                          <a:solidFill>
                            <a:srgbClr val="000000"/>
                          </a:solidFill>
                          <a:effectLst/>
                          <a:latin typeface="Calibri"/>
                          <a:ea typeface="宋体"/>
                          <a:cs typeface="宋体"/>
                        </a:rPr>
                        <a:t>……</a:t>
                      </a:r>
                      <a:endParaRPr lang="zh-CN" sz="1200" kern="100" dirty="0">
                        <a:effectLst/>
                        <a:latin typeface="Calibri"/>
                        <a:ea typeface="宋体"/>
                        <a:cs typeface="Times New Roman"/>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400" kern="0" dirty="0">
                          <a:solidFill>
                            <a:srgbClr val="000000"/>
                          </a:solidFill>
                          <a:effectLst/>
                          <a:latin typeface="Calibri"/>
                          <a:ea typeface="宋体"/>
                          <a:cs typeface="宋体"/>
                        </a:rPr>
                        <a:t>……</a:t>
                      </a:r>
                      <a:endParaRPr lang="zh-CN" sz="1200" kern="100" dirty="0">
                        <a:effectLst/>
                        <a:latin typeface="Calibri"/>
                        <a:ea typeface="宋体"/>
                        <a:cs typeface="Times New Roman"/>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400" kern="0" dirty="0">
                          <a:solidFill>
                            <a:srgbClr val="000000"/>
                          </a:solidFill>
                          <a:effectLst/>
                          <a:latin typeface="Calibri"/>
                          <a:ea typeface="宋体"/>
                          <a:cs typeface="宋体"/>
                        </a:rPr>
                        <a:t>……</a:t>
                      </a:r>
                      <a:endParaRPr lang="zh-CN" sz="1200" kern="100" dirty="0">
                        <a:effectLst/>
                        <a:latin typeface="Calibri"/>
                        <a:ea typeface="宋体"/>
                        <a:cs typeface="Times New Roman"/>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400" kern="0" dirty="0">
                          <a:solidFill>
                            <a:srgbClr val="000000"/>
                          </a:solidFill>
                          <a:effectLst/>
                          <a:latin typeface="Calibri"/>
                          <a:ea typeface="宋体"/>
                          <a:cs typeface="宋体"/>
                        </a:rPr>
                        <a:t>……</a:t>
                      </a:r>
                      <a:endParaRPr lang="zh-CN" sz="1200" kern="100" dirty="0">
                        <a:effectLst/>
                        <a:latin typeface="Calibri"/>
                        <a:ea typeface="宋体"/>
                        <a:cs typeface="Times New Roman"/>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r>
            </a:tbl>
          </a:graphicData>
        </a:graphic>
      </p:graphicFrame>
      <p:sp>
        <p:nvSpPr>
          <p:cNvPr id="10" name="矩形 9"/>
          <p:cNvSpPr/>
          <p:nvPr/>
        </p:nvSpPr>
        <p:spPr>
          <a:xfrm>
            <a:off x="270271" y="5090272"/>
            <a:ext cx="11618317" cy="1477328"/>
          </a:xfrm>
          <a:prstGeom prst="rect">
            <a:avLst/>
          </a:prstGeom>
        </p:spPr>
        <p:txBody>
          <a:bodyPr wrap="square">
            <a:spAutoFit/>
          </a:bodyPr>
          <a:lstStyle/>
          <a:p>
            <a:pPr algn="just">
              <a:spcAft>
                <a:spcPts val="0"/>
              </a:spcAft>
            </a:pPr>
            <a:r>
              <a:rPr lang="zh-CN" altLang="zh-CN" kern="100" dirty="0">
                <a:latin typeface="Calibri"/>
                <a:ea typeface="宋体"/>
                <a:cs typeface="Times New Roman"/>
              </a:rPr>
              <a:t>其计算思路及步骤如下：</a:t>
            </a:r>
          </a:p>
          <a:p>
            <a:pPr algn="just">
              <a:spcAft>
                <a:spcPts val="0"/>
              </a:spcAft>
            </a:pPr>
            <a:r>
              <a:rPr lang="zh-CN" altLang="zh-CN" kern="100" dirty="0">
                <a:latin typeface="Calibri"/>
                <a:ea typeface="宋体"/>
                <a:cs typeface="Times New Roman"/>
              </a:rPr>
              <a:t>首先基于第</a:t>
            </a:r>
            <a:r>
              <a:rPr lang="en-US" altLang="zh-CN" kern="100" dirty="0">
                <a:latin typeface="Calibri"/>
                <a:ea typeface="宋体"/>
                <a:cs typeface="Times New Roman"/>
              </a:rPr>
              <a:t>8</a:t>
            </a:r>
            <a:r>
              <a:rPr lang="zh-CN" altLang="zh-CN" kern="100" dirty="0">
                <a:latin typeface="Calibri"/>
                <a:ea typeface="宋体"/>
                <a:cs typeface="Times New Roman"/>
              </a:rPr>
              <a:t>章中基于总体规模与投资效率指标的综合评价方法，调用其综合评价函数</a:t>
            </a:r>
            <a:r>
              <a:rPr lang="en-US" altLang="zh-CN" kern="100" dirty="0" err="1">
                <a:latin typeface="Calibri"/>
                <a:ea typeface="宋体"/>
                <a:cs typeface="Times New Roman"/>
              </a:rPr>
              <a:t>Fr</a:t>
            </a:r>
            <a:r>
              <a:rPr lang="zh-CN" altLang="zh-CN" kern="100" dirty="0">
                <a:latin typeface="Calibri"/>
                <a:ea typeface="宋体"/>
                <a:cs typeface="Times New Roman"/>
              </a:rPr>
              <a:t>，函数输入参数为财务报表数据和年度，函数返回结果为排名情况（证券代码形式），获得量化投资策略分析的股票样本。</a:t>
            </a:r>
          </a:p>
          <a:p>
            <a:pPr algn="just">
              <a:spcAft>
                <a:spcPts val="0"/>
              </a:spcAft>
            </a:pPr>
            <a:r>
              <a:rPr lang="zh-CN" altLang="zh-CN" kern="100" dirty="0">
                <a:latin typeface="Calibri"/>
                <a:ea typeface="宋体"/>
                <a:cs typeface="Times New Roman"/>
              </a:rPr>
              <a:t>其次调用</a:t>
            </a:r>
            <a:r>
              <a:rPr lang="en-US" altLang="zh-CN" kern="100" dirty="0">
                <a:latin typeface="Calibri"/>
                <a:ea typeface="宋体"/>
                <a:cs typeface="Times New Roman"/>
              </a:rPr>
              <a:t>9.6.1</a:t>
            </a:r>
            <a:r>
              <a:rPr lang="zh-CN" altLang="zh-CN" kern="100" dirty="0">
                <a:latin typeface="Calibri"/>
                <a:ea typeface="宋体"/>
                <a:cs typeface="Times New Roman"/>
              </a:rPr>
              <a:t>定义的函数计算投资组合收益率，并将结果导出到</a:t>
            </a:r>
            <a:r>
              <a:rPr lang="en-US" altLang="zh-CN" kern="100" dirty="0">
                <a:latin typeface="Calibri"/>
                <a:ea typeface="宋体"/>
                <a:cs typeface="Times New Roman"/>
              </a:rPr>
              <a:t>Excel</a:t>
            </a:r>
            <a:r>
              <a:rPr lang="zh-CN" altLang="zh-CN" kern="100" dirty="0">
                <a:latin typeface="Calibri"/>
                <a:ea typeface="宋体"/>
                <a:cs typeface="Times New Roman"/>
              </a:rPr>
              <a:t>文件中。具体的量化投资策略设计实现示例代码如下：</a:t>
            </a:r>
            <a:endParaRPr lang="zh-CN" altLang="zh-CN" kern="100" dirty="0">
              <a:effectLst/>
              <a:latin typeface="Calibri"/>
              <a:ea typeface="宋体"/>
              <a:cs typeface="Times New Roman"/>
            </a:endParaRPr>
          </a:p>
        </p:txBody>
      </p:sp>
    </p:spTree>
    <p:extLst>
      <p:ext uri="{BB962C8B-B14F-4D97-AF65-F5344CB8AC3E}">
        <p14:creationId xmlns:p14="http://schemas.microsoft.com/office/powerpoint/2010/main" val="3427758607"/>
      </p:ext>
    </p:extLst>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 </a:t>
            </a:r>
            <a:r>
              <a:rPr lang="en-US" altLang="zh-CN" sz="2000" dirty="0" smtClean="0">
                <a:solidFill>
                  <a:schemeClr val="accent2"/>
                </a:solidFill>
              </a:rPr>
              <a:t>9</a:t>
            </a:r>
            <a:r>
              <a:rPr lang="en-US" altLang="zh-CN" dirty="0" smtClean="0">
                <a:solidFill>
                  <a:schemeClr val="accent2"/>
                </a:solidFill>
              </a:rPr>
              <a:t> </a:t>
            </a:r>
            <a:endParaRPr lang="zh-CN" altLang="en-US" dirty="0">
              <a:solidFill>
                <a:schemeClr val="accent2"/>
              </a:solidFill>
            </a:endParaRPr>
          </a:p>
        </p:txBody>
      </p:sp>
      <p:sp>
        <p:nvSpPr>
          <p:cNvPr id="9" name="燕尾形 8"/>
          <p:cNvSpPr/>
          <p:nvPr/>
        </p:nvSpPr>
        <p:spPr bwMode="auto">
          <a:xfrm>
            <a:off x="6353299" y="63783"/>
            <a:ext cx="321146" cy="442499"/>
          </a:xfrm>
          <a:prstGeom prst="chevron">
            <a:avLst/>
          </a:prstGeom>
          <a:solidFill>
            <a:schemeClr val="accent2"/>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spcBef>
                <a:spcPct val="0"/>
              </a:spcBef>
              <a:spcAft>
                <a:spcPct val="0"/>
              </a:spcAft>
              <a:buClrTx/>
              <a:buSzTx/>
              <a:buFont typeface="Arial" pitchFamily="34" charset="0"/>
              <a:buNone/>
            </a:pPr>
            <a:endParaRPr kumimoji="0" lang="zh-CN" altLang="en-US" sz="1800" b="0" i="0" u="none" strike="noStrike" cap="none" normalizeH="0" baseline="0" smtClean="0">
              <a:ln>
                <a:noFill/>
              </a:ln>
              <a:solidFill>
                <a:schemeClr val="tx1"/>
              </a:solidFill>
              <a:effectLst/>
              <a:latin typeface="Arial" pitchFamily="34" charset="0"/>
              <a:ea typeface="宋体" pitchFamily="2" charset="-122"/>
            </a:endParaRPr>
          </a:p>
        </p:txBody>
      </p:sp>
      <p:sp>
        <p:nvSpPr>
          <p:cNvPr id="6" name="TextBox 5"/>
          <p:cNvSpPr txBox="1"/>
          <p:nvPr/>
        </p:nvSpPr>
        <p:spPr>
          <a:xfrm>
            <a:off x="7034485" y="121564"/>
            <a:ext cx="3312368" cy="523220"/>
          </a:xfrm>
          <a:prstGeom prst="rect">
            <a:avLst/>
          </a:prstGeom>
          <a:noFill/>
        </p:spPr>
        <p:txBody>
          <a:bodyPr wrap="square" rtlCol="0">
            <a:spAutoFit/>
          </a:bodyPr>
          <a:lstStyle/>
          <a:p>
            <a:pPr lvl="0"/>
            <a:r>
              <a:rPr lang="en-US" altLang="zh-CN" sz="2800" dirty="0" smtClean="0">
                <a:solidFill>
                  <a:srgbClr val="FFFFFF"/>
                </a:solidFill>
                <a:latin typeface="微软雅黑"/>
                <a:ea typeface="微软雅黑"/>
              </a:rPr>
              <a:t>9.6.2 </a:t>
            </a:r>
            <a:r>
              <a:rPr lang="zh-CN" altLang="en-US" sz="2800" dirty="0">
                <a:solidFill>
                  <a:srgbClr val="FFFFFF"/>
                </a:solidFill>
                <a:latin typeface="微软雅黑"/>
                <a:ea typeface="微软雅黑"/>
              </a:rPr>
              <a:t>量化</a:t>
            </a:r>
            <a:r>
              <a:rPr lang="zh-CN" altLang="en-US" sz="2800" dirty="0" smtClean="0">
                <a:solidFill>
                  <a:srgbClr val="FFFFFF"/>
                </a:solidFill>
                <a:latin typeface="微软雅黑"/>
                <a:ea typeface="微软雅黑"/>
              </a:rPr>
              <a:t>投资策略</a:t>
            </a:r>
            <a:endParaRPr lang="en-US" altLang="zh-CN" sz="2800" dirty="0" smtClean="0">
              <a:solidFill>
                <a:srgbClr val="FFFFFF"/>
              </a:solidFill>
              <a:latin typeface="微软雅黑"/>
              <a:ea typeface="微软雅黑"/>
            </a:endParaRPr>
          </a:p>
        </p:txBody>
      </p:sp>
      <p:sp>
        <p:nvSpPr>
          <p:cNvPr id="14" name="TextBox 13"/>
          <p:cNvSpPr txBox="1"/>
          <p:nvPr/>
        </p:nvSpPr>
        <p:spPr>
          <a:xfrm>
            <a:off x="1330766" y="44625"/>
            <a:ext cx="5042228"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smtClean="0">
                <a:solidFill>
                  <a:schemeClr val="accent2"/>
                </a:solidFill>
                <a:latin typeface="微软雅黑"/>
                <a:ea typeface="微软雅黑"/>
              </a:rPr>
              <a:t>9.6</a:t>
            </a:r>
            <a:r>
              <a:rPr lang="en-US" altLang="zh-CN" sz="2800" dirty="0">
                <a:solidFill>
                  <a:schemeClr val="accent2"/>
                </a:solidFill>
                <a:latin typeface="微软雅黑"/>
                <a:ea typeface="微软雅黑"/>
              </a:rPr>
              <a:t> </a:t>
            </a:r>
            <a:r>
              <a:rPr lang="zh-CN" altLang="en-US" sz="2800" dirty="0" smtClean="0">
                <a:solidFill>
                  <a:schemeClr val="accent2"/>
                </a:solidFill>
                <a:latin typeface="微软雅黑"/>
                <a:ea typeface="微软雅黑"/>
              </a:rPr>
              <a:t>量化投资策略设计与分析</a:t>
            </a:r>
            <a:endParaRPr lang="zh-CN" altLang="en-US" sz="2800" dirty="0">
              <a:solidFill>
                <a:schemeClr val="accent2"/>
              </a:solidFill>
              <a:latin typeface="微软雅黑"/>
              <a:ea typeface="微软雅黑"/>
            </a:endParaRPr>
          </a:p>
        </p:txBody>
      </p:sp>
      <p:sp>
        <p:nvSpPr>
          <p:cNvPr id="2" name="矩形 1"/>
          <p:cNvSpPr/>
          <p:nvPr/>
        </p:nvSpPr>
        <p:spPr>
          <a:xfrm>
            <a:off x="284832" y="764704"/>
            <a:ext cx="6096000" cy="4524315"/>
          </a:xfrm>
          <a:prstGeom prst="rect">
            <a:avLst/>
          </a:prstGeom>
        </p:spPr>
        <p:txBody>
          <a:bodyPr>
            <a:spAutoFit/>
          </a:bodyPr>
          <a:lstStyle/>
          <a:p>
            <a:r>
              <a:rPr lang="en-US" altLang="zh-CN" dirty="0"/>
              <a:t>import pandas as </a:t>
            </a:r>
            <a:r>
              <a:rPr lang="en-US" altLang="zh-CN" dirty="0" err="1"/>
              <a:t>pd</a:t>
            </a:r>
            <a:r>
              <a:rPr lang="en-US" altLang="zh-CN" dirty="0"/>
              <a:t>    </a:t>
            </a:r>
            <a:endParaRPr lang="zh-CN" altLang="zh-CN" dirty="0"/>
          </a:p>
          <a:p>
            <a:r>
              <a:rPr lang="en-US" altLang="zh-CN" dirty="0"/>
              <a:t>import fun</a:t>
            </a:r>
            <a:endParaRPr lang="zh-CN" altLang="zh-CN" dirty="0"/>
          </a:p>
          <a:p>
            <a:r>
              <a:rPr lang="en-US" altLang="zh-CN" dirty="0"/>
              <a:t>import </a:t>
            </a:r>
            <a:r>
              <a:rPr lang="en-US" altLang="zh-CN" dirty="0" err="1"/>
              <a:t>Re_comput</a:t>
            </a:r>
            <a:endParaRPr lang="zh-CN" altLang="zh-CN" dirty="0"/>
          </a:p>
          <a:p>
            <a:r>
              <a:rPr lang="en-US" altLang="zh-CN" dirty="0"/>
              <a:t>#</a:t>
            </a:r>
            <a:r>
              <a:rPr lang="zh-CN" altLang="zh-CN" dirty="0"/>
              <a:t>第</a:t>
            </a:r>
            <a:r>
              <a:rPr lang="en-US" altLang="zh-CN" dirty="0"/>
              <a:t>7</a:t>
            </a:r>
            <a:r>
              <a:rPr lang="zh-CN" altLang="zh-CN" dirty="0"/>
              <a:t>章中基于总体规模与投资效率指标的综合评价方法，获得排名前</a:t>
            </a:r>
            <a:r>
              <a:rPr lang="en-US" altLang="zh-CN" dirty="0"/>
              <a:t>20</a:t>
            </a:r>
            <a:r>
              <a:rPr lang="zh-CN" altLang="zh-CN" dirty="0"/>
              <a:t>的股票</a:t>
            </a:r>
          </a:p>
          <a:p>
            <a:r>
              <a:rPr lang="en-US" altLang="zh-CN" dirty="0"/>
              <a:t>#</a:t>
            </a:r>
            <a:r>
              <a:rPr lang="zh-CN" altLang="zh-CN" dirty="0"/>
              <a:t>并构建投资组合</a:t>
            </a:r>
          </a:p>
          <a:p>
            <a:r>
              <a:rPr lang="en-US" altLang="zh-CN" dirty="0" err="1"/>
              <a:t>dt</a:t>
            </a:r>
            <a:r>
              <a:rPr lang="en-US" altLang="zh-CN" dirty="0"/>
              <a:t>=</a:t>
            </a:r>
            <a:r>
              <a:rPr lang="en-US" altLang="zh-CN" dirty="0" err="1"/>
              <a:t>pd.read_excel</a:t>
            </a:r>
            <a:r>
              <a:rPr lang="en-US" altLang="zh-CN" dirty="0"/>
              <a:t>('ddata.xlsx')  </a:t>
            </a:r>
            <a:endParaRPr lang="zh-CN" altLang="zh-CN" dirty="0"/>
          </a:p>
          <a:p>
            <a:r>
              <a:rPr lang="en-US" altLang="zh-CN" dirty="0"/>
              <a:t>r=</a:t>
            </a:r>
            <a:r>
              <a:rPr lang="en-US" altLang="zh-CN" dirty="0" err="1"/>
              <a:t>fun.Fr</a:t>
            </a:r>
            <a:r>
              <a:rPr lang="en-US" altLang="zh-CN" dirty="0"/>
              <a:t>(dt,'2016')</a:t>
            </a:r>
            <a:endParaRPr lang="zh-CN" altLang="zh-CN" dirty="0"/>
          </a:p>
          <a:p>
            <a:r>
              <a:rPr lang="en-US" altLang="zh-CN" dirty="0"/>
              <a:t>c=r[0]</a:t>
            </a:r>
            <a:endParaRPr lang="zh-CN" altLang="zh-CN" dirty="0"/>
          </a:p>
          <a:p>
            <a:r>
              <a:rPr lang="en-US" altLang="zh-CN" dirty="0"/>
              <a:t>code=list(</a:t>
            </a:r>
            <a:r>
              <a:rPr lang="en-US" altLang="zh-CN" dirty="0" err="1"/>
              <a:t>c.index</a:t>
            </a:r>
            <a:r>
              <a:rPr lang="en-US" altLang="zh-CN" dirty="0"/>
              <a:t>[0:20])  </a:t>
            </a:r>
            <a:endParaRPr lang="zh-CN" altLang="zh-CN" dirty="0"/>
          </a:p>
          <a:p>
            <a:r>
              <a:rPr lang="en-US" altLang="zh-CN" dirty="0"/>
              <a:t>DA=</a:t>
            </a:r>
            <a:r>
              <a:rPr lang="en-US" altLang="zh-CN" dirty="0" err="1"/>
              <a:t>pd.read_excel</a:t>
            </a:r>
            <a:r>
              <a:rPr lang="en-US" altLang="zh-CN" dirty="0"/>
              <a:t>('DA.xlsx')   #2017</a:t>
            </a:r>
            <a:r>
              <a:rPr lang="zh-CN" altLang="zh-CN" dirty="0"/>
              <a:t>年所有上市股票交易数据</a:t>
            </a:r>
          </a:p>
          <a:p>
            <a:r>
              <a:rPr lang="en-US" altLang="zh-CN" dirty="0"/>
              <a:t>#</a:t>
            </a:r>
            <a:r>
              <a:rPr lang="zh-CN" altLang="zh-CN" dirty="0"/>
              <a:t>预定义股票代码列表和每个模型的预测准确率、模型准确率和收益率列表</a:t>
            </a:r>
          </a:p>
          <a:p>
            <a:r>
              <a:rPr lang="en-US" altLang="zh-CN" dirty="0"/>
              <a:t>#</a:t>
            </a:r>
            <a:r>
              <a:rPr lang="zh-CN" altLang="zh-CN" dirty="0"/>
              <a:t>模型依次为逻辑回归模型、神经网络模型和支持向量机模型</a:t>
            </a:r>
          </a:p>
        </p:txBody>
      </p:sp>
      <p:sp>
        <p:nvSpPr>
          <p:cNvPr id="4" name="矩形 3"/>
          <p:cNvSpPr/>
          <p:nvPr/>
        </p:nvSpPr>
        <p:spPr>
          <a:xfrm>
            <a:off x="7430529" y="1397675"/>
            <a:ext cx="2520280" cy="2031325"/>
          </a:xfrm>
          <a:prstGeom prst="rect">
            <a:avLst/>
          </a:prstGeom>
        </p:spPr>
        <p:txBody>
          <a:bodyPr wrap="square">
            <a:spAutoFit/>
          </a:bodyPr>
          <a:lstStyle/>
          <a:p>
            <a:pPr algn="just">
              <a:spcAft>
                <a:spcPts val="0"/>
              </a:spcAft>
            </a:pPr>
            <a:r>
              <a:rPr lang="en-US" altLang="zh-CN" kern="100" dirty="0">
                <a:latin typeface="Calibri"/>
                <a:ea typeface="宋体"/>
                <a:cs typeface="Times New Roman"/>
              </a:rPr>
              <a:t>list_02=[]</a:t>
            </a:r>
            <a:endParaRPr lang="zh-CN" altLang="zh-CN" kern="100" dirty="0">
              <a:latin typeface="Calibri"/>
              <a:ea typeface="宋体"/>
              <a:cs typeface="Times New Roman"/>
            </a:endParaRPr>
          </a:p>
          <a:p>
            <a:pPr algn="just">
              <a:spcAft>
                <a:spcPts val="0"/>
              </a:spcAft>
            </a:pPr>
            <a:r>
              <a:rPr lang="en-US" altLang="zh-CN" kern="100" dirty="0">
                <a:latin typeface="Calibri"/>
                <a:ea typeface="宋体"/>
                <a:cs typeface="Times New Roman"/>
              </a:rPr>
              <a:t>list_10</a:t>
            </a:r>
            <a:r>
              <a:rPr lang="en-US" altLang="zh-CN" kern="100" dirty="0" smtClean="0">
                <a:latin typeface="Calibri"/>
                <a:ea typeface="宋体"/>
                <a:cs typeface="Times New Roman"/>
              </a:rPr>
              <a:t>=[]</a:t>
            </a:r>
          </a:p>
          <a:p>
            <a:pPr algn="just">
              <a:spcAft>
                <a:spcPts val="0"/>
              </a:spcAft>
            </a:pPr>
            <a:r>
              <a:rPr lang="en-US" altLang="zh-CN" kern="100" dirty="0" smtClean="0">
                <a:latin typeface="Calibri"/>
                <a:ea typeface="宋体"/>
                <a:cs typeface="Times New Roman"/>
              </a:rPr>
              <a:t>list_11</a:t>
            </a:r>
            <a:r>
              <a:rPr lang="en-US" altLang="zh-CN" kern="100" dirty="0">
                <a:latin typeface="Calibri"/>
                <a:ea typeface="宋体"/>
                <a:cs typeface="Times New Roman"/>
              </a:rPr>
              <a:t>=[]</a:t>
            </a:r>
            <a:endParaRPr lang="zh-CN" altLang="zh-CN" kern="100" dirty="0">
              <a:latin typeface="Calibri"/>
              <a:ea typeface="宋体"/>
              <a:cs typeface="Times New Roman"/>
            </a:endParaRPr>
          </a:p>
          <a:p>
            <a:pPr algn="just">
              <a:spcAft>
                <a:spcPts val="0"/>
              </a:spcAft>
            </a:pPr>
            <a:r>
              <a:rPr lang="en-US" altLang="zh-CN" kern="100" dirty="0" smtClean="0">
                <a:latin typeface="Calibri"/>
                <a:ea typeface="宋体"/>
                <a:cs typeface="Times New Roman"/>
              </a:rPr>
              <a:t>list_12</a:t>
            </a:r>
            <a:r>
              <a:rPr lang="en-US" altLang="zh-CN" kern="100" dirty="0">
                <a:latin typeface="Calibri"/>
                <a:ea typeface="宋体"/>
                <a:cs typeface="Times New Roman"/>
              </a:rPr>
              <a:t>=[]</a:t>
            </a:r>
            <a:endParaRPr lang="zh-CN" altLang="zh-CN" kern="100" dirty="0">
              <a:latin typeface="Calibri"/>
              <a:ea typeface="宋体"/>
              <a:cs typeface="Times New Roman"/>
            </a:endParaRPr>
          </a:p>
          <a:p>
            <a:pPr algn="just">
              <a:spcAft>
                <a:spcPts val="0"/>
              </a:spcAft>
            </a:pPr>
            <a:r>
              <a:rPr lang="en-US" altLang="zh-CN" kern="100" dirty="0">
                <a:latin typeface="Calibri"/>
                <a:ea typeface="宋体"/>
                <a:cs typeface="Times New Roman"/>
              </a:rPr>
              <a:t>list_20=[]</a:t>
            </a:r>
            <a:endParaRPr lang="zh-CN" altLang="zh-CN" kern="100" dirty="0">
              <a:latin typeface="Calibri"/>
              <a:ea typeface="宋体"/>
              <a:cs typeface="Times New Roman"/>
            </a:endParaRPr>
          </a:p>
          <a:p>
            <a:pPr algn="just">
              <a:spcAft>
                <a:spcPts val="0"/>
              </a:spcAft>
            </a:pPr>
            <a:r>
              <a:rPr lang="en-US" altLang="zh-CN" kern="100" dirty="0">
                <a:latin typeface="Calibri"/>
                <a:ea typeface="宋体"/>
                <a:cs typeface="Times New Roman"/>
              </a:rPr>
              <a:t>list_21=[]</a:t>
            </a:r>
            <a:endParaRPr lang="zh-CN" altLang="zh-CN" kern="100" dirty="0">
              <a:latin typeface="Calibri"/>
              <a:ea typeface="宋体"/>
              <a:cs typeface="Times New Roman"/>
            </a:endParaRPr>
          </a:p>
          <a:p>
            <a:pPr algn="just">
              <a:spcAft>
                <a:spcPts val="0"/>
              </a:spcAft>
            </a:pPr>
            <a:r>
              <a:rPr lang="en-US" altLang="zh-CN" kern="100" dirty="0">
                <a:latin typeface="Calibri"/>
                <a:ea typeface="宋体"/>
                <a:cs typeface="Times New Roman"/>
              </a:rPr>
              <a:t>list_22=[]</a:t>
            </a:r>
            <a:endParaRPr lang="zh-CN" altLang="zh-CN" kern="100" dirty="0">
              <a:effectLst/>
              <a:latin typeface="Calibri"/>
              <a:ea typeface="宋体"/>
              <a:cs typeface="Times New Roman"/>
            </a:endParaRPr>
          </a:p>
        </p:txBody>
      </p:sp>
      <p:sp>
        <p:nvSpPr>
          <p:cNvPr id="5" name="矩形 4"/>
          <p:cNvSpPr/>
          <p:nvPr/>
        </p:nvSpPr>
        <p:spPr>
          <a:xfrm>
            <a:off x="691592" y="5517232"/>
            <a:ext cx="6096000" cy="923330"/>
          </a:xfrm>
          <a:prstGeom prst="rect">
            <a:avLst/>
          </a:prstGeom>
        </p:spPr>
        <p:txBody>
          <a:bodyPr>
            <a:spAutoFit/>
          </a:bodyPr>
          <a:lstStyle/>
          <a:p>
            <a:pPr algn="just">
              <a:spcAft>
                <a:spcPts val="0"/>
              </a:spcAft>
            </a:pPr>
            <a:r>
              <a:rPr lang="en-US" altLang="zh-CN" kern="100" dirty="0" err="1" smtClean="0">
                <a:latin typeface="Calibri"/>
                <a:ea typeface="宋体"/>
                <a:cs typeface="Times New Roman"/>
              </a:rPr>
              <a:t>list_code</a:t>
            </a:r>
            <a:r>
              <a:rPr lang="en-US" altLang="zh-CN" kern="100" dirty="0">
                <a:latin typeface="Calibri"/>
                <a:ea typeface="宋体"/>
                <a:cs typeface="Times New Roman"/>
              </a:rPr>
              <a:t>=[]</a:t>
            </a:r>
            <a:endParaRPr lang="zh-CN" altLang="zh-CN" kern="100" dirty="0">
              <a:latin typeface="Calibri"/>
              <a:ea typeface="宋体"/>
              <a:cs typeface="Times New Roman"/>
            </a:endParaRPr>
          </a:p>
          <a:p>
            <a:pPr algn="just">
              <a:spcAft>
                <a:spcPts val="0"/>
              </a:spcAft>
            </a:pPr>
            <a:r>
              <a:rPr lang="en-US" altLang="zh-CN" kern="100" dirty="0">
                <a:latin typeface="Calibri"/>
                <a:ea typeface="宋体"/>
                <a:cs typeface="Times New Roman"/>
              </a:rPr>
              <a:t>list_00=[]</a:t>
            </a:r>
            <a:endParaRPr lang="zh-CN" altLang="zh-CN" kern="100" dirty="0">
              <a:latin typeface="Calibri"/>
              <a:ea typeface="宋体"/>
              <a:cs typeface="Times New Roman"/>
            </a:endParaRPr>
          </a:p>
          <a:p>
            <a:pPr algn="just">
              <a:spcAft>
                <a:spcPts val="0"/>
              </a:spcAft>
            </a:pPr>
            <a:r>
              <a:rPr lang="en-US" altLang="zh-CN" kern="100" dirty="0">
                <a:latin typeface="Calibri"/>
                <a:ea typeface="宋体"/>
                <a:cs typeface="Times New Roman"/>
              </a:rPr>
              <a:t>list_01</a:t>
            </a:r>
            <a:r>
              <a:rPr lang="en-US" altLang="zh-CN" kern="100" dirty="0" smtClean="0">
                <a:latin typeface="Calibri"/>
                <a:ea typeface="宋体"/>
                <a:cs typeface="Times New Roman"/>
              </a:rPr>
              <a:t>=[]</a:t>
            </a:r>
            <a:endParaRPr lang="zh-CN" altLang="zh-CN" kern="100" dirty="0">
              <a:latin typeface="Calibri"/>
              <a:ea typeface="宋体"/>
              <a:cs typeface="Times New Roman"/>
            </a:endParaRPr>
          </a:p>
        </p:txBody>
      </p:sp>
      <p:sp>
        <p:nvSpPr>
          <p:cNvPr id="7" name="矩形 6"/>
          <p:cNvSpPr/>
          <p:nvPr/>
        </p:nvSpPr>
        <p:spPr>
          <a:xfrm>
            <a:off x="7432488" y="3429000"/>
            <a:ext cx="4392488" cy="3139321"/>
          </a:xfrm>
          <a:prstGeom prst="rect">
            <a:avLst/>
          </a:prstGeom>
        </p:spPr>
        <p:txBody>
          <a:bodyPr wrap="square">
            <a:spAutoFit/>
          </a:bodyPr>
          <a:lstStyle/>
          <a:p>
            <a:pPr algn="just">
              <a:spcAft>
                <a:spcPts val="0"/>
              </a:spcAft>
            </a:pPr>
            <a:endParaRPr lang="en-US" altLang="zh-CN" kern="100" dirty="0" smtClean="0">
              <a:latin typeface="Calibri"/>
              <a:ea typeface="宋体"/>
              <a:cs typeface="Times New Roman"/>
            </a:endParaRPr>
          </a:p>
          <a:p>
            <a:pPr algn="just">
              <a:spcAft>
                <a:spcPts val="0"/>
              </a:spcAft>
            </a:pPr>
            <a:r>
              <a:rPr lang="en-US" altLang="zh-CN" kern="100" dirty="0" smtClean="0">
                <a:latin typeface="Calibri"/>
                <a:ea typeface="宋体"/>
                <a:cs typeface="Times New Roman"/>
              </a:rPr>
              <a:t>for </a:t>
            </a:r>
            <a:r>
              <a:rPr lang="en-US" altLang="zh-CN" kern="100" dirty="0">
                <a:latin typeface="Calibri"/>
                <a:ea typeface="宋体"/>
                <a:cs typeface="Times New Roman"/>
              </a:rPr>
              <a:t>i in range(</a:t>
            </a:r>
            <a:r>
              <a:rPr lang="en-US" altLang="zh-CN" kern="100" dirty="0" err="1">
                <a:latin typeface="Calibri"/>
                <a:ea typeface="宋体"/>
                <a:cs typeface="Times New Roman"/>
              </a:rPr>
              <a:t>len</a:t>
            </a:r>
            <a:r>
              <a:rPr lang="en-US" altLang="zh-CN" kern="100" dirty="0">
                <a:latin typeface="Calibri"/>
                <a:ea typeface="宋体"/>
                <a:cs typeface="Times New Roman"/>
              </a:rPr>
              <a:t>(code)):</a:t>
            </a:r>
            <a:endParaRPr lang="zh-CN" altLang="zh-CN" kern="100" dirty="0">
              <a:latin typeface="Calibri"/>
              <a:ea typeface="宋体"/>
              <a:cs typeface="Times New Roman"/>
            </a:endParaRPr>
          </a:p>
          <a:p>
            <a:pPr algn="just">
              <a:spcAft>
                <a:spcPts val="0"/>
              </a:spcAft>
            </a:pPr>
            <a:r>
              <a:rPr lang="en-US" altLang="zh-CN" kern="100" dirty="0">
                <a:latin typeface="Calibri"/>
                <a:ea typeface="宋体"/>
                <a:cs typeface="Times New Roman"/>
              </a:rPr>
              <a:t>   data=</a:t>
            </a:r>
            <a:r>
              <a:rPr lang="en-US" altLang="zh-CN" kern="100" dirty="0" err="1">
                <a:latin typeface="Calibri"/>
                <a:ea typeface="宋体"/>
                <a:cs typeface="Times New Roman"/>
              </a:rPr>
              <a:t>DA.iloc</a:t>
            </a:r>
            <a:r>
              <a:rPr lang="en-US" altLang="zh-CN" kern="100" dirty="0">
                <a:latin typeface="Calibri"/>
                <a:ea typeface="宋体"/>
                <a:cs typeface="Times New Roman"/>
              </a:rPr>
              <a:t>[</a:t>
            </a:r>
            <a:r>
              <a:rPr lang="en-US" altLang="zh-CN" kern="100" dirty="0" err="1">
                <a:latin typeface="Calibri"/>
                <a:ea typeface="宋体"/>
                <a:cs typeface="Times New Roman"/>
              </a:rPr>
              <a:t>DA.iloc</a:t>
            </a:r>
            <a:r>
              <a:rPr lang="en-US" altLang="zh-CN" kern="100" dirty="0">
                <a:latin typeface="Calibri"/>
                <a:ea typeface="宋体"/>
                <a:cs typeface="Times New Roman"/>
              </a:rPr>
              <a:t>[:,0].values==code[i],:]</a:t>
            </a:r>
            <a:endParaRPr lang="zh-CN" altLang="zh-CN" kern="100" dirty="0">
              <a:latin typeface="Calibri"/>
              <a:ea typeface="宋体"/>
              <a:cs typeface="Times New Roman"/>
            </a:endParaRPr>
          </a:p>
          <a:p>
            <a:pPr algn="just">
              <a:spcAft>
                <a:spcPts val="0"/>
              </a:spcAft>
            </a:pPr>
            <a:r>
              <a:rPr lang="en-US" altLang="zh-CN" kern="100" dirty="0">
                <a:latin typeface="Calibri"/>
                <a:ea typeface="宋体"/>
                <a:cs typeface="Times New Roman"/>
              </a:rPr>
              <a:t>   if </a:t>
            </a:r>
            <a:r>
              <a:rPr lang="en-US" altLang="zh-CN" kern="100" dirty="0" err="1">
                <a:latin typeface="Calibri"/>
                <a:ea typeface="宋体"/>
                <a:cs typeface="Times New Roman"/>
              </a:rPr>
              <a:t>len</a:t>
            </a:r>
            <a:r>
              <a:rPr lang="en-US" altLang="zh-CN" kern="100" dirty="0">
                <a:latin typeface="Calibri"/>
                <a:ea typeface="宋体"/>
                <a:cs typeface="Times New Roman"/>
              </a:rPr>
              <a:t>(data)&gt;1:</a:t>
            </a:r>
            <a:endParaRPr lang="zh-CN" altLang="zh-CN" kern="100" dirty="0">
              <a:latin typeface="Calibri"/>
              <a:ea typeface="宋体"/>
              <a:cs typeface="Times New Roman"/>
            </a:endParaRPr>
          </a:p>
          <a:p>
            <a:pPr algn="just">
              <a:spcAft>
                <a:spcPts val="0"/>
              </a:spcAft>
            </a:pPr>
            <a:r>
              <a:rPr lang="en-US" altLang="zh-CN" kern="100" dirty="0">
                <a:latin typeface="Calibri"/>
                <a:ea typeface="宋体"/>
                <a:cs typeface="Times New Roman"/>
              </a:rPr>
              <a:t>       </a:t>
            </a:r>
            <a:r>
              <a:rPr lang="en-US" altLang="zh-CN" kern="100" dirty="0" err="1">
                <a:latin typeface="Calibri"/>
                <a:ea typeface="宋体"/>
                <a:cs typeface="Times New Roman"/>
              </a:rPr>
              <a:t>list_code.append</a:t>
            </a:r>
            <a:r>
              <a:rPr lang="en-US" altLang="zh-CN" kern="100" dirty="0">
                <a:latin typeface="Calibri"/>
                <a:ea typeface="宋体"/>
                <a:cs typeface="Times New Roman"/>
              </a:rPr>
              <a:t>(code[i])</a:t>
            </a:r>
            <a:endParaRPr lang="zh-CN" altLang="zh-CN" kern="100" dirty="0">
              <a:latin typeface="Calibri"/>
              <a:ea typeface="宋体"/>
              <a:cs typeface="Times New Roman"/>
            </a:endParaRPr>
          </a:p>
          <a:p>
            <a:pPr algn="just">
              <a:spcAft>
                <a:spcPts val="0"/>
              </a:spcAft>
            </a:pPr>
            <a:r>
              <a:rPr lang="en-US" altLang="zh-CN" kern="100" dirty="0">
                <a:latin typeface="Calibri"/>
                <a:ea typeface="宋体"/>
                <a:cs typeface="Times New Roman"/>
              </a:rPr>
              <a:t>       z0=</a:t>
            </a:r>
            <a:r>
              <a:rPr lang="en-US" altLang="zh-CN" kern="100" dirty="0" err="1">
                <a:latin typeface="Calibri"/>
                <a:ea typeface="宋体"/>
                <a:cs typeface="Times New Roman"/>
              </a:rPr>
              <a:t>Re_comput.Re</a:t>
            </a:r>
            <a:r>
              <a:rPr lang="en-US" altLang="zh-CN" kern="100" dirty="0">
                <a:latin typeface="Calibri"/>
                <a:ea typeface="宋体"/>
                <a:cs typeface="Times New Roman"/>
              </a:rPr>
              <a:t>(data,0)</a:t>
            </a:r>
            <a:endParaRPr lang="zh-CN" altLang="zh-CN" kern="100" dirty="0">
              <a:latin typeface="Calibri"/>
              <a:ea typeface="宋体"/>
              <a:cs typeface="Times New Roman"/>
            </a:endParaRPr>
          </a:p>
          <a:p>
            <a:pPr algn="just">
              <a:spcAft>
                <a:spcPts val="0"/>
              </a:spcAft>
            </a:pPr>
            <a:r>
              <a:rPr lang="en-US" altLang="zh-CN" kern="100" dirty="0">
                <a:latin typeface="Calibri"/>
                <a:ea typeface="宋体"/>
                <a:cs typeface="Times New Roman"/>
              </a:rPr>
              <a:t>       z1=</a:t>
            </a:r>
            <a:r>
              <a:rPr lang="en-US" altLang="zh-CN" kern="100" dirty="0" err="1">
                <a:latin typeface="Calibri"/>
                <a:ea typeface="宋体"/>
                <a:cs typeface="Times New Roman"/>
              </a:rPr>
              <a:t>Re_comput.Re</a:t>
            </a:r>
            <a:r>
              <a:rPr lang="en-US" altLang="zh-CN" kern="100" dirty="0">
                <a:latin typeface="Calibri"/>
                <a:ea typeface="宋体"/>
                <a:cs typeface="Times New Roman"/>
              </a:rPr>
              <a:t>(data,1)</a:t>
            </a:r>
            <a:endParaRPr lang="zh-CN" altLang="zh-CN" kern="100" dirty="0">
              <a:latin typeface="Calibri"/>
              <a:ea typeface="宋体"/>
              <a:cs typeface="Times New Roman"/>
            </a:endParaRPr>
          </a:p>
          <a:p>
            <a:pPr algn="just">
              <a:spcAft>
                <a:spcPts val="0"/>
              </a:spcAft>
            </a:pPr>
            <a:r>
              <a:rPr lang="en-US" altLang="zh-CN" kern="100" dirty="0">
                <a:latin typeface="Calibri"/>
                <a:ea typeface="宋体"/>
                <a:cs typeface="Times New Roman"/>
              </a:rPr>
              <a:t>       z2=</a:t>
            </a:r>
            <a:r>
              <a:rPr lang="en-US" altLang="zh-CN" kern="100" dirty="0" err="1">
                <a:latin typeface="Calibri"/>
                <a:ea typeface="宋体"/>
                <a:cs typeface="Times New Roman"/>
              </a:rPr>
              <a:t>Re_comput.Re</a:t>
            </a:r>
            <a:r>
              <a:rPr lang="en-US" altLang="zh-CN" kern="100" dirty="0">
                <a:latin typeface="Calibri"/>
                <a:ea typeface="宋体"/>
                <a:cs typeface="Times New Roman"/>
              </a:rPr>
              <a:t>(data,2)</a:t>
            </a:r>
            <a:endParaRPr lang="zh-CN" altLang="zh-CN" kern="100" dirty="0">
              <a:latin typeface="Calibri"/>
              <a:ea typeface="宋体"/>
              <a:cs typeface="Times New Roman"/>
            </a:endParaRPr>
          </a:p>
          <a:p>
            <a:pPr algn="just">
              <a:spcAft>
                <a:spcPts val="0"/>
              </a:spcAft>
            </a:pPr>
            <a:r>
              <a:rPr lang="en-US" altLang="zh-CN" kern="100" dirty="0">
                <a:latin typeface="Calibri"/>
                <a:ea typeface="宋体"/>
                <a:cs typeface="Times New Roman"/>
              </a:rPr>
              <a:t>       list_00.append(z0[0])</a:t>
            </a:r>
            <a:endParaRPr lang="zh-CN" altLang="zh-CN" kern="100" dirty="0">
              <a:latin typeface="Calibri"/>
              <a:ea typeface="宋体"/>
              <a:cs typeface="Times New Roman"/>
            </a:endParaRPr>
          </a:p>
          <a:p>
            <a:pPr algn="just">
              <a:spcAft>
                <a:spcPts val="0"/>
              </a:spcAft>
            </a:pPr>
            <a:r>
              <a:rPr lang="en-US" altLang="zh-CN" kern="100" dirty="0">
                <a:latin typeface="Calibri"/>
                <a:ea typeface="宋体"/>
                <a:cs typeface="Times New Roman"/>
              </a:rPr>
              <a:t>       list_01.append(z0[2])</a:t>
            </a:r>
            <a:endParaRPr lang="zh-CN" altLang="zh-CN" kern="100" dirty="0">
              <a:latin typeface="Calibri"/>
              <a:ea typeface="宋体"/>
              <a:cs typeface="Times New Roman"/>
            </a:endParaRPr>
          </a:p>
          <a:p>
            <a:pPr algn="just">
              <a:spcAft>
                <a:spcPts val="0"/>
              </a:spcAft>
            </a:pPr>
            <a:r>
              <a:rPr lang="en-US" altLang="zh-CN" kern="100" dirty="0">
                <a:latin typeface="Calibri"/>
                <a:ea typeface="宋体"/>
                <a:cs typeface="Times New Roman"/>
              </a:rPr>
              <a:t>       list_02.append(z0[3])</a:t>
            </a:r>
            <a:endParaRPr lang="zh-CN" altLang="zh-CN" kern="100" dirty="0">
              <a:effectLst/>
              <a:latin typeface="Calibri"/>
              <a:ea typeface="宋体"/>
              <a:cs typeface="Times New Roman"/>
            </a:endParaRPr>
          </a:p>
        </p:txBody>
      </p:sp>
    </p:spTree>
    <p:extLst>
      <p:ext uri="{BB962C8B-B14F-4D97-AF65-F5344CB8AC3E}">
        <p14:creationId xmlns:p14="http://schemas.microsoft.com/office/powerpoint/2010/main" val="1977541199"/>
      </p:ext>
    </p:extLst>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 </a:t>
            </a:r>
            <a:r>
              <a:rPr lang="en-US" altLang="zh-CN" sz="2000" dirty="0" smtClean="0">
                <a:solidFill>
                  <a:schemeClr val="accent2"/>
                </a:solidFill>
              </a:rPr>
              <a:t>9</a:t>
            </a:r>
            <a:r>
              <a:rPr lang="en-US" altLang="zh-CN" dirty="0" smtClean="0">
                <a:solidFill>
                  <a:schemeClr val="accent2"/>
                </a:solidFill>
              </a:rPr>
              <a:t> </a:t>
            </a:r>
            <a:endParaRPr lang="zh-CN" altLang="en-US" dirty="0">
              <a:solidFill>
                <a:schemeClr val="accent2"/>
              </a:solidFill>
            </a:endParaRPr>
          </a:p>
        </p:txBody>
      </p:sp>
      <p:sp>
        <p:nvSpPr>
          <p:cNvPr id="9" name="燕尾形 8"/>
          <p:cNvSpPr/>
          <p:nvPr/>
        </p:nvSpPr>
        <p:spPr bwMode="auto">
          <a:xfrm>
            <a:off x="6353299" y="63783"/>
            <a:ext cx="321146" cy="442499"/>
          </a:xfrm>
          <a:prstGeom prst="chevron">
            <a:avLst/>
          </a:prstGeom>
          <a:solidFill>
            <a:schemeClr val="accent2"/>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spcBef>
                <a:spcPct val="0"/>
              </a:spcBef>
              <a:spcAft>
                <a:spcPct val="0"/>
              </a:spcAft>
              <a:buClrTx/>
              <a:buSzTx/>
              <a:buFont typeface="Arial" pitchFamily="34" charset="0"/>
              <a:buNone/>
            </a:pPr>
            <a:endParaRPr kumimoji="0" lang="zh-CN" altLang="en-US" sz="1800" b="0" i="0" u="none" strike="noStrike" cap="none" normalizeH="0" baseline="0" smtClean="0">
              <a:ln>
                <a:noFill/>
              </a:ln>
              <a:solidFill>
                <a:schemeClr val="tx1"/>
              </a:solidFill>
              <a:effectLst/>
              <a:latin typeface="Arial" pitchFamily="34" charset="0"/>
              <a:ea typeface="宋体" pitchFamily="2" charset="-122"/>
            </a:endParaRPr>
          </a:p>
        </p:txBody>
      </p:sp>
      <p:sp>
        <p:nvSpPr>
          <p:cNvPr id="6" name="TextBox 5"/>
          <p:cNvSpPr txBox="1"/>
          <p:nvPr/>
        </p:nvSpPr>
        <p:spPr>
          <a:xfrm>
            <a:off x="7034485" y="121564"/>
            <a:ext cx="3312368" cy="954107"/>
          </a:xfrm>
          <a:prstGeom prst="rect">
            <a:avLst/>
          </a:prstGeom>
          <a:noFill/>
        </p:spPr>
        <p:txBody>
          <a:bodyPr wrap="square" rtlCol="0">
            <a:spAutoFit/>
          </a:bodyPr>
          <a:lstStyle/>
          <a:p>
            <a:pPr lvl="0"/>
            <a:r>
              <a:rPr lang="en-US" altLang="zh-CN" sz="2800" dirty="0" smtClean="0">
                <a:solidFill>
                  <a:srgbClr val="FFFFFF"/>
                </a:solidFill>
                <a:latin typeface="微软雅黑"/>
                <a:ea typeface="微软雅黑"/>
              </a:rPr>
              <a:t>9.6.2 </a:t>
            </a:r>
            <a:r>
              <a:rPr lang="zh-CN" altLang="en-US" sz="2800" dirty="0">
                <a:solidFill>
                  <a:srgbClr val="FFFFFF"/>
                </a:solidFill>
                <a:latin typeface="微软雅黑"/>
                <a:ea typeface="微软雅黑"/>
              </a:rPr>
              <a:t>量化</a:t>
            </a:r>
            <a:r>
              <a:rPr lang="zh-CN" altLang="en-US" sz="2800" dirty="0" smtClean="0">
                <a:solidFill>
                  <a:srgbClr val="FFFFFF"/>
                </a:solidFill>
                <a:latin typeface="微软雅黑"/>
                <a:ea typeface="微软雅黑"/>
              </a:rPr>
              <a:t>投资策略设计</a:t>
            </a:r>
            <a:endParaRPr lang="zh-CN" altLang="en-US" sz="2800" dirty="0">
              <a:solidFill>
                <a:srgbClr val="FFFFFF"/>
              </a:solidFill>
              <a:latin typeface="微软雅黑"/>
              <a:ea typeface="微软雅黑"/>
            </a:endParaRPr>
          </a:p>
        </p:txBody>
      </p:sp>
      <p:sp>
        <p:nvSpPr>
          <p:cNvPr id="14" name="TextBox 13"/>
          <p:cNvSpPr txBox="1"/>
          <p:nvPr/>
        </p:nvSpPr>
        <p:spPr>
          <a:xfrm>
            <a:off x="1330766" y="44625"/>
            <a:ext cx="5042228"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smtClean="0">
                <a:solidFill>
                  <a:schemeClr val="accent2"/>
                </a:solidFill>
                <a:latin typeface="微软雅黑"/>
                <a:ea typeface="微软雅黑"/>
              </a:rPr>
              <a:t>9.6</a:t>
            </a:r>
            <a:r>
              <a:rPr lang="en-US" altLang="zh-CN" sz="2800" dirty="0">
                <a:solidFill>
                  <a:schemeClr val="accent2"/>
                </a:solidFill>
                <a:latin typeface="微软雅黑"/>
                <a:ea typeface="微软雅黑"/>
              </a:rPr>
              <a:t> </a:t>
            </a:r>
            <a:r>
              <a:rPr lang="zh-CN" altLang="en-US" sz="2800" dirty="0" smtClean="0">
                <a:solidFill>
                  <a:schemeClr val="accent2"/>
                </a:solidFill>
                <a:latin typeface="微软雅黑"/>
                <a:ea typeface="微软雅黑"/>
              </a:rPr>
              <a:t>量化投资策略设计与分析</a:t>
            </a:r>
            <a:endParaRPr lang="zh-CN" altLang="en-US" sz="2800" dirty="0">
              <a:solidFill>
                <a:schemeClr val="accent2"/>
              </a:solidFill>
              <a:latin typeface="微软雅黑"/>
              <a:ea typeface="微软雅黑"/>
            </a:endParaRPr>
          </a:p>
        </p:txBody>
      </p:sp>
      <p:sp>
        <p:nvSpPr>
          <p:cNvPr id="3" name="矩形 2"/>
          <p:cNvSpPr/>
          <p:nvPr/>
        </p:nvSpPr>
        <p:spPr>
          <a:xfrm>
            <a:off x="268387" y="2204864"/>
            <a:ext cx="6096000" cy="2308324"/>
          </a:xfrm>
          <a:prstGeom prst="rect">
            <a:avLst/>
          </a:prstGeom>
        </p:spPr>
        <p:txBody>
          <a:bodyPr>
            <a:spAutoFit/>
          </a:bodyPr>
          <a:lstStyle/>
          <a:p>
            <a:pPr algn="just">
              <a:spcAft>
                <a:spcPts val="0"/>
              </a:spcAft>
            </a:pPr>
            <a:r>
              <a:rPr lang="en-US" altLang="zh-CN" kern="100" dirty="0">
                <a:latin typeface="Calibri"/>
                <a:ea typeface="宋体"/>
                <a:cs typeface="Times New Roman"/>
              </a:rPr>
              <a:t> list_21.append(z2[2])</a:t>
            </a:r>
            <a:r>
              <a:rPr lang="en-US" altLang="zh-CN" kern="100" dirty="0" smtClean="0">
                <a:latin typeface="Calibri"/>
                <a:ea typeface="宋体"/>
                <a:cs typeface="Times New Roman"/>
              </a:rPr>
              <a:t> </a:t>
            </a:r>
          </a:p>
          <a:p>
            <a:pPr algn="just">
              <a:spcAft>
                <a:spcPts val="0"/>
              </a:spcAft>
            </a:pPr>
            <a:r>
              <a:rPr lang="en-US" altLang="zh-CN" kern="100" dirty="0" smtClean="0">
                <a:latin typeface="Calibri"/>
                <a:ea typeface="宋体"/>
                <a:cs typeface="Times New Roman"/>
              </a:rPr>
              <a:t>list_22.append(z2[3</a:t>
            </a:r>
            <a:r>
              <a:rPr lang="en-US" altLang="zh-CN" kern="100" dirty="0">
                <a:latin typeface="Calibri"/>
                <a:ea typeface="宋体"/>
                <a:cs typeface="Times New Roman"/>
              </a:rPr>
              <a:t>])</a:t>
            </a:r>
            <a:endParaRPr lang="zh-CN" altLang="zh-CN" kern="100" dirty="0">
              <a:latin typeface="Calibri"/>
              <a:ea typeface="宋体"/>
              <a:cs typeface="Times New Roman"/>
            </a:endParaRPr>
          </a:p>
          <a:p>
            <a:pPr algn="just">
              <a:spcAft>
                <a:spcPts val="0"/>
              </a:spcAft>
            </a:pPr>
            <a:r>
              <a:rPr lang="en-US" altLang="zh-CN" kern="100" dirty="0">
                <a:latin typeface="Calibri"/>
                <a:ea typeface="宋体"/>
                <a:cs typeface="Times New Roman"/>
              </a:rPr>
              <a:t>D={'code':list_code,'nn_R':list_00,'nn_total':list_01,'nn_score':list_02,</a:t>
            </a:r>
            <a:endParaRPr lang="zh-CN" altLang="zh-CN" kern="100" dirty="0">
              <a:latin typeface="Calibri"/>
              <a:ea typeface="宋体"/>
              <a:cs typeface="Times New Roman"/>
            </a:endParaRPr>
          </a:p>
          <a:p>
            <a:pPr algn="just">
              <a:spcAft>
                <a:spcPts val="0"/>
              </a:spcAft>
            </a:pPr>
            <a:r>
              <a:rPr lang="en-US" altLang="zh-CN" kern="100" dirty="0">
                <a:latin typeface="Calibri"/>
                <a:ea typeface="宋体"/>
                <a:cs typeface="Times New Roman"/>
              </a:rPr>
              <a:t>   'svm_R':list_10,'svm_total':list_11,'svm_score':list_12,</a:t>
            </a:r>
            <a:endParaRPr lang="zh-CN" altLang="zh-CN" kern="100" dirty="0">
              <a:latin typeface="Calibri"/>
              <a:ea typeface="宋体"/>
              <a:cs typeface="Times New Roman"/>
            </a:endParaRPr>
          </a:p>
          <a:p>
            <a:pPr algn="just">
              <a:spcAft>
                <a:spcPts val="0"/>
              </a:spcAft>
            </a:pPr>
            <a:r>
              <a:rPr lang="en-US" altLang="zh-CN" kern="100" dirty="0">
                <a:latin typeface="Calibri"/>
                <a:ea typeface="宋体"/>
                <a:cs typeface="Times New Roman"/>
              </a:rPr>
              <a:t>   'lr_R':list_20,'lr_total':list_21,'lr_score':list_22}</a:t>
            </a:r>
            <a:endParaRPr lang="zh-CN" altLang="zh-CN" kern="100" dirty="0">
              <a:latin typeface="Calibri"/>
              <a:ea typeface="宋体"/>
              <a:cs typeface="Times New Roman"/>
            </a:endParaRPr>
          </a:p>
          <a:p>
            <a:pPr algn="just">
              <a:spcAft>
                <a:spcPts val="0"/>
              </a:spcAft>
            </a:pPr>
            <a:r>
              <a:rPr lang="en-US" altLang="zh-CN" kern="100" dirty="0">
                <a:latin typeface="Calibri"/>
                <a:ea typeface="宋体"/>
                <a:cs typeface="Times New Roman"/>
              </a:rPr>
              <a:t>D=</a:t>
            </a:r>
            <a:r>
              <a:rPr lang="en-US" altLang="zh-CN" kern="100" dirty="0" err="1">
                <a:latin typeface="Calibri"/>
                <a:ea typeface="宋体"/>
                <a:cs typeface="Times New Roman"/>
              </a:rPr>
              <a:t>pd.DataFrame</a:t>
            </a:r>
            <a:r>
              <a:rPr lang="en-US" altLang="zh-CN" kern="100" dirty="0">
                <a:latin typeface="Calibri"/>
                <a:ea typeface="宋体"/>
                <a:cs typeface="Times New Roman"/>
              </a:rPr>
              <a:t>(D)</a:t>
            </a:r>
            <a:endParaRPr lang="zh-CN" altLang="zh-CN" kern="100" dirty="0">
              <a:latin typeface="Calibri"/>
              <a:ea typeface="宋体"/>
              <a:cs typeface="Times New Roman"/>
            </a:endParaRPr>
          </a:p>
          <a:p>
            <a:pPr algn="just">
              <a:spcAft>
                <a:spcPts val="0"/>
              </a:spcAft>
            </a:pPr>
            <a:r>
              <a:rPr lang="en-US" altLang="zh-CN" kern="100" dirty="0" err="1">
                <a:latin typeface="Calibri"/>
                <a:ea typeface="宋体"/>
                <a:cs typeface="Times New Roman"/>
              </a:rPr>
              <a:t>D.to_excel</a:t>
            </a:r>
            <a:r>
              <a:rPr lang="en-US" altLang="zh-CN" kern="100" dirty="0">
                <a:latin typeface="Calibri"/>
                <a:ea typeface="宋体"/>
                <a:cs typeface="Times New Roman"/>
              </a:rPr>
              <a:t>('D.xlsx')</a:t>
            </a:r>
            <a:endParaRPr lang="zh-CN" altLang="zh-CN" kern="100" dirty="0">
              <a:effectLst/>
              <a:latin typeface="Calibri"/>
              <a:ea typeface="宋体"/>
              <a:cs typeface="Times New Roman"/>
            </a:endParaRPr>
          </a:p>
        </p:txBody>
      </p:sp>
      <p:sp>
        <p:nvSpPr>
          <p:cNvPr id="10" name="矩形 9"/>
          <p:cNvSpPr/>
          <p:nvPr/>
        </p:nvSpPr>
        <p:spPr>
          <a:xfrm>
            <a:off x="140264" y="4725144"/>
            <a:ext cx="12195175" cy="369332"/>
          </a:xfrm>
          <a:prstGeom prst="rect">
            <a:avLst/>
          </a:prstGeom>
        </p:spPr>
        <p:txBody>
          <a:bodyPr wrap="square">
            <a:spAutoFit/>
          </a:bodyPr>
          <a:lstStyle/>
          <a:p>
            <a:r>
              <a:rPr lang="zh-CN" altLang="zh-CN" dirty="0" smtClean="0"/>
              <a:t>执行</a:t>
            </a:r>
            <a:r>
              <a:rPr lang="zh-CN" altLang="zh-CN" dirty="0"/>
              <a:t>以上程序代码最终得到如表</a:t>
            </a:r>
            <a:r>
              <a:rPr lang="en-US" altLang="zh-CN" dirty="0"/>
              <a:t>9-3</a:t>
            </a:r>
            <a:r>
              <a:rPr lang="zh-CN" altLang="zh-CN" dirty="0"/>
              <a:t>所示的逻辑回归、神经网络和支持向量机三种模型的投资结果及对比情况。</a:t>
            </a:r>
          </a:p>
        </p:txBody>
      </p:sp>
      <p:sp>
        <p:nvSpPr>
          <p:cNvPr id="11" name="矩形 10"/>
          <p:cNvSpPr/>
          <p:nvPr/>
        </p:nvSpPr>
        <p:spPr>
          <a:xfrm>
            <a:off x="2253878" y="5094476"/>
            <a:ext cx="6160902" cy="369332"/>
          </a:xfrm>
          <a:prstGeom prst="rect">
            <a:avLst/>
          </a:prstGeom>
        </p:spPr>
        <p:txBody>
          <a:bodyPr wrap="square">
            <a:spAutoFit/>
          </a:bodyPr>
          <a:lstStyle/>
          <a:p>
            <a:r>
              <a:rPr lang="zh-CN" altLang="zh-CN" dirty="0"/>
              <a:t> </a:t>
            </a:r>
            <a:r>
              <a:rPr lang="zh-CN" altLang="zh-CN" dirty="0" smtClean="0"/>
              <a:t>表</a:t>
            </a:r>
            <a:r>
              <a:rPr lang="en-US" altLang="zh-CN" dirty="0"/>
              <a:t>9-3 </a:t>
            </a:r>
            <a:r>
              <a:rPr lang="zh-CN" altLang="zh-CN" dirty="0"/>
              <a:t>逻辑回归、神经网络和支持向量机模型投资结果对比</a:t>
            </a:r>
          </a:p>
        </p:txBody>
      </p:sp>
      <p:graphicFrame>
        <p:nvGraphicFramePr>
          <p:cNvPr id="15" name="表格 14"/>
          <p:cNvGraphicFramePr>
            <a:graphicFrameLocks noGrp="1"/>
          </p:cNvGraphicFramePr>
          <p:nvPr>
            <p:extLst>
              <p:ext uri="{D42A27DB-BD31-4B8C-83A1-F6EECF244321}">
                <p14:modId xmlns:p14="http://schemas.microsoft.com/office/powerpoint/2010/main" val="1219483859"/>
              </p:ext>
            </p:extLst>
          </p:nvPr>
        </p:nvGraphicFramePr>
        <p:xfrm>
          <a:off x="140264" y="5589240"/>
          <a:ext cx="11816588" cy="853440"/>
        </p:xfrm>
        <a:graphic>
          <a:graphicData uri="http://schemas.openxmlformats.org/drawingml/2006/table">
            <a:tbl>
              <a:tblPr firstRow="1" firstCol="1" bandRow="1"/>
              <a:tblGrid>
                <a:gridCol w="1242060"/>
                <a:gridCol w="1086094"/>
                <a:gridCol w="1086094"/>
                <a:gridCol w="1242060"/>
                <a:gridCol w="1086094"/>
                <a:gridCol w="1086094"/>
                <a:gridCol w="1242060"/>
                <a:gridCol w="1105945"/>
                <a:gridCol w="1242060"/>
                <a:gridCol w="1398027"/>
              </a:tblGrid>
              <a:tr h="171450">
                <a:tc>
                  <a:txBody>
                    <a:bodyPr/>
                    <a:lstStyle/>
                    <a:p>
                      <a:pPr algn="ctr">
                        <a:spcAft>
                          <a:spcPts val="0"/>
                        </a:spcAft>
                      </a:pPr>
                      <a:r>
                        <a:rPr lang="en-US" sz="1400" kern="0" dirty="0">
                          <a:solidFill>
                            <a:srgbClr val="000000"/>
                          </a:solidFill>
                          <a:effectLst/>
                          <a:latin typeface="宋体"/>
                          <a:ea typeface="宋体"/>
                          <a:cs typeface="宋体"/>
                        </a:rPr>
                        <a:t>code</a:t>
                      </a:r>
                      <a:endParaRPr lang="zh-CN" sz="1400" kern="100" dirty="0">
                        <a:effectLst/>
                        <a:latin typeface="Calibri"/>
                        <a:ea typeface="宋体"/>
                        <a:cs typeface="Times New Roman"/>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0">
                          <a:solidFill>
                            <a:srgbClr val="000000"/>
                          </a:solidFill>
                          <a:effectLst/>
                          <a:latin typeface="宋体"/>
                          <a:ea typeface="宋体"/>
                          <a:cs typeface="宋体"/>
                        </a:rPr>
                        <a:t>lr_R</a:t>
                      </a:r>
                      <a:endParaRPr lang="zh-CN" sz="1400" kern="100">
                        <a:effectLst/>
                        <a:latin typeface="Calibri"/>
                        <a:ea typeface="宋体"/>
                        <a:cs typeface="Times New Roman"/>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0">
                          <a:solidFill>
                            <a:srgbClr val="000000"/>
                          </a:solidFill>
                          <a:effectLst/>
                          <a:latin typeface="宋体"/>
                          <a:ea typeface="宋体"/>
                          <a:cs typeface="宋体"/>
                        </a:rPr>
                        <a:t>lr_sc</a:t>
                      </a:r>
                      <a:endParaRPr lang="zh-CN" sz="1400" kern="100">
                        <a:effectLst/>
                        <a:latin typeface="Calibri"/>
                        <a:ea typeface="宋体"/>
                        <a:cs typeface="Times New Roman"/>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0">
                          <a:solidFill>
                            <a:srgbClr val="000000"/>
                          </a:solidFill>
                          <a:effectLst/>
                          <a:latin typeface="宋体"/>
                          <a:ea typeface="宋体"/>
                          <a:cs typeface="宋体"/>
                        </a:rPr>
                        <a:t>lr_tal</a:t>
                      </a:r>
                      <a:endParaRPr lang="zh-CN" sz="1400" kern="100">
                        <a:effectLst/>
                        <a:latin typeface="Calibri"/>
                        <a:ea typeface="宋体"/>
                        <a:cs typeface="Times New Roman"/>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0">
                          <a:solidFill>
                            <a:srgbClr val="000000"/>
                          </a:solidFill>
                          <a:effectLst/>
                          <a:latin typeface="宋体"/>
                          <a:ea typeface="宋体"/>
                          <a:cs typeface="宋体"/>
                        </a:rPr>
                        <a:t>nn_R</a:t>
                      </a:r>
                      <a:endParaRPr lang="zh-CN" sz="1400" kern="100">
                        <a:effectLst/>
                        <a:latin typeface="Calibri"/>
                        <a:ea typeface="宋体"/>
                        <a:cs typeface="Times New Roman"/>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0">
                          <a:solidFill>
                            <a:srgbClr val="000000"/>
                          </a:solidFill>
                          <a:effectLst/>
                          <a:latin typeface="宋体"/>
                          <a:ea typeface="宋体"/>
                          <a:cs typeface="宋体"/>
                        </a:rPr>
                        <a:t>nn_sc</a:t>
                      </a:r>
                      <a:endParaRPr lang="zh-CN" sz="1400" kern="100">
                        <a:effectLst/>
                        <a:latin typeface="Calibri"/>
                        <a:ea typeface="宋体"/>
                        <a:cs typeface="Times New Roman"/>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0">
                          <a:solidFill>
                            <a:srgbClr val="000000"/>
                          </a:solidFill>
                          <a:effectLst/>
                          <a:latin typeface="宋体"/>
                          <a:ea typeface="宋体"/>
                          <a:cs typeface="宋体"/>
                        </a:rPr>
                        <a:t>nn_tal</a:t>
                      </a:r>
                      <a:endParaRPr lang="zh-CN" sz="1400" kern="100">
                        <a:effectLst/>
                        <a:latin typeface="Calibri"/>
                        <a:ea typeface="宋体"/>
                        <a:cs typeface="Times New Roman"/>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0">
                          <a:solidFill>
                            <a:srgbClr val="000000"/>
                          </a:solidFill>
                          <a:effectLst/>
                          <a:latin typeface="宋体"/>
                          <a:ea typeface="宋体"/>
                          <a:cs typeface="宋体"/>
                        </a:rPr>
                        <a:t>svm_R</a:t>
                      </a:r>
                      <a:endParaRPr lang="zh-CN" sz="1400" kern="100">
                        <a:effectLst/>
                        <a:latin typeface="Calibri"/>
                        <a:ea typeface="宋体"/>
                        <a:cs typeface="Times New Roman"/>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0">
                          <a:solidFill>
                            <a:srgbClr val="000000"/>
                          </a:solidFill>
                          <a:effectLst/>
                          <a:latin typeface="宋体"/>
                          <a:ea typeface="宋体"/>
                          <a:cs typeface="宋体"/>
                        </a:rPr>
                        <a:t>svm_sc</a:t>
                      </a:r>
                      <a:endParaRPr lang="zh-CN" sz="1400" kern="100">
                        <a:effectLst/>
                        <a:latin typeface="Calibri"/>
                        <a:ea typeface="宋体"/>
                        <a:cs typeface="Times New Roman"/>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0">
                          <a:solidFill>
                            <a:srgbClr val="000000"/>
                          </a:solidFill>
                          <a:effectLst/>
                          <a:latin typeface="宋体"/>
                          <a:ea typeface="宋体"/>
                          <a:cs typeface="宋体"/>
                        </a:rPr>
                        <a:t>svm_tal</a:t>
                      </a:r>
                      <a:endParaRPr lang="zh-CN" sz="1400" kern="100">
                        <a:effectLst/>
                        <a:latin typeface="Calibri"/>
                        <a:ea typeface="宋体"/>
                        <a:cs typeface="Times New Roman"/>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71450">
                <a:tc>
                  <a:txBody>
                    <a:bodyPr/>
                    <a:lstStyle/>
                    <a:p>
                      <a:pPr algn="l">
                        <a:spcAft>
                          <a:spcPts val="0"/>
                        </a:spcAft>
                      </a:pPr>
                      <a:r>
                        <a:rPr lang="en-US" sz="1400" kern="0">
                          <a:solidFill>
                            <a:srgbClr val="000000"/>
                          </a:solidFill>
                          <a:effectLst/>
                          <a:latin typeface="宋体"/>
                          <a:ea typeface="宋体"/>
                          <a:cs typeface="宋体"/>
                        </a:rPr>
                        <a:t>600028</a:t>
                      </a:r>
                      <a:endParaRPr lang="zh-CN" sz="1400" kern="100">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r">
                        <a:spcAft>
                          <a:spcPts val="0"/>
                        </a:spcAft>
                      </a:pPr>
                      <a:r>
                        <a:rPr lang="en-US" sz="1400" kern="0">
                          <a:solidFill>
                            <a:srgbClr val="000000"/>
                          </a:solidFill>
                          <a:effectLst/>
                          <a:latin typeface="宋体"/>
                          <a:ea typeface="宋体"/>
                          <a:cs typeface="宋体"/>
                        </a:rPr>
                        <a:t>0.667</a:t>
                      </a:r>
                      <a:endParaRPr lang="zh-CN" sz="1400" kern="100">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r">
                        <a:spcAft>
                          <a:spcPts val="0"/>
                        </a:spcAft>
                      </a:pPr>
                      <a:r>
                        <a:rPr lang="en-US" sz="1400" kern="0">
                          <a:solidFill>
                            <a:srgbClr val="000000"/>
                          </a:solidFill>
                          <a:effectLst/>
                          <a:latin typeface="宋体"/>
                          <a:ea typeface="宋体"/>
                          <a:cs typeface="宋体"/>
                        </a:rPr>
                        <a:t>0.696</a:t>
                      </a:r>
                      <a:endParaRPr lang="zh-CN" sz="1400" kern="100">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r">
                        <a:spcAft>
                          <a:spcPts val="0"/>
                        </a:spcAft>
                      </a:pPr>
                      <a:r>
                        <a:rPr lang="en-US" sz="1400" kern="0">
                          <a:solidFill>
                            <a:srgbClr val="000000"/>
                          </a:solidFill>
                          <a:effectLst/>
                          <a:latin typeface="宋体"/>
                          <a:ea typeface="宋体"/>
                          <a:cs typeface="宋体"/>
                        </a:rPr>
                        <a:t>0.05</a:t>
                      </a:r>
                      <a:endParaRPr lang="zh-CN" sz="1400" kern="100">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r">
                        <a:spcAft>
                          <a:spcPts val="0"/>
                        </a:spcAft>
                      </a:pPr>
                      <a:r>
                        <a:rPr lang="en-US" sz="1400" kern="0">
                          <a:solidFill>
                            <a:srgbClr val="000000"/>
                          </a:solidFill>
                          <a:effectLst/>
                          <a:latin typeface="宋体"/>
                          <a:ea typeface="宋体"/>
                          <a:cs typeface="宋体"/>
                        </a:rPr>
                        <a:t>0.524</a:t>
                      </a:r>
                      <a:endParaRPr lang="zh-CN" sz="1400" kern="100">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r">
                        <a:spcAft>
                          <a:spcPts val="0"/>
                        </a:spcAft>
                      </a:pPr>
                      <a:r>
                        <a:rPr lang="en-US" sz="1400" kern="0">
                          <a:solidFill>
                            <a:srgbClr val="000000"/>
                          </a:solidFill>
                          <a:effectLst/>
                          <a:latin typeface="宋体"/>
                          <a:ea typeface="宋体"/>
                          <a:cs typeface="宋体"/>
                        </a:rPr>
                        <a:t>0.94</a:t>
                      </a:r>
                      <a:endParaRPr lang="zh-CN" sz="1400" kern="100">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r">
                        <a:spcAft>
                          <a:spcPts val="0"/>
                        </a:spcAft>
                      </a:pPr>
                      <a:r>
                        <a:rPr lang="en-US" sz="1400" kern="0">
                          <a:solidFill>
                            <a:srgbClr val="000000"/>
                          </a:solidFill>
                          <a:effectLst/>
                          <a:latin typeface="宋体"/>
                          <a:ea typeface="宋体"/>
                          <a:cs typeface="宋体"/>
                        </a:rPr>
                        <a:t>0.025</a:t>
                      </a:r>
                      <a:endParaRPr lang="zh-CN" sz="1400" kern="100">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r">
                        <a:spcAft>
                          <a:spcPts val="0"/>
                        </a:spcAft>
                      </a:pPr>
                      <a:r>
                        <a:rPr lang="en-US" sz="1400" kern="0">
                          <a:solidFill>
                            <a:srgbClr val="000000"/>
                          </a:solidFill>
                          <a:effectLst/>
                          <a:latin typeface="宋体"/>
                          <a:ea typeface="宋体"/>
                          <a:cs typeface="宋体"/>
                        </a:rPr>
                        <a:t>0.571</a:t>
                      </a:r>
                      <a:endParaRPr lang="zh-CN" sz="1400" kern="100">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r">
                        <a:spcAft>
                          <a:spcPts val="0"/>
                        </a:spcAft>
                      </a:pPr>
                      <a:r>
                        <a:rPr lang="en-US" sz="1400" kern="0">
                          <a:solidFill>
                            <a:srgbClr val="000000"/>
                          </a:solidFill>
                          <a:effectLst/>
                          <a:latin typeface="宋体"/>
                          <a:ea typeface="宋体"/>
                          <a:cs typeface="宋体"/>
                        </a:rPr>
                        <a:t>0.735</a:t>
                      </a:r>
                      <a:endParaRPr lang="zh-CN" sz="1400" kern="100">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r">
                        <a:spcAft>
                          <a:spcPts val="0"/>
                        </a:spcAft>
                      </a:pPr>
                      <a:r>
                        <a:rPr lang="en-US" sz="1400" kern="0">
                          <a:solidFill>
                            <a:srgbClr val="000000"/>
                          </a:solidFill>
                          <a:effectLst/>
                          <a:latin typeface="宋体"/>
                          <a:ea typeface="宋体"/>
                          <a:cs typeface="宋体"/>
                        </a:rPr>
                        <a:t>0.032</a:t>
                      </a:r>
                      <a:endParaRPr lang="zh-CN" sz="1400" kern="100">
                        <a:effectLst/>
                        <a:latin typeface="Calibri"/>
                        <a:ea typeface="宋体"/>
                        <a:cs typeface="Times New Roman"/>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r>
              <a:tr h="171450">
                <a:tc>
                  <a:txBody>
                    <a:bodyPr/>
                    <a:lstStyle/>
                    <a:p>
                      <a:pPr algn="l">
                        <a:spcAft>
                          <a:spcPts val="0"/>
                        </a:spcAft>
                      </a:pPr>
                      <a:r>
                        <a:rPr lang="en-US" sz="1400" kern="0">
                          <a:solidFill>
                            <a:srgbClr val="000000"/>
                          </a:solidFill>
                          <a:effectLst/>
                          <a:latin typeface="宋体"/>
                          <a:ea typeface="宋体"/>
                          <a:cs typeface="宋体"/>
                        </a:rPr>
                        <a:t>601857</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0.571</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dirty="0">
                          <a:solidFill>
                            <a:srgbClr val="000000"/>
                          </a:solidFill>
                          <a:effectLst/>
                          <a:latin typeface="宋体"/>
                          <a:ea typeface="宋体"/>
                          <a:cs typeface="宋体"/>
                        </a:rPr>
                        <a:t>0.701</a:t>
                      </a:r>
                      <a:endParaRPr lang="zh-CN" sz="1400" kern="100" dirty="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-0.004</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0.429</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0.96</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0.007</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0.619</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0.716</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0.001</a:t>
                      </a:r>
                      <a:endParaRPr lang="zh-CN" sz="1400" kern="100">
                        <a:effectLst/>
                        <a:latin typeface="Calibri"/>
                        <a:ea typeface="宋体"/>
                        <a:cs typeface="Times New Roman"/>
                      </a:endParaRPr>
                    </a:p>
                  </a:txBody>
                  <a:tcPr marL="68580" marR="68580" marT="0" marB="0" anchor="b">
                    <a:lnL>
                      <a:noFill/>
                    </a:lnL>
                    <a:lnR>
                      <a:noFill/>
                    </a:lnR>
                    <a:lnT>
                      <a:noFill/>
                    </a:lnT>
                    <a:lnB>
                      <a:noFill/>
                    </a:lnB>
                  </a:tcPr>
                </a:tc>
              </a:tr>
              <a:tr h="171450">
                <a:tc>
                  <a:txBody>
                    <a:bodyPr/>
                    <a:lstStyle/>
                    <a:p>
                      <a:pPr algn="l">
                        <a:spcAft>
                          <a:spcPts val="0"/>
                        </a:spcAft>
                      </a:pPr>
                      <a:r>
                        <a:rPr lang="en-US" sz="1400" kern="0">
                          <a:solidFill>
                            <a:srgbClr val="000000"/>
                          </a:solidFill>
                          <a:effectLst/>
                          <a:latin typeface="宋体"/>
                          <a:ea typeface="宋体"/>
                          <a:cs typeface="宋体"/>
                        </a:rPr>
                        <a:t>601668</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0.714</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0.735</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0.011</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0.667</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0.94</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0.009</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0.714</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0.755</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dirty="0">
                          <a:solidFill>
                            <a:srgbClr val="000000"/>
                          </a:solidFill>
                          <a:effectLst/>
                          <a:latin typeface="宋体"/>
                          <a:ea typeface="宋体"/>
                          <a:cs typeface="宋体"/>
                        </a:rPr>
                        <a:t>0.011</a:t>
                      </a:r>
                      <a:endParaRPr lang="zh-CN" sz="1400" kern="100" dirty="0">
                        <a:effectLst/>
                        <a:latin typeface="Calibri"/>
                        <a:ea typeface="宋体"/>
                        <a:cs typeface="Times New Roman"/>
                      </a:endParaRPr>
                    </a:p>
                  </a:txBody>
                  <a:tcPr marL="68580" marR="68580" marT="0" marB="0" anchor="b">
                    <a:lnL>
                      <a:noFill/>
                    </a:lnL>
                    <a:lnR>
                      <a:noFill/>
                    </a:lnR>
                    <a:lnT>
                      <a:noFill/>
                    </a:lnT>
                    <a:lnB>
                      <a:noFill/>
                    </a:lnB>
                  </a:tcPr>
                </a:tc>
              </a:tr>
            </a:tbl>
          </a:graphicData>
        </a:graphic>
      </p:graphicFrame>
      <p:sp>
        <p:nvSpPr>
          <p:cNvPr id="17" name="矩形 16"/>
          <p:cNvSpPr/>
          <p:nvPr/>
        </p:nvSpPr>
        <p:spPr>
          <a:xfrm>
            <a:off x="140263" y="727536"/>
            <a:ext cx="3444044" cy="1477328"/>
          </a:xfrm>
          <a:prstGeom prst="rect">
            <a:avLst/>
          </a:prstGeom>
        </p:spPr>
        <p:txBody>
          <a:bodyPr wrap="square">
            <a:spAutoFit/>
          </a:bodyPr>
          <a:lstStyle/>
          <a:p>
            <a:pPr algn="just">
              <a:spcAft>
                <a:spcPts val="0"/>
              </a:spcAft>
            </a:pPr>
            <a:r>
              <a:rPr lang="en-US" altLang="zh-CN" kern="100" dirty="0">
                <a:latin typeface="Calibri"/>
                <a:ea typeface="宋体"/>
                <a:cs typeface="Times New Roman"/>
              </a:rPr>
              <a:t> </a:t>
            </a:r>
            <a:endParaRPr lang="en-US" altLang="zh-CN" kern="100" dirty="0" smtClean="0">
              <a:latin typeface="Calibri"/>
              <a:ea typeface="宋体"/>
              <a:cs typeface="Times New Roman"/>
            </a:endParaRPr>
          </a:p>
          <a:p>
            <a:pPr algn="just">
              <a:spcAft>
                <a:spcPts val="0"/>
              </a:spcAft>
            </a:pPr>
            <a:r>
              <a:rPr lang="en-US" altLang="zh-CN" kern="100" dirty="0" smtClean="0">
                <a:latin typeface="Calibri"/>
                <a:ea typeface="宋体"/>
                <a:cs typeface="Times New Roman"/>
              </a:rPr>
              <a:t>    list_10.append(z1[0</a:t>
            </a:r>
            <a:r>
              <a:rPr lang="en-US" altLang="zh-CN" kern="100" dirty="0">
                <a:latin typeface="Calibri"/>
                <a:ea typeface="宋体"/>
                <a:cs typeface="Times New Roman"/>
              </a:rPr>
              <a:t>])</a:t>
            </a:r>
            <a:endParaRPr lang="zh-CN" altLang="zh-CN" kern="100" dirty="0">
              <a:latin typeface="Calibri"/>
              <a:ea typeface="宋体"/>
              <a:cs typeface="Times New Roman"/>
            </a:endParaRPr>
          </a:p>
          <a:p>
            <a:pPr algn="just">
              <a:spcAft>
                <a:spcPts val="0"/>
              </a:spcAft>
            </a:pPr>
            <a:r>
              <a:rPr lang="en-US" altLang="zh-CN" kern="100" dirty="0">
                <a:latin typeface="Calibri"/>
                <a:ea typeface="宋体"/>
                <a:cs typeface="Times New Roman"/>
              </a:rPr>
              <a:t> </a:t>
            </a:r>
            <a:r>
              <a:rPr lang="en-US" altLang="zh-CN" kern="100" dirty="0" smtClean="0">
                <a:latin typeface="Calibri"/>
                <a:ea typeface="宋体"/>
                <a:cs typeface="Times New Roman"/>
              </a:rPr>
              <a:t>   </a:t>
            </a:r>
            <a:r>
              <a:rPr lang="en-US" altLang="zh-CN" kern="100" dirty="0">
                <a:latin typeface="Calibri"/>
                <a:ea typeface="宋体"/>
                <a:cs typeface="Times New Roman"/>
              </a:rPr>
              <a:t>list_11.append(z1[2])</a:t>
            </a:r>
            <a:endParaRPr lang="zh-CN" altLang="zh-CN" kern="100" dirty="0">
              <a:latin typeface="Calibri"/>
              <a:ea typeface="宋体"/>
              <a:cs typeface="Times New Roman"/>
            </a:endParaRPr>
          </a:p>
          <a:p>
            <a:pPr algn="just">
              <a:spcAft>
                <a:spcPts val="0"/>
              </a:spcAft>
            </a:pPr>
            <a:r>
              <a:rPr lang="en-US" altLang="zh-CN" kern="100" dirty="0">
                <a:latin typeface="Calibri"/>
                <a:ea typeface="宋体"/>
                <a:cs typeface="Times New Roman"/>
              </a:rPr>
              <a:t>    </a:t>
            </a:r>
            <a:r>
              <a:rPr lang="en-US" altLang="zh-CN" kern="100" dirty="0" smtClean="0">
                <a:latin typeface="Calibri"/>
                <a:ea typeface="宋体"/>
                <a:cs typeface="Times New Roman"/>
              </a:rPr>
              <a:t>list_12.append(z1[3</a:t>
            </a:r>
            <a:r>
              <a:rPr lang="en-US" altLang="zh-CN" kern="100" dirty="0">
                <a:latin typeface="Calibri"/>
                <a:ea typeface="宋体"/>
                <a:cs typeface="Times New Roman"/>
              </a:rPr>
              <a:t>])</a:t>
            </a:r>
            <a:endParaRPr lang="zh-CN" altLang="zh-CN" kern="100" dirty="0">
              <a:latin typeface="Calibri"/>
              <a:ea typeface="宋体"/>
              <a:cs typeface="Times New Roman"/>
            </a:endParaRPr>
          </a:p>
          <a:p>
            <a:pPr algn="just">
              <a:spcAft>
                <a:spcPts val="0"/>
              </a:spcAft>
            </a:pPr>
            <a:r>
              <a:rPr lang="en-US" altLang="zh-CN" kern="100" dirty="0" smtClean="0">
                <a:latin typeface="Calibri"/>
                <a:ea typeface="宋体"/>
                <a:cs typeface="Times New Roman"/>
              </a:rPr>
              <a:t>    list_20.append(z2[0])</a:t>
            </a:r>
            <a:endParaRPr lang="zh-CN" altLang="zh-CN" kern="100" dirty="0">
              <a:latin typeface="Calibri"/>
              <a:ea typeface="宋体"/>
              <a:cs typeface="Times New Roman"/>
            </a:endParaRPr>
          </a:p>
        </p:txBody>
      </p:sp>
    </p:spTree>
    <p:extLst>
      <p:ext uri="{BB962C8B-B14F-4D97-AF65-F5344CB8AC3E}">
        <p14:creationId xmlns:p14="http://schemas.microsoft.com/office/powerpoint/2010/main" val="3422376057"/>
      </p:ext>
    </p:extLst>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 </a:t>
            </a:r>
            <a:r>
              <a:rPr lang="en-US" altLang="zh-CN" sz="2000" dirty="0" smtClean="0">
                <a:solidFill>
                  <a:schemeClr val="accent2"/>
                </a:solidFill>
              </a:rPr>
              <a:t>9</a:t>
            </a:r>
            <a:r>
              <a:rPr lang="en-US" altLang="zh-CN" dirty="0" smtClean="0">
                <a:solidFill>
                  <a:schemeClr val="accent2"/>
                </a:solidFill>
              </a:rPr>
              <a:t> </a:t>
            </a:r>
            <a:endParaRPr lang="zh-CN" altLang="en-US" dirty="0">
              <a:solidFill>
                <a:schemeClr val="accent2"/>
              </a:solidFill>
            </a:endParaRPr>
          </a:p>
        </p:txBody>
      </p:sp>
      <p:sp>
        <p:nvSpPr>
          <p:cNvPr id="9" name="燕尾形 8"/>
          <p:cNvSpPr/>
          <p:nvPr/>
        </p:nvSpPr>
        <p:spPr bwMode="auto">
          <a:xfrm>
            <a:off x="6353299" y="63783"/>
            <a:ext cx="321146" cy="442499"/>
          </a:xfrm>
          <a:prstGeom prst="chevron">
            <a:avLst/>
          </a:prstGeom>
          <a:solidFill>
            <a:schemeClr val="accent2"/>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spcBef>
                <a:spcPct val="0"/>
              </a:spcBef>
              <a:spcAft>
                <a:spcPct val="0"/>
              </a:spcAft>
              <a:buClrTx/>
              <a:buSzTx/>
              <a:buFont typeface="Arial" pitchFamily="34" charset="0"/>
              <a:buNone/>
            </a:pPr>
            <a:endParaRPr kumimoji="0" lang="zh-CN" altLang="en-US" sz="1800" b="0" i="0" u="none" strike="noStrike" cap="none" normalizeH="0" baseline="0" smtClean="0">
              <a:ln>
                <a:noFill/>
              </a:ln>
              <a:solidFill>
                <a:schemeClr val="tx1"/>
              </a:solidFill>
              <a:effectLst/>
              <a:latin typeface="Arial" pitchFamily="34" charset="0"/>
              <a:ea typeface="宋体" pitchFamily="2" charset="-122"/>
            </a:endParaRPr>
          </a:p>
        </p:txBody>
      </p:sp>
      <p:sp>
        <p:nvSpPr>
          <p:cNvPr id="6" name="TextBox 5"/>
          <p:cNvSpPr txBox="1"/>
          <p:nvPr/>
        </p:nvSpPr>
        <p:spPr>
          <a:xfrm>
            <a:off x="7034485" y="121564"/>
            <a:ext cx="3312368" cy="954107"/>
          </a:xfrm>
          <a:prstGeom prst="rect">
            <a:avLst/>
          </a:prstGeom>
          <a:noFill/>
        </p:spPr>
        <p:txBody>
          <a:bodyPr wrap="square" rtlCol="0">
            <a:spAutoFit/>
          </a:bodyPr>
          <a:lstStyle/>
          <a:p>
            <a:pPr lvl="0"/>
            <a:r>
              <a:rPr lang="en-US" altLang="zh-CN" sz="2800" dirty="0" smtClean="0">
                <a:solidFill>
                  <a:srgbClr val="FFFFFF"/>
                </a:solidFill>
                <a:latin typeface="微软雅黑"/>
                <a:ea typeface="微软雅黑"/>
              </a:rPr>
              <a:t>9.6.2 </a:t>
            </a:r>
            <a:r>
              <a:rPr lang="zh-CN" altLang="en-US" sz="2800" dirty="0">
                <a:solidFill>
                  <a:srgbClr val="FFFFFF"/>
                </a:solidFill>
                <a:latin typeface="微软雅黑"/>
                <a:ea typeface="微软雅黑"/>
              </a:rPr>
              <a:t>量化</a:t>
            </a:r>
            <a:r>
              <a:rPr lang="zh-CN" altLang="en-US" sz="2800" dirty="0" smtClean="0">
                <a:solidFill>
                  <a:srgbClr val="FFFFFF"/>
                </a:solidFill>
                <a:latin typeface="微软雅黑"/>
                <a:ea typeface="微软雅黑"/>
              </a:rPr>
              <a:t>投资策略设计</a:t>
            </a:r>
            <a:endParaRPr lang="zh-CN" altLang="en-US" sz="2800" dirty="0">
              <a:solidFill>
                <a:srgbClr val="FFFFFF"/>
              </a:solidFill>
              <a:latin typeface="微软雅黑"/>
              <a:ea typeface="微软雅黑"/>
            </a:endParaRPr>
          </a:p>
        </p:txBody>
      </p:sp>
      <p:sp>
        <p:nvSpPr>
          <p:cNvPr id="14" name="TextBox 13"/>
          <p:cNvSpPr txBox="1"/>
          <p:nvPr/>
        </p:nvSpPr>
        <p:spPr>
          <a:xfrm>
            <a:off x="1330766" y="44625"/>
            <a:ext cx="5042228"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smtClean="0">
                <a:solidFill>
                  <a:schemeClr val="accent2"/>
                </a:solidFill>
                <a:latin typeface="微软雅黑"/>
                <a:ea typeface="微软雅黑"/>
              </a:rPr>
              <a:t>9.6</a:t>
            </a:r>
            <a:r>
              <a:rPr lang="en-US" altLang="zh-CN" sz="2800" dirty="0">
                <a:solidFill>
                  <a:schemeClr val="accent2"/>
                </a:solidFill>
                <a:latin typeface="微软雅黑"/>
                <a:ea typeface="微软雅黑"/>
              </a:rPr>
              <a:t> </a:t>
            </a:r>
            <a:r>
              <a:rPr lang="zh-CN" altLang="en-US" sz="2800" dirty="0" smtClean="0">
                <a:solidFill>
                  <a:schemeClr val="accent2"/>
                </a:solidFill>
                <a:latin typeface="微软雅黑"/>
                <a:ea typeface="微软雅黑"/>
              </a:rPr>
              <a:t>量化投资策略设计与分析</a:t>
            </a:r>
            <a:endParaRPr lang="zh-CN" altLang="en-US" sz="2800" dirty="0">
              <a:solidFill>
                <a:schemeClr val="accent2"/>
              </a:solidFill>
              <a:latin typeface="微软雅黑"/>
              <a:ea typeface="微软雅黑"/>
            </a:endParaRPr>
          </a:p>
        </p:txBody>
      </p:sp>
      <p:sp>
        <p:nvSpPr>
          <p:cNvPr id="2" name="矩形 1"/>
          <p:cNvSpPr/>
          <p:nvPr/>
        </p:nvSpPr>
        <p:spPr>
          <a:xfrm>
            <a:off x="70413" y="4581128"/>
            <a:ext cx="11934781" cy="1754326"/>
          </a:xfrm>
          <a:prstGeom prst="rect">
            <a:avLst/>
          </a:prstGeom>
        </p:spPr>
        <p:txBody>
          <a:bodyPr wrap="square">
            <a:spAutoFit/>
          </a:bodyPr>
          <a:lstStyle/>
          <a:p>
            <a:r>
              <a:rPr lang="zh-CN" altLang="zh-CN" dirty="0"/>
              <a:t>从结果可以看出，逻辑回归模型准确率均值为</a:t>
            </a:r>
            <a:r>
              <a:rPr lang="en-US" altLang="zh-CN" dirty="0"/>
              <a:t>mean(</a:t>
            </a:r>
            <a:r>
              <a:rPr lang="en-US" altLang="zh-CN" dirty="0" err="1"/>
              <a:t>lr_sc</a:t>
            </a:r>
            <a:r>
              <a:rPr lang="en-US" altLang="zh-CN" dirty="0"/>
              <a:t>)= 0.746</a:t>
            </a:r>
            <a:r>
              <a:rPr lang="zh-CN" altLang="zh-CN" dirty="0"/>
              <a:t>，预测准确率均值为</a:t>
            </a:r>
            <a:r>
              <a:rPr lang="en-US" altLang="zh-CN" dirty="0"/>
              <a:t>mean(</a:t>
            </a:r>
            <a:r>
              <a:rPr lang="en-US" altLang="zh-CN" dirty="0" err="1"/>
              <a:t>lr_R</a:t>
            </a:r>
            <a:r>
              <a:rPr lang="en-US" altLang="zh-CN" dirty="0"/>
              <a:t>)=0.652,</a:t>
            </a:r>
            <a:r>
              <a:rPr lang="zh-CN" altLang="zh-CN" dirty="0"/>
              <a:t>投资组合的总收益</a:t>
            </a:r>
            <a:r>
              <a:rPr lang="en-US" altLang="zh-CN" dirty="0"/>
              <a:t>sum(</a:t>
            </a:r>
            <a:r>
              <a:rPr lang="en-US" altLang="zh-CN" dirty="0" err="1"/>
              <a:t>lr_tal</a:t>
            </a:r>
            <a:r>
              <a:rPr lang="en-US" altLang="zh-CN" dirty="0"/>
              <a:t>)=0.883</a:t>
            </a:r>
            <a:r>
              <a:rPr lang="zh-CN" altLang="zh-CN" dirty="0"/>
              <a:t>；神经网络模型准确率均值为</a:t>
            </a:r>
            <a:r>
              <a:rPr lang="en-US" altLang="zh-CN" dirty="0"/>
              <a:t>mean(</a:t>
            </a:r>
            <a:r>
              <a:rPr lang="en-US" altLang="zh-CN" dirty="0" err="1"/>
              <a:t>nn_sc</a:t>
            </a:r>
            <a:r>
              <a:rPr lang="en-US" altLang="zh-CN" dirty="0"/>
              <a:t>)= 0.982</a:t>
            </a:r>
            <a:r>
              <a:rPr lang="zh-CN" altLang="zh-CN" dirty="0"/>
              <a:t>，预测准确率均值为</a:t>
            </a:r>
            <a:r>
              <a:rPr lang="en-US" altLang="zh-CN" dirty="0"/>
              <a:t>mean(</a:t>
            </a:r>
            <a:r>
              <a:rPr lang="en-US" altLang="zh-CN" dirty="0" err="1"/>
              <a:t>nn_R</a:t>
            </a:r>
            <a:r>
              <a:rPr lang="en-US" altLang="zh-CN" dirty="0"/>
              <a:t>)= 0.531</a:t>
            </a:r>
            <a:r>
              <a:rPr lang="zh-CN" altLang="zh-CN" dirty="0"/>
              <a:t>，投资组合总收益率为</a:t>
            </a:r>
            <a:r>
              <a:rPr lang="en-US" altLang="zh-CN" dirty="0"/>
              <a:t>sum(</a:t>
            </a:r>
            <a:r>
              <a:rPr lang="en-US" altLang="zh-CN" dirty="0" err="1"/>
              <a:t>nn_tal</a:t>
            </a:r>
            <a:r>
              <a:rPr lang="en-US" altLang="zh-CN" dirty="0"/>
              <a:t>)=0.278</a:t>
            </a:r>
            <a:r>
              <a:rPr lang="zh-CN" altLang="zh-CN" dirty="0"/>
              <a:t>；支持向量机模型准确率均值为</a:t>
            </a:r>
            <a:r>
              <a:rPr lang="en-US" altLang="zh-CN" dirty="0"/>
              <a:t>mean(</a:t>
            </a:r>
            <a:r>
              <a:rPr lang="en-US" altLang="zh-CN" dirty="0" err="1"/>
              <a:t>svm_sc</a:t>
            </a:r>
            <a:r>
              <a:rPr lang="en-US" altLang="zh-CN" dirty="0"/>
              <a:t>)=0.779,</a:t>
            </a:r>
            <a:r>
              <a:rPr lang="zh-CN" altLang="zh-CN" dirty="0"/>
              <a:t>预测准确率均值为</a:t>
            </a:r>
            <a:r>
              <a:rPr lang="en-US" altLang="zh-CN" dirty="0"/>
              <a:t>mean(</a:t>
            </a:r>
            <a:r>
              <a:rPr lang="en-US" altLang="zh-CN" dirty="0" err="1"/>
              <a:t>svm_R</a:t>
            </a:r>
            <a:r>
              <a:rPr lang="en-US" altLang="zh-CN" dirty="0"/>
              <a:t>)=0.626,</a:t>
            </a:r>
            <a:r>
              <a:rPr lang="zh-CN" altLang="zh-CN" dirty="0"/>
              <a:t>投资组合总收益率为</a:t>
            </a:r>
            <a:r>
              <a:rPr lang="en-US" altLang="zh-CN" dirty="0"/>
              <a:t>sum(</a:t>
            </a:r>
            <a:r>
              <a:rPr lang="en-US" altLang="zh-CN" dirty="0" err="1"/>
              <a:t>svm_tal</a:t>
            </a:r>
            <a:r>
              <a:rPr lang="en-US" altLang="zh-CN" dirty="0"/>
              <a:t>)=0.638</a:t>
            </a:r>
            <a:r>
              <a:rPr lang="zh-CN" altLang="zh-CN" dirty="0"/>
              <a:t>。由此可以看出，神经网络模型精度最高，但是预测效果最差，存在过度拟合的情况。支持向量机模型精度比逻辑回归模型稍高，但是预测效果比逻辑回归稍差。综合可以看出，逻辑回归模型预测效果最佳，其投资组合的总收益率达到</a:t>
            </a:r>
            <a:r>
              <a:rPr lang="en-US" altLang="zh-CN" dirty="0"/>
              <a:t>88.3%</a:t>
            </a:r>
            <a:r>
              <a:rPr lang="zh-CN" altLang="zh-CN" dirty="0"/>
              <a:t>。</a:t>
            </a:r>
          </a:p>
        </p:txBody>
      </p:sp>
      <p:graphicFrame>
        <p:nvGraphicFramePr>
          <p:cNvPr id="13" name="表格 12"/>
          <p:cNvGraphicFramePr>
            <a:graphicFrameLocks noGrp="1"/>
          </p:cNvGraphicFramePr>
          <p:nvPr>
            <p:extLst>
              <p:ext uri="{D42A27DB-BD31-4B8C-83A1-F6EECF244321}">
                <p14:modId xmlns:p14="http://schemas.microsoft.com/office/powerpoint/2010/main" val="749521476"/>
              </p:ext>
            </p:extLst>
          </p:nvPr>
        </p:nvGraphicFramePr>
        <p:xfrm>
          <a:off x="104966" y="836712"/>
          <a:ext cx="11794513" cy="3413760"/>
        </p:xfrm>
        <a:graphic>
          <a:graphicData uri="http://schemas.openxmlformats.org/drawingml/2006/table">
            <a:tbl>
              <a:tblPr firstRow="1" firstCol="1" bandRow="1"/>
              <a:tblGrid>
                <a:gridCol w="1239739"/>
                <a:gridCol w="1084065"/>
                <a:gridCol w="1084065"/>
                <a:gridCol w="1239739"/>
                <a:gridCol w="1084065"/>
                <a:gridCol w="1084065"/>
                <a:gridCol w="1239739"/>
                <a:gridCol w="1103880"/>
                <a:gridCol w="1239739"/>
                <a:gridCol w="1395417"/>
              </a:tblGrid>
              <a:tr h="171450">
                <a:tc>
                  <a:txBody>
                    <a:bodyPr/>
                    <a:lstStyle/>
                    <a:p>
                      <a:pPr algn="l">
                        <a:spcAft>
                          <a:spcPts val="0"/>
                        </a:spcAft>
                      </a:pPr>
                      <a:r>
                        <a:rPr lang="en-US" sz="1400" kern="0">
                          <a:solidFill>
                            <a:srgbClr val="000000"/>
                          </a:solidFill>
                          <a:effectLst/>
                          <a:latin typeface="宋体"/>
                          <a:ea typeface="宋体"/>
                          <a:cs typeface="宋体"/>
                        </a:rPr>
                        <a:t>600104</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0.714</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0.76</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0.078</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0.476</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1</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0.03</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0.714</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0.77</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0.078</a:t>
                      </a:r>
                      <a:endParaRPr lang="zh-CN" sz="1400" kern="100">
                        <a:effectLst/>
                        <a:latin typeface="Calibri"/>
                        <a:ea typeface="宋体"/>
                        <a:cs typeface="Times New Roman"/>
                      </a:endParaRPr>
                    </a:p>
                  </a:txBody>
                  <a:tcPr marL="68580" marR="68580" marT="0" marB="0" anchor="b">
                    <a:lnL>
                      <a:noFill/>
                    </a:lnL>
                    <a:lnR>
                      <a:noFill/>
                    </a:lnR>
                    <a:lnT>
                      <a:noFill/>
                    </a:lnT>
                    <a:lnB>
                      <a:noFill/>
                    </a:lnB>
                  </a:tcPr>
                </a:tc>
              </a:tr>
              <a:tr h="171450">
                <a:tc>
                  <a:txBody>
                    <a:bodyPr/>
                    <a:lstStyle/>
                    <a:p>
                      <a:pPr algn="l">
                        <a:spcAft>
                          <a:spcPts val="0"/>
                        </a:spcAft>
                      </a:pPr>
                      <a:r>
                        <a:rPr lang="en-US" sz="1400" kern="0">
                          <a:solidFill>
                            <a:srgbClr val="000000"/>
                          </a:solidFill>
                          <a:effectLst/>
                          <a:latin typeface="宋体"/>
                          <a:ea typeface="宋体"/>
                          <a:cs typeface="宋体"/>
                        </a:rPr>
                        <a:t>601088</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0.81</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0.729</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0.126</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0.571</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1</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0.022</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0.524</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0.8</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0.014</a:t>
                      </a:r>
                      <a:endParaRPr lang="zh-CN" sz="1400" kern="100">
                        <a:effectLst/>
                        <a:latin typeface="Calibri"/>
                        <a:ea typeface="宋体"/>
                        <a:cs typeface="Times New Roman"/>
                      </a:endParaRPr>
                    </a:p>
                  </a:txBody>
                  <a:tcPr marL="68580" marR="68580" marT="0" marB="0" anchor="b">
                    <a:lnL>
                      <a:noFill/>
                    </a:lnL>
                    <a:lnR>
                      <a:noFill/>
                    </a:lnR>
                    <a:lnT>
                      <a:noFill/>
                    </a:lnT>
                    <a:lnB>
                      <a:noFill/>
                    </a:lnB>
                  </a:tcPr>
                </a:tc>
              </a:tr>
              <a:tr h="171450">
                <a:tc>
                  <a:txBody>
                    <a:bodyPr/>
                    <a:lstStyle/>
                    <a:p>
                      <a:pPr algn="l">
                        <a:spcAft>
                          <a:spcPts val="0"/>
                        </a:spcAft>
                      </a:pPr>
                      <a:r>
                        <a:rPr lang="en-US" sz="1400" kern="0">
                          <a:solidFill>
                            <a:srgbClr val="000000"/>
                          </a:solidFill>
                          <a:effectLst/>
                          <a:latin typeface="宋体"/>
                          <a:ea typeface="宋体"/>
                          <a:cs typeface="宋体"/>
                        </a:rPr>
                        <a:t>600519</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0.714</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0.814</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0.203</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0.667</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1</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0.141</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0.571</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0.833</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0.03</a:t>
                      </a:r>
                      <a:endParaRPr lang="zh-CN" sz="1400" kern="100">
                        <a:effectLst/>
                        <a:latin typeface="Calibri"/>
                        <a:ea typeface="宋体"/>
                        <a:cs typeface="Times New Roman"/>
                      </a:endParaRPr>
                    </a:p>
                  </a:txBody>
                  <a:tcPr marL="68580" marR="68580" marT="0" marB="0" anchor="b">
                    <a:lnL>
                      <a:noFill/>
                    </a:lnL>
                    <a:lnR>
                      <a:noFill/>
                    </a:lnR>
                    <a:lnT>
                      <a:noFill/>
                    </a:lnT>
                    <a:lnB>
                      <a:noFill/>
                    </a:lnB>
                  </a:tcPr>
                </a:tc>
              </a:tr>
              <a:tr h="171450">
                <a:tc>
                  <a:txBody>
                    <a:bodyPr/>
                    <a:lstStyle/>
                    <a:p>
                      <a:pPr algn="l">
                        <a:spcAft>
                          <a:spcPts val="0"/>
                        </a:spcAft>
                      </a:pPr>
                      <a:r>
                        <a:rPr lang="en-US" sz="1400" kern="0">
                          <a:solidFill>
                            <a:srgbClr val="000000"/>
                          </a:solidFill>
                          <a:effectLst/>
                          <a:latin typeface="宋体"/>
                          <a:ea typeface="宋体"/>
                          <a:cs typeface="宋体"/>
                        </a:rPr>
                        <a:t>000002</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0.619</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0.744</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0.069</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0.571</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1</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0.014</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0.714</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0.749</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0.082</a:t>
                      </a:r>
                      <a:endParaRPr lang="zh-CN" sz="1400" kern="100">
                        <a:effectLst/>
                        <a:latin typeface="Calibri"/>
                        <a:ea typeface="宋体"/>
                        <a:cs typeface="Times New Roman"/>
                      </a:endParaRPr>
                    </a:p>
                  </a:txBody>
                  <a:tcPr marL="68580" marR="68580" marT="0" marB="0" anchor="b">
                    <a:lnL>
                      <a:noFill/>
                    </a:lnL>
                    <a:lnR>
                      <a:noFill/>
                    </a:lnR>
                    <a:lnT>
                      <a:noFill/>
                    </a:lnT>
                    <a:lnB>
                      <a:noFill/>
                    </a:lnB>
                  </a:tcPr>
                </a:tc>
              </a:tr>
              <a:tr h="171450">
                <a:tc>
                  <a:txBody>
                    <a:bodyPr/>
                    <a:lstStyle/>
                    <a:p>
                      <a:pPr algn="l">
                        <a:spcAft>
                          <a:spcPts val="0"/>
                        </a:spcAft>
                      </a:pPr>
                      <a:r>
                        <a:rPr lang="en-US" sz="1400" kern="0">
                          <a:solidFill>
                            <a:srgbClr val="000000"/>
                          </a:solidFill>
                          <a:effectLst/>
                          <a:latin typeface="宋体"/>
                          <a:ea typeface="宋体"/>
                          <a:cs typeface="宋体"/>
                        </a:rPr>
                        <a:t>601800</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0.667</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0.76</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0.015</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0.619</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0.99</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0.81</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0.789</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0.027</a:t>
                      </a:r>
                      <a:endParaRPr lang="zh-CN" sz="1400" kern="100">
                        <a:effectLst/>
                        <a:latin typeface="Calibri"/>
                        <a:ea typeface="宋体"/>
                        <a:cs typeface="Times New Roman"/>
                      </a:endParaRPr>
                    </a:p>
                  </a:txBody>
                  <a:tcPr marL="68580" marR="68580" marT="0" marB="0" anchor="b">
                    <a:lnL>
                      <a:noFill/>
                    </a:lnL>
                    <a:lnR>
                      <a:noFill/>
                    </a:lnR>
                    <a:lnT>
                      <a:noFill/>
                    </a:lnT>
                    <a:lnB>
                      <a:noFill/>
                    </a:lnB>
                  </a:tcPr>
                </a:tc>
              </a:tr>
              <a:tr h="171450">
                <a:tc>
                  <a:txBody>
                    <a:bodyPr/>
                    <a:lstStyle/>
                    <a:p>
                      <a:pPr algn="l">
                        <a:spcAft>
                          <a:spcPts val="0"/>
                        </a:spcAft>
                      </a:pPr>
                      <a:r>
                        <a:rPr lang="en-US" sz="1400" kern="0">
                          <a:solidFill>
                            <a:srgbClr val="000000"/>
                          </a:solidFill>
                          <a:effectLst/>
                          <a:latin typeface="宋体"/>
                          <a:ea typeface="宋体"/>
                          <a:cs typeface="宋体"/>
                        </a:rPr>
                        <a:t>600900</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0.762</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0.755</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0.012</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0.333</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0.96</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-0.039</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0.571</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0.77</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-0.021</a:t>
                      </a:r>
                      <a:endParaRPr lang="zh-CN" sz="1400" kern="100">
                        <a:effectLst/>
                        <a:latin typeface="Calibri"/>
                        <a:ea typeface="宋体"/>
                        <a:cs typeface="Times New Roman"/>
                      </a:endParaRPr>
                    </a:p>
                  </a:txBody>
                  <a:tcPr marL="68580" marR="68580" marT="0" marB="0" anchor="b">
                    <a:lnL>
                      <a:noFill/>
                    </a:lnL>
                    <a:lnR>
                      <a:noFill/>
                    </a:lnR>
                    <a:lnT>
                      <a:noFill/>
                    </a:lnT>
                    <a:lnB>
                      <a:noFill/>
                    </a:lnB>
                  </a:tcPr>
                </a:tc>
              </a:tr>
              <a:tr h="171450">
                <a:tc>
                  <a:txBody>
                    <a:bodyPr/>
                    <a:lstStyle/>
                    <a:p>
                      <a:pPr algn="l">
                        <a:spcAft>
                          <a:spcPts val="0"/>
                        </a:spcAft>
                      </a:pPr>
                      <a:r>
                        <a:rPr lang="en-US" sz="1400" kern="0">
                          <a:solidFill>
                            <a:srgbClr val="000000"/>
                          </a:solidFill>
                          <a:effectLst/>
                          <a:latin typeface="宋体"/>
                          <a:ea typeface="宋体"/>
                          <a:cs typeface="宋体"/>
                        </a:rPr>
                        <a:t>601186</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0.667</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0.75</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0.015</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0.619</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1</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-0.007</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0.714</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0.789</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0.016</a:t>
                      </a:r>
                      <a:endParaRPr lang="zh-CN" sz="1400" kern="100">
                        <a:effectLst/>
                        <a:latin typeface="Calibri"/>
                        <a:ea typeface="宋体"/>
                        <a:cs typeface="Times New Roman"/>
                      </a:endParaRPr>
                    </a:p>
                  </a:txBody>
                  <a:tcPr marL="68580" marR="68580" marT="0" marB="0" anchor="b">
                    <a:lnL>
                      <a:noFill/>
                    </a:lnL>
                    <a:lnR>
                      <a:noFill/>
                    </a:lnR>
                    <a:lnT>
                      <a:noFill/>
                    </a:lnT>
                    <a:lnB>
                      <a:noFill/>
                    </a:lnB>
                  </a:tcPr>
                </a:tc>
              </a:tr>
              <a:tr h="171450">
                <a:tc>
                  <a:txBody>
                    <a:bodyPr/>
                    <a:lstStyle/>
                    <a:p>
                      <a:pPr algn="l">
                        <a:spcAft>
                          <a:spcPts val="0"/>
                        </a:spcAft>
                      </a:pPr>
                      <a:r>
                        <a:rPr lang="en-US" sz="1400" kern="0">
                          <a:solidFill>
                            <a:srgbClr val="000000"/>
                          </a:solidFill>
                          <a:effectLst/>
                          <a:latin typeface="宋体"/>
                          <a:ea typeface="宋体"/>
                          <a:cs typeface="宋体"/>
                        </a:rPr>
                        <a:t>002027</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0.476</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0.755</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0.037</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0.762</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0.98</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0.183</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0.571</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0.789</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0.055</a:t>
                      </a:r>
                      <a:endParaRPr lang="zh-CN" sz="1400" kern="100">
                        <a:effectLst/>
                        <a:latin typeface="Calibri"/>
                        <a:ea typeface="宋体"/>
                        <a:cs typeface="Times New Roman"/>
                      </a:endParaRPr>
                    </a:p>
                  </a:txBody>
                  <a:tcPr marL="68580" marR="68580" marT="0" marB="0" anchor="b">
                    <a:lnL>
                      <a:noFill/>
                    </a:lnL>
                    <a:lnR>
                      <a:noFill/>
                    </a:lnR>
                    <a:lnT>
                      <a:noFill/>
                    </a:lnT>
                    <a:lnB>
                      <a:noFill/>
                    </a:lnB>
                  </a:tcPr>
                </a:tc>
              </a:tr>
              <a:tr h="171450">
                <a:tc>
                  <a:txBody>
                    <a:bodyPr/>
                    <a:lstStyle/>
                    <a:p>
                      <a:pPr algn="l">
                        <a:spcAft>
                          <a:spcPts val="0"/>
                        </a:spcAft>
                      </a:pPr>
                      <a:r>
                        <a:rPr lang="en-US" sz="1400" kern="0">
                          <a:solidFill>
                            <a:srgbClr val="000000"/>
                          </a:solidFill>
                          <a:effectLst/>
                          <a:latin typeface="宋体"/>
                          <a:ea typeface="宋体"/>
                          <a:cs typeface="宋体"/>
                        </a:rPr>
                        <a:t>601390</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0.571</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0.686</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0.015</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0.476</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0.94</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-0.008</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0.476</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0.755</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a:t>
                      </a:r>
                      <a:endParaRPr lang="zh-CN" sz="1400" kern="100">
                        <a:effectLst/>
                        <a:latin typeface="Calibri"/>
                        <a:ea typeface="宋体"/>
                        <a:cs typeface="Times New Roman"/>
                      </a:endParaRPr>
                    </a:p>
                  </a:txBody>
                  <a:tcPr marL="68580" marR="68580" marT="0" marB="0" anchor="b">
                    <a:lnL>
                      <a:noFill/>
                    </a:lnL>
                    <a:lnR>
                      <a:noFill/>
                    </a:lnR>
                    <a:lnT>
                      <a:noFill/>
                    </a:lnT>
                    <a:lnB>
                      <a:noFill/>
                    </a:lnB>
                  </a:tcPr>
                </a:tc>
              </a:tr>
              <a:tr h="171450">
                <a:tc>
                  <a:txBody>
                    <a:bodyPr/>
                    <a:lstStyle/>
                    <a:p>
                      <a:pPr algn="l">
                        <a:spcAft>
                          <a:spcPts val="0"/>
                        </a:spcAft>
                      </a:pPr>
                      <a:r>
                        <a:rPr lang="en-US" sz="1400" kern="0">
                          <a:solidFill>
                            <a:srgbClr val="000000"/>
                          </a:solidFill>
                          <a:effectLst/>
                          <a:latin typeface="宋体"/>
                          <a:ea typeface="宋体"/>
                          <a:cs typeface="宋体"/>
                        </a:rPr>
                        <a:t>000333</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0.571</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0.775</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0.104</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0.429</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1</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0.619</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0.779</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0.134</a:t>
                      </a:r>
                      <a:endParaRPr lang="zh-CN" sz="1400" kern="100">
                        <a:effectLst/>
                        <a:latin typeface="Calibri"/>
                        <a:ea typeface="宋体"/>
                        <a:cs typeface="Times New Roman"/>
                      </a:endParaRPr>
                    </a:p>
                  </a:txBody>
                  <a:tcPr marL="68580" marR="68580" marT="0" marB="0" anchor="b">
                    <a:lnL>
                      <a:noFill/>
                    </a:lnL>
                    <a:lnR>
                      <a:noFill/>
                    </a:lnR>
                    <a:lnT>
                      <a:noFill/>
                    </a:lnT>
                    <a:lnB>
                      <a:noFill/>
                    </a:lnB>
                  </a:tcPr>
                </a:tc>
              </a:tr>
              <a:tr h="171450">
                <a:tc>
                  <a:txBody>
                    <a:bodyPr/>
                    <a:lstStyle/>
                    <a:p>
                      <a:pPr algn="l">
                        <a:spcAft>
                          <a:spcPts val="0"/>
                        </a:spcAft>
                      </a:pPr>
                      <a:r>
                        <a:rPr lang="en-US" sz="1400" kern="0">
                          <a:solidFill>
                            <a:srgbClr val="000000"/>
                          </a:solidFill>
                          <a:effectLst/>
                          <a:latin typeface="宋体"/>
                          <a:ea typeface="宋体"/>
                          <a:cs typeface="宋体"/>
                        </a:rPr>
                        <a:t>000651</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0.571</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0.808</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0.029</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0.476</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1</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0.002</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0.571</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0.837</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0.062</a:t>
                      </a:r>
                      <a:endParaRPr lang="zh-CN" sz="1400" kern="100">
                        <a:effectLst/>
                        <a:latin typeface="Calibri"/>
                        <a:ea typeface="宋体"/>
                        <a:cs typeface="Times New Roman"/>
                      </a:endParaRPr>
                    </a:p>
                  </a:txBody>
                  <a:tcPr marL="68580" marR="68580" marT="0" marB="0" anchor="b">
                    <a:lnL>
                      <a:noFill/>
                    </a:lnL>
                    <a:lnR>
                      <a:noFill/>
                    </a:lnR>
                    <a:lnT>
                      <a:noFill/>
                    </a:lnT>
                    <a:lnB>
                      <a:noFill/>
                    </a:lnB>
                  </a:tcPr>
                </a:tc>
              </a:tr>
              <a:tr h="171450">
                <a:tc>
                  <a:txBody>
                    <a:bodyPr/>
                    <a:lstStyle/>
                    <a:p>
                      <a:pPr algn="l">
                        <a:spcAft>
                          <a:spcPts val="0"/>
                        </a:spcAft>
                      </a:pPr>
                      <a:r>
                        <a:rPr lang="en-US" sz="1400" kern="0">
                          <a:solidFill>
                            <a:srgbClr val="000000"/>
                          </a:solidFill>
                          <a:effectLst/>
                          <a:latin typeface="宋体"/>
                          <a:ea typeface="宋体"/>
                          <a:cs typeface="宋体"/>
                        </a:rPr>
                        <a:t>600011</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0.714</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0.706</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0.03</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0.286</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0.99</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-0.026</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0.714</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0.755</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0.023</a:t>
                      </a:r>
                      <a:endParaRPr lang="zh-CN" sz="1400" kern="100">
                        <a:effectLst/>
                        <a:latin typeface="Calibri"/>
                        <a:ea typeface="宋体"/>
                        <a:cs typeface="Times New Roman"/>
                      </a:endParaRPr>
                    </a:p>
                  </a:txBody>
                  <a:tcPr marL="68580" marR="68580" marT="0" marB="0" anchor="b">
                    <a:lnL>
                      <a:noFill/>
                    </a:lnL>
                    <a:lnR>
                      <a:noFill/>
                    </a:lnR>
                    <a:lnT>
                      <a:noFill/>
                    </a:lnT>
                    <a:lnB>
                      <a:noFill/>
                    </a:lnB>
                  </a:tcPr>
                </a:tc>
              </a:tr>
              <a:tr h="171450">
                <a:tc>
                  <a:txBody>
                    <a:bodyPr/>
                    <a:lstStyle/>
                    <a:p>
                      <a:pPr algn="l">
                        <a:spcAft>
                          <a:spcPts val="0"/>
                        </a:spcAft>
                      </a:pPr>
                      <a:r>
                        <a:rPr lang="en-US" sz="1400" kern="0">
                          <a:solidFill>
                            <a:srgbClr val="000000"/>
                          </a:solidFill>
                          <a:effectLst/>
                          <a:latin typeface="宋体"/>
                          <a:ea typeface="宋体"/>
                          <a:cs typeface="宋体"/>
                        </a:rPr>
                        <a:t>000617</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0.524</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0.779</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0.008</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0.524</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1</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0.003</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0.524</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0.821</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0.025</a:t>
                      </a:r>
                      <a:endParaRPr lang="zh-CN" sz="1400" kern="100">
                        <a:effectLst/>
                        <a:latin typeface="Calibri"/>
                        <a:ea typeface="宋体"/>
                        <a:cs typeface="Times New Roman"/>
                      </a:endParaRPr>
                    </a:p>
                  </a:txBody>
                  <a:tcPr marL="68580" marR="68580" marT="0" marB="0" anchor="b">
                    <a:lnL>
                      <a:noFill/>
                    </a:lnL>
                    <a:lnR>
                      <a:noFill/>
                    </a:lnR>
                    <a:lnT>
                      <a:noFill/>
                    </a:lnT>
                    <a:lnB>
                      <a:noFill/>
                    </a:lnB>
                  </a:tcPr>
                </a:tc>
              </a:tr>
              <a:tr h="171450">
                <a:tc>
                  <a:txBody>
                    <a:bodyPr/>
                    <a:lstStyle/>
                    <a:p>
                      <a:pPr algn="l">
                        <a:spcAft>
                          <a:spcPts val="0"/>
                        </a:spcAft>
                      </a:pPr>
                      <a:r>
                        <a:rPr lang="en-US" sz="1400" kern="0">
                          <a:solidFill>
                            <a:srgbClr val="000000"/>
                          </a:solidFill>
                          <a:effectLst/>
                          <a:latin typeface="宋体"/>
                          <a:ea typeface="宋体"/>
                          <a:cs typeface="宋体"/>
                        </a:rPr>
                        <a:t>002517</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0.667</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0.691</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0.038</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0.524</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1</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0.714</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0.76</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0.09</a:t>
                      </a:r>
                      <a:endParaRPr lang="zh-CN" sz="1400" kern="100">
                        <a:effectLst/>
                        <a:latin typeface="Calibri"/>
                        <a:ea typeface="宋体"/>
                        <a:cs typeface="Times New Roman"/>
                      </a:endParaRPr>
                    </a:p>
                  </a:txBody>
                  <a:tcPr marL="68580" marR="68580" marT="0" marB="0" anchor="b">
                    <a:lnL>
                      <a:noFill/>
                    </a:lnL>
                    <a:lnR>
                      <a:noFill/>
                    </a:lnR>
                    <a:lnT>
                      <a:noFill/>
                    </a:lnT>
                    <a:lnB>
                      <a:noFill/>
                    </a:lnB>
                  </a:tcPr>
                </a:tc>
              </a:tr>
              <a:tr h="171450">
                <a:tc>
                  <a:txBody>
                    <a:bodyPr/>
                    <a:lstStyle/>
                    <a:p>
                      <a:pPr algn="l">
                        <a:spcAft>
                          <a:spcPts val="0"/>
                        </a:spcAft>
                      </a:pPr>
                      <a:r>
                        <a:rPr lang="en-US" sz="1400" kern="0">
                          <a:solidFill>
                            <a:srgbClr val="000000"/>
                          </a:solidFill>
                          <a:effectLst/>
                          <a:latin typeface="宋体"/>
                          <a:ea typeface="宋体"/>
                          <a:cs typeface="宋体"/>
                        </a:rPr>
                        <a:t>600606</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0.714</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0.716</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0.075</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0.667</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0.98</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0.065</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0.667</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0.765</a:t>
                      </a:r>
                      <a:endParaRPr lang="zh-CN" sz="1400" kern="100">
                        <a:effectLst/>
                        <a:latin typeface="Calibri"/>
                        <a:ea typeface="宋体"/>
                        <a:cs typeface="Times New Roman"/>
                      </a:endParaRPr>
                    </a:p>
                  </a:txBody>
                  <a:tcPr marL="68580" marR="68580" marT="0" marB="0" anchor="b">
                    <a:lnL>
                      <a:noFill/>
                    </a:lnL>
                    <a:lnR>
                      <a:noFill/>
                    </a:lnR>
                    <a:lnT>
                      <a:noFill/>
                    </a:lnT>
                    <a:lnB>
                      <a:noFill/>
                    </a:lnB>
                  </a:tcPr>
                </a:tc>
                <a:tc>
                  <a:txBody>
                    <a:bodyPr/>
                    <a:lstStyle/>
                    <a:p>
                      <a:pPr algn="r">
                        <a:spcAft>
                          <a:spcPts val="0"/>
                        </a:spcAft>
                      </a:pPr>
                      <a:r>
                        <a:rPr lang="en-US" sz="1400" kern="0">
                          <a:solidFill>
                            <a:srgbClr val="000000"/>
                          </a:solidFill>
                          <a:effectLst/>
                          <a:latin typeface="宋体"/>
                          <a:ea typeface="宋体"/>
                          <a:cs typeface="宋体"/>
                        </a:rPr>
                        <a:t>0.068</a:t>
                      </a:r>
                      <a:endParaRPr lang="zh-CN" sz="1400" kern="100">
                        <a:effectLst/>
                        <a:latin typeface="Calibri"/>
                        <a:ea typeface="宋体"/>
                        <a:cs typeface="Times New Roman"/>
                      </a:endParaRPr>
                    </a:p>
                  </a:txBody>
                  <a:tcPr marL="68580" marR="68580" marT="0" marB="0" anchor="b">
                    <a:lnL>
                      <a:noFill/>
                    </a:lnL>
                    <a:lnR>
                      <a:noFill/>
                    </a:lnR>
                    <a:lnT>
                      <a:noFill/>
                    </a:lnT>
                    <a:lnB>
                      <a:noFill/>
                    </a:lnB>
                  </a:tcPr>
                </a:tc>
              </a:tr>
              <a:tr h="171450">
                <a:tc>
                  <a:txBody>
                    <a:bodyPr/>
                    <a:lstStyle/>
                    <a:p>
                      <a:pPr algn="l">
                        <a:spcAft>
                          <a:spcPts val="0"/>
                        </a:spcAft>
                      </a:pPr>
                      <a:r>
                        <a:rPr lang="en-US" sz="1400" kern="0">
                          <a:solidFill>
                            <a:srgbClr val="000000"/>
                          </a:solidFill>
                          <a:effectLst/>
                          <a:latin typeface="宋体"/>
                          <a:ea typeface="宋体"/>
                          <a:cs typeface="宋体"/>
                        </a:rPr>
                        <a:t>603444</a:t>
                      </a:r>
                      <a:endParaRPr lang="zh-CN" sz="1400" kern="100">
                        <a:effectLst/>
                        <a:latin typeface="Calibri"/>
                        <a:ea typeface="宋体"/>
                        <a:cs typeface="Times New Roman"/>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400" kern="0">
                          <a:solidFill>
                            <a:srgbClr val="000000"/>
                          </a:solidFill>
                          <a:effectLst/>
                          <a:latin typeface="宋体"/>
                          <a:ea typeface="宋体"/>
                          <a:cs typeface="宋体"/>
                        </a:rPr>
                        <a:t>0.667</a:t>
                      </a:r>
                      <a:endParaRPr lang="zh-CN" sz="1400" kern="100">
                        <a:effectLst/>
                        <a:latin typeface="Calibri"/>
                        <a:ea typeface="宋体"/>
                        <a:cs typeface="Times New Roman"/>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400" kern="0">
                          <a:solidFill>
                            <a:srgbClr val="000000"/>
                          </a:solidFill>
                          <a:effectLst/>
                          <a:latin typeface="宋体"/>
                          <a:ea typeface="宋体"/>
                          <a:cs typeface="宋体"/>
                        </a:rPr>
                        <a:t>0.818</a:t>
                      </a:r>
                      <a:endParaRPr lang="zh-CN" sz="1400" kern="100">
                        <a:effectLst/>
                        <a:latin typeface="Calibri"/>
                        <a:ea typeface="宋体"/>
                        <a:cs typeface="Times New Roman"/>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400" kern="0">
                          <a:solidFill>
                            <a:srgbClr val="000000"/>
                          </a:solidFill>
                          <a:effectLst/>
                          <a:latin typeface="宋体"/>
                          <a:ea typeface="宋体"/>
                          <a:cs typeface="宋体"/>
                        </a:rPr>
                        <a:t>-0.028</a:t>
                      </a:r>
                      <a:endParaRPr lang="zh-CN" sz="1400" kern="100">
                        <a:effectLst/>
                        <a:latin typeface="Calibri"/>
                        <a:ea typeface="宋体"/>
                        <a:cs typeface="Times New Roman"/>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400" kern="0">
                          <a:solidFill>
                            <a:srgbClr val="000000"/>
                          </a:solidFill>
                          <a:effectLst/>
                          <a:latin typeface="宋体"/>
                          <a:ea typeface="宋体"/>
                          <a:cs typeface="宋体"/>
                        </a:rPr>
                        <a:t>0.476</a:t>
                      </a:r>
                      <a:endParaRPr lang="zh-CN" sz="1400" kern="100">
                        <a:effectLst/>
                        <a:latin typeface="Calibri"/>
                        <a:ea typeface="宋体"/>
                        <a:cs typeface="Times New Roman"/>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400" kern="0">
                          <a:solidFill>
                            <a:srgbClr val="000000"/>
                          </a:solidFill>
                          <a:effectLst/>
                          <a:latin typeface="宋体"/>
                          <a:ea typeface="宋体"/>
                          <a:cs typeface="宋体"/>
                        </a:rPr>
                        <a:t>1</a:t>
                      </a:r>
                      <a:endParaRPr lang="zh-CN" sz="1400" kern="100">
                        <a:effectLst/>
                        <a:latin typeface="Calibri"/>
                        <a:ea typeface="宋体"/>
                        <a:cs typeface="Times New Roman"/>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400" kern="0">
                          <a:solidFill>
                            <a:srgbClr val="000000"/>
                          </a:solidFill>
                          <a:effectLst/>
                          <a:latin typeface="宋体"/>
                          <a:ea typeface="宋体"/>
                          <a:cs typeface="宋体"/>
                        </a:rPr>
                        <a:t>-0.143</a:t>
                      </a:r>
                      <a:endParaRPr lang="zh-CN" sz="1400" kern="100">
                        <a:effectLst/>
                        <a:latin typeface="Calibri"/>
                        <a:ea typeface="宋体"/>
                        <a:cs typeface="Times New Roman"/>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400" kern="0">
                          <a:solidFill>
                            <a:srgbClr val="000000"/>
                          </a:solidFill>
                          <a:effectLst/>
                          <a:latin typeface="宋体"/>
                          <a:ea typeface="宋体"/>
                          <a:cs typeface="宋体"/>
                        </a:rPr>
                        <a:t>0.524</a:t>
                      </a:r>
                      <a:endParaRPr lang="zh-CN" sz="1400" kern="100">
                        <a:effectLst/>
                        <a:latin typeface="Calibri"/>
                        <a:ea typeface="宋体"/>
                        <a:cs typeface="Times New Roman"/>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400" kern="0">
                          <a:solidFill>
                            <a:srgbClr val="000000"/>
                          </a:solidFill>
                          <a:effectLst/>
                          <a:latin typeface="宋体"/>
                          <a:ea typeface="宋体"/>
                          <a:cs typeface="宋体"/>
                        </a:rPr>
                        <a:t>0.842</a:t>
                      </a:r>
                      <a:endParaRPr lang="zh-CN" sz="1400" kern="100">
                        <a:effectLst/>
                        <a:latin typeface="Calibri"/>
                        <a:ea typeface="宋体"/>
                        <a:cs typeface="Times New Roman"/>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400" kern="0" dirty="0">
                          <a:solidFill>
                            <a:srgbClr val="000000"/>
                          </a:solidFill>
                          <a:effectLst/>
                          <a:latin typeface="宋体"/>
                          <a:ea typeface="宋体"/>
                          <a:cs typeface="宋体"/>
                        </a:rPr>
                        <a:t>-0.089</a:t>
                      </a:r>
                      <a:endParaRPr lang="zh-CN" sz="1400" kern="100" dirty="0">
                        <a:effectLst/>
                        <a:latin typeface="Calibri"/>
                        <a:ea typeface="宋体"/>
                        <a:cs typeface="Times New Roman"/>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516209131"/>
      </p:ext>
    </p:extLst>
  </p:cSld>
  <p:clrMapOvr>
    <a:masterClrMapping/>
  </p:clrMapOvr>
  <mc:AlternateContent xmlns:mc="http://schemas.openxmlformats.org/markup-compatibility/2006" xmlns:p14="http://schemas.microsoft.com/office/powerpoint/2010/main">
    <mc:Choice Requires="p14">
      <p:transition p14:dur="10" advTm="9437"/>
    </mc:Choice>
    <mc:Fallback xmlns="">
      <p:transition advTm="9437"/>
    </mc:Fallback>
  </mc:AlternateContent>
  <p:timing>
    <p:tnLst>
      <p:par>
        <p:cTn id="1" dur="indefinite" restart="never" nodeType="tmRoot"/>
      </p:par>
    </p:tnLst>
  </p:timing>
</p:sld>
</file>

<file path=ppt/theme/theme1.xml><?xml version="1.0" encoding="utf-8"?>
<a:theme xmlns:a="http://schemas.openxmlformats.org/drawingml/2006/main" name="第一PPT，www.1ppt.com">
  <a:themeElements>
    <a:clrScheme name="155">
      <a:dk1>
        <a:srgbClr val="294A5A"/>
      </a:dk1>
      <a:lt1>
        <a:srgbClr val="99CC39"/>
      </a:lt1>
      <a:dk2>
        <a:srgbClr val="F9C900"/>
      </a:dk2>
      <a:lt2>
        <a:srgbClr val="ED5A00"/>
      </a:lt2>
      <a:accent1>
        <a:srgbClr val="484849"/>
      </a:accent1>
      <a:accent2>
        <a:srgbClr val="FFFFFF"/>
      </a:accent2>
      <a:accent3>
        <a:srgbClr val="969696"/>
      </a:accent3>
      <a:accent4>
        <a:srgbClr val="00AAA2"/>
      </a:accent4>
      <a:accent5>
        <a:srgbClr val="99CC39"/>
      </a:accent5>
      <a:accent6>
        <a:srgbClr val="F9C900"/>
      </a:accent6>
      <a:hlink>
        <a:srgbClr val="ED5A00"/>
      </a:hlink>
      <a:folHlink>
        <a:srgbClr val="484849"/>
      </a:folHlink>
    </a:clrScheme>
    <a:fontScheme name="默认设计模板">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itchFamily="34" charset="0"/>
          <a:buNone/>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itchFamily="34" charset="0"/>
          <a:buNone/>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默认设计模板 13">
        <a:dk1>
          <a:srgbClr val="000000"/>
        </a:dk1>
        <a:lt1>
          <a:srgbClr val="FFFFD9"/>
        </a:lt1>
        <a:dk2>
          <a:srgbClr val="2B2E30"/>
        </a:dk2>
        <a:lt2>
          <a:srgbClr val="777777"/>
        </a:lt2>
        <a:accent1>
          <a:srgbClr val="7FBA00"/>
        </a:accent1>
        <a:accent2>
          <a:srgbClr val="FCDB00"/>
        </a:accent2>
        <a:accent3>
          <a:srgbClr val="FFFFE9"/>
        </a:accent3>
        <a:accent4>
          <a:srgbClr val="000000"/>
        </a:accent4>
        <a:accent5>
          <a:srgbClr val="C0D9AA"/>
        </a:accent5>
        <a:accent6>
          <a:srgbClr val="E4C600"/>
        </a:accent6>
        <a:hlink>
          <a:srgbClr val="21A3D0"/>
        </a:hlink>
        <a:folHlink>
          <a:srgbClr val="DA251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5705</TotalTime>
  <Words>1934</Words>
  <Application>Microsoft Office PowerPoint</Application>
  <PresentationFormat>自定义</PresentationFormat>
  <Paragraphs>454</Paragraphs>
  <Slides>9</Slides>
  <Notes>9</Notes>
  <HiddenSlides>0</HiddenSlides>
  <MMClips>0</MMClips>
  <ScaleCrop>false</ScaleCrop>
  <HeadingPairs>
    <vt:vector size="4" baseType="variant">
      <vt:variant>
        <vt:lpstr>主题</vt:lpstr>
      </vt:variant>
      <vt:variant>
        <vt:i4>1</vt:i4>
      </vt:variant>
      <vt:variant>
        <vt:lpstr>幻灯片标题</vt:lpstr>
      </vt:variant>
      <vt:variant>
        <vt:i4>9</vt:i4>
      </vt:variant>
    </vt:vector>
  </HeadingPairs>
  <TitlesOfParts>
    <vt:vector size="10" baseType="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商业融资计划书</dc:title>
  <dc:creator>第一PPT</dc:creator>
  <cp:keywords>www.1ppt.com</cp:keywords>
  <cp:lastModifiedBy>ASUS</cp:lastModifiedBy>
  <cp:revision>1581</cp:revision>
  <dcterms:created xsi:type="dcterms:W3CDTF">2013-01-25T01:44:00Z</dcterms:created>
  <dcterms:modified xsi:type="dcterms:W3CDTF">2019-11-30T06:23:23Z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2052-10.1.0.5400</vt:lpwstr>
  </property>
</Properties>
</file>