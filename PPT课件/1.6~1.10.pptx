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2"/>
  </p:handoutMasterIdLst>
  <p:sldIdLst>
    <p:sldId id="828" r:id="rId3"/>
    <p:sldId id="954" r:id="rId5"/>
    <p:sldId id="914" r:id="rId6"/>
    <p:sldId id="940" r:id="rId7"/>
    <p:sldId id="941" r:id="rId8"/>
    <p:sldId id="942" r:id="rId9"/>
    <p:sldId id="939" r:id="rId10"/>
    <p:sldId id="943" r:id="rId11"/>
    <p:sldId id="944" r:id="rId12"/>
    <p:sldId id="945" r:id="rId13"/>
    <p:sldId id="946" r:id="rId14"/>
    <p:sldId id="947" r:id="rId15"/>
    <p:sldId id="948" r:id="rId16"/>
    <p:sldId id="949" r:id="rId17"/>
    <p:sldId id="950" r:id="rId18"/>
    <p:sldId id="951" r:id="rId19"/>
    <p:sldId id="952" r:id="rId20"/>
    <p:sldId id="953" r:id="rId21"/>
  </p:sldIdLst>
  <p:sldSz cx="12196445" cy="6858000"/>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尚佳" initials="张"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F8F8"/>
    <a:srgbClr val="17DCF1"/>
    <a:srgbClr val="0DC2D5"/>
    <a:srgbClr val="006BBC"/>
    <a:srgbClr val="00AAA2"/>
    <a:srgbClr val="EFEFEF"/>
    <a:srgbClr val="FFFFFF"/>
    <a:srgbClr val="F0F0F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044" autoAdjust="0"/>
    <p:restoredTop sz="94270" autoAdjust="0"/>
  </p:normalViewPr>
  <p:slideViewPr>
    <p:cSldViewPr snapToObjects="1">
      <p:cViewPr varScale="1">
        <p:scale>
          <a:sx n="89" d="100"/>
          <a:sy n="89" d="100"/>
        </p:scale>
        <p:origin x="-222" y="-108"/>
      </p:cViewPr>
      <p:guideLst>
        <p:guide orient="horz" pos="2143"/>
        <p:guide pos="3842"/>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notesViewPr>
    <p:cSldViewPr snapToObjects="1">
      <p:cViewPr varScale="1">
        <p:scale>
          <a:sx n="69" d="100"/>
          <a:sy n="69" d="100"/>
        </p:scale>
        <p:origin x="-28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610686-844B-4A1B-87C8-BB90DB4BAB8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vl1pPr>
          </a:lstStyle>
          <a:p>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vl1pPr>
          </a:lstStyle>
          <a:p>
            <a:fld id="{B9EEDA17-7CE7-49CA-897E-A1888A19DA62}" type="datetimeFigureOut">
              <a:rPr lang="zh-CN" altLang="en-US"/>
            </a:fld>
            <a:endParaRPr lang="en-US"/>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vl1pPr>
          </a:lstStyle>
          <a:p>
            <a:fld id="{CE1689F0-D8FB-450F-A36F-553F26501FEE}" type="slidenum">
              <a:rPr lang="zh-CN" alt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6170389" y="134946"/>
            <a:ext cx="775136" cy="24622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endParaRPr lang="zh-CN" altLang="en-US"/>
          </a:p>
        </p:txBody>
      </p:sp>
      <p:sp>
        <p:nvSpPr>
          <p:cNvPr id="3"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p>
        </p:txBody>
      </p:sp>
      <p:sp>
        <p:nvSpPr>
          <p:cNvPr id="9"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0"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5" name="TextBox 14"/>
          <p:cNvSpPr txBox="1"/>
          <p:nvPr userDrawn="1"/>
        </p:nvSpPr>
        <p:spPr>
          <a:xfrm>
            <a:off x="11537052" y="116633"/>
            <a:ext cx="474797"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chemeClr val="accent2"/>
                </a:solidFill>
                <a:latin typeface="+mn-ea"/>
                <a:ea typeface="+mn-ea"/>
              </a:rPr>
            </a:fld>
            <a:endParaRPr lang="zh-CN" altLang="en-US" sz="17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5" name="图片 13" descr="泰迪logo无底色.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940" y="6309320"/>
            <a:ext cx="918092"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7"/>
            <a:ext cx="10977563"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1" y="1535113"/>
            <a:ext cx="5389563"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2"/>
            <a:ext cx="4013201"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775" y="5367338"/>
            <a:ext cx="7318375"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6341" y="2904247"/>
            <a:ext cx="401158"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6102" y="2725339"/>
            <a:ext cx="1116793"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6.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908051"/>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609601" y="1600201"/>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endParaRPr lang="zh-CN" dirty="0"/>
          </a:p>
          <a:p>
            <a:pPr lvl="1"/>
            <a:r>
              <a:rPr lang="zh-CN" dirty="0"/>
              <a:t>第二级</a:t>
            </a:r>
            <a:endParaRPr 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10" advTm="9437"/>
    </mc:Choice>
    <mc:Fallback>
      <p:transition advTm="9437"/>
    </mc:Fallback>
  </mc:AlternateConten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b="1" dirty="0">
                <a:solidFill>
                  <a:schemeClr val="accent2"/>
                </a:solidFill>
              </a:rPr>
              <a:t>1.6</a:t>
            </a:r>
            <a:r>
              <a:rPr lang="zh-CN" altLang="zh-CN" sz="2800" b="1" dirty="0">
                <a:solidFill>
                  <a:schemeClr val="accent2"/>
                </a:solidFill>
              </a:rPr>
              <a:t>字典方法</a:t>
            </a:r>
            <a:endParaRPr lang="zh-CN" altLang="zh-CN" sz="2800" b="1" dirty="0">
              <a:solidFill>
                <a:schemeClr val="accent2"/>
              </a:solidFill>
            </a:endParaRPr>
          </a:p>
        </p:txBody>
      </p:sp>
      <p:sp>
        <p:nvSpPr>
          <p:cNvPr id="14" name="矩形 13"/>
          <p:cNvSpPr/>
          <p:nvPr/>
        </p:nvSpPr>
        <p:spPr>
          <a:xfrm>
            <a:off x="337741" y="1052736"/>
            <a:ext cx="11593288" cy="1200329"/>
          </a:xfrm>
          <a:prstGeom prst="rect">
            <a:avLst/>
          </a:prstGeom>
        </p:spPr>
        <p:txBody>
          <a:bodyPr wrap="square">
            <a:spAutoFit/>
          </a:bodyPr>
          <a:lstStyle/>
          <a:p>
            <a:pPr indent="720090"/>
            <a:r>
              <a:rPr lang="zh-CN" altLang="zh-CN" sz="2400" dirty="0">
                <a:latin typeface="宋体" panose="02010600030101010101" pitchFamily="2" charset="-122"/>
              </a:rPr>
              <a:t>字典作为</a:t>
            </a:r>
            <a:r>
              <a:rPr lang="en-US" altLang="zh-CN" sz="2400" dirty="0">
                <a:latin typeface="宋体" panose="02010600030101010101" pitchFamily="2" charset="-122"/>
              </a:rPr>
              <a:t>Python</a:t>
            </a:r>
            <a:r>
              <a:rPr lang="zh-CN" altLang="zh-CN" sz="2400" dirty="0">
                <a:latin typeface="宋体" panose="02010600030101010101" pitchFamily="2" charset="-122"/>
              </a:rPr>
              <a:t>中非常重要的一种数据结构，在编程中应用极为广泛，特别是与第</a:t>
            </a:r>
            <a:r>
              <a:rPr lang="en-US" altLang="zh-CN" sz="2400" dirty="0">
                <a:latin typeface="宋体" panose="02010600030101010101" pitchFamily="2" charset="-122"/>
              </a:rPr>
              <a:t>3</a:t>
            </a:r>
            <a:r>
              <a:rPr lang="zh-CN" altLang="zh-CN" sz="2400" dirty="0">
                <a:latin typeface="宋体" panose="02010600030101010101" pitchFamily="2" charset="-122"/>
              </a:rPr>
              <a:t>章中的数据框进行灵活转换并实现数据处理是一种非常重要的编程技能。本小节主要介绍字典中几个常用的方法，包括字典的定义、字典取值、字典赋值。</a:t>
            </a:r>
            <a:endParaRPr lang="zh-CN" altLang="zh-CN" sz="2400" dirty="0">
              <a:latin typeface="宋体" panose="02010600030101010101" pitchFamily="2" charset="-122"/>
            </a:endParaRPr>
          </a:p>
        </p:txBody>
      </p:sp>
      <p:sp>
        <p:nvSpPr>
          <p:cNvPr id="17" name="矩形 16"/>
          <p:cNvSpPr/>
          <p:nvPr/>
        </p:nvSpPr>
        <p:spPr>
          <a:xfrm>
            <a:off x="625773" y="2564904"/>
            <a:ext cx="2145030" cy="368300"/>
          </a:xfrm>
          <a:prstGeom prst="rect">
            <a:avLst/>
          </a:prstGeom>
        </p:spPr>
        <p:txBody>
          <a:bodyPr wrap="none">
            <a:spAutoFit/>
          </a:bodyPr>
          <a:lstStyle/>
          <a:p>
            <a:r>
              <a:rPr lang="en-US" altLang="zh-CN" b="1" dirty="0"/>
              <a:t>1. </a:t>
            </a:r>
            <a:r>
              <a:rPr lang="zh-CN" altLang="zh-CN" b="1" dirty="0"/>
              <a:t>创建字典：</a:t>
            </a:r>
            <a:r>
              <a:rPr lang="en-US" altLang="zh-CN" b="1" dirty="0" err="1"/>
              <a:t>dict</a:t>
            </a:r>
            <a:r>
              <a:rPr lang="en-US" altLang="zh-CN" b="1" dirty="0"/>
              <a:t>()</a:t>
            </a:r>
            <a:endParaRPr lang="zh-CN" altLang="zh-CN" b="1" dirty="0"/>
          </a:p>
        </p:txBody>
      </p:sp>
      <p:sp>
        <p:nvSpPr>
          <p:cNvPr id="21" name="矩形 20"/>
          <p:cNvSpPr/>
          <p:nvPr/>
        </p:nvSpPr>
        <p:spPr>
          <a:xfrm>
            <a:off x="803879" y="3429000"/>
            <a:ext cx="8390845" cy="2585323"/>
          </a:xfrm>
          <a:prstGeom prst="rect">
            <a:avLst/>
          </a:prstGeom>
        </p:spPr>
        <p:txBody>
          <a:bodyPr wrap="square">
            <a:spAutoFit/>
          </a:bodyPr>
          <a:lstStyle/>
          <a:p>
            <a:r>
              <a:rPr lang="zh-CN" altLang="zh-CN" dirty="0"/>
              <a:t>通过</a:t>
            </a:r>
            <a:r>
              <a:rPr lang="en-US" altLang="zh-CN" dirty="0" err="1"/>
              <a:t>dict</a:t>
            </a:r>
            <a:r>
              <a:rPr lang="zh-CN" altLang="zh-CN" dirty="0"/>
              <a:t>函数，可以创建空字典，也可以将嵌套列表转换为字典。示例代码如下：</a:t>
            </a:r>
            <a:endParaRPr lang="zh-CN" altLang="zh-CN" dirty="0"/>
          </a:p>
          <a:p>
            <a:r>
              <a:rPr lang="en-US" altLang="zh-CN" dirty="0"/>
              <a:t>d=</a:t>
            </a:r>
            <a:r>
              <a:rPr lang="en-US" altLang="zh-CN" dirty="0" err="1"/>
              <a:t>dict</a:t>
            </a:r>
            <a:r>
              <a:rPr lang="en-US" altLang="zh-CN" dirty="0"/>
              <a:t>()  #</a:t>
            </a:r>
            <a:r>
              <a:rPr lang="zh-CN" altLang="zh-CN" dirty="0"/>
              <a:t>产生空字典</a:t>
            </a:r>
            <a:endParaRPr lang="zh-CN" altLang="zh-CN" dirty="0"/>
          </a:p>
          <a:p>
            <a:r>
              <a:rPr lang="en-US" altLang="zh-CN" dirty="0"/>
              <a:t>D={}     #</a:t>
            </a:r>
            <a:r>
              <a:rPr lang="zh-CN" altLang="zh-CN" dirty="0"/>
              <a:t>产生空字典</a:t>
            </a:r>
            <a:endParaRPr lang="zh-CN" altLang="zh-CN" dirty="0"/>
          </a:p>
          <a:p>
            <a:r>
              <a:rPr lang="en-US" altLang="zh-CN" dirty="0"/>
              <a:t>list1=[('</a:t>
            </a:r>
            <a:r>
              <a:rPr lang="en-US" altLang="zh-CN" dirty="0" err="1"/>
              <a:t>a','ok</a:t>
            </a:r>
            <a:r>
              <a:rPr lang="en-US" altLang="zh-CN" dirty="0"/>
              <a:t>'),('1','lk'),('001','lk')]   #</a:t>
            </a:r>
            <a:r>
              <a:rPr lang="zh-CN" altLang="zh-CN" dirty="0"/>
              <a:t>嵌套元素为元组</a:t>
            </a:r>
            <a:endParaRPr lang="zh-CN" altLang="zh-CN" dirty="0"/>
          </a:p>
          <a:p>
            <a:r>
              <a:rPr lang="en-US" altLang="zh-CN" dirty="0"/>
              <a:t>list2=[['</a:t>
            </a:r>
            <a:r>
              <a:rPr lang="en-US" altLang="zh-CN" dirty="0" err="1"/>
              <a:t>a','ok</a:t>
            </a:r>
            <a:r>
              <a:rPr lang="en-US" altLang="zh-CN" dirty="0"/>
              <a:t>'],['b','</a:t>
            </a:r>
            <a:r>
              <a:rPr lang="en-US" altLang="zh-CN" dirty="0" err="1"/>
              <a:t>lk</a:t>
            </a:r>
            <a:r>
              <a:rPr lang="en-US" altLang="zh-CN" dirty="0"/>
              <a:t>'],[3,'lk']]   #</a:t>
            </a:r>
            <a:r>
              <a:rPr lang="zh-CN" altLang="zh-CN" dirty="0"/>
              <a:t>嵌套元素为</a:t>
            </a:r>
            <a:r>
              <a:rPr lang="zh-CN" altLang="zh-CN" dirty="0" smtClean="0"/>
              <a:t>列表</a:t>
            </a:r>
            <a:endParaRPr lang="en-US" altLang="zh-CN" dirty="0" smtClean="0"/>
          </a:p>
          <a:p>
            <a:r>
              <a:rPr lang="en-US" altLang="zh-CN" dirty="0"/>
              <a:t>d1=</a:t>
            </a:r>
            <a:r>
              <a:rPr lang="en-US" altLang="zh-CN" dirty="0" err="1"/>
              <a:t>dict</a:t>
            </a:r>
            <a:r>
              <a:rPr lang="en-US" altLang="zh-CN" dirty="0"/>
              <a:t>(list1)</a:t>
            </a:r>
            <a:endParaRPr lang="zh-CN" altLang="zh-CN" dirty="0"/>
          </a:p>
          <a:p>
            <a:r>
              <a:rPr lang="en-US" altLang="zh-CN" dirty="0"/>
              <a:t>d2=</a:t>
            </a:r>
            <a:r>
              <a:rPr lang="en-US" altLang="zh-CN" dirty="0" err="1"/>
              <a:t>dict</a:t>
            </a:r>
            <a:r>
              <a:rPr lang="en-US" altLang="zh-CN" dirty="0"/>
              <a:t>(list2)</a:t>
            </a:r>
            <a:endParaRPr lang="zh-CN" altLang="zh-CN" dirty="0"/>
          </a:p>
          <a:p>
            <a:r>
              <a:rPr lang="en-US" altLang="zh-CN" dirty="0"/>
              <a:t>print('d=</a:t>
            </a:r>
            <a:r>
              <a:rPr lang="zh-CN" altLang="zh-CN" dirty="0"/>
              <a:t>：</a:t>
            </a:r>
            <a:r>
              <a:rPr lang="en-US" altLang="zh-CN" dirty="0"/>
              <a:t>',d)</a:t>
            </a:r>
            <a:endParaRPr lang="zh-CN" altLang="zh-CN" dirty="0"/>
          </a:p>
          <a:p>
            <a:r>
              <a:rPr lang="en-US" altLang="zh-CN" dirty="0"/>
              <a:t>print('D=: ',D)</a:t>
            </a:r>
            <a:endParaRPr lang="zh-CN" altLang="zh-CN" dirty="0"/>
          </a:p>
        </p:txBody>
      </p:sp>
      <p:sp>
        <p:nvSpPr>
          <p:cNvPr id="6" name="TextBox 55"/>
          <p:cNvSpPr txBox="1"/>
          <p:nvPr/>
        </p:nvSpPr>
        <p:spPr>
          <a:xfrm>
            <a:off x="93643" y="106180"/>
            <a:ext cx="1064260" cy="400103"/>
          </a:xfrm>
          <a:prstGeom prst="rect">
            <a:avLst/>
          </a:prstGeom>
          <a:noFill/>
        </p:spPr>
        <p:txBody>
          <a:bodyPr wrap="square" lIns="91434" tIns="45717" rIns="91434" bIns="45717" rtlCol="0">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r>
              <a:rPr lang="en-US" altLang="zh-CN" sz="2000" dirty="0">
                <a:solidFill>
                  <a:schemeClr val="accent2"/>
                </a:solidFill>
              </a:rPr>
              <a:t>Part 1</a:t>
            </a:r>
            <a:r>
              <a:rPr lang="en-US" altLang="zh-CN" dirty="0">
                <a:solidFill>
                  <a:schemeClr val="accent2"/>
                </a:solidFill>
              </a:rPr>
              <a:t> </a:t>
            </a:r>
            <a:endParaRPr lang="zh-CN" altLang="en-US"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69789" y="332656"/>
            <a:ext cx="7488832" cy="2031325"/>
          </a:xfrm>
          <a:prstGeom prst="rect">
            <a:avLst/>
          </a:prstGeom>
        </p:spPr>
        <p:txBody>
          <a:bodyPr wrap="square">
            <a:spAutoFit/>
          </a:bodyPr>
          <a:lstStyle/>
          <a:p>
            <a:r>
              <a:rPr lang="en-US" altLang="zh-CN" dirty="0"/>
              <a:t>print('d1=: ',d1)</a:t>
            </a:r>
            <a:endParaRPr lang="zh-CN" altLang="zh-CN" dirty="0"/>
          </a:p>
          <a:p>
            <a:r>
              <a:rPr lang="en-US" altLang="zh-CN" dirty="0"/>
              <a:t>print('d2=: ',d2)</a:t>
            </a:r>
            <a:endParaRPr lang="zh-CN" altLang="zh-CN" dirty="0"/>
          </a:p>
          <a:p>
            <a:r>
              <a:rPr lang="zh-CN" altLang="zh-CN" dirty="0"/>
              <a:t>执行结果如下：</a:t>
            </a:r>
            <a:endParaRPr lang="zh-CN" altLang="zh-CN" dirty="0"/>
          </a:p>
          <a:p>
            <a:r>
              <a:rPr lang="en-US" altLang="zh-CN" dirty="0"/>
              <a:t>d=  {}</a:t>
            </a:r>
            <a:endParaRPr lang="zh-CN" altLang="zh-CN" dirty="0"/>
          </a:p>
          <a:p>
            <a:r>
              <a:rPr lang="en-US" altLang="zh-CN" dirty="0"/>
              <a:t>D=  {}</a:t>
            </a:r>
            <a:endParaRPr lang="zh-CN" altLang="zh-CN" dirty="0"/>
          </a:p>
          <a:p>
            <a:r>
              <a:rPr lang="en-US" altLang="zh-CN" dirty="0"/>
              <a:t>d1=  {'a': 'ok', '1': '</a:t>
            </a:r>
            <a:r>
              <a:rPr lang="en-US" altLang="zh-CN" dirty="0" err="1"/>
              <a:t>lk</a:t>
            </a:r>
            <a:r>
              <a:rPr lang="en-US" altLang="zh-CN" dirty="0"/>
              <a:t>', '001': '</a:t>
            </a:r>
            <a:r>
              <a:rPr lang="en-US" altLang="zh-CN" dirty="0" err="1"/>
              <a:t>lk</a:t>
            </a:r>
            <a:r>
              <a:rPr lang="en-US" altLang="zh-CN" dirty="0"/>
              <a:t>'}</a:t>
            </a:r>
            <a:endParaRPr lang="zh-CN" altLang="zh-CN" dirty="0"/>
          </a:p>
          <a:p>
            <a:r>
              <a:rPr lang="en-US" altLang="zh-CN" dirty="0"/>
              <a:t>d2=  {'a': 'ok', 'b': '</a:t>
            </a:r>
            <a:r>
              <a:rPr lang="en-US" altLang="zh-CN" dirty="0" err="1"/>
              <a:t>lk</a:t>
            </a:r>
            <a:r>
              <a:rPr lang="en-US" altLang="zh-CN" dirty="0"/>
              <a:t>', 3: '</a:t>
            </a:r>
            <a:r>
              <a:rPr lang="en-US" altLang="zh-CN" dirty="0" err="1"/>
              <a:t>lk</a:t>
            </a:r>
            <a:r>
              <a:rPr lang="en-US" altLang="zh-CN" dirty="0"/>
              <a:t>'}</a:t>
            </a:r>
            <a:endParaRPr lang="zh-CN" altLang="zh-CN" dirty="0"/>
          </a:p>
        </p:txBody>
      </p:sp>
      <p:sp>
        <p:nvSpPr>
          <p:cNvPr id="6" name="矩形 5"/>
          <p:cNvSpPr/>
          <p:nvPr/>
        </p:nvSpPr>
        <p:spPr>
          <a:xfrm>
            <a:off x="735597" y="2380238"/>
            <a:ext cx="2335896" cy="369332"/>
          </a:xfrm>
          <a:prstGeom prst="rect">
            <a:avLst/>
          </a:prstGeom>
        </p:spPr>
        <p:txBody>
          <a:bodyPr wrap="none">
            <a:spAutoFit/>
          </a:bodyPr>
          <a:lstStyle/>
          <a:p>
            <a:r>
              <a:rPr lang="en-US" altLang="zh-CN" b="1" dirty="0"/>
              <a:t>2. </a:t>
            </a:r>
            <a:r>
              <a:rPr lang="zh-CN" altLang="zh-CN" b="1" dirty="0"/>
              <a:t>获取字典值：</a:t>
            </a:r>
            <a:r>
              <a:rPr lang="en-US" altLang="zh-CN" b="1" dirty="0"/>
              <a:t>get()</a:t>
            </a:r>
            <a:endParaRPr lang="zh-CN" altLang="zh-CN" b="1" dirty="0"/>
          </a:p>
        </p:txBody>
      </p:sp>
      <p:sp>
        <p:nvSpPr>
          <p:cNvPr id="7" name="矩形 6"/>
          <p:cNvSpPr/>
          <p:nvPr/>
        </p:nvSpPr>
        <p:spPr>
          <a:xfrm>
            <a:off x="786134" y="2750403"/>
            <a:ext cx="6096000" cy="1200329"/>
          </a:xfrm>
          <a:prstGeom prst="rect">
            <a:avLst/>
          </a:prstGeom>
        </p:spPr>
        <p:txBody>
          <a:bodyPr>
            <a:spAutoFit/>
          </a:bodyPr>
          <a:lstStyle/>
          <a:p>
            <a:r>
              <a:rPr lang="zh-CN" altLang="zh-CN" dirty="0"/>
              <a:t>通过</a:t>
            </a:r>
            <a:r>
              <a:rPr lang="en-US" altLang="zh-CN" dirty="0"/>
              <a:t>get</a:t>
            </a:r>
            <a:r>
              <a:rPr lang="zh-CN" altLang="zh-CN" dirty="0"/>
              <a:t>方法，可以获取对应键的值。示例代码如下：</a:t>
            </a:r>
            <a:endParaRPr lang="zh-CN" altLang="zh-CN" dirty="0"/>
          </a:p>
          <a:p>
            <a:r>
              <a:rPr lang="en-US" altLang="zh-CN" dirty="0"/>
              <a:t>print(d2.get('b'))</a:t>
            </a:r>
            <a:endParaRPr lang="zh-CN" altLang="zh-CN" dirty="0"/>
          </a:p>
          <a:p>
            <a:r>
              <a:rPr lang="zh-CN" altLang="zh-CN" dirty="0"/>
              <a:t>输出结果如下：</a:t>
            </a:r>
            <a:endParaRPr lang="zh-CN" altLang="zh-CN" dirty="0"/>
          </a:p>
          <a:p>
            <a:r>
              <a:rPr lang="en-US" altLang="zh-CN" dirty="0" err="1"/>
              <a:t>lk</a:t>
            </a:r>
            <a:endParaRPr lang="zh-CN" altLang="zh-CN" dirty="0"/>
          </a:p>
        </p:txBody>
      </p:sp>
      <p:sp>
        <p:nvSpPr>
          <p:cNvPr id="8" name="矩形 7"/>
          <p:cNvSpPr/>
          <p:nvPr/>
        </p:nvSpPr>
        <p:spPr>
          <a:xfrm>
            <a:off x="769789" y="3953930"/>
            <a:ext cx="2847254" cy="369332"/>
          </a:xfrm>
          <a:prstGeom prst="rect">
            <a:avLst/>
          </a:prstGeom>
        </p:spPr>
        <p:txBody>
          <a:bodyPr wrap="none">
            <a:spAutoFit/>
          </a:bodyPr>
          <a:lstStyle/>
          <a:p>
            <a:r>
              <a:rPr lang="en-US" altLang="zh-CN" b="1" dirty="0"/>
              <a:t>3. </a:t>
            </a:r>
            <a:r>
              <a:rPr lang="zh-CN" altLang="zh-CN" b="1" dirty="0"/>
              <a:t>字典赋值：</a:t>
            </a:r>
            <a:r>
              <a:rPr lang="en-US" altLang="zh-CN" b="1" dirty="0" err="1"/>
              <a:t>setdefault</a:t>
            </a:r>
            <a:r>
              <a:rPr lang="en-US" altLang="zh-CN" b="1" dirty="0"/>
              <a:t>()</a:t>
            </a:r>
            <a:endParaRPr lang="zh-CN" altLang="zh-CN" b="1" dirty="0"/>
          </a:p>
        </p:txBody>
      </p:sp>
      <p:sp>
        <p:nvSpPr>
          <p:cNvPr id="9" name="矩形 8"/>
          <p:cNvSpPr/>
          <p:nvPr/>
        </p:nvSpPr>
        <p:spPr>
          <a:xfrm>
            <a:off x="799298" y="4323262"/>
            <a:ext cx="6096000" cy="2585323"/>
          </a:xfrm>
          <a:prstGeom prst="rect">
            <a:avLst/>
          </a:prstGeom>
        </p:spPr>
        <p:txBody>
          <a:bodyPr>
            <a:spAutoFit/>
          </a:bodyPr>
          <a:lstStyle/>
          <a:p>
            <a:r>
              <a:rPr lang="zh-CN" altLang="zh-CN" dirty="0"/>
              <a:t>通过</a:t>
            </a:r>
            <a:r>
              <a:rPr lang="en-US" altLang="zh-CN" dirty="0" err="1"/>
              <a:t>setdefault</a:t>
            </a:r>
            <a:r>
              <a:rPr lang="zh-CN" altLang="zh-CN" dirty="0"/>
              <a:t>方法，可以对预定义的空字典进行赋值。示例代码如下：</a:t>
            </a:r>
            <a:endParaRPr lang="zh-CN" altLang="zh-CN" dirty="0"/>
          </a:p>
          <a:p>
            <a:r>
              <a:rPr lang="en-US" altLang="zh-CN" dirty="0" err="1"/>
              <a:t>d.setdefault</a:t>
            </a:r>
            <a:r>
              <a:rPr lang="en-US" altLang="zh-CN" dirty="0"/>
              <a:t>('a',0)</a:t>
            </a:r>
            <a:endParaRPr lang="zh-CN" altLang="zh-CN" dirty="0"/>
          </a:p>
          <a:p>
            <a:r>
              <a:rPr lang="en-US" altLang="zh-CN" dirty="0" err="1"/>
              <a:t>D.setdefault</a:t>
            </a:r>
            <a:r>
              <a:rPr lang="en-US" altLang="zh-CN" dirty="0"/>
              <a:t>('b',[1,2,3,4,5])</a:t>
            </a:r>
            <a:endParaRPr lang="zh-CN" altLang="zh-CN" dirty="0"/>
          </a:p>
          <a:p>
            <a:r>
              <a:rPr lang="en-US" altLang="zh-CN" dirty="0"/>
              <a:t>print(d)</a:t>
            </a:r>
            <a:endParaRPr lang="zh-CN" altLang="zh-CN" dirty="0"/>
          </a:p>
          <a:p>
            <a:r>
              <a:rPr lang="en-US" altLang="zh-CN" dirty="0"/>
              <a:t>print(D)</a:t>
            </a:r>
            <a:endParaRPr lang="zh-CN" altLang="zh-CN" dirty="0"/>
          </a:p>
          <a:p>
            <a:r>
              <a:rPr lang="zh-CN" altLang="zh-CN" dirty="0"/>
              <a:t>执行结果如下：</a:t>
            </a:r>
            <a:endParaRPr lang="zh-CN" altLang="zh-CN" dirty="0"/>
          </a:p>
          <a:p>
            <a:r>
              <a:rPr lang="en-US" altLang="zh-CN" dirty="0"/>
              <a:t>{'a': 0}</a:t>
            </a:r>
            <a:endParaRPr lang="zh-CN" altLang="zh-CN" dirty="0"/>
          </a:p>
          <a:p>
            <a:r>
              <a:rPr lang="en-US" altLang="zh-CN" dirty="0"/>
              <a:t>{'b': [1, 2, 3, 4, 5]}</a:t>
            </a:r>
            <a:endParaRPr lang="zh-CN" altLang="zh-CN"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10"/>
          <p:cNvSpPr txBox="1"/>
          <p:nvPr>
            <p:custDataLst>
              <p:tags r:id="rId1"/>
            </p:custDataLst>
          </p:nvPr>
        </p:nvSpPr>
        <p:spPr>
          <a:xfrm>
            <a:off x="1170056" y="5013176"/>
            <a:ext cx="698500" cy="646112"/>
          </a:xfrm>
          <a:prstGeom prst="rect">
            <a:avLst/>
          </a:prstGeom>
          <a:noFill/>
          <a:ln w="9525">
            <a:noFill/>
          </a:ln>
        </p:spPr>
        <p:txBody>
          <a:bodyPr wrap="none" anchor="ctr">
            <a:scene3d>
              <a:camera prst="orthographicFront"/>
              <a:lightRig rig="soft" dir="t">
                <a:rot lat="0" lon="0" rev="15600000"/>
              </a:lightRig>
            </a:scene3d>
            <a:sp3d extrusionH="57150" prstMaterial="softEdge">
              <a:bevelT w="25400" h="38100"/>
            </a:sp3d>
          </a:bodyPr>
          <a:lstStyle/>
          <a:p>
            <a:pPr algn="ctr" eaLnBrk="1" hangingPunct="1">
              <a:buFont typeface="Arial" panose="020B0604020202020204" pitchFamily="34" charset="0"/>
              <a:buNone/>
              <a:defRPr/>
            </a:pPr>
            <a:endParaRPr lang="en-US" altLang="zh-CN" sz="3600" b="1" noProof="1">
              <a:solidFill>
                <a:schemeClr val="accent4"/>
              </a:solidFill>
              <a:cs typeface="宋体" panose="02010600030101010101" pitchFamily="2" charset="-122"/>
            </a:endParaRPr>
          </a:p>
        </p:txBody>
      </p:sp>
      <p:sp>
        <p:nvSpPr>
          <p:cNvPr id="24" name="文本框 6"/>
          <p:cNvSpPr txBox="1">
            <a:spLocks noChangeArrowheads="1"/>
          </p:cNvSpPr>
          <p:nvPr>
            <p:custDataLst>
              <p:tags r:id="rId2"/>
            </p:custDataLst>
          </p:nvPr>
        </p:nvSpPr>
        <p:spPr bwMode="auto">
          <a:xfrm>
            <a:off x="2497981" y="5013176"/>
            <a:ext cx="784887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nSpc>
                <a:spcPct val="100000"/>
              </a:lnSpc>
              <a:spcBef>
                <a:spcPct val="0"/>
              </a:spcBef>
              <a:buNone/>
            </a:pPr>
            <a:endParaRPr kumimoji="0" lang="zh-CN" altLang="en-US" b="1" dirty="0">
              <a:latin typeface="微软雅黑" panose="020B0503020204020204" pitchFamily="34" charset="-122"/>
            </a:endParaRPr>
          </a:p>
        </p:txBody>
      </p:sp>
      <p:sp>
        <p:nvSpPr>
          <p:cNvPr id="2" name="矩形 1"/>
          <p:cNvSpPr/>
          <p:nvPr/>
        </p:nvSpPr>
        <p:spPr>
          <a:xfrm>
            <a:off x="1417861" y="136950"/>
            <a:ext cx="2952328" cy="461665"/>
          </a:xfrm>
          <a:prstGeom prst="rect">
            <a:avLst/>
          </a:prstGeom>
        </p:spPr>
        <p:txBody>
          <a:bodyPr wrap="square">
            <a:spAutoFit/>
          </a:bodyPr>
          <a:lstStyle/>
          <a:p>
            <a:r>
              <a:rPr lang="en-US" altLang="zh-CN" sz="2400" b="1" dirty="0">
                <a:solidFill>
                  <a:schemeClr val="accent2">
                    <a:lumMod val="95000"/>
                  </a:schemeClr>
                </a:solidFill>
              </a:rPr>
              <a:t>1.7 </a:t>
            </a:r>
            <a:r>
              <a:rPr lang="zh-CN" altLang="zh-CN" sz="2400" b="1" dirty="0">
                <a:solidFill>
                  <a:schemeClr val="accent2">
                    <a:lumMod val="95000"/>
                  </a:schemeClr>
                </a:solidFill>
              </a:rPr>
              <a:t>条件语句</a:t>
            </a:r>
            <a:endParaRPr lang="zh-CN" altLang="zh-CN" sz="2400" b="1" dirty="0">
              <a:solidFill>
                <a:schemeClr val="accent2">
                  <a:lumMod val="95000"/>
                </a:schemeClr>
              </a:solidFill>
            </a:endParaRPr>
          </a:p>
        </p:txBody>
      </p:sp>
      <p:sp>
        <p:nvSpPr>
          <p:cNvPr id="3" name="矩形 2"/>
          <p:cNvSpPr/>
          <p:nvPr/>
        </p:nvSpPr>
        <p:spPr>
          <a:xfrm>
            <a:off x="1057821" y="1556792"/>
            <a:ext cx="9793088" cy="1569660"/>
          </a:xfrm>
          <a:prstGeom prst="rect">
            <a:avLst/>
          </a:prstGeom>
        </p:spPr>
        <p:txBody>
          <a:bodyPr wrap="square">
            <a:spAutoFit/>
          </a:bodyPr>
          <a:lstStyle/>
          <a:p>
            <a:pPr indent="720090"/>
            <a:r>
              <a:rPr lang="zh-CN" altLang="zh-CN" sz="2400" dirty="0">
                <a:latin typeface="宋体" panose="02010600030101010101" pitchFamily="2" charset="-122"/>
              </a:rPr>
              <a:t>条件判断语句，是指满足某些条件，才能做某件事情，而不满足条件时是不允许做的。条件语句在各类编程语言中均作为基本的语法或者基本语句使用，</a:t>
            </a:r>
            <a:r>
              <a:rPr lang="en-US" altLang="zh-CN" sz="2400" dirty="0">
                <a:latin typeface="宋体" panose="02010600030101010101" pitchFamily="2" charset="-122"/>
              </a:rPr>
              <a:t>Python</a:t>
            </a:r>
            <a:r>
              <a:rPr lang="zh-CN" altLang="zh-CN" sz="2400" dirty="0">
                <a:latin typeface="宋体" panose="02010600030101010101" pitchFamily="2" charset="-122"/>
              </a:rPr>
              <a:t>语言也不例外。这里主要介绍</a:t>
            </a:r>
            <a:r>
              <a:rPr lang="en-US" altLang="zh-CN" sz="2400" dirty="0">
                <a:latin typeface="宋体" panose="02010600030101010101" pitchFamily="2" charset="-122"/>
              </a:rPr>
              <a:t>if</a:t>
            </a:r>
            <a:r>
              <a:rPr lang="zh-CN" altLang="zh-CN" sz="2400" dirty="0">
                <a:latin typeface="宋体" panose="02010600030101010101" pitchFamily="2" charset="-122"/>
              </a:rPr>
              <a:t>…，</a:t>
            </a:r>
            <a:r>
              <a:rPr lang="en-US" altLang="zh-CN" sz="2400" dirty="0">
                <a:latin typeface="宋体" panose="02010600030101010101" pitchFamily="2" charset="-122"/>
              </a:rPr>
              <a:t>if</a:t>
            </a:r>
            <a:r>
              <a:rPr lang="zh-CN" altLang="zh-CN" sz="2400" dirty="0">
                <a:latin typeface="宋体" panose="02010600030101010101" pitchFamily="2" charset="-122"/>
              </a:rPr>
              <a:t>…</a:t>
            </a:r>
            <a:r>
              <a:rPr lang="en-US" altLang="zh-CN" sz="2400" dirty="0">
                <a:latin typeface="宋体" panose="02010600030101010101" pitchFamily="2" charset="-122"/>
              </a:rPr>
              <a:t>else</a:t>
            </a:r>
            <a:r>
              <a:rPr lang="zh-CN" altLang="zh-CN" sz="2400" dirty="0">
                <a:latin typeface="宋体" panose="02010600030101010101" pitchFamily="2" charset="-122"/>
              </a:rPr>
              <a:t>…，</a:t>
            </a:r>
            <a:r>
              <a:rPr lang="en-US" altLang="zh-CN" sz="2400" dirty="0">
                <a:latin typeface="宋体" panose="02010600030101010101" pitchFamily="2" charset="-122"/>
              </a:rPr>
              <a:t>if</a:t>
            </a:r>
            <a:r>
              <a:rPr lang="zh-CN" altLang="zh-CN" sz="2400" dirty="0">
                <a:latin typeface="宋体" panose="02010600030101010101" pitchFamily="2" charset="-122"/>
              </a:rPr>
              <a:t>…</a:t>
            </a:r>
            <a:r>
              <a:rPr lang="en-US" altLang="zh-CN" sz="2400" dirty="0" err="1">
                <a:latin typeface="宋体" panose="02010600030101010101" pitchFamily="2" charset="-122"/>
              </a:rPr>
              <a:t>elif</a:t>
            </a:r>
            <a:r>
              <a:rPr lang="zh-CN" altLang="zh-CN" sz="2400" dirty="0">
                <a:latin typeface="宋体" panose="02010600030101010101" pitchFamily="2" charset="-122"/>
              </a:rPr>
              <a:t>…</a:t>
            </a:r>
            <a:r>
              <a:rPr lang="en-US" altLang="zh-CN" sz="2400" dirty="0">
                <a:latin typeface="宋体" panose="02010600030101010101" pitchFamily="2" charset="-122"/>
              </a:rPr>
              <a:t>else</a:t>
            </a:r>
            <a:r>
              <a:rPr lang="zh-CN" altLang="zh-CN" sz="2400" dirty="0">
                <a:latin typeface="宋体" panose="02010600030101010101" pitchFamily="2" charset="-122"/>
              </a:rPr>
              <a:t>…三种条件语句形式。</a:t>
            </a:r>
            <a:endParaRPr lang="zh-CN" altLang="zh-CN" sz="2400" dirty="0">
              <a:latin typeface="宋体" panose="02010600030101010101" pitchFamily="2" charset="-122"/>
            </a:endParaRPr>
          </a:p>
        </p:txBody>
      </p:sp>
      <p:sp>
        <p:nvSpPr>
          <p:cNvPr id="6" name="TextBox 55"/>
          <p:cNvSpPr txBox="1"/>
          <p:nvPr/>
        </p:nvSpPr>
        <p:spPr>
          <a:xfrm>
            <a:off x="107016" y="136950"/>
            <a:ext cx="1064260" cy="400103"/>
          </a:xfrm>
          <a:prstGeom prst="rect">
            <a:avLst/>
          </a:prstGeom>
          <a:noFill/>
        </p:spPr>
        <p:txBody>
          <a:bodyPr wrap="square" lIns="91434" tIns="45717" rIns="91434" bIns="45717" rtlCol="0">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r>
              <a:rPr lang="en-US" altLang="zh-CN" sz="2000" dirty="0">
                <a:solidFill>
                  <a:schemeClr val="accent2"/>
                </a:solidFill>
              </a:rPr>
              <a:t>Part 1</a:t>
            </a:r>
            <a:r>
              <a:rPr lang="en-US" altLang="zh-CN" dirty="0">
                <a:solidFill>
                  <a:schemeClr val="accent2"/>
                </a:solidFill>
              </a:rPr>
              <a:t> </a:t>
            </a:r>
            <a:endParaRPr lang="zh-CN" altLang="en-US"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nodePh="1">
                                  <p:stCondLst>
                                    <p:cond delay="0"/>
                                  </p:stCondLst>
                                  <p:endCondLst>
                                    <p:cond evt="begin" delay="0">
                                      <p:tn val="5"/>
                                    </p:cond>
                                  </p:end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4"/>
                                        </p:tgtEl>
                                        <p:attrNameLst>
                                          <p:attrName>style.visibility</p:attrName>
                                        </p:attrNameLst>
                                      </p:cBhvr>
                                      <p:to>
                                        <p:strVal val="visible"/>
                                      </p:to>
                                    </p:set>
                                    <p:animEffect transition="in" filter="fade">
                                      <p:cBhvr>
                                        <p:cTn id="14" dur="1000"/>
                                        <p:tgtEl>
                                          <p:spTgt spid="24"/>
                                        </p:tgtEl>
                                      </p:cBhvr>
                                    </p:animEffect>
                                    <p:anim calcmode="lin" valueType="num">
                                      <p:cBhvr>
                                        <p:cTn id="15" dur="1000" fill="hold"/>
                                        <p:tgtEl>
                                          <p:spTgt spid="24"/>
                                        </p:tgtEl>
                                        <p:attrNameLst>
                                          <p:attrName>ppt_x</p:attrName>
                                        </p:attrNameLst>
                                      </p:cBhvr>
                                      <p:tavLst>
                                        <p:tav tm="0">
                                          <p:val>
                                            <p:strVal val="#ppt_x"/>
                                          </p:val>
                                        </p:tav>
                                        <p:tav tm="100000">
                                          <p:val>
                                            <p:strVal val="#ppt_x"/>
                                          </p:val>
                                        </p:tav>
                                      </p:tavLst>
                                    </p:anim>
                                    <p:anim calcmode="lin" valueType="num">
                                      <p:cBhvr>
                                        <p:cTn id="1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en-US" altLang="zh-CN" b="1" dirty="0"/>
              <a:t>1.7.1 if </a:t>
            </a:r>
            <a:r>
              <a:rPr lang="zh-CN" altLang="zh-CN" b="1" dirty="0"/>
              <a:t>…</a:t>
            </a:r>
            <a:r>
              <a:rPr lang="zh-CN" altLang="zh-CN" b="1" dirty="0" smtClean="0"/>
              <a:t>语句</a:t>
            </a:r>
            <a:endParaRPr lang="zh-CN" altLang="en-US" dirty="0"/>
          </a:p>
        </p:txBody>
      </p:sp>
      <p:sp>
        <p:nvSpPr>
          <p:cNvPr id="13" name="矩形 12"/>
          <p:cNvSpPr/>
          <p:nvPr/>
        </p:nvSpPr>
        <p:spPr>
          <a:xfrm>
            <a:off x="769789" y="1543051"/>
            <a:ext cx="6096000" cy="3785652"/>
          </a:xfrm>
          <a:prstGeom prst="rect">
            <a:avLst/>
          </a:prstGeom>
        </p:spPr>
        <p:txBody>
          <a:bodyPr>
            <a:spAutoFit/>
          </a:bodyPr>
          <a:lstStyle/>
          <a:p>
            <a:r>
              <a:rPr lang="zh-CN" altLang="zh-CN" sz="2000" dirty="0"/>
              <a:t>条件语句</a:t>
            </a:r>
            <a:r>
              <a:rPr lang="en-US" altLang="zh-CN" sz="2000" dirty="0"/>
              <a:t>if</a:t>
            </a:r>
            <a:r>
              <a:rPr lang="zh-CN" altLang="zh-CN" sz="2000" dirty="0"/>
              <a:t>…，其使用方式如下：</a:t>
            </a:r>
            <a:endParaRPr lang="zh-CN" altLang="zh-CN" sz="2000" dirty="0"/>
          </a:p>
          <a:p>
            <a:r>
              <a:rPr lang="en-US" altLang="zh-CN" sz="2000" dirty="0"/>
              <a:t>if </a:t>
            </a:r>
            <a:r>
              <a:rPr lang="zh-CN" altLang="zh-CN" sz="2000" dirty="0"/>
              <a:t>条件</a:t>
            </a:r>
            <a:r>
              <a:rPr lang="en-US" altLang="zh-CN" sz="2000" dirty="0"/>
              <a:t>:</a:t>
            </a:r>
            <a:endParaRPr lang="zh-CN" altLang="zh-CN" sz="2000" dirty="0"/>
          </a:p>
          <a:p>
            <a:r>
              <a:rPr lang="en-US" altLang="zh-CN" sz="2000" dirty="0"/>
              <a:t>  </a:t>
            </a:r>
            <a:r>
              <a:rPr lang="zh-CN" altLang="zh-CN" sz="2000" dirty="0"/>
              <a:t>执行代码块</a:t>
            </a:r>
            <a:endParaRPr lang="zh-CN" altLang="zh-CN" sz="2000" dirty="0"/>
          </a:p>
          <a:p>
            <a:r>
              <a:rPr lang="zh-CN" altLang="zh-CN" sz="2000" dirty="0"/>
              <a:t>注意条件后面的冒号（英文格式输入），同时执行代码块均需要缩进并对齐。示例代码如下：</a:t>
            </a:r>
            <a:endParaRPr lang="zh-CN" altLang="zh-CN" sz="2000" dirty="0"/>
          </a:p>
          <a:p>
            <a:r>
              <a:rPr lang="en-US" altLang="zh-CN" sz="2000" dirty="0"/>
              <a:t>x=10</a:t>
            </a:r>
            <a:endParaRPr lang="zh-CN" altLang="zh-CN" sz="2000" dirty="0"/>
          </a:p>
          <a:p>
            <a:r>
              <a:rPr lang="en-US" altLang="zh-CN" sz="2000" dirty="0"/>
              <a:t>import math                        #</a:t>
            </a:r>
            <a:r>
              <a:rPr lang="zh-CN" altLang="zh-CN" sz="2000" dirty="0"/>
              <a:t>导入数学函数库</a:t>
            </a:r>
            <a:endParaRPr lang="zh-CN" altLang="zh-CN" sz="2000" dirty="0"/>
          </a:p>
          <a:p>
            <a:r>
              <a:rPr lang="en-US" altLang="zh-CN" sz="2000" dirty="0"/>
              <a:t>if x&gt;0:                             #</a:t>
            </a:r>
            <a:r>
              <a:rPr lang="zh-CN" altLang="zh-CN" sz="2000" dirty="0"/>
              <a:t>冒号</a:t>
            </a:r>
            <a:endParaRPr lang="zh-CN" altLang="zh-CN" sz="2000" dirty="0"/>
          </a:p>
          <a:p>
            <a:r>
              <a:rPr lang="en-US" altLang="zh-CN" sz="2000" dirty="0"/>
              <a:t>s=</a:t>
            </a:r>
            <a:r>
              <a:rPr lang="en-US" altLang="zh-CN" sz="2000" dirty="0" err="1"/>
              <a:t>math.sqrt</a:t>
            </a:r>
            <a:r>
              <a:rPr lang="en-US" altLang="zh-CN" sz="2000" dirty="0"/>
              <a:t>(x)                 #</a:t>
            </a:r>
            <a:r>
              <a:rPr lang="zh-CN" altLang="zh-CN" sz="2000" dirty="0"/>
              <a:t>求平方根，缩进</a:t>
            </a:r>
            <a:endParaRPr lang="zh-CN" altLang="zh-CN" sz="2000" dirty="0"/>
          </a:p>
          <a:p>
            <a:r>
              <a:rPr lang="en-US" altLang="zh-CN" sz="2000" dirty="0"/>
              <a:t>print('s= ',s)                   #</a:t>
            </a:r>
            <a:r>
              <a:rPr lang="zh-CN" altLang="zh-CN" sz="2000" dirty="0"/>
              <a:t>打印结果，缩进</a:t>
            </a:r>
            <a:endParaRPr lang="zh-CN" altLang="zh-CN" sz="2000" dirty="0"/>
          </a:p>
          <a:p>
            <a:r>
              <a:rPr lang="zh-CN" altLang="zh-CN" sz="2000" dirty="0"/>
              <a:t>执行结果如下：</a:t>
            </a:r>
            <a:endParaRPr lang="zh-CN" altLang="zh-CN" sz="2000" dirty="0"/>
          </a:p>
          <a:p>
            <a:r>
              <a:rPr lang="en-US" altLang="zh-CN" sz="2000" dirty="0"/>
              <a:t>s=  3.1622776601683795</a:t>
            </a:r>
            <a:endParaRPr lang="zh-CN" altLang="zh-CN" sz="2000"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b="1" dirty="0"/>
              <a:t>1.7.2 if </a:t>
            </a:r>
            <a:r>
              <a:rPr lang="zh-CN" altLang="zh-CN" b="1" dirty="0"/>
              <a:t>…</a:t>
            </a:r>
            <a:r>
              <a:rPr lang="en-US" altLang="zh-CN" b="1" dirty="0"/>
              <a:t>else</a:t>
            </a:r>
            <a:r>
              <a:rPr lang="zh-CN" altLang="zh-CN" b="1" dirty="0"/>
              <a:t>…</a:t>
            </a:r>
            <a:r>
              <a:rPr lang="zh-CN" altLang="zh-CN" b="1" dirty="0" smtClean="0"/>
              <a:t>语句</a:t>
            </a:r>
            <a:endParaRPr lang="zh-CN" altLang="en-US" dirty="0"/>
          </a:p>
        </p:txBody>
      </p:sp>
      <p:sp>
        <p:nvSpPr>
          <p:cNvPr id="5" name="矩形 4"/>
          <p:cNvSpPr/>
          <p:nvPr/>
        </p:nvSpPr>
        <p:spPr>
          <a:xfrm>
            <a:off x="622497" y="1552303"/>
            <a:ext cx="7420099" cy="5016758"/>
          </a:xfrm>
          <a:prstGeom prst="rect">
            <a:avLst/>
          </a:prstGeom>
        </p:spPr>
        <p:txBody>
          <a:bodyPr wrap="square">
            <a:spAutoFit/>
          </a:bodyPr>
          <a:lstStyle/>
          <a:p>
            <a:r>
              <a:rPr lang="zh-CN" altLang="zh-CN" sz="2000" dirty="0"/>
              <a:t>条件分支语句</a:t>
            </a:r>
            <a:r>
              <a:rPr lang="en-US" altLang="zh-CN" sz="2000" dirty="0"/>
              <a:t>if</a:t>
            </a:r>
            <a:r>
              <a:rPr lang="zh-CN" altLang="zh-CN" sz="2000" dirty="0"/>
              <a:t>…</a:t>
            </a:r>
            <a:r>
              <a:rPr lang="en-US" altLang="zh-CN" sz="2000" dirty="0"/>
              <a:t>else</a:t>
            </a:r>
            <a:r>
              <a:rPr lang="zh-CN" altLang="zh-CN" sz="2000" dirty="0"/>
              <a:t>…</a:t>
            </a:r>
            <a:r>
              <a:rPr lang="en-US" altLang="zh-CN" sz="2000" dirty="0"/>
              <a:t>,</a:t>
            </a:r>
            <a:r>
              <a:rPr lang="zh-CN" altLang="zh-CN" sz="2000" dirty="0"/>
              <a:t>其使用方式如下：</a:t>
            </a:r>
            <a:endParaRPr lang="zh-CN" altLang="zh-CN" sz="2000" dirty="0"/>
          </a:p>
          <a:p>
            <a:r>
              <a:rPr lang="en-US" altLang="zh-CN" sz="2000" dirty="0"/>
              <a:t>if </a:t>
            </a:r>
            <a:r>
              <a:rPr lang="zh-CN" altLang="zh-CN" sz="2000" dirty="0"/>
              <a:t>条件：</a:t>
            </a:r>
            <a:endParaRPr lang="zh-CN" altLang="zh-CN" sz="2000" dirty="0"/>
          </a:p>
          <a:p>
            <a:r>
              <a:rPr lang="en-US" altLang="zh-CN" sz="2000" dirty="0"/>
              <a:t>  </a:t>
            </a:r>
            <a:r>
              <a:rPr lang="zh-CN" altLang="zh-CN" sz="2000" dirty="0"/>
              <a:t>执行语句块</a:t>
            </a:r>
            <a:endParaRPr lang="zh-CN" altLang="zh-CN" sz="2000" dirty="0"/>
          </a:p>
          <a:p>
            <a:r>
              <a:rPr lang="en-US" altLang="zh-CN" sz="2000" dirty="0"/>
              <a:t>else:</a:t>
            </a:r>
            <a:endParaRPr lang="zh-CN" altLang="zh-CN" sz="2000" dirty="0"/>
          </a:p>
          <a:p>
            <a:r>
              <a:rPr lang="en-US" altLang="zh-CN" sz="2000" dirty="0"/>
              <a:t>  </a:t>
            </a:r>
            <a:r>
              <a:rPr lang="zh-CN" altLang="zh-CN" sz="2000" dirty="0"/>
              <a:t>执行语句块</a:t>
            </a:r>
            <a:endParaRPr lang="zh-CN" altLang="zh-CN" sz="2000" dirty="0"/>
          </a:p>
          <a:p>
            <a:r>
              <a:rPr lang="zh-CN" altLang="zh-CN" sz="2000" dirty="0"/>
              <a:t>同样需要主要冒号及缩进对齐语法。示例代码如下：</a:t>
            </a:r>
            <a:endParaRPr lang="zh-CN" altLang="zh-CN" sz="2000" dirty="0"/>
          </a:p>
          <a:p>
            <a:r>
              <a:rPr lang="en-US" altLang="zh-CN" sz="2000" dirty="0"/>
              <a:t>x=-10</a:t>
            </a:r>
            <a:endParaRPr lang="zh-CN" altLang="zh-CN" sz="2000" dirty="0"/>
          </a:p>
          <a:p>
            <a:r>
              <a:rPr lang="en-US" altLang="zh-CN" sz="2000" dirty="0"/>
              <a:t>import math                        #</a:t>
            </a:r>
            <a:r>
              <a:rPr lang="zh-CN" altLang="zh-CN" sz="2000" dirty="0"/>
              <a:t>导入数学函数库</a:t>
            </a:r>
            <a:endParaRPr lang="zh-CN" altLang="zh-CN" sz="2000" dirty="0"/>
          </a:p>
          <a:p>
            <a:r>
              <a:rPr lang="en-US" altLang="zh-CN" sz="2000" dirty="0"/>
              <a:t>if x&gt;0:                             # </a:t>
            </a:r>
            <a:r>
              <a:rPr lang="zh-CN" altLang="zh-CN" sz="2000" dirty="0"/>
              <a:t>冒号</a:t>
            </a:r>
            <a:endParaRPr lang="zh-CN" altLang="zh-CN" sz="2000" dirty="0"/>
          </a:p>
          <a:p>
            <a:r>
              <a:rPr lang="en-US" altLang="zh-CN" sz="2000" dirty="0"/>
              <a:t>s=</a:t>
            </a:r>
            <a:r>
              <a:rPr lang="en-US" altLang="zh-CN" sz="2000" dirty="0" err="1"/>
              <a:t>math.sqrt</a:t>
            </a:r>
            <a:r>
              <a:rPr lang="en-US" altLang="zh-CN" sz="2000" dirty="0"/>
              <a:t>(x)                 #</a:t>
            </a:r>
            <a:r>
              <a:rPr lang="zh-CN" altLang="zh-CN" sz="2000" dirty="0"/>
              <a:t>求平方根，缩进</a:t>
            </a:r>
            <a:endParaRPr lang="zh-CN" altLang="zh-CN" sz="2000" dirty="0"/>
          </a:p>
          <a:p>
            <a:r>
              <a:rPr lang="en-US" altLang="zh-CN" sz="2000" dirty="0"/>
              <a:t>print('s= ',s)                   #</a:t>
            </a:r>
            <a:r>
              <a:rPr lang="zh-CN" altLang="zh-CN" sz="2000" dirty="0"/>
              <a:t>打印结果，缩进</a:t>
            </a:r>
            <a:endParaRPr lang="zh-CN" altLang="zh-CN" sz="2000" dirty="0"/>
          </a:p>
          <a:p>
            <a:r>
              <a:rPr lang="en-US" altLang="zh-CN" sz="2000" dirty="0"/>
              <a:t>else:</a:t>
            </a:r>
            <a:endParaRPr lang="zh-CN" altLang="zh-CN" sz="2000" dirty="0"/>
          </a:p>
          <a:p>
            <a:r>
              <a:rPr lang="en-US" altLang="zh-CN" sz="2000" dirty="0"/>
              <a:t>s='</a:t>
            </a:r>
            <a:r>
              <a:rPr lang="zh-CN" altLang="zh-CN" sz="2000" dirty="0"/>
              <a:t>负数不能求平方根</a:t>
            </a:r>
            <a:r>
              <a:rPr lang="en-US" altLang="zh-CN" sz="2000" dirty="0"/>
              <a:t>'          #</a:t>
            </a:r>
            <a:r>
              <a:rPr lang="zh-CN" altLang="zh-CN" sz="2000" dirty="0"/>
              <a:t>提示语，缩进</a:t>
            </a:r>
            <a:endParaRPr lang="zh-CN" altLang="zh-CN" sz="2000" dirty="0"/>
          </a:p>
          <a:p>
            <a:r>
              <a:rPr lang="en-US" altLang="zh-CN" sz="2000" dirty="0"/>
              <a:t>print('s= ',s)                   #</a:t>
            </a:r>
            <a:r>
              <a:rPr lang="zh-CN" altLang="zh-CN" sz="2000" dirty="0"/>
              <a:t>打印结果，缩进</a:t>
            </a:r>
            <a:endParaRPr lang="zh-CN" altLang="zh-CN" sz="2000" dirty="0"/>
          </a:p>
          <a:p>
            <a:r>
              <a:rPr lang="zh-CN" altLang="zh-CN" sz="2000" dirty="0"/>
              <a:t>执行结果如下：</a:t>
            </a:r>
            <a:endParaRPr lang="zh-CN" altLang="zh-CN" sz="2000" dirty="0"/>
          </a:p>
          <a:p>
            <a:r>
              <a:rPr lang="en-US" altLang="zh-CN" sz="2000" dirty="0"/>
              <a:t>s=  </a:t>
            </a:r>
            <a:r>
              <a:rPr lang="zh-CN" altLang="zh-CN" sz="2000" dirty="0"/>
              <a:t>负数不能求平方根</a:t>
            </a:r>
            <a:endParaRPr lang="zh-CN" altLang="zh-CN" sz="2000"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1.7.3 if</a:t>
            </a:r>
            <a:r>
              <a:rPr lang="zh-CN" altLang="zh-CN" b="1" dirty="0"/>
              <a:t>…</a:t>
            </a:r>
            <a:r>
              <a:rPr lang="en-US" altLang="zh-CN" b="1" dirty="0" err="1"/>
              <a:t>elif</a:t>
            </a:r>
            <a:r>
              <a:rPr lang="zh-CN" altLang="zh-CN" b="1" dirty="0"/>
              <a:t>…</a:t>
            </a:r>
            <a:r>
              <a:rPr lang="en-US" altLang="zh-CN" b="1" dirty="0"/>
              <a:t>else</a:t>
            </a:r>
            <a:r>
              <a:rPr lang="zh-CN" altLang="zh-CN" b="1" dirty="0"/>
              <a:t>…</a:t>
            </a:r>
            <a:r>
              <a:rPr lang="zh-CN" altLang="zh-CN" b="1" dirty="0" smtClean="0"/>
              <a:t>语句</a:t>
            </a:r>
            <a:endParaRPr lang="zh-CN" altLang="en-US" dirty="0"/>
          </a:p>
        </p:txBody>
      </p:sp>
      <p:sp>
        <p:nvSpPr>
          <p:cNvPr id="3" name="矩形 2"/>
          <p:cNvSpPr/>
          <p:nvPr/>
        </p:nvSpPr>
        <p:spPr>
          <a:xfrm>
            <a:off x="609601" y="1412776"/>
            <a:ext cx="8153076" cy="5293757"/>
          </a:xfrm>
          <a:prstGeom prst="rect">
            <a:avLst/>
          </a:prstGeom>
        </p:spPr>
        <p:txBody>
          <a:bodyPr wrap="square">
            <a:spAutoFit/>
          </a:bodyPr>
          <a:lstStyle/>
          <a:p>
            <a:r>
              <a:rPr lang="zh-CN" altLang="zh-CN" sz="2000" dirty="0"/>
              <a:t>条件分支语句</a:t>
            </a:r>
            <a:r>
              <a:rPr lang="en-US" altLang="zh-CN" sz="2000" dirty="0"/>
              <a:t>if</a:t>
            </a:r>
            <a:r>
              <a:rPr lang="zh-CN" altLang="zh-CN" sz="2000" dirty="0"/>
              <a:t>…</a:t>
            </a:r>
            <a:r>
              <a:rPr lang="en-US" altLang="zh-CN" sz="2000" dirty="0" err="1"/>
              <a:t>elif</a:t>
            </a:r>
            <a:r>
              <a:rPr lang="zh-CN" altLang="zh-CN" sz="2000" dirty="0"/>
              <a:t>…</a:t>
            </a:r>
            <a:r>
              <a:rPr lang="en-US" altLang="zh-CN" sz="2000" dirty="0"/>
              <a:t>else</a:t>
            </a:r>
            <a:r>
              <a:rPr lang="zh-CN" altLang="zh-CN" sz="2000" dirty="0"/>
              <a:t>…用法如下：</a:t>
            </a:r>
            <a:endParaRPr lang="zh-CN" altLang="zh-CN" sz="2000" dirty="0"/>
          </a:p>
          <a:p>
            <a:r>
              <a:rPr lang="en-US" altLang="zh-CN" sz="2000" dirty="0"/>
              <a:t>if </a:t>
            </a:r>
            <a:r>
              <a:rPr lang="zh-CN" altLang="zh-CN" sz="2000" dirty="0"/>
              <a:t>条件</a:t>
            </a:r>
            <a:r>
              <a:rPr lang="en-US" altLang="zh-CN" sz="2000" dirty="0"/>
              <a:t>:</a:t>
            </a:r>
            <a:endParaRPr lang="zh-CN" altLang="zh-CN" sz="2000" dirty="0"/>
          </a:p>
          <a:p>
            <a:r>
              <a:rPr lang="en-US" altLang="zh-CN" sz="2000" dirty="0"/>
              <a:t>  </a:t>
            </a:r>
            <a:r>
              <a:rPr lang="zh-CN" altLang="zh-CN" sz="2000" dirty="0"/>
              <a:t>执行语句块</a:t>
            </a:r>
            <a:endParaRPr lang="zh-CN" altLang="zh-CN" sz="2000" dirty="0"/>
          </a:p>
          <a:p>
            <a:r>
              <a:rPr lang="en-US" altLang="zh-CN" sz="2000" dirty="0" err="1"/>
              <a:t>elif</a:t>
            </a:r>
            <a:r>
              <a:rPr lang="en-US" altLang="zh-CN" sz="2000" dirty="0"/>
              <a:t> </a:t>
            </a:r>
            <a:r>
              <a:rPr lang="zh-CN" altLang="zh-CN" sz="2000" dirty="0"/>
              <a:t>条件</a:t>
            </a:r>
            <a:r>
              <a:rPr lang="en-US" altLang="zh-CN" sz="2000" dirty="0"/>
              <a:t>:</a:t>
            </a:r>
            <a:endParaRPr lang="zh-CN" altLang="zh-CN" sz="2000" dirty="0"/>
          </a:p>
          <a:p>
            <a:r>
              <a:rPr lang="en-US" altLang="zh-CN" sz="2000" dirty="0"/>
              <a:t>  </a:t>
            </a:r>
            <a:r>
              <a:rPr lang="zh-CN" altLang="zh-CN" sz="2000" dirty="0"/>
              <a:t>执行语句块</a:t>
            </a:r>
            <a:endParaRPr lang="zh-CN" altLang="zh-CN" sz="2000" dirty="0"/>
          </a:p>
          <a:p>
            <a:r>
              <a:rPr lang="en-US" altLang="zh-CN" sz="2000" dirty="0"/>
              <a:t>else:</a:t>
            </a:r>
            <a:endParaRPr lang="zh-CN" altLang="zh-CN" sz="2000" dirty="0"/>
          </a:p>
          <a:p>
            <a:r>
              <a:rPr lang="en-US" altLang="zh-CN" sz="2000" dirty="0"/>
              <a:t>  </a:t>
            </a:r>
            <a:r>
              <a:rPr lang="zh-CN" altLang="zh-CN" sz="2000" dirty="0"/>
              <a:t>执行语句块</a:t>
            </a:r>
            <a:endParaRPr lang="zh-CN" altLang="zh-CN" sz="2000" dirty="0"/>
          </a:p>
          <a:p>
            <a:r>
              <a:rPr lang="zh-CN" altLang="zh-CN" sz="2000" dirty="0"/>
              <a:t>同样，需要主要冒号及缩进对齐这两种语法。示例代码如下：</a:t>
            </a:r>
            <a:endParaRPr lang="zh-CN" altLang="zh-CN" sz="2000" dirty="0"/>
          </a:p>
          <a:p>
            <a:r>
              <a:rPr lang="en-US" altLang="zh-CN" sz="2000" dirty="0"/>
              <a:t>weather = 'sunny'</a:t>
            </a:r>
            <a:endParaRPr lang="zh-CN" altLang="zh-CN" sz="2000" dirty="0"/>
          </a:p>
          <a:p>
            <a:r>
              <a:rPr lang="en-US" altLang="zh-CN" sz="2000" dirty="0"/>
              <a:t>if weather =='sunny':</a:t>
            </a:r>
            <a:endParaRPr lang="zh-CN" altLang="zh-CN" sz="2000" dirty="0"/>
          </a:p>
          <a:p>
            <a:r>
              <a:rPr lang="en-US" altLang="zh-CN" sz="2000" dirty="0"/>
              <a:t>    print ("shopping")</a:t>
            </a:r>
            <a:endParaRPr lang="zh-CN" altLang="zh-CN" sz="2000" dirty="0"/>
          </a:p>
          <a:p>
            <a:r>
              <a:rPr lang="en-US" altLang="zh-CN" sz="2000" dirty="0" err="1"/>
              <a:t>elif</a:t>
            </a:r>
            <a:r>
              <a:rPr lang="en-US" altLang="zh-CN" sz="2000" dirty="0"/>
              <a:t> weather =='cloudy':</a:t>
            </a:r>
            <a:endParaRPr lang="zh-CN" altLang="zh-CN" sz="2000" dirty="0"/>
          </a:p>
          <a:p>
            <a:r>
              <a:rPr lang="en-US" altLang="zh-CN" sz="2000" dirty="0"/>
              <a:t>    print ("playing football")</a:t>
            </a:r>
            <a:endParaRPr lang="zh-CN" altLang="zh-CN" sz="2000" dirty="0"/>
          </a:p>
          <a:p>
            <a:r>
              <a:rPr lang="en-US" altLang="zh-CN" sz="2000" dirty="0"/>
              <a:t>else:</a:t>
            </a:r>
            <a:endParaRPr lang="zh-CN" altLang="zh-CN" sz="2000" dirty="0"/>
          </a:p>
          <a:p>
            <a:r>
              <a:rPr lang="en-US" altLang="zh-CN" sz="2000" dirty="0"/>
              <a:t>    print ("do nothing")</a:t>
            </a:r>
            <a:endParaRPr lang="zh-CN" altLang="zh-CN" sz="2000" dirty="0"/>
          </a:p>
          <a:p>
            <a:r>
              <a:rPr lang="zh-CN" altLang="zh-CN" sz="2000" dirty="0"/>
              <a:t>执行结果如下：</a:t>
            </a:r>
            <a:endParaRPr lang="zh-CN" altLang="zh-CN" sz="2000" dirty="0"/>
          </a:p>
          <a:p>
            <a:r>
              <a:rPr lang="en-US" altLang="zh-CN" sz="2000" dirty="0"/>
              <a:t>shopping</a:t>
            </a:r>
            <a:endParaRPr lang="zh-CN" altLang="zh-CN" sz="2000"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45853" y="116632"/>
            <a:ext cx="1935145" cy="461665"/>
          </a:xfrm>
          <a:prstGeom prst="rect">
            <a:avLst/>
          </a:prstGeom>
        </p:spPr>
        <p:txBody>
          <a:bodyPr wrap="none">
            <a:spAutoFit/>
          </a:bodyPr>
          <a:lstStyle/>
          <a:p>
            <a:r>
              <a:rPr lang="en-US" altLang="zh-CN" sz="2400" b="1" dirty="0">
                <a:solidFill>
                  <a:schemeClr val="accent2">
                    <a:lumMod val="95000"/>
                  </a:schemeClr>
                </a:solidFill>
              </a:rPr>
              <a:t>1.8 </a:t>
            </a:r>
            <a:r>
              <a:rPr lang="zh-CN" altLang="zh-CN" sz="2400" b="1" dirty="0">
                <a:solidFill>
                  <a:schemeClr val="accent2">
                    <a:lumMod val="95000"/>
                  </a:schemeClr>
                </a:solidFill>
              </a:rPr>
              <a:t>循环语句</a:t>
            </a:r>
            <a:endParaRPr lang="zh-CN" altLang="zh-CN" sz="2400" b="1" dirty="0">
              <a:solidFill>
                <a:schemeClr val="accent2">
                  <a:lumMod val="95000"/>
                </a:schemeClr>
              </a:solidFill>
            </a:endParaRPr>
          </a:p>
        </p:txBody>
      </p:sp>
      <p:sp>
        <p:nvSpPr>
          <p:cNvPr id="3" name="矩形 2"/>
          <p:cNvSpPr/>
          <p:nvPr/>
        </p:nvSpPr>
        <p:spPr>
          <a:xfrm>
            <a:off x="913805" y="1259176"/>
            <a:ext cx="9793088" cy="1569660"/>
          </a:xfrm>
          <a:prstGeom prst="rect">
            <a:avLst/>
          </a:prstGeom>
        </p:spPr>
        <p:txBody>
          <a:bodyPr wrap="square">
            <a:spAutoFit/>
          </a:bodyPr>
          <a:lstStyle/>
          <a:p>
            <a:pPr indent="720090"/>
            <a:r>
              <a:rPr lang="zh-CN" altLang="zh-CN" sz="2400" dirty="0">
                <a:latin typeface="宋体" panose="02010600030101010101" pitchFamily="2" charset="-122"/>
              </a:rPr>
              <a:t>循环语句，即循环地执行某一个过程或者一段程序代码。在</a:t>
            </a:r>
            <a:r>
              <a:rPr lang="en-US" altLang="zh-CN" sz="2400" dirty="0">
                <a:latin typeface="宋体" panose="02010600030101010101" pitchFamily="2" charset="-122"/>
              </a:rPr>
              <a:t>Python</a:t>
            </a:r>
            <a:r>
              <a:rPr lang="zh-CN" altLang="zh-CN" sz="2400" dirty="0">
                <a:latin typeface="宋体" panose="02010600030101010101" pitchFamily="2" charset="-122"/>
              </a:rPr>
              <a:t>语言中，与其他语言类似，主要有</a:t>
            </a:r>
            <a:r>
              <a:rPr lang="en-US" altLang="zh-CN" sz="2400" dirty="0">
                <a:latin typeface="宋体" panose="02010600030101010101" pitchFamily="2" charset="-122"/>
              </a:rPr>
              <a:t>while</a:t>
            </a:r>
            <a:r>
              <a:rPr lang="zh-CN" altLang="zh-CN" sz="2400" dirty="0">
                <a:latin typeface="宋体" panose="02010600030101010101" pitchFamily="2" charset="-122"/>
              </a:rPr>
              <a:t>和</a:t>
            </a:r>
            <a:r>
              <a:rPr lang="en-US" altLang="zh-CN" sz="2400" dirty="0">
                <a:latin typeface="宋体" panose="02010600030101010101" pitchFamily="2" charset="-122"/>
              </a:rPr>
              <a:t>for</a:t>
            </a:r>
            <a:r>
              <a:rPr lang="zh-CN" altLang="zh-CN" sz="2400" dirty="0">
                <a:latin typeface="宋体" panose="02010600030101010101" pitchFamily="2" charset="-122"/>
              </a:rPr>
              <a:t>两种循环语句方式。与其他语言不同的是，</a:t>
            </a:r>
            <a:r>
              <a:rPr lang="en-US" altLang="zh-CN" sz="2400" dirty="0">
                <a:latin typeface="宋体" panose="02010600030101010101" pitchFamily="2" charset="-122"/>
              </a:rPr>
              <a:t>Python</a:t>
            </a:r>
            <a:r>
              <a:rPr lang="zh-CN" altLang="zh-CN" sz="2400" dirty="0">
                <a:latin typeface="宋体" panose="02010600030101010101" pitchFamily="2" charset="-122"/>
              </a:rPr>
              <a:t>中的循环语句也通过缩进语法来区分执行的循环语句块。</a:t>
            </a:r>
            <a:endParaRPr lang="zh-CN" altLang="zh-CN" sz="2400" dirty="0">
              <a:latin typeface="宋体" panose="02010600030101010101" pitchFamily="2" charset="-122"/>
            </a:endParaRPr>
          </a:p>
        </p:txBody>
      </p:sp>
      <p:sp>
        <p:nvSpPr>
          <p:cNvPr id="4" name="TextBox 55"/>
          <p:cNvSpPr txBox="1"/>
          <p:nvPr/>
        </p:nvSpPr>
        <p:spPr>
          <a:xfrm>
            <a:off x="121717" y="116632"/>
            <a:ext cx="1064260" cy="400103"/>
          </a:xfrm>
          <a:prstGeom prst="rect">
            <a:avLst/>
          </a:prstGeom>
          <a:noFill/>
        </p:spPr>
        <p:txBody>
          <a:bodyPr wrap="square" lIns="91434" tIns="45717" rIns="91434" bIns="45717" rtlCol="0">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r>
              <a:rPr lang="en-US" altLang="zh-CN" sz="2000" dirty="0">
                <a:solidFill>
                  <a:schemeClr val="accent2"/>
                </a:solidFill>
              </a:rPr>
              <a:t>Part 1</a:t>
            </a:r>
            <a:r>
              <a:rPr lang="en-US" altLang="zh-CN" dirty="0">
                <a:solidFill>
                  <a:schemeClr val="accent2"/>
                </a:solidFill>
              </a:rPr>
              <a:t> </a:t>
            </a:r>
            <a:endParaRPr lang="zh-CN" altLang="en-US"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b="1" dirty="0"/>
              <a:t>1.8.1 while</a:t>
            </a:r>
            <a:r>
              <a:rPr lang="zh-CN" altLang="zh-CN" b="1" dirty="0" smtClean="0"/>
              <a:t>语句</a:t>
            </a:r>
            <a:endParaRPr lang="zh-CN" altLang="en-US" dirty="0"/>
          </a:p>
        </p:txBody>
      </p:sp>
      <p:sp>
        <p:nvSpPr>
          <p:cNvPr id="5" name="矩形 4"/>
          <p:cNvSpPr/>
          <p:nvPr/>
        </p:nvSpPr>
        <p:spPr>
          <a:xfrm>
            <a:off x="609601" y="1544887"/>
            <a:ext cx="11177412" cy="4093428"/>
          </a:xfrm>
          <a:prstGeom prst="rect">
            <a:avLst/>
          </a:prstGeom>
        </p:spPr>
        <p:txBody>
          <a:bodyPr wrap="square">
            <a:spAutoFit/>
          </a:bodyPr>
          <a:lstStyle/>
          <a:p>
            <a:r>
              <a:rPr lang="zh-CN" altLang="zh-CN" sz="2000" dirty="0"/>
              <a:t>循环语句</a:t>
            </a:r>
            <a:r>
              <a:rPr lang="en-US" altLang="zh-CN" sz="2000" dirty="0"/>
              <a:t>while</a:t>
            </a:r>
            <a:r>
              <a:rPr lang="zh-CN" altLang="zh-CN" sz="2000" dirty="0"/>
              <a:t>，其使用方式如下：</a:t>
            </a:r>
            <a:endParaRPr lang="zh-CN" altLang="zh-CN" sz="2000" dirty="0"/>
          </a:p>
          <a:p>
            <a:r>
              <a:rPr lang="en-US" altLang="zh-CN" sz="2000" dirty="0"/>
              <a:t>while </a:t>
            </a:r>
            <a:r>
              <a:rPr lang="zh-CN" altLang="zh-CN" sz="2000" dirty="0"/>
              <a:t>条件</a:t>
            </a:r>
            <a:r>
              <a:rPr lang="en-US" altLang="zh-CN" sz="2000" dirty="0"/>
              <a:t>:</a:t>
            </a:r>
            <a:endParaRPr lang="zh-CN" altLang="zh-CN" sz="2000" dirty="0"/>
          </a:p>
          <a:p>
            <a:r>
              <a:rPr lang="en-US" altLang="zh-CN" sz="2000" dirty="0"/>
              <a:t>  </a:t>
            </a:r>
            <a:r>
              <a:rPr lang="zh-CN" altLang="zh-CN" sz="2000" dirty="0"/>
              <a:t>执行语句块</a:t>
            </a:r>
            <a:endParaRPr lang="zh-CN" altLang="zh-CN" sz="2000" dirty="0"/>
          </a:p>
          <a:p>
            <a:r>
              <a:rPr lang="zh-CN" altLang="zh-CN" sz="2000" dirty="0"/>
              <a:t>注意执行语句块中的程序全部都要缩进并对齐。一般</a:t>
            </a:r>
            <a:r>
              <a:rPr lang="en-US" altLang="zh-CN" sz="2000" dirty="0"/>
              <a:t>while</a:t>
            </a:r>
            <a:r>
              <a:rPr lang="zh-CN" altLang="zh-CN" sz="2000" dirty="0"/>
              <a:t>循环需要预定义条件变量，当满足条件的时候，循环执行语句块的内容。以求</a:t>
            </a:r>
            <a:r>
              <a:rPr lang="en-US" altLang="zh-CN" sz="2000" dirty="0"/>
              <a:t>1</a:t>
            </a:r>
            <a:r>
              <a:rPr lang="zh-CN" altLang="zh-CN" sz="2000" dirty="0"/>
              <a:t>到</a:t>
            </a:r>
            <a:r>
              <a:rPr lang="en-US" altLang="zh-CN" sz="2000" dirty="0"/>
              <a:t>100</a:t>
            </a:r>
            <a:r>
              <a:rPr lang="zh-CN" altLang="zh-CN" sz="2000" dirty="0"/>
              <a:t>的和为例，采用</a:t>
            </a:r>
            <a:r>
              <a:rPr lang="en-US" altLang="zh-CN" sz="2000" dirty="0"/>
              <a:t>while</a:t>
            </a:r>
            <a:r>
              <a:rPr lang="zh-CN" altLang="zh-CN" sz="2000" dirty="0"/>
              <a:t>循环实现，示例代码如下：</a:t>
            </a:r>
            <a:endParaRPr lang="zh-CN" altLang="zh-CN" sz="2000" dirty="0"/>
          </a:p>
          <a:p>
            <a:r>
              <a:rPr lang="en-US" altLang="zh-CN" sz="2000" dirty="0"/>
              <a:t>t = 100	</a:t>
            </a:r>
            <a:endParaRPr lang="zh-CN" altLang="zh-CN" sz="2000" dirty="0"/>
          </a:p>
          <a:p>
            <a:r>
              <a:rPr lang="en-US" altLang="zh-CN" sz="2000" dirty="0"/>
              <a:t>s = 0</a:t>
            </a:r>
            <a:endParaRPr lang="zh-CN" altLang="zh-CN" sz="2000" dirty="0"/>
          </a:p>
          <a:p>
            <a:r>
              <a:rPr lang="en-US" altLang="zh-CN" sz="2000" dirty="0"/>
              <a:t>while t:</a:t>
            </a:r>
            <a:endParaRPr lang="zh-CN" altLang="zh-CN" sz="2000" dirty="0"/>
          </a:p>
          <a:p>
            <a:r>
              <a:rPr lang="en-US" altLang="zh-CN" sz="2000" dirty="0"/>
              <a:t>    s=</a:t>
            </a:r>
            <a:r>
              <a:rPr lang="en-US" altLang="zh-CN" sz="2000" dirty="0" err="1"/>
              <a:t>s+t</a:t>
            </a:r>
            <a:endParaRPr lang="zh-CN" altLang="zh-CN" sz="2000" dirty="0"/>
          </a:p>
          <a:p>
            <a:r>
              <a:rPr lang="en-US" altLang="zh-CN" sz="2000" dirty="0"/>
              <a:t>    t=t-1</a:t>
            </a:r>
            <a:endParaRPr lang="zh-CN" altLang="zh-CN" sz="2000" dirty="0"/>
          </a:p>
          <a:p>
            <a:r>
              <a:rPr lang="en-US" altLang="zh-CN" sz="2000" dirty="0"/>
              <a:t>print ('s= ',s)</a:t>
            </a:r>
            <a:endParaRPr lang="zh-CN" altLang="zh-CN" sz="2000" dirty="0"/>
          </a:p>
          <a:p>
            <a:r>
              <a:rPr lang="zh-CN" altLang="zh-CN" sz="2000" dirty="0"/>
              <a:t>执行结果如下：</a:t>
            </a:r>
            <a:endParaRPr lang="zh-CN" altLang="zh-CN" sz="2000" dirty="0"/>
          </a:p>
          <a:p>
            <a:r>
              <a:rPr lang="en-US" altLang="zh-CN" sz="2000" dirty="0"/>
              <a:t>s=  5050</a:t>
            </a:r>
            <a:endParaRPr lang="zh-CN" altLang="zh-CN" sz="2000"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1.8.2 for</a:t>
            </a:r>
            <a:r>
              <a:rPr lang="zh-CN" altLang="zh-CN" b="1" dirty="0" smtClean="0"/>
              <a:t>循环</a:t>
            </a:r>
            <a:endParaRPr lang="zh-CN" altLang="en-US" dirty="0"/>
          </a:p>
        </p:txBody>
      </p:sp>
      <p:sp>
        <p:nvSpPr>
          <p:cNvPr id="3" name="矩形 2"/>
          <p:cNvSpPr/>
          <p:nvPr/>
        </p:nvSpPr>
        <p:spPr>
          <a:xfrm>
            <a:off x="394797" y="1988840"/>
            <a:ext cx="5281041" cy="4092575"/>
          </a:xfrm>
          <a:prstGeom prst="rect">
            <a:avLst/>
          </a:prstGeom>
        </p:spPr>
        <p:txBody>
          <a:bodyPr wrap="square">
            <a:spAutoFit/>
          </a:bodyPr>
          <a:lstStyle/>
          <a:p>
            <a:r>
              <a:rPr lang="zh-CN" altLang="zh-CN" sz="2000" dirty="0"/>
              <a:t>循环语句</a:t>
            </a:r>
            <a:r>
              <a:rPr lang="en-US" altLang="zh-CN" sz="2000" dirty="0"/>
              <a:t>for</a:t>
            </a:r>
            <a:r>
              <a:rPr lang="zh-CN" altLang="zh-CN" sz="2000" dirty="0"/>
              <a:t>使用方式如下：</a:t>
            </a:r>
            <a:endParaRPr lang="zh-CN" altLang="zh-CN" sz="2000" dirty="0"/>
          </a:p>
          <a:p>
            <a:r>
              <a:rPr lang="en-US" altLang="zh-CN" sz="2000" dirty="0"/>
              <a:t>for </a:t>
            </a:r>
            <a:r>
              <a:rPr lang="zh-CN" altLang="zh-CN" sz="2000" dirty="0"/>
              <a:t>变量</a:t>
            </a:r>
            <a:r>
              <a:rPr lang="en-US" altLang="zh-CN" sz="2000" dirty="0"/>
              <a:t> in </a:t>
            </a:r>
            <a:r>
              <a:rPr lang="zh-CN" altLang="zh-CN" sz="2000" dirty="0"/>
              <a:t>序列</a:t>
            </a:r>
            <a:r>
              <a:rPr lang="en-US" altLang="zh-CN" sz="2000" dirty="0"/>
              <a:t>:</a:t>
            </a:r>
            <a:endParaRPr lang="zh-CN" altLang="zh-CN" sz="2000" dirty="0"/>
          </a:p>
          <a:p>
            <a:r>
              <a:rPr lang="en-US" altLang="zh-CN" sz="2000" dirty="0"/>
              <a:t>   </a:t>
            </a:r>
            <a:r>
              <a:rPr lang="zh-CN" altLang="zh-CN" sz="2000" dirty="0"/>
              <a:t>执行语句块</a:t>
            </a:r>
            <a:endParaRPr lang="zh-CN" altLang="zh-CN" sz="2000" dirty="0"/>
          </a:p>
          <a:p>
            <a:r>
              <a:rPr lang="zh-CN" altLang="zh-CN" sz="2000" dirty="0"/>
              <a:t>注意执行语句块中的程序全部需要缩进并对齐，其中序列为任意序列，可以是数组、列表、元组等。示例代码如下：</a:t>
            </a:r>
            <a:endParaRPr lang="zh-CN" altLang="zh-CN" sz="2000" dirty="0"/>
          </a:p>
          <a:p>
            <a:r>
              <a:rPr lang="en-US" altLang="zh-CN" sz="2000" dirty="0"/>
              <a:t>list1=list()</a:t>
            </a:r>
            <a:endParaRPr lang="zh-CN" altLang="zh-CN" sz="2000" dirty="0"/>
          </a:p>
          <a:p>
            <a:r>
              <a:rPr lang="en-US" altLang="zh-CN" sz="2000" dirty="0"/>
              <a:t>list2=list()</a:t>
            </a:r>
            <a:endParaRPr lang="zh-CN" altLang="zh-CN" sz="2000" dirty="0"/>
          </a:p>
          <a:p>
            <a:r>
              <a:rPr lang="en-US" altLang="zh-CN" sz="2000" dirty="0"/>
              <a:t>list3=list()</a:t>
            </a:r>
            <a:endParaRPr lang="zh-CN" altLang="zh-CN" sz="2000" dirty="0"/>
          </a:p>
          <a:p>
            <a:r>
              <a:rPr lang="en-US" altLang="zh-CN" sz="2000" dirty="0"/>
              <a:t>for a in range(10</a:t>
            </a:r>
            <a:r>
              <a:rPr lang="en-US" altLang="zh-CN" sz="2000" dirty="0" smtClean="0"/>
              <a:t>):</a:t>
            </a:r>
            <a:endParaRPr lang="en-US" altLang="zh-CN" sz="2000" dirty="0" smtClean="0"/>
          </a:p>
          <a:p>
            <a:r>
              <a:rPr lang="en-US" altLang="zh-CN" sz="2000" dirty="0"/>
              <a:t>  list1.append(a)</a:t>
            </a:r>
            <a:endParaRPr lang="zh-CN" altLang="zh-CN" sz="2000" dirty="0"/>
          </a:p>
          <a:p>
            <a:r>
              <a:rPr lang="en-US" altLang="zh-CN" sz="2000" dirty="0"/>
              <a:t>for t in ['</a:t>
            </a:r>
            <a:r>
              <a:rPr lang="en-US" altLang="zh-CN" sz="2000" dirty="0" err="1"/>
              <a:t>a','b','c','d</a:t>
            </a:r>
            <a:r>
              <a:rPr lang="en-US" altLang="zh-CN" sz="2000" dirty="0"/>
              <a:t>']:</a:t>
            </a:r>
            <a:endParaRPr lang="en-US" altLang="zh-CN" sz="2000" dirty="0"/>
          </a:p>
          <a:p>
            <a:r>
              <a:rPr lang="zh-CN" altLang="zh-CN" sz="2000" dirty="0"/>
              <a:t>  list2.append(t</a:t>
            </a:r>
            <a:r>
              <a:rPr lang="en-US" altLang="zh-CN" sz="2000" dirty="0"/>
              <a:t>)</a:t>
            </a:r>
            <a:endParaRPr lang="en-US" altLang="zh-CN" sz="2000" dirty="0"/>
          </a:p>
        </p:txBody>
      </p:sp>
      <p:sp>
        <p:nvSpPr>
          <p:cNvPr id="4" name="矩形 3"/>
          <p:cNvSpPr/>
          <p:nvPr/>
        </p:nvSpPr>
        <p:spPr>
          <a:xfrm>
            <a:off x="5810349" y="1988840"/>
            <a:ext cx="6096000" cy="3477875"/>
          </a:xfrm>
          <a:prstGeom prst="rect">
            <a:avLst/>
          </a:prstGeom>
        </p:spPr>
        <p:txBody>
          <a:bodyPr>
            <a:spAutoFit/>
          </a:bodyPr>
          <a:lstStyle/>
          <a:p>
            <a:r>
              <a:rPr lang="en-US" altLang="zh-CN" sz="2000" dirty="0"/>
              <a:t>for q in ('</a:t>
            </a:r>
            <a:r>
              <a:rPr lang="en-US" altLang="zh-CN" sz="2000" dirty="0" err="1"/>
              <a:t>k','j','p</a:t>
            </a:r>
            <a:r>
              <a:rPr lang="en-US" altLang="zh-CN" sz="2000" dirty="0"/>
              <a:t>'):</a:t>
            </a:r>
            <a:endParaRPr lang="zh-CN" altLang="zh-CN" sz="2000" dirty="0"/>
          </a:p>
          <a:p>
            <a:r>
              <a:rPr lang="en-US" altLang="zh-CN" sz="2000" dirty="0"/>
              <a:t>    list3.append(q)</a:t>
            </a:r>
            <a:endParaRPr lang="zh-CN" altLang="zh-CN" sz="2000" dirty="0"/>
          </a:p>
          <a:p>
            <a:r>
              <a:rPr lang="en-US" altLang="zh-CN" sz="2000" dirty="0"/>
              <a:t>print(list1)</a:t>
            </a:r>
            <a:endParaRPr lang="zh-CN" altLang="zh-CN" sz="2000" dirty="0"/>
          </a:p>
          <a:p>
            <a:r>
              <a:rPr lang="en-US" altLang="zh-CN" sz="2000" dirty="0"/>
              <a:t>print(list2)</a:t>
            </a:r>
            <a:endParaRPr lang="zh-CN" altLang="zh-CN" sz="2000" dirty="0"/>
          </a:p>
          <a:p>
            <a:r>
              <a:rPr lang="en-US" altLang="zh-CN" sz="2000" dirty="0"/>
              <a:t>print(list3)</a:t>
            </a:r>
            <a:endParaRPr lang="zh-CN" altLang="zh-CN" sz="2000" dirty="0"/>
          </a:p>
          <a:p>
            <a:r>
              <a:rPr lang="zh-CN" altLang="zh-CN" sz="2000" dirty="0"/>
              <a:t>执行结果如下：</a:t>
            </a:r>
            <a:endParaRPr lang="zh-CN" altLang="zh-CN" sz="2000" dirty="0"/>
          </a:p>
          <a:p>
            <a:r>
              <a:rPr lang="en-US" altLang="zh-CN" sz="2000" dirty="0"/>
              <a:t>[0, 1, 2, 3, 4, 5, 6, 7, 8, 9]</a:t>
            </a:r>
            <a:endParaRPr lang="zh-CN" altLang="zh-CN" sz="2000" dirty="0"/>
          </a:p>
          <a:p>
            <a:r>
              <a:rPr lang="en-US" altLang="zh-CN" sz="2000" dirty="0"/>
              <a:t>['a', 'b', 'c', 'd']</a:t>
            </a:r>
            <a:endParaRPr lang="zh-CN" altLang="zh-CN" sz="2000" dirty="0"/>
          </a:p>
          <a:p>
            <a:r>
              <a:rPr lang="en-US" altLang="zh-CN" sz="2000" dirty="0"/>
              <a:t>['k', 'j', 'p']</a:t>
            </a:r>
            <a:endParaRPr lang="zh-CN" altLang="zh-CN" sz="2000" dirty="0"/>
          </a:p>
          <a:p>
            <a:r>
              <a:rPr lang="zh-CN" altLang="zh-CN" sz="2000" dirty="0"/>
              <a:t>示例程序首先创建三个空列表</a:t>
            </a:r>
            <a:r>
              <a:rPr lang="en-US" altLang="zh-CN" sz="2000" dirty="0"/>
              <a:t>list1</a:t>
            </a:r>
            <a:r>
              <a:rPr lang="zh-CN" altLang="zh-CN" sz="2000" dirty="0"/>
              <a:t>、</a:t>
            </a:r>
            <a:r>
              <a:rPr lang="en-US" altLang="zh-CN" sz="2000" dirty="0"/>
              <a:t>list2</a:t>
            </a:r>
            <a:r>
              <a:rPr lang="zh-CN" altLang="zh-CN" sz="2000" dirty="0"/>
              <a:t>和</a:t>
            </a:r>
            <a:r>
              <a:rPr lang="en-US" altLang="zh-CN" sz="2000" dirty="0"/>
              <a:t>list3</a:t>
            </a:r>
            <a:r>
              <a:rPr lang="zh-CN" altLang="zh-CN" sz="2000" dirty="0"/>
              <a:t>，通过</a:t>
            </a:r>
            <a:r>
              <a:rPr lang="en-US" altLang="zh-CN" sz="2000" dirty="0"/>
              <a:t>for</a:t>
            </a:r>
            <a:r>
              <a:rPr lang="zh-CN" altLang="zh-CN" sz="2000" dirty="0"/>
              <a:t>循环的方式，依次将循环序列中的元素添加到</a:t>
            </a:r>
            <a:endParaRPr lang="zh-CN" altLang="zh-CN"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25773" y="1607139"/>
            <a:ext cx="10225136" cy="1815882"/>
          </a:xfrm>
          <a:prstGeom prst="rect">
            <a:avLst/>
          </a:prstGeom>
        </p:spPr>
        <p:txBody>
          <a:bodyPr wrap="square">
            <a:spAutoFit/>
          </a:bodyPr>
          <a:lstStyle/>
          <a:p>
            <a:pPr indent="720090"/>
            <a:r>
              <a:rPr lang="zh-CN" altLang="zh-CN" sz="2800" dirty="0"/>
              <a:t>在实际开发应用中，如果若干段程序代码实现逻辑相同，那么可以考虑将这些代码定义为函数的形式。下面我们介绍无返回值函数、有一个返回值函数和有多个返回值函数的定义及调用方法</a:t>
            </a:r>
            <a:r>
              <a:rPr lang="zh-CN" altLang="zh-CN" sz="2400" dirty="0"/>
              <a:t>。</a:t>
            </a:r>
            <a:endParaRPr lang="zh-CN" altLang="zh-CN" sz="2400" dirty="0"/>
          </a:p>
        </p:txBody>
      </p:sp>
      <p:sp>
        <p:nvSpPr>
          <p:cNvPr id="5" name="矩形 4"/>
          <p:cNvSpPr/>
          <p:nvPr/>
        </p:nvSpPr>
        <p:spPr>
          <a:xfrm>
            <a:off x="1417861" y="116632"/>
            <a:ext cx="1872208" cy="461665"/>
          </a:xfrm>
          <a:prstGeom prst="rect">
            <a:avLst/>
          </a:prstGeom>
        </p:spPr>
        <p:txBody>
          <a:bodyPr wrap="square">
            <a:spAutoFit/>
          </a:bodyPr>
          <a:lstStyle/>
          <a:p>
            <a:r>
              <a:rPr lang="en-US" altLang="zh-CN" sz="2400" b="1" dirty="0">
                <a:solidFill>
                  <a:schemeClr val="accent2">
                    <a:lumMod val="95000"/>
                  </a:schemeClr>
                </a:solidFill>
              </a:rPr>
              <a:t>1.9 </a:t>
            </a:r>
            <a:r>
              <a:rPr lang="zh-CN" altLang="zh-CN" sz="2400" b="1" dirty="0">
                <a:solidFill>
                  <a:schemeClr val="accent2">
                    <a:lumMod val="95000"/>
                  </a:schemeClr>
                </a:solidFill>
              </a:rPr>
              <a:t>函数</a:t>
            </a:r>
            <a:endParaRPr lang="zh-CN" altLang="en-US" sz="2400" dirty="0">
              <a:solidFill>
                <a:schemeClr val="accent2">
                  <a:lumMod val="95000"/>
                </a:schemeClr>
              </a:solidFill>
            </a:endParaRPr>
          </a:p>
        </p:txBody>
      </p:sp>
      <p:sp>
        <p:nvSpPr>
          <p:cNvPr id="4" name="TextBox 55"/>
          <p:cNvSpPr txBox="1"/>
          <p:nvPr/>
        </p:nvSpPr>
        <p:spPr>
          <a:xfrm>
            <a:off x="93643" y="116632"/>
            <a:ext cx="1064260" cy="400103"/>
          </a:xfrm>
          <a:prstGeom prst="rect">
            <a:avLst/>
          </a:prstGeom>
          <a:noFill/>
        </p:spPr>
        <p:txBody>
          <a:bodyPr wrap="square" lIns="91434" tIns="45717" rIns="91434" bIns="45717" rtlCol="0">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r>
              <a:rPr lang="en-US" altLang="zh-CN" sz="2000" dirty="0">
                <a:solidFill>
                  <a:schemeClr val="accent2"/>
                </a:solidFill>
              </a:rPr>
              <a:t>Part 1</a:t>
            </a:r>
            <a:r>
              <a:rPr lang="en-US" altLang="zh-CN" dirty="0">
                <a:solidFill>
                  <a:schemeClr val="accent2"/>
                </a:solidFill>
              </a:rPr>
              <a:t> </a:t>
            </a:r>
            <a:endParaRPr lang="zh-CN" altLang="en-US"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b="1" dirty="0"/>
              <a:t>1.9.1 </a:t>
            </a:r>
            <a:r>
              <a:rPr lang="zh-CN" altLang="zh-CN" b="1" dirty="0"/>
              <a:t>无返回值函数定义与</a:t>
            </a:r>
            <a:r>
              <a:rPr lang="zh-CN" altLang="zh-CN" b="1" dirty="0" smtClean="0"/>
              <a:t>调用</a:t>
            </a:r>
            <a:endParaRPr lang="zh-CN" altLang="en-US" dirty="0"/>
          </a:p>
        </p:txBody>
      </p:sp>
      <p:sp>
        <p:nvSpPr>
          <p:cNvPr id="5" name="矩形 4"/>
          <p:cNvSpPr/>
          <p:nvPr/>
        </p:nvSpPr>
        <p:spPr>
          <a:xfrm>
            <a:off x="769789" y="1412776"/>
            <a:ext cx="10945216" cy="5016758"/>
          </a:xfrm>
          <a:prstGeom prst="rect">
            <a:avLst/>
          </a:prstGeom>
        </p:spPr>
        <p:txBody>
          <a:bodyPr wrap="square">
            <a:spAutoFit/>
          </a:bodyPr>
          <a:lstStyle/>
          <a:p>
            <a:r>
              <a:rPr lang="zh-CN" altLang="zh-CN" sz="2000" dirty="0"/>
              <a:t>无返回值函数的定义格式如下：</a:t>
            </a:r>
            <a:endParaRPr lang="zh-CN" altLang="zh-CN" sz="2000" dirty="0"/>
          </a:p>
          <a:p>
            <a:r>
              <a:rPr lang="en-US" altLang="zh-CN" sz="2000" dirty="0" err="1"/>
              <a:t>def</a:t>
            </a:r>
            <a:r>
              <a:rPr lang="en-US" altLang="zh-CN" sz="2000" dirty="0"/>
              <a:t> </a:t>
            </a:r>
            <a:r>
              <a:rPr lang="zh-CN" altLang="zh-CN" sz="2000" dirty="0"/>
              <a:t>函数名</a:t>
            </a:r>
            <a:r>
              <a:rPr lang="en-US" altLang="zh-CN" sz="2000" dirty="0"/>
              <a:t>(</a:t>
            </a:r>
            <a:r>
              <a:rPr lang="zh-CN" altLang="zh-CN" sz="2000" dirty="0"/>
              <a:t>输入参数</a:t>
            </a:r>
            <a:r>
              <a:rPr lang="en-US" altLang="zh-CN" sz="2000" dirty="0"/>
              <a:t>):</a:t>
            </a:r>
            <a:endParaRPr lang="zh-CN" altLang="zh-CN" sz="2000" dirty="0"/>
          </a:p>
          <a:p>
            <a:r>
              <a:rPr lang="zh-CN" altLang="zh-CN" sz="2000" dirty="0"/>
              <a:t>函数体</a:t>
            </a:r>
            <a:endParaRPr lang="zh-CN" altLang="zh-CN" sz="2000" dirty="0"/>
          </a:p>
          <a:p>
            <a:r>
              <a:rPr lang="zh-CN" altLang="zh-CN" sz="2000" dirty="0"/>
              <a:t>注意冒号及缩进，函数体中的程序均需要缩进并对齐。示例代码如下：</a:t>
            </a:r>
            <a:endParaRPr lang="zh-CN" altLang="zh-CN" sz="2000" dirty="0"/>
          </a:p>
          <a:p>
            <a:r>
              <a:rPr lang="en-US" altLang="zh-CN" sz="2000" dirty="0"/>
              <a:t>#</a:t>
            </a:r>
            <a:r>
              <a:rPr lang="zh-CN" altLang="zh-CN" sz="2000" dirty="0"/>
              <a:t>定义函数</a:t>
            </a:r>
            <a:endParaRPr lang="zh-CN" altLang="zh-CN" sz="2000" dirty="0"/>
          </a:p>
          <a:p>
            <a:r>
              <a:rPr lang="en-US" altLang="zh-CN" sz="2000" dirty="0" err="1"/>
              <a:t>def</a:t>
            </a:r>
            <a:r>
              <a:rPr lang="en-US" altLang="zh-CN" sz="2000" dirty="0"/>
              <a:t> </a:t>
            </a:r>
            <a:r>
              <a:rPr lang="en-US" altLang="zh-CN" sz="2000" dirty="0" err="1"/>
              <a:t>sumt</a:t>
            </a:r>
            <a:r>
              <a:rPr lang="en-US" altLang="zh-CN" sz="2000" dirty="0"/>
              <a:t>(t):</a:t>
            </a:r>
            <a:endParaRPr lang="zh-CN" altLang="zh-CN" sz="2000" dirty="0"/>
          </a:p>
          <a:p>
            <a:r>
              <a:rPr lang="en-US" altLang="zh-CN" sz="2000" dirty="0"/>
              <a:t>    s = 0</a:t>
            </a:r>
            <a:endParaRPr lang="zh-CN" altLang="zh-CN" sz="2000" dirty="0"/>
          </a:p>
          <a:p>
            <a:r>
              <a:rPr lang="en-US" altLang="zh-CN" sz="2000" dirty="0"/>
              <a:t>    while t:</a:t>
            </a:r>
            <a:endParaRPr lang="zh-CN" altLang="zh-CN" sz="2000" dirty="0"/>
          </a:p>
          <a:p>
            <a:r>
              <a:rPr lang="en-US" altLang="zh-CN" sz="2000" dirty="0"/>
              <a:t>       s=</a:t>
            </a:r>
            <a:r>
              <a:rPr lang="en-US" altLang="zh-CN" sz="2000" dirty="0" err="1"/>
              <a:t>s+t</a:t>
            </a:r>
            <a:endParaRPr lang="zh-CN" altLang="zh-CN" sz="2000" dirty="0"/>
          </a:p>
          <a:p>
            <a:r>
              <a:rPr lang="en-US" altLang="zh-CN" sz="2000" dirty="0"/>
              <a:t>       t=t-1</a:t>
            </a:r>
            <a:endParaRPr lang="zh-CN" altLang="zh-CN" sz="2000" dirty="0"/>
          </a:p>
          <a:p>
            <a:r>
              <a:rPr lang="en-US" altLang="zh-CN" sz="2000" dirty="0"/>
              <a:t>#</a:t>
            </a:r>
            <a:r>
              <a:rPr lang="zh-CN" altLang="zh-CN" sz="2000" dirty="0"/>
              <a:t>调用函数并打印结果</a:t>
            </a:r>
            <a:r>
              <a:rPr lang="en-US" altLang="zh-CN" sz="2000" dirty="0"/>
              <a:t>       </a:t>
            </a:r>
            <a:endParaRPr lang="zh-CN" altLang="zh-CN" sz="2000" dirty="0"/>
          </a:p>
          <a:p>
            <a:r>
              <a:rPr lang="en-US" altLang="zh-CN" sz="2000" dirty="0"/>
              <a:t>s=</a:t>
            </a:r>
            <a:r>
              <a:rPr lang="en-US" altLang="zh-CN" sz="2000" dirty="0" err="1"/>
              <a:t>sumt</a:t>
            </a:r>
            <a:r>
              <a:rPr lang="en-US" altLang="zh-CN" sz="2000" dirty="0"/>
              <a:t>(50)</a:t>
            </a:r>
            <a:endParaRPr lang="zh-CN" altLang="zh-CN" sz="2000" dirty="0"/>
          </a:p>
          <a:p>
            <a:r>
              <a:rPr lang="en-US" altLang="zh-CN" sz="2000" dirty="0"/>
              <a:t>print(s)</a:t>
            </a:r>
            <a:endParaRPr lang="zh-CN" altLang="zh-CN" sz="2000" dirty="0"/>
          </a:p>
          <a:p>
            <a:r>
              <a:rPr lang="zh-CN" altLang="zh-CN" sz="2000" dirty="0"/>
              <a:t>执行结果如下所示：</a:t>
            </a:r>
            <a:endParaRPr lang="zh-CN" altLang="zh-CN" sz="2000" dirty="0"/>
          </a:p>
          <a:p>
            <a:r>
              <a:rPr lang="en-US" altLang="zh-CN" sz="2000" dirty="0"/>
              <a:t>None</a:t>
            </a:r>
            <a:endParaRPr lang="zh-CN" altLang="zh-CN" sz="2000" dirty="0"/>
          </a:p>
          <a:p>
            <a:r>
              <a:rPr lang="zh-CN" altLang="zh-CN" sz="2000" dirty="0"/>
              <a:t>执行结果为</a:t>
            </a:r>
            <a:r>
              <a:rPr lang="en-US" altLang="zh-CN" sz="2000" dirty="0"/>
              <a:t>None</a:t>
            </a:r>
            <a:r>
              <a:rPr lang="zh-CN" altLang="zh-CN" sz="2000" dirty="0"/>
              <a:t>，表示没有任何结果，因为该函数没有任何返回值。</a:t>
            </a:r>
            <a:endParaRPr lang="zh-CN" altLang="zh-CN" sz="2000"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1757" y="305613"/>
            <a:ext cx="10977563" cy="635000"/>
          </a:xfrm>
        </p:spPr>
        <p:txBody>
          <a:bodyPr/>
          <a:lstStyle/>
          <a:p>
            <a:r>
              <a:rPr lang="en-US" altLang="zh-CN" b="1" dirty="0"/>
              <a:t>1.9.2 </a:t>
            </a:r>
            <a:r>
              <a:rPr lang="zh-CN" altLang="zh-CN" b="1" dirty="0"/>
              <a:t>有返回值函数定义与</a:t>
            </a:r>
            <a:r>
              <a:rPr lang="zh-CN" altLang="zh-CN" b="1" dirty="0" smtClean="0"/>
              <a:t>调用</a:t>
            </a:r>
            <a:endParaRPr lang="zh-CN" altLang="en-US" dirty="0"/>
          </a:p>
        </p:txBody>
      </p:sp>
      <p:sp>
        <p:nvSpPr>
          <p:cNvPr id="3" name="矩形 2"/>
          <p:cNvSpPr/>
          <p:nvPr/>
        </p:nvSpPr>
        <p:spPr>
          <a:xfrm>
            <a:off x="553765" y="923423"/>
            <a:ext cx="11233248" cy="5909310"/>
          </a:xfrm>
          <a:prstGeom prst="rect">
            <a:avLst/>
          </a:prstGeom>
        </p:spPr>
        <p:txBody>
          <a:bodyPr wrap="square">
            <a:spAutoFit/>
          </a:bodyPr>
          <a:lstStyle/>
          <a:p>
            <a:r>
              <a:rPr lang="zh-CN" altLang="zh-CN" sz="2000" dirty="0"/>
              <a:t>有返回值的函数定义如下：</a:t>
            </a:r>
            <a:endParaRPr lang="zh-CN" altLang="zh-CN" sz="2000" dirty="0"/>
          </a:p>
          <a:p>
            <a:r>
              <a:rPr lang="en-US" altLang="zh-CN" sz="2000" dirty="0" err="1"/>
              <a:t>def</a:t>
            </a:r>
            <a:r>
              <a:rPr lang="en-US" altLang="zh-CN" sz="2000" dirty="0"/>
              <a:t> </a:t>
            </a:r>
            <a:r>
              <a:rPr lang="zh-CN" altLang="zh-CN" sz="2000" dirty="0"/>
              <a:t>函数名称</a:t>
            </a:r>
            <a:r>
              <a:rPr lang="en-US" altLang="zh-CN" sz="2000" dirty="0"/>
              <a:t>(</a:t>
            </a:r>
            <a:r>
              <a:rPr lang="zh-CN" altLang="zh-CN" sz="2000" dirty="0"/>
              <a:t>输入参数</a:t>
            </a:r>
            <a:r>
              <a:rPr lang="en-US" altLang="zh-CN" sz="2000" dirty="0"/>
              <a:t>):</a:t>
            </a:r>
            <a:endParaRPr lang="zh-CN" altLang="zh-CN" sz="2000" dirty="0"/>
          </a:p>
          <a:p>
            <a:r>
              <a:rPr lang="en-US" altLang="zh-CN" sz="2000" dirty="0"/>
              <a:t>   </a:t>
            </a:r>
            <a:r>
              <a:rPr lang="zh-CN" altLang="zh-CN" sz="2000" dirty="0"/>
              <a:t>函数体</a:t>
            </a:r>
            <a:endParaRPr lang="zh-CN" altLang="zh-CN" sz="2000" dirty="0"/>
          </a:p>
          <a:p>
            <a:r>
              <a:rPr lang="en-US" altLang="zh-CN" sz="2000" dirty="0"/>
              <a:t>   return </a:t>
            </a:r>
            <a:r>
              <a:rPr lang="zh-CN" altLang="zh-CN" sz="2000" dirty="0"/>
              <a:t>返回变量</a:t>
            </a:r>
            <a:endParaRPr lang="zh-CN" altLang="zh-CN" sz="2000" dirty="0"/>
          </a:p>
          <a:p>
            <a:r>
              <a:rPr lang="en-US" altLang="zh-CN" sz="2000" dirty="0"/>
              <a:t> </a:t>
            </a:r>
            <a:endParaRPr lang="zh-CN" altLang="zh-CN" sz="2000" dirty="0"/>
          </a:p>
          <a:p>
            <a:r>
              <a:rPr lang="zh-CN" altLang="zh-CN" sz="2000" dirty="0"/>
              <a:t>示例代码如下：</a:t>
            </a:r>
            <a:endParaRPr lang="zh-CN" altLang="zh-CN" sz="2000" dirty="0"/>
          </a:p>
          <a:p>
            <a:r>
              <a:rPr lang="en-US" altLang="zh-CN" sz="2000" dirty="0"/>
              <a:t>#</a:t>
            </a:r>
            <a:r>
              <a:rPr lang="zh-CN" altLang="zh-CN" sz="2000" dirty="0"/>
              <a:t>定义函数</a:t>
            </a:r>
            <a:endParaRPr lang="zh-CN" altLang="zh-CN" sz="2000" dirty="0"/>
          </a:p>
          <a:p>
            <a:r>
              <a:rPr lang="en-US" altLang="zh-CN" sz="2000" dirty="0" err="1"/>
              <a:t>def</a:t>
            </a:r>
            <a:r>
              <a:rPr lang="en-US" altLang="zh-CN" sz="2000" dirty="0"/>
              <a:t> </a:t>
            </a:r>
            <a:r>
              <a:rPr lang="en-US" altLang="zh-CN" sz="2000" dirty="0" err="1"/>
              <a:t>sumt</a:t>
            </a:r>
            <a:r>
              <a:rPr lang="en-US" altLang="zh-CN" sz="2000" dirty="0"/>
              <a:t>(t):</a:t>
            </a:r>
            <a:endParaRPr lang="zh-CN" altLang="zh-CN" sz="2000" dirty="0"/>
          </a:p>
          <a:p>
            <a:r>
              <a:rPr lang="en-US" altLang="zh-CN" sz="2000" dirty="0"/>
              <a:t>    s = 0</a:t>
            </a:r>
            <a:endParaRPr lang="zh-CN" altLang="zh-CN" sz="2000" dirty="0"/>
          </a:p>
          <a:p>
            <a:r>
              <a:rPr lang="en-US" altLang="zh-CN" sz="2000" dirty="0"/>
              <a:t>    while t:</a:t>
            </a:r>
            <a:endParaRPr lang="zh-CN" altLang="zh-CN" sz="2000" dirty="0"/>
          </a:p>
          <a:p>
            <a:r>
              <a:rPr lang="en-US" altLang="zh-CN" sz="2000" dirty="0"/>
              <a:t>       s=</a:t>
            </a:r>
            <a:r>
              <a:rPr lang="en-US" altLang="zh-CN" sz="2000" dirty="0" err="1"/>
              <a:t>s+t</a:t>
            </a:r>
            <a:endParaRPr lang="zh-CN" altLang="zh-CN" sz="2000" dirty="0"/>
          </a:p>
          <a:p>
            <a:r>
              <a:rPr lang="en-US" altLang="zh-CN" sz="2000" dirty="0"/>
              <a:t>       t=t-1</a:t>
            </a:r>
            <a:endParaRPr lang="zh-CN" altLang="zh-CN" sz="2000" dirty="0"/>
          </a:p>
          <a:p>
            <a:r>
              <a:rPr lang="en-US" altLang="zh-CN" sz="2000" dirty="0"/>
              <a:t>    return s   </a:t>
            </a:r>
            <a:endParaRPr lang="zh-CN" altLang="zh-CN" sz="2000" dirty="0"/>
          </a:p>
          <a:p>
            <a:r>
              <a:rPr lang="en-US" altLang="zh-CN" sz="2000" dirty="0"/>
              <a:t>#</a:t>
            </a:r>
            <a:r>
              <a:rPr lang="zh-CN" altLang="zh-CN" sz="2000" dirty="0"/>
              <a:t>调用函数并打印结果</a:t>
            </a:r>
            <a:r>
              <a:rPr lang="en-US" altLang="zh-CN" sz="2000" dirty="0"/>
              <a:t>       </a:t>
            </a:r>
            <a:endParaRPr lang="zh-CN" altLang="zh-CN" sz="2000" dirty="0"/>
          </a:p>
          <a:p>
            <a:r>
              <a:rPr lang="en-US" altLang="zh-CN" sz="2000" dirty="0"/>
              <a:t>s=</a:t>
            </a:r>
            <a:r>
              <a:rPr lang="en-US" altLang="zh-CN" sz="2000" dirty="0" err="1"/>
              <a:t>sumt</a:t>
            </a:r>
            <a:r>
              <a:rPr lang="en-US" altLang="zh-CN" sz="2000" dirty="0"/>
              <a:t>(50)</a:t>
            </a:r>
            <a:endParaRPr lang="zh-CN" altLang="zh-CN" sz="2000" dirty="0"/>
          </a:p>
          <a:p>
            <a:r>
              <a:rPr lang="en-US" altLang="zh-CN" sz="2000" dirty="0"/>
              <a:t>print(s)</a:t>
            </a:r>
            <a:endParaRPr lang="zh-CN" altLang="zh-CN" sz="2000" dirty="0"/>
          </a:p>
          <a:p>
            <a:r>
              <a:rPr lang="zh-CN" altLang="zh-CN" sz="2000" dirty="0"/>
              <a:t>执行结果如下：</a:t>
            </a:r>
            <a:endParaRPr lang="zh-CN" altLang="zh-CN" sz="2000" dirty="0"/>
          </a:p>
          <a:p>
            <a:r>
              <a:rPr lang="en-US" altLang="zh-CN" sz="2000" dirty="0"/>
              <a:t>1275</a:t>
            </a:r>
            <a:endParaRPr lang="zh-CN" altLang="zh-CN" sz="2000" dirty="0"/>
          </a:p>
          <a:p>
            <a:r>
              <a:rPr lang="zh-CN" altLang="zh-CN" sz="2000" dirty="0"/>
              <a:t>该示例程序仅仅是在上一节无返回值函数定义的基础上，增加了返回值。</a:t>
            </a:r>
            <a:endParaRPr lang="zh-CN" altLang="zh-CN" sz="2000"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1.9.3 </a:t>
            </a:r>
            <a:r>
              <a:rPr lang="zh-CN" altLang="zh-CN" b="1" dirty="0"/>
              <a:t>有多返回值函数定义与</a:t>
            </a:r>
            <a:r>
              <a:rPr lang="zh-CN" altLang="zh-CN" b="1" dirty="0" smtClean="0"/>
              <a:t>调用</a:t>
            </a:r>
            <a:endParaRPr lang="zh-CN" altLang="en-US" dirty="0"/>
          </a:p>
        </p:txBody>
      </p:sp>
      <p:sp>
        <p:nvSpPr>
          <p:cNvPr id="4" name="矩形 3"/>
          <p:cNvSpPr/>
          <p:nvPr/>
        </p:nvSpPr>
        <p:spPr>
          <a:xfrm>
            <a:off x="620716" y="1700808"/>
            <a:ext cx="4685577" cy="4247317"/>
          </a:xfrm>
          <a:prstGeom prst="rect">
            <a:avLst/>
          </a:prstGeom>
        </p:spPr>
        <p:txBody>
          <a:bodyPr wrap="square">
            <a:spAutoFit/>
          </a:bodyPr>
          <a:lstStyle/>
          <a:p>
            <a:r>
              <a:rPr lang="zh-CN" altLang="zh-CN" dirty="0"/>
              <a:t>多返回值函数，可以用一个元组来存放返回结果，元组中的元素数据类型可以不相同，其定义如下：</a:t>
            </a:r>
            <a:endParaRPr lang="zh-CN" altLang="zh-CN" dirty="0"/>
          </a:p>
          <a:p>
            <a:r>
              <a:rPr lang="en-US" altLang="zh-CN" dirty="0" err="1"/>
              <a:t>def</a:t>
            </a:r>
            <a:r>
              <a:rPr lang="en-US" altLang="zh-CN" dirty="0"/>
              <a:t> </a:t>
            </a:r>
            <a:r>
              <a:rPr lang="zh-CN" altLang="zh-CN" dirty="0"/>
              <a:t>函数名称</a:t>
            </a:r>
            <a:r>
              <a:rPr lang="en-US" altLang="zh-CN" dirty="0"/>
              <a:t>(</a:t>
            </a:r>
            <a:r>
              <a:rPr lang="zh-CN" altLang="zh-CN" dirty="0"/>
              <a:t>输入参数</a:t>
            </a:r>
            <a:r>
              <a:rPr lang="en-US" altLang="zh-CN" dirty="0"/>
              <a:t>):</a:t>
            </a:r>
            <a:endParaRPr lang="zh-CN" altLang="zh-CN" dirty="0"/>
          </a:p>
          <a:p>
            <a:r>
              <a:rPr lang="en-US" altLang="zh-CN" dirty="0"/>
              <a:t>   </a:t>
            </a:r>
            <a:r>
              <a:rPr lang="zh-CN" altLang="zh-CN" dirty="0"/>
              <a:t>函数体</a:t>
            </a:r>
            <a:endParaRPr lang="zh-CN" altLang="zh-CN" dirty="0"/>
          </a:p>
          <a:p>
            <a:r>
              <a:rPr lang="en-US" altLang="zh-CN" dirty="0"/>
              <a:t>   return (</a:t>
            </a:r>
            <a:r>
              <a:rPr lang="zh-CN" altLang="zh-CN" dirty="0"/>
              <a:t>返回变量</a:t>
            </a:r>
            <a:r>
              <a:rPr lang="en-US" altLang="zh-CN" dirty="0"/>
              <a:t>1,</a:t>
            </a:r>
            <a:r>
              <a:rPr lang="zh-CN" altLang="zh-CN" dirty="0"/>
              <a:t>返回变量</a:t>
            </a:r>
            <a:r>
              <a:rPr lang="en-US" altLang="zh-CN" dirty="0"/>
              <a:t>2,</a:t>
            </a:r>
            <a:r>
              <a:rPr lang="zh-CN" altLang="zh-CN" dirty="0"/>
              <a:t>…</a:t>
            </a:r>
            <a:r>
              <a:rPr lang="en-US" altLang="zh-CN" dirty="0"/>
              <a:t>)</a:t>
            </a:r>
            <a:endParaRPr lang="zh-CN" altLang="zh-CN" dirty="0"/>
          </a:p>
          <a:p>
            <a:r>
              <a:rPr lang="zh-CN" altLang="zh-CN" dirty="0"/>
              <a:t>示例代码如下：</a:t>
            </a:r>
            <a:endParaRPr lang="zh-CN" altLang="zh-CN" dirty="0"/>
          </a:p>
          <a:p>
            <a:r>
              <a:rPr lang="en-US" altLang="zh-CN" dirty="0"/>
              <a:t>#</a:t>
            </a:r>
            <a:r>
              <a:rPr lang="zh-CN" altLang="zh-CN" dirty="0"/>
              <a:t>定义函数</a:t>
            </a:r>
            <a:endParaRPr lang="zh-CN" altLang="zh-CN" dirty="0"/>
          </a:p>
          <a:p>
            <a:r>
              <a:rPr lang="en-US" altLang="zh-CN" dirty="0" err="1"/>
              <a:t>def</a:t>
            </a:r>
            <a:r>
              <a:rPr lang="en-US" altLang="zh-CN" dirty="0"/>
              <a:t> test(r):</a:t>
            </a:r>
            <a:endParaRPr lang="zh-CN" altLang="zh-CN" dirty="0"/>
          </a:p>
          <a:p>
            <a:r>
              <a:rPr lang="en-US" altLang="zh-CN" dirty="0"/>
              <a:t>    import math</a:t>
            </a:r>
            <a:endParaRPr lang="zh-CN" altLang="zh-CN" dirty="0"/>
          </a:p>
          <a:p>
            <a:r>
              <a:rPr lang="en-US" altLang="zh-CN" dirty="0"/>
              <a:t>    s=</a:t>
            </a:r>
            <a:r>
              <a:rPr lang="en-US" altLang="zh-CN" dirty="0" err="1"/>
              <a:t>math.pi</a:t>
            </a:r>
            <a:r>
              <a:rPr lang="en-US" altLang="zh-CN" dirty="0"/>
              <a:t>*r**2</a:t>
            </a:r>
            <a:endParaRPr lang="zh-CN" altLang="zh-CN" dirty="0"/>
          </a:p>
          <a:p>
            <a:r>
              <a:rPr lang="en-US" altLang="zh-CN" dirty="0"/>
              <a:t>    c=2*</a:t>
            </a:r>
            <a:r>
              <a:rPr lang="en-US" altLang="zh-CN" dirty="0" err="1"/>
              <a:t>math.pi</a:t>
            </a:r>
            <a:r>
              <a:rPr lang="en-US" altLang="zh-CN" dirty="0"/>
              <a:t>*r</a:t>
            </a:r>
            <a:endParaRPr lang="zh-CN" altLang="zh-CN" dirty="0"/>
          </a:p>
          <a:p>
            <a:r>
              <a:rPr lang="en-US" altLang="zh-CN" dirty="0"/>
              <a:t>    L=(</a:t>
            </a:r>
            <a:r>
              <a:rPr lang="en-US" altLang="zh-CN" dirty="0" err="1"/>
              <a:t>s,c</a:t>
            </a:r>
            <a:r>
              <a:rPr lang="en-US" altLang="zh-CN" dirty="0"/>
              <a:t>)</a:t>
            </a:r>
            <a:endParaRPr lang="zh-CN" altLang="zh-CN" dirty="0"/>
          </a:p>
          <a:p>
            <a:r>
              <a:rPr lang="en-US" altLang="zh-CN" dirty="0"/>
              <a:t>    D=[</a:t>
            </a:r>
            <a:r>
              <a:rPr lang="en-US" altLang="zh-CN" dirty="0" err="1"/>
              <a:t>s,c,L</a:t>
            </a:r>
            <a:r>
              <a:rPr lang="en-US" altLang="zh-CN" dirty="0"/>
              <a:t>]</a:t>
            </a:r>
            <a:endParaRPr lang="zh-CN" altLang="zh-CN" dirty="0"/>
          </a:p>
          <a:p>
            <a:r>
              <a:rPr lang="en-US" altLang="zh-CN" dirty="0"/>
              <a:t>    return (</a:t>
            </a:r>
            <a:r>
              <a:rPr lang="en-US" altLang="zh-CN" dirty="0" err="1"/>
              <a:t>s,c,L,D</a:t>
            </a:r>
            <a:r>
              <a:rPr lang="en-US" altLang="zh-CN" dirty="0"/>
              <a:t>)</a:t>
            </a:r>
            <a:endParaRPr lang="zh-CN" altLang="zh-CN" dirty="0"/>
          </a:p>
        </p:txBody>
      </p:sp>
      <p:sp>
        <p:nvSpPr>
          <p:cNvPr id="5" name="矩形 4"/>
          <p:cNvSpPr/>
          <p:nvPr/>
        </p:nvSpPr>
        <p:spPr>
          <a:xfrm>
            <a:off x="5234285" y="1734755"/>
            <a:ext cx="6096000" cy="4524315"/>
          </a:xfrm>
          <a:prstGeom prst="rect">
            <a:avLst/>
          </a:prstGeom>
        </p:spPr>
        <p:txBody>
          <a:bodyPr>
            <a:spAutoFit/>
          </a:bodyPr>
          <a:lstStyle/>
          <a:p>
            <a:r>
              <a:rPr lang="en-US" altLang="zh-CN" dirty="0"/>
              <a:t>#</a:t>
            </a:r>
            <a:r>
              <a:rPr lang="zh-CN" altLang="zh-CN" dirty="0"/>
              <a:t>调用函数并打印结果</a:t>
            </a:r>
            <a:endParaRPr lang="zh-CN" altLang="zh-CN" dirty="0"/>
          </a:p>
          <a:p>
            <a:r>
              <a:rPr lang="en-US" altLang="zh-CN" dirty="0"/>
              <a:t>v=test(10)</a:t>
            </a:r>
            <a:endParaRPr lang="zh-CN" altLang="zh-CN" dirty="0"/>
          </a:p>
          <a:p>
            <a:r>
              <a:rPr lang="en-US" altLang="zh-CN" dirty="0"/>
              <a:t>s=v[0]</a:t>
            </a:r>
            <a:endParaRPr lang="zh-CN" altLang="zh-CN" dirty="0"/>
          </a:p>
          <a:p>
            <a:r>
              <a:rPr lang="en-US" altLang="zh-CN" dirty="0"/>
              <a:t>c=v[1]</a:t>
            </a:r>
            <a:endParaRPr lang="zh-CN" altLang="zh-CN" dirty="0"/>
          </a:p>
          <a:p>
            <a:r>
              <a:rPr lang="en-US" altLang="zh-CN" dirty="0"/>
              <a:t>L=v[2]</a:t>
            </a:r>
            <a:endParaRPr lang="zh-CN" altLang="zh-CN" dirty="0"/>
          </a:p>
          <a:p>
            <a:r>
              <a:rPr lang="en-US" altLang="zh-CN" dirty="0"/>
              <a:t>D=v[3]</a:t>
            </a:r>
            <a:endParaRPr lang="zh-CN" altLang="zh-CN" dirty="0"/>
          </a:p>
          <a:p>
            <a:r>
              <a:rPr lang="en-US" altLang="zh-CN" dirty="0"/>
              <a:t>print(s)</a:t>
            </a:r>
            <a:endParaRPr lang="zh-CN" altLang="zh-CN" dirty="0"/>
          </a:p>
          <a:p>
            <a:r>
              <a:rPr lang="en-US" altLang="zh-CN" dirty="0"/>
              <a:t>print(c)</a:t>
            </a:r>
            <a:endParaRPr lang="zh-CN" altLang="zh-CN" dirty="0"/>
          </a:p>
          <a:p>
            <a:r>
              <a:rPr lang="en-US" altLang="zh-CN" dirty="0"/>
              <a:t>print(L)</a:t>
            </a:r>
            <a:endParaRPr lang="zh-CN" altLang="zh-CN" dirty="0"/>
          </a:p>
          <a:p>
            <a:r>
              <a:rPr lang="en-US" altLang="zh-CN" dirty="0"/>
              <a:t>print(D)</a:t>
            </a:r>
            <a:endParaRPr lang="zh-CN" altLang="zh-CN" dirty="0"/>
          </a:p>
          <a:p>
            <a:r>
              <a:rPr lang="zh-CN" altLang="zh-CN" dirty="0"/>
              <a:t>执行结果如下：</a:t>
            </a:r>
            <a:endParaRPr lang="zh-CN" altLang="zh-CN" dirty="0"/>
          </a:p>
          <a:p>
            <a:r>
              <a:rPr lang="en-US" altLang="zh-CN" dirty="0"/>
              <a:t>314.1592653589793</a:t>
            </a:r>
            <a:endParaRPr lang="zh-CN" altLang="zh-CN" dirty="0"/>
          </a:p>
          <a:p>
            <a:r>
              <a:rPr lang="en-US" altLang="zh-CN" dirty="0"/>
              <a:t>62.83185307179586</a:t>
            </a:r>
            <a:endParaRPr lang="zh-CN" altLang="zh-CN" dirty="0"/>
          </a:p>
          <a:p>
            <a:r>
              <a:rPr lang="en-US" altLang="zh-CN" dirty="0"/>
              <a:t>(314.1592653589793, 62.83185307179586)</a:t>
            </a:r>
            <a:endParaRPr lang="zh-CN" altLang="zh-CN" dirty="0"/>
          </a:p>
          <a:p>
            <a:r>
              <a:rPr lang="en-US" altLang="zh-CN" dirty="0"/>
              <a:t>[314.1592653589793, 62.83185307179586, (314.1592653589793, 62.83185307179586)]</a:t>
            </a:r>
            <a:endParaRPr lang="zh-CN" altLang="zh-CN"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indent="720090"/>
            <a:r>
              <a:rPr lang="zh-CN" altLang="zh-CN" sz="2400" dirty="0">
                <a:latin typeface="宋体" panose="02010600030101010101" pitchFamily="2" charset="-122"/>
                <a:ea typeface="宋体" panose="02010600030101010101" pitchFamily="2" charset="-122"/>
              </a:rPr>
              <a:t>相信大家在各种各样的场合经常听到“大数据”这个词，那么到底什么是大数据呢？根据麦肯锡全球研究所给出的定义，一种规模大到在获取、存储、管理、分析方面大大超出了传统数据库软件工具能力范围的数据集可以称为大数据。大数据具有</a:t>
            </a:r>
            <a:r>
              <a:rPr lang="en-US" altLang="zh-CN" sz="2400" dirty="0">
                <a:latin typeface="宋体" panose="02010600030101010101" pitchFamily="2" charset="-122"/>
                <a:ea typeface="宋体" panose="02010600030101010101" pitchFamily="2" charset="-122"/>
              </a:rPr>
              <a:t>5V</a:t>
            </a:r>
            <a:r>
              <a:rPr lang="zh-CN" altLang="zh-CN" sz="2400" dirty="0">
                <a:latin typeface="宋体" panose="02010600030101010101" pitchFamily="2" charset="-122"/>
                <a:ea typeface="宋体" panose="02010600030101010101" pitchFamily="2" charset="-122"/>
              </a:rPr>
              <a:t>特点（</a:t>
            </a:r>
            <a:r>
              <a:rPr lang="en-US" altLang="zh-CN" sz="2400" dirty="0">
                <a:latin typeface="宋体" panose="02010600030101010101" pitchFamily="2" charset="-122"/>
                <a:ea typeface="宋体" panose="02010600030101010101" pitchFamily="2" charset="-122"/>
              </a:rPr>
              <a:t>IBM</a:t>
            </a:r>
            <a:r>
              <a:rPr lang="zh-CN" altLang="zh-CN" sz="2400" dirty="0">
                <a:latin typeface="宋体" panose="02010600030101010101" pitchFamily="2" charset="-122"/>
                <a:ea typeface="宋体" panose="02010600030101010101" pitchFamily="2" charset="-122"/>
              </a:rPr>
              <a:t>提出）：</a:t>
            </a:r>
            <a:r>
              <a:rPr lang="en-US" altLang="zh-CN" sz="2400" dirty="0">
                <a:latin typeface="宋体" panose="02010600030101010101" pitchFamily="2" charset="-122"/>
                <a:ea typeface="宋体" panose="02010600030101010101" pitchFamily="2" charset="-122"/>
              </a:rPr>
              <a:t>Volume</a:t>
            </a:r>
            <a:r>
              <a:rPr lang="zh-CN" altLang="zh-CN" sz="2400" dirty="0">
                <a:latin typeface="宋体" panose="02010600030101010101" pitchFamily="2" charset="-122"/>
                <a:ea typeface="宋体" panose="02010600030101010101" pitchFamily="2" charset="-122"/>
              </a:rPr>
              <a:t>（大量）、</a:t>
            </a:r>
            <a:r>
              <a:rPr lang="en-US" altLang="zh-CN" sz="2400" dirty="0">
                <a:latin typeface="宋体" panose="02010600030101010101" pitchFamily="2" charset="-122"/>
                <a:ea typeface="宋体" panose="02010600030101010101" pitchFamily="2" charset="-122"/>
              </a:rPr>
              <a:t>Velocity</a:t>
            </a:r>
            <a:r>
              <a:rPr lang="zh-CN" altLang="zh-CN" sz="2400" dirty="0">
                <a:latin typeface="宋体" panose="02010600030101010101" pitchFamily="2" charset="-122"/>
                <a:ea typeface="宋体" panose="02010600030101010101" pitchFamily="2" charset="-122"/>
              </a:rPr>
              <a:t>（高速）、</a:t>
            </a:r>
            <a:r>
              <a:rPr lang="en-US" altLang="zh-CN" sz="2400" dirty="0">
                <a:latin typeface="宋体" panose="02010600030101010101" pitchFamily="2" charset="-122"/>
                <a:ea typeface="宋体" panose="02010600030101010101" pitchFamily="2" charset="-122"/>
              </a:rPr>
              <a:t>Variety</a:t>
            </a:r>
            <a:r>
              <a:rPr lang="zh-CN" altLang="zh-CN" sz="2400" dirty="0">
                <a:latin typeface="宋体" panose="02010600030101010101" pitchFamily="2" charset="-122"/>
                <a:ea typeface="宋体" panose="02010600030101010101" pitchFamily="2" charset="-122"/>
              </a:rPr>
              <a:t>（多样）、</a:t>
            </a:r>
            <a:r>
              <a:rPr lang="en-US" altLang="zh-CN" sz="2400" dirty="0">
                <a:latin typeface="宋体" panose="02010600030101010101" pitchFamily="2" charset="-122"/>
                <a:ea typeface="宋体" panose="02010600030101010101" pitchFamily="2" charset="-122"/>
              </a:rPr>
              <a:t>Value</a:t>
            </a:r>
            <a:r>
              <a:rPr lang="zh-CN" altLang="zh-CN" sz="2400" dirty="0">
                <a:latin typeface="宋体" panose="02010600030101010101" pitchFamily="2" charset="-122"/>
                <a:ea typeface="宋体" panose="02010600030101010101" pitchFamily="2" charset="-122"/>
              </a:rPr>
              <a:t>（低价值密度）、</a:t>
            </a:r>
            <a:r>
              <a:rPr lang="en-US" altLang="zh-CN" sz="2400" dirty="0">
                <a:latin typeface="宋体" panose="02010600030101010101" pitchFamily="2" charset="-122"/>
                <a:ea typeface="宋体" panose="02010600030101010101" pitchFamily="2" charset="-122"/>
              </a:rPr>
              <a:t>Veracity</a:t>
            </a:r>
            <a:r>
              <a:rPr lang="zh-CN" altLang="zh-CN" sz="2400" dirty="0">
                <a:latin typeface="宋体" panose="02010600030101010101" pitchFamily="2" charset="-122"/>
                <a:ea typeface="宋体" panose="02010600030101010101" pitchFamily="2" charset="-122"/>
              </a:rPr>
              <a:t>（真实性）。</a:t>
            </a:r>
            <a:endParaRPr lang="zh-CN" altLang="zh-CN" sz="2400" dirty="0">
              <a:latin typeface="宋体" panose="02010600030101010101" pitchFamily="2" charset="-122"/>
              <a:ea typeface="宋体" panose="02010600030101010101" pitchFamily="2" charset="-122"/>
            </a:endParaRPr>
          </a:p>
          <a:p>
            <a:pPr indent="720090"/>
            <a:r>
              <a:rPr lang="zh-CN" altLang="zh-CN" sz="2400" dirty="0">
                <a:latin typeface="宋体" panose="02010600030101010101" pitchFamily="2" charset="-122"/>
                <a:ea typeface="宋体" panose="02010600030101010101" pitchFamily="2" charset="-122"/>
              </a:rPr>
              <a:t>在金融信息服务业，存在金融就是数据的提法，那么金融数据到底包括哪些呢？属不属于大数据范畴？首先，从内容上来看，宏观层面主要有银行市场、货币市场、宏观经济统计方面的数据；中观层面主要是行业方面的指标数据，比如房地产、汽车、保险、能源等；微观层面主要包括上市公司研究和股票、债券、基金方面的数据，大致内容如图</a:t>
            </a:r>
            <a:r>
              <a:rPr lang="en-US" altLang="zh-CN" sz="2400" dirty="0">
                <a:latin typeface="宋体" panose="02010600030101010101" pitchFamily="2" charset="-122"/>
                <a:ea typeface="宋体" panose="02010600030101010101" pitchFamily="2" charset="-122"/>
              </a:rPr>
              <a:t>1-30</a:t>
            </a:r>
            <a:r>
              <a:rPr lang="zh-CN" altLang="zh-CN" sz="2400" dirty="0">
                <a:latin typeface="宋体" panose="02010600030101010101" pitchFamily="2" charset="-122"/>
                <a:ea typeface="宋体" panose="02010600030101010101" pitchFamily="2" charset="-122"/>
              </a:rPr>
              <a:t>所示。</a:t>
            </a:r>
            <a:endParaRPr lang="zh-CN" altLang="en-US" sz="2400" dirty="0">
              <a:latin typeface="宋体" panose="02010600030101010101" pitchFamily="2" charset="-122"/>
              <a:ea typeface="宋体" panose="02010600030101010101" pitchFamily="2" charset="-122"/>
            </a:endParaRPr>
          </a:p>
        </p:txBody>
      </p:sp>
      <p:sp>
        <p:nvSpPr>
          <p:cNvPr id="5" name="矩形 4"/>
          <p:cNvSpPr/>
          <p:nvPr/>
        </p:nvSpPr>
        <p:spPr>
          <a:xfrm>
            <a:off x="1417861" y="116632"/>
            <a:ext cx="5004896" cy="461665"/>
          </a:xfrm>
          <a:prstGeom prst="rect">
            <a:avLst/>
          </a:prstGeom>
        </p:spPr>
        <p:txBody>
          <a:bodyPr wrap="none">
            <a:spAutoFit/>
          </a:bodyPr>
          <a:lstStyle/>
          <a:p>
            <a:r>
              <a:rPr lang="en-US" altLang="zh-CN" sz="2400" b="1" dirty="0">
                <a:solidFill>
                  <a:schemeClr val="accent2">
                    <a:lumMod val="95000"/>
                  </a:schemeClr>
                </a:solidFill>
              </a:rPr>
              <a:t>1.10 Python</a:t>
            </a:r>
            <a:r>
              <a:rPr lang="zh-CN" altLang="zh-CN" sz="2400" b="1" dirty="0">
                <a:solidFill>
                  <a:schemeClr val="accent2">
                    <a:lumMod val="95000"/>
                  </a:schemeClr>
                </a:solidFill>
              </a:rPr>
              <a:t>在金融大数据中的应用</a:t>
            </a:r>
            <a:endParaRPr lang="zh-CN" altLang="zh-CN" sz="2400" b="1" dirty="0">
              <a:solidFill>
                <a:schemeClr val="accent2">
                  <a:lumMod val="95000"/>
                </a:schemeClr>
              </a:solidFill>
            </a:endParaRPr>
          </a:p>
        </p:txBody>
      </p:sp>
      <p:sp>
        <p:nvSpPr>
          <p:cNvPr id="6" name="TextBox 55"/>
          <p:cNvSpPr txBox="1"/>
          <p:nvPr/>
        </p:nvSpPr>
        <p:spPr>
          <a:xfrm>
            <a:off x="121717" y="139801"/>
            <a:ext cx="1064260" cy="400103"/>
          </a:xfrm>
          <a:prstGeom prst="rect">
            <a:avLst/>
          </a:prstGeom>
          <a:noFill/>
        </p:spPr>
        <p:txBody>
          <a:bodyPr wrap="square" lIns="91434" tIns="45717" rIns="91434" bIns="45717" rtlCol="0">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r>
              <a:rPr lang="en-US" altLang="zh-CN" sz="2000" dirty="0">
                <a:solidFill>
                  <a:schemeClr val="accent2"/>
                </a:solidFill>
              </a:rPr>
              <a:t>Part 1</a:t>
            </a:r>
            <a:r>
              <a:rPr lang="en-US" altLang="zh-CN" dirty="0">
                <a:solidFill>
                  <a:schemeClr val="accent2"/>
                </a:solidFill>
              </a:rPr>
              <a:t> </a:t>
            </a:r>
            <a:endParaRPr lang="zh-CN" altLang="en-US"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p:nvPr/>
        </p:nvGrpSpPr>
        <p:grpSpPr bwMode="auto">
          <a:xfrm>
            <a:off x="848749" y="457200"/>
            <a:ext cx="4097504" cy="5492080"/>
            <a:chOff x="2681" y="8772"/>
            <a:chExt cx="7477" cy="5963"/>
          </a:xfrm>
        </p:grpSpPr>
        <p:sp>
          <p:nvSpPr>
            <p:cNvPr id="5" name="AutoShape 35"/>
            <p:cNvSpPr>
              <a:spLocks noChangeArrowheads="1"/>
            </p:cNvSpPr>
            <p:nvPr/>
          </p:nvSpPr>
          <p:spPr bwMode="auto">
            <a:xfrm>
              <a:off x="2681" y="9773"/>
              <a:ext cx="1195" cy="552"/>
            </a:xfrm>
            <a:prstGeom prst="roundRect">
              <a:avLst>
                <a:gd name="adj" fmla="val 16667"/>
              </a:avLst>
            </a:prstGeom>
            <a:solidFill>
              <a:srgbClr val="FFFFFF"/>
            </a:solidFill>
            <a:ln w="9525">
              <a:solidFill>
                <a:srgbClr val="000000"/>
              </a:solidFill>
              <a:round/>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宏观层面</a:t>
              </a:r>
              <a:endParaRPr kumimoji="0" 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AutoShape 34"/>
            <p:cNvSpPr>
              <a:spLocks noChangeShapeType="1"/>
            </p:cNvSpPr>
            <p:nvPr/>
          </p:nvSpPr>
          <p:spPr bwMode="auto">
            <a:xfrm flipV="1">
              <a:off x="3889" y="9035"/>
              <a:ext cx="750" cy="929"/>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7" name="AutoShape 33"/>
            <p:cNvSpPr>
              <a:spLocks noChangeArrowheads="1"/>
            </p:cNvSpPr>
            <p:nvPr/>
          </p:nvSpPr>
          <p:spPr bwMode="auto">
            <a:xfrm>
              <a:off x="4626" y="8802"/>
              <a:ext cx="1394" cy="567"/>
            </a:xfrm>
            <a:prstGeom prst="flowChartTerminator">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银行市场</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8" name="AutoShape 32"/>
            <p:cNvSpPr>
              <a:spLocks noChangeArrowheads="1"/>
            </p:cNvSpPr>
            <p:nvPr/>
          </p:nvSpPr>
          <p:spPr bwMode="auto">
            <a:xfrm>
              <a:off x="4639" y="9653"/>
              <a:ext cx="1394" cy="512"/>
            </a:xfrm>
            <a:prstGeom prst="flowChartTerminator">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货币市场</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9" name="AutoShape 31"/>
            <p:cNvSpPr>
              <a:spLocks noChangeArrowheads="1"/>
            </p:cNvSpPr>
            <p:nvPr/>
          </p:nvSpPr>
          <p:spPr bwMode="auto">
            <a:xfrm>
              <a:off x="4539" y="10488"/>
              <a:ext cx="1711" cy="575"/>
            </a:xfrm>
            <a:prstGeom prst="flowChartTerminator">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宏观经济统计</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0" name="AutoShape 30"/>
            <p:cNvSpPr>
              <a:spLocks noChangeShapeType="1"/>
            </p:cNvSpPr>
            <p:nvPr/>
          </p:nvSpPr>
          <p:spPr bwMode="auto">
            <a:xfrm>
              <a:off x="3876" y="9991"/>
              <a:ext cx="750" cy="0"/>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1" name="AutoShape 29"/>
            <p:cNvSpPr>
              <a:spLocks noChangeShapeType="1"/>
            </p:cNvSpPr>
            <p:nvPr/>
          </p:nvSpPr>
          <p:spPr bwMode="auto">
            <a:xfrm>
              <a:off x="3876" y="10028"/>
              <a:ext cx="663" cy="74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2" name="Rectangle 28"/>
            <p:cNvSpPr>
              <a:spLocks noChangeArrowheads="1"/>
            </p:cNvSpPr>
            <p:nvPr/>
          </p:nvSpPr>
          <p:spPr bwMode="auto">
            <a:xfrm>
              <a:off x="6679" y="8772"/>
              <a:ext cx="3355" cy="429"/>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银行财务、贷款、银行间交易</a:t>
              </a:r>
              <a:r>
                <a:rPr kumimoji="0" lang="zh-CN" alt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3" name="AutoShape 27"/>
            <p:cNvSpPr>
              <a:spLocks noChangeShapeType="1"/>
            </p:cNvSpPr>
            <p:nvPr/>
          </p:nvSpPr>
          <p:spPr bwMode="auto">
            <a:xfrm>
              <a:off x="6020" y="9034"/>
              <a:ext cx="659"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4" name="Rectangle 26"/>
            <p:cNvSpPr>
              <a:spLocks noChangeArrowheads="1"/>
            </p:cNvSpPr>
            <p:nvPr/>
          </p:nvSpPr>
          <p:spPr bwMode="auto">
            <a:xfrm>
              <a:off x="6679" y="9616"/>
              <a:ext cx="3355" cy="429"/>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货币政策、外汇与黄金交易</a:t>
              </a:r>
              <a:r>
                <a:rPr kumimoji="0" lang="zh-CN" alt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AutoShape 25"/>
            <p:cNvSpPr>
              <a:spLocks noChangeShapeType="1"/>
            </p:cNvSpPr>
            <p:nvPr/>
          </p:nvSpPr>
          <p:spPr bwMode="auto">
            <a:xfrm>
              <a:off x="6020" y="9840"/>
              <a:ext cx="659"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6" name="Rectangle 24"/>
            <p:cNvSpPr>
              <a:spLocks noChangeArrowheads="1"/>
            </p:cNvSpPr>
            <p:nvPr/>
          </p:nvSpPr>
          <p:spPr bwMode="auto">
            <a:xfrm>
              <a:off x="6679" y="10514"/>
              <a:ext cx="3355" cy="429"/>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进出口统计、工业行业统计</a:t>
              </a:r>
              <a:r>
                <a:rPr kumimoji="0" lang="zh-CN" alt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7" name="AutoShape 23"/>
            <p:cNvSpPr>
              <a:spLocks noChangeShapeType="1"/>
            </p:cNvSpPr>
            <p:nvPr/>
          </p:nvSpPr>
          <p:spPr bwMode="auto">
            <a:xfrm>
              <a:off x="6250" y="10768"/>
              <a:ext cx="429"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8" name="AutoShape 22"/>
            <p:cNvSpPr>
              <a:spLocks noChangeArrowheads="1"/>
            </p:cNvSpPr>
            <p:nvPr/>
          </p:nvSpPr>
          <p:spPr bwMode="auto">
            <a:xfrm>
              <a:off x="2756" y="11509"/>
              <a:ext cx="1195" cy="552"/>
            </a:xfrm>
            <a:prstGeom prst="roundRect">
              <a:avLst>
                <a:gd name="adj" fmla="val 16667"/>
              </a:avLst>
            </a:prstGeom>
            <a:solidFill>
              <a:srgbClr val="FFFFFF"/>
            </a:solidFill>
            <a:ln w="9525">
              <a:solidFill>
                <a:srgbClr val="000000"/>
              </a:solidFill>
              <a:round/>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中观层面</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9" name="AutoShape 21"/>
            <p:cNvSpPr>
              <a:spLocks noChangeShapeType="1"/>
            </p:cNvSpPr>
            <p:nvPr/>
          </p:nvSpPr>
          <p:spPr bwMode="auto">
            <a:xfrm>
              <a:off x="3951" y="11797"/>
              <a:ext cx="829"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0" name="AutoShape 20"/>
            <p:cNvSpPr>
              <a:spLocks noChangeArrowheads="1"/>
            </p:cNvSpPr>
            <p:nvPr/>
          </p:nvSpPr>
          <p:spPr bwMode="auto">
            <a:xfrm>
              <a:off x="4780" y="11466"/>
              <a:ext cx="1394" cy="567"/>
            </a:xfrm>
            <a:prstGeom prst="flowChartTerminator">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行业研究</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1" name="Rectangle 19"/>
            <p:cNvSpPr>
              <a:spLocks noChangeArrowheads="1"/>
            </p:cNvSpPr>
            <p:nvPr/>
          </p:nvSpPr>
          <p:spPr bwMode="auto">
            <a:xfrm>
              <a:off x="6679" y="11499"/>
              <a:ext cx="3355" cy="429"/>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房地产、汽车、保险、能源</a:t>
              </a:r>
              <a:r>
                <a:rPr kumimoji="0" lang="zh-CN" alt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2" name="AutoShape 18"/>
            <p:cNvSpPr>
              <a:spLocks noChangeShapeType="1"/>
            </p:cNvSpPr>
            <p:nvPr/>
          </p:nvSpPr>
          <p:spPr bwMode="auto">
            <a:xfrm>
              <a:off x="6190" y="11708"/>
              <a:ext cx="429"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3" name="AutoShape 17"/>
            <p:cNvSpPr>
              <a:spLocks noChangeArrowheads="1"/>
            </p:cNvSpPr>
            <p:nvPr/>
          </p:nvSpPr>
          <p:spPr bwMode="auto">
            <a:xfrm>
              <a:off x="2816" y="13289"/>
              <a:ext cx="1195" cy="552"/>
            </a:xfrm>
            <a:prstGeom prst="roundRect">
              <a:avLst>
                <a:gd name="adj" fmla="val 16667"/>
              </a:avLst>
            </a:prstGeom>
            <a:solidFill>
              <a:srgbClr val="FFFFFF"/>
            </a:solidFill>
            <a:ln w="9525">
              <a:solidFill>
                <a:srgbClr val="000000"/>
              </a:solidFill>
              <a:round/>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微观层面</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4" name="AutoShape 16"/>
            <p:cNvSpPr>
              <a:spLocks noChangeArrowheads="1"/>
            </p:cNvSpPr>
            <p:nvPr/>
          </p:nvSpPr>
          <p:spPr bwMode="auto">
            <a:xfrm>
              <a:off x="4780" y="12437"/>
              <a:ext cx="1394" cy="567"/>
            </a:xfrm>
            <a:prstGeom prst="flowChartTerminator">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上市公司</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5" name="AutoShape 15"/>
            <p:cNvSpPr>
              <a:spLocks noChangeArrowheads="1"/>
            </p:cNvSpPr>
            <p:nvPr/>
          </p:nvSpPr>
          <p:spPr bwMode="auto">
            <a:xfrm>
              <a:off x="4765" y="13236"/>
              <a:ext cx="1394" cy="567"/>
            </a:xfrm>
            <a:prstGeom prst="flowChartTerminator">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股票市场</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6" name="AutoShape 14"/>
            <p:cNvSpPr>
              <a:spLocks noChangeArrowheads="1"/>
            </p:cNvSpPr>
            <p:nvPr/>
          </p:nvSpPr>
          <p:spPr bwMode="auto">
            <a:xfrm>
              <a:off x="4780" y="14168"/>
              <a:ext cx="1394" cy="567"/>
            </a:xfrm>
            <a:prstGeom prst="flowChartTerminator">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基金、债券</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7" name="Rectangle 13"/>
            <p:cNvSpPr>
              <a:spLocks noChangeArrowheads="1"/>
            </p:cNvSpPr>
            <p:nvPr/>
          </p:nvSpPr>
          <p:spPr bwMode="auto">
            <a:xfrm>
              <a:off x="6679" y="12377"/>
              <a:ext cx="3355" cy="429"/>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财务、治理、经营、投资、公告</a:t>
              </a:r>
              <a:r>
                <a:rPr kumimoji="0" lang="zh-CN" alt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8" name="AutoShape 12"/>
            <p:cNvSpPr>
              <a:spLocks noChangeShapeType="1"/>
            </p:cNvSpPr>
            <p:nvPr/>
          </p:nvSpPr>
          <p:spPr bwMode="auto">
            <a:xfrm flipV="1">
              <a:off x="6159" y="13343"/>
              <a:ext cx="475" cy="135"/>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9" name="Rectangle 11"/>
            <p:cNvSpPr>
              <a:spLocks noChangeArrowheads="1"/>
            </p:cNvSpPr>
            <p:nvPr/>
          </p:nvSpPr>
          <p:spPr bwMode="auto">
            <a:xfrm>
              <a:off x="6619" y="13049"/>
              <a:ext cx="3355" cy="429"/>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个股日交易、高频交易</a:t>
              </a:r>
              <a:r>
                <a:rPr kumimoji="0" lang="zh-CN" alt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0" name="AutoShape 10"/>
            <p:cNvSpPr>
              <a:spLocks noChangeShapeType="1"/>
            </p:cNvSpPr>
            <p:nvPr/>
          </p:nvSpPr>
          <p:spPr bwMode="auto">
            <a:xfrm>
              <a:off x="6190" y="13478"/>
              <a:ext cx="413" cy="325"/>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1" name="Rectangle 9"/>
            <p:cNvSpPr>
              <a:spLocks noChangeArrowheads="1"/>
            </p:cNvSpPr>
            <p:nvPr/>
          </p:nvSpPr>
          <p:spPr bwMode="auto">
            <a:xfrm>
              <a:off x="6634" y="13589"/>
              <a:ext cx="3524" cy="429"/>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指数、板块日交易和高频交易</a:t>
              </a:r>
              <a:r>
                <a:rPr kumimoji="0" lang="zh-CN" alt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2" name="AutoShape 8"/>
            <p:cNvSpPr>
              <a:spLocks noChangeShapeType="1"/>
            </p:cNvSpPr>
            <p:nvPr/>
          </p:nvSpPr>
          <p:spPr bwMode="auto">
            <a:xfrm>
              <a:off x="6174" y="12658"/>
              <a:ext cx="429"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3" name="Rectangle 7"/>
            <p:cNvSpPr>
              <a:spLocks noChangeArrowheads="1"/>
            </p:cNvSpPr>
            <p:nvPr/>
          </p:nvSpPr>
          <p:spPr bwMode="auto">
            <a:xfrm>
              <a:off x="6679" y="14156"/>
              <a:ext cx="3355" cy="429"/>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日交易、高频交易</a:t>
              </a:r>
              <a:r>
                <a:rPr kumimoji="0" lang="zh-CN" alt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4" name="AutoShape 6"/>
            <p:cNvSpPr>
              <a:spLocks noChangeShapeType="1"/>
            </p:cNvSpPr>
            <p:nvPr/>
          </p:nvSpPr>
          <p:spPr bwMode="auto">
            <a:xfrm>
              <a:off x="6190" y="14431"/>
              <a:ext cx="429" cy="0"/>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5" name="AutoShape 5"/>
            <p:cNvSpPr>
              <a:spLocks noChangeShapeType="1"/>
            </p:cNvSpPr>
            <p:nvPr/>
          </p:nvSpPr>
          <p:spPr bwMode="auto">
            <a:xfrm flipV="1">
              <a:off x="4030" y="12806"/>
              <a:ext cx="750" cy="783"/>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6" name="AutoShape 4"/>
            <p:cNvSpPr>
              <a:spLocks noChangeShapeType="1"/>
            </p:cNvSpPr>
            <p:nvPr/>
          </p:nvSpPr>
          <p:spPr bwMode="auto">
            <a:xfrm>
              <a:off x="4030" y="13583"/>
              <a:ext cx="735" cy="0"/>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7" name="AutoShape 3"/>
            <p:cNvSpPr>
              <a:spLocks noChangeShapeType="1"/>
            </p:cNvSpPr>
            <p:nvPr/>
          </p:nvSpPr>
          <p:spPr bwMode="auto">
            <a:xfrm>
              <a:off x="4030" y="13589"/>
              <a:ext cx="750" cy="73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grpSp>
      <p:sp>
        <p:nvSpPr>
          <p:cNvPr id="38" name="AutoShape 1"/>
          <p:cNvSpPr>
            <a:spLocks noChangeShapeType="1"/>
          </p:cNvSpPr>
          <p:nvPr/>
        </p:nvSpPr>
        <p:spPr bwMode="auto">
          <a:xfrm>
            <a:off x="812800" y="944563"/>
            <a:ext cx="0" cy="0"/>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9" name="Rectangle 36"/>
          <p:cNvSpPr>
            <a:spLocks noChangeArrowheads="1"/>
          </p:cNvSpPr>
          <p:nvPr/>
        </p:nvSpPr>
        <p:spPr bwMode="auto">
          <a:xfrm>
            <a:off x="0" y="0"/>
            <a:ext cx="12196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0" name="Rectangle 55"/>
          <p:cNvSpPr>
            <a:spLocks noChangeArrowheads="1"/>
          </p:cNvSpPr>
          <p:nvPr/>
        </p:nvSpPr>
        <p:spPr bwMode="auto">
          <a:xfrm>
            <a:off x="0" y="457200"/>
            <a:ext cx="12196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1" name="矩形 40"/>
          <p:cNvSpPr/>
          <p:nvPr/>
        </p:nvSpPr>
        <p:spPr>
          <a:xfrm>
            <a:off x="5162277" y="521900"/>
            <a:ext cx="6096000" cy="5355312"/>
          </a:xfrm>
          <a:prstGeom prst="rect">
            <a:avLst/>
          </a:prstGeom>
        </p:spPr>
        <p:txBody>
          <a:bodyPr>
            <a:spAutoFit/>
          </a:bodyPr>
          <a:lstStyle/>
          <a:p>
            <a:pPr indent="720090"/>
            <a:r>
              <a:rPr lang="zh-CN" altLang="zh-CN" dirty="0"/>
              <a:t>其次，从数据来源上来看，可能是新闻、股吧、股评、电视、博客，也可能是指定披露的官方网站，或者是官方渠道公布的数据源。</a:t>
            </a:r>
            <a:endParaRPr lang="zh-CN" altLang="zh-CN" dirty="0"/>
          </a:p>
          <a:p>
            <a:pPr indent="720090"/>
            <a:r>
              <a:rPr lang="zh-CN" altLang="zh-CN" dirty="0"/>
              <a:t>最后，从数据类型和数据结构上来看，可能是数值、文本和标准的结构化数据（</a:t>
            </a:r>
            <a:r>
              <a:rPr lang="en-US" altLang="zh-CN" dirty="0"/>
              <a:t>Excel</a:t>
            </a:r>
            <a:r>
              <a:rPr lang="zh-CN" altLang="zh-CN" dirty="0"/>
              <a:t>、数据库等），也可能非结构或者半结构化的数据（文本、网页、图片、视频等）。</a:t>
            </a:r>
            <a:endParaRPr lang="zh-CN" altLang="zh-CN" dirty="0"/>
          </a:p>
          <a:p>
            <a:pPr indent="720090"/>
            <a:r>
              <a:rPr lang="zh-CN" altLang="zh-CN" dirty="0"/>
              <a:t>事实上，金融行业是我国信息化程度最高的行业之一，其产生及积累的数据量非常庞大，其更新速度也非常快速，数据也呈类型多样化、低价值密度和真实性等特点。因此，金融数据实际上属于大数据范畴，而且是大数据应用非常广泛的一个领域。</a:t>
            </a:r>
            <a:endParaRPr lang="zh-CN" altLang="zh-CN" dirty="0"/>
          </a:p>
          <a:p>
            <a:pPr indent="720090"/>
            <a:r>
              <a:rPr lang="zh-CN" altLang="zh-CN" dirty="0"/>
              <a:t>大数据技术及其应用，最终归结为对相关业务数据的分析、挖掘和实际应用。目前，可用于数据分析、挖掘的平台工具和语言非常多，比如</a:t>
            </a:r>
            <a:r>
              <a:rPr lang="en-US" altLang="zh-CN" dirty="0"/>
              <a:t>SPSS</a:t>
            </a:r>
            <a:r>
              <a:rPr lang="zh-CN" altLang="zh-CN" dirty="0"/>
              <a:t>、</a:t>
            </a:r>
            <a:r>
              <a:rPr lang="en-US" altLang="zh-CN" dirty="0"/>
              <a:t>SAS</a:t>
            </a:r>
            <a:r>
              <a:rPr lang="zh-CN" altLang="zh-CN" dirty="0"/>
              <a:t>、</a:t>
            </a:r>
            <a:r>
              <a:rPr lang="en-US" altLang="zh-CN" dirty="0" err="1"/>
              <a:t>Matlab</a:t>
            </a:r>
            <a:r>
              <a:rPr lang="zh-CN" altLang="zh-CN" dirty="0"/>
              <a:t>、</a:t>
            </a:r>
            <a:r>
              <a:rPr lang="en-US" altLang="zh-CN" dirty="0"/>
              <a:t>R</a:t>
            </a:r>
            <a:r>
              <a:rPr lang="zh-CN" altLang="zh-CN" dirty="0"/>
              <a:t>、</a:t>
            </a:r>
            <a:r>
              <a:rPr lang="en-US" altLang="zh-CN" dirty="0"/>
              <a:t>Python</a:t>
            </a:r>
            <a:r>
              <a:rPr lang="zh-CN" altLang="zh-CN" dirty="0"/>
              <a:t>等。在众多语言中，</a:t>
            </a:r>
            <a:r>
              <a:rPr lang="en-US" altLang="zh-CN" dirty="0"/>
              <a:t>Python</a:t>
            </a:r>
            <a:r>
              <a:rPr lang="zh-CN" altLang="zh-CN" dirty="0"/>
              <a:t>由于其功能强大且免费开源，深受广大企业和开发者的喜爱，堪称为人工智能与大数据时代最有前途的语言之一。最近数据科学和机器学习工具及语言最新动态也显示，</a:t>
            </a:r>
            <a:r>
              <a:rPr lang="en-US" altLang="zh-CN" dirty="0"/>
              <a:t>Python</a:t>
            </a:r>
            <a:r>
              <a:rPr lang="zh-CN" altLang="zh-CN" dirty="0"/>
              <a:t>已高居榜首，如图</a:t>
            </a:r>
            <a:r>
              <a:rPr lang="en-US" altLang="zh-CN" dirty="0"/>
              <a:t>1-31</a:t>
            </a:r>
            <a:r>
              <a:rPr lang="zh-CN" altLang="zh-CN" dirty="0"/>
              <a:t>所示。</a:t>
            </a:r>
            <a:endParaRPr lang="zh-CN" altLang="zh-CN"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1" cstate="print"/>
          <a:stretch>
            <a:fillRect/>
          </a:stretch>
        </p:blipFill>
        <p:spPr>
          <a:xfrm>
            <a:off x="913805" y="548680"/>
            <a:ext cx="5105807" cy="5019705"/>
          </a:xfrm>
          <a:prstGeom prst="rect">
            <a:avLst/>
          </a:prstGeom>
        </p:spPr>
      </p:pic>
      <p:sp>
        <p:nvSpPr>
          <p:cNvPr id="4" name="矩形 3"/>
          <p:cNvSpPr/>
          <p:nvPr/>
        </p:nvSpPr>
        <p:spPr>
          <a:xfrm>
            <a:off x="6242397" y="908720"/>
            <a:ext cx="5110186" cy="4524315"/>
          </a:xfrm>
          <a:prstGeom prst="rect">
            <a:avLst/>
          </a:prstGeom>
        </p:spPr>
        <p:txBody>
          <a:bodyPr wrap="square">
            <a:spAutoFit/>
          </a:bodyPr>
          <a:lstStyle/>
          <a:p>
            <a:pPr indent="720090"/>
            <a:r>
              <a:rPr lang="zh-CN" altLang="zh-CN" dirty="0"/>
              <a:t>从图</a:t>
            </a:r>
            <a:r>
              <a:rPr lang="en-US" altLang="zh-CN" dirty="0"/>
              <a:t>1-31</a:t>
            </a:r>
            <a:r>
              <a:rPr lang="zh-CN" altLang="zh-CN" dirty="0"/>
              <a:t>可以看出，</a:t>
            </a:r>
            <a:r>
              <a:rPr lang="en-US" altLang="zh-CN" dirty="0"/>
              <a:t>Python</a:t>
            </a:r>
            <a:r>
              <a:rPr lang="zh-CN" altLang="zh-CN" dirty="0"/>
              <a:t>在数据科学领域中具有极其重要的地位，那么在金融大数据分析与挖掘中有哪些应用呢？在回答这个问题之前，我们先了解一些金融科技相关的概念。所谓金融科技，就是金融</a:t>
            </a:r>
            <a:r>
              <a:rPr lang="en-US" altLang="zh-CN" dirty="0"/>
              <a:t>+</a:t>
            </a:r>
            <a:r>
              <a:rPr lang="zh-CN" altLang="zh-CN" dirty="0"/>
              <a:t>科技，但不是简单的组合，而是利用各种科技手段创新传统金融行业所提供的产品和服务，提升效率并降低成本，同时对金融风险进行识别、监控，保障金融系统的安全稳定运行。在金融科技中，量化投资就是应用最为广泛的一个分支。根据《量化投资策略与技术》一书中的定义，所谓量化投资，就是利用计算机技术和数学模型，践行投资理念的过程。这里的计算机技术，主要是量化投资过程中所涉及的编程技能，</a:t>
            </a:r>
            <a:r>
              <a:rPr lang="en-US" altLang="zh-CN" dirty="0"/>
              <a:t>Python</a:t>
            </a:r>
            <a:r>
              <a:rPr lang="zh-CN" altLang="zh-CN" dirty="0"/>
              <a:t>在量化投资及金融大数据挖掘分析中同样具有极其广泛的应用，不仅是因为其免费开源，更体现在</a:t>
            </a:r>
            <a:r>
              <a:rPr lang="en-US" altLang="zh-CN" dirty="0"/>
              <a:t>Python</a:t>
            </a:r>
            <a:r>
              <a:rPr lang="zh-CN" altLang="zh-CN" dirty="0"/>
              <a:t>自身的特点及生态圈。</a:t>
            </a:r>
            <a:endParaRPr lang="zh-CN" altLang="zh-CN"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97781" y="332656"/>
            <a:ext cx="5112568" cy="5355312"/>
          </a:xfrm>
          <a:prstGeom prst="rect">
            <a:avLst/>
          </a:prstGeom>
        </p:spPr>
        <p:txBody>
          <a:bodyPr wrap="square">
            <a:spAutoFit/>
          </a:bodyPr>
          <a:lstStyle/>
          <a:p>
            <a:pPr indent="720090"/>
            <a:r>
              <a:rPr lang="en-US" altLang="zh-CN" dirty="0"/>
              <a:t>Python</a:t>
            </a:r>
            <a:r>
              <a:rPr lang="zh-CN" altLang="zh-CN" dirty="0"/>
              <a:t>本身是一门简单易学且功能强大的编程语言，拥有高效的数据结构其完全支持面向对象，具有开发效率高、可移植性强等特点。</a:t>
            </a:r>
            <a:r>
              <a:rPr lang="en-US" altLang="zh-CN" dirty="0"/>
              <a:t>Python</a:t>
            </a:r>
            <a:r>
              <a:rPr lang="zh-CN" altLang="zh-CN" dirty="0"/>
              <a:t>具有丰富的第三方包用于支持各种复杂的数据处理，特别是金融数据。在国内，基于</a:t>
            </a:r>
            <a:r>
              <a:rPr lang="en-US" altLang="zh-CN" dirty="0"/>
              <a:t>Python</a:t>
            </a:r>
            <a:r>
              <a:rPr lang="zh-CN" altLang="zh-CN" dirty="0"/>
              <a:t>开发的量化投资平台，较知名的就有深圳市数字动能信息技术有限公司开发的</a:t>
            </a:r>
            <a:r>
              <a:rPr lang="en-US" altLang="zh-CN" dirty="0" err="1"/>
              <a:t>AutoTrader</a:t>
            </a:r>
            <a:r>
              <a:rPr lang="zh-CN" altLang="zh-CN" dirty="0"/>
              <a:t>、北京小龙虾科技有限公司开发的</a:t>
            </a:r>
            <a:r>
              <a:rPr lang="en-US" altLang="zh-CN" dirty="0" err="1"/>
              <a:t>JoinQuant</a:t>
            </a:r>
            <a:r>
              <a:rPr lang="zh-CN" altLang="zh-CN" dirty="0"/>
              <a:t>、深圳市米筐科技有限公司开发的</a:t>
            </a:r>
            <a:r>
              <a:rPr lang="en-US" altLang="zh-CN" dirty="0" err="1"/>
              <a:t>RiceQuant</a:t>
            </a:r>
            <a:r>
              <a:rPr lang="zh-CN" altLang="zh-CN" dirty="0"/>
              <a:t>、浙江核新同花顺网络信息股份有限公司开发的</a:t>
            </a:r>
            <a:r>
              <a:rPr lang="en-US" altLang="zh-CN" dirty="0"/>
              <a:t>Mind Go</a:t>
            </a:r>
            <a:r>
              <a:rPr lang="zh-CN" altLang="zh-CN" dirty="0"/>
              <a:t>、新格网络科技（深圳）有限公司开发的大鱼金融平台、通联数据股份公司开发的优矿平台、天风期货股份有限公司开发的</a:t>
            </a:r>
            <a:r>
              <a:rPr lang="en-US" altLang="zh-CN" dirty="0" err="1"/>
              <a:t>OpenQuant</a:t>
            </a:r>
            <a:r>
              <a:rPr lang="zh-CN" altLang="zh-CN" dirty="0"/>
              <a:t>、广州新博庭网络信息科技股份有限公司开发的中量金融平台等，而选择</a:t>
            </a:r>
            <a:r>
              <a:rPr lang="en-US" altLang="zh-CN" dirty="0"/>
              <a:t>Python</a:t>
            </a:r>
            <a:r>
              <a:rPr lang="zh-CN" altLang="zh-CN" dirty="0"/>
              <a:t>进行金融数据挖掘与量化投资研究的公司、研究机构和个人更是比比皆是。由此可见，</a:t>
            </a:r>
            <a:r>
              <a:rPr lang="en-US" altLang="zh-CN" dirty="0"/>
              <a:t>Python</a:t>
            </a:r>
            <a:r>
              <a:rPr lang="zh-CN" altLang="zh-CN" dirty="0"/>
              <a:t>在金融大数据及其量化投资中具有广泛的应用，学习</a:t>
            </a:r>
            <a:r>
              <a:rPr lang="en-US" altLang="zh-CN" dirty="0"/>
              <a:t>Python</a:t>
            </a:r>
            <a:r>
              <a:rPr lang="zh-CN" altLang="zh-CN" dirty="0"/>
              <a:t>金融大数据挖掘技能无论是就业还是深造均具有积极的现实意义。</a:t>
            </a:r>
            <a:endParaRPr lang="zh-CN" altLang="zh-CN" dirty="0"/>
          </a:p>
        </p:txBody>
      </p:sp>
      <p:sp>
        <p:nvSpPr>
          <p:cNvPr id="3" name="矩形 2"/>
          <p:cNvSpPr/>
          <p:nvPr/>
        </p:nvSpPr>
        <p:spPr>
          <a:xfrm>
            <a:off x="6386414" y="548680"/>
            <a:ext cx="4887516" cy="4524315"/>
          </a:xfrm>
          <a:prstGeom prst="rect">
            <a:avLst/>
          </a:prstGeom>
        </p:spPr>
        <p:txBody>
          <a:bodyPr wrap="square">
            <a:spAutoFit/>
          </a:bodyPr>
          <a:lstStyle/>
          <a:p>
            <a:pPr indent="720090"/>
            <a:r>
              <a:rPr lang="zh-CN" altLang="zh-CN" dirty="0"/>
              <a:t>本书主要介绍</a:t>
            </a:r>
            <a:r>
              <a:rPr lang="en-US" altLang="zh-CN" dirty="0"/>
              <a:t>Python</a:t>
            </a:r>
            <a:r>
              <a:rPr lang="zh-CN" altLang="zh-CN" dirty="0"/>
              <a:t>在金融大数据挖掘中的具体应用，包括数据处理、模型构建、结果分析、量化投资策略与设计和相关的实现方法与编程技巧。为了适应广大读者和教学的需要，本书分为基础篇、案例篇和实训篇。基础篇首先介绍</a:t>
            </a:r>
            <a:r>
              <a:rPr lang="en-US" altLang="zh-CN" dirty="0"/>
              <a:t>python</a:t>
            </a:r>
            <a:r>
              <a:rPr lang="zh-CN" altLang="zh-CN" dirty="0"/>
              <a:t>的基础知识；其次介绍</a:t>
            </a:r>
            <a:r>
              <a:rPr lang="en-US" altLang="zh-CN" dirty="0"/>
              <a:t>python</a:t>
            </a:r>
            <a:r>
              <a:rPr lang="zh-CN" altLang="zh-CN" dirty="0"/>
              <a:t>数据挖掘分析中常用的分析库，包括</a:t>
            </a:r>
            <a:r>
              <a:rPr lang="en-US" altLang="zh-CN" dirty="0" err="1"/>
              <a:t>Nnumpy</a:t>
            </a:r>
            <a:r>
              <a:rPr lang="zh-CN" altLang="zh-CN" dirty="0"/>
              <a:t>、</a:t>
            </a:r>
            <a:r>
              <a:rPr lang="en-US" altLang="zh-CN" dirty="0"/>
              <a:t>Pandas</a:t>
            </a:r>
            <a:r>
              <a:rPr lang="zh-CN" altLang="zh-CN" dirty="0"/>
              <a:t>、</a:t>
            </a:r>
            <a:r>
              <a:rPr lang="en-US" altLang="zh-CN" dirty="0" err="1"/>
              <a:t>Matplotlib</a:t>
            </a:r>
            <a:r>
              <a:rPr lang="zh-CN" altLang="zh-CN" dirty="0"/>
              <a:t>、</a:t>
            </a:r>
            <a:r>
              <a:rPr lang="en-US" altLang="zh-CN" dirty="0" err="1"/>
              <a:t>Scikit</a:t>
            </a:r>
            <a:r>
              <a:rPr lang="en-US" altLang="zh-CN" dirty="0"/>
              <a:t>-learn</a:t>
            </a:r>
            <a:r>
              <a:rPr lang="zh-CN" altLang="zh-CN" dirty="0"/>
              <a:t>。案例篇分为基础案例和综合案例两部分，这些案例基本都是金融数据挖掘中的基础案例或者典型应用问题，通过由浅入深，逐渐掌握</a:t>
            </a:r>
            <a:r>
              <a:rPr lang="en-US" altLang="zh-CN" dirty="0"/>
              <a:t>Python</a:t>
            </a:r>
            <a:r>
              <a:rPr lang="zh-CN" altLang="zh-CN" dirty="0"/>
              <a:t>金融数据挖掘基本技能。实训篇提供五个实训课题，并对每个课题给出实训要求和实训指导内容，使得读者或者学生能够根据实训指导，自己亲自动手完成实训课题，从而达到最终掌握</a:t>
            </a:r>
            <a:r>
              <a:rPr lang="en-US" altLang="zh-CN" dirty="0"/>
              <a:t>Python</a:t>
            </a:r>
            <a:r>
              <a:rPr lang="zh-CN" altLang="zh-CN" dirty="0"/>
              <a:t>金融大数据挖掘技能的目的。</a:t>
            </a:r>
            <a:endParaRPr lang="zh-CN" altLang="zh-CN"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indent="720090"/>
            <a:r>
              <a:rPr lang="zh-CN" altLang="zh-CN" sz="2400" dirty="0">
                <a:latin typeface="宋体" panose="02010600030101010101" pitchFamily="2" charset="-122"/>
                <a:ea typeface="宋体" panose="02010600030101010101" pitchFamily="2" charset="-122"/>
              </a:rPr>
              <a:t>本章作为</a:t>
            </a:r>
            <a:r>
              <a:rPr lang="en-US" altLang="zh-CN" sz="2400" dirty="0">
                <a:latin typeface="宋体" panose="02010600030101010101" pitchFamily="2" charset="-122"/>
                <a:ea typeface="宋体" panose="02010600030101010101" pitchFamily="2" charset="-122"/>
              </a:rPr>
              <a:t>Python</a:t>
            </a:r>
            <a:r>
              <a:rPr lang="zh-CN" altLang="zh-CN" sz="2400" dirty="0">
                <a:latin typeface="宋体" panose="02010600030101010101" pitchFamily="2" charset="-122"/>
                <a:ea typeface="宋体" panose="02010600030101010101" pitchFamily="2" charset="-122"/>
              </a:rPr>
              <a:t>的基础知识部分，首先介绍了</a:t>
            </a:r>
            <a:r>
              <a:rPr lang="en-US" altLang="zh-CN" sz="2400" dirty="0">
                <a:latin typeface="宋体" panose="02010600030101010101" pitchFamily="2" charset="-122"/>
                <a:ea typeface="宋体" panose="02010600030101010101" pitchFamily="2" charset="-122"/>
              </a:rPr>
              <a:t>Python</a:t>
            </a:r>
            <a:r>
              <a:rPr lang="zh-CN" altLang="zh-CN" sz="2400" dirty="0">
                <a:latin typeface="宋体" panose="02010600030101010101" pitchFamily="2" charset="-122"/>
                <a:ea typeface="宋体" panose="02010600030101010101" pitchFamily="2" charset="-122"/>
              </a:rPr>
              <a:t>及其发行版</a:t>
            </a:r>
            <a:r>
              <a:rPr lang="en-US" altLang="zh-CN" sz="2400" dirty="0">
                <a:latin typeface="宋体" panose="02010600030101010101" pitchFamily="2" charset="-122"/>
                <a:ea typeface="宋体" panose="02010600030101010101" pitchFamily="2" charset="-122"/>
              </a:rPr>
              <a:t>Anaconda</a:t>
            </a:r>
            <a:r>
              <a:rPr lang="zh-CN" altLang="zh-CN" sz="2400" dirty="0">
                <a:latin typeface="宋体" panose="02010600030101010101" pitchFamily="2" charset="-122"/>
                <a:ea typeface="宋体" panose="02010600030101010101" pitchFamily="2" charset="-122"/>
              </a:rPr>
              <a:t>的安装与启动、集成开发工具</a:t>
            </a:r>
            <a:r>
              <a:rPr lang="en-US" altLang="zh-CN" sz="2400" dirty="0" err="1">
                <a:latin typeface="宋体" panose="02010600030101010101" pitchFamily="2" charset="-122"/>
                <a:ea typeface="宋体" panose="02010600030101010101" pitchFamily="2" charset="-122"/>
              </a:rPr>
              <a:t>Spyder</a:t>
            </a:r>
            <a:r>
              <a:rPr lang="zh-CN" altLang="zh-CN" sz="2400" dirty="0">
                <a:latin typeface="宋体" panose="02010600030101010101" pitchFamily="2" charset="-122"/>
                <a:ea typeface="宋体" panose="02010600030101010101" pitchFamily="2" charset="-122"/>
              </a:rPr>
              <a:t>的基本使用方法和查看</a:t>
            </a:r>
            <a:r>
              <a:rPr lang="en-US" altLang="zh-CN" sz="2400" dirty="0">
                <a:latin typeface="宋体" panose="02010600030101010101" pitchFamily="2" charset="-122"/>
                <a:ea typeface="宋体" panose="02010600030101010101" pitchFamily="2" charset="-122"/>
              </a:rPr>
              <a:t>Anaconda</a:t>
            </a:r>
            <a:r>
              <a:rPr lang="zh-CN" altLang="zh-CN" sz="2400" dirty="0">
                <a:latin typeface="宋体" panose="02010600030101010101" pitchFamily="2" charset="-122"/>
                <a:ea typeface="宋体" panose="02010600030101010101" pitchFamily="2" charset="-122"/>
              </a:rPr>
              <a:t>集成的</a:t>
            </a:r>
            <a:r>
              <a:rPr lang="en-US" altLang="zh-CN" sz="2400" dirty="0">
                <a:latin typeface="宋体" panose="02010600030101010101" pitchFamily="2" charset="-122"/>
                <a:ea typeface="宋体" panose="02010600030101010101" pitchFamily="2" charset="-122"/>
              </a:rPr>
              <a:t>Python</a:t>
            </a:r>
            <a:r>
              <a:rPr lang="zh-CN" altLang="zh-CN" sz="2400" dirty="0">
                <a:latin typeface="宋体" panose="02010600030101010101" pitchFamily="2" charset="-122"/>
                <a:ea typeface="宋体" panose="02010600030101010101" pitchFamily="2" charset="-122"/>
              </a:rPr>
              <a:t>包及安装新扩展包的方法；其次是关于</a:t>
            </a:r>
            <a:r>
              <a:rPr lang="en-US" altLang="zh-CN" sz="2400" dirty="0">
                <a:latin typeface="宋体" panose="02010600030101010101" pitchFamily="2" charset="-122"/>
                <a:ea typeface="宋体" panose="02010600030101010101" pitchFamily="2" charset="-122"/>
              </a:rPr>
              <a:t>Python</a:t>
            </a:r>
            <a:r>
              <a:rPr lang="zh-CN" altLang="zh-CN" sz="2400" dirty="0">
                <a:latin typeface="宋体" panose="02010600030101010101" pitchFamily="2" charset="-122"/>
                <a:ea typeface="宋体" panose="02010600030101010101" pitchFamily="2" charset="-122"/>
              </a:rPr>
              <a:t>基本语法的介绍，包括数值、字符串、列表、元组、字典和集合等</a:t>
            </a:r>
            <a:r>
              <a:rPr lang="en-US" altLang="zh-CN" sz="2400" dirty="0">
                <a:latin typeface="宋体" panose="02010600030101010101" pitchFamily="2" charset="-122"/>
                <a:ea typeface="宋体" panose="02010600030101010101" pitchFamily="2" charset="-122"/>
              </a:rPr>
              <a:t>Python</a:t>
            </a:r>
            <a:r>
              <a:rPr lang="zh-CN" altLang="zh-CN" sz="2400" dirty="0">
                <a:latin typeface="宋体" panose="02010600030101010101" pitchFamily="2" charset="-122"/>
                <a:ea typeface="宋体" panose="02010600030101010101" pitchFamily="2" charset="-122"/>
              </a:rPr>
              <a:t>基本数据类型，以及其公有方法和私有方法；在流程控制语句方面，介绍了条件语句和循环语句；在</a:t>
            </a:r>
            <a:r>
              <a:rPr lang="en-US" altLang="zh-CN" sz="2400" dirty="0">
                <a:latin typeface="宋体" panose="02010600030101010101" pitchFamily="2" charset="-122"/>
                <a:ea typeface="宋体" panose="02010600030101010101" pitchFamily="2" charset="-122"/>
              </a:rPr>
              <a:t>Python</a:t>
            </a:r>
            <a:r>
              <a:rPr lang="zh-CN" altLang="zh-CN" sz="2400" dirty="0">
                <a:latin typeface="宋体" panose="02010600030101010101" pitchFamily="2" charset="-122"/>
                <a:ea typeface="宋体" panose="02010600030101010101" pitchFamily="2" charset="-122"/>
              </a:rPr>
              <a:t>自定义函数方面，介绍了无返回值函数、有一个返回值和多个返回值函数的定义和调用方法；最后介绍了</a:t>
            </a:r>
            <a:r>
              <a:rPr lang="en-US" altLang="zh-CN" sz="2400" dirty="0">
                <a:latin typeface="宋体" panose="02010600030101010101" pitchFamily="2" charset="-122"/>
                <a:ea typeface="宋体" panose="02010600030101010101" pitchFamily="2" charset="-122"/>
              </a:rPr>
              <a:t>Python</a:t>
            </a:r>
            <a:r>
              <a:rPr lang="zh-CN" altLang="zh-CN" sz="2400" dirty="0">
                <a:latin typeface="宋体" panose="02010600030101010101" pitchFamily="2" charset="-122"/>
                <a:ea typeface="宋体" panose="02010600030101010101" pitchFamily="2" charset="-122"/>
              </a:rPr>
              <a:t>在金融大数据方面的应用前景。</a:t>
            </a:r>
            <a:endParaRPr lang="zh-CN" altLang="en-US" sz="2400" dirty="0">
              <a:latin typeface="宋体" panose="02010600030101010101" pitchFamily="2" charset="-122"/>
              <a:ea typeface="宋体" panose="02010600030101010101" pitchFamily="2" charset="-122"/>
            </a:endParaRPr>
          </a:p>
        </p:txBody>
      </p:sp>
      <p:sp>
        <p:nvSpPr>
          <p:cNvPr id="4" name="矩形 3"/>
          <p:cNvSpPr/>
          <p:nvPr/>
        </p:nvSpPr>
        <p:spPr>
          <a:xfrm>
            <a:off x="1345853" y="116632"/>
            <a:ext cx="1422184" cy="461665"/>
          </a:xfrm>
          <a:prstGeom prst="rect">
            <a:avLst/>
          </a:prstGeom>
        </p:spPr>
        <p:txBody>
          <a:bodyPr wrap="none">
            <a:spAutoFit/>
          </a:bodyPr>
          <a:lstStyle/>
          <a:p>
            <a:r>
              <a:rPr lang="zh-CN" altLang="zh-CN" sz="2400" b="1" dirty="0">
                <a:solidFill>
                  <a:schemeClr val="accent2"/>
                </a:solidFill>
              </a:rPr>
              <a:t>本章小结</a:t>
            </a:r>
            <a:endParaRPr lang="zh-CN" altLang="zh-CN" sz="2400" b="1" dirty="0">
              <a:solidFill>
                <a:schemeClr val="accent2"/>
              </a:solidFill>
            </a:endParaRPr>
          </a:p>
        </p:txBody>
      </p:sp>
      <p:sp>
        <p:nvSpPr>
          <p:cNvPr id="5" name="TextBox 55"/>
          <p:cNvSpPr txBox="1"/>
          <p:nvPr/>
        </p:nvSpPr>
        <p:spPr>
          <a:xfrm>
            <a:off x="121717" y="147412"/>
            <a:ext cx="1064260" cy="400103"/>
          </a:xfrm>
          <a:prstGeom prst="rect">
            <a:avLst/>
          </a:prstGeom>
          <a:noFill/>
        </p:spPr>
        <p:txBody>
          <a:bodyPr wrap="square" lIns="91434" tIns="45717" rIns="91434" bIns="45717" rtlCol="0">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r>
              <a:rPr lang="en-US" altLang="zh-CN" sz="2000" dirty="0">
                <a:solidFill>
                  <a:schemeClr val="accent2"/>
                </a:solidFill>
              </a:rPr>
              <a:t>Part 1</a:t>
            </a:r>
            <a:r>
              <a:rPr lang="en-US" altLang="zh-CN" dirty="0">
                <a:solidFill>
                  <a:schemeClr val="accent2"/>
                </a:solidFill>
              </a:rPr>
              <a:t> </a:t>
            </a:r>
            <a:endParaRPr lang="zh-CN" altLang="en-US"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tags/tag1.xml><?xml version="1.0" encoding="utf-8"?>
<p:tagLst xmlns:p="http://schemas.openxmlformats.org/presentationml/2006/main">
  <p:tag name="KSO_WM_TEMPLATE_CATEGORY" val="custom"/>
  <p:tag name="KSO_WM_TEMPLATE_INDEX" val="20184561"/>
  <p:tag name="KSO_WM_TAG_VERSION" val="1.0"/>
  <p:tag name="KSO_WM_BEAUTIFY_FLAG" val="#wm#"/>
  <p:tag name="KSO_WM_UNIT_TYPE" val="l_h_i"/>
  <p:tag name="KSO_WM_UNIT_INDEX" val="1_1_2"/>
  <p:tag name="KSO_WM_UNIT_LAYERLEVEL" val="1_1_1"/>
  <p:tag name="KSO_WM_DIAGRAM_GROUP_CODE" val="l1-1"/>
  <p:tag name="KSO_WM_UNIT_ID" val="custom20184561_6*l_h_i*1_1_2"/>
  <p:tag name="KSO_WM_UNIT_TEXT_FILL_FORE_SCHEMECOLOR_INDEX" val="14"/>
  <p:tag name="KSO_WM_UNIT_TEXT_FILL_TYPE" val="1"/>
  <p:tag name="KSO_WM_UNIT_USESOURCEFORMAT_APPLY" val="1"/>
</p:tagLst>
</file>

<file path=ppt/tags/tag2.xml><?xml version="1.0" encoding="utf-8"?>
<p:tagLst xmlns:p="http://schemas.openxmlformats.org/presentationml/2006/main">
  <p:tag name="KSO_WM_TEMPLATE_CATEGORY" val="custom"/>
  <p:tag name="KSO_WM_TEMPLATE_INDEX" val="20184561"/>
  <p:tag name="KSO_WM_TAG_VERSION" val="1.0"/>
  <p:tag name="KSO_WM_BEAUTIFY_FLAG" val="#wm#"/>
  <p:tag name="KSO_WM_UNIT_TYPE" val="l_h_f"/>
  <p:tag name="KSO_WM_UNIT_INDEX" val="1_1_1"/>
  <p:tag name="KSO_WM_UNIT_LAYERLEVEL" val="1_1_1"/>
  <p:tag name="KSO_WM_UNIT_VALUE" val="18"/>
  <p:tag name="KSO_WM_UNIT_HIGHLIGHT" val="0"/>
  <p:tag name="KSO_WM_UNIT_COMPATIBLE" val="0"/>
  <p:tag name="KSO_WM_UNIT_CLEAR" val="0"/>
  <p:tag name="KSO_WM_DIAGRAM_GROUP_CODE" val="l1-1"/>
  <p:tag name="KSO_WM_UNIT_ID" val="custom20184561_6*l_h_f*1_1_1"/>
  <p:tag name="KSO_WM_UNIT_PRESET_TEXT" val="Lorem ipsum dolor sit amet, consectetur,"/>
  <p:tag name="KSO_WM_UNIT_TEXT_FILL_FORE_SCHEMECOLOR_INDEX" val="14"/>
  <p:tag name="KSO_WM_UNIT_TEXT_FILL_TYPE" val="1"/>
  <p:tag name="KSO_WM_UNIT_USESOURCEFORMAT_APPLY" val="1"/>
</p:tagLst>
</file>

<file path=ppt/theme/theme1.xml><?xml version="1.0" encoding="utf-8"?>
<a:theme xmlns:a="http://schemas.openxmlformats.org/drawingml/2006/main" name="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5859</Words>
  <Application>WPS 演示</Application>
  <PresentationFormat>自定义</PresentationFormat>
  <Paragraphs>288</Paragraphs>
  <Slides>18</Slides>
  <Notes>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宋体</vt:lpstr>
      <vt:lpstr>Wingdings</vt:lpstr>
      <vt:lpstr>微软雅黑</vt:lpstr>
      <vt:lpstr>仿宋_GB2312</vt:lpstr>
      <vt:lpstr>Calibri</vt:lpstr>
      <vt:lpstr>Calibri</vt:lpstr>
      <vt:lpstr>方正卡通简体</vt:lpstr>
      <vt:lpstr>Times New Roman</vt:lpstr>
      <vt:lpstr>Arial Unicode MS</vt:lpstr>
      <vt:lpstr>仿宋</vt:lpstr>
      <vt:lpstr>第一PPT，www.1ppt.com</vt:lpstr>
      <vt:lpstr>PowerPoint 演示文稿</vt:lpstr>
      <vt:lpstr>PowerPoint 演示文稿</vt:lpstr>
      <vt:lpstr>PowerPoint 演示文稿</vt:lpstr>
      <vt:lpstr>1.7.1 if …语句</vt:lpstr>
      <vt:lpstr>1.7.2 if …else…语句</vt:lpstr>
      <vt:lpstr>1.7.3 if…elif…else…语句</vt:lpstr>
      <vt:lpstr>PowerPoint 演示文稿</vt:lpstr>
      <vt:lpstr>1.8.1 while语句</vt:lpstr>
      <vt:lpstr>1.8.2 for循环</vt:lpstr>
      <vt:lpstr>PowerPoint 演示文稿</vt:lpstr>
      <vt:lpstr>1.9.1 无返回值函数定义与调用</vt:lpstr>
      <vt:lpstr>1.9.2 有返回值函数定义与调用</vt:lpstr>
      <vt:lpstr>1.9.3 有多返回值函数定义与调用</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商业融资计划书</dc:title>
  <dc:creator>第一PPT</dc:creator>
  <cp:keywords>www.1ppt.com</cp:keywords>
  <cp:lastModifiedBy>Administrator</cp:lastModifiedBy>
  <cp:revision>1585</cp:revision>
  <dcterms:created xsi:type="dcterms:W3CDTF">2013-01-25T01:44:00Z</dcterms:created>
  <dcterms:modified xsi:type="dcterms:W3CDTF">2020-01-12T12:24:20Z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