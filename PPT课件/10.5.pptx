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780" r:id="rId2"/>
    <p:sldId id="994" r:id="rId3"/>
    <p:sldId id="995" r:id="rId4"/>
    <p:sldId id="953" r:id="rId5"/>
    <p:sldId id="955" r:id="rId6"/>
    <p:sldId id="954" r:id="rId7"/>
    <p:sldId id="988" r:id="rId8"/>
    <p:sldId id="914" r:id="rId9"/>
    <p:sldId id="933" r:id="rId10"/>
    <p:sldId id="990" r:id="rId11"/>
    <p:sldId id="991" r:id="rId12"/>
    <p:sldId id="855" r:id="rId13"/>
    <p:sldId id="992" r:id="rId14"/>
    <p:sldId id="993" r:id="rId15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17DCF1"/>
    <a:srgbClr val="F8F8F8"/>
    <a:srgbClr val="0DC2D5"/>
    <a:srgbClr val="006BBC"/>
    <a:srgbClr val="00AAA2"/>
    <a:srgbClr val="EFEFE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60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1C80C4-3C37-4B06-AC2A-25F05322FDE0}" type="doc">
      <dgm:prSet loTypeId="urn:microsoft.com/office/officeart/2005/8/layout/list1#1" loCatId="list" qsTypeId="urn:microsoft.com/office/officeart/2005/8/quickstyle/simple1#1" qsCatId="simple" csTypeId="urn:microsoft.com/office/officeart/2005/8/colors/accent1_2#1" csCatId="accent1" phldr="0"/>
      <dgm:spPr/>
      <dgm:t>
        <a:bodyPr/>
        <a:lstStyle/>
        <a:p>
          <a:endParaRPr lang="zh-CN" altLang="en-US"/>
        </a:p>
      </dgm:t>
    </dgm:pt>
    <dgm:pt modelId="{79F64CC5-B0A0-473A-A647-A8DB6562D23B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10.5.1 K-</a:t>
          </a:r>
          <a:r>
            <a: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最频繁值聚类算法</a:t>
          </a:r>
          <a:endParaRPr lang="zh-CN" altLang="en-US"/>
        </a:p>
      </dgm:t>
    </dgm:pt>
    <dgm:pt modelId="{702F6268-E14C-45D5-8115-297DAA4B759C}" type="parTrans" cxnId="{36703578-005F-4193-AAF4-535752C4C8B5}">
      <dgm:prSet/>
      <dgm:spPr/>
      <dgm:t>
        <a:bodyPr/>
        <a:lstStyle/>
        <a:p>
          <a:endParaRPr lang="zh-CN" altLang="en-US"/>
        </a:p>
      </dgm:t>
    </dgm:pt>
    <dgm:pt modelId="{981E424B-A63B-4DF7-BC97-1D5B2B7044B1}" type="sibTrans" cxnId="{36703578-005F-4193-AAF4-535752C4C8B5}">
      <dgm:prSet/>
      <dgm:spPr/>
      <dgm:t>
        <a:bodyPr/>
        <a:lstStyle/>
        <a:p>
          <a:endParaRPr lang="zh-CN" altLang="en-US"/>
        </a:p>
      </dgm:t>
    </dgm:pt>
    <dgm:pt modelId="{D4AB1542-9F74-4E45-B615-57F5DFDC43EE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10.5.2 </a:t>
          </a:r>
          <a:r>
            <a: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基于 </a:t>
          </a:r>
          <a:r>
            <a:rPr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K-</a:t>
          </a:r>
          <a:r>
            <a: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最频繁值聚类算法的股票价格形态聚类</a:t>
          </a:r>
          <a:endParaRPr lang="zh-CN" altLang="en-US"/>
        </a:p>
      </dgm:t>
    </dgm:pt>
    <dgm:pt modelId="{DCA1BD93-FD98-4A06-8ECE-28E6935BECED}" type="parTrans" cxnId="{2B70C328-0248-4274-99D6-09E8C1FEF754}">
      <dgm:prSet/>
      <dgm:spPr/>
      <dgm:t>
        <a:bodyPr/>
        <a:lstStyle/>
        <a:p>
          <a:endParaRPr lang="zh-CN" altLang="en-US"/>
        </a:p>
      </dgm:t>
    </dgm:pt>
    <dgm:pt modelId="{69748832-ECC5-4F63-A6AC-8504A7E906B9}" type="sibTrans" cxnId="{2B70C328-0248-4274-99D6-09E8C1FEF754}">
      <dgm:prSet/>
      <dgm:spPr/>
      <dgm:t>
        <a:bodyPr/>
        <a:lstStyle/>
        <a:p>
          <a:endParaRPr lang="zh-CN" altLang="en-US"/>
        </a:p>
      </dgm:t>
    </dgm:pt>
    <dgm:pt modelId="{E484A0DB-ADE2-41BB-B1F9-A397557174FE}">
      <dgm:prSet phldrT="[文本]" phldr="0" custT="0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10.5.3 </a:t>
          </a:r>
          <a:r>
            <a:rPr lang="zh-CN" altLang="en-US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类平均收益率的计算</a:t>
          </a:r>
          <a:endParaRPr lang="zh-CN" altLang="en-US"/>
        </a:p>
      </dgm:t>
    </dgm:pt>
    <dgm:pt modelId="{0D3844BD-A934-4ADF-8CEC-4B7101CACCC9}" type="parTrans" cxnId="{18C1EE85-6365-4315-B17D-93CEAD595E15}">
      <dgm:prSet/>
      <dgm:spPr/>
      <dgm:t>
        <a:bodyPr/>
        <a:lstStyle/>
        <a:p>
          <a:endParaRPr lang="zh-CN" altLang="en-US"/>
        </a:p>
      </dgm:t>
    </dgm:pt>
    <dgm:pt modelId="{FC59B45A-A616-4E16-B98F-7EBC1D5DDF85}" type="sibTrans" cxnId="{18C1EE85-6365-4315-B17D-93CEAD595E15}">
      <dgm:prSet/>
      <dgm:spPr/>
      <dgm:t>
        <a:bodyPr/>
        <a:lstStyle/>
        <a:p>
          <a:endParaRPr lang="zh-CN" altLang="en-US"/>
        </a:p>
      </dgm:t>
    </dgm:pt>
    <dgm:pt modelId="{FB216F72-EAF5-47A3-B712-3974C23D289F}">
      <dgm:prSet/>
      <dgm:spPr/>
      <dgm:t>
        <a:bodyPr/>
        <a:lstStyle/>
        <a:p>
          <a:endParaRPr altLang="en-US"/>
        </a:p>
      </dgm:t>
    </dgm:pt>
    <dgm:pt modelId="{9C132563-01D3-4A7E-AF51-9FB52E5A3E75}" type="parTrans" cxnId="{CDF8B12E-0032-4662-AF86-B47FEDC44375}">
      <dgm:prSet/>
      <dgm:spPr/>
    </dgm:pt>
    <dgm:pt modelId="{86509DBC-B174-450B-9A59-3CFD8E8A9DB6}" type="sibTrans" cxnId="{CDF8B12E-0032-4662-AF86-B47FEDC44375}">
      <dgm:prSet/>
      <dgm:spPr/>
    </dgm:pt>
    <dgm:pt modelId="{EE3CB678-3AF3-48EB-A9A3-4C9B3B638DF4}" type="pres">
      <dgm:prSet presAssocID="{501C80C4-3C37-4B06-AC2A-25F05322FDE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787D67B-DDA1-4988-8415-DCD48FC3EA83}" type="pres">
      <dgm:prSet presAssocID="{79F64CC5-B0A0-473A-A647-A8DB6562D23B}" presName="parentLin" presStyleCnt="0"/>
      <dgm:spPr/>
    </dgm:pt>
    <dgm:pt modelId="{0797CEA2-9F9D-4159-A8DC-2F0D60611F3B}" type="pres">
      <dgm:prSet presAssocID="{79F64CC5-B0A0-473A-A647-A8DB6562D23B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2968AA41-C1D3-4EDF-9DB3-378F66B2FD39}" type="pres">
      <dgm:prSet presAssocID="{79F64CC5-B0A0-473A-A647-A8DB6562D23B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61417B3-60F3-4BE3-8E8F-9CEC27ECBCDA}" type="pres">
      <dgm:prSet presAssocID="{79F64CC5-B0A0-473A-A647-A8DB6562D23B}" presName="negativeSpace" presStyleCnt="0"/>
      <dgm:spPr/>
    </dgm:pt>
    <dgm:pt modelId="{D167D85B-ED5F-4134-9F18-E6B4BAE0C614}" type="pres">
      <dgm:prSet presAssocID="{79F64CC5-B0A0-473A-A647-A8DB6562D23B}" presName="childText" presStyleLbl="conFgAcc1" presStyleIdx="0" presStyleCnt="4">
        <dgm:presLayoutVars>
          <dgm:bulletEnabled val="1"/>
        </dgm:presLayoutVars>
      </dgm:prSet>
      <dgm:spPr/>
    </dgm:pt>
    <dgm:pt modelId="{6402558A-B637-4118-8793-2FA57B2393DA}" type="pres">
      <dgm:prSet presAssocID="{981E424B-A63B-4DF7-BC97-1D5B2B7044B1}" presName="spaceBetweenRectangles" presStyleCnt="0"/>
      <dgm:spPr/>
    </dgm:pt>
    <dgm:pt modelId="{8E561E53-8519-43F2-B9E7-546C3EB01970}" type="pres">
      <dgm:prSet presAssocID="{D4AB1542-9F74-4E45-B615-57F5DFDC43EE}" presName="parentLin" presStyleCnt="0"/>
      <dgm:spPr/>
    </dgm:pt>
    <dgm:pt modelId="{3559B5A5-3E91-49F5-A868-297DBB575668}" type="pres">
      <dgm:prSet presAssocID="{D4AB1542-9F74-4E45-B615-57F5DFDC43EE}" presName="parentLeftMargin" presStyleLbl="node1" presStyleIdx="0" presStyleCnt="4"/>
      <dgm:spPr/>
      <dgm:t>
        <a:bodyPr/>
        <a:lstStyle/>
        <a:p>
          <a:endParaRPr lang="zh-CN" altLang="en-US"/>
        </a:p>
      </dgm:t>
    </dgm:pt>
    <dgm:pt modelId="{48FABA9F-C289-434B-8864-E8FC1B5C2F60}" type="pres">
      <dgm:prSet presAssocID="{D4AB1542-9F74-4E45-B615-57F5DFDC43EE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F65D9D-7898-4EE1-ADBC-A6F5139DEC13}" type="pres">
      <dgm:prSet presAssocID="{D4AB1542-9F74-4E45-B615-57F5DFDC43EE}" presName="negativeSpace" presStyleCnt="0"/>
      <dgm:spPr/>
    </dgm:pt>
    <dgm:pt modelId="{6B4B0D2A-F76A-4881-A678-1599A9C1764F}" type="pres">
      <dgm:prSet presAssocID="{D4AB1542-9F74-4E45-B615-57F5DFDC43EE}" presName="childText" presStyleLbl="conFgAcc1" presStyleIdx="1" presStyleCnt="4">
        <dgm:presLayoutVars>
          <dgm:bulletEnabled val="1"/>
        </dgm:presLayoutVars>
      </dgm:prSet>
      <dgm:spPr/>
    </dgm:pt>
    <dgm:pt modelId="{4CCA9E30-BEB2-4B5D-BA10-E5FCB43776E3}" type="pres">
      <dgm:prSet presAssocID="{69748832-ECC5-4F63-A6AC-8504A7E906B9}" presName="spaceBetweenRectangles" presStyleCnt="0"/>
      <dgm:spPr/>
    </dgm:pt>
    <dgm:pt modelId="{E366F1EF-FE80-457B-9C6A-8A0AC673FB1B}" type="pres">
      <dgm:prSet presAssocID="{E484A0DB-ADE2-41BB-B1F9-A397557174FE}" presName="parentLin" presStyleCnt="0"/>
      <dgm:spPr/>
    </dgm:pt>
    <dgm:pt modelId="{06AA40BB-9886-4B46-8ECB-F4B42996D2E4}" type="pres">
      <dgm:prSet presAssocID="{E484A0DB-ADE2-41BB-B1F9-A397557174FE}" presName="parentLeftMargin" presStyleLbl="node1" presStyleIdx="1" presStyleCnt="4"/>
      <dgm:spPr/>
      <dgm:t>
        <a:bodyPr/>
        <a:lstStyle/>
        <a:p>
          <a:endParaRPr lang="zh-CN" altLang="en-US"/>
        </a:p>
      </dgm:t>
    </dgm:pt>
    <dgm:pt modelId="{E2F3FA2F-E1C7-4C05-8B05-C32B42A9A930}" type="pres">
      <dgm:prSet presAssocID="{E484A0DB-ADE2-41BB-B1F9-A397557174FE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6A5161-621C-488B-95ED-161DD8C18700}" type="pres">
      <dgm:prSet presAssocID="{E484A0DB-ADE2-41BB-B1F9-A397557174FE}" presName="negativeSpace" presStyleCnt="0"/>
      <dgm:spPr/>
    </dgm:pt>
    <dgm:pt modelId="{F2D507D6-5CB7-4C81-896F-18FAF0126329}" type="pres">
      <dgm:prSet presAssocID="{E484A0DB-ADE2-41BB-B1F9-A397557174FE}" presName="childText" presStyleLbl="conFgAcc1" presStyleIdx="2" presStyleCnt="4">
        <dgm:presLayoutVars>
          <dgm:bulletEnabled val="1"/>
        </dgm:presLayoutVars>
      </dgm:prSet>
      <dgm:spPr/>
    </dgm:pt>
    <dgm:pt modelId="{7E62ACAA-419C-4374-A5CB-E2FBBB5BA1D3}" type="pres">
      <dgm:prSet presAssocID="{FC59B45A-A616-4E16-B98F-7EBC1D5DDF85}" presName="spaceBetweenRectangles" presStyleCnt="0"/>
      <dgm:spPr/>
    </dgm:pt>
    <dgm:pt modelId="{F85D2F68-FF33-4A6F-81DE-5286707CCAE5}" type="pres">
      <dgm:prSet presAssocID="{FB216F72-EAF5-47A3-B712-3974C23D289F}" presName="parentLin" presStyleCnt="0"/>
      <dgm:spPr/>
    </dgm:pt>
    <dgm:pt modelId="{3B697F7C-0DAA-4AD3-8CCD-B66BD470A5AF}" type="pres">
      <dgm:prSet presAssocID="{FB216F72-EAF5-47A3-B712-3974C23D289F}" presName="parentLeftMargin" presStyleLbl="node1" presStyleIdx="2" presStyleCnt="4"/>
      <dgm:spPr/>
      <dgm:t>
        <a:bodyPr/>
        <a:lstStyle/>
        <a:p>
          <a:endParaRPr lang="zh-CN" altLang="en-US"/>
        </a:p>
      </dgm:t>
    </dgm:pt>
    <dgm:pt modelId="{271C9603-D36B-475B-8458-8E2B508EEFD2}" type="pres">
      <dgm:prSet presAssocID="{FB216F72-EAF5-47A3-B712-3974C23D289F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0556491-C372-490F-A16E-4175A6DC8B96}" type="pres">
      <dgm:prSet presAssocID="{FB216F72-EAF5-47A3-B712-3974C23D289F}" presName="negativeSpace" presStyleCnt="0"/>
      <dgm:spPr/>
    </dgm:pt>
    <dgm:pt modelId="{A300FFF1-E743-4721-A04F-1F403598930C}" type="pres">
      <dgm:prSet presAssocID="{FB216F72-EAF5-47A3-B712-3974C23D289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462C09C-C891-49CD-A676-A4F0751E3B89}" type="presOf" srcId="{79F64CC5-B0A0-473A-A647-A8DB6562D23B}" destId="{0797CEA2-9F9D-4159-A8DC-2F0D60611F3B}" srcOrd="0" destOrd="0" presId="urn:microsoft.com/office/officeart/2005/8/layout/list1#1"/>
    <dgm:cxn modelId="{0AA98638-3495-4D87-A90B-D3046A1B8AE3}" type="presOf" srcId="{FB216F72-EAF5-47A3-B712-3974C23D289F}" destId="{3B697F7C-0DAA-4AD3-8CCD-B66BD470A5AF}" srcOrd="0" destOrd="0" presId="urn:microsoft.com/office/officeart/2005/8/layout/list1#1"/>
    <dgm:cxn modelId="{B13D2590-57B8-476F-945D-A525FB2E92BA}" type="presOf" srcId="{FB216F72-EAF5-47A3-B712-3974C23D289F}" destId="{271C9603-D36B-475B-8458-8E2B508EEFD2}" srcOrd="1" destOrd="0" presId="urn:microsoft.com/office/officeart/2005/8/layout/list1#1"/>
    <dgm:cxn modelId="{CDF8B12E-0032-4662-AF86-B47FEDC44375}" srcId="{501C80C4-3C37-4B06-AC2A-25F05322FDE0}" destId="{FB216F72-EAF5-47A3-B712-3974C23D289F}" srcOrd="3" destOrd="0" parTransId="{9C132563-01D3-4A7E-AF51-9FB52E5A3E75}" sibTransId="{86509DBC-B174-450B-9A59-3CFD8E8A9DB6}"/>
    <dgm:cxn modelId="{B5BD7599-89C0-424F-B12E-084A6CFE0031}" type="presOf" srcId="{E484A0DB-ADE2-41BB-B1F9-A397557174FE}" destId="{06AA40BB-9886-4B46-8ECB-F4B42996D2E4}" srcOrd="0" destOrd="0" presId="urn:microsoft.com/office/officeart/2005/8/layout/list1#1"/>
    <dgm:cxn modelId="{D92068CE-FD7A-4C11-8514-FF7C90162744}" type="presOf" srcId="{501C80C4-3C37-4B06-AC2A-25F05322FDE0}" destId="{EE3CB678-3AF3-48EB-A9A3-4C9B3B638DF4}" srcOrd="0" destOrd="0" presId="urn:microsoft.com/office/officeart/2005/8/layout/list1#1"/>
    <dgm:cxn modelId="{2B70C328-0248-4274-99D6-09E8C1FEF754}" srcId="{501C80C4-3C37-4B06-AC2A-25F05322FDE0}" destId="{D4AB1542-9F74-4E45-B615-57F5DFDC43EE}" srcOrd="1" destOrd="0" parTransId="{DCA1BD93-FD98-4A06-8ECE-28E6935BECED}" sibTransId="{69748832-ECC5-4F63-A6AC-8504A7E906B9}"/>
    <dgm:cxn modelId="{12C87440-E5E2-44A1-A4B9-A1AD605687B3}" type="presOf" srcId="{E484A0DB-ADE2-41BB-B1F9-A397557174FE}" destId="{E2F3FA2F-E1C7-4C05-8B05-C32B42A9A930}" srcOrd="1" destOrd="0" presId="urn:microsoft.com/office/officeart/2005/8/layout/list1#1"/>
    <dgm:cxn modelId="{FE59FEB4-88FF-4242-AA72-4B22AC5E5AD5}" type="presOf" srcId="{D4AB1542-9F74-4E45-B615-57F5DFDC43EE}" destId="{48FABA9F-C289-434B-8864-E8FC1B5C2F60}" srcOrd="1" destOrd="0" presId="urn:microsoft.com/office/officeart/2005/8/layout/list1#1"/>
    <dgm:cxn modelId="{36703578-005F-4193-AAF4-535752C4C8B5}" srcId="{501C80C4-3C37-4B06-AC2A-25F05322FDE0}" destId="{79F64CC5-B0A0-473A-A647-A8DB6562D23B}" srcOrd="0" destOrd="0" parTransId="{702F6268-E14C-45D5-8115-297DAA4B759C}" sibTransId="{981E424B-A63B-4DF7-BC97-1D5B2B7044B1}"/>
    <dgm:cxn modelId="{FC51FF1C-7792-421F-8598-76E66B2E0499}" type="presOf" srcId="{D4AB1542-9F74-4E45-B615-57F5DFDC43EE}" destId="{3559B5A5-3E91-49F5-A868-297DBB575668}" srcOrd="0" destOrd="0" presId="urn:microsoft.com/office/officeart/2005/8/layout/list1#1"/>
    <dgm:cxn modelId="{18C1EE85-6365-4315-B17D-93CEAD595E15}" srcId="{501C80C4-3C37-4B06-AC2A-25F05322FDE0}" destId="{E484A0DB-ADE2-41BB-B1F9-A397557174FE}" srcOrd="2" destOrd="0" parTransId="{0D3844BD-A934-4ADF-8CEC-4B7101CACCC9}" sibTransId="{FC59B45A-A616-4E16-B98F-7EBC1D5DDF85}"/>
    <dgm:cxn modelId="{D62EABAB-DA70-46E8-83C7-A899DE2309EE}" type="presOf" srcId="{79F64CC5-B0A0-473A-A647-A8DB6562D23B}" destId="{2968AA41-C1D3-4EDF-9DB3-378F66B2FD39}" srcOrd="1" destOrd="0" presId="urn:microsoft.com/office/officeart/2005/8/layout/list1#1"/>
    <dgm:cxn modelId="{B9BF353E-1979-4A48-87D5-05A82D0673FA}" type="presParOf" srcId="{EE3CB678-3AF3-48EB-A9A3-4C9B3B638DF4}" destId="{A787D67B-DDA1-4988-8415-DCD48FC3EA83}" srcOrd="0" destOrd="0" presId="urn:microsoft.com/office/officeart/2005/8/layout/list1#1"/>
    <dgm:cxn modelId="{BAAD5940-C101-4458-AED3-FAFE1C07E958}" type="presParOf" srcId="{A787D67B-DDA1-4988-8415-DCD48FC3EA83}" destId="{0797CEA2-9F9D-4159-A8DC-2F0D60611F3B}" srcOrd="0" destOrd="0" presId="urn:microsoft.com/office/officeart/2005/8/layout/list1#1"/>
    <dgm:cxn modelId="{D0B36945-FF2C-4344-8281-6DC550A80B26}" type="presParOf" srcId="{A787D67B-DDA1-4988-8415-DCD48FC3EA83}" destId="{2968AA41-C1D3-4EDF-9DB3-378F66B2FD39}" srcOrd="1" destOrd="0" presId="urn:microsoft.com/office/officeart/2005/8/layout/list1#1"/>
    <dgm:cxn modelId="{4EA7DA77-BF73-4990-B066-6BCBCA2B866F}" type="presParOf" srcId="{EE3CB678-3AF3-48EB-A9A3-4C9B3B638DF4}" destId="{D61417B3-60F3-4BE3-8E8F-9CEC27ECBCDA}" srcOrd="1" destOrd="0" presId="urn:microsoft.com/office/officeart/2005/8/layout/list1#1"/>
    <dgm:cxn modelId="{6888D86D-2D47-414C-B7AF-F04DCF4A8B00}" type="presParOf" srcId="{EE3CB678-3AF3-48EB-A9A3-4C9B3B638DF4}" destId="{D167D85B-ED5F-4134-9F18-E6B4BAE0C614}" srcOrd="2" destOrd="0" presId="urn:microsoft.com/office/officeart/2005/8/layout/list1#1"/>
    <dgm:cxn modelId="{27BCA2C9-BBCB-4D6B-AB87-CC753A5AFEFC}" type="presParOf" srcId="{EE3CB678-3AF3-48EB-A9A3-4C9B3B638DF4}" destId="{6402558A-B637-4118-8793-2FA57B2393DA}" srcOrd="3" destOrd="0" presId="urn:microsoft.com/office/officeart/2005/8/layout/list1#1"/>
    <dgm:cxn modelId="{E46DA7D8-9249-4453-8200-023ADE74D6FA}" type="presParOf" srcId="{EE3CB678-3AF3-48EB-A9A3-4C9B3B638DF4}" destId="{8E561E53-8519-43F2-B9E7-546C3EB01970}" srcOrd="4" destOrd="0" presId="urn:microsoft.com/office/officeart/2005/8/layout/list1#1"/>
    <dgm:cxn modelId="{5DB0B756-3E91-4170-940B-3A358D87FE97}" type="presParOf" srcId="{8E561E53-8519-43F2-B9E7-546C3EB01970}" destId="{3559B5A5-3E91-49F5-A868-297DBB575668}" srcOrd="0" destOrd="0" presId="urn:microsoft.com/office/officeart/2005/8/layout/list1#1"/>
    <dgm:cxn modelId="{9A746C33-C607-453A-BC79-670569E69D73}" type="presParOf" srcId="{8E561E53-8519-43F2-B9E7-546C3EB01970}" destId="{48FABA9F-C289-434B-8864-E8FC1B5C2F60}" srcOrd="1" destOrd="0" presId="urn:microsoft.com/office/officeart/2005/8/layout/list1#1"/>
    <dgm:cxn modelId="{4A9F165C-872B-47E1-98B8-7C2736C5A44B}" type="presParOf" srcId="{EE3CB678-3AF3-48EB-A9A3-4C9B3B638DF4}" destId="{72F65D9D-7898-4EE1-ADBC-A6F5139DEC13}" srcOrd="5" destOrd="0" presId="urn:microsoft.com/office/officeart/2005/8/layout/list1#1"/>
    <dgm:cxn modelId="{60F8564B-83CF-4221-95D1-65CEADFCFAAE}" type="presParOf" srcId="{EE3CB678-3AF3-48EB-A9A3-4C9B3B638DF4}" destId="{6B4B0D2A-F76A-4881-A678-1599A9C1764F}" srcOrd="6" destOrd="0" presId="urn:microsoft.com/office/officeart/2005/8/layout/list1#1"/>
    <dgm:cxn modelId="{9343380F-23E9-4752-B20B-993D6F5CE415}" type="presParOf" srcId="{EE3CB678-3AF3-48EB-A9A3-4C9B3B638DF4}" destId="{4CCA9E30-BEB2-4B5D-BA10-E5FCB43776E3}" srcOrd="7" destOrd="0" presId="urn:microsoft.com/office/officeart/2005/8/layout/list1#1"/>
    <dgm:cxn modelId="{AE102F08-6720-4E4D-A07C-2E85688C6AB2}" type="presParOf" srcId="{EE3CB678-3AF3-48EB-A9A3-4C9B3B638DF4}" destId="{E366F1EF-FE80-457B-9C6A-8A0AC673FB1B}" srcOrd="8" destOrd="0" presId="urn:microsoft.com/office/officeart/2005/8/layout/list1#1"/>
    <dgm:cxn modelId="{40482A81-314A-44E7-845F-C10359E9BA9E}" type="presParOf" srcId="{E366F1EF-FE80-457B-9C6A-8A0AC673FB1B}" destId="{06AA40BB-9886-4B46-8ECB-F4B42996D2E4}" srcOrd="0" destOrd="0" presId="urn:microsoft.com/office/officeart/2005/8/layout/list1#1"/>
    <dgm:cxn modelId="{12C83310-44FE-48AA-99E4-83634826C66B}" type="presParOf" srcId="{E366F1EF-FE80-457B-9C6A-8A0AC673FB1B}" destId="{E2F3FA2F-E1C7-4C05-8B05-C32B42A9A930}" srcOrd="1" destOrd="0" presId="urn:microsoft.com/office/officeart/2005/8/layout/list1#1"/>
    <dgm:cxn modelId="{087D42F7-CC93-475E-9B7C-23EABA3BCED1}" type="presParOf" srcId="{EE3CB678-3AF3-48EB-A9A3-4C9B3B638DF4}" destId="{C36A5161-621C-488B-95ED-161DD8C18700}" srcOrd="9" destOrd="0" presId="urn:microsoft.com/office/officeart/2005/8/layout/list1#1"/>
    <dgm:cxn modelId="{CEE01300-C0EC-4FE4-9E4F-DD7D8060E988}" type="presParOf" srcId="{EE3CB678-3AF3-48EB-A9A3-4C9B3B638DF4}" destId="{F2D507D6-5CB7-4C81-896F-18FAF0126329}" srcOrd="10" destOrd="0" presId="urn:microsoft.com/office/officeart/2005/8/layout/list1#1"/>
    <dgm:cxn modelId="{A4F7EF28-FDC7-4917-B3AD-746C86C27724}" type="presParOf" srcId="{EE3CB678-3AF3-48EB-A9A3-4C9B3B638DF4}" destId="{7E62ACAA-419C-4374-A5CB-E2FBBB5BA1D3}" srcOrd="11" destOrd="0" presId="urn:microsoft.com/office/officeart/2005/8/layout/list1#1"/>
    <dgm:cxn modelId="{9036B2EA-D209-465F-A1AD-548FC5FD0BF7}" type="presParOf" srcId="{EE3CB678-3AF3-48EB-A9A3-4C9B3B638DF4}" destId="{F85D2F68-FF33-4A6F-81DE-5286707CCAE5}" srcOrd="12" destOrd="0" presId="urn:microsoft.com/office/officeart/2005/8/layout/list1#1"/>
    <dgm:cxn modelId="{769E185D-CBF3-4077-80BF-3DF48041D6C9}" type="presParOf" srcId="{F85D2F68-FF33-4A6F-81DE-5286707CCAE5}" destId="{3B697F7C-0DAA-4AD3-8CCD-B66BD470A5AF}" srcOrd="0" destOrd="0" presId="urn:microsoft.com/office/officeart/2005/8/layout/list1#1"/>
    <dgm:cxn modelId="{A67812AD-2E6A-41D3-B489-27E22A148DFF}" type="presParOf" srcId="{F85D2F68-FF33-4A6F-81DE-5286707CCAE5}" destId="{271C9603-D36B-475B-8458-8E2B508EEFD2}" srcOrd="1" destOrd="0" presId="urn:microsoft.com/office/officeart/2005/8/layout/list1#1"/>
    <dgm:cxn modelId="{3F6D1B1C-0368-41F6-8906-661182712CA8}" type="presParOf" srcId="{EE3CB678-3AF3-48EB-A9A3-4C9B3B638DF4}" destId="{00556491-C372-490F-A16E-4175A6DC8B96}" srcOrd="13" destOrd="0" presId="urn:microsoft.com/office/officeart/2005/8/layout/list1#1"/>
    <dgm:cxn modelId="{8D1F37A9-4831-4AE4-98CC-C3642A4F1102}" type="presParOf" srcId="{EE3CB678-3AF3-48EB-A9A3-4C9B3B638DF4}" destId="{A300FFF1-E743-4721-A04F-1F403598930C}" srcOrd="14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7D85B-ED5F-4134-9F18-E6B4BAE0C614}">
      <dsp:nvSpPr>
        <dsp:cNvPr id="0" name=""/>
        <dsp:cNvSpPr/>
      </dsp:nvSpPr>
      <dsp:spPr>
        <a:xfrm>
          <a:off x="0" y="1077010"/>
          <a:ext cx="753681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68AA41-C1D3-4EDF-9DB3-378F66B2FD39}">
      <dsp:nvSpPr>
        <dsp:cNvPr id="0" name=""/>
        <dsp:cNvSpPr/>
      </dsp:nvSpPr>
      <dsp:spPr>
        <a:xfrm>
          <a:off x="376840" y="840850"/>
          <a:ext cx="527577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412" tIns="0" rIns="199412" bIns="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10.5.1 K-</a:t>
          </a:r>
          <a:r>
            <a:rPr lang="zh-CN" altLang="en-US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最频繁值聚类算法</a:t>
          </a:r>
          <a:endParaRPr lang="zh-CN" altLang="en-US" sz="1600" kern="1200"/>
        </a:p>
      </dsp:txBody>
      <dsp:txXfrm>
        <a:off x="399897" y="863907"/>
        <a:ext cx="5229656" cy="426206"/>
      </dsp:txXfrm>
    </dsp:sp>
    <dsp:sp modelId="{6B4B0D2A-F76A-4881-A678-1599A9C1764F}">
      <dsp:nvSpPr>
        <dsp:cNvPr id="0" name=""/>
        <dsp:cNvSpPr/>
      </dsp:nvSpPr>
      <dsp:spPr>
        <a:xfrm>
          <a:off x="0" y="1802770"/>
          <a:ext cx="753681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ABA9F-C289-434B-8864-E8FC1B5C2F60}">
      <dsp:nvSpPr>
        <dsp:cNvPr id="0" name=""/>
        <dsp:cNvSpPr/>
      </dsp:nvSpPr>
      <dsp:spPr>
        <a:xfrm>
          <a:off x="376840" y="1566610"/>
          <a:ext cx="527577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412" tIns="0" rIns="199412" bIns="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10.5.2 </a:t>
          </a:r>
          <a:r>
            <a:rPr lang="zh-CN" altLang="en-US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基于 </a:t>
          </a:r>
          <a:r>
            <a:rPr lang="en-US" altLang="zh-CN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K-</a:t>
          </a:r>
          <a:r>
            <a:rPr lang="zh-CN" altLang="en-US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最频繁值聚类算法的股票价格形态聚类</a:t>
          </a:r>
          <a:endParaRPr lang="zh-CN" altLang="en-US" sz="1600" kern="1200"/>
        </a:p>
      </dsp:txBody>
      <dsp:txXfrm>
        <a:off x="399897" y="1589667"/>
        <a:ext cx="5229656" cy="426206"/>
      </dsp:txXfrm>
    </dsp:sp>
    <dsp:sp modelId="{F2D507D6-5CB7-4C81-896F-18FAF0126329}">
      <dsp:nvSpPr>
        <dsp:cNvPr id="0" name=""/>
        <dsp:cNvSpPr/>
      </dsp:nvSpPr>
      <dsp:spPr>
        <a:xfrm>
          <a:off x="0" y="2528530"/>
          <a:ext cx="753681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F3FA2F-E1C7-4C05-8B05-C32B42A9A930}">
      <dsp:nvSpPr>
        <dsp:cNvPr id="0" name=""/>
        <dsp:cNvSpPr/>
      </dsp:nvSpPr>
      <dsp:spPr>
        <a:xfrm>
          <a:off x="376840" y="2292370"/>
          <a:ext cx="527577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412" tIns="0" rIns="199412" bIns="0" numCol="1" spcCol="1270" anchor="ctr" anchorCtr="0">
          <a:noAutofit/>
        </a:bodyPr>
        <a:lstStyle/>
        <a:p>
          <a:pPr lvl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10.5.3 </a:t>
          </a:r>
          <a:r>
            <a:rPr lang="zh-CN" altLang="en-US" sz="1600" kern="1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rPr>
            <a:t>类平均收益率的计算</a:t>
          </a:r>
          <a:endParaRPr lang="zh-CN" altLang="en-US" sz="1600" kern="1200"/>
        </a:p>
      </dsp:txBody>
      <dsp:txXfrm>
        <a:off x="399897" y="2315427"/>
        <a:ext cx="5229656" cy="426206"/>
      </dsp:txXfrm>
    </dsp:sp>
    <dsp:sp modelId="{A300FFF1-E743-4721-A04F-1F403598930C}">
      <dsp:nvSpPr>
        <dsp:cNvPr id="0" name=""/>
        <dsp:cNvSpPr/>
      </dsp:nvSpPr>
      <dsp:spPr>
        <a:xfrm>
          <a:off x="0" y="3254290"/>
          <a:ext cx="7536815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C9603-D36B-475B-8458-8E2B508EEFD2}">
      <dsp:nvSpPr>
        <dsp:cNvPr id="0" name=""/>
        <dsp:cNvSpPr/>
      </dsp:nvSpPr>
      <dsp:spPr>
        <a:xfrm>
          <a:off x="376840" y="3018130"/>
          <a:ext cx="527577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412" tIns="0" rIns="19941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altLang="en-US" sz="1600" kern="1200"/>
        </a:p>
      </dsp:txBody>
      <dsp:txXfrm>
        <a:off x="399897" y="3041187"/>
        <a:ext cx="522965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696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7967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参考：</a:t>
            </a:r>
            <a:r>
              <a:rPr lang="en-US" altLang="zh-CN" dirty="0"/>
              <a:t>https://www.knime.com/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0" y="0"/>
            <a:ext cx="12196800" cy="2060848"/>
          </a:xfrm>
          <a:prstGeom prst="rect">
            <a:avLst/>
          </a:prstGeom>
        </p:spPr>
      </p:pic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622937" y="2142368"/>
            <a:ext cx="11092068" cy="3446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 algn="ctr"/>
            <a:r>
              <a:rPr lang="en-US" altLang="zh-CN" sz="4000" b="1" dirty="0">
                <a:solidFill>
                  <a:schemeClr val="tx1"/>
                </a:solidFill>
                <a:latin typeface="+mn-ea"/>
                <a:ea typeface="+mn-ea"/>
              </a:rPr>
              <a:t>10.5 </a:t>
            </a:r>
            <a:r>
              <a:rPr lang="zh-CN" altLang="zh-CN" sz="4000" b="1" dirty="0">
                <a:solidFill>
                  <a:schemeClr val="tx1"/>
                </a:solidFill>
                <a:latin typeface="+mn-ea"/>
                <a:ea typeface="+mn-ea"/>
              </a:rPr>
              <a:t>股票价格形态聚类与收益率计算</a:t>
            </a:r>
          </a:p>
          <a:p>
            <a:pPr algn="ctr"/>
            <a:endParaRPr lang="zh-CN" altLang="en-US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-12541" y="2060848"/>
            <a:ext cx="7145630" cy="815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120546" y="2060848"/>
            <a:ext cx="1266711" cy="8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8387259" y="2060848"/>
            <a:ext cx="1265143" cy="81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652403" y="2060848"/>
            <a:ext cx="1266711" cy="815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0919115" y="2060848"/>
            <a:ext cx="1265143" cy="8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爆炸形 2 3"/>
          <p:cNvSpPr/>
          <p:nvPr/>
        </p:nvSpPr>
        <p:spPr>
          <a:xfrm>
            <a:off x="382905" y="613410"/>
            <a:ext cx="2461895" cy="2460625"/>
          </a:xfrm>
          <a:prstGeom prst="irregularSeal2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800">
                <a:sym typeface="+mn-ea"/>
              </a:rPr>
              <a:t>10.5     </a:t>
            </a:r>
            <a:r>
              <a:rPr lang="zh-CN" altLang="en-US" sz="1800">
                <a:sym typeface="+mn-ea"/>
              </a:rPr>
              <a:t>章节目标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773045" y="3181985"/>
            <a:ext cx="62960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smtClean="0">
                <a:ln>
                  <a:noFill/>
                </a:ln>
                <a:effectLst/>
                <a:sym typeface="+mn-ea"/>
              </a:rPr>
              <a:t>为了考察出现的形态是否具有投资意义，我们以每类形态出现后一个月为持有期计算其平均收益率（计算方法：该类形态中的所有股票收益率求平均值），通过计算结果可以了解到那些股票形态后续投资收益较高，从而为投资者提供一定的参考价值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52550" y="121920"/>
            <a:ext cx="3869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accent2"/>
                </a:solidFill>
              </a:rPr>
              <a:t>目录</a:t>
            </a:r>
          </a:p>
        </p:txBody>
      </p:sp>
      <p:graphicFrame>
        <p:nvGraphicFramePr>
          <p:cNvPr id="14" name="图示 13"/>
          <p:cNvGraphicFramePr/>
          <p:nvPr/>
        </p:nvGraphicFramePr>
        <p:xfrm>
          <a:off x="2125345" y="1494790"/>
          <a:ext cx="7536815" cy="44983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2699385" y="4562475"/>
            <a:ext cx="291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10.5.4 </a:t>
            </a:r>
            <a:r>
              <a:rPr lang="zh-CN" altLang="en-US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股票形态图绘制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最频繁值聚类算法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62077" y="1093386"/>
            <a:ext cx="4937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Step1. </a:t>
            </a:r>
            <a:r>
              <a:rPr lang="zh-CN" altLang="en-US" dirty="0" smtClean="0"/>
              <a:t>随机</a:t>
            </a:r>
            <a:r>
              <a:rPr lang="zh-CN" altLang="en-US" dirty="0"/>
              <a:t>初始化</a:t>
            </a:r>
            <a:r>
              <a:rPr lang="en-US" altLang="zh-CN" dirty="0"/>
              <a:t>K</a:t>
            </a:r>
            <a:r>
              <a:rPr lang="zh-CN" altLang="en-US" dirty="0"/>
              <a:t>个聚类中心，即</a:t>
            </a:r>
            <a:r>
              <a:rPr lang="en-US" altLang="zh-CN" dirty="0"/>
              <a:t>K</a:t>
            </a:r>
            <a:r>
              <a:rPr lang="zh-CN" altLang="en-US" dirty="0"/>
              <a:t>个类中心向量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0069" y="2084655"/>
            <a:ext cx="51318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Step2. </a:t>
            </a:r>
            <a:r>
              <a:rPr lang="zh-CN" altLang="zh-CN" dirty="0" smtClean="0"/>
              <a:t>对</a:t>
            </a:r>
            <a:r>
              <a:rPr lang="zh-CN" altLang="zh-CN" dirty="0"/>
              <a:t>每个样本，计算其与各个类中心向量的距离，并将该样本指派给距离最小的类，这里的距离采用海明距离，其计算公式如下：</a:t>
            </a:r>
          </a:p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42835" y="3270311"/>
                <a:ext cx="4392488" cy="734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𝑖𝑗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i="1" smtClean="0">
                                  <a:latin typeface="Cambria Math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,</m:t>
                              </m:r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/>
                                  <a:ea typeface="Cambria Math"/>
                                </a:rPr>
                                <m:t>𝑘𝑗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b="0" i="1" smtClean="0">
                              <a:latin typeface="Cambria Math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b="0" i="1" smtClean="0">
                                  <a:latin typeface="Cambria Math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0, 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如果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𝑘𝑗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altLang="zh-CN" i="1">
                                  <a:latin typeface="Cambria Math"/>
                                </a:rPr>
                                <m:t>, </m:t>
                              </m:r>
                              <m:r>
                                <a:rPr lang="zh-CN" altLang="en-US" i="1">
                                  <a:latin typeface="Cambria Math"/>
                                </a:rPr>
                                <m:t>如果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/>
                                  <a:ea typeface="Cambria Math"/>
                                </a:rPr>
                                <m:t>≠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,</m:t>
                                  </m:r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  <a:ea typeface="Cambria Math"/>
                                    </a:rPr>
                                    <m:t>𝑘𝑗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835" y="3270311"/>
                <a:ext cx="4392488" cy="73475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276650" y="4366845"/>
            <a:ext cx="5414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Step3. </a:t>
            </a:r>
            <a:r>
              <a:rPr lang="zh-CN" altLang="en-US" dirty="0" smtClean="0"/>
              <a:t>更新</a:t>
            </a:r>
            <a:r>
              <a:rPr lang="zh-CN" altLang="en-US" dirty="0"/>
              <a:t>每个类的中心向量，更新的方法为取该类所有样本的特征向量的最频繁值</a:t>
            </a:r>
          </a:p>
        </p:txBody>
      </p:sp>
      <p:sp>
        <p:nvSpPr>
          <p:cNvPr id="11" name="矩形 10"/>
          <p:cNvSpPr/>
          <p:nvPr/>
        </p:nvSpPr>
        <p:spPr>
          <a:xfrm>
            <a:off x="3373338" y="5518973"/>
            <a:ext cx="50779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Step4.</a:t>
            </a:r>
            <a:r>
              <a:rPr lang="zh-CN" altLang="en-US" dirty="0"/>
              <a:t>直到各个类的中心向量不再发生变化为止，并输出类标签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985813" y="1739717"/>
                <a:ext cx="461665" cy="3919790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en-US" dirty="0"/>
                  <a:t>输入：特征数据集，聚类个数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/>
                      </a:rPr>
                      <m:t>𝑘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813" y="1739717"/>
                <a:ext cx="461665" cy="3919790"/>
              </a:xfrm>
              <a:prstGeom prst="rect">
                <a:avLst/>
              </a:prstGeom>
              <a:blipFill rotWithShape="1">
                <a:blip r:embed="rId4"/>
                <a:stretch>
                  <a:fillRect l="-8000" t="-2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317236" y="1681113"/>
                <a:ext cx="461665" cy="3913147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zh-CN" altLang="zh-CN" dirty="0" smtClean="0"/>
                  <a:t>输出：特征数据集及其类标签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𝑘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7236" y="1681113"/>
                <a:ext cx="461665" cy="3913147"/>
              </a:xfrm>
              <a:prstGeom prst="rect">
                <a:avLst/>
              </a:prstGeom>
              <a:blipFill rotWithShape="1">
                <a:blip r:embed="rId5"/>
                <a:stretch>
                  <a:fillRect l="-6579" t="-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16" name="左大括号 15"/>
          <p:cNvSpPr/>
          <p:nvPr/>
        </p:nvSpPr>
        <p:spPr bwMode="auto">
          <a:xfrm>
            <a:off x="1705893" y="1268760"/>
            <a:ext cx="1224136" cy="4573378"/>
          </a:xfrm>
          <a:prstGeom prst="leftBrace">
            <a:avLst/>
          </a:prstGeom>
          <a:noFill/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左大括号 19"/>
          <p:cNvSpPr/>
          <p:nvPr/>
        </p:nvSpPr>
        <p:spPr bwMode="auto">
          <a:xfrm flipH="1">
            <a:off x="8762677" y="1268760"/>
            <a:ext cx="1224136" cy="4573378"/>
          </a:xfrm>
          <a:prstGeom prst="leftBrace">
            <a:avLst/>
          </a:prstGeom>
          <a:noFill/>
          <a:ln w="9525" cap="flat" cmpd="sng" algn="ctr">
            <a:solidFill>
              <a:schemeClr val="tx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1020" y="653415"/>
            <a:ext cx="4526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sym typeface="+mn-ea"/>
              </a:rPr>
              <a:t>定义新的</a:t>
            </a:r>
            <a:r>
              <a:rPr lang="en-US" altLang="zh-CN" dirty="0">
                <a:latin typeface="宋体" panose="02010600030101010101" pitchFamily="2" charset="-122"/>
                <a:sym typeface="+mn-ea"/>
              </a:rPr>
              <a:t>K-</a:t>
            </a:r>
            <a:r>
              <a:rPr lang="zh-CN" altLang="en-US" dirty="0">
                <a:latin typeface="宋体" panose="02010600030101010101" pitchFamily="2" charset="-122"/>
                <a:sym typeface="+mn-ea"/>
              </a:rPr>
              <a:t>均值聚类算法，具体算法如下：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最频繁值聚类算法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5043" y="620688"/>
            <a:ext cx="10015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在</a:t>
            </a:r>
            <a:r>
              <a:rPr lang="en-US" altLang="zh-CN" dirty="0"/>
              <a:t>Python</a:t>
            </a:r>
            <a:r>
              <a:rPr lang="zh-CN" altLang="zh-CN" dirty="0"/>
              <a:t>中没有现成的函数可以调用，故本节给出其函数的具体定义。事实上该函数与</a:t>
            </a:r>
            <a:r>
              <a:rPr lang="en-US" altLang="zh-CN" dirty="0"/>
              <a:t>5.7.1</a:t>
            </a:r>
            <a:r>
              <a:rPr lang="zh-CN" altLang="zh-CN" dirty="0"/>
              <a:t>定义的函数非常类似，下面给出其具体的定义。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50508" y="1196752"/>
            <a:ext cx="22648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 smtClean="0"/>
              <a:t>展示代码：</a:t>
            </a:r>
            <a:endParaRPr lang="zh-CN" altLang="en-US" sz="3600" b="1" i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450" y="1727200"/>
            <a:ext cx="5401945" cy="5059680"/>
          </a:xfrm>
          <a:prstGeom prst="rect">
            <a:avLst/>
          </a:prstGeom>
        </p:spPr>
      </p:pic>
      <p:sp>
        <p:nvSpPr>
          <p:cNvPr id="13" name="任意多边形 12"/>
          <p:cNvSpPr/>
          <p:nvPr/>
        </p:nvSpPr>
        <p:spPr>
          <a:xfrm>
            <a:off x="1141095" y="140335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8240395" y="1492885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最频繁值聚类算法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0508" y="622429"/>
            <a:ext cx="3044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/>
              <a:t>续上</a:t>
            </a:r>
            <a:r>
              <a:rPr lang="zh-CN" altLang="en-US" sz="3600" b="1" i="1" dirty="0" smtClean="0"/>
              <a:t>代码：</a:t>
            </a:r>
            <a:endParaRPr lang="zh-CN" altLang="en-US" sz="3600" b="1" i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6550" y="1125220"/>
            <a:ext cx="6307455" cy="5671820"/>
          </a:xfrm>
          <a:prstGeom prst="rect">
            <a:avLst/>
          </a:prstGeom>
        </p:spPr>
      </p:pic>
      <p:sp>
        <p:nvSpPr>
          <p:cNvPr id="13" name="任意多边形 12"/>
          <p:cNvSpPr/>
          <p:nvPr/>
        </p:nvSpPr>
        <p:spPr>
          <a:xfrm>
            <a:off x="1739900" y="112522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8847455" y="112522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10.5.1 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最频繁值聚类算法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10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0508" y="622429"/>
            <a:ext cx="3044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/>
              <a:t>续上</a:t>
            </a:r>
            <a:r>
              <a:rPr lang="zh-CN" altLang="en-US" sz="3600" b="1" i="1" dirty="0" smtClean="0"/>
              <a:t>代码：</a:t>
            </a:r>
            <a:endParaRPr lang="zh-CN" altLang="en-US" sz="3600" b="1" i="1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895" y="1339215"/>
            <a:ext cx="7129145" cy="2948305"/>
          </a:xfrm>
          <a:prstGeom prst="rect">
            <a:avLst/>
          </a:prstGeom>
        </p:spPr>
      </p:pic>
      <p:sp>
        <p:nvSpPr>
          <p:cNvPr id="13" name="任意多边形 12"/>
          <p:cNvSpPr/>
          <p:nvPr/>
        </p:nvSpPr>
        <p:spPr>
          <a:xfrm>
            <a:off x="1330960" y="91186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任意多边形 3"/>
          <p:cNvSpPr/>
          <p:nvPr/>
        </p:nvSpPr>
        <p:spPr>
          <a:xfrm>
            <a:off x="9311640" y="91186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6"/>
            <a:ext cx="9592151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10.5.2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最频繁值聚类算法的股票价格形态聚类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10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80185" y="1410335"/>
            <a:ext cx="862203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zh-CN" sz="2400" b="0">
                <a:latin typeface="宋体" panose="02010600030101010101" pitchFamily="2" charset="-122"/>
                <a:cs typeface="宋体" panose="02010600030101010101" pitchFamily="2" charset="-122"/>
              </a:rPr>
              <a:t>数据处理</a:t>
            </a:r>
            <a:endParaRPr sz="2400" b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/>
            <a:r>
              <a:rPr sz="2400" b="0">
                <a:latin typeface="宋体" panose="02010600030101010101" pitchFamily="2" charset="-122"/>
                <a:cs typeface="宋体" panose="02010600030101010101" pitchFamily="2" charset="-122"/>
              </a:rPr>
              <a:t>为了后续使用的方便，对形态特征数据Data、关键价格点数据KeyData、关键点价格数据对应的序号数据KeyData_index，都在数据集的最后加上一列，即聚类结果列。添加聚类结果列后，数据集分别记为：Data_c、KeyData_c、KeyData_index_c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45" y="3348355"/>
            <a:ext cx="7583170" cy="1431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类平均收益率的计算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10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763395" y="909320"/>
            <a:ext cx="89134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sz="2400" b="0">
                <a:latin typeface="宋体" panose="02010600030101010101" pitchFamily="2" charset="-122"/>
                <a:cs typeface="宋体" panose="02010600030101010101" pitchFamily="2" charset="-122"/>
              </a:rPr>
              <a:t>根据聚类结果，对每一类股票计算该类股票的平均收益率，持有期为2017-08-01至2017-08-31。示例代码如下：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4365" y="1854200"/>
            <a:ext cx="8103870" cy="4857750"/>
          </a:xfrm>
          <a:prstGeom prst="rect">
            <a:avLst/>
          </a:prstGeom>
        </p:spPr>
      </p:pic>
      <p:sp>
        <p:nvSpPr>
          <p:cNvPr id="11" name="任意多边形 10"/>
          <p:cNvSpPr/>
          <p:nvPr/>
        </p:nvSpPr>
        <p:spPr>
          <a:xfrm>
            <a:off x="886460" y="1854200"/>
            <a:ext cx="734060" cy="4674870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9608185" y="1893570"/>
            <a:ext cx="734060" cy="4674870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2187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类平均收益率的计算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10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50508" y="622429"/>
            <a:ext cx="3044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i="1" dirty="0"/>
              <a:t>续上</a:t>
            </a:r>
            <a:r>
              <a:rPr lang="zh-CN" altLang="en-US" sz="3600" b="1" i="1" dirty="0" smtClean="0"/>
              <a:t>代码：</a:t>
            </a:r>
            <a:endParaRPr lang="zh-CN" altLang="en-US" sz="3600" b="1" i="1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695" y="1268730"/>
            <a:ext cx="7533005" cy="4516120"/>
          </a:xfrm>
          <a:prstGeom prst="rect">
            <a:avLst/>
          </a:prstGeom>
        </p:spPr>
      </p:pic>
      <p:sp>
        <p:nvSpPr>
          <p:cNvPr id="13" name="任意多边形 12"/>
          <p:cNvSpPr/>
          <p:nvPr/>
        </p:nvSpPr>
        <p:spPr>
          <a:xfrm>
            <a:off x="7236460" y="106934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1457960" y="1038860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类平均收益率的计算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10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19" name="图片 1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61702" y="1797368"/>
            <a:ext cx="5274310" cy="32632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19120" y="5407025"/>
            <a:ext cx="6226175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10-6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显示了第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个类的股票平均收益率的计算方法，即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D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中类别为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11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的所有收益率数据的平均值。</a:t>
            </a:r>
            <a:endParaRPr lang="zh-CN" altLang="en-US"/>
          </a:p>
        </p:txBody>
      </p:sp>
      <p:sp>
        <p:nvSpPr>
          <p:cNvPr id="4" name="流程图: 可选过程 3"/>
          <p:cNvSpPr/>
          <p:nvPr/>
        </p:nvSpPr>
        <p:spPr>
          <a:xfrm>
            <a:off x="4794885" y="903605"/>
            <a:ext cx="1728470" cy="558165"/>
          </a:xfrm>
          <a:prstGeom prst="flowChartAlternateProcess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z="1800">
                <a:sym typeface="+mn-ea"/>
              </a:rPr>
              <a:t>结果展示</a:t>
            </a:r>
            <a:endParaRPr lang="zh-CN" altLang="en-US" sz="1800"/>
          </a:p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9265" y="3244850"/>
            <a:ext cx="10972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indent="0"/>
            <a:r>
              <a:rPr lang="zh-CN" altLang="en-US">
                <a:sym typeface="+mn-ea"/>
              </a:rPr>
              <a:t>结果展示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10.5.4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股票形态图绘制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10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10" y="1715770"/>
            <a:ext cx="5559425" cy="4790440"/>
          </a:xfrm>
          <a:prstGeom prst="rect">
            <a:avLst/>
          </a:prstGeom>
        </p:spPr>
      </p:pic>
      <p:sp>
        <p:nvSpPr>
          <p:cNvPr id="4" name="同侧圆角矩形 3"/>
          <p:cNvSpPr/>
          <p:nvPr/>
        </p:nvSpPr>
        <p:spPr>
          <a:xfrm>
            <a:off x="3491865" y="843915"/>
            <a:ext cx="5212080" cy="688975"/>
          </a:xfrm>
          <a:prstGeom prst="round2Same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将得到的数据可视化，方便对股票走势分析，代码如下：</a:t>
            </a:r>
          </a:p>
        </p:txBody>
      </p:sp>
      <p:sp>
        <p:nvSpPr>
          <p:cNvPr id="11" name="任意多边形 10"/>
          <p:cNvSpPr/>
          <p:nvPr/>
        </p:nvSpPr>
        <p:spPr>
          <a:xfrm>
            <a:off x="1955165" y="1212215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9418320" y="1212215"/>
            <a:ext cx="997585" cy="5293995"/>
          </a:xfrm>
          <a:custGeom>
            <a:avLst/>
            <a:gdLst>
              <a:gd name="connisteX0" fmla="*/ 732973 w 997752"/>
              <a:gd name="connsiteY0" fmla="*/ 0 h 5294136"/>
              <a:gd name="connisteX1" fmla="*/ 204653 w 997752"/>
              <a:gd name="connsiteY1" fmla="*/ 1711960 h 5294136"/>
              <a:gd name="connisteX2" fmla="*/ 997133 w 997752"/>
              <a:gd name="connsiteY2" fmla="*/ 2750185 h 5294136"/>
              <a:gd name="connisteX3" fmla="*/ 77653 w 997752"/>
              <a:gd name="connsiteY3" fmla="*/ 5081905 h 5294136"/>
              <a:gd name="connisteX4" fmla="*/ 104958 w 997752"/>
              <a:gd name="connsiteY4" fmla="*/ 5063490 h 529413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997752" h="5294136">
                <a:moveTo>
                  <a:pt x="732974" y="0"/>
                </a:moveTo>
                <a:cubicBezTo>
                  <a:pt x="611689" y="321310"/>
                  <a:pt x="151949" y="1162050"/>
                  <a:pt x="204654" y="1711960"/>
                </a:cubicBezTo>
                <a:cubicBezTo>
                  <a:pt x="257359" y="2261870"/>
                  <a:pt x="1022534" y="2076450"/>
                  <a:pt x="997134" y="2750185"/>
                </a:cubicBezTo>
                <a:cubicBezTo>
                  <a:pt x="971734" y="3423920"/>
                  <a:pt x="256089" y="4618990"/>
                  <a:pt x="77654" y="5081905"/>
                </a:cubicBezTo>
                <a:cubicBezTo>
                  <a:pt x="-100781" y="5544820"/>
                  <a:pt x="80829" y="5113655"/>
                  <a:pt x="104959" y="5063490"/>
                </a:cubicBezTo>
              </a:path>
            </a:pathLst>
          </a:custGeom>
          <a:noFill/>
          <a:ln w="25400" cap="flat" cmpd="dbl" algn="ctr">
            <a:solidFill>
              <a:schemeClr val="accent1">
                <a:shade val="50000"/>
              </a:schemeClr>
            </a:solidFill>
            <a:prstDash val="dashDot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10.5.4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股票形态图绘制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10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368" name="图片 36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36445" y="2052955"/>
            <a:ext cx="3286125" cy="2420620"/>
          </a:xfrm>
          <a:prstGeom prst="rect">
            <a:avLst/>
          </a:prstGeom>
        </p:spPr>
      </p:pic>
      <p:pic>
        <p:nvPicPr>
          <p:cNvPr id="369" name="图片 369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63665" y="1983740"/>
            <a:ext cx="3438525" cy="25590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70125" y="4715510"/>
            <a:ext cx="2679700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ctr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10-7  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1-4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545455" y="4745990"/>
            <a:ext cx="4357370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1600200" algn="ctr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10-8  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5-8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996055" y="1008380"/>
            <a:ext cx="4246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/>
              <a:t>绘图结果展示：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10.5.4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股票形态图绘制   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10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pic>
        <p:nvPicPr>
          <p:cNvPr id="370" name="图片 37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54200" y="937895"/>
            <a:ext cx="3311525" cy="2477135"/>
          </a:xfrm>
          <a:prstGeom prst="rect">
            <a:avLst/>
          </a:prstGeom>
        </p:spPr>
      </p:pic>
      <p:pic>
        <p:nvPicPr>
          <p:cNvPr id="371" name="图片 37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791335" y="3791585"/>
            <a:ext cx="3268345" cy="2432685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755332" y="3481070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1466850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10-9 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9-12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987732" y="3538855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1466850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10-10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13-16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  <p:pic>
        <p:nvPicPr>
          <p:cNvPr id="372" name="图片 372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417945" y="1509078"/>
            <a:ext cx="3677285" cy="27336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716587" y="4580890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1400175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10-11 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17-20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25992" y="6454140"/>
            <a:ext cx="5080000" cy="252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10-10 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类别</a:t>
            </a:r>
            <a:r>
              <a:rPr lang="en-US" sz="1050" b="0">
                <a:latin typeface="Calibri" panose="020F0502020204030204" pitchFamily="34" charset="0"/>
                <a:ea typeface="宋体" panose="02010600030101010101" pitchFamily="2" charset="-122"/>
              </a:rPr>
              <a:t>13-16</a:t>
            </a:r>
            <a:r>
              <a:rPr lang="zh-CN" sz="1050" b="0">
                <a:latin typeface="Calibri" panose="020F0502020204030204" pitchFamily="34" charset="0"/>
                <a:ea typeface="宋体" panose="02010600030101010101" pitchFamily="2" charset="-122"/>
              </a:rPr>
              <a:t>形态走势及收益率情况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577</Words>
  <Application>Microsoft Office PowerPoint</Application>
  <PresentationFormat>自定义</PresentationFormat>
  <Paragraphs>72</Paragraphs>
  <Slides>14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1585</cp:revision>
  <dcterms:created xsi:type="dcterms:W3CDTF">2013-01-25T01:44:00Z</dcterms:created>
  <dcterms:modified xsi:type="dcterms:W3CDTF">2020-01-12T03:59:51Z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