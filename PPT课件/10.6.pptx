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826" r:id="rId2"/>
    <p:sldId id="914" r:id="rId3"/>
    <p:sldId id="828" r:id="rId4"/>
    <p:sldId id="952" r:id="rId5"/>
    <p:sldId id="953" r:id="rId6"/>
    <p:sldId id="955" r:id="rId7"/>
    <p:sldId id="956" r:id="rId8"/>
    <p:sldId id="954" r:id="rId9"/>
    <p:sldId id="957" r:id="rId10"/>
    <p:sldId id="958" r:id="rId11"/>
    <p:sldId id="959" r:id="rId12"/>
    <p:sldId id="962" r:id="rId13"/>
    <p:sldId id="963" r:id="rId14"/>
    <p:sldId id="964" r:id="rId15"/>
    <p:sldId id="965" r:id="rId16"/>
    <p:sldId id="966" r:id="rId17"/>
    <p:sldId id="967" r:id="rId18"/>
  </p:sldIdLst>
  <p:sldSz cx="12196763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尚佳" initials="张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8F8F8"/>
    <a:srgbClr val="17DCF1"/>
    <a:srgbClr val="0DC2D5"/>
    <a:srgbClr val="006BBC"/>
    <a:srgbClr val="00AAA2"/>
    <a:srgbClr val="EFEFEF"/>
    <a:srgbClr val="FFFFFF"/>
    <a:srgbClr val="F0F0F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044" autoAdjust="0"/>
    <p:restoredTop sz="94270" autoAdjust="0"/>
  </p:normalViewPr>
  <p:slideViewPr>
    <p:cSldViewPr snapToObjects="1">
      <p:cViewPr varScale="1">
        <p:scale>
          <a:sx n="89" d="100"/>
          <a:sy n="89" d="100"/>
        </p:scale>
        <p:origin x="-222" y="-108"/>
      </p:cViewPr>
      <p:guideLst>
        <p:guide orient="horz" pos="2143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Objects="1">
      <p:cViewPr varScale="1">
        <p:scale>
          <a:sx n="69" d="100"/>
          <a:sy n="69" d="100"/>
        </p:scale>
        <p:origin x="-283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10686-844B-4A1B-87C8-BB90DB4BA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33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  <a:t>2020/1/12</a:t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661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6170389" y="134946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1"/>
            <a:ext cx="10601349" cy="6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600201"/>
            <a:ext cx="10601349" cy="452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Freeform 5"/>
          <p:cNvSpPr/>
          <p:nvPr userDrawn="1"/>
        </p:nvSpPr>
        <p:spPr bwMode="auto">
          <a:xfrm>
            <a:off x="63836" y="73173"/>
            <a:ext cx="1227153" cy="486467"/>
          </a:xfrm>
          <a:custGeom>
            <a:avLst/>
            <a:gdLst>
              <a:gd name="T0" fmla="*/ 0 w 1600"/>
              <a:gd name="T1" fmla="*/ 0 h 617"/>
              <a:gd name="T2" fmla="*/ 1429 w 1600"/>
              <a:gd name="T3" fmla="*/ 0 h 617"/>
              <a:gd name="T4" fmla="*/ 1600 w 1600"/>
              <a:gd name="T5" fmla="*/ 308 h 617"/>
              <a:gd name="T6" fmla="*/ 1429 w 1600"/>
              <a:gd name="T7" fmla="*/ 617 h 617"/>
              <a:gd name="T8" fmla="*/ 0 w 1600"/>
              <a:gd name="T9" fmla="*/ 617 h 617"/>
              <a:gd name="T10" fmla="*/ 0 w 160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00" h="617">
                <a:moveTo>
                  <a:pt x="0" y="0"/>
                </a:moveTo>
                <a:lnTo>
                  <a:pt x="1429" y="0"/>
                </a:lnTo>
                <a:lnTo>
                  <a:pt x="1600" y="308"/>
                </a:lnTo>
                <a:lnTo>
                  <a:pt x="1429" y="617"/>
                </a:lnTo>
                <a:lnTo>
                  <a:pt x="0" y="6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 userDrawn="1"/>
        </p:nvSpPr>
        <p:spPr bwMode="auto">
          <a:xfrm>
            <a:off x="1196835" y="73173"/>
            <a:ext cx="10215809" cy="486467"/>
          </a:xfrm>
          <a:custGeom>
            <a:avLst/>
            <a:gdLst>
              <a:gd name="T0" fmla="*/ 0 w 13327"/>
              <a:gd name="T1" fmla="*/ 0 h 617"/>
              <a:gd name="T2" fmla="*/ 13155 w 13327"/>
              <a:gd name="T3" fmla="*/ 0 h 617"/>
              <a:gd name="T4" fmla="*/ 13327 w 13327"/>
              <a:gd name="T5" fmla="*/ 308 h 617"/>
              <a:gd name="T6" fmla="*/ 13155 w 13327"/>
              <a:gd name="T7" fmla="*/ 617 h 617"/>
              <a:gd name="T8" fmla="*/ 0 w 13327"/>
              <a:gd name="T9" fmla="*/ 617 h 617"/>
              <a:gd name="T10" fmla="*/ 171 w 13327"/>
              <a:gd name="T11" fmla="*/ 308 h 617"/>
              <a:gd name="T12" fmla="*/ 0 w 13327"/>
              <a:gd name="T13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27" h="617">
                <a:moveTo>
                  <a:pt x="0" y="0"/>
                </a:moveTo>
                <a:lnTo>
                  <a:pt x="13155" y="0"/>
                </a:lnTo>
                <a:lnTo>
                  <a:pt x="13327" y="308"/>
                </a:lnTo>
                <a:lnTo>
                  <a:pt x="13155" y="617"/>
                </a:lnTo>
                <a:lnTo>
                  <a:pt x="0" y="617"/>
                </a:lnTo>
                <a:lnTo>
                  <a:pt x="171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 userDrawn="1"/>
        </p:nvSpPr>
        <p:spPr bwMode="auto">
          <a:xfrm>
            <a:off x="11320057" y="73173"/>
            <a:ext cx="812871" cy="486467"/>
          </a:xfrm>
          <a:custGeom>
            <a:avLst/>
            <a:gdLst>
              <a:gd name="T0" fmla="*/ 0 w 1060"/>
              <a:gd name="T1" fmla="*/ 0 h 617"/>
              <a:gd name="T2" fmla="*/ 1060 w 1060"/>
              <a:gd name="T3" fmla="*/ 0 h 617"/>
              <a:gd name="T4" fmla="*/ 1060 w 1060"/>
              <a:gd name="T5" fmla="*/ 617 h 617"/>
              <a:gd name="T6" fmla="*/ 0 w 1060"/>
              <a:gd name="T7" fmla="*/ 617 h 617"/>
              <a:gd name="T8" fmla="*/ 172 w 1060"/>
              <a:gd name="T9" fmla="*/ 308 h 617"/>
              <a:gd name="T10" fmla="*/ 0 w 106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0" h="617">
                <a:moveTo>
                  <a:pt x="0" y="0"/>
                </a:moveTo>
                <a:lnTo>
                  <a:pt x="1060" y="0"/>
                </a:lnTo>
                <a:lnTo>
                  <a:pt x="1060" y="617"/>
                </a:lnTo>
                <a:lnTo>
                  <a:pt x="0" y="617"/>
                </a:lnTo>
                <a:lnTo>
                  <a:pt x="172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37052" y="116633"/>
            <a:ext cx="474797" cy="353937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algn="ctr"/>
            <a:fld id="{B879B013-EF15-44F9-9A4C-93BE492C244C}" type="slidenum">
              <a:rPr lang="zh-CN" altLang="en-US" sz="1700" smtClean="0">
                <a:solidFill>
                  <a:schemeClr val="accent2"/>
                </a:solidFill>
                <a:latin typeface="+mn-ea"/>
                <a:ea typeface="+mn-ea"/>
              </a:rPr>
              <a:t>‹#›</a:t>
            </a:fld>
            <a:endParaRPr lang="zh-CN" altLang="en-US" sz="17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4" y="4406901"/>
            <a:ext cx="10366375" cy="1362075"/>
          </a:xfrm>
        </p:spPr>
        <p:txBody>
          <a:bodyPr anchor="t"/>
          <a:lstStyle>
            <a:lvl1pPr algn="l">
              <a:defRPr sz="4000" b="1" cap="all">
                <a:solidFill>
                  <a:srgbClr val="F8F8F8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4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8F8F8"/>
                </a:solidFill>
              </a:defRPr>
            </a:lvl1pPr>
            <a:lvl2pPr marL="457200" indent="0">
              <a:buNone/>
              <a:defRPr sz="1700"/>
            </a:lvl2pPr>
            <a:lvl3pPr marL="914400" indent="0">
              <a:buNone/>
              <a:defRPr sz="16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  <a:lvl6pPr marL="2286000" indent="0">
              <a:buNone/>
              <a:defRPr sz="1300"/>
            </a:lvl6pPr>
            <a:lvl7pPr marL="2743200" indent="0">
              <a:buNone/>
              <a:defRPr sz="1300"/>
            </a:lvl7pPr>
            <a:lvl8pPr marL="3200400" indent="0">
              <a:buNone/>
              <a:defRPr sz="1300"/>
            </a:lvl8pPr>
            <a:lvl9pPr marL="3657600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1"/>
            <a:ext cx="54133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5" name="图片 13" descr="泰迪logo无底色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40" y="6309320"/>
            <a:ext cx="918092" cy="24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4637"/>
            <a:ext cx="1097756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956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115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115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49"/>
            <a:ext cx="401320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2"/>
            <a:ext cx="6818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3201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8375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837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8375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2"/>
            <a:ext cx="2743201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908052"/>
            <a:ext cx="8081963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146915" y="2886610"/>
            <a:ext cx="1060349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430462" y="2758265"/>
            <a:ext cx="1096814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0451" y="1447780"/>
            <a:ext cx="3013732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467437" y="3771071"/>
            <a:ext cx="524127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376341" y="2904247"/>
            <a:ext cx="401158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277818" y="2574150"/>
            <a:ext cx="98173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61942" y="3206629"/>
            <a:ext cx="1477636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352404" y="3446015"/>
            <a:ext cx="1834444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9886102" y="2725339"/>
            <a:ext cx="1116793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942801" y="3624922"/>
            <a:ext cx="522112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1254879" y="2365002"/>
            <a:ext cx="52211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54437" y="2795895"/>
            <a:ext cx="1697366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983627" y="2785815"/>
            <a:ext cx="437445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19341" y="3325061"/>
            <a:ext cx="703540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239009" y="2909286"/>
            <a:ext cx="36084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744990" y="3446014"/>
            <a:ext cx="282222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908051"/>
            <a:ext cx="1097756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/>
          <a:p>
            <a:pPr lvl="0"/>
            <a:r>
              <a:rPr lang="zh-CN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600201"/>
            <a:ext cx="1097756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1"/>
          </a:solidFill>
          <a:latin typeface="+mn-lt"/>
          <a:ea typeface="仿宋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0" y="2454498"/>
            <a:ext cx="12196800" cy="4403503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4947444" y="1328709"/>
            <a:ext cx="2301875" cy="2308227"/>
            <a:chOff x="6609209" y="790981"/>
            <a:chExt cx="2301875" cy="2308226"/>
          </a:xfrm>
        </p:grpSpPr>
        <p:sp>
          <p:nvSpPr>
            <p:cNvPr id="9" name="Oval 5"/>
            <p:cNvSpPr>
              <a:spLocks noChangeArrowheads="1"/>
            </p:cNvSpPr>
            <p:nvPr/>
          </p:nvSpPr>
          <p:spPr bwMode="auto">
            <a:xfrm>
              <a:off x="6609209" y="790981"/>
              <a:ext cx="2301875" cy="23082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6"/>
            <p:cNvSpPr>
              <a:spLocks noEditPoints="1"/>
            </p:cNvSpPr>
            <p:nvPr/>
          </p:nvSpPr>
          <p:spPr bwMode="auto">
            <a:xfrm>
              <a:off x="6733034" y="914806"/>
              <a:ext cx="2054225" cy="2058988"/>
            </a:xfrm>
            <a:custGeom>
              <a:avLst/>
              <a:gdLst>
                <a:gd name="T0" fmla="*/ 1653 w 3306"/>
                <a:gd name="T1" fmla="*/ 0 h 3306"/>
                <a:gd name="T2" fmla="*/ 3306 w 3306"/>
                <a:gd name="T3" fmla="*/ 1653 h 3306"/>
                <a:gd name="T4" fmla="*/ 1653 w 3306"/>
                <a:gd name="T5" fmla="*/ 3306 h 3306"/>
                <a:gd name="T6" fmla="*/ 0 w 3306"/>
                <a:gd name="T7" fmla="*/ 1653 h 3306"/>
                <a:gd name="T8" fmla="*/ 1653 w 3306"/>
                <a:gd name="T9" fmla="*/ 0 h 3306"/>
                <a:gd name="T10" fmla="*/ 1653 w 3306"/>
                <a:gd name="T11" fmla="*/ 112 h 3306"/>
                <a:gd name="T12" fmla="*/ 3193 w 3306"/>
                <a:gd name="T13" fmla="*/ 1653 h 3306"/>
                <a:gd name="T14" fmla="*/ 1653 w 3306"/>
                <a:gd name="T15" fmla="*/ 3193 h 3306"/>
                <a:gd name="T16" fmla="*/ 112 w 3306"/>
                <a:gd name="T17" fmla="*/ 1653 h 3306"/>
                <a:gd name="T18" fmla="*/ 1653 w 3306"/>
                <a:gd name="T19" fmla="*/ 112 h 3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06" h="3306">
                  <a:moveTo>
                    <a:pt x="1653" y="0"/>
                  </a:moveTo>
                  <a:cubicBezTo>
                    <a:pt x="2565" y="0"/>
                    <a:pt x="3306" y="740"/>
                    <a:pt x="3306" y="1653"/>
                  </a:cubicBezTo>
                  <a:cubicBezTo>
                    <a:pt x="3306" y="2565"/>
                    <a:pt x="2565" y="3306"/>
                    <a:pt x="1653" y="3306"/>
                  </a:cubicBezTo>
                  <a:cubicBezTo>
                    <a:pt x="740" y="3306"/>
                    <a:pt x="0" y="2565"/>
                    <a:pt x="0" y="1653"/>
                  </a:cubicBezTo>
                  <a:cubicBezTo>
                    <a:pt x="0" y="740"/>
                    <a:pt x="740" y="0"/>
                    <a:pt x="1653" y="0"/>
                  </a:cubicBezTo>
                  <a:close/>
                  <a:moveTo>
                    <a:pt x="1653" y="112"/>
                  </a:moveTo>
                  <a:cubicBezTo>
                    <a:pt x="2503" y="112"/>
                    <a:pt x="3193" y="802"/>
                    <a:pt x="3193" y="1653"/>
                  </a:cubicBezTo>
                  <a:cubicBezTo>
                    <a:pt x="3193" y="2503"/>
                    <a:pt x="2503" y="3193"/>
                    <a:pt x="1653" y="3193"/>
                  </a:cubicBezTo>
                  <a:cubicBezTo>
                    <a:pt x="802" y="3193"/>
                    <a:pt x="112" y="2503"/>
                    <a:pt x="112" y="1653"/>
                  </a:cubicBezTo>
                  <a:cubicBezTo>
                    <a:pt x="112" y="802"/>
                    <a:pt x="802" y="112"/>
                    <a:pt x="1653" y="11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993925" y="3769183"/>
            <a:ext cx="8402409" cy="83099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ctr"/>
            <a:r>
              <a:rPr lang="en-US" altLang="zh-CN" sz="48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10.6 </a:t>
            </a:r>
            <a:r>
              <a:rPr lang="zh-CN" altLang="en-US" sz="48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量化</a:t>
            </a:r>
            <a:r>
              <a:rPr lang="zh-CN" altLang="en-US" sz="4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投资策略设计与分析</a:t>
            </a:r>
          </a:p>
        </p:txBody>
      </p:sp>
      <p:cxnSp>
        <p:nvCxnSpPr>
          <p:cNvPr id="14" name="直接连接符 13"/>
          <p:cNvCxnSpPr/>
          <p:nvPr/>
        </p:nvCxnSpPr>
        <p:spPr bwMode="auto">
          <a:xfrm>
            <a:off x="2641998" y="4570915"/>
            <a:ext cx="691276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Freeform 12"/>
          <p:cNvSpPr>
            <a:spLocks noEditPoints="1"/>
          </p:cNvSpPr>
          <p:nvPr/>
        </p:nvSpPr>
        <p:spPr bwMode="auto">
          <a:xfrm>
            <a:off x="5517801" y="1904686"/>
            <a:ext cx="1161161" cy="1156273"/>
          </a:xfrm>
          <a:custGeom>
            <a:avLst/>
            <a:gdLst>
              <a:gd name="T0" fmla="*/ 862 w 954"/>
              <a:gd name="T1" fmla="*/ 813 h 944"/>
              <a:gd name="T2" fmla="*/ 763 w 954"/>
              <a:gd name="T3" fmla="*/ 813 h 944"/>
              <a:gd name="T4" fmla="*/ 625 w 954"/>
              <a:gd name="T5" fmla="*/ 549 h 944"/>
              <a:gd name="T6" fmla="*/ 611 w 954"/>
              <a:gd name="T7" fmla="*/ 601 h 944"/>
              <a:gd name="T8" fmla="*/ 535 w 954"/>
              <a:gd name="T9" fmla="*/ 658 h 944"/>
              <a:gd name="T10" fmla="*/ 782 w 954"/>
              <a:gd name="T11" fmla="*/ 932 h 944"/>
              <a:gd name="T12" fmla="*/ 941 w 954"/>
              <a:gd name="T13" fmla="*/ 826 h 944"/>
              <a:gd name="T14" fmla="*/ 824 w 954"/>
              <a:gd name="T15" fmla="*/ 704 h 944"/>
              <a:gd name="T16" fmla="*/ 650 w 954"/>
              <a:gd name="T17" fmla="*/ 561 h 944"/>
              <a:gd name="T18" fmla="*/ 345 w 954"/>
              <a:gd name="T19" fmla="*/ 335 h 944"/>
              <a:gd name="T20" fmla="*/ 397 w 954"/>
              <a:gd name="T21" fmla="*/ 321 h 944"/>
              <a:gd name="T22" fmla="*/ 411 w 954"/>
              <a:gd name="T23" fmla="*/ 269 h 944"/>
              <a:gd name="T24" fmla="*/ 423 w 954"/>
              <a:gd name="T25" fmla="*/ 221 h 944"/>
              <a:gd name="T26" fmla="*/ 184 w 954"/>
              <a:gd name="T27" fmla="*/ 21 h 944"/>
              <a:gd name="T28" fmla="*/ 151 w 954"/>
              <a:gd name="T29" fmla="*/ 267 h 944"/>
              <a:gd name="T30" fmla="*/ 1 w 954"/>
              <a:gd name="T31" fmla="*/ 204 h 944"/>
              <a:gd name="T32" fmla="*/ 284 w 954"/>
              <a:gd name="T33" fmla="*/ 406 h 944"/>
              <a:gd name="T34" fmla="*/ 320 w 954"/>
              <a:gd name="T35" fmla="*/ 360 h 944"/>
              <a:gd name="T36" fmla="*/ 920 w 954"/>
              <a:gd name="T37" fmla="*/ 91 h 944"/>
              <a:gd name="T38" fmla="*/ 791 w 954"/>
              <a:gd name="T39" fmla="*/ 0 h 944"/>
              <a:gd name="T40" fmla="*/ 448 w 954"/>
              <a:gd name="T41" fmla="*/ 306 h 944"/>
              <a:gd name="T42" fmla="*/ 399 w 954"/>
              <a:gd name="T43" fmla="*/ 376 h 944"/>
              <a:gd name="T44" fmla="*/ 357 w 954"/>
              <a:gd name="T45" fmla="*/ 397 h 944"/>
              <a:gd name="T46" fmla="*/ 362 w 954"/>
              <a:gd name="T47" fmla="*/ 527 h 944"/>
              <a:gd name="T48" fmla="*/ 85 w 954"/>
              <a:gd name="T49" fmla="*/ 768 h 944"/>
              <a:gd name="T50" fmla="*/ 55 w 954"/>
              <a:gd name="T51" fmla="*/ 944 h 944"/>
              <a:gd name="T52" fmla="*/ 198 w 954"/>
              <a:gd name="T53" fmla="*/ 800 h 944"/>
              <a:gd name="T54" fmla="*/ 423 w 954"/>
              <a:gd name="T55" fmla="*/ 588 h 944"/>
              <a:gd name="T56" fmla="*/ 549 w 954"/>
              <a:gd name="T57" fmla="*/ 588 h 944"/>
              <a:gd name="T58" fmla="*/ 585 w 954"/>
              <a:gd name="T59" fmla="*/ 509 h 944"/>
              <a:gd name="T60" fmla="*/ 639 w 954"/>
              <a:gd name="T61" fmla="*/ 498 h 944"/>
              <a:gd name="T62" fmla="*/ 920 w 954"/>
              <a:gd name="T63" fmla="*/ 91 h 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54" h="944">
                <a:moveTo>
                  <a:pt x="813" y="764"/>
                </a:moveTo>
                <a:cubicBezTo>
                  <a:pt x="840" y="764"/>
                  <a:pt x="862" y="786"/>
                  <a:pt x="862" y="813"/>
                </a:cubicBezTo>
                <a:cubicBezTo>
                  <a:pt x="862" y="841"/>
                  <a:pt x="840" y="863"/>
                  <a:pt x="813" y="863"/>
                </a:cubicBezTo>
                <a:cubicBezTo>
                  <a:pt x="786" y="863"/>
                  <a:pt x="763" y="841"/>
                  <a:pt x="763" y="813"/>
                </a:cubicBezTo>
                <a:cubicBezTo>
                  <a:pt x="763" y="786"/>
                  <a:pt x="786" y="764"/>
                  <a:pt x="813" y="764"/>
                </a:cubicBezTo>
                <a:close/>
                <a:moveTo>
                  <a:pt x="625" y="549"/>
                </a:moveTo>
                <a:lnTo>
                  <a:pt x="637" y="574"/>
                </a:lnTo>
                <a:lnTo>
                  <a:pt x="611" y="601"/>
                </a:lnTo>
                <a:lnTo>
                  <a:pt x="586" y="625"/>
                </a:lnTo>
                <a:cubicBezTo>
                  <a:pt x="571" y="640"/>
                  <a:pt x="554" y="651"/>
                  <a:pt x="535" y="658"/>
                </a:cubicBezTo>
                <a:lnTo>
                  <a:pt x="703" y="826"/>
                </a:lnTo>
                <a:lnTo>
                  <a:pt x="782" y="932"/>
                </a:lnTo>
                <a:lnTo>
                  <a:pt x="824" y="943"/>
                </a:lnTo>
                <a:lnTo>
                  <a:pt x="941" y="826"/>
                </a:lnTo>
                <a:lnTo>
                  <a:pt x="930" y="783"/>
                </a:lnTo>
                <a:lnTo>
                  <a:pt x="824" y="704"/>
                </a:lnTo>
                <a:lnTo>
                  <a:pt x="666" y="546"/>
                </a:lnTo>
                <a:lnTo>
                  <a:pt x="650" y="561"/>
                </a:lnTo>
                <a:lnTo>
                  <a:pt x="625" y="549"/>
                </a:lnTo>
                <a:close/>
                <a:moveTo>
                  <a:pt x="345" y="335"/>
                </a:moveTo>
                <a:lnTo>
                  <a:pt x="372" y="308"/>
                </a:lnTo>
                <a:lnTo>
                  <a:pt x="397" y="321"/>
                </a:lnTo>
                <a:lnTo>
                  <a:pt x="384" y="296"/>
                </a:lnTo>
                <a:lnTo>
                  <a:pt x="411" y="269"/>
                </a:lnTo>
                <a:lnTo>
                  <a:pt x="414" y="266"/>
                </a:lnTo>
                <a:cubicBezTo>
                  <a:pt x="420" y="251"/>
                  <a:pt x="423" y="235"/>
                  <a:pt x="423" y="221"/>
                </a:cubicBezTo>
                <a:cubicBezTo>
                  <a:pt x="423" y="108"/>
                  <a:pt x="316" y="0"/>
                  <a:pt x="204" y="1"/>
                </a:cubicBezTo>
                <a:cubicBezTo>
                  <a:pt x="203" y="1"/>
                  <a:pt x="191" y="14"/>
                  <a:pt x="184" y="21"/>
                </a:cubicBezTo>
                <a:cubicBezTo>
                  <a:pt x="274" y="111"/>
                  <a:pt x="266" y="96"/>
                  <a:pt x="266" y="151"/>
                </a:cubicBezTo>
                <a:cubicBezTo>
                  <a:pt x="266" y="196"/>
                  <a:pt x="195" y="267"/>
                  <a:pt x="151" y="267"/>
                </a:cubicBezTo>
                <a:cubicBezTo>
                  <a:pt x="94" y="267"/>
                  <a:pt x="112" y="276"/>
                  <a:pt x="20" y="184"/>
                </a:cubicBezTo>
                <a:cubicBezTo>
                  <a:pt x="13" y="191"/>
                  <a:pt x="1" y="204"/>
                  <a:pt x="1" y="204"/>
                </a:cubicBezTo>
                <a:cubicBezTo>
                  <a:pt x="2" y="316"/>
                  <a:pt x="108" y="424"/>
                  <a:pt x="220" y="424"/>
                </a:cubicBezTo>
                <a:cubicBezTo>
                  <a:pt x="240" y="424"/>
                  <a:pt x="262" y="417"/>
                  <a:pt x="284" y="406"/>
                </a:cubicBezTo>
                <a:lnTo>
                  <a:pt x="288" y="411"/>
                </a:lnTo>
                <a:cubicBezTo>
                  <a:pt x="295" y="392"/>
                  <a:pt x="305" y="375"/>
                  <a:pt x="320" y="360"/>
                </a:cubicBezTo>
                <a:lnTo>
                  <a:pt x="345" y="335"/>
                </a:lnTo>
                <a:close/>
                <a:moveTo>
                  <a:pt x="920" y="91"/>
                </a:moveTo>
                <a:lnTo>
                  <a:pt x="854" y="26"/>
                </a:lnTo>
                <a:cubicBezTo>
                  <a:pt x="837" y="9"/>
                  <a:pt x="814" y="0"/>
                  <a:pt x="791" y="0"/>
                </a:cubicBezTo>
                <a:cubicBezTo>
                  <a:pt x="768" y="0"/>
                  <a:pt x="746" y="9"/>
                  <a:pt x="728" y="26"/>
                </a:cubicBezTo>
                <a:lnTo>
                  <a:pt x="448" y="306"/>
                </a:lnTo>
                <a:cubicBezTo>
                  <a:pt x="457" y="323"/>
                  <a:pt x="450" y="348"/>
                  <a:pt x="437" y="361"/>
                </a:cubicBezTo>
                <a:cubicBezTo>
                  <a:pt x="428" y="370"/>
                  <a:pt x="413" y="376"/>
                  <a:pt x="399" y="376"/>
                </a:cubicBezTo>
                <a:cubicBezTo>
                  <a:pt x="393" y="376"/>
                  <a:pt x="387" y="375"/>
                  <a:pt x="382" y="372"/>
                </a:cubicBezTo>
                <a:lnTo>
                  <a:pt x="357" y="397"/>
                </a:lnTo>
                <a:cubicBezTo>
                  <a:pt x="323" y="432"/>
                  <a:pt x="323" y="488"/>
                  <a:pt x="357" y="523"/>
                </a:cubicBezTo>
                <a:lnTo>
                  <a:pt x="362" y="527"/>
                </a:lnTo>
                <a:lnTo>
                  <a:pt x="143" y="746"/>
                </a:lnTo>
                <a:lnTo>
                  <a:pt x="85" y="768"/>
                </a:lnTo>
                <a:lnTo>
                  <a:pt x="0" y="889"/>
                </a:lnTo>
                <a:lnTo>
                  <a:pt x="55" y="944"/>
                </a:lnTo>
                <a:lnTo>
                  <a:pt x="176" y="859"/>
                </a:lnTo>
                <a:lnTo>
                  <a:pt x="198" y="800"/>
                </a:lnTo>
                <a:lnTo>
                  <a:pt x="416" y="582"/>
                </a:lnTo>
                <a:lnTo>
                  <a:pt x="423" y="588"/>
                </a:lnTo>
                <a:cubicBezTo>
                  <a:pt x="440" y="606"/>
                  <a:pt x="463" y="614"/>
                  <a:pt x="486" y="614"/>
                </a:cubicBezTo>
                <a:cubicBezTo>
                  <a:pt x="509" y="614"/>
                  <a:pt x="531" y="606"/>
                  <a:pt x="549" y="588"/>
                </a:cubicBezTo>
                <a:lnTo>
                  <a:pt x="574" y="564"/>
                </a:lnTo>
                <a:cubicBezTo>
                  <a:pt x="565" y="547"/>
                  <a:pt x="572" y="522"/>
                  <a:pt x="585" y="509"/>
                </a:cubicBezTo>
                <a:cubicBezTo>
                  <a:pt x="594" y="500"/>
                  <a:pt x="609" y="494"/>
                  <a:pt x="622" y="494"/>
                </a:cubicBezTo>
                <a:cubicBezTo>
                  <a:pt x="629" y="494"/>
                  <a:pt x="634" y="495"/>
                  <a:pt x="639" y="498"/>
                </a:cubicBezTo>
                <a:lnTo>
                  <a:pt x="920" y="217"/>
                </a:lnTo>
                <a:cubicBezTo>
                  <a:pt x="954" y="183"/>
                  <a:pt x="954" y="126"/>
                  <a:pt x="920" y="9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6" name="Oval 39"/>
          <p:cNvSpPr>
            <a:spLocks noChangeAspect="1" noChangeArrowheads="1"/>
          </p:cNvSpPr>
          <p:nvPr/>
        </p:nvSpPr>
        <p:spPr bwMode="auto">
          <a:xfrm>
            <a:off x="3290069" y="4928481"/>
            <a:ext cx="216000" cy="217227"/>
          </a:xfrm>
          <a:prstGeom prst="ellipse">
            <a:avLst/>
          </a:prstGeom>
          <a:solidFill>
            <a:schemeClr val="tx1"/>
          </a:solidFill>
          <a:ln w="28575" cap="flat">
            <a:solidFill>
              <a:schemeClr val="accent2"/>
            </a:solidFill>
            <a:prstDash val="solid"/>
            <a:miter lim="800000"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19" name="Oval 42"/>
          <p:cNvSpPr>
            <a:spLocks noChangeAspect="1" noChangeArrowheads="1"/>
          </p:cNvSpPr>
          <p:nvPr/>
        </p:nvSpPr>
        <p:spPr bwMode="auto">
          <a:xfrm>
            <a:off x="6480944" y="4947042"/>
            <a:ext cx="216000" cy="217227"/>
          </a:xfrm>
          <a:prstGeom prst="ellipse">
            <a:avLst/>
          </a:prstGeom>
          <a:solidFill>
            <a:schemeClr val="tx1"/>
          </a:solidFill>
          <a:ln w="28575" cap="flat">
            <a:solidFill>
              <a:schemeClr val="accent2"/>
            </a:solidFill>
            <a:prstDash val="solid"/>
            <a:miter lim="800000"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33935" y="4855189"/>
            <a:ext cx="3045027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n-ea"/>
                <a:ea typeface="+mn-ea"/>
              </a:rPr>
              <a:t>函数定义及使用方法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8461" y="4779161"/>
            <a:ext cx="3234712" cy="553992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z="2000" dirty="0">
                <a:solidFill>
                  <a:schemeClr val="accent2"/>
                </a:solidFill>
              </a:rPr>
              <a:t>训练样本与预测样本的构建</a:t>
            </a:r>
          </a:p>
        </p:txBody>
      </p:sp>
      <p:sp>
        <p:nvSpPr>
          <p:cNvPr id="15" name="Oval 39"/>
          <p:cNvSpPr>
            <a:spLocks noChangeAspect="1" noChangeArrowheads="1"/>
          </p:cNvSpPr>
          <p:nvPr/>
        </p:nvSpPr>
        <p:spPr bwMode="auto">
          <a:xfrm>
            <a:off x="3290069" y="5432434"/>
            <a:ext cx="216000" cy="217227"/>
          </a:xfrm>
          <a:prstGeom prst="ellipse">
            <a:avLst/>
          </a:prstGeom>
          <a:solidFill>
            <a:schemeClr val="tx1"/>
          </a:solidFill>
          <a:ln w="28575" cap="flat">
            <a:solidFill>
              <a:schemeClr val="accent2"/>
            </a:solidFill>
            <a:prstDash val="solid"/>
            <a:miter lim="800000"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78639" y="5333152"/>
            <a:ext cx="5544616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n-ea"/>
                <a:ea typeface="+mn-ea"/>
              </a:rPr>
              <a:t>量化策略投资设计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10.6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量化投资策略设计与分析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10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文本框 7"/>
          <p:cNvSpPr txBox="1">
            <a:spLocks noChangeArrowheads="1"/>
          </p:cNvSpPr>
          <p:nvPr/>
        </p:nvSpPr>
        <p:spPr bwMode="auto">
          <a:xfrm>
            <a:off x="895121" y="1085835"/>
            <a:ext cx="10315828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上一节利用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K-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最频繁值聚类算法对候选的股票进行了形态聚类分析，取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K=20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，即聚为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20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类，事实上我们也可以根据业务的需要设置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的值。通过形态聚类和类平均收益率的计算，可以发现某些形态获得了较好的收益，即对投资具有较好的实践价值，那么如何利用这些形态来设计量化投资策略呢？本节首先将前面两节介绍的形态特征提取、聚类与收益率计算、图形绘制定义为函数的形式；其次调用定义的函数，获得类平均收益率排名前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5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的形态类别，将这些类别的所有股票记为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+1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，否则记为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-1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，以此作为训练样本，并转化为分类问题，其中自变量为股票形态特征数据，因变量（分类变量）为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+1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或者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-1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标签，这里分类模型采用支持向量机模型；最后取定周期计算股票形态特征数据，利用训练后的支持向量机模型进行预测，如果预测结果为</a:t>
            </a:r>
            <a:r>
              <a:rPr kumimoji="0"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+1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，表示该种股票形态在未来一个月内可能取得较好的收益，即设计其量化投资策略：以未来一个月内期初收盘价买入，期末收盘价卖出，计算其投资收益。下面将给出具体的实现方法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1475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10.6.1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函数定义及使用方法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10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8911" y="617838"/>
            <a:ext cx="11017224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将以上介绍的股票价格形态特征提取、形态特征聚类与收益率计算、形态绘图分别定义为三个函数</a:t>
            </a:r>
            <a:r>
              <a:rPr lang="en-US" altLang="zh-CN" sz="2000" dirty="0"/>
              <a:t>FR1</a:t>
            </a:r>
            <a:r>
              <a:rPr lang="zh-CN" altLang="zh-CN" sz="2000" dirty="0"/>
              <a:t>、</a:t>
            </a:r>
            <a:r>
              <a:rPr lang="en-US" altLang="zh-CN" sz="2000" dirty="0"/>
              <a:t>FR2</a:t>
            </a:r>
            <a:r>
              <a:rPr lang="zh-CN" altLang="zh-CN" sz="2000" dirty="0"/>
              <a:t>、</a:t>
            </a:r>
            <a:r>
              <a:rPr lang="en-US" altLang="zh-CN" sz="2000" dirty="0" err="1"/>
              <a:t>huitu</a:t>
            </a:r>
            <a:r>
              <a:rPr lang="zh-CN" altLang="zh-CN" sz="2000" dirty="0"/>
              <a:t>，其函数定义示例代码如下：</a:t>
            </a:r>
          </a:p>
          <a:p>
            <a:r>
              <a:rPr lang="en-US" altLang="zh-CN" sz="2000" dirty="0"/>
              <a:t>def FR1(DA,t_trd1,t_trd2,num):</a:t>
            </a:r>
            <a:endParaRPr lang="zh-CN" altLang="zh-CN" sz="2000" dirty="0"/>
          </a:p>
          <a:p>
            <a:r>
              <a:rPr lang="en-US" altLang="zh-CN" sz="2000" dirty="0"/>
              <a:t>   #</a:t>
            </a:r>
            <a:r>
              <a:rPr lang="zh-CN" altLang="zh-CN" sz="2000" dirty="0"/>
              <a:t>输入：</a:t>
            </a:r>
          </a:p>
          <a:p>
            <a:r>
              <a:rPr lang="en-US" altLang="zh-CN" sz="2000" dirty="0"/>
              <a:t>   #DA--2017</a:t>
            </a:r>
            <a:r>
              <a:rPr lang="zh-CN" altLang="zh-CN" sz="2000" dirty="0"/>
              <a:t>年股票交易数据</a:t>
            </a:r>
          </a:p>
          <a:p>
            <a:r>
              <a:rPr lang="en-US" altLang="zh-CN" sz="2000" dirty="0"/>
              <a:t>   #t_trd1--</a:t>
            </a:r>
            <a:r>
              <a:rPr lang="zh-CN" altLang="zh-CN" sz="2000" dirty="0"/>
              <a:t>聚类数据区间开始日期</a:t>
            </a:r>
          </a:p>
          <a:p>
            <a:r>
              <a:rPr lang="en-US" altLang="zh-CN" sz="2000" dirty="0"/>
              <a:t>   #t_trd2--</a:t>
            </a:r>
            <a:r>
              <a:rPr lang="zh-CN" altLang="zh-CN" sz="2000" dirty="0"/>
              <a:t>聚类数据区间结束日期</a:t>
            </a:r>
          </a:p>
          <a:p>
            <a:r>
              <a:rPr lang="en-US" altLang="zh-CN" sz="2000" dirty="0"/>
              <a:t>   #num--</a:t>
            </a:r>
            <a:r>
              <a:rPr lang="zh-CN" altLang="zh-CN" sz="2000" dirty="0"/>
              <a:t>基于总体规模与投资效率指标的综合评价方法提取样本个数</a:t>
            </a:r>
          </a:p>
          <a:p>
            <a:r>
              <a:rPr lang="en-US" altLang="zh-CN" sz="2000" dirty="0"/>
              <a:t>   #</a:t>
            </a:r>
            <a:r>
              <a:rPr lang="zh-CN" altLang="zh-CN" sz="2000" dirty="0"/>
              <a:t>输出：</a:t>
            </a:r>
          </a:p>
          <a:p>
            <a:r>
              <a:rPr lang="en-US" altLang="zh-CN" sz="2000" dirty="0"/>
              <a:t>   #Data--</a:t>
            </a:r>
            <a:r>
              <a:rPr lang="zh-CN" altLang="zh-CN" sz="2000" dirty="0"/>
              <a:t>形态特征数据</a:t>
            </a:r>
            <a:endParaRPr lang="en-US" altLang="zh-CN" sz="2000" dirty="0"/>
          </a:p>
          <a:p>
            <a:r>
              <a:rPr lang="en-US" altLang="zh-CN" sz="2000" dirty="0"/>
              <a:t>  #</a:t>
            </a:r>
            <a:r>
              <a:rPr lang="en-US" altLang="zh-CN" sz="2000" dirty="0" err="1"/>
              <a:t>KeyData</a:t>
            </a:r>
            <a:r>
              <a:rPr lang="en-US" altLang="zh-CN" sz="2000" dirty="0"/>
              <a:t>--</a:t>
            </a:r>
            <a:r>
              <a:rPr lang="zh-CN" altLang="zh-CN" sz="2000" dirty="0"/>
              <a:t>关键价格点数据</a:t>
            </a:r>
          </a:p>
          <a:p>
            <a:r>
              <a:rPr lang="en-US" altLang="zh-CN" sz="2000" dirty="0"/>
              <a:t>   #</a:t>
            </a:r>
            <a:r>
              <a:rPr lang="en-US" altLang="zh-CN" sz="2000" dirty="0" err="1"/>
              <a:t>KeyData_index</a:t>
            </a:r>
            <a:r>
              <a:rPr lang="en-US" altLang="zh-CN" sz="2000" dirty="0"/>
              <a:t>--</a:t>
            </a:r>
            <a:r>
              <a:rPr lang="zh-CN" altLang="zh-CN" sz="2000" dirty="0"/>
              <a:t>关键价格点对应序号</a:t>
            </a:r>
          </a:p>
          <a:p>
            <a:r>
              <a:rPr lang="en-US" altLang="zh-CN" sz="2000" dirty="0"/>
              <a:t>   import pandas as pd    </a:t>
            </a:r>
            <a:endParaRPr lang="zh-CN" altLang="zh-CN" sz="2000" dirty="0"/>
          </a:p>
          <a:p>
            <a:r>
              <a:rPr lang="en-US" altLang="zh-CN" sz="2000" dirty="0"/>
              <a:t>   import fun</a:t>
            </a:r>
            <a:endParaRPr lang="zh-CN" altLang="zh-CN" sz="2000" dirty="0"/>
          </a:p>
          <a:p>
            <a:r>
              <a:rPr lang="en-US" altLang="zh-CN" sz="2000" dirty="0"/>
              <a:t>   import df</a:t>
            </a:r>
            <a:endParaRPr lang="zh-CN" altLang="zh-CN" sz="2000" dirty="0"/>
          </a:p>
          <a:p>
            <a:r>
              <a:rPr lang="en-US" altLang="zh-CN" sz="2000" dirty="0"/>
              <a:t>   import </a:t>
            </a:r>
            <a:r>
              <a:rPr lang="en-US" altLang="zh-CN" sz="2000" dirty="0" err="1"/>
              <a:t>numpy</a:t>
            </a:r>
            <a:r>
              <a:rPr lang="en-US" altLang="zh-CN" sz="2000" dirty="0"/>
              <a:t> as np</a:t>
            </a:r>
            <a:endParaRPr lang="zh-CN" altLang="zh-CN" sz="2000" dirty="0"/>
          </a:p>
          <a:p>
            <a:r>
              <a:rPr lang="en-US" altLang="zh-CN" sz="2000" dirty="0"/>
              <a:t>   </a:t>
            </a:r>
            <a:r>
              <a:rPr lang="en-US" altLang="zh-CN" sz="2000" dirty="0" err="1"/>
              <a:t>dta</a:t>
            </a:r>
            <a:r>
              <a:rPr lang="en-US" altLang="zh-CN" sz="2000" dirty="0"/>
              <a:t>=</a:t>
            </a:r>
            <a:r>
              <a:rPr lang="en-US" altLang="zh-CN" sz="2000" dirty="0" err="1"/>
              <a:t>pd.read_excel</a:t>
            </a:r>
            <a:r>
              <a:rPr lang="en-US" altLang="zh-CN" sz="2000" dirty="0"/>
              <a:t>('ddata.xlsx')</a:t>
            </a:r>
            <a:endParaRPr lang="zh-CN" altLang="zh-CN" sz="2000" dirty="0"/>
          </a:p>
          <a:p>
            <a:r>
              <a:rPr lang="en-US" altLang="zh-CN" sz="2000" dirty="0"/>
              <a:t>   r=</a:t>
            </a:r>
            <a:r>
              <a:rPr lang="en-US" altLang="zh-CN" sz="2000" dirty="0" err="1"/>
              <a:t>fun.Fr</a:t>
            </a:r>
            <a:r>
              <a:rPr lang="en-US" altLang="zh-CN" sz="2000" dirty="0"/>
              <a:t>(dta,'2016')</a:t>
            </a:r>
            <a:endParaRPr lang="zh-CN" altLang="zh-CN" sz="2000" dirty="0"/>
          </a:p>
          <a:p>
            <a:r>
              <a:rPr lang="en-US" altLang="zh-CN" sz="2000" dirty="0"/>
              <a:t>   c=r[0]</a:t>
            </a:r>
            <a:endParaRPr lang="zh-CN" altLang="zh-CN" sz="2000" dirty="0"/>
          </a:p>
          <a:p>
            <a:r>
              <a:rPr lang="en-US" altLang="zh-CN" sz="2000" dirty="0"/>
              <a:t>   code=list(</a:t>
            </a:r>
            <a:r>
              <a:rPr lang="en-US" altLang="zh-CN" sz="2000" dirty="0" err="1"/>
              <a:t>c.index</a:t>
            </a:r>
            <a:r>
              <a:rPr lang="en-US" altLang="zh-CN" sz="2000" dirty="0"/>
              <a:t>[0:num])</a:t>
            </a:r>
            <a:endParaRPr lang="zh-CN" altLang="zh-CN" sz="2000" dirty="0"/>
          </a:p>
          <a:p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10.6.1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函数定义及使用方法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10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0263" y="764704"/>
            <a:ext cx="1186277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p=-1</a:t>
            </a:r>
            <a:endParaRPr lang="zh-CN" altLang="zh-CN" dirty="0"/>
          </a:p>
          <a:p>
            <a:r>
              <a:rPr lang="en-US" altLang="zh-CN" dirty="0"/>
              <a:t>   td=</a:t>
            </a:r>
            <a:r>
              <a:rPr lang="en-US" altLang="zh-CN" dirty="0" err="1"/>
              <a:t>pd.read_excel</a:t>
            </a:r>
            <a:r>
              <a:rPr lang="en-US" altLang="zh-CN" dirty="0"/>
              <a:t>('</a:t>
            </a:r>
            <a:r>
              <a:rPr lang="zh-CN" altLang="zh-CN" dirty="0"/>
              <a:t>交易日历数据表</a:t>
            </a:r>
            <a:r>
              <a:rPr lang="en-US" altLang="zh-CN" dirty="0"/>
              <a:t>.xlsx')</a:t>
            </a:r>
            <a:endParaRPr lang="zh-CN" altLang="zh-CN" dirty="0"/>
          </a:p>
          <a:p>
            <a:r>
              <a:rPr lang="en-US" altLang="zh-CN" dirty="0"/>
              <a:t>   I1=td['</a:t>
            </a:r>
            <a:r>
              <a:rPr lang="en-US" altLang="zh-CN" dirty="0" err="1"/>
              <a:t>Clddt</a:t>
            </a:r>
            <a:r>
              <a:rPr lang="en-US" altLang="zh-CN" dirty="0"/>
              <a:t>'].values&gt;=t_trd1</a:t>
            </a:r>
            <a:endParaRPr lang="zh-CN" altLang="zh-CN" dirty="0"/>
          </a:p>
          <a:p>
            <a:r>
              <a:rPr lang="en-US" altLang="zh-CN" dirty="0"/>
              <a:t>   I2=td['</a:t>
            </a:r>
            <a:r>
              <a:rPr lang="en-US" altLang="zh-CN" dirty="0" err="1"/>
              <a:t>Clddt</a:t>
            </a:r>
            <a:r>
              <a:rPr lang="en-US" altLang="zh-CN" dirty="0"/>
              <a:t>'].values&lt;=t_trd2</a:t>
            </a:r>
            <a:endParaRPr lang="zh-CN" altLang="zh-CN" dirty="0"/>
          </a:p>
          <a:p>
            <a:r>
              <a:rPr lang="en-US" altLang="zh-CN" dirty="0"/>
              <a:t>   I=I1&amp;I2</a:t>
            </a:r>
            <a:endParaRPr lang="zh-CN" altLang="zh-CN" dirty="0"/>
          </a:p>
          <a:p>
            <a:r>
              <a:rPr lang="en-US" altLang="zh-CN" dirty="0"/>
              <a:t>   </a:t>
            </a:r>
            <a:r>
              <a:rPr lang="en-US" altLang="zh-CN" dirty="0" err="1"/>
              <a:t>ddt</a:t>
            </a:r>
            <a:r>
              <a:rPr lang="en-US" altLang="zh-CN" dirty="0"/>
              <a:t>=</a:t>
            </a:r>
            <a:r>
              <a:rPr lang="en-US" altLang="zh-CN" dirty="0" err="1"/>
              <a:t>td.loc</a:t>
            </a:r>
            <a:r>
              <a:rPr lang="en-US" altLang="zh-CN" dirty="0"/>
              <a:t>[I,['</a:t>
            </a:r>
            <a:r>
              <a:rPr lang="en-US" altLang="zh-CN" dirty="0" err="1"/>
              <a:t>Clddt</a:t>
            </a:r>
            <a:r>
              <a:rPr lang="en-US" altLang="zh-CN" dirty="0"/>
              <a:t>']]</a:t>
            </a:r>
            <a:endParaRPr lang="zh-CN" altLang="zh-CN" dirty="0"/>
          </a:p>
          <a:p>
            <a:r>
              <a:rPr lang="en-US" altLang="zh-CN" dirty="0"/>
              <a:t>   M=</a:t>
            </a:r>
            <a:r>
              <a:rPr lang="en-US" altLang="zh-CN" dirty="0" err="1"/>
              <a:t>len</a:t>
            </a:r>
            <a:r>
              <a:rPr lang="en-US" altLang="zh-CN" dirty="0"/>
              <a:t>(</a:t>
            </a:r>
            <a:r>
              <a:rPr lang="en-US" altLang="zh-CN" dirty="0" err="1"/>
              <a:t>ddt</a:t>
            </a:r>
            <a:r>
              <a:rPr lang="en-US" altLang="zh-CN" dirty="0"/>
              <a:t>)</a:t>
            </a:r>
            <a:endParaRPr lang="zh-CN" altLang="zh-CN" dirty="0"/>
          </a:p>
          <a:p>
            <a:r>
              <a:rPr lang="en-US" altLang="zh-CN" dirty="0"/>
              <a:t>   num=10</a:t>
            </a:r>
            <a:endParaRPr lang="zh-CN" altLang="zh-CN" dirty="0"/>
          </a:p>
          <a:p>
            <a:r>
              <a:rPr lang="en-US" altLang="zh-CN" dirty="0"/>
              <a:t>   Data=</a:t>
            </a:r>
            <a:r>
              <a:rPr lang="en-US" altLang="zh-CN" dirty="0" err="1"/>
              <a:t>np.zeros</a:t>
            </a:r>
            <a:r>
              <a:rPr lang="en-US" altLang="zh-CN" dirty="0"/>
              <a:t>((</a:t>
            </a:r>
            <a:r>
              <a:rPr lang="en-US" altLang="zh-CN" dirty="0" err="1"/>
              <a:t>len</a:t>
            </a:r>
            <a:r>
              <a:rPr lang="en-US" altLang="zh-CN" dirty="0"/>
              <a:t>(code),num))</a:t>
            </a:r>
            <a:endParaRPr lang="zh-CN" altLang="zh-CN" dirty="0"/>
          </a:p>
          <a:p>
            <a:r>
              <a:rPr lang="en-US" altLang="zh-CN" dirty="0"/>
              <a:t>   </a:t>
            </a:r>
            <a:r>
              <a:rPr lang="en-US" altLang="zh-CN" dirty="0" err="1"/>
              <a:t>KeyData</a:t>
            </a:r>
            <a:r>
              <a:rPr lang="en-US" altLang="zh-CN" dirty="0"/>
              <a:t>=</a:t>
            </a:r>
            <a:r>
              <a:rPr lang="en-US" altLang="zh-CN" dirty="0" err="1"/>
              <a:t>np.zeros</a:t>
            </a:r>
            <a:r>
              <a:rPr lang="en-US" altLang="zh-CN" dirty="0"/>
              <a:t>((</a:t>
            </a:r>
            <a:r>
              <a:rPr lang="en-US" altLang="zh-CN" dirty="0" err="1"/>
              <a:t>len</a:t>
            </a:r>
            <a:r>
              <a:rPr lang="en-US" altLang="zh-CN" dirty="0"/>
              <a:t>(code),num+1))</a:t>
            </a:r>
            <a:endParaRPr lang="zh-CN" altLang="zh-CN" dirty="0"/>
          </a:p>
          <a:p>
            <a:r>
              <a:rPr lang="en-US" altLang="zh-CN" dirty="0"/>
              <a:t>   </a:t>
            </a:r>
            <a:r>
              <a:rPr lang="en-US" altLang="zh-CN" dirty="0" err="1"/>
              <a:t>KeyData_index</a:t>
            </a:r>
            <a:r>
              <a:rPr lang="en-US" altLang="zh-CN" dirty="0"/>
              <a:t>=</a:t>
            </a:r>
            <a:r>
              <a:rPr lang="en-US" altLang="zh-CN" dirty="0" err="1"/>
              <a:t>np.zeros</a:t>
            </a:r>
            <a:r>
              <a:rPr lang="en-US" altLang="zh-CN" dirty="0"/>
              <a:t>((</a:t>
            </a:r>
            <a:r>
              <a:rPr lang="en-US" altLang="zh-CN" dirty="0" err="1"/>
              <a:t>len</a:t>
            </a:r>
            <a:r>
              <a:rPr lang="en-US" altLang="zh-CN" dirty="0"/>
              <a:t>(code),num+1))</a:t>
            </a:r>
            <a:endParaRPr lang="zh-CN" altLang="zh-CN" dirty="0"/>
          </a:p>
          <a:p>
            <a:r>
              <a:rPr lang="en-US" altLang="zh-CN" dirty="0"/>
              <a:t>   for t in range(</a:t>
            </a:r>
            <a:r>
              <a:rPr lang="en-US" altLang="zh-CN" dirty="0" err="1"/>
              <a:t>len</a:t>
            </a:r>
            <a:r>
              <a:rPr lang="en-US" altLang="zh-CN" dirty="0"/>
              <a:t>(code)):</a:t>
            </a:r>
            <a:endParaRPr lang="zh-CN" altLang="zh-CN" dirty="0"/>
          </a:p>
          <a:p>
            <a:r>
              <a:rPr lang="en-US" altLang="zh-CN" dirty="0"/>
              <a:t>      data=</a:t>
            </a:r>
            <a:r>
              <a:rPr lang="en-US" altLang="zh-CN" dirty="0" err="1"/>
              <a:t>DA.loc</a:t>
            </a:r>
            <a:r>
              <a:rPr lang="en-US" altLang="zh-CN" dirty="0"/>
              <a:t>[</a:t>
            </a:r>
            <a:r>
              <a:rPr lang="en-US" altLang="zh-CN" dirty="0" err="1"/>
              <a:t>DA.iloc</a:t>
            </a:r>
            <a:r>
              <a:rPr lang="en-US" altLang="zh-CN" dirty="0"/>
              <a:t>[:,0].values==code[t],['</a:t>
            </a:r>
            <a:r>
              <a:rPr lang="en-US" altLang="zh-CN" dirty="0" err="1"/>
              <a:t>Trddt</a:t>
            </a:r>
            <a:r>
              <a:rPr lang="en-US" altLang="zh-CN" dirty="0"/>
              <a:t>','</a:t>
            </a:r>
            <a:r>
              <a:rPr lang="en-US" altLang="zh-CN" dirty="0" err="1"/>
              <a:t>Clsprc</a:t>
            </a:r>
            <a:r>
              <a:rPr lang="en-US" altLang="zh-CN" dirty="0"/>
              <a:t>']]</a:t>
            </a:r>
            <a:endParaRPr lang="zh-CN" altLang="zh-CN" dirty="0"/>
          </a:p>
          <a:p>
            <a:r>
              <a:rPr lang="en-US" altLang="zh-CN" dirty="0"/>
              <a:t>      I1=data['</a:t>
            </a:r>
            <a:r>
              <a:rPr lang="en-US" altLang="zh-CN" dirty="0" err="1"/>
              <a:t>Trddt</a:t>
            </a:r>
            <a:r>
              <a:rPr lang="en-US" altLang="zh-CN" dirty="0"/>
              <a:t>'].values&gt;=t_trd1</a:t>
            </a:r>
            <a:endParaRPr lang="zh-CN" altLang="zh-CN" dirty="0"/>
          </a:p>
          <a:p>
            <a:r>
              <a:rPr lang="en-US" altLang="zh-CN" dirty="0"/>
              <a:t>      I2=data['</a:t>
            </a:r>
            <a:r>
              <a:rPr lang="en-US" altLang="zh-CN" dirty="0" err="1"/>
              <a:t>Trddt</a:t>
            </a:r>
            <a:r>
              <a:rPr lang="en-US" altLang="zh-CN" dirty="0"/>
              <a:t>'].values&lt;=t_trd2</a:t>
            </a:r>
            <a:endParaRPr lang="zh-CN" altLang="zh-CN" dirty="0"/>
          </a:p>
          <a:p>
            <a:r>
              <a:rPr lang="en-US" altLang="zh-CN" dirty="0"/>
              <a:t>      I=I1&amp;I2</a:t>
            </a:r>
            <a:endParaRPr lang="zh-CN" altLang="zh-CN" dirty="0"/>
          </a:p>
          <a:p>
            <a:r>
              <a:rPr lang="en-US" altLang="zh-CN" dirty="0"/>
              <a:t>      dt=</a:t>
            </a:r>
            <a:r>
              <a:rPr lang="en-US" altLang="zh-CN" dirty="0" err="1"/>
              <a:t>data.loc</a:t>
            </a:r>
            <a:r>
              <a:rPr lang="en-US" altLang="zh-CN" dirty="0"/>
              <a:t>[I,['</a:t>
            </a:r>
            <a:r>
              <a:rPr lang="en-US" altLang="zh-CN" dirty="0" err="1"/>
              <a:t>Clsprc</a:t>
            </a:r>
            <a:r>
              <a:rPr lang="en-US" altLang="zh-CN" dirty="0"/>
              <a:t>']]['</a:t>
            </a:r>
            <a:r>
              <a:rPr lang="en-US" altLang="zh-CN" dirty="0" err="1"/>
              <a:t>Clsprc</a:t>
            </a:r>
            <a:r>
              <a:rPr lang="en-US" altLang="zh-CN" dirty="0"/>
              <a:t>']</a:t>
            </a:r>
            <a:endParaRPr lang="zh-CN" altLang="zh-CN" dirty="0"/>
          </a:p>
          <a:p>
            <a:r>
              <a:rPr lang="en-US" altLang="zh-CN" dirty="0"/>
              <a:t>      if </a:t>
            </a:r>
            <a:r>
              <a:rPr lang="en-US" altLang="zh-CN" dirty="0" err="1"/>
              <a:t>len</a:t>
            </a:r>
            <a:r>
              <a:rPr lang="en-US" altLang="zh-CN" dirty="0"/>
              <a:t>(dt)==M:</a:t>
            </a:r>
            <a:endParaRPr lang="zh-CN" altLang="zh-CN" dirty="0"/>
          </a:p>
          <a:p>
            <a:r>
              <a:rPr lang="en-US" altLang="zh-CN" dirty="0"/>
              <a:t>          p=p+1</a:t>
            </a:r>
            <a:endParaRPr lang="zh-CN" altLang="zh-CN" dirty="0"/>
          </a:p>
          <a:p>
            <a:r>
              <a:rPr lang="en-US" altLang="zh-CN" dirty="0"/>
              <a:t>          dt=</a:t>
            </a:r>
            <a:r>
              <a:rPr lang="en-US" altLang="zh-CN" dirty="0" err="1"/>
              <a:t>pd.Series</a:t>
            </a:r>
            <a:r>
              <a:rPr lang="en-US" altLang="zh-CN" dirty="0"/>
              <a:t>(</a:t>
            </a:r>
            <a:r>
              <a:rPr lang="en-US" altLang="zh-CN" dirty="0" err="1"/>
              <a:t>dt.values,index</a:t>
            </a:r>
            <a:r>
              <a:rPr lang="en-US" altLang="zh-CN" dirty="0"/>
              <a:t>=range(</a:t>
            </a:r>
            <a:r>
              <a:rPr lang="en-US" altLang="zh-CN" dirty="0" err="1"/>
              <a:t>len</a:t>
            </a:r>
            <a:r>
              <a:rPr lang="en-US" altLang="zh-CN" dirty="0"/>
              <a:t>(dt)))</a:t>
            </a:r>
            <a:endParaRPr lang="zh-CN" altLang="zh-CN" dirty="0"/>
          </a:p>
          <a:p>
            <a:r>
              <a:rPr lang="en-US" altLang="zh-CN" dirty="0"/>
              <a:t>          </a:t>
            </a:r>
            <a:r>
              <a:rPr lang="en-US" altLang="zh-CN" dirty="0" err="1"/>
              <a:t>keydata</a:t>
            </a:r>
            <a:r>
              <a:rPr lang="en-US" altLang="zh-CN" dirty="0"/>
              <a:t>=</a:t>
            </a:r>
            <a:r>
              <a:rPr lang="en-US" altLang="zh-CN" dirty="0" err="1"/>
              <a:t>df.get_keydata</a:t>
            </a:r>
            <a:r>
              <a:rPr lang="en-US" altLang="zh-CN" dirty="0"/>
              <a:t>(</a:t>
            </a:r>
            <a:r>
              <a:rPr lang="en-US" altLang="zh-CN" dirty="0" err="1"/>
              <a:t>dt,num</a:t>
            </a:r>
            <a:r>
              <a:rPr lang="en-US" altLang="zh-CN" dirty="0"/>
              <a:t>)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10.6.1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函数定义及使用方法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10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0263" y="764704"/>
            <a:ext cx="120565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T=</a:t>
            </a:r>
            <a:r>
              <a:rPr lang="en-US" altLang="zh-CN" dirty="0" err="1"/>
              <a:t>df.get_tz</a:t>
            </a:r>
            <a:r>
              <a:rPr lang="en-US" altLang="zh-CN" dirty="0"/>
              <a:t>(</a:t>
            </a:r>
            <a:r>
              <a:rPr lang="en-US" altLang="zh-CN" dirty="0" err="1"/>
              <a:t>keydata</a:t>
            </a:r>
            <a:r>
              <a:rPr lang="en-US" altLang="zh-CN" dirty="0"/>
              <a:t>)</a:t>
            </a:r>
            <a:endParaRPr lang="zh-CN" altLang="zh-CN" dirty="0"/>
          </a:p>
          <a:p>
            <a:r>
              <a:rPr lang="en-US" altLang="zh-CN" dirty="0"/>
              <a:t>          y=</a:t>
            </a:r>
            <a:r>
              <a:rPr lang="en-US" altLang="zh-CN" dirty="0" err="1"/>
              <a:t>keydata</a:t>
            </a:r>
            <a:endParaRPr lang="zh-CN" altLang="zh-CN" dirty="0"/>
          </a:p>
          <a:p>
            <a:r>
              <a:rPr lang="en-US" altLang="zh-CN" dirty="0"/>
              <a:t>          </a:t>
            </a:r>
            <a:r>
              <a:rPr lang="en-US" altLang="zh-CN" dirty="0" err="1"/>
              <a:t>KeyData</a:t>
            </a:r>
            <a:r>
              <a:rPr lang="en-US" altLang="zh-CN" dirty="0"/>
              <a:t>[p,0]=code[t]</a:t>
            </a:r>
            <a:endParaRPr lang="zh-CN" altLang="zh-CN" dirty="0"/>
          </a:p>
          <a:p>
            <a:r>
              <a:rPr lang="en-US" altLang="zh-CN" dirty="0"/>
              <a:t>          Data[p,0]=code[t]</a:t>
            </a:r>
            <a:endParaRPr lang="zh-CN" altLang="zh-CN" dirty="0"/>
          </a:p>
          <a:p>
            <a:r>
              <a:rPr lang="en-US" altLang="zh-CN" dirty="0"/>
              <a:t>          Data[p,1:]=T</a:t>
            </a:r>
            <a:endParaRPr lang="zh-CN" altLang="zh-CN" dirty="0"/>
          </a:p>
          <a:p>
            <a:r>
              <a:rPr lang="en-US" altLang="zh-CN" dirty="0"/>
              <a:t>          </a:t>
            </a:r>
            <a:r>
              <a:rPr lang="en-US" altLang="zh-CN" dirty="0" err="1"/>
              <a:t>KeyData_index</a:t>
            </a:r>
            <a:r>
              <a:rPr lang="en-US" altLang="zh-CN" dirty="0"/>
              <a:t>[p,0]=code[t]</a:t>
            </a:r>
            <a:endParaRPr lang="zh-CN" altLang="zh-CN" dirty="0"/>
          </a:p>
          <a:p>
            <a:r>
              <a:rPr lang="en-US" altLang="zh-CN" dirty="0"/>
              <a:t>          </a:t>
            </a:r>
            <a:r>
              <a:rPr lang="en-US" altLang="zh-CN" dirty="0" err="1"/>
              <a:t>KeyData</a:t>
            </a:r>
            <a:r>
              <a:rPr lang="en-US" altLang="zh-CN" dirty="0"/>
              <a:t>[p,1:]=(</a:t>
            </a:r>
            <a:r>
              <a:rPr lang="en-US" altLang="zh-CN" dirty="0" err="1"/>
              <a:t>y.values</a:t>
            </a:r>
            <a:r>
              <a:rPr lang="en-US" altLang="zh-CN" dirty="0"/>
              <a:t>-min(</a:t>
            </a:r>
            <a:r>
              <a:rPr lang="en-US" altLang="zh-CN" dirty="0" err="1"/>
              <a:t>y.values</a:t>
            </a:r>
            <a:r>
              <a:rPr lang="en-US" altLang="zh-CN" dirty="0"/>
              <a:t>))/(max(</a:t>
            </a:r>
            <a:r>
              <a:rPr lang="en-US" altLang="zh-CN" dirty="0" err="1"/>
              <a:t>y.values</a:t>
            </a:r>
            <a:r>
              <a:rPr lang="en-US" altLang="zh-CN" dirty="0"/>
              <a:t>)-min(</a:t>
            </a:r>
            <a:r>
              <a:rPr lang="en-US" altLang="zh-CN" dirty="0" err="1"/>
              <a:t>y.values</a:t>
            </a:r>
            <a:r>
              <a:rPr lang="en-US" altLang="zh-CN" dirty="0"/>
              <a:t>))</a:t>
            </a:r>
            <a:endParaRPr lang="zh-CN" altLang="zh-CN" dirty="0"/>
          </a:p>
          <a:p>
            <a:r>
              <a:rPr lang="en-US" altLang="zh-CN" dirty="0"/>
              <a:t>          </a:t>
            </a:r>
            <a:r>
              <a:rPr lang="en-US" altLang="zh-CN" dirty="0" err="1"/>
              <a:t>KeyData_index</a:t>
            </a:r>
            <a:r>
              <a:rPr lang="en-US" altLang="zh-CN" dirty="0"/>
              <a:t>[p,1:]=</a:t>
            </a:r>
            <a:r>
              <a:rPr lang="en-US" altLang="zh-CN" dirty="0" err="1"/>
              <a:t>y.index</a:t>
            </a:r>
            <a:endParaRPr lang="zh-CN" altLang="zh-CN" dirty="0"/>
          </a:p>
          <a:p>
            <a:r>
              <a:rPr lang="en-US" altLang="zh-CN" dirty="0"/>
              <a:t>   Data=Data[0:p,:]</a:t>
            </a:r>
            <a:endParaRPr lang="zh-CN" altLang="zh-CN" dirty="0"/>
          </a:p>
          <a:p>
            <a:r>
              <a:rPr lang="en-US" altLang="zh-CN" dirty="0"/>
              <a:t>   </a:t>
            </a:r>
            <a:r>
              <a:rPr lang="en-US" altLang="zh-CN" dirty="0" err="1"/>
              <a:t>KeyData</a:t>
            </a:r>
            <a:r>
              <a:rPr lang="en-US" altLang="zh-CN" dirty="0"/>
              <a:t>=</a:t>
            </a:r>
            <a:r>
              <a:rPr lang="en-US" altLang="zh-CN" dirty="0" err="1"/>
              <a:t>KeyData</a:t>
            </a:r>
            <a:r>
              <a:rPr lang="en-US" altLang="zh-CN" dirty="0"/>
              <a:t>[0:p,:]</a:t>
            </a:r>
            <a:endParaRPr lang="zh-CN" altLang="zh-CN" dirty="0"/>
          </a:p>
          <a:p>
            <a:r>
              <a:rPr lang="en-US" altLang="zh-CN" dirty="0"/>
              <a:t>   </a:t>
            </a:r>
            <a:r>
              <a:rPr lang="en-US" altLang="zh-CN" dirty="0" err="1"/>
              <a:t>KeyData_index</a:t>
            </a:r>
            <a:r>
              <a:rPr lang="en-US" altLang="zh-CN" dirty="0"/>
              <a:t>=</a:t>
            </a:r>
            <a:r>
              <a:rPr lang="en-US" altLang="zh-CN" dirty="0" err="1"/>
              <a:t>KeyData_index</a:t>
            </a:r>
            <a:r>
              <a:rPr lang="en-US" altLang="zh-CN" dirty="0"/>
              <a:t>[0:p,:]</a:t>
            </a:r>
            <a:endParaRPr lang="zh-CN" altLang="zh-CN" dirty="0"/>
          </a:p>
          <a:p>
            <a:r>
              <a:rPr lang="en-US" altLang="zh-CN" dirty="0"/>
              <a:t>   return (</a:t>
            </a:r>
            <a:r>
              <a:rPr lang="en-US" altLang="zh-CN" dirty="0" err="1"/>
              <a:t>Data,KeyData,KeyData_index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def FR2(DA,Data,KeyData,KeyData_index,s_trd1,s_trd2,class_num):</a:t>
            </a:r>
            <a:endParaRPr lang="zh-CN" altLang="zh-CN" dirty="0"/>
          </a:p>
          <a:p>
            <a:r>
              <a:rPr lang="en-US" altLang="zh-CN" dirty="0"/>
              <a:t>   #</a:t>
            </a:r>
            <a:r>
              <a:rPr lang="zh-CN" altLang="zh-CN" dirty="0"/>
              <a:t>输入：</a:t>
            </a:r>
          </a:p>
          <a:p>
            <a:r>
              <a:rPr lang="en-US" altLang="zh-CN" dirty="0"/>
              <a:t>   #DA--2017</a:t>
            </a:r>
            <a:r>
              <a:rPr lang="zh-CN" altLang="zh-CN" dirty="0"/>
              <a:t>年股票交易数据</a:t>
            </a:r>
          </a:p>
          <a:p>
            <a:r>
              <a:rPr lang="en-US" altLang="zh-CN" dirty="0"/>
              <a:t>   #Data--</a:t>
            </a:r>
            <a:r>
              <a:rPr lang="zh-CN" altLang="zh-CN" dirty="0"/>
              <a:t>形态特征数据</a:t>
            </a:r>
          </a:p>
          <a:p>
            <a:r>
              <a:rPr lang="en-US" altLang="zh-CN" dirty="0"/>
              <a:t>   #</a:t>
            </a:r>
            <a:r>
              <a:rPr lang="en-US" altLang="zh-CN" dirty="0" err="1"/>
              <a:t>KeyData</a:t>
            </a:r>
            <a:r>
              <a:rPr lang="en-US" altLang="zh-CN" dirty="0"/>
              <a:t>--</a:t>
            </a:r>
            <a:r>
              <a:rPr lang="zh-CN" altLang="zh-CN" dirty="0"/>
              <a:t>关键价格点数据</a:t>
            </a:r>
          </a:p>
          <a:p>
            <a:r>
              <a:rPr lang="en-US" altLang="zh-CN" dirty="0"/>
              <a:t>   #</a:t>
            </a:r>
            <a:r>
              <a:rPr lang="en-US" altLang="zh-CN" dirty="0" err="1"/>
              <a:t>KeyData_index</a:t>
            </a:r>
            <a:r>
              <a:rPr lang="en-US" altLang="zh-CN" dirty="0"/>
              <a:t>--</a:t>
            </a:r>
            <a:r>
              <a:rPr lang="zh-CN" altLang="zh-CN" dirty="0"/>
              <a:t>关键价格点对应序号</a:t>
            </a:r>
          </a:p>
          <a:p>
            <a:r>
              <a:rPr lang="en-US" altLang="zh-CN" dirty="0"/>
              <a:t>   #s_trd1--</a:t>
            </a:r>
            <a:r>
              <a:rPr lang="zh-CN" altLang="zh-CN" dirty="0"/>
              <a:t>收益率计算持有期开始日期</a:t>
            </a:r>
          </a:p>
          <a:p>
            <a:r>
              <a:rPr lang="en-US" altLang="zh-CN" dirty="0"/>
              <a:t>   #s_trd2--</a:t>
            </a:r>
            <a:r>
              <a:rPr lang="zh-CN" altLang="zh-CN" dirty="0"/>
              <a:t>收益率计算持有期结束日期</a:t>
            </a:r>
          </a:p>
          <a:p>
            <a:r>
              <a:rPr lang="en-US" altLang="zh-CN" dirty="0"/>
              <a:t>   #</a:t>
            </a:r>
            <a:r>
              <a:rPr lang="en-US" altLang="zh-CN" dirty="0" err="1"/>
              <a:t>class_num</a:t>
            </a:r>
            <a:r>
              <a:rPr lang="en-US" altLang="zh-CN" dirty="0"/>
              <a:t>--</a:t>
            </a:r>
            <a:r>
              <a:rPr lang="zh-CN" altLang="zh-CN" dirty="0"/>
              <a:t>聚类个数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10.6.1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函数定义及使用方法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10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0263" y="692696"/>
            <a:ext cx="120565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#</a:t>
            </a:r>
            <a:r>
              <a:rPr lang="zh-CN" altLang="zh-CN" dirty="0"/>
              <a:t>输出：</a:t>
            </a:r>
          </a:p>
          <a:p>
            <a:r>
              <a:rPr lang="en-US" altLang="zh-CN" dirty="0"/>
              <a:t>   #</a:t>
            </a:r>
            <a:r>
              <a:rPr lang="en-US" altLang="zh-CN" dirty="0" err="1"/>
              <a:t>Data_c</a:t>
            </a:r>
            <a:r>
              <a:rPr lang="en-US" altLang="zh-CN" dirty="0"/>
              <a:t>--</a:t>
            </a:r>
            <a:r>
              <a:rPr lang="zh-CN" altLang="zh-CN" dirty="0"/>
              <a:t>形态特征数据</a:t>
            </a:r>
            <a:r>
              <a:rPr lang="en-US" altLang="zh-CN" dirty="0"/>
              <a:t>+</a:t>
            </a:r>
            <a:r>
              <a:rPr lang="zh-CN" altLang="zh-CN" dirty="0"/>
              <a:t>聚类结果列</a:t>
            </a:r>
          </a:p>
          <a:p>
            <a:r>
              <a:rPr lang="en-US" altLang="zh-CN" dirty="0"/>
              <a:t>   #</a:t>
            </a:r>
            <a:r>
              <a:rPr lang="en-US" altLang="zh-CN" dirty="0" err="1"/>
              <a:t>KeyData_c</a:t>
            </a:r>
            <a:r>
              <a:rPr lang="en-US" altLang="zh-CN" dirty="0"/>
              <a:t>--</a:t>
            </a:r>
            <a:r>
              <a:rPr lang="zh-CN" altLang="zh-CN" dirty="0"/>
              <a:t>关键价格点数据</a:t>
            </a:r>
            <a:r>
              <a:rPr lang="en-US" altLang="zh-CN" dirty="0"/>
              <a:t>+</a:t>
            </a:r>
            <a:r>
              <a:rPr lang="zh-CN" altLang="zh-CN" dirty="0"/>
              <a:t>聚类结果列</a:t>
            </a:r>
          </a:p>
          <a:p>
            <a:r>
              <a:rPr lang="en-US" altLang="zh-CN" dirty="0"/>
              <a:t>   #</a:t>
            </a:r>
            <a:r>
              <a:rPr lang="en-US" altLang="zh-CN" dirty="0" err="1"/>
              <a:t>KeyData_index_c</a:t>
            </a:r>
            <a:r>
              <a:rPr lang="en-US" altLang="zh-CN" dirty="0"/>
              <a:t>--</a:t>
            </a:r>
            <a:r>
              <a:rPr lang="zh-CN" altLang="zh-CN" dirty="0"/>
              <a:t>关键价格点对应序号</a:t>
            </a:r>
            <a:r>
              <a:rPr lang="en-US" altLang="zh-CN" dirty="0"/>
              <a:t>+</a:t>
            </a:r>
            <a:r>
              <a:rPr lang="zh-CN" altLang="zh-CN" dirty="0"/>
              <a:t>聚类结果列</a:t>
            </a:r>
          </a:p>
          <a:p>
            <a:r>
              <a:rPr lang="en-US" altLang="zh-CN" dirty="0"/>
              <a:t>   #D--</a:t>
            </a:r>
            <a:r>
              <a:rPr lang="zh-CN" altLang="zh-CN" dirty="0"/>
              <a:t>每只股票代码、所属聚类类别、收益率组成的数据框</a:t>
            </a:r>
          </a:p>
          <a:p>
            <a:r>
              <a:rPr lang="en-US" altLang="zh-CN" dirty="0"/>
              <a:t>   #</a:t>
            </a:r>
            <a:r>
              <a:rPr lang="en-US" altLang="zh-CN" dirty="0" err="1"/>
              <a:t>list_cr</a:t>
            </a:r>
            <a:r>
              <a:rPr lang="en-US" altLang="zh-CN" dirty="0"/>
              <a:t>--</a:t>
            </a:r>
            <a:r>
              <a:rPr lang="zh-CN" altLang="zh-CN" dirty="0"/>
              <a:t>每类股票的总收益</a:t>
            </a:r>
          </a:p>
          <a:p>
            <a:r>
              <a:rPr lang="en-US" altLang="zh-CN" dirty="0"/>
              <a:t>   import pandas as pd</a:t>
            </a:r>
            <a:endParaRPr lang="zh-CN" altLang="zh-CN" dirty="0"/>
          </a:p>
          <a:p>
            <a:r>
              <a:rPr lang="en-US" altLang="zh-CN" dirty="0"/>
              <a:t>   import </a:t>
            </a:r>
            <a:r>
              <a:rPr lang="en-US" altLang="zh-CN" dirty="0" err="1"/>
              <a:t>numpy</a:t>
            </a:r>
            <a:r>
              <a:rPr lang="en-US" altLang="zh-CN" dirty="0"/>
              <a:t> as np</a:t>
            </a:r>
            <a:endParaRPr lang="zh-CN" altLang="zh-CN" dirty="0"/>
          </a:p>
          <a:p>
            <a:r>
              <a:rPr lang="en-US" altLang="zh-CN" dirty="0"/>
              <a:t>   import </a:t>
            </a:r>
            <a:r>
              <a:rPr lang="en-US" altLang="zh-CN" dirty="0" err="1"/>
              <a:t>kmean</a:t>
            </a:r>
            <a:endParaRPr lang="zh-CN" altLang="zh-CN" dirty="0"/>
          </a:p>
          <a:p>
            <a:r>
              <a:rPr lang="en-US" altLang="zh-CN" dirty="0"/>
              <a:t>   c=</a:t>
            </a:r>
            <a:r>
              <a:rPr lang="en-US" altLang="zh-CN" dirty="0" err="1"/>
              <a:t>kmean.K_mean</a:t>
            </a:r>
            <a:r>
              <a:rPr lang="en-US" altLang="zh-CN" dirty="0"/>
              <a:t>(Data[:,1:],</a:t>
            </a:r>
            <a:r>
              <a:rPr lang="en-US" altLang="zh-CN" dirty="0" err="1"/>
              <a:t>class_num</a:t>
            </a:r>
            <a:r>
              <a:rPr lang="en-US" altLang="zh-CN" dirty="0"/>
              <a:t>) </a:t>
            </a:r>
            <a:endParaRPr lang="zh-CN" altLang="zh-CN" dirty="0"/>
          </a:p>
          <a:p>
            <a:r>
              <a:rPr lang="en-US" altLang="zh-CN" dirty="0"/>
              <a:t>   p=</a:t>
            </a:r>
            <a:r>
              <a:rPr lang="en-US" altLang="zh-CN" dirty="0" err="1"/>
              <a:t>len</a:t>
            </a:r>
            <a:r>
              <a:rPr lang="en-US" altLang="zh-CN" dirty="0"/>
              <a:t>(Data)</a:t>
            </a:r>
            <a:endParaRPr lang="zh-CN" altLang="zh-CN" dirty="0"/>
          </a:p>
          <a:p>
            <a:r>
              <a:rPr lang="en-US" altLang="zh-CN" dirty="0"/>
              <a:t>   </a:t>
            </a:r>
            <a:r>
              <a:rPr lang="en-US" altLang="zh-CN" dirty="0" err="1"/>
              <a:t>KeyData_c</a:t>
            </a:r>
            <a:r>
              <a:rPr lang="en-US" altLang="zh-CN" dirty="0"/>
              <a:t>=</a:t>
            </a:r>
            <a:r>
              <a:rPr lang="en-US" altLang="zh-CN" dirty="0" err="1"/>
              <a:t>np.hstack</a:t>
            </a:r>
            <a:r>
              <a:rPr lang="en-US" altLang="zh-CN" dirty="0"/>
              <a:t>((</a:t>
            </a:r>
            <a:r>
              <a:rPr lang="en-US" altLang="zh-CN" dirty="0" err="1"/>
              <a:t>KeyData,c.reshape</a:t>
            </a:r>
            <a:r>
              <a:rPr lang="en-US" altLang="zh-CN" dirty="0"/>
              <a:t>(p,1)))</a:t>
            </a:r>
            <a:endParaRPr lang="zh-CN" altLang="zh-CN" dirty="0"/>
          </a:p>
          <a:p>
            <a:r>
              <a:rPr lang="en-US" altLang="zh-CN" dirty="0"/>
              <a:t>   </a:t>
            </a:r>
            <a:r>
              <a:rPr lang="en-US" altLang="zh-CN" dirty="0" err="1"/>
              <a:t>KeyData_index_c</a:t>
            </a:r>
            <a:r>
              <a:rPr lang="en-US" altLang="zh-CN" dirty="0"/>
              <a:t>=</a:t>
            </a:r>
            <a:r>
              <a:rPr lang="en-US" altLang="zh-CN" dirty="0" err="1"/>
              <a:t>np.hstack</a:t>
            </a:r>
            <a:r>
              <a:rPr lang="en-US" altLang="zh-CN" dirty="0"/>
              <a:t>((</a:t>
            </a:r>
            <a:r>
              <a:rPr lang="en-US" altLang="zh-CN" dirty="0" err="1"/>
              <a:t>KeyData_index,c.reshape</a:t>
            </a:r>
            <a:r>
              <a:rPr lang="en-US" altLang="zh-CN" dirty="0"/>
              <a:t>(p,1)))</a:t>
            </a:r>
            <a:endParaRPr lang="zh-CN" altLang="zh-CN" dirty="0"/>
          </a:p>
          <a:p>
            <a:r>
              <a:rPr lang="en-US" altLang="zh-CN" dirty="0"/>
              <a:t>   </a:t>
            </a:r>
            <a:r>
              <a:rPr lang="en-US" altLang="zh-CN" dirty="0" err="1"/>
              <a:t>Data_c</a:t>
            </a:r>
            <a:r>
              <a:rPr lang="en-US" altLang="zh-CN" dirty="0"/>
              <a:t>=</a:t>
            </a:r>
            <a:r>
              <a:rPr lang="en-US" altLang="zh-CN" dirty="0" err="1"/>
              <a:t>np.hstack</a:t>
            </a:r>
            <a:r>
              <a:rPr lang="en-US" altLang="zh-CN" dirty="0"/>
              <a:t>((</a:t>
            </a:r>
            <a:r>
              <a:rPr lang="en-US" altLang="zh-CN" dirty="0" err="1"/>
              <a:t>Data,c.reshape</a:t>
            </a:r>
            <a:r>
              <a:rPr lang="en-US" altLang="zh-CN" dirty="0"/>
              <a:t>(p,1)))</a:t>
            </a:r>
            <a:endParaRPr lang="zh-CN" altLang="zh-CN" dirty="0"/>
          </a:p>
          <a:p>
            <a:r>
              <a:rPr lang="en-US" altLang="zh-CN" dirty="0"/>
              <a:t>   </a:t>
            </a:r>
            <a:r>
              <a:rPr lang="en-US" altLang="zh-CN" dirty="0" err="1"/>
              <a:t>list_code</a:t>
            </a:r>
            <a:r>
              <a:rPr lang="en-US" altLang="zh-CN" dirty="0"/>
              <a:t>=[]</a:t>
            </a:r>
            <a:endParaRPr lang="zh-CN" altLang="zh-CN" dirty="0"/>
          </a:p>
          <a:p>
            <a:r>
              <a:rPr lang="en-US" altLang="zh-CN" dirty="0"/>
              <a:t>   </a:t>
            </a:r>
            <a:r>
              <a:rPr lang="en-US" altLang="zh-CN" dirty="0" err="1"/>
              <a:t>list_codec</a:t>
            </a:r>
            <a:r>
              <a:rPr lang="en-US" altLang="zh-CN" dirty="0"/>
              <a:t>=[]</a:t>
            </a:r>
            <a:endParaRPr lang="zh-CN" altLang="zh-CN" dirty="0"/>
          </a:p>
          <a:p>
            <a:r>
              <a:rPr lang="en-US" altLang="zh-CN" dirty="0"/>
              <a:t>   </a:t>
            </a:r>
            <a:r>
              <a:rPr lang="en-US" altLang="zh-CN" dirty="0" err="1"/>
              <a:t>list_r</a:t>
            </a:r>
            <a:r>
              <a:rPr lang="en-US" altLang="zh-CN" dirty="0"/>
              <a:t>=[]</a:t>
            </a:r>
            <a:endParaRPr lang="zh-CN" altLang="zh-CN" dirty="0"/>
          </a:p>
          <a:p>
            <a:r>
              <a:rPr lang="en-US" altLang="zh-CN" dirty="0"/>
              <a:t>   </a:t>
            </a:r>
            <a:r>
              <a:rPr lang="en-US" altLang="zh-CN" dirty="0" err="1"/>
              <a:t>list_cr</a:t>
            </a:r>
            <a:r>
              <a:rPr lang="en-US" altLang="zh-CN" dirty="0"/>
              <a:t>=[]</a:t>
            </a:r>
            <a:endParaRPr lang="zh-CN" altLang="zh-CN" dirty="0"/>
          </a:p>
          <a:p>
            <a:r>
              <a:rPr lang="en-US" altLang="zh-CN" dirty="0"/>
              <a:t>   for t in range(</a:t>
            </a:r>
            <a:r>
              <a:rPr lang="en-US" altLang="zh-CN" dirty="0" err="1"/>
              <a:t>class_num</a:t>
            </a:r>
            <a:r>
              <a:rPr lang="en-US" altLang="zh-CN" dirty="0"/>
              <a:t>):</a:t>
            </a:r>
            <a:endParaRPr lang="zh-CN" altLang="zh-CN" dirty="0"/>
          </a:p>
          <a:p>
            <a:r>
              <a:rPr lang="en-US" altLang="zh-CN" dirty="0"/>
              <a:t>       </a:t>
            </a:r>
            <a:r>
              <a:rPr lang="en-US" altLang="zh-CN" dirty="0" err="1"/>
              <a:t>code_t</a:t>
            </a:r>
            <a:r>
              <a:rPr lang="en-US" altLang="zh-CN" dirty="0"/>
              <a:t>=</a:t>
            </a:r>
            <a:r>
              <a:rPr lang="en-US" altLang="zh-CN" dirty="0" err="1"/>
              <a:t>KeyData_c</a:t>
            </a:r>
            <a:r>
              <a:rPr lang="en-US" altLang="zh-CN" dirty="0"/>
              <a:t>[</a:t>
            </a:r>
            <a:r>
              <a:rPr lang="en-US" altLang="zh-CN" dirty="0" err="1"/>
              <a:t>KeyData_c</a:t>
            </a:r>
            <a:r>
              <a:rPr lang="en-US" altLang="zh-CN" dirty="0"/>
              <a:t>[:,</a:t>
            </a:r>
            <a:r>
              <a:rPr lang="en-US" altLang="zh-CN" dirty="0" err="1"/>
              <a:t>len</a:t>
            </a:r>
            <a:r>
              <a:rPr lang="en-US" altLang="zh-CN" dirty="0"/>
              <a:t>(</a:t>
            </a:r>
            <a:r>
              <a:rPr lang="en-US" altLang="zh-CN" dirty="0" err="1"/>
              <a:t>KeyData_c</a:t>
            </a:r>
            <a:r>
              <a:rPr lang="en-US" altLang="zh-CN" dirty="0"/>
              <a:t>[0,:])-1]==t,0]</a:t>
            </a:r>
            <a:endParaRPr lang="zh-CN" altLang="zh-CN" dirty="0"/>
          </a:p>
          <a:p>
            <a:r>
              <a:rPr lang="en-US" altLang="zh-CN" dirty="0"/>
              <a:t>       </a:t>
            </a:r>
            <a:r>
              <a:rPr lang="en-US" altLang="zh-CN" dirty="0" err="1"/>
              <a:t>r_t</a:t>
            </a:r>
            <a:r>
              <a:rPr lang="en-US" altLang="zh-CN" dirty="0"/>
              <a:t>=0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10.6.1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函数定义及使用方法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10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9749" y="567839"/>
            <a:ext cx="11787014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count_t</a:t>
            </a:r>
            <a:r>
              <a:rPr lang="en-US" altLang="zh-CN" sz="2000" dirty="0"/>
              <a:t>=0</a:t>
            </a:r>
            <a:endParaRPr lang="zh-CN" altLang="zh-CN" sz="2000" dirty="0"/>
          </a:p>
          <a:p>
            <a:r>
              <a:rPr lang="en-US" altLang="zh-CN" sz="2000" dirty="0"/>
              <a:t>       for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in range(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(</a:t>
            </a:r>
            <a:r>
              <a:rPr lang="en-US" altLang="zh-CN" sz="2000" dirty="0" err="1"/>
              <a:t>code_t</a:t>
            </a:r>
            <a:r>
              <a:rPr lang="en-US" altLang="zh-CN" sz="2000" dirty="0"/>
              <a:t>)):</a:t>
            </a:r>
            <a:endParaRPr lang="zh-CN" altLang="zh-CN" sz="2000" dirty="0"/>
          </a:p>
          <a:p>
            <a:r>
              <a:rPr lang="en-US" altLang="zh-CN" sz="2000" dirty="0"/>
              <a:t>          I1=DA['</a:t>
            </a:r>
            <a:r>
              <a:rPr lang="en-US" altLang="zh-CN" sz="2000" dirty="0" err="1"/>
              <a:t>Trddt</a:t>
            </a:r>
            <a:r>
              <a:rPr lang="en-US" altLang="zh-CN" sz="2000" dirty="0"/>
              <a:t>'].values&gt;=s_trd1</a:t>
            </a:r>
            <a:endParaRPr lang="zh-CN" altLang="zh-CN" sz="2000" dirty="0"/>
          </a:p>
          <a:p>
            <a:r>
              <a:rPr lang="en-US" altLang="zh-CN" sz="2000" dirty="0"/>
              <a:t>          I2=DA['</a:t>
            </a:r>
            <a:r>
              <a:rPr lang="en-US" altLang="zh-CN" sz="2000" dirty="0" err="1"/>
              <a:t>Trddt</a:t>
            </a:r>
            <a:r>
              <a:rPr lang="en-US" altLang="zh-CN" sz="2000" dirty="0"/>
              <a:t>'].values&lt;=s_trd2</a:t>
            </a:r>
            <a:endParaRPr lang="zh-CN" altLang="zh-CN" sz="2000" dirty="0"/>
          </a:p>
          <a:p>
            <a:r>
              <a:rPr lang="en-US" altLang="zh-CN" sz="2000" dirty="0"/>
              <a:t>          I3=DA['</a:t>
            </a:r>
            <a:r>
              <a:rPr lang="en-US" altLang="zh-CN" sz="2000" dirty="0" err="1"/>
              <a:t>Stkcd</a:t>
            </a:r>
            <a:r>
              <a:rPr lang="en-US" altLang="zh-CN" sz="2000" dirty="0"/>
              <a:t>'].values==</a:t>
            </a:r>
            <a:r>
              <a:rPr lang="en-US" altLang="zh-CN" sz="2000" dirty="0" err="1"/>
              <a:t>code_t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</a:t>
            </a:r>
            <a:endParaRPr lang="zh-CN" altLang="zh-CN" sz="2000" dirty="0"/>
          </a:p>
          <a:p>
            <a:r>
              <a:rPr lang="en-US" altLang="zh-CN" sz="2000" dirty="0"/>
              <a:t>          I=I1&amp;I2&amp;I3</a:t>
            </a:r>
            <a:endParaRPr lang="zh-CN" altLang="zh-CN" sz="2000" dirty="0"/>
          </a:p>
          <a:p>
            <a:r>
              <a:rPr lang="en-US" altLang="zh-CN" sz="2000" dirty="0"/>
              <a:t>          </a:t>
            </a:r>
            <a:r>
              <a:rPr lang="en-US" altLang="zh-CN" sz="2000" dirty="0" err="1"/>
              <a:t>dta</a:t>
            </a:r>
            <a:r>
              <a:rPr lang="en-US" altLang="zh-CN" sz="2000" dirty="0"/>
              <a:t>=</a:t>
            </a:r>
            <a:r>
              <a:rPr lang="en-US" altLang="zh-CN" sz="2000" dirty="0" err="1"/>
              <a:t>DA.iloc</a:t>
            </a:r>
            <a:r>
              <a:rPr lang="en-US" altLang="zh-CN" sz="2000" dirty="0"/>
              <a:t>[I,[2]]['</a:t>
            </a:r>
            <a:r>
              <a:rPr lang="en-US" altLang="zh-CN" sz="2000" dirty="0" err="1"/>
              <a:t>Clsprc</a:t>
            </a:r>
            <a:r>
              <a:rPr lang="en-US" altLang="zh-CN" sz="2000" dirty="0"/>
              <a:t>'].values</a:t>
            </a:r>
            <a:endParaRPr lang="zh-CN" altLang="zh-CN" sz="2000" dirty="0"/>
          </a:p>
          <a:p>
            <a:r>
              <a:rPr lang="en-US" altLang="zh-CN" sz="2000" dirty="0"/>
              <a:t>          if 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(</a:t>
            </a:r>
            <a:r>
              <a:rPr lang="en-US" altLang="zh-CN" sz="2000" dirty="0" err="1"/>
              <a:t>dta</a:t>
            </a:r>
            <a:r>
              <a:rPr lang="en-US" altLang="zh-CN" sz="2000" dirty="0"/>
              <a:t>)&gt;1:</a:t>
            </a:r>
            <a:endParaRPr lang="zh-CN" altLang="zh-CN" sz="2000" dirty="0"/>
          </a:p>
          <a:p>
            <a:r>
              <a:rPr lang="en-US" altLang="zh-CN" sz="2000" dirty="0"/>
              <a:t>             r=(</a:t>
            </a:r>
            <a:r>
              <a:rPr lang="en-US" altLang="zh-CN" sz="2000" dirty="0" err="1"/>
              <a:t>dta</a:t>
            </a:r>
            <a:r>
              <a:rPr lang="en-US" altLang="zh-CN" sz="2000" dirty="0"/>
              <a:t>[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(</a:t>
            </a:r>
            <a:r>
              <a:rPr lang="en-US" altLang="zh-CN" sz="2000" dirty="0" err="1"/>
              <a:t>dta</a:t>
            </a:r>
            <a:r>
              <a:rPr lang="en-US" altLang="zh-CN" sz="2000" dirty="0"/>
              <a:t>)-1]-</a:t>
            </a:r>
            <a:r>
              <a:rPr lang="en-US" altLang="zh-CN" sz="2000" dirty="0" err="1"/>
              <a:t>dta</a:t>
            </a:r>
            <a:r>
              <a:rPr lang="en-US" altLang="zh-CN" sz="2000" dirty="0"/>
              <a:t>[0])/</a:t>
            </a:r>
            <a:r>
              <a:rPr lang="en-US" altLang="zh-CN" sz="2000" dirty="0" err="1"/>
              <a:t>dta</a:t>
            </a:r>
            <a:r>
              <a:rPr lang="en-US" altLang="zh-CN" sz="2000" dirty="0"/>
              <a:t>[0]</a:t>
            </a:r>
            <a:endParaRPr lang="zh-CN" altLang="zh-CN" sz="2000" dirty="0"/>
          </a:p>
          <a:p>
            <a:r>
              <a:rPr lang="en-US" altLang="zh-CN" sz="2000" dirty="0"/>
              <a:t>             </a:t>
            </a:r>
            <a:r>
              <a:rPr lang="en-US" altLang="zh-CN" sz="2000" dirty="0" err="1"/>
              <a:t>list_code.append</a:t>
            </a:r>
            <a:r>
              <a:rPr lang="en-US" altLang="zh-CN" sz="2000" dirty="0"/>
              <a:t>(</a:t>
            </a:r>
            <a:r>
              <a:rPr lang="en-US" altLang="zh-CN" sz="2000" dirty="0" err="1"/>
              <a:t>code_t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])</a:t>
            </a:r>
            <a:endParaRPr lang="zh-CN" altLang="zh-CN" sz="2000" dirty="0"/>
          </a:p>
          <a:p>
            <a:r>
              <a:rPr lang="en-US" altLang="zh-CN" sz="2000" dirty="0"/>
              <a:t>             </a:t>
            </a:r>
            <a:r>
              <a:rPr lang="en-US" altLang="zh-CN" sz="2000" dirty="0" err="1"/>
              <a:t>list_codec.append</a:t>
            </a:r>
            <a:r>
              <a:rPr lang="en-US" altLang="zh-CN" sz="2000" dirty="0"/>
              <a:t>(t)</a:t>
            </a:r>
            <a:endParaRPr lang="zh-CN" altLang="zh-CN" sz="2000" dirty="0"/>
          </a:p>
          <a:p>
            <a:r>
              <a:rPr lang="en-US" altLang="zh-CN" sz="2000" dirty="0"/>
              <a:t>             </a:t>
            </a:r>
            <a:r>
              <a:rPr lang="en-US" altLang="zh-CN" sz="2000" dirty="0" err="1"/>
              <a:t>list_r.append</a:t>
            </a:r>
            <a:r>
              <a:rPr lang="en-US" altLang="zh-CN" sz="2000" dirty="0"/>
              <a:t>(r)</a:t>
            </a:r>
            <a:endParaRPr lang="zh-CN" altLang="zh-CN" sz="2000" dirty="0"/>
          </a:p>
          <a:p>
            <a:r>
              <a:rPr lang="en-US" altLang="zh-CN" sz="2000" dirty="0"/>
              <a:t>             </a:t>
            </a:r>
            <a:r>
              <a:rPr lang="en-US" altLang="zh-CN" sz="2000" dirty="0" err="1"/>
              <a:t>r_t</a:t>
            </a:r>
            <a:r>
              <a:rPr lang="en-US" altLang="zh-CN" sz="2000" dirty="0"/>
              <a:t>=</a:t>
            </a:r>
            <a:r>
              <a:rPr lang="en-US" altLang="zh-CN" sz="2000" dirty="0" err="1"/>
              <a:t>r_t+r</a:t>
            </a:r>
            <a:endParaRPr lang="zh-CN" altLang="zh-CN" sz="2000" dirty="0"/>
          </a:p>
          <a:p>
            <a:r>
              <a:rPr lang="en-US" altLang="zh-CN" sz="2000" dirty="0"/>
              <a:t>             </a:t>
            </a:r>
            <a:r>
              <a:rPr lang="en-US" altLang="zh-CN" sz="2000" dirty="0" err="1"/>
              <a:t>count_t</a:t>
            </a:r>
            <a:r>
              <a:rPr lang="en-US" altLang="zh-CN" sz="2000" dirty="0"/>
              <a:t>=count_t+1</a:t>
            </a:r>
            <a:endParaRPr lang="zh-CN" altLang="zh-CN" sz="2000" dirty="0"/>
          </a:p>
          <a:p>
            <a:r>
              <a:rPr lang="en-US" altLang="zh-CN" sz="2000" dirty="0"/>
              <a:t>             </a:t>
            </a:r>
            <a:r>
              <a:rPr lang="en-US" altLang="zh-CN" sz="2000" dirty="0" err="1"/>
              <a:t>list_cr.append</a:t>
            </a:r>
            <a:r>
              <a:rPr lang="en-US" altLang="zh-CN" sz="2000" dirty="0"/>
              <a:t>(</a:t>
            </a:r>
            <a:r>
              <a:rPr lang="en-US" altLang="zh-CN" sz="2000" dirty="0" err="1"/>
              <a:t>r_t</a:t>
            </a:r>
            <a:r>
              <a:rPr lang="en-US" altLang="zh-CN" sz="2000" dirty="0"/>
              <a:t>/</a:t>
            </a:r>
            <a:r>
              <a:rPr lang="en-US" altLang="zh-CN" sz="2000" dirty="0" err="1"/>
              <a:t>count_t</a:t>
            </a:r>
            <a:r>
              <a:rPr lang="en-US" altLang="zh-CN" sz="2000" dirty="0"/>
              <a:t>)</a:t>
            </a:r>
            <a:endParaRPr lang="zh-CN" altLang="zh-CN" sz="2000" dirty="0"/>
          </a:p>
          <a:p>
            <a:r>
              <a:rPr lang="en-US" altLang="zh-CN" sz="2000" dirty="0"/>
              <a:t>   D={'code':list_code,'codec':list_codec,'coder':</a:t>
            </a:r>
            <a:r>
              <a:rPr lang="en-US" altLang="zh-CN" sz="2000" dirty="0" err="1"/>
              <a:t>list_r</a:t>
            </a:r>
            <a:r>
              <a:rPr lang="en-US" altLang="zh-CN" sz="2000" dirty="0"/>
              <a:t>}</a:t>
            </a:r>
            <a:endParaRPr lang="zh-CN" altLang="zh-CN" sz="2000" dirty="0"/>
          </a:p>
          <a:p>
            <a:r>
              <a:rPr lang="en-US" altLang="zh-CN" sz="2000" dirty="0"/>
              <a:t>   D=</a:t>
            </a:r>
            <a:r>
              <a:rPr lang="en-US" altLang="zh-CN" sz="2000" dirty="0" err="1"/>
              <a:t>pd.DataFrame</a:t>
            </a:r>
            <a:r>
              <a:rPr lang="en-US" altLang="zh-CN" sz="2000" dirty="0"/>
              <a:t>(D)</a:t>
            </a:r>
            <a:endParaRPr lang="zh-CN" altLang="zh-CN" sz="2000" dirty="0"/>
          </a:p>
          <a:p>
            <a:r>
              <a:rPr lang="en-US" altLang="zh-CN" sz="2000" dirty="0"/>
              <a:t>   return (</a:t>
            </a:r>
            <a:r>
              <a:rPr lang="en-US" altLang="zh-CN" sz="2000" dirty="0" err="1"/>
              <a:t>Data_c,KeyData_c,KeyData_index_c,D,list_cr</a:t>
            </a:r>
            <a:r>
              <a:rPr lang="en-US" altLang="zh-CN" sz="2000" dirty="0"/>
              <a:t>)</a:t>
            </a:r>
            <a:endParaRPr lang="zh-CN" altLang="zh-CN" sz="2000" dirty="0"/>
          </a:p>
          <a:p>
            <a:r>
              <a:rPr lang="en-US" altLang="zh-CN" sz="2000" dirty="0"/>
              <a:t> </a:t>
            </a:r>
            <a:endParaRPr lang="zh-CN" altLang="zh-CN" sz="2000" dirty="0"/>
          </a:p>
          <a:p>
            <a:r>
              <a:rPr lang="en-US" altLang="zh-CN" sz="2000" dirty="0"/>
              <a:t>def </a:t>
            </a:r>
            <a:r>
              <a:rPr lang="en-US" altLang="zh-CN" sz="2000" dirty="0" err="1"/>
              <a:t>huiti</a:t>
            </a:r>
            <a:r>
              <a:rPr lang="en-US" altLang="zh-CN" sz="2000" dirty="0"/>
              <a:t>(</a:t>
            </a:r>
            <a:r>
              <a:rPr lang="en-US" altLang="zh-CN" sz="2000" dirty="0" err="1"/>
              <a:t>KeyData_c,KeyData_index_c,class_num,list_cr</a:t>
            </a:r>
            <a:r>
              <a:rPr lang="en-US" altLang="zh-CN" sz="2000" dirty="0"/>
              <a:t>):</a:t>
            </a:r>
            <a:endParaRPr lang="zh-CN" altLang="zh-CN" sz="2000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10.6.1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函数定义及使用方法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10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0263" y="692696"/>
            <a:ext cx="120565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#</a:t>
            </a:r>
            <a:r>
              <a:rPr lang="zh-CN" altLang="zh-CN" sz="2000" dirty="0"/>
              <a:t>输入：</a:t>
            </a:r>
          </a:p>
          <a:p>
            <a:r>
              <a:rPr lang="en-US" altLang="zh-CN" sz="2000" dirty="0"/>
              <a:t>   #</a:t>
            </a:r>
            <a:r>
              <a:rPr lang="en-US" altLang="zh-CN" sz="2000" dirty="0" err="1"/>
              <a:t>KeyData_c</a:t>
            </a:r>
            <a:r>
              <a:rPr lang="en-US" altLang="zh-CN" sz="2000" dirty="0"/>
              <a:t>--</a:t>
            </a:r>
            <a:r>
              <a:rPr lang="zh-CN" altLang="zh-CN" sz="2000" dirty="0"/>
              <a:t>关键价格点数据</a:t>
            </a:r>
            <a:r>
              <a:rPr lang="en-US" altLang="zh-CN" sz="2000" dirty="0"/>
              <a:t>+</a:t>
            </a:r>
            <a:r>
              <a:rPr lang="zh-CN" altLang="zh-CN" sz="2000" dirty="0"/>
              <a:t>聚类结果列</a:t>
            </a:r>
          </a:p>
          <a:p>
            <a:r>
              <a:rPr lang="en-US" altLang="zh-CN" sz="2000" dirty="0"/>
              <a:t>   #</a:t>
            </a:r>
            <a:r>
              <a:rPr lang="en-US" altLang="zh-CN" sz="2000" dirty="0" err="1"/>
              <a:t>KeyData_index_c</a:t>
            </a:r>
            <a:r>
              <a:rPr lang="en-US" altLang="zh-CN" sz="2000" dirty="0"/>
              <a:t>--</a:t>
            </a:r>
            <a:r>
              <a:rPr lang="zh-CN" altLang="zh-CN" sz="2000" dirty="0"/>
              <a:t>关键价格点对应序号</a:t>
            </a:r>
            <a:r>
              <a:rPr lang="en-US" altLang="zh-CN" sz="2000" dirty="0"/>
              <a:t>+</a:t>
            </a:r>
            <a:r>
              <a:rPr lang="zh-CN" altLang="zh-CN" sz="2000" dirty="0"/>
              <a:t>聚类结果列</a:t>
            </a:r>
          </a:p>
          <a:p>
            <a:r>
              <a:rPr lang="en-US" altLang="zh-CN" sz="2000" dirty="0"/>
              <a:t>   #</a:t>
            </a:r>
            <a:r>
              <a:rPr lang="en-US" altLang="zh-CN" sz="2000" dirty="0" err="1"/>
              <a:t>class_num</a:t>
            </a:r>
            <a:r>
              <a:rPr lang="en-US" altLang="zh-CN" sz="2000" dirty="0"/>
              <a:t>--</a:t>
            </a:r>
            <a:r>
              <a:rPr lang="zh-CN" altLang="zh-CN" sz="2000" dirty="0"/>
              <a:t>聚类个数</a:t>
            </a:r>
          </a:p>
          <a:p>
            <a:r>
              <a:rPr lang="en-US" altLang="zh-CN" sz="2000" dirty="0"/>
              <a:t>   #</a:t>
            </a:r>
            <a:r>
              <a:rPr lang="en-US" altLang="zh-CN" sz="2000" dirty="0" err="1"/>
              <a:t>list_cr</a:t>
            </a:r>
            <a:r>
              <a:rPr lang="en-US" altLang="zh-CN" sz="2000" dirty="0"/>
              <a:t>--</a:t>
            </a:r>
            <a:r>
              <a:rPr lang="zh-CN" altLang="zh-CN" sz="2000" dirty="0"/>
              <a:t>每类股票的总收益</a:t>
            </a:r>
          </a:p>
          <a:p>
            <a:r>
              <a:rPr lang="en-US" altLang="zh-CN" sz="2000" dirty="0"/>
              <a:t>   import </a:t>
            </a:r>
            <a:r>
              <a:rPr lang="en-US" altLang="zh-CN" sz="2000" dirty="0" err="1"/>
              <a:t>matplotlib.pyplot</a:t>
            </a:r>
            <a:r>
              <a:rPr lang="en-US" altLang="zh-CN" sz="2000" dirty="0"/>
              <a:t> as </a:t>
            </a:r>
            <a:r>
              <a:rPr lang="en-US" altLang="zh-CN" sz="2000" dirty="0" err="1"/>
              <a:t>plt</a:t>
            </a:r>
            <a:endParaRPr lang="zh-CN" altLang="zh-CN" sz="2000" dirty="0"/>
          </a:p>
          <a:p>
            <a:r>
              <a:rPr lang="en-US" altLang="zh-CN" sz="2000" dirty="0"/>
              <a:t>   p=0</a:t>
            </a:r>
            <a:endParaRPr lang="zh-CN" altLang="zh-CN" sz="2000" dirty="0"/>
          </a:p>
          <a:p>
            <a:r>
              <a:rPr lang="en-US" altLang="zh-CN" sz="2000" dirty="0"/>
              <a:t>   for t in range(</a:t>
            </a:r>
            <a:r>
              <a:rPr lang="en-US" altLang="zh-CN" sz="2000" dirty="0" err="1"/>
              <a:t>class_num</a:t>
            </a:r>
            <a:r>
              <a:rPr lang="en-US" altLang="zh-CN" sz="2000" dirty="0"/>
              <a:t>):</a:t>
            </a:r>
            <a:endParaRPr lang="zh-CN" altLang="zh-CN" sz="2000" dirty="0"/>
          </a:p>
          <a:p>
            <a:r>
              <a:rPr lang="en-US" altLang="zh-CN" sz="2000" dirty="0"/>
              <a:t>       dat1=</a:t>
            </a:r>
            <a:r>
              <a:rPr lang="en-US" altLang="zh-CN" sz="2000" dirty="0" err="1"/>
              <a:t>KeyData_c</a:t>
            </a:r>
            <a:r>
              <a:rPr lang="en-US" altLang="zh-CN" sz="2000" dirty="0"/>
              <a:t>[</a:t>
            </a:r>
            <a:r>
              <a:rPr lang="en-US" altLang="zh-CN" sz="2000" dirty="0" err="1"/>
              <a:t>KeyData_c</a:t>
            </a:r>
            <a:r>
              <a:rPr lang="en-US" altLang="zh-CN" sz="2000" dirty="0"/>
              <a:t>[:,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(</a:t>
            </a:r>
            <a:r>
              <a:rPr lang="en-US" altLang="zh-CN" sz="2000" dirty="0" err="1"/>
              <a:t>KeyData_c</a:t>
            </a:r>
            <a:r>
              <a:rPr lang="en-US" altLang="zh-CN" sz="2000" dirty="0"/>
              <a:t>[0,:])-1]==t,1:-1]</a:t>
            </a:r>
            <a:endParaRPr lang="zh-CN" altLang="zh-CN" sz="2000" dirty="0"/>
          </a:p>
          <a:p>
            <a:r>
              <a:rPr lang="en-US" altLang="zh-CN" sz="2000" dirty="0"/>
              <a:t>       dat2=</a:t>
            </a:r>
            <a:r>
              <a:rPr lang="en-US" altLang="zh-CN" sz="2000" dirty="0" err="1"/>
              <a:t>KeyData_index_c</a:t>
            </a:r>
            <a:r>
              <a:rPr lang="en-US" altLang="zh-CN" sz="2000" dirty="0"/>
              <a:t>[</a:t>
            </a:r>
            <a:r>
              <a:rPr lang="en-US" altLang="zh-CN" sz="2000" dirty="0" err="1"/>
              <a:t>KeyData_index_c</a:t>
            </a:r>
            <a:r>
              <a:rPr lang="en-US" altLang="zh-CN" sz="2000" dirty="0"/>
              <a:t>[:,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(</a:t>
            </a:r>
            <a:r>
              <a:rPr lang="en-US" altLang="zh-CN" sz="2000" dirty="0" err="1"/>
              <a:t>KeyData_index_c</a:t>
            </a:r>
            <a:r>
              <a:rPr lang="en-US" altLang="zh-CN" sz="2000" dirty="0"/>
              <a:t>[0,:])-1]==t,1:-1]</a:t>
            </a:r>
            <a:endParaRPr lang="zh-CN" altLang="zh-CN" sz="2000" dirty="0"/>
          </a:p>
          <a:p>
            <a:r>
              <a:rPr lang="en-US" altLang="zh-CN" sz="2000" dirty="0"/>
              <a:t>       if t%4==0: </a:t>
            </a:r>
            <a:endParaRPr lang="zh-CN" altLang="zh-CN" sz="2000" dirty="0"/>
          </a:p>
          <a:p>
            <a:r>
              <a:rPr lang="en-US" altLang="zh-CN" sz="2000" dirty="0"/>
              <a:t>          p=p+1</a:t>
            </a:r>
            <a:endParaRPr lang="zh-CN" altLang="zh-CN" sz="2000" dirty="0"/>
          </a:p>
          <a:p>
            <a:r>
              <a:rPr lang="en-US" altLang="zh-CN" sz="2000" dirty="0"/>
              <a:t>          </a:t>
            </a:r>
            <a:r>
              <a:rPr lang="en-US" altLang="zh-CN" sz="2000" dirty="0" err="1"/>
              <a:t>plt.figure</a:t>
            </a:r>
            <a:r>
              <a:rPr lang="en-US" altLang="zh-CN" sz="2000" dirty="0"/>
              <a:t>(p)</a:t>
            </a:r>
            <a:endParaRPr lang="zh-CN" altLang="zh-CN" sz="2000" dirty="0"/>
          </a:p>
          <a:p>
            <a:r>
              <a:rPr lang="en-US" altLang="zh-CN" sz="2000" dirty="0"/>
              <a:t>          </a:t>
            </a:r>
            <a:r>
              <a:rPr lang="en-US" altLang="zh-CN" sz="2000" dirty="0" err="1"/>
              <a:t>plt.figure</a:t>
            </a:r>
            <a:r>
              <a:rPr lang="en-US" altLang="zh-CN" sz="2000" dirty="0"/>
              <a:t>(</a:t>
            </a:r>
            <a:r>
              <a:rPr lang="en-US" altLang="zh-CN" sz="2000" dirty="0" err="1"/>
              <a:t>figsize</a:t>
            </a:r>
            <a:r>
              <a:rPr lang="en-US" altLang="zh-CN" sz="2000" dirty="0"/>
              <a:t>=(8,6))</a:t>
            </a:r>
            <a:endParaRPr lang="zh-CN" altLang="zh-CN" sz="2000" dirty="0"/>
          </a:p>
          <a:p>
            <a:r>
              <a:rPr lang="en-US" altLang="zh-CN" sz="2000" dirty="0"/>
              <a:t>        </a:t>
            </a:r>
            <a:endParaRPr lang="zh-CN" altLang="zh-CN" sz="2000" dirty="0"/>
          </a:p>
          <a:p>
            <a:r>
              <a:rPr lang="en-US" altLang="zh-CN" sz="2000" dirty="0"/>
              <a:t>       </a:t>
            </a:r>
            <a:r>
              <a:rPr lang="en-US" altLang="zh-CN" sz="2000" dirty="0" err="1"/>
              <a:t>plt.subplot</a:t>
            </a:r>
            <a:r>
              <a:rPr lang="en-US" altLang="zh-CN" sz="2000" dirty="0"/>
              <a:t>(2,2,t%4+1)</a:t>
            </a:r>
            <a:endParaRPr lang="zh-CN" altLang="zh-CN" sz="2000" dirty="0"/>
          </a:p>
          <a:p>
            <a:r>
              <a:rPr lang="en-US" altLang="zh-CN" sz="2000" dirty="0"/>
              <a:t>       </a:t>
            </a:r>
            <a:r>
              <a:rPr lang="en-US" altLang="zh-CN" sz="2000" dirty="0" err="1"/>
              <a:t>plt.title</a:t>
            </a:r>
            <a:r>
              <a:rPr lang="en-US" altLang="zh-CN" sz="2000" dirty="0"/>
              <a:t>(u'</a:t>
            </a:r>
            <a:r>
              <a:rPr lang="zh-CN" altLang="zh-CN" sz="2000" dirty="0"/>
              <a:t>一个月后平均收益率为：</a:t>
            </a:r>
            <a:r>
              <a:rPr lang="en-US" altLang="zh-CN" sz="2000" dirty="0"/>
              <a:t>'+str(</a:t>
            </a:r>
            <a:r>
              <a:rPr lang="en-US" altLang="zh-CN" sz="2000" dirty="0" err="1"/>
              <a:t>list_cr</a:t>
            </a:r>
            <a:r>
              <a:rPr lang="en-US" altLang="zh-CN" sz="2000" dirty="0"/>
              <a:t>[t]),</a:t>
            </a:r>
            <a:r>
              <a:rPr lang="en-US" altLang="zh-CN" sz="2000" dirty="0" err="1"/>
              <a:t>fontproperties</a:t>
            </a:r>
            <a:r>
              <a:rPr lang="en-US" altLang="zh-CN" sz="2000" dirty="0"/>
              <a:t>='</a:t>
            </a:r>
            <a:r>
              <a:rPr lang="en-US" altLang="zh-CN" sz="2000" dirty="0" err="1"/>
              <a:t>SimHei</a:t>
            </a:r>
            <a:r>
              <a:rPr lang="en-US" altLang="zh-CN" sz="2000" dirty="0"/>
              <a:t>',size=10)</a:t>
            </a:r>
            <a:endParaRPr lang="zh-CN" altLang="zh-CN" sz="2000" dirty="0"/>
          </a:p>
          <a:p>
            <a:r>
              <a:rPr lang="en-US" altLang="zh-CN" sz="2000" dirty="0"/>
              <a:t>       </a:t>
            </a:r>
            <a:r>
              <a:rPr lang="en-US" altLang="zh-CN" sz="2000" dirty="0" err="1"/>
              <a:t>plt.tight_layout</a:t>
            </a:r>
            <a:r>
              <a:rPr lang="en-US" altLang="zh-CN" sz="2000" dirty="0"/>
              <a:t>()</a:t>
            </a:r>
            <a:endParaRPr lang="zh-CN" altLang="zh-CN" sz="2000" dirty="0"/>
          </a:p>
          <a:p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10.6.1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函数定义及使用方法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10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0263" y="692696"/>
            <a:ext cx="1205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zh-CN" dirty="0"/>
          </a:p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40263" y="692696"/>
            <a:ext cx="120565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 for k in range(5):</a:t>
            </a:r>
          </a:p>
          <a:p>
            <a:r>
              <a:rPr lang="en-US" altLang="zh-CN" sz="2000" dirty="0"/>
              <a:t>          if k&lt;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(dat1):</a:t>
            </a:r>
            <a:endParaRPr lang="zh-CN" altLang="zh-CN" sz="2000" dirty="0"/>
          </a:p>
          <a:p>
            <a:r>
              <a:rPr lang="en-US" altLang="zh-CN" sz="2000" dirty="0"/>
              <a:t>              </a:t>
            </a:r>
            <a:r>
              <a:rPr lang="en-US" altLang="zh-CN" sz="2000" dirty="0" err="1"/>
              <a:t>plt.plot</a:t>
            </a:r>
            <a:r>
              <a:rPr lang="en-US" altLang="zh-CN" sz="2000" dirty="0"/>
              <a:t>(dat2[k,:],dat1[k,:])</a:t>
            </a:r>
            <a:endParaRPr lang="zh-CN" altLang="zh-CN" sz="2000" dirty="0"/>
          </a:p>
          <a:p>
            <a:r>
              <a:rPr lang="en-US" altLang="zh-CN" sz="2000" dirty="0"/>
              <a:t>       </a:t>
            </a:r>
            <a:r>
              <a:rPr lang="en-US" altLang="zh-CN" sz="2000" dirty="0" err="1"/>
              <a:t>plt.savefig</a:t>
            </a:r>
            <a:r>
              <a:rPr lang="en-US" altLang="zh-CN" sz="2000" dirty="0"/>
              <a:t>(str(p))</a:t>
            </a:r>
          </a:p>
          <a:p>
            <a:r>
              <a:rPr lang="zh-CN" altLang="zh-CN" sz="2000" dirty="0"/>
              <a:t>各函数的输入输出说明见函数定义的开始位置。比如</a:t>
            </a:r>
            <a:r>
              <a:rPr lang="en-US" altLang="zh-CN" sz="2000" dirty="0"/>
              <a:t>10.5</a:t>
            </a:r>
            <a:r>
              <a:rPr lang="zh-CN" altLang="zh-CN" sz="2000" dirty="0"/>
              <a:t>介绍的例子可以通过调用以上定义的函数实现，示例代码如下：</a:t>
            </a:r>
          </a:p>
          <a:p>
            <a:r>
              <a:rPr lang="en-US" altLang="zh-CN" sz="2000" dirty="0"/>
              <a:t>import pandas as pd </a:t>
            </a:r>
            <a:endParaRPr lang="zh-CN" altLang="zh-CN" sz="2000" dirty="0"/>
          </a:p>
          <a:p>
            <a:r>
              <a:rPr lang="en-US" altLang="zh-CN" sz="2000" dirty="0"/>
              <a:t>DA=</a:t>
            </a:r>
            <a:r>
              <a:rPr lang="en-US" altLang="zh-CN" sz="2000" dirty="0" err="1"/>
              <a:t>pd.read_excel</a:t>
            </a:r>
            <a:r>
              <a:rPr lang="en-US" altLang="zh-CN" sz="2000" dirty="0"/>
              <a:t>('DA.xlsx') </a:t>
            </a:r>
            <a:endParaRPr lang="zh-CN" altLang="zh-CN" sz="2000" dirty="0"/>
          </a:p>
          <a:p>
            <a:r>
              <a:rPr lang="en-US" altLang="zh-CN" sz="2000" dirty="0"/>
              <a:t>R1=FR1(DA,'2017-05-01','2017-07-31',400)</a:t>
            </a:r>
            <a:endParaRPr lang="zh-CN" altLang="zh-CN" sz="2000" dirty="0"/>
          </a:p>
          <a:p>
            <a:r>
              <a:rPr lang="en-US" altLang="zh-CN" sz="2000" dirty="0"/>
              <a:t>R2=FR2(DA,R1[0],R1[1],R1[2],'2017-08-01','2017-08-31',20)</a:t>
            </a:r>
            <a:endParaRPr lang="zh-CN" altLang="zh-CN" sz="2000" dirty="0"/>
          </a:p>
          <a:p>
            <a:r>
              <a:rPr lang="en-US" altLang="zh-CN" sz="2000" dirty="0"/>
              <a:t>D=R2[3]</a:t>
            </a:r>
            <a:endParaRPr lang="zh-CN" altLang="zh-CN" sz="2000" dirty="0"/>
          </a:p>
          <a:p>
            <a:r>
              <a:rPr lang="en-US" altLang="zh-CN" sz="2000" dirty="0" err="1"/>
              <a:t>list_cr</a:t>
            </a:r>
            <a:r>
              <a:rPr lang="en-US" altLang="zh-CN" sz="2000" dirty="0"/>
              <a:t>=</a:t>
            </a:r>
            <a:r>
              <a:rPr lang="en-US" altLang="zh-CN" sz="2000" dirty="0" err="1"/>
              <a:t>pd.Series</a:t>
            </a:r>
            <a:r>
              <a:rPr lang="en-US" altLang="zh-CN" sz="2000" dirty="0"/>
              <a:t>(R2[4])</a:t>
            </a:r>
            <a:endParaRPr lang="zh-CN" altLang="zh-CN" sz="2000" dirty="0"/>
          </a:p>
          <a:p>
            <a:r>
              <a:rPr lang="en-US" altLang="zh-CN" sz="2000" dirty="0" err="1"/>
              <a:t>huiti</a:t>
            </a:r>
            <a:r>
              <a:rPr lang="en-US" altLang="zh-CN" sz="2000" dirty="0"/>
              <a:t>(R2[1],R2[2],20,list_cr)</a:t>
            </a:r>
            <a:endParaRPr lang="zh-CN" altLang="zh-CN" sz="2000" dirty="0"/>
          </a:p>
          <a:p>
            <a:r>
              <a:rPr lang="zh-CN" altLang="zh-CN" sz="2000" dirty="0"/>
              <a:t>通过调用定义的</a:t>
            </a:r>
            <a:r>
              <a:rPr lang="en-US" altLang="zh-CN" sz="2000" dirty="0"/>
              <a:t>3</a:t>
            </a:r>
            <a:r>
              <a:rPr lang="zh-CN" altLang="zh-CN" sz="2000" dirty="0"/>
              <a:t>个函数进行计算，可以发现其结果及形态图形与前面介绍的一致，下面将利用定义的这些函数设计量化投资策略实现。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711831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10.6.2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训练样本与预测样本的构建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10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0263" y="692696"/>
            <a:ext cx="1205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zh-CN" dirty="0"/>
          </a:p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40263" y="690956"/>
            <a:ext cx="11916237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根据前面</a:t>
            </a:r>
            <a:r>
              <a:rPr lang="en-US" altLang="zh-CN" sz="2000" dirty="0"/>
              <a:t>10.2</a:t>
            </a:r>
            <a:r>
              <a:rPr lang="zh-CN" altLang="zh-CN" sz="2000" dirty="0"/>
              <a:t>的介绍，选用</a:t>
            </a:r>
            <a:r>
              <a:rPr lang="en-US" altLang="zh-CN" sz="2000" dirty="0"/>
              <a:t>2017-05-01~2017-07-31</a:t>
            </a:r>
            <a:r>
              <a:rPr lang="zh-CN" altLang="zh-CN" sz="2000" dirty="0"/>
              <a:t>和</a:t>
            </a:r>
            <a:r>
              <a:rPr lang="en-US" altLang="zh-CN" sz="2000" dirty="0"/>
              <a:t>2017-06-01~2017-08-31</a:t>
            </a:r>
            <a:r>
              <a:rPr lang="zh-CN" altLang="zh-CN" sz="2000" dirty="0"/>
              <a:t>两个计算周期的交易数据提取股票价格形态特征进行聚类，并分别以</a:t>
            </a:r>
            <a:r>
              <a:rPr lang="en-US" altLang="zh-CN" sz="2000" dirty="0"/>
              <a:t>2017-08-01~2017-08-31</a:t>
            </a:r>
            <a:r>
              <a:rPr lang="zh-CN" altLang="zh-CN" sz="2000" dirty="0"/>
              <a:t>和</a:t>
            </a:r>
            <a:r>
              <a:rPr lang="en-US" altLang="zh-CN" sz="2000" dirty="0"/>
              <a:t>2017-09-01~2017-09-30</a:t>
            </a:r>
            <a:r>
              <a:rPr lang="zh-CN" altLang="zh-CN" sz="2000" dirty="0"/>
              <a:t>两个持有期计算每个类别的平均收益率，如果类平均收益率排名前</a:t>
            </a:r>
            <a:r>
              <a:rPr lang="en-US" altLang="zh-CN" sz="2000" dirty="0"/>
              <a:t>5</a:t>
            </a:r>
            <a:r>
              <a:rPr lang="zh-CN" altLang="zh-CN" sz="2000" dirty="0"/>
              <a:t>，则该类中所有股票记为</a:t>
            </a:r>
            <a:r>
              <a:rPr lang="en-US" altLang="zh-CN" sz="2000" dirty="0"/>
              <a:t>+1</a:t>
            </a:r>
            <a:r>
              <a:rPr lang="zh-CN" altLang="zh-CN" sz="2000" dirty="0"/>
              <a:t>类，否则记为</a:t>
            </a:r>
            <a:r>
              <a:rPr lang="en-US" altLang="zh-CN" sz="2000" dirty="0"/>
              <a:t>-1</a:t>
            </a:r>
            <a:r>
              <a:rPr lang="zh-CN" altLang="zh-CN" sz="2000" dirty="0"/>
              <a:t>类，并以此构建训练样本。其中提取的股票价格形态特征作为训练样本的</a:t>
            </a:r>
            <a:r>
              <a:rPr lang="en-US" altLang="zh-CN" sz="2000" dirty="0"/>
              <a:t>X</a:t>
            </a:r>
            <a:r>
              <a:rPr lang="zh-CN" altLang="zh-CN" sz="2000" dirty="0"/>
              <a:t>，标记的</a:t>
            </a:r>
            <a:r>
              <a:rPr lang="en-US" altLang="zh-CN" sz="2000" dirty="0"/>
              <a:t>+1/-1</a:t>
            </a:r>
            <a:r>
              <a:rPr lang="zh-CN" altLang="zh-CN" sz="2000" dirty="0"/>
              <a:t>作为训练样本的</a:t>
            </a:r>
            <a:r>
              <a:rPr lang="en-US" altLang="zh-CN" sz="2000" dirty="0"/>
              <a:t>Y</a:t>
            </a:r>
            <a:r>
              <a:rPr lang="zh-CN" altLang="zh-CN" sz="2000" dirty="0"/>
              <a:t>值。这里调用了前面定义的</a:t>
            </a:r>
            <a:r>
              <a:rPr lang="en-US" altLang="zh-CN" sz="2000" dirty="0"/>
              <a:t>FR1</a:t>
            </a:r>
            <a:r>
              <a:rPr lang="zh-CN" altLang="zh-CN" sz="2000" dirty="0"/>
              <a:t>和</a:t>
            </a:r>
            <a:r>
              <a:rPr lang="en-US" altLang="zh-CN" sz="2000" dirty="0"/>
              <a:t>FR2</a:t>
            </a:r>
            <a:r>
              <a:rPr lang="zh-CN" altLang="zh-CN" sz="2000" dirty="0"/>
              <a:t>两个函数实现，示例代码如下：</a:t>
            </a:r>
            <a:endParaRPr lang="en-US" altLang="zh-CN" sz="2000" dirty="0"/>
          </a:p>
          <a:p>
            <a:r>
              <a:rPr lang="en-US" altLang="zh-CN" dirty="0"/>
              <a:t>import pandas as pd </a:t>
            </a:r>
            <a:endParaRPr lang="zh-CN" altLang="zh-CN" dirty="0"/>
          </a:p>
          <a:p>
            <a:r>
              <a:rPr lang="en-US" altLang="zh-CN" dirty="0"/>
              <a:t>DA=</a:t>
            </a:r>
            <a:r>
              <a:rPr lang="en-US" altLang="zh-CN" dirty="0" err="1"/>
              <a:t>pd.read_excel</a:t>
            </a:r>
            <a:r>
              <a:rPr lang="en-US" altLang="zh-CN" dirty="0"/>
              <a:t>('DA.xlsx') </a:t>
            </a:r>
            <a:endParaRPr lang="zh-CN" altLang="zh-CN" dirty="0"/>
          </a:p>
          <a:p>
            <a:r>
              <a:rPr lang="en-US" altLang="zh-CN" dirty="0"/>
              <a:t>R1=FR1(DA,'2017-05-01','2017-07-31',400)</a:t>
            </a:r>
            <a:endParaRPr lang="zh-CN" altLang="zh-CN" dirty="0"/>
          </a:p>
          <a:p>
            <a:r>
              <a:rPr lang="en-US" altLang="zh-CN" dirty="0"/>
              <a:t>R2=FR2(DA,R1[0],R1[1],R1[2],'2017-08-01','2017-08-31',20)</a:t>
            </a:r>
            <a:endParaRPr lang="zh-CN" altLang="zh-CN" dirty="0"/>
          </a:p>
          <a:p>
            <a:r>
              <a:rPr lang="en-US" altLang="zh-CN" dirty="0"/>
              <a:t>dt1=R2[0]           #</a:t>
            </a:r>
            <a:r>
              <a:rPr lang="zh-CN" altLang="zh-CN" dirty="0"/>
              <a:t>交易数据为</a:t>
            </a:r>
            <a:r>
              <a:rPr lang="en-US" altLang="zh-CN" dirty="0"/>
              <a:t>2017-05-01~2017-07-31</a:t>
            </a:r>
            <a:r>
              <a:rPr lang="zh-CN" altLang="zh-CN" dirty="0"/>
              <a:t>的股票价格形态特征数据</a:t>
            </a:r>
          </a:p>
          <a:p>
            <a:r>
              <a:rPr lang="en-US" altLang="zh-CN" dirty="0"/>
              <a:t>cr1=</a:t>
            </a:r>
            <a:r>
              <a:rPr lang="en-US" altLang="zh-CN" dirty="0" err="1"/>
              <a:t>pd.Series</a:t>
            </a:r>
            <a:r>
              <a:rPr lang="en-US" altLang="zh-CN" dirty="0"/>
              <a:t>(R2[4])   #</a:t>
            </a:r>
            <a:r>
              <a:rPr lang="zh-CN" altLang="zh-CN" dirty="0"/>
              <a:t>对应每类的平均收益率</a:t>
            </a:r>
          </a:p>
          <a:p>
            <a:r>
              <a:rPr lang="en-US" altLang="zh-CN" dirty="0" err="1"/>
              <a:t>crr</a:t>
            </a:r>
            <a:r>
              <a:rPr lang="en-US" altLang="zh-CN" dirty="0"/>
              <a:t>=cr1.sort_values(ascending=False)  #</a:t>
            </a:r>
            <a:r>
              <a:rPr lang="zh-CN" altLang="zh-CN" dirty="0"/>
              <a:t>对类平均收益率序列</a:t>
            </a:r>
            <a:r>
              <a:rPr lang="en-US" altLang="zh-CN" dirty="0"/>
              <a:t>cr1</a:t>
            </a:r>
            <a:r>
              <a:rPr lang="zh-CN" altLang="zh-CN" dirty="0"/>
              <a:t>按降序排序</a:t>
            </a:r>
          </a:p>
          <a:p>
            <a:r>
              <a:rPr lang="en-US" altLang="zh-CN" dirty="0" err="1"/>
              <a:t>cr</a:t>
            </a:r>
            <a:r>
              <a:rPr lang="en-US" altLang="zh-CN" dirty="0"/>
              <a:t>=list(</a:t>
            </a:r>
            <a:r>
              <a:rPr lang="en-US" altLang="zh-CN" dirty="0" err="1"/>
              <a:t>crr.index</a:t>
            </a:r>
            <a:r>
              <a:rPr lang="en-US" altLang="zh-CN" dirty="0"/>
              <a:t>)                   #</a:t>
            </a:r>
            <a:r>
              <a:rPr lang="zh-CN" altLang="zh-CN" dirty="0"/>
              <a:t>取对应的类编号（排序后的数据）</a:t>
            </a:r>
          </a:p>
          <a:p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</a:t>
            </a:r>
            <a:r>
              <a:rPr lang="en-US" altLang="zh-CN" dirty="0" err="1"/>
              <a:t>len</a:t>
            </a:r>
            <a:r>
              <a:rPr lang="en-US" altLang="zh-CN" dirty="0"/>
              <a:t>(</a:t>
            </a:r>
            <a:r>
              <a:rPr lang="en-US" altLang="zh-CN" dirty="0" err="1"/>
              <a:t>crr</a:t>
            </a:r>
            <a:r>
              <a:rPr lang="en-US" altLang="zh-CN" dirty="0"/>
              <a:t>)):</a:t>
            </a:r>
            <a:endParaRPr lang="zh-CN" altLang="zh-CN" dirty="0"/>
          </a:p>
          <a:p>
            <a:r>
              <a:rPr lang="en-US" altLang="zh-CN" dirty="0"/>
              <a:t>    # </a:t>
            </a:r>
            <a:r>
              <a:rPr lang="zh-CN" altLang="zh-CN" dirty="0"/>
              <a:t>类平均收益率排名前</a:t>
            </a:r>
            <a:r>
              <a:rPr lang="en-US" altLang="zh-CN" dirty="0"/>
              <a:t>5</a:t>
            </a:r>
            <a:r>
              <a:rPr lang="zh-CN" altLang="zh-CN" dirty="0"/>
              <a:t>的类中所有股票标记为</a:t>
            </a:r>
            <a:r>
              <a:rPr lang="en-US" altLang="zh-CN" dirty="0"/>
              <a:t>1</a:t>
            </a:r>
            <a:endParaRPr lang="zh-CN" altLang="zh-CN" dirty="0"/>
          </a:p>
          <a:p>
            <a:r>
              <a:rPr lang="en-US" altLang="zh-CN" dirty="0"/>
              <a:t>    if </a:t>
            </a:r>
            <a:r>
              <a:rPr lang="en-US" altLang="zh-CN" dirty="0" err="1"/>
              <a:t>i</a:t>
            </a:r>
            <a:r>
              <a:rPr lang="en-US" altLang="zh-CN" dirty="0"/>
              <a:t>&lt;5:        </a:t>
            </a:r>
            <a:endParaRPr lang="zh-CN" altLang="zh-CN" dirty="0"/>
          </a:p>
          <a:p>
            <a:r>
              <a:rPr lang="en-US" altLang="zh-CN" dirty="0"/>
              <a:t>        dt1[dt1[:,</a:t>
            </a:r>
            <a:r>
              <a:rPr lang="en-US" altLang="zh-CN" dirty="0" err="1"/>
              <a:t>len</a:t>
            </a:r>
            <a:r>
              <a:rPr lang="en-US" altLang="zh-CN" dirty="0"/>
              <a:t>(dt1[0,:])-1]==</a:t>
            </a:r>
            <a:r>
              <a:rPr lang="en-US" altLang="zh-CN" dirty="0" err="1"/>
              <a:t>cr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],</a:t>
            </a:r>
            <a:r>
              <a:rPr lang="en-US" altLang="zh-CN" dirty="0" err="1"/>
              <a:t>len</a:t>
            </a:r>
            <a:r>
              <a:rPr lang="en-US" altLang="zh-CN" dirty="0"/>
              <a:t>(dt1[0,:])-1]=1</a:t>
            </a:r>
            <a:endParaRPr lang="zh-CN" altLang="zh-CN" dirty="0"/>
          </a:p>
          <a:p>
            <a:r>
              <a:rPr lang="en-US" altLang="zh-CN" dirty="0"/>
              <a:t>dt1[dt1[:,</a:t>
            </a:r>
            <a:r>
              <a:rPr lang="en-US" altLang="zh-CN" dirty="0" err="1"/>
              <a:t>len</a:t>
            </a:r>
            <a:r>
              <a:rPr lang="en-US" altLang="zh-CN" dirty="0"/>
              <a:t>(dt1[0,:])-1]!=1,len(dt1[0,:])-1]=-1   #</a:t>
            </a:r>
            <a:r>
              <a:rPr lang="zh-CN" altLang="zh-CN" dirty="0"/>
              <a:t>其余的标记为</a:t>
            </a:r>
            <a:r>
              <a:rPr lang="en-US" altLang="zh-CN" dirty="0"/>
              <a:t>-1</a:t>
            </a:r>
            <a:endParaRPr lang="zh-CN" altLang="zh-CN" dirty="0"/>
          </a:p>
          <a:p>
            <a:r>
              <a:rPr lang="en-US" altLang="zh-CN" dirty="0"/>
              <a:t> </a:t>
            </a:r>
          </a:p>
          <a:p>
            <a:r>
              <a:rPr lang="en-US" altLang="zh-CN" dirty="0"/>
              <a:t>R1=FR1(DA,'2017-06-01','2017-08-31',400)</a:t>
            </a:r>
            <a:endParaRPr lang="zh-CN" altLang="zh-CN" dirty="0"/>
          </a:p>
          <a:p>
            <a:r>
              <a:rPr lang="en-US" altLang="zh-CN" dirty="0"/>
              <a:t>R2=FR2(DA,R1[0],R1[1],R1[2],'2017-09-01','2017-09-30',20)</a:t>
            </a:r>
            <a:endParaRPr lang="zh-CN" altLang="zh-CN" dirty="0"/>
          </a:p>
          <a:p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063760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10.6.2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训练样本与预测样本的构建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10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0263" y="692696"/>
            <a:ext cx="1205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zh-CN" dirty="0"/>
          </a:p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40263" y="567839"/>
            <a:ext cx="12056500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dt2=R2[0]          #</a:t>
            </a:r>
            <a:r>
              <a:rPr lang="zh-CN" altLang="zh-CN" sz="2000" dirty="0"/>
              <a:t>交易数据为</a:t>
            </a:r>
            <a:r>
              <a:rPr lang="en-US" altLang="zh-CN" sz="2000" dirty="0"/>
              <a:t>2017-06-01~2017-08-31</a:t>
            </a:r>
            <a:r>
              <a:rPr lang="zh-CN" altLang="zh-CN" sz="2000" dirty="0"/>
              <a:t>的股票价格形态特征数据</a:t>
            </a:r>
          </a:p>
          <a:p>
            <a:r>
              <a:rPr lang="en-US" altLang="zh-CN" sz="2000" dirty="0"/>
              <a:t>cr2=</a:t>
            </a:r>
            <a:r>
              <a:rPr lang="en-US" altLang="zh-CN" sz="2000" dirty="0" err="1"/>
              <a:t>pd.Series</a:t>
            </a:r>
            <a:r>
              <a:rPr lang="en-US" altLang="zh-CN" sz="2000" dirty="0"/>
              <a:t>(R2[4])  #</a:t>
            </a:r>
            <a:r>
              <a:rPr lang="zh-CN" altLang="zh-CN" sz="2000" dirty="0"/>
              <a:t>对应每类的平均收益率</a:t>
            </a:r>
          </a:p>
          <a:p>
            <a:r>
              <a:rPr lang="en-US" altLang="zh-CN" sz="2000" dirty="0" err="1"/>
              <a:t>crr</a:t>
            </a:r>
            <a:r>
              <a:rPr lang="en-US" altLang="zh-CN" sz="2000" dirty="0"/>
              <a:t>=cr2.sort_values(ascending=False)</a:t>
            </a:r>
            <a:endParaRPr lang="zh-CN" altLang="zh-CN" sz="2000" dirty="0"/>
          </a:p>
          <a:p>
            <a:r>
              <a:rPr lang="en-US" altLang="zh-CN" sz="2000" dirty="0" err="1"/>
              <a:t>cr</a:t>
            </a:r>
            <a:r>
              <a:rPr lang="en-US" altLang="zh-CN" sz="2000" dirty="0"/>
              <a:t>=list(</a:t>
            </a:r>
            <a:r>
              <a:rPr lang="en-US" altLang="zh-CN" sz="2000" dirty="0" err="1"/>
              <a:t>crr.index</a:t>
            </a:r>
            <a:r>
              <a:rPr lang="en-US" altLang="zh-CN" sz="2000" dirty="0"/>
              <a:t>)</a:t>
            </a:r>
            <a:endParaRPr lang="zh-CN" altLang="zh-CN" sz="2000" dirty="0"/>
          </a:p>
          <a:p>
            <a:r>
              <a:rPr lang="en-US" altLang="zh-CN" sz="2000" dirty="0"/>
              <a:t>for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in range(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(</a:t>
            </a:r>
            <a:r>
              <a:rPr lang="en-US" altLang="zh-CN" sz="2000" dirty="0" err="1"/>
              <a:t>crr</a:t>
            </a:r>
            <a:r>
              <a:rPr lang="en-US" altLang="zh-CN" sz="2000" dirty="0"/>
              <a:t>)):</a:t>
            </a:r>
            <a:endParaRPr lang="zh-CN" altLang="zh-CN" sz="2000" dirty="0"/>
          </a:p>
          <a:p>
            <a:r>
              <a:rPr lang="en-US" altLang="zh-CN" sz="2000" dirty="0"/>
              <a:t>    if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&lt;5:</a:t>
            </a:r>
            <a:endParaRPr lang="zh-CN" altLang="zh-CN" sz="2000" dirty="0"/>
          </a:p>
          <a:p>
            <a:r>
              <a:rPr lang="en-US" altLang="zh-CN" sz="2000" dirty="0"/>
              <a:t>        dt2[dt2[:,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(dt2[0,:])-1]==</a:t>
            </a:r>
            <a:r>
              <a:rPr lang="en-US" altLang="zh-CN" sz="2000" dirty="0" err="1"/>
              <a:t>cr</a:t>
            </a:r>
            <a:r>
              <a:rPr lang="en-US" altLang="zh-CN" sz="2000" dirty="0"/>
              <a:t>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],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(dt2[0,:])-1]=1</a:t>
            </a:r>
            <a:endParaRPr lang="zh-CN" altLang="zh-CN" sz="2000" dirty="0"/>
          </a:p>
          <a:p>
            <a:r>
              <a:rPr lang="en-US" altLang="zh-CN" sz="2000" dirty="0"/>
              <a:t>dt2[dt2[:,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(dt2[0,:])-1]!=1,len(dt2[0,:])-1]=-1</a:t>
            </a:r>
            <a:endParaRPr lang="zh-CN" altLang="zh-CN" sz="2000" dirty="0"/>
          </a:p>
          <a:p>
            <a:r>
              <a:rPr lang="en-US" altLang="zh-CN" sz="2000" dirty="0"/>
              <a:t>#</a:t>
            </a:r>
            <a:r>
              <a:rPr lang="zh-CN" altLang="zh-CN" sz="2000" dirty="0"/>
              <a:t>构造训练样本</a:t>
            </a:r>
          </a:p>
          <a:p>
            <a:r>
              <a:rPr lang="en-US" altLang="zh-CN" sz="2000" dirty="0"/>
              <a:t>import </a:t>
            </a:r>
            <a:r>
              <a:rPr lang="en-US" altLang="zh-CN" sz="2000" dirty="0" err="1"/>
              <a:t>numpy</a:t>
            </a:r>
            <a:r>
              <a:rPr lang="en-US" altLang="zh-CN" sz="2000" dirty="0"/>
              <a:t> as np    </a:t>
            </a:r>
            <a:endParaRPr lang="zh-CN" altLang="zh-CN" sz="2000" dirty="0"/>
          </a:p>
          <a:p>
            <a:r>
              <a:rPr lang="en-US" altLang="zh-CN" sz="2000" dirty="0"/>
              <a:t>dt=</a:t>
            </a:r>
            <a:r>
              <a:rPr lang="en-US" altLang="zh-CN" sz="2000" dirty="0" err="1"/>
              <a:t>np.vstack</a:t>
            </a:r>
            <a:r>
              <a:rPr lang="en-US" altLang="zh-CN" sz="2000" dirty="0"/>
              <a:t>((dt2,dt1)) </a:t>
            </a:r>
            <a:endParaRPr lang="zh-CN" altLang="zh-CN" sz="2000" dirty="0"/>
          </a:p>
          <a:p>
            <a:r>
              <a:rPr lang="en-US" altLang="zh-CN" sz="2000" dirty="0"/>
              <a:t>x=dt[:,1:-1]              #</a:t>
            </a:r>
            <a:r>
              <a:rPr lang="zh-CN" altLang="zh-CN" sz="2000" dirty="0"/>
              <a:t>训练样本的</a:t>
            </a:r>
            <a:r>
              <a:rPr lang="en-US" altLang="zh-CN" sz="2000" dirty="0"/>
              <a:t>X</a:t>
            </a:r>
            <a:endParaRPr lang="zh-CN" altLang="zh-CN" sz="2000" dirty="0"/>
          </a:p>
          <a:p>
            <a:r>
              <a:rPr lang="en-US" altLang="zh-CN" sz="2000" dirty="0"/>
              <a:t>y=dt[:,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(dt[0,:])-1]      #</a:t>
            </a:r>
            <a:r>
              <a:rPr lang="zh-CN" altLang="zh-CN" sz="2000" dirty="0"/>
              <a:t>训练样本的</a:t>
            </a:r>
            <a:r>
              <a:rPr lang="en-US" altLang="zh-CN" sz="2000" dirty="0"/>
              <a:t>Y</a:t>
            </a:r>
            <a:endParaRPr lang="zh-CN" altLang="zh-CN" sz="2000" dirty="0"/>
          </a:p>
          <a:p>
            <a:r>
              <a:rPr lang="zh-CN" altLang="zh-CN" sz="2000" dirty="0"/>
              <a:t>对于预测样本，选用的是</a:t>
            </a:r>
            <a:r>
              <a:rPr lang="en-US" altLang="zh-CN" sz="2000" dirty="0"/>
              <a:t>2017-07-01~2017-09-30</a:t>
            </a:r>
            <a:r>
              <a:rPr lang="zh-CN" altLang="zh-CN" sz="2000" dirty="0"/>
              <a:t>的交易数据计算形态特征，这里调用前面定义的</a:t>
            </a:r>
            <a:r>
              <a:rPr lang="en-US" altLang="zh-CN" sz="2000" dirty="0"/>
              <a:t>FR1</a:t>
            </a:r>
            <a:r>
              <a:rPr lang="zh-CN" altLang="zh-CN" sz="2000" dirty="0"/>
              <a:t>函数来实现，示例代码如下：</a:t>
            </a:r>
          </a:p>
          <a:p>
            <a:r>
              <a:rPr lang="en-US" altLang="zh-CN" sz="2000" dirty="0"/>
              <a:t>#</a:t>
            </a:r>
            <a:r>
              <a:rPr lang="zh-CN" altLang="zh-CN" sz="2000" dirty="0"/>
              <a:t>预测样本的构建</a:t>
            </a:r>
          </a:p>
          <a:p>
            <a:r>
              <a:rPr lang="en-US" altLang="zh-CN" sz="2000" dirty="0"/>
              <a:t>R1=FR1(DA,'2017-07-01','2017-09-30',400)</a:t>
            </a:r>
            <a:endParaRPr lang="zh-CN" altLang="zh-CN" sz="2000" dirty="0"/>
          </a:p>
          <a:p>
            <a:r>
              <a:rPr lang="en-US" altLang="zh-CN" sz="2000" dirty="0"/>
              <a:t>dt3=R1[0]</a:t>
            </a:r>
            <a:endParaRPr lang="zh-CN" altLang="zh-CN" sz="2000" dirty="0"/>
          </a:p>
          <a:p>
            <a:r>
              <a:rPr lang="en-US" altLang="zh-CN" sz="2000" dirty="0"/>
              <a:t>x1=dt3[:,1:]       #</a:t>
            </a:r>
            <a:r>
              <a:rPr lang="zh-CN" altLang="zh-CN" sz="2000" dirty="0"/>
              <a:t>交易数据为</a:t>
            </a:r>
            <a:r>
              <a:rPr lang="en-US" altLang="zh-CN" sz="2000" dirty="0"/>
              <a:t>2017-07-01~2017-09-30</a:t>
            </a:r>
            <a:r>
              <a:rPr lang="zh-CN" altLang="zh-CN" sz="2000" dirty="0"/>
              <a:t>的股票价格形态特征数据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063760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10.6.3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量化策略投资设计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10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0263" y="692696"/>
            <a:ext cx="1205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40263" y="567839"/>
            <a:ext cx="1191623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根据前面构建的训练样本和预测样本，利用支持向量机模型进行训练和预测，如果预测结果为</a:t>
            </a:r>
            <a:r>
              <a:rPr lang="en-US" altLang="zh-CN" sz="2000" dirty="0"/>
              <a:t>+1</a:t>
            </a:r>
            <a:r>
              <a:rPr lang="zh-CN" altLang="zh-CN" sz="2000" dirty="0"/>
              <a:t>，表示该只股票在未来一个月内可能获得比较好的收益，对该只股票以持有期为</a:t>
            </a:r>
            <a:r>
              <a:rPr lang="en-US" altLang="zh-CN" sz="2000" dirty="0"/>
              <a:t>2017-10-01~2017-10-31</a:t>
            </a:r>
            <a:r>
              <a:rPr lang="zh-CN" altLang="zh-CN" sz="2000" dirty="0"/>
              <a:t>进行计算投资收益率（期初收盘价买入，期末收盘价卖出），最终将所有预测结果为</a:t>
            </a:r>
            <a:r>
              <a:rPr lang="en-US" altLang="zh-CN" sz="2000" dirty="0"/>
              <a:t>+1</a:t>
            </a:r>
            <a:r>
              <a:rPr lang="zh-CN" altLang="zh-CN" sz="2000" dirty="0"/>
              <a:t>的股票收益率求和，即得到投资策略的总收益率，并与同期的沪深</a:t>
            </a:r>
            <a:r>
              <a:rPr lang="en-US" altLang="zh-CN" sz="2000" dirty="0"/>
              <a:t>300</a:t>
            </a:r>
            <a:r>
              <a:rPr lang="zh-CN" altLang="zh-CN" sz="2000" dirty="0"/>
              <a:t>指数收益率作为基准进行比较。示例代码如下：</a:t>
            </a:r>
          </a:p>
          <a:p>
            <a:r>
              <a:rPr lang="en-US" altLang="zh-CN" sz="2000" dirty="0"/>
              <a:t>####</a:t>
            </a:r>
            <a:r>
              <a:rPr lang="zh-CN" altLang="zh-CN" sz="2000" dirty="0"/>
              <a:t>基于支持向量机预测模型的量化投资策略设计</a:t>
            </a:r>
          </a:p>
          <a:p>
            <a:r>
              <a:rPr lang="en-US" altLang="zh-CN" sz="2000" dirty="0"/>
              <a:t>from </a:t>
            </a:r>
            <a:r>
              <a:rPr lang="en-US" altLang="zh-CN" sz="2000" dirty="0" err="1"/>
              <a:t>sklearn</a:t>
            </a:r>
            <a:r>
              <a:rPr lang="en-US" altLang="zh-CN" sz="2000" dirty="0"/>
              <a:t> import </a:t>
            </a:r>
            <a:r>
              <a:rPr lang="en-US" altLang="zh-CN" sz="2000" dirty="0" err="1"/>
              <a:t>svm</a:t>
            </a:r>
            <a:endParaRPr lang="zh-CN" altLang="zh-CN" sz="2000" dirty="0"/>
          </a:p>
          <a:p>
            <a:r>
              <a:rPr lang="en-US" altLang="zh-CN" sz="2000" dirty="0" err="1"/>
              <a:t>clf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svm.SVC</a:t>
            </a:r>
            <a:r>
              <a:rPr lang="en-US" altLang="zh-CN" sz="2000" dirty="0"/>
              <a:t>()</a:t>
            </a:r>
            <a:endParaRPr lang="zh-CN" altLang="zh-CN" sz="2000" dirty="0"/>
          </a:p>
          <a:p>
            <a:r>
              <a:rPr lang="en-US" altLang="zh-CN" sz="2000" dirty="0" err="1"/>
              <a:t>clf.fit</a:t>
            </a:r>
            <a:r>
              <a:rPr lang="en-US" altLang="zh-CN" sz="2000" dirty="0"/>
              <a:t>(x, y) </a:t>
            </a:r>
            <a:endParaRPr lang="zh-CN" altLang="zh-CN" sz="2000" dirty="0"/>
          </a:p>
          <a:p>
            <a:r>
              <a:rPr lang="en-US" altLang="zh-CN" sz="2000" dirty="0"/>
              <a:t>res=</a:t>
            </a:r>
            <a:r>
              <a:rPr lang="en-US" altLang="zh-CN" sz="2000" dirty="0" err="1"/>
              <a:t>clf.predict</a:t>
            </a:r>
            <a:r>
              <a:rPr lang="en-US" altLang="zh-CN" sz="2000" dirty="0"/>
              <a:t>(x1)  #</a:t>
            </a:r>
            <a:r>
              <a:rPr lang="zh-CN" altLang="zh-CN" sz="2000" dirty="0"/>
              <a:t>支持向量机预测结果</a:t>
            </a:r>
          </a:p>
          <a:p>
            <a:r>
              <a:rPr lang="en-US" altLang="zh-CN" sz="2000" dirty="0"/>
              <a:t>code=dt3[res==1,0]</a:t>
            </a:r>
            <a:endParaRPr lang="zh-CN" altLang="zh-CN" sz="2000" dirty="0"/>
          </a:p>
          <a:p>
            <a:r>
              <a:rPr lang="en-US" altLang="zh-CN" sz="2000" dirty="0" err="1"/>
              <a:t>list_r</a:t>
            </a:r>
            <a:r>
              <a:rPr lang="en-US" altLang="zh-CN" sz="2000" dirty="0"/>
              <a:t>=[]      #</a:t>
            </a:r>
            <a:r>
              <a:rPr lang="zh-CN" altLang="zh-CN" sz="2000" dirty="0"/>
              <a:t>预定义列表，用于存放预测结果为</a:t>
            </a:r>
            <a:r>
              <a:rPr lang="en-US" altLang="zh-CN" sz="2000" dirty="0"/>
              <a:t>+1</a:t>
            </a:r>
            <a:r>
              <a:rPr lang="zh-CN" altLang="zh-CN" sz="2000" dirty="0"/>
              <a:t>的股票收益率</a:t>
            </a:r>
          </a:p>
          <a:p>
            <a:r>
              <a:rPr lang="en-US" altLang="zh-CN" sz="2000" dirty="0" err="1"/>
              <a:t>list_code</a:t>
            </a:r>
            <a:r>
              <a:rPr lang="en-US" altLang="zh-CN" sz="2000" dirty="0"/>
              <a:t>=[]   #</a:t>
            </a:r>
            <a:r>
              <a:rPr lang="zh-CN" altLang="zh-CN" sz="2000" dirty="0"/>
              <a:t>预定义列表，用于存放预测结果为</a:t>
            </a:r>
            <a:r>
              <a:rPr lang="en-US" altLang="zh-CN" sz="2000" dirty="0"/>
              <a:t>+1</a:t>
            </a:r>
            <a:r>
              <a:rPr lang="zh-CN" altLang="zh-CN" sz="2000" dirty="0"/>
              <a:t>的股票代码</a:t>
            </a:r>
          </a:p>
          <a:p>
            <a:r>
              <a:rPr lang="en-US" altLang="zh-CN" sz="2000" dirty="0"/>
              <a:t>for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in range(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(code)):</a:t>
            </a:r>
            <a:endParaRPr lang="zh-CN" altLang="zh-CN" sz="2000" dirty="0"/>
          </a:p>
          <a:p>
            <a:r>
              <a:rPr lang="en-US" altLang="zh-CN" sz="2000" dirty="0"/>
              <a:t>    I1=DA['</a:t>
            </a:r>
            <a:r>
              <a:rPr lang="en-US" altLang="zh-CN" sz="2000" dirty="0" err="1"/>
              <a:t>Trddt</a:t>
            </a:r>
            <a:r>
              <a:rPr lang="en-US" altLang="zh-CN" sz="2000" dirty="0"/>
              <a:t>'].values&gt;='2017-10-01'</a:t>
            </a:r>
            <a:endParaRPr lang="zh-CN" altLang="zh-CN" sz="2000" dirty="0"/>
          </a:p>
          <a:p>
            <a:r>
              <a:rPr lang="en-US" altLang="zh-CN" sz="2000" dirty="0"/>
              <a:t>    I2=DA['</a:t>
            </a:r>
            <a:r>
              <a:rPr lang="en-US" altLang="zh-CN" sz="2000" dirty="0" err="1"/>
              <a:t>Trddt</a:t>
            </a:r>
            <a:r>
              <a:rPr lang="en-US" altLang="zh-CN" sz="2000" dirty="0"/>
              <a:t>'].values&lt;='2017-10-31'</a:t>
            </a:r>
            <a:endParaRPr lang="zh-CN" altLang="zh-CN" sz="2000" dirty="0"/>
          </a:p>
          <a:p>
            <a:r>
              <a:rPr lang="en-US" altLang="zh-CN" sz="2000" dirty="0"/>
              <a:t>    I3=DA['</a:t>
            </a:r>
            <a:r>
              <a:rPr lang="en-US" altLang="zh-CN" sz="2000" dirty="0" err="1"/>
              <a:t>Stkcd</a:t>
            </a:r>
            <a:r>
              <a:rPr lang="en-US" altLang="zh-CN" sz="2000" dirty="0"/>
              <a:t>'].values==code[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</a:t>
            </a:r>
            <a:endParaRPr lang="zh-CN" altLang="zh-CN" sz="2000" dirty="0"/>
          </a:p>
          <a:p>
            <a:r>
              <a:rPr lang="en-US" altLang="zh-CN" sz="2000" dirty="0"/>
              <a:t>    I=I1&amp;I2&amp;I3</a:t>
            </a:r>
            <a:endParaRPr lang="zh-CN" altLang="zh-CN" sz="2000" dirty="0"/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dta</a:t>
            </a:r>
            <a:r>
              <a:rPr lang="en-US" altLang="zh-CN" sz="2000" dirty="0"/>
              <a:t>=</a:t>
            </a:r>
            <a:r>
              <a:rPr lang="en-US" altLang="zh-CN" sz="2000" dirty="0" err="1"/>
              <a:t>DA.iloc</a:t>
            </a:r>
            <a:r>
              <a:rPr lang="en-US" altLang="zh-CN" sz="2000" dirty="0"/>
              <a:t>[I,[2]]['</a:t>
            </a:r>
            <a:r>
              <a:rPr lang="en-US" altLang="zh-CN" sz="2000" dirty="0" err="1"/>
              <a:t>Clsprc</a:t>
            </a:r>
            <a:r>
              <a:rPr lang="en-US" altLang="zh-CN" sz="2000" dirty="0"/>
              <a:t>'].values</a:t>
            </a:r>
            <a:endParaRPr lang="zh-CN" altLang="zh-CN" sz="2000" dirty="0"/>
          </a:p>
          <a:p>
            <a:r>
              <a:rPr lang="en-US" altLang="zh-CN" sz="2000" dirty="0"/>
              <a:t>    if 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(</a:t>
            </a:r>
            <a:r>
              <a:rPr lang="en-US" altLang="zh-CN" sz="2000" dirty="0" err="1"/>
              <a:t>dta</a:t>
            </a:r>
            <a:r>
              <a:rPr lang="en-US" altLang="zh-CN" sz="2000" dirty="0"/>
              <a:t>)&gt;1:</a:t>
            </a:r>
            <a:endParaRPr lang="zh-CN" altLang="zh-CN" sz="2000" dirty="0"/>
          </a:p>
          <a:p>
            <a:r>
              <a:rPr lang="en-US" altLang="zh-CN" sz="2000" dirty="0"/>
              <a:t>  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063760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10.6.3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量化策略投资设计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10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0263" y="692696"/>
            <a:ext cx="1205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zh-CN" dirty="0"/>
          </a:p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40263" y="506282"/>
            <a:ext cx="1191623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 r=(</a:t>
            </a:r>
            <a:r>
              <a:rPr lang="en-US" altLang="zh-CN" sz="2000" dirty="0" err="1"/>
              <a:t>dta</a:t>
            </a:r>
            <a:r>
              <a:rPr lang="en-US" altLang="zh-CN" sz="2000" dirty="0"/>
              <a:t>[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(</a:t>
            </a:r>
            <a:r>
              <a:rPr lang="en-US" altLang="zh-CN" sz="2000" dirty="0" err="1"/>
              <a:t>dta</a:t>
            </a:r>
            <a:r>
              <a:rPr lang="en-US" altLang="zh-CN" sz="2000" dirty="0"/>
              <a:t>)-1]-</a:t>
            </a:r>
            <a:r>
              <a:rPr lang="en-US" altLang="zh-CN" sz="2000" dirty="0" err="1"/>
              <a:t>dta</a:t>
            </a:r>
            <a:r>
              <a:rPr lang="en-US" altLang="zh-CN" sz="2000" dirty="0"/>
              <a:t>[0])/</a:t>
            </a:r>
            <a:r>
              <a:rPr lang="en-US" altLang="zh-CN" sz="2000" dirty="0" err="1"/>
              <a:t>dta</a:t>
            </a:r>
            <a:r>
              <a:rPr lang="en-US" altLang="zh-CN" sz="2000" dirty="0"/>
              <a:t>[0]</a:t>
            </a:r>
            <a:endParaRPr lang="zh-CN" altLang="zh-CN" sz="2000" dirty="0"/>
          </a:p>
          <a:p>
            <a:r>
              <a:rPr lang="en-US" altLang="zh-CN" sz="2000" dirty="0"/>
              <a:t>        </a:t>
            </a:r>
            <a:r>
              <a:rPr lang="en-US" altLang="zh-CN" sz="2000" dirty="0" err="1"/>
              <a:t>list_r.append</a:t>
            </a:r>
            <a:r>
              <a:rPr lang="en-US" altLang="zh-CN" sz="2000" dirty="0"/>
              <a:t>(r)</a:t>
            </a:r>
            <a:endParaRPr lang="zh-CN" altLang="zh-CN" sz="2000" dirty="0"/>
          </a:p>
          <a:p>
            <a:r>
              <a:rPr lang="zh-CN" altLang="en-US" sz="2000" dirty="0"/>
              <a:t>        </a:t>
            </a:r>
            <a:r>
              <a:rPr lang="en-US" altLang="zh-CN" sz="2000" dirty="0" err="1"/>
              <a:t>list_code.append</a:t>
            </a:r>
            <a:r>
              <a:rPr lang="en-US" altLang="zh-CN" sz="2000" dirty="0"/>
              <a:t>(code[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])</a:t>
            </a:r>
          </a:p>
          <a:p>
            <a:r>
              <a:rPr lang="en-US" altLang="zh-CN" sz="2000" dirty="0"/>
              <a:t>result={'code':list_code,'r':</a:t>
            </a:r>
            <a:r>
              <a:rPr lang="en-US" altLang="zh-CN" sz="2000" dirty="0" err="1"/>
              <a:t>list_r</a:t>
            </a:r>
            <a:r>
              <a:rPr lang="en-US" altLang="zh-CN" sz="2000" dirty="0"/>
              <a:t>}</a:t>
            </a:r>
            <a:endParaRPr lang="zh-CN" altLang="zh-CN" sz="2000" dirty="0"/>
          </a:p>
          <a:p>
            <a:r>
              <a:rPr lang="en-US" altLang="zh-CN" sz="2000" dirty="0"/>
              <a:t>result=</a:t>
            </a:r>
            <a:r>
              <a:rPr lang="en-US" altLang="zh-CN" sz="2000" dirty="0" err="1"/>
              <a:t>pd.DataFrame</a:t>
            </a:r>
            <a:r>
              <a:rPr lang="en-US" altLang="zh-CN" sz="2000" dirty="0"/>
              <a:t>(result)    #</a:t>
            </a:r>
            <a:r>
              <a:rPr lang="zh-CN" altLang="zh-CN" sz="2000" dirty="0"/>
              <a:t>结果整理</a:t>
            </a:r>
          </a:p>
          <a:p>
            <a:r>
              <a:rPr lang="en-US" altLang="zh-CN" sz="2000" dirty="0" err="1"/>
              <a:t>total_r</a:t>
            </a:r>
            <a:r>
              <a:rPr lang="en-US" altLang="zh-CN" sz="2000" dirty="0"/>
              <a:t>=sum(</a:t>
            </a:r>
            <a:r>
              <a:rPr lang="en-US" altLang="zh-CN" sz="2000" dirty="0" err="1"/>
              <a:t>list_r</a:t>
            </a:r>
            <a:r>
              <a:rPr lang="en-US" altLang="zh-CN" sz="2000" dirty="0"/>
              <a:t>)           #</a:t>
            </a:r>
            <a:r>
              <a:rPr lang="zh-CN" altLang="zh-CN" sz="2000" dirty="0"/>
              <a:t>总收益率</a:t>
            </a:r>
          </a:p>
          <a:p>
            <a:r>
              <a:rPr lang="en-US" altLang="zh-CN" sz="2000" dirty="0"/>
              <a:t> </a:t>
            </a:r>
            <a:endParaRPr lang="zh-CN" altLang="zh-CN" sz="2000" dirty="0"/>
          </a:p>
          <a:p>
            <a:r>
              <a:rPr lang="en-US" altLang="zh-CN" sz="2000" dirty="0"/>
              <a:t>####</a:t>
            </a:r>
            <a:r>
              <a:rPr lang="zh-CN" altLang="zh-CN" sz="2000" dirty="0"/>
              <a:t>沪深</a:t>
            </a:r>
            <a:r>
              <a:rPr lang="en-US" altLang="zh-CN" sz="2000" dirty="0"/>
              <a:t>300</a:t>
            </a:r>
            <a:r>
              <a:rPr lang="zh-CN" altLang="zh-CN" sz="2000" dirty="0"/>
              <a:t>指数同期收益率的计算</a:t>
            </a:r>
            <a:r>
              <a:rPr lang="en-US" altLang="zh-CN" sz="2000" dirty="0"/>
              <a:t>    </a:t>
            </a:r>
            <a:endParaRPr lang="zh-CN" altLang="zh-CN" sz="2000" dirty="0"/>
          </a:p>
          <a:p>
            <a:r>
              <a:rPr lang="en-US" altLang="zh-CN" sz="2000" dirty="0"/>
              <a:t>indx300=</a:t>
            </a:r>
            <a:r>
              <a:rPr lang="en-US" altLang="zh-CN" sz="2000" dirty="0" err="1"/>
              <a:t>pd.read_excel</a:t>
            </a:r>
            <a:r>
              <a:rPr lang="en-US" altLang="zh-CN" sz="2000" dirty="0"/>
              <a:t>('index300.xlsx')    </a:t>
            </a:r>
            <a:endParaRPr lang="zh-CN" altLang="zh-CN" sz="2000" dirty="0"/>
          </a:p>
          <a:p>
            <a:r>
              <a:rPr lang="en-US" altLang="zh-CN" sz="2000" dirty="0"/>
              <a:t>I1=indx300['Idxtrd01'].values&gt;='2017-10-01'</a:t>
            </a:r>
            <a:endParaRPr lang="zh-CN" altLang="zh-CN" sz="2000" dirty="0"/>
          </a:p>
          <a:p>
            <a:r>
              <a:rPr lang="en-US" altLang="zh-CN" sz="2000" dirty="0"/>
              <a:t>I2=indx300['Idxtrd01'].values&lt;='2017-10-31'</a:t>
            </a:r>
            <a:endParaRPr lang="zh-CN" altLang="zh-CN" sz="2000" dirty="0"/>
          </a:p>
          <a:p>
            <a:r>
              <a:rPr lang="en-US" altLang="zh-CN" sz="2000" dirty="0"/>
              <a:t>In=I1&amp;I2</a:t>
            </a:r>
            <a:endParaRPr lang="zh-CN" altLang="zh-CN" sz="2000" dirty="0"/>
          </a:p>
          <a:p>
            <a:r>
              <a:rPr lang="en-US" altLang="zh-CN" sz="2000" dirty="0"/>
              <a:t>da=indx300.loc[In,'Idxtrd05'].values</a:t>
            </a:r>
            <a:endParaRPr lang="zh-CN" altLang="zh-CN" sz="2000" dirty="0"/>
          </a:p>
          <a:p>
            <a:r>
              <a:rPr lang="en-US" altLang="zh-CN" sz="2000" dirty="0"/>
              <a:t>index300_r=(da[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(da)-1]-da[0])/da[0] #</a:t>
            </a:r>
            <a:r>
              <a:rPr lang="zh-CN" altLang="zh-CN" sz="2000" dirty="0"/>
              <a:t>沪深</a:t>
            </a:r>
            <a:r>
              <a:rPr lang="en-US" altLang="zh-CN" sz="2000" dirty="0"/>
              <a:t>300</a:t>
            </a:r>
            <a:r>
              <a:rPr lang="zh-CN" altLang="zh-CN" sz="2000" dirty="0"/>
              <a:t>指数同期收益率</a:t>
            </a:r>
          </a:p>
          <a:p>
            <a:r>
              <a:rPr lang="zh-CN" altLang="zh-CN" sz="2000" dirty="0"/>
              <a:t>其预测结果和计算的投资收益率部分结果如图</a:t>
            </a:r>
            <a:r>
              <a:rPr lang="en-US" altLang="zh-CN" sz="2000" dirty="0"/>
              <a:t>10-12</a:t>
            </a:r>
            <a:r>
              <a:rPr lang="zh-CN" altLang="zh-CN" sz="2000" dirty="0"/>
              <a:t>所示。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063760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10.6.3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量化策略投资设计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10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0263" y="692696"/>
            <a:ext cx="1205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5603" y="1068578"/>
            <a:ext cx="8244916" cy="472084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666333" y="5949280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图</a:t>
            </a:r>
            <a:r>
              <a:rPr lang="en-US" altLang="zh-CN" dirty="0"/>
              <a:t>10-12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063760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10.6.3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量化策略投资设计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10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0263" y="692696"/>
            <a:ext cx="1205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zh-CN" dirty="0"/>
          </a:p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24846" y="1015861"/>
            <a:ext cx="1191623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其中</a:t>
            </a:r>
            <a:r>
              <a:rPr lang="en-US" altLang="zh-CN" sz="2400" dirty="0"/>
              <a:t>dt3</a:t>
            </a:r>
            <a:r>
              <a:rPr lang="zh-CN" altLang="zh-CN" sz="2400" dirty="0"/>
              <a:t>为待预测的形态特征数据集，</a:t>
            </a:r>
            <a:r>
              <a:rPr lang="en-US" altLang="zh-CN" sz="2400" dirty="0"/>
              <a:t>res</a:t>
            </a:r>
            <a:r>
              <a:rPr lang="zh-CN" altLang="zh-CN" sz="2400" dirty="0"/>
              <a:t>为支持向量机的预测结果，比如行序号为</a:t>
            </a:r>
            <a:r>
              <a:rPr lang="en-US" altLang="zh-CN" sz="2400" dirty="0"/>
              <a:t>10</a:t>
            </a:r>
            <a:r>
              <a:rPr lang="zh-CN" altLang="zh-CN" sz="2400" dirty="0"/>
              <a:t>、</a:t>
            </a:r>
            <a:r>
              <a:rPr lang="en-US" altLang="zh-CN" sz="2400" dirty="0"/>
              <a:t>13</a:t>
            </a:r>
            <a:r>
              <a:rPr lang="zh-CN" altLang="zh-CN" sz="2400" dirty="0"/>
              <a:t>的股票代码</a:t>
            </a:r>
            <a:r>
              <a:rPr lang="en-US" altLang="zh-CN" sz="2400" dirty="0"/>
              <a:t>000333</a:t>
            </a:r>
            <a:r>
              <a:rPr lang="zh-CN" altLang="zh-CN" sz="2400" dirty="0"/>
              <a:t>和</a:t>
            </a:r>
            <a:r>
              <a:rPr lang="en-US" altLang="zh-CN" sz="2400" dirty="0"/>
              <a:t>002517</a:t>
            </a:r>
            <a:r>
              <a:rPr lang="zh-CN" altLang="zh-CN" sz="2400" dirty="0"/>
              <a:t>预测结果为</a:t>
            </a:r>
            <a:r>
              <a:rPr lang="en-US" altLang="zh-CN" sz="2400" dirty="0"/>
              <a:t>+1</a:t>
            </a:r>
            <a:r>
              <a:rPr lang="zh-CN" altLang="zh-CN" sz="2400" dirty="0"/>
              <a:t>，表示未来持有期为</a:t>
            </a:r>
            <a:r>
              <a:rPr lang="en-US" altLang="zh-CN" sz="2400" dirty="0"/>
              <a:t>1</a:t>
            </a:r>
            <a:r>
              <a:rPr lang="zh-CN" altLang="zh-CN" sz="2400" dirty="0"/>
              <a:t>个月可能获得较好的收益。事实</a:t>
            </a:r>
            <a:r>
              <a:rPr lang="en-US" altLang="zh-CN" sz="2400" dirty="0"/>
              <a:t>result</a:t>
            </a:r>
            <a:r>
              <a:rPr lang="zh-CN" altLang="zh-CN" sz="2400" dirty="0"/>
              <a:t>已经给出了收益率计算结果。从模型的预测结果来看，待预测的股票形态样本</a:t>
            </a:r>
            <a:r>
              <a:rPr lang="en-US" altLang="zh-CN" sz="2400" dirty="0"/>
              <a:t>dt3</a:t>
            </a:r>
            <a:r>
              <a:rPr lang="zh-CN" altLang="zh-CN" sz="2400" dirty="0"/>
              <a:t>一共有</a:t>
            </a:r>
            <a:r>
              <a:rPr lang="en-US" altLang="zh-CN" sz="2400" dirty="0"/>
              <a:t>351</a:t>
            </a:r>
            <a:r>
              <a:rPr lang="zh-CN" altLang="zh-CN" sz="2400" dirty="0"/>
              <a:t>条记录，即</a:t>
            </a:r>
            <a:r>
              <a:rPr lang="en-US" altLang="zh-CN" sz="2400" dirty="0"/>
              <a:t>351</a:t>
            </a:r>
            <a:r>
              <a:rPr lang="zh-CN" altLang="zh-CN" sz="2400" dirty="0"/>
              <a:t>只待预测股票，最终预测结果为</a:t>
            </a:r>
            <a:r>
              <a:rPr lang="en-US" altLang="zh-CN" sz="2400" dirty="0"/>
              <a:t>+1</a:t>
            </a:r>
            <a:r>
              <a:rPr lang="zh-CN" altLang="zh-CN" sz="2400" dirty="0"/>
              <a:t>的有</a:t>
            </a:r>
            <a:r>
              <a:rPr lang="en-US" altLang="zh-CN" sz="2400" dirty="0"/>
              <a:t>31</a:t>
            </a:r>
            <a:r>
              <a:rPr lang="zh-CN" altLang="zh-CN" sz="2400" dirty="0"/>
              <a:t>只，具体见</a:t>
            </a:r>
            <a:r>
              <a:rPr lang="en-US" altLang="zh-CN" sz="2400" dirty="0"/>
              <a:t>result</a:t>
            </a:r>
            <a:r>
              <a:rPr lang="zh-CN" altLang="zh-CN" sz="2400" dirty="0"/>
              <a:t>中的</a:t>
            </a:r>
            <a:r>
              <a:rPr lang="en-US" altLang="zh-CN" sz="2400" dirty="0"/>
              <a:t>code</a:t>
            </a:r>
            <a:r>
              <a:rPr lang="zh-CN" altLang="zh-CN" sz="2400" dirty="0"/>
              <a:t>列，</a:t>
            </a:r>
            <a:r>
              <a:rPr lang="en-US" altLang="zh-CN" sz="2400" dirty="0"/>
              <a:t>r</a:t>
            </a:r>
            <a:r>
              <a:rPr lang="zh-CN" altLang="zh-CN" sz="2400" dirty="0"/>
              <a:t>列为对应股票未来持有期为</a:t>
            </a:r>
            <a:r>
              <a:rPr lang="en-US" altLang="zh-CN" sz="2400" dirty="0"/>
              <a:t>1</a:t>
            </a:r>
            <a:r>
              <a:rPr lang="zh-CN" altLang="zh-CN" sz="2400" dirty="0"/>
              <a:t>个月的收益率回测计算结果。策略获得的总的收益率</a:t>
            </a:r>
            <a:r>
              <a:rPr lang="en-US" altLang="zh-CN" sz="2400" dirty="0" err="1"/>
              <a:t>total_r</a:t>
            </a:r>
            <a:r>
              <a:rPr lang="en-US" altLang="zh-CN" sz="2400" dirty="0"/>
              <a:t>= 0.383760250898</a:t>
            </a:r>
            <a:r>
              <a:rPr lang="zh-CN" altLang="zh-CN" sz="2400" dirty="0"/>
              <a:t>，而同期的沪深</a:t>
            </a:r>
            <a:r>
              <a:rPr lang="en-US" altLang="zh-CN" sz="2400" dirty="0"/>
              <a:t>300</a:t>
            </a:r>
            <a:r>
              <a:rPr lang="zh-CN" altLang="zh-CN" sz="2400" dirty="0"/>
              <a:t>指数收益率为</a:t>
            </a:r>
            <a:r>
              <a:rPr lang="en-US" altLang="zh-CN" sz="2400" dirty="0"/>
              <a:t>index300_r =0.0360001133375</a:t>
            </a:r>
            <a:r>
              <a:rPr lang="zh-CN" altLang="zh-CN" sz="2400" dirty="0"/>
              <a:t>。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063760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本章小结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10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0263" y="692696"/>
            <a:ext cx="1205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zh-CN" dirty="0"/>
          </a:p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40263" y="692696"/>
            <a:ext cx="11718758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形态分析也是技术分析的常用手段，也存在众多投资者总结出来的投资形态。本章不指定任何已知形态，而是通过数据挖掘方法自动找到对投资者有价值的形态。为了降低股票价格维度，给出了关键价格点的概念和提取方法，通过关键价格点来描述原来的股票形态走势。进一步地，利用关键价格点提取股票形态特征进行自动聚类，并对每类股票计算未来一定持有期的平均收益率，在此基础上对每个类别的股票按收益率高低（排名前</a:t>
            </a:r>
            <a:r>
              <a:rPr lang="en-US" altLang="zh-CN" sz="2400" dirty="0"/>
              <a:t>5</a:t>
            </a:r>
            <a:r>
              <a:rPr lang="zh-CN" altLang="zh-CN" sz="2400" dirty="0"/>
              <a:t>作为界限）分为两类来构建训练样本。最后，根据训练样本训练支持向量机模型，并利用支持向量机模型自动寻找高收益率的股票形态。为了检验方法的有效性，设计了其量化投资策略，也获得了较好的效果。需要说明的是本章方法其稳定性和应用还需要作进一步的研究，关键点的提取个数、聚类的个数、交易周期的选择等相关问题还需要进一步研究及检验，这里仅提供一个思路及实现方法。事实上本章方法提供的程序经过适当的修改，便可以对以上提出的问题进行进一步的检验。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063760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本章练习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10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0263" y="692696"/>
            <a:ext cx="1205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zh-CN" dirty="0"/>
          </a:p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40263" y="692696"/>
            <a:ext cx="1191623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/>
              <a:t>作为一个例子，本章介绍了股票形态聚类及类收益率的计算方法，进一步地还介绍了预测模型的构建和量化投资策略的设计与实现。但是本文方法稳定性还有待进一步的检验，比如关键价格点该取几个？形态聚类该聚几个类？训练样本中计算形态特征的交易数据周期长度取几个月？计算持有期收益率中持有期为多久？请您根据这些问题，选择一个或者多个进行研究，并给出量化投资策略实证检验。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155">
      <a:dk1>
        <a:srgbClr val="294A5A"/>
      </a:dk1>
      <a:lt1>
        <a:srgbClr val="99CC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99CC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2413</Words>
  <Application>Microsoft Office PowerPoint</Application>
  <PresentationFormat>自定义</PresentationFormat>
  <Paragraphs>258</Paragraphs>
  <Slides>17</Slides>
  <Notes>17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18" baseType="lpstr"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商业融资计划书</dc:title>
  <dc:creator>第一PPT</dc:creator>
  <cp:keywords>www.1ppt.com</cp:keywords>
  <cp:lastModifiedBy>lenovo</cp:lastModifiedBy>
  <cp:revision>1581</cp:revision>
  <dcterms:created xsi:type="dcterms:W3CDTF">2013-01-25T01:44:00Z</dcterms:created>
  <dcterms:modified xsi:type="dcterms:W3CDTF">2020-01-12T04:01:36Z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