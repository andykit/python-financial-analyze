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9" r:id="rId2"/>
    <p:sldId id="260" r:id="rId3"/>
    <p:sldId id="262" r:id="rId4"/>
    <p:sldId id="264" r:id="rId5"/>
    <p:sldId id="265" r:id="rId6"/>
    <p:sldId id="266" r:id="rId7"/>
    <p:sldId id="270" r:id="rId8"/>
    <p:sldId id="271" r:id="rId9"/>
    <p:sldId id="272" r:id="rId1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648" y="-7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96C63C-0C8D-409F-96FD-DC95F70D95E9}" type="datetimeFigureOut">
              <a:rPr lang="zh-CN" altLang="en-US" smtClean="0"/>
              <a:t>2019/11/30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F68F0B-E414-4CD8-8B87-933BD58FF7FB}" type="slidenum">
              <a:rPr lang="zh-CN" altLang="en-US" smtClean="0"/>
              <a:t>‹#›</a:t>
            </a:fld>
            <a:endParaRPr lang="zh-CN" altLang="en-US"/>
          </a:p>
        </p:txBody>
      </p:sp>
    </p:spTree>
    <p:extLst>
      <p:ext uri="{BB962C8B-B14F-4D97-AF65-F5344CB8AC3E}">
        <p14:creationId xmlns:p14="http://schemas.microsoft.com/office/powerpoint/2010/main" val="2643676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082992"/>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4625985" y="101210"/>
            <a:ext cx="581125" cy="223120"/>
          </a:xfrm>
          <a:prstGeom prst="rect">
            <a:avLst/>
          </a:prstGeom>
        </p:spPr>
        <p:txBody>
          <a:bodyPr wrap="square" lIns="68562" tIns="34281" rIns="68562" bIns="34281">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p>
          <a:p>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
        <p:nvSpPr>
          <p:cNvPr id="2" name="标题 1"/>
          <p:cNvSpPr>
            <a:spLocks noGrp="1"/>
          </p:cNvSpPr>
          <p:nvPr>
            <p:ph type="title"/>
          </p:nvPr>
        </p:nvSpPr>
        <p:spPr>
          <a:xfrm>
            <a:off x="618977" y="681038"/>
            <a:ext cx="7947907" cy="476250"/>
          </a:xfrm>
        </p:spPr>
        <p:txBody>
          <a:bodyPr/>
          <a:lstStyle>
            <a:lvl1pPr>
              <a:defRPr>
                <a:solidFill>
                  <a:schemeClr val="accent1"/>
                </a:solidFill>
              </a:defRPr>
            </a:lvl1pPr>
          </a:lstStyle>
          <a:p>
            <a:r>
              <a:rPr lang="zh-CN" altLang="en-US"/>
              <a:t>单击此处编辑母版标题样式</a:t>
            </a:r>
          </a:p>
        </p:txBody>
      </p:sp>
      <p:sp>
        <p:nvSpPr>
          <p:cNvPr id="3" name="内容占位符 2"/>
          <p:cNvSpPr>
            <a:spLocks noGrp="1"/>
          </p:cNvSpPr>
          <p:nvPr>
            <p:ph idx="1"/>
          </p:nvPr>
        </p:nvSpPr>
        <p:spPr>
          <a:xfrm>
            <a:off x="618977" y="1200151"/>
            <a:ext cx="7947907" cy="3394472"/>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Freeform 5"/>
          <p:cNvSpPr/>
          <p:nvPr userDrawn="1"/>
        </p:nvSpPr>
        <p:spPr bwMode="auto">
          <a:xfrm>
            <a:off x="47859" y="54880"/>
            <a:ext cx="920005" cy="364850"/>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68557" tIns="34279" rIns="68557" bIns="34279" numCol="1" anchor="t" anchorCtr="0" compatLnSpc="1"/>
          <a:lstStyle/>
          <a:p>
            <a:pPr fontAlgn="base">
              <a:spcBef>
                <a:spcPct val="0"/>
              </a:spcBef>
              <a:spcAft>
                <a:spcPct val="0"/>
              </a:spcAft>
              <a:buFont typeface="Arial" pitchFamily="34" charset="0"/>
              <a:buNone/>
            </a:pPr>
            <a:endParaRPr lang="zh-CN" altLang="en-US">
              <a:solidFill>
                <a:srgbClr val="294A5A"/>
              </a:solidFill>
              <a:ea typeface="宋体" pitchFamily="2" charset="-122"/>
            </a:endParaRPr>
          </a:p>
        </p:txBody>
      </p:sp>
      <p:sp>
        <p:nvSpPr>
          <p:cNvPr id="9" name="Freeform 6"/>
          <p:cNvSpPr/>
          <p:nvPr userDrawn="1"/>
        </p:nvSpPr>
        <p:spPr bwMode="auto">
          <a:xfrm>
            <a:off x="897276" y="54880"/>
            <a:ext cx="7658865" cy="364850"/>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68557" tIns="34279" rIns="68557" bIns="34279" numCol="1" anchor="t" anchorCtr="0" compatLnSpc="1"/>
          <a:lstStyle/>
          <a:p>
            <a:pPr fontAlgn="base">
              <a:spcBef>
                <a:spcPct val="0"/>
              </a:spcBef>
              <a:spcAft>
                <a:spcPct val="0"/>
              </a:spcAft>
              <a:buFont typeface="Arial" pitchFamily="34" charset="0"/>
              <a:buNone/>
            </a:pPr>
            <a:endParaRPr lang="zh-CN" altLang="en-US">
              <a:solidFill>
                <a:srgbClr val="294A5A"/>
              </a:solidFill>
              <a:ea typeface="宋体" pitchFamily="2" charset="-122"/>
            </a:endParaRPr>
          </a:p>
        </p:txBody>
      </p:sp>
      <p:sp>
        <p:nvSpPr>
          <p:cNvPr id="10" name="Freeform 7"/>
          <p:cNvSpPr/>
          <p:nvPr userDrawn="1"/>
        </p:nvSpPr>
        <p:spPr bwMode="auto">
          <a:xfrm>
            <a:off x="8486728" y="54880"/>
            <a:ext cx="609415" cy="364850"/>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68557" tIns="34279" rIns="68557" bIns="34279" numCol="1" anchor="t" anchorCtr="0" compatLnSpc="1"/>
          <a:lstStyle/>
          <a:p>
            <a:pPr fontAlgn="base">
              <a:spcBef>
                <a:spcPct val="0"/>
              </a:spcBef>
              <a:spcAft>
                <a:spcPct val="0"/>
              </a:spcAft>
              <a:buFont typeface="Arial" pitchFamily="34" charset="0"/>
              <a:buNone/>
            </a:pPr>
            <a:endParaRPr lang="zh-CN" altLang="en-US">
              <a:solidFill>
                <a:srgbClr val="294A5A"/>
              </a:solidFill>
              <a:ea typeface="宋体" pitchFamily="2" charset="-122"/>
            </a:endParaRPr>
          </a:p>
        </p:txBody>
      </p:sp>
      <p:sp>
        <p:nvSpPr>
          <p:cNvPr id="15" name="TextBox 14"/>
          <p:cNvSpPr txBox="1"/>
          <p:nvPr userDrawn="1"/>
        </p:nvSpPr>
        <p:spPr>
          <a:xfrm>
            <a:off x="8647556" y="87475"/>
            <a:ext cx="359667" cy="269282"/>
          </a:xfrm>
          <a:prstGeom prst="rect">
            <a:avLst/>
          </a:prstGeom>
          <a:noFill/>
        </p:spPr>
        <p:txBody>
          <a:bodyPr wrap="none" lIns="68557" tIns="34279" rIns="68557" bIns="34279" rtlCol="0">
            <a:spAutoFit/>
          </a:bodyPr>
          <a:lstStyle/>
          <a:p>
            <a:pPr algn="ctr" fontAlgn="base">
              <a:spcBef>
                <a:spcPct val="0"/>
              </a:spcBef>
              <a:spcAft>
                <a:spcPct val="0"/>
              </a:spcAft>
              <a:buFont typeface="Arial" pitchFamily="34" charset="0"/>
              <a:buNone/>
            </a:pPr>
            <a:fld id="{B879B013-EF15-44F9-9A4C-93BE492C244C}" type="slidenum">
              <a:rPr lang="zh-CN" altLang="en-US" sz="1300" smtClean="0">
                <a:solidFill>
                  <a:srgbClr val="FFFFFF"/>
                </a:solidFill>
                <a:latin typeface="微软雅黑"/>
              </a:rPr>
              <a:pPr algn="ctr" fontAlgn="base">
                <a:spcBef>
                  <a:spcPct val="0"/>
                </a:spcBef>
                <a:spcAft>
                  <a:spcPct val="0"/>
                </a:spcAft>
                <a:buFont typeface="Arial" pitchFamily="34" charset="0"/>
                <a:buNone/>
              </a:pPr>
              <a:t>‹#›</a:t>
            </a:fld>
            <a:endParaRPr lang="zh-CN" altLang="en-US" sz="1300" dirty="0">
              <a:solidFill>
                <a:srgbClr val="FFFFFF"/>
              </a:solidFill>
              <a:latin typeface="微软雅黑"/>
            </a:endParaRPr>
          </a:p>
        </p:txBody>
      </p:sp>
    </p:spTree>
    <p:extLst>
      <p:ext uri="{BB962C8B-B14F-4D97-AF65-F5344CB8AC3E}">
        <p14:creationId xmlns:p14="http://schemas.microsoft.com/office/powerpoint/2010/main" val="38734015"/>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429" y="3305176"/>
            <a:ext cx="7771745" cy="1021556"/>
          </a:xfrm>
        </p:spPr>
        <p:txBody>
          <a:bodyPr anchor="t"/>
          <a:lstStyle>
            <a:lvl1pPr algn="l">
              <a:defRPr sz="3000" b="1" cap="all">
                <a:solidFill>
                  <a:srgbClr val="F8F8F8"/>
                </a:solidFill>
              </a:defRPr>
            </a:lvl1pPr>
          </a:lstStyle>
          <a:p>
            <a:r>
              <a:rPr lang="zh-CN" altLang="en-US"/>
              <a:t>单击此处编辑母版标题样式</a:t>
            </a:r>
          </a:p>
        </p:txBody>
      </p:sp>
      <p:sp>
        <p:nvSpPr>
          <p:cNvPr id="3" name="文本占位符 2"/>
          <p:cNvSpPr>
            <a:spLocks noGrp="1"/>
          </p:cNvSpPr>
          <p:nvPr>
            <p:ph type="body" idx="1"/>
          </p:nvPr>
        </p:nvSpPr>
        <p:spPr>
          <a:xfrm>
            <a:off x="722429" y="2180035"/>
            <a:ext cx="7771745" cy="1125140"/>
          </a:xfrm>
        </p:spPr>
        <p:txBody>
          <a:bodyPr anchor="b"/>
          <a:lstStyle>
            <a:lvl1pPr marL="0" indent="0">
              <a:buNone/>
              <a:defRPr sz="1500">
                <a:solidFill>
                  <a:srgbClr val="F8F8F8"/>
                </a:solidFill>
              </a:defRPr>
            </a:lvl1pPr>
            <a:lvl2pPr marL="342786" indent="0">
              <a:buNone/>
              <a:defRPr sz="1300"/>
            </a:lvl2pPr>
            <a:lvl3pPr marL="685571" indent="0">
              <a:buNone/>
              <a:defRPr sz="1200"/>
            </a:lvl3pPr>
            <a:lvl4pPr marL="1028357" indent="0">
              <a:buNone/>
              <a:defRPr sz="1000"/>
            </a:lvl4pPr>
            <a:lvl5pPr marL="1371143" indent="0">
              <a:buNone/>
              <a:defRPr sz="1000"/>
            </a:lvl5pPr>
            <a:lvl6pPr marL="1713929" indent="0">
              <a:buNone/>
              <a:defRPr sz="1000"/>
            </a:lvl6pPr>
            <a:lvl7pPr marL="2056713" indent="0">
              <a:buNone/>
              <a:defRPr sz="1000"/>
            </a:lvl7pPr>
            <a:lvl8pPr marL="2399500" indent="0">
              <a:buNone/>
              <a:defRPr sz="1000"/>
            </a:lvl8pPr>
            <a:lvl9pPr marL="2742285"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510587258"/>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021" y="1200151"/>
            <a:ext cx="4057256" cy="3394472"/>
          </a:xfrm>
        </p:spPr>
        <p:txBody>
          <a:bodyPr/>
          <a:lstStyle>
            <a:lvl1pPr>
              <a:defRPr sz="21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8533" y="1200151"/>
            <a:ext cx="4058446" cy="3394472"/>
          </a:xfrm>
        </p:spPr>
        <p:txBody>
          <a:bodyPr/>
          <a:lstStyle>
            <a:lvl1pPr>
              <a:defRPr sz="21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5" name="图片 13" descr="泰迪logo无底色.png">
            <a:extLst>
              <a:ext uri="{FF2B5EF4-FFF2-40B4-BE49-F238E27FC236}">
                <a16:creationId xmlns="" xmlns:a16="http://schemas.microsoft.com/office/drawing/2014/main" id="{6E7842DF-66E6-42B7-A225-E6735EEA8AB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51279" y="4731991"/>
            <a:ext cx="688300" cy="181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0784091"/>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023" y="205978"/>
            <a:ext cx="8229957"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022" y="1151335"/>
            <a:ext cx="4040594" cy="479822"/>
          </a:xfrm>
        </p:spPr>
        <p:txBody>
          <a:bodyPr anchor="b"/>
          <a:lstStyle>
            <a:lvl1pPr marL="0" indent="0">
              <a:buNone/>
              <a:defRPr sz="1800" b="1"/>
            </a:lvl1pPr>
            <a:lvl2pPr marL="342786" indent="0">
              <a:buNone/>
              <a:defRPr sz="1500" b="1"/>
            </a:lvl2pPr>
            <a:lvl3pPr marL="685571" indent="0">
              <a:buNone/>
              <a:defRPr sz="1300" b="1"/>
            </a:lvl3pPr>
            <a:lvl4pPr marL="1028357" indent="0">
              <a:buNone/>
              <a:defRPr sz="1200" b="1"/>
            </a:lvl4pPr>
            <a:lvl5pPr marL="1371143" indent="0">
              <a:buNone/>
              <a:defRPr sz="1200" b="1"/>
            </a:lvl5pPr>
            <a:lvl6pPr marL="1713929" indent="0">
              <a:buNone/>
              <a:defRPr sz="1200" b="1"/>
            </a:lvl6pPr>
            <a:lvl7pPr marL="2056713" indent="0">
              <a:buNone/>
              <a:defRPr sz="1200" b="1"/>
            </a:lvl7pPr>
            <a:lvl8pPr marL="2399500" indent="0">
              <a:buNone/>
              <a:defRPr sz="1200" b="1"/>
            </a:lvl8pPr>
            <a:lvl9pPr marL="2742285"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022" y="1631156"/>
            <a:ext cx="4040594" cy="296346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196" y="1151335"/>
            <a:ext cx="4041784" cy="479822"/>
          </a:xfrm>
        </p:spPr>
        <p:txBody>
          <a:bodyPr anchor="b"/>
          <a:lstStyle>
            <a:lvl1pPr marL="0" indent="0">
              <a:buNone/>
              <a:defRPr sz="1800" b="1"/>
            </a:lvl1pPr>
            <a:lvl2pPr marL="342786" indent="0">
              <a:buNone/>
              <a:defRPr sz="1500" b="1"/>
            </a:lvl2pPr>
            <a:lvl3pPr marL="685571" indent="0">
              <a:buNone/>
              <a:defRPr sz="1300" b="1"/>
            </a:lvl3pPr>
            <a:lvl4pPr marL="1028357" indent="0">
              <a:buNone/>
              <a:defRPr sz="1200" b="1"/>
            </a:lvl4pPr>
            <a:lvl5pPr marL="1371143" indent="0">
              <a:buNone/>
              <a:defRPr sz="1200" b="1"/>
            </a:lvl5pPr>
            <a:lvl6pPr marL="1713929" indent="0">
              <a:buNone/>
              <a:defRPr sz="1200" b="1"/>
            </a:lvl6pPr>
            <a:lvl7pPr marL="2056713" indent="0">
              <a:buNone/>
              <a:defRPr sz="1200" b="1"/>
            </a:lvl7pPr>
            <a:lvl8pPr marL="2399500" indent="0">
              <a:buNone/>
              <a:defRPr sz="1200" b="1"/>
            </a:lvl8pPr>
            <a:lvl9pPr marL="2742285"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196" y="1631156"/>
            <a:ext cx="4041784" cy="296346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06063997"/>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59090989"/>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439234"/>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022" y="204787"/>
            <a:ext cx="3008725"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241" y="204789"/>
            <a:ext cx="5111738"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022" y="1076327"/>
            <a:ext cx="3008725" cy="3518297"/>
          </a:xfrm>
        </p:spPr>
        <p:txBody>
          <a:bodyPr/>
          <a:lstStyle>
            <a:lvl1pPr marL="0" indent="0">
              <a:buNone/>
              <a:defRPr sz="1000"/>
            </a:lvl1pPr>
            <a:lvl2pPr marL="342786" indent="0">
              <a:buNone/>
              <a:defRPr sz="900"/>
            </a:lvl2pPr>
            <a:lvl3pPr marL="685571" indent="0">
              <a:buNone/>
              <a:defRPr sz="700"/>
            </a:lvl3pPr>
            <a:lvl4pPr marL="1028357" indent="0">
              <a:buNone/>
              <a:defRPr sz="700"/>
            </a:lvl4pPr>
            <a:lvl5pPr marL="1371143" indent="0">
              <a:buNone/>
              <a:defRPr sz="700"/>
            </a:lvl5pPr>
            <a:lvl6pPr marL="1713929" indent="0">
              <a:buNone/>
              <a:defRPr sz="700"/>
            </a:lvl6pPr>
            <a:lvl7pPr marL="2056713" indent="0">
              <a:buNone/>
              <a:defRPr sz="700"/>
            </a:lvl7pPr>
            <a:lvl8pPr marL="2399500" indent="0">
              <a:buNone/>
              <a:defRPr sz="700"/>
            </a:lvl8pPr>
            <a:lvl9pPr marL="2742285" indent="0">
              <a:buNone/>
              <a:defRPr sz="700"/>
            </a:lvl9pPr>
          </a:lstStyle>
          <a:p>
            <a:pPr lvl="0"/>
            <a:r>
              <a:rPr lang="zh-CN" altLang="en-US"/>
              <a:t>单击此处编辑母版文本样式</a:t>
            </a:r>
          </a:p>
        </p:txBody>
      </p:sp>
    </p:spTree>
    <p:extLst>
      <p:ext uri="{BB962C8B-B14F-4D97-AF65-F5344CB8AC3E}">
        <p14:creationId xmlns:p14="http://schemas.microsoft.com/office/powerpoint/2010/main" val="3890555801"/>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81" y="3600451"/>
            <a:ext cx="5486638"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381" y="459581"/>
            <a:ext cx="5486638" cy="3086100"/>
          </a:xfrm>
        </p:spPr>
        <p:txBody>
          <a:bodyPr/>
          <a:lstStyle>
            <a:lvl1pPr marL="0" indent="0">
              <a:buNone/>
              <a:defRPr sz="2400"/>
            </a:lvl1pPr>
            <a:lvl2pPr marL="342786" indent="0">
              <a:buNone/>
              <a:defRPr sz="2100"/>
            </a:lvl2pPr>
            <a:lvl3pPr marL="685571" indent="0">
              <a:buNone/>
              <a:defRPr sz="1800"/>
            </a:lvl3pPr>
            <a:lvl4pPr marL="1028357" indent="0">
              <a:buNone/>
              <a:defRPr sz="1500"/>
            </a:lvl4pPr>
            <a:lvl5pPr marL="1371143" indent="0">
              <a:buNone/>
              <a:defRPr sz="1500"/>
            </a:lvl5pPr>
            <a:lvl6pPr marL="1713929" indent="0">
              <a:buNone/>
              <a:defRPr sz="1500"/>
            </a:lvl6pPr>
            <a:lvl7pPr marL="2056713" indent="0">
              <a:buNone/>
              <a:defRPr sz="1500"/>
            </a:lvl7pPr>
            <a:lvl8pPr marL="2399500" indent="0">
              <a:buNone/>
              <a:defRPr sz="1500"/>
            </a:lvl8pPr>
            <a:lvl9pPr marL="2742285" indent="0">
              <a:buNone/>
              <a:defRPr sz="1500"/>
            </a:lvl9pPr>
          </a:lstStyle>
          <a:p>
            <a:endParaRPr lang="zh-CN" altLang="en-US"/>
          </a:p>
        </p:txBody>
      </p:sp>
      <p:sp>
        <p:nvSpPr>
          <p:cNvPr id="4" name="文本占位符 3"/>
          <p:cNvSpPr>
            <a:spLocks noGrp="1"/>
          </p:cNvSpPr>
          <p:nvPr>
            <p:ph type="body" sz="half" idx="2"/>
          </p:nvPr>
        </p:nvSpPr>
        <p:spPr>
          <a:xfrm>
            <a:off x="1792381" y="4025504"/>
            <a:ext cx="5486638" cy="603647"/>
          </a:xfrm>
        </p:spPr>
        <p:txBody>
          <a:bodyPr/>
          <a:lstStyle>
            <a:lvl1pPr marL="0" indent="0">
              <a:buNone/>
              <a:defRPr sz="1000"/>
            </a:lvl1pPr>
            <a:lvl2pPr marL="342786" indent="0">
              <a:buNone/>
              <a:defRPr sz="900"/>
            </a:lvl2pPr>
            <a:lvl3pPr marL="685571" indent="0">
              <a:buNone/>
              <a:defRPr sz="700"/>
            </a:lvl3pPr>
            <a:lvl4pPr marL="1028357" indent="0">
              <a:buNone/>
              <a:defRPr sz="700"/>
            </a:lvl4pPr>
            <a:lvl5pPr marL="1371143" indent="0">
              <a:buNone/>
              <a:defRPr sz="700"/>
            </a:lvl5pPr>
            <a:lvl6pPr marL="1713929" indent="0">
              <a:buNone/>
              <a:defRPr sz="700"/>
            </a:lvl6pPr>
            <a:lvl7pPr marL="2056713" indent="0">
              <a:buNone/>
              <a:defRPr sz="700"/>
            </a:lvl7pPr>
            <a:lvl8pPr marL="2399500" indent="0">
              <a:buNone/>
              <a:defRPr sz="700"/>
            </a:lvl8pPr>
            <a:lvl9pPr marL="2742285" indent="0">
              <a:buNone/>
              <a:defRPr sz="700"/>
            </a:lvl9pPr>
          </a:lstStyle>
          <a:p>
            <a:pPr lvl="0"/>
            <a:r>
              <a:rPr lang="zh-CN" altLang="en-US"/>
              <a:t>单击此处编辑母版文本样式</a:t>
            </a:r>
          </a:p>
        </p:txBody>
      </p:sp>
    </p:spTree>
    <p:extLst>
      <p:ext uri="{BB962C8B-B14F-4D97-AF65-F5344CB8AC3E}">
        <p14:creationId xmlns:p14="http://schemas.microsoft.com/office/powerpoint/2010/main" val="3254897990"/>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8490650"/>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383" y="681039"/>
            <a:ext cx="2056597" cy="391358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023" y="681039"/>
            <a:ext cx="6059105" cy="391358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80274400"/>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3108972" y="2164958"/>
            <a:ext cx="794951" cy="5990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6320377" y="2068699"/>
            <a:ext cx="822289" cy="6292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780034" y="1085836"/>
            <a:ext cx="2259416" cy="178215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3349270" y="2828303"/>
            <a:ext cx="392942" cy="2967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5530095" y="2178186"/>
            <a:ext cx="300751" cy="22678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3956818" y="1930613"/>
            <a:ext cx="736011" cy="56318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2445501" y="2404972"/>
            <a:ext cx="1107794" cy="84288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4012735" y="2584512"/>
            <a:ext cx="1375296" cy="107723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7411681" y="2044005"/>
            <a:ext cx="837268" cy="63878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5954774" y="2718692"/>
            <a:ext cx="391431" cy="29482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8437863" y="1773752"/>
            <a:ext cx="391430" cy="29482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1540226" y="2096922"/>
            <a:ext cx="1272527" cy="107156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2986554" y="2089361"/>
            <a:ext cx="327956" cy="2740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6387011" y="2493796"/>
            <a:ext cx="527449" cy="44034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6926551" y="2181965"/>
            <a:ext cx="270525" cy="22678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7305888" y="2584511"/>
            <a:ext cx="211584" cy="177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133761"/>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0"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0"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0"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0"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0"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023" y="681038"/>
            <a:ext cx="822995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57" tIns="34279" rIns="68557" bIns="34279" numCol="1" anchor="ctr" anchorCtr="0" compatLnSpc="1"/>
          <a:lstStyle/>
          <a:p>
            <a:pPr lvl="0"/>
            <a:r>
              <a:rPr lang="zh-CN" dirty="0"/>
              <a:t>单击此处编辑母版标题样式</a:t>
            </a:r>
          </a:p>
        </p:txBody>
      </p:sp>
      <p:sp>
        <p:nvSpPr>
          <p:cNvPr id="1027" name="Rectangle 3"/>
          <p:cNvSpPr>
            <a:spLocks noGrp="1" noChangeArrowheads="1"/>
          </p:cNvSpPr>
          <p:nvPr>
            <p:ph type="body" idx="1"/>
          </p:nvPr>
        </p:nvSpPr>
        <p:spPr bwMode="auto">
          <a:xfrm>
            <a:off x="457023" y="1200151"/>
            <a:ext cx="8229957"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57" tIns="34279" rIns="68557" bIns="34279" numCol="1" anchor="t" anchorCtr="0" compatLnSpc="1"/>
          <a:lstStyle/>
          <a:p>
            <a:pPr lvl="0"/>
            <a:r>
              <a:rPr lang="zh-CN" dirty="0"/>
              <a:t>单击此处编辑母版文本样式</a:t>
            </a:r>
          </a:p>
          <a:p>
            <a:pPr lvl="1"/>
            <a:r>
              <a:rPr lang="zh-CN" dirty="0"/>
              <a:t>第二级</a:t>
            </a:r>
          </a:p>
        </p:txBody>
      </p:sp>
    </p:spTree>
    <p:extLst>
      <p:ext uri="{BB962C8B-B14F-4D97-AF65-F5344CB8AC3E}">
        <p14:creationId xmlns:p14="http://schemas.microsoft.com/office/powerpoint/2010/main" val="735037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p14:dur="10" advTm="9437"/>
    </mc:Choice>
    <mc:Fallback xmlns="">
      <p:transition advTm="9437"/>
    </mc:Fallback>
  </mc:AlternateContent>
  <p:txStyles>
    <p:titleStyle>
      <a:lvl1pPr algn="l" rtl="0" fontAlgn="base">
        <a:spcBef>
          <a:spcPct val="0"/>
        </a:spcBef>
        <a:spcAft>
          <a:spcPct val="0"/>
        </a:spcAft>
        <a:defRPr sz="1800">
          <a:solidFill>
            <a:schemeClr val="accent1"/>
          </a:solidFill>
          <a:latin typeface="+mj-lt"/>
          <a:ea typeface="+mj-ea"/>
          <a:cs typeface="+mj-cs"/>
        </a:defRPr>
      </a:lvl1pPr>
      <a:lvl2pPr algn="l" rtl="0" fontAlgn="base">
        <a:spcBef>
          <a:spcPct val="0"/>
        </a:spcBef>
        <a:spcAft>
          <a:spcPct val="0"/>
        </a:spcAft>
        <a:defRPr sz="1800">
          <a:solidFill>
            <a:schemeClr val="tx2"/>
          </a:solidFill>
          <a:latin typeface="Arial" pitchFamily="34" charset="0"/>
          <a:ea typeface="微软雅黑" pitchFamily="34" charset="-122"/>
        </a:defRPr>
      </a:lvl2pPr>
      <a:lvl3pPr algn="l" rtl="0" fontAlgn="base">
        <a:spcBef>
          <a:spcPct val="0"/>
        </a:spcBef>
        <a:spcAft>
          <a:spcPct val="0"/>
        </a:spcAft>
        <a:defRPr sz="1800">
          <a:solidFill>
            <a:schemeClr val="tx2"/>
          </a:solidFill>
          <a:latin typeface="Arial" pitchFamily="34" charset="0"/>
          <a:ea typeface="微软雅黑" pitchFamily="34" charset="-122"/>
        </a:defRPr>
      </a:lvl3pPr>
      <a:lvl4pPr algn="l" rtl="0" fontAlgn="base">
        <a:spcBef>
          <a:spcPct val="0"/>
        </a:spcBef>
        <a:spcAft>
          <a:spcPct val="0"/>
        </a:spcAft>
        <a:defRPr sz="1800">
          <a:solidFill>
            <a:schemeClr val="tx2"/>
          </a:solidFill>
          <a:latin typeface="Arial" pitchFamily="34" charset="0"/>
          <a:ea typeface="微软雅黑" pitchFamily="34" charset="-122"/>
        </a:defRPr>
      </a:lvl4pPr>
      <a:lvl5pPr algn="l" rtl="0" fontAlgn="base">
        <a:spcBef>
          <a:spcPct val="0"/>
        </a:spcBef>
        <a:spcAft>
          <a:spcPct val="0"/>
        </a:spcAft>
        <a:defRPr sz="1800">
          <a:solidFill>
            <a:schemeClr val="tx2"/>
          </a:solidFill>
          <a:latin typeface="Arial" pitchFamily="34" charset="0"/>
          <a:ea typeface="微软雅黑" pitchFamily="34" charset="-122"/>
        </a:defRPr>
      </a:lvl5pPr>
      <a:lvl6pPr marL="342786" algn="l" rtl="0" fontAlgn="base">
        <a:spcBef>
          <a:spcPct val="0"/>
        </a:spcBef>
        <a:spcAft>
          <a:spcPct val="0"/>
        </a:spcAft>
        <a:defRPr sz="1800">
          <a:solidFill>
            <a:schemeClr val="tx2"/>
          </a:solidFill>
          <a:latin typeface="Arial" pitchFamily="34" charset="0"/>
          <a:ea typeface="微软雅黑" pitchFamily="34" charset="-122"/>
        </a:defRPr>
      </a:lvl6pPr>
      <a:lvl7pPr marL="685571" algn="l" rtl="0" fontAlgn="base">
        <a:spcBef>
          <a:spcPct val="0"/>
        </a:spcBef>
        <a:spcAft>
          <a:spcPct val="0"/>
        </a:spcAft>
        <a:defRPr sz="1800">
          <a:solidFill>
            <a:schemeClr val="tx2"/>
          </a:solidFill>
          <a:latin typeface="Arial" pitchFamily="34" charset="0"/>
          <a:ea typeface="微软雅黑" pitchFamily="34" charset="-122"/>
        </a:defRPr>
      </a:lvl7pPr>
      <a:lvl8pPr marL="1028357" algn="l" rtl="0" fontAlgn="base">
        <a:spcBef>
          <a:spcPct val="0"/>
        </a:spcBef>
        <a:spcAft>
          <a:spcPct val="0"/>
        </a:spcAft>
        <a:defRPr sz="1800">
          <a:solidFill>
            <a:schemeClr val="tx2"/>
          </a:solidFill>
          <a:latin typeface="Arial" pitchFamily="34" charset="0"/>
          <a:ea typeface="微软雅黑" pitchFamily="34" charset="-122"/>
        </a:defRPr>
      </a:lvl8pPr>
      <a:lvl9pPr marL="1371143" algn="l" rtl="0" fontAlgn="base">
        <a:spcBef>
          <a:spcPct val="0"/>
        </a:spcBef>
        <a:spcAft>
          <a:spcPct val="0"/>
        </a:spcAft>
        <a:defRPr sz="1800">
          <a:solidFill>
            <a:schemeClr val="tx2"/>
          </a:solidFill>
          <a:latin typeface="Arial" pitchFamily="34" charset="0"/>
          <a:ea typeface="微软雅黑" pitchFamily="34" charset="-122"/>
        </a:defRPr>
      </a:lvl9pPr>
    </p:titleStyle>
    <p:bodyStyle>
      <a:lvl1pPr marL="257089" indent="-257089" algn="l" rtl="0" fontAlgn="base">
        <a:spcBef>
          <a:spcPct val="20000"/>
        </a:spcBef>
        <a:spcAft>
          <a:spcPct val="0"/>
        </a:spcAft>
        <a:buChar char="•"/>
        <a:defRPr sz="1500">
          <a:solidFill>
            <a:schemeClr val="accent1"/>
          </a:solidFill>
          <a:latin typeface="+mn-lt"/>
          <a:ea typeface="+mn-ea"/>
          <a:cs typeface="+mn-cs"/>
        </a:defRPr>
      </a:lvl1pPr>
      <a:lvl2pPr marL="557027" indent="-214240" algn="l" rtl="0" eaLnBrk="0" fontAlgn="base" hangingPunct="0">
        <a:spcBef>
          <a:spcPct val="20000"/>
        </a:spcBef>
        <a:spcAft>
          <a:spcPct val="0"/>
        </a:spcAft>
        <a:buChar char="–"/>
        <a:defRPr sz="1500">
          <a:solidFill>
            <a:schemeClr val="accent1"/>
          </a:solidFill>
          <a:latin typeface="+mn-lt"/>
          <a:ea typeface="仿宋_GB2312" pitchFamily="49" charset="-122"/>
        </a:defRPr>
      </a:lvl2pPr>
      <a:lvl3pPr marL="856964" indent="-171392" algn="l" rtl="0" eaLnBrk="0" fontAlgn="base" hangingPunct="0">
        <a:spcBef>
          <a:spcPct val="20000"/>
        </a:spcBef>
        <a:spcAft>
          <a:spcPct val="0"/>
        </a:spcAft>
        <a:buChar char="•"/>
        <a:defRPr sz="1800">
          <a:solidFill>
            <a:schemeClr val="tx1"/>
          </a:solidFill>
          <a:latin typeface="+mn-lt"/>
          <a:ea typeface="宋体" pitchFamily="2" charset="-122"/>
        </a:defRPr>
      </a:lvl3pPr>
      <a:lvl4pPr marL="1199750" indent="-171392" algn="l" rtl="0" eaLnBrk="0" fontAlgn="base" hangingPunct="0">
        <a:spcBef>
          <a:spcPct val="20000"/>
        </a:spcBef>
        <a:spcAft>
          <a:spcPct val="0"/>
        </a:spcAft>
        <a:buChar char="–"/>
        <a:defRPr sz="1500">
          <a:solidFill>
            <a:schemeClr val="tx1"/>
          </a:solidFill>
          <a:latin typeface="+mn-lt"/>
          <a:ea typeface="宋体" pitchFamily="2" charset="-122"/>
        </a:defRPr>
      </a:lvl4pPr>
      <a:lvl5pPr marL="1542536" indent="-171392" algn="l" rtl="0" eaLnBrk="0" fontAlgn="base" hangingPunct="0">
        <a:spcBef>
          <a:spcPct val="20000"/>
        </a:spcBef>
        <a:spcAft>
          <a:spcPct val="0"/>
        </a:spcAft>
        <a:buChar char="»"/>
        <a:defRPr sz="1500">
          <a:solidFill>
            <a:schemeClr val="tx1"/>
          </a:solidFill>
          <a:latin typeface="+mn-lt"/>
          <a:ea typeface="宋体" pitchFamily="2" charset="-122"/>
        </a:defRPr>
      </a:lvl5pPr>
      <a:lvl6pPr marL="1885321" indent="-171392" algn="l" rtl="0" eaLnBrk="0" fontAlgn="base" hangingPunct="0">
        <a:spcBef>
          <a:spcPct val="20000"/>
        </a:spcBef>
        <a:spcAft>
          <a:spcPct val="0"/>
        </a:spcAft>
        <a:buChar char="»"/>
        <a:defRPr sz="1500">
          <a:solidFill>
            <a:schemeClr val="tx1"/>
          </a:solidFill>
          <a:latin typeface="+mn-lt"/>
          <a:ea typeface="宋体" pitchFamily="2" charset="-122"/>
        </a:defRPr>
      </a:lvl6pPr>
      <a:lvl7pPr marL="2228107" indent="-171392" algn="l" rtl="0" eaLnBrk="0" fontAlgn="base" hangingPunct="0">
        <a:spcBef>
          <a:spcPct val="20000"/>
        </a:spcBef>
        <a:spcAft>
          <a:spcPct val="0"/>
        </a:spcAft>
        <a:buChar char="»"/>
        <a:defRPr sz="1500">
          <a:solidFill>
            <a:schemeClr val="tx1"/>
          </a:solidFill>
          <a:latin typeface="+mn-lt"/>
          <a:ea typeface="宋体" pitchFamily="2" charset="-122"/>
        </a:defRPr>
      </a:lvl7pPr>
      <a:lvl8pPr marL="2570892" indent="-171392" algn="l" rtl="0" eaLnBrk="0" fontAlgn="base" hangingPunct="0">
        <a:spcBef>
          <a:spcPct val="20000"/>
        </a:spcBef>
        <a:spcAft>
          <a:spcPct val="0"/>
        </a:spcAft>
        <a:buChar char="»"/>
        <a:defRPr sz="1500">
          <a:solidFill>
            <a:schemeClr val="tx1"/>
          </a:solidFill>
          <a:latin typeface="+mn-lt"/>
          <a:ea typeface="宋体" pitchFamily="2" charset="-122"/>
        </a:defRPr>
      </a:lvl8pPr>
      <a:lvl9pPr marL="2913679" indent="-171392" algn="l" rtl="0" eaLnBrk="0" fontAlgn="base" hangingPunct="0">
        <a:spcBef>
          <a:spcPct val="20000"/>
        </a:spcBef>
        <a:spcAft>
          <a:spcPct val="0"/>
        </a:spcAft>
        <a:buChar char="»"/>
        <a:defRPr sz="1500">
          <a:solidFill>
            <a:schemeClr val="tx1"/>
          </a:solidFill>
          <a:latin typeface="+mn-lt"/>
          <a:ea typeface="宋体" pitchFamily="2" charset="-122"/>
        </a:defRPr>
      </a:lvl9pPr>
    </p:bodyStyle>
    <p:otherStyle>
      <a:defPPr>
        <a:defRPr lang="zh-CN"/>
      </a:defPPr>
      <a:lvl1pPr marL="0" algn="l" defTabSz="685571" rtl="0" eaLnBrk="1" latinLnBrk="0" hangingPunct="1">
        <a:defRPr sz="1300" kern="1200">
          <a:solidFill>
            <a:schemeClr val="tx1"/>
          </a:solidFill>
          <a:latin typeface="+mn-lt"/>
          <a:ea typeface="+mn-ea"/>
          <a:cs typeface="+mn-cs"/>
        </a:defRPr>
      </a:lvl1pPr>
      <a:lvl2pPr marL="342786" algn="l" defTabSz="685571" rtl="0" eaLnBrk="1" latinLnBrk="0" hangingPunct="1">
        <a:defRPr sz="1300" kern="1200">
          <a:solidFill>
            <a:schemeClr val="tx1"/>
          </a:solidFill>
          <a:latin typeface="+mn-lt"/>
          <a:ea typeface="+mn-ea"/>
          <a:cs typeface="+mn-cs"/>
        </a:defRPr>
      </a:lvl2pPr>
      <a:lvl3pPr marL="685571" algn="l" defTabSz="685571" rtl="0" eaLnBrk="1" latinLnBrk="0" hangingPunct="1">
        <a:defRPr sz="1300" kern="1200">
          <a:solidFill>
            <a:schemeClr val="tx1"/>
          </a:solidFill>
          <a:latin typeface="+mn-lt"/>
          <a:ea typeface="+mn-ea"/>
          <a:cs typeface="+mn-cs"/>
        </a:defRPr>
      </a:lvl3pPr>
      <a:lvl4pPr marL="1028357" algn="l" defTabSz="685571" rtl="0" eaLnBrk="1" latinLnBrk="0" hangingPunct="1">
        <a:defRPr sz="1300" kern="1200">
          <a:solidFill>
            <a:schemeClr val="tx1"/>
          </a:solidFill>
          <a:latin typeface="+mn-lt"/>
          <a:ea typeface="+mn-ea"/>
          <a:cs typeface="+mn-cs"/>
        </a:defRPr>
      </a:lvl4pPr>
      <a:lvl5pPr marL="1371143" algn="l" defTabSz="685571" rtl="0" eaLnBrk="1" latinLnBrk="0" hangingPunct="1">
        <a:defRPr sz="1300" kern="1200">
          <a:solidFill>
            <a:schemeClr val="tx1"/>
          </a:solidFill>
          <a:latin typeface="+mn-lt"/>
          <a:ea typeface="+mn-ea"/>
          <a:cs typeface="+mn-cs"/>
        </a:defRPr>
      </a:lvl5pPr>
      <a:lvl6pPr marL="1713929" algn="l" defTabSz="685571" rtl="0" eaLnBrk="1" latinLnBrk="0" hangingPunct="1">
        <a:defRPr sz="1300" kern="1200">
          <a:solidFill>
            <a:schemeClr val="tx1"/>
          </a:solidFill>
          <a:latin typeface="+mn-lt"/>
          <a:ea typeface="+mn-ea"/>
          <a:cs typeface="+mn-cs"/>
        </a:defRPr>
      </a:lvl6pPr>
      <a:lvl7pPr marL="2056713" algn="l" defTabSz="685571" rtl="0" eaLnBrk="1" latinLnBrk="0" hangingPunct="1">
        <a:defRPr sz="1300" kern="1200">
          <a:solidFill>
            <a:schemeClr val="tx1"/>
          </a:solidFill>
          <a:latin typeface="+mn-lt"/>
          <a:ea typeface="+mn-ea"/>
          <a:cs typeface="+mn-cs"/>
        </a:defRPr>
      </a:lvl7pPr>
      <a:lvl8pPr marL="2399500" algn="l" defTabSz="685571" rtl="0" eaLnBrk="1" latinLnBrk="0" hangingPunct="1">
        <a:defRPr sz="1300" kern="1200">
          <a:solidFill>
            <a:schemeClr val="tx1"/>
          </a:solidFill>
          <a:latin typeface="+mn-lt"/>
          <a:ea typeface="+mn-ea"/>
          <a:cs typeface="+mn-cs"/>
        </a:defRPr>
      </a:lvl8pPr>
      <a:lvl9pPr marL="2742285" algn="l" defTabSz="685571"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4" y="33470"/>
            <a:ext cx="6382627" cy="392387"/>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lvl="0" fontAlgn="base">
              <a:spcBef>
                <a:spcPct val="0"/>
              </a:spcBef>
              <a:spcAft>
                <a:spcPct val="0"/>
              </a:spcAft>
            </a:pPr>
            <a:r>
              <a:rPr lang="en-US" altLang="zh-CN" sz="2100" dirty="0">
                <a:solidFill>
                  <a:srgbClr val="FFFFFF"/>
                </a:solidFill>
                <a:latin typeface="微软雅黑"/>
                <a:ea typeface="微软雅黑"/>
              </a:rPr>
              <a:t>8.1 </a:t>
            </a:r>
            <a:r>
              <a:rPr lang="zh-CN" altLang="en-US" sz="2100" dirty="0">
                <a:solidFill>
                  <a:srgbClr val="FFFFFF"/>
                </a:solidFill>
                <a:latin typeface="微软雅黑"/>
                <a:ea typeface="微软雅黑"/>
              </a:rPr>
              <a:t>案例</a:t>
            </a:r>
            <a:r>
              <a:rPr lang="zh-CN" altLang="en-US" sz="2100" dirty="0" smtClean="0">
                <a:solidFill>
                  <a:srgbClr val="FFFFFF"/>
                </a:solidFill>
                <a:latin typeface="微软雅黑"/>
                <a:ea typeface="微软雅黑"/>
              </a:rPr>
              <a:t>背景                       </a:t>
            </a:r>
            <a:r>
              <a:rPr lang="en-US" altLang="zh-CN" sz="2100" dirty="0" smtClean="0">
                <a:solidFill>
                  <a:srgbClr val="FFFFFF"/>
                </a:solidFill>
                <a:latin typeface="微软雅黑"/>
                <a:ea typeface="微软雅黑"/>
              </a:rPr>
              <a:t>8.2 </a:t>
            </a:r>
            <a:r>
              <a:rPr lang="zh-CN" altLang="en-US" sz="2100" dirty="0" smtClean="0">
                <a:solidFill>
                  <a:srgbClr val="FFFFFF"/>
                </a:solidFill>
                <a:latin typeface="微软雅黑"/>
                <a:ea typeface="微软雅黑"/>
              </a:rPr>
              <a:t>案例</a:t>
            </a:r>
            <a:r>
              <a:rPr lang="zh-CN" altLang="en-US" sz="2100" dirty="0">
                <a:solidFill>
                  <a:srgbClr val="FFFFFF"/>
                </a:solidFill>
                <a:latin typeface="微软雅黑"/>
                <a:ea typeface="微软雅黑"/>
              </a:rPr>
              <a:t>目标及实现思路</a:t>
            </a:r>
          </a:p>
        </p:txBody>
      </p:sp>
      <p:sp>
        <p:nvSpPr>
          <p:cNvPr id="56" name="TextBox 55"/>
          <p:cNvSpPr txBox="1"/>
          <p:nvPr/>
        </p:nvSpPr>
        <p:spPr>
          <a:xfrm>
            <a:off x="70302" y="56565"/>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sp>
        <p:nvSpPr>
          <p:cNvPr id="2" name="TextBox 1"/>
          <p:cNvSpPr txBox="1"/>
          <p:nvPr/>
        </p:nvSpPr>
        <p:spPr>
          <a:xfrm>
            <a:off x="238261" y="1465663"/>
            <a:ext cx="8318585" cy="669414"/>
          </a:xfrm>
          <a:prstGeom prst="rect">
            <a:avLst/>
          </a:prstGeom>
          <a:noFill/>
        </p:spPr>
        <p:txBody>
          <a:bodyPr wrap="square" rtlCol="0">
            <a:spAutoFit/>
          </a:bodyPr>
          <a:lstStyle/>
          <a:p>
            <a:pPr>
              <a:lnSpc>
                <a:spcPct val="150000"/>
              </a:lnSpc>
            </a:pPr>
            <a:r>
              <a:rPr lang="zh-CN" altLang="zh-CN" sz="900" dirty="0">
                <a:solidFill>
                  <a:schemeClr val="accent1">
                    <a:lumMod val="50000"/>
                  </a:schemeClr>
                </a:solidFill>
              </a:rPr>
              <a:t>案例的</a:t>
            </a:r>
            <a:r>
              <a:rPr lang="zh-CN" altLang="zh-CN" sz="900" b="1" dirty="0">
                <a:solidFill>
                  <a:schemeClr val="accent1">
                    <a:lumMod val="50000"/>
                  </a:schemeClr>
                </a:solidFill>
              </a:rPr>
              <a:t>主要目标</a:t>
            </a:r>
            <a:r>
              <a:rPr lang="zh-CN" altLang="zh-CN" sz="900" dirty="0">
                <a:solidFill>
                  <a:schemeClr val="accent1">
                    <a:lumMod val="50000"/>
                  </a:schemeClr>
                </a:solidFill>
              </a:rPr>
              <a:t>是</a:t>
            </a:r>
            <a:r>
              <a:rPr lang="zh-CN" altLang="zh-CN" sz="900" b="1" u="sng" dirty="0">
                <a:solidFill>
                  <a:schemeClr val="accent1">
                    <a:lumMod val="50000"/>
                  </a:schemeClr>
                </a:solidFill>
              </a:rPr>
              <a:t>通过年度财务数据及其指标，对上市公司进行综合评价，找出质地较好的上市公司，从而为投资者提供较好的参考价值</a:t>
            </a:r>
            <a:r>
              <a:rPr lang="zh-CN" altLang="zh-CN" sz="900" dirty="0">
                <a:solidFill>
                  <a:schemeClr val="accent1">
                    <a:lumMod val="50000"/>
                  </a:schemeClr>
                </a:solidFill>
              </a:rPr>
              <a:t>。这里我们介绍两种常见的评价方法，即基于</a:t>
            </a:r>
            <a:r>
              <a:rPr lang="zh-CN" altLang="zh-CN" sz="900" dirty="0">
                <a:solidFill>
                  <a:srgbClr val="C00000"/>
                </a:solidFill>
              </a:rPr>
              <a:t>总体规模与投资效率指标的综合评价方法</a:t>
            </a:r>
            <a:r>
              <a:rPr lang="zh-CN" altLang="zh-CN" sz="900" dirty="0">
                <a:solidFill>
                  <a:schemeClr val="accent1">
                    <a:lumMod val="50000"/>
                  </a:schemeClr>
                </a:solidFill>
              </a:rPr>
              <a:t>和</a:t>
            </a:r>
            <a:r>
              <a:rPr lang="zh-CN" altLang="zh-CN" sz="900" dirty="0">
                <a:solidFill>
                  <a:srgbClr val="C00000"/>
                </a:solidFill>
              </a:rPr>
              <a:t>基于成长与价值指标的综合评价方法</a:t>
            </a:r>
            <a:r>
              <a:rPr lang="zh-CN" altLang="zh-CN" sz="900" dirty="0" smtClean="0">
                <a:solidFill>
                  <a:schemeClr val="accent1">
                    <a:lumMod val="50000"/>
                  </a:schemeClr>
                </a:solidFill>
              </a:rPr>
              <a:t>。具体</a:t>
            </a:r>
            <a:r>
              <a:rPr lang="zh-CN" altLang="zh-CN" sz="900" dirty="0">
                <a:solidFill>
                  <a:schemeClr val="accent1">
                    <a:lumMod val="50000"/>
                  </a:schemeClr>
                </a:solidFill>
              </a:rPr>
              <a:t>实现思路及计算流程如下图所示：</a:t>
            </a:r>
          </a:p>
          <a:p>
            <a:endParaRPr lang="zh-CN" altLang="en-US" sz="1050" dirty="0"/>
          </a:p>
        </p:txBody>
      </p:sp>
      <p:grpSp>
        <p:nvGrpSpPr>
          <p:cNvPr id="27" name="组合 26"/>
          <p:cNvGrpSpPr/>
          <p:nvPr/>
        </p:nvGrpSpPr>
        <p:grpSpPr>
          <a:xfrm>
            <a:off x="244298" y="1996132"/>
            <a:ext cx="8602814" cy="3147367"/>
            <a:chOff x="244298" y="1980648"/>
            <a:chExt cx="8602814" cy="3162852"/>
          </a:xfrm>
        </p:grpSpPr>
        <p:grpSp>
          <p:nvGrpSpPr>
            <p:cNvPr id="18" name="组合 17"/>
            <p:cNvGrpSpPr/>
            <p:nvPr/>
          </p:nvGrpSpPr>
          <p:grpSpPr>
            <a:xfrm>
              <a:off x="244298" y="3043442"/>
              <a:ext cx="1004665" cy="1008112"/>
              <a:chOff x="452732" y="3047218"/>
              <a:chExt cx="1004665" cy="1008112"/>
            </a:xfrm>
          </p:grpSpPr>
          <p:sp>
            <p:nvSpPr>
              <p:cNvPr id="3" name="流程图: 联系 2"/>
              <p:cNvSpPr/>
              <p:nvPr/>
            </p:nvSpPr>
            <p:spPr bwMode="auto">
              <a:xfrm>
                <a:off x="452732" y="3047218"/>
                <a:ext cx="1004665" cy="1008112"/>
              </a:xfrm>
              <a:prstGeom prst="flowChartConnector">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fontAlgn="base">
                  <a:spcBef>
                    <a:spcPct val="0"/>
                  </a:spcBef>
                  <a:spcAft>
                    <a:spcPct val="0"/>
                  </a:spcAft>
                </a:pPr>
                <a:endParaRPr kumimoji="0" lang="zh-CN" altLang="en-US" sz="1400" b="0" i="0" u="none" strike="noStrike" cap="none" normalizeH="0" baseline="0" dirty="0" smtClean="0">
                  <a:ln>
                    <a:noFill/>
                  </a:ln>
                  <a:solidFill>
                    <a:schemeClr val="bg1">
                      <a:lumMod val="20000"/>
                      <a:lumOff val="80000"/>
                    </a:schemeClr>
                  </a:solidFill>
                  <a:effectLst/>
                  <a:latin typeface="Arial" pitchFamily="34" charset="0"/>
                  <a:ea typeface="宋体" pitchFamily="2" charset="-122"/>
                </a:endParaRPr>
              </a:p>
            </p:txBody>
          </p:sp>
          <p:sp>
            <p:nvSpPr>
              <p:cNvPr id="6" name="TextBox 5"/>
              <p:cNvSpPr txBox="1"/>
              <p:nvPr/>
            </p:nvSpPr>
            <p:spPr>
              <a:xfrm>
                <a:off x="541292" y="3319904"/>
                <a:ext cx="827543" cy="461665"/>
              </a:xfrm>
              <a:prstGeom prst="rect">
                <a:avLst/>
              </a:prstGeom>
              <a:noFill/>
            </p:spPr>
            <p:txBody>
              <a:bodyPr wrap="square" rtlCol="0">
                <a:spAutoFit/>
              </a:bodyPr>
              <a:lstStyle/>
              <a:p>
                <a:pPr algn="ctr"/>
                <a:r>
                  <a:rPr lang="zh-CN" altLang="zh-CN" sz="1200" dirty="0">
                    <a:solidFill>
                      <a:schemeClr val="bg1">
                        <a:lumMod val="20000"/>
                        <a:lumOff val="80000"/>
                      </a:schemeClr>
                    </a:solidFill>
                  </a:rPr>
                  <a:t>上市公司综合</a:t>
                </a:r>
                <a:r>
                  <a:rPr lang="zh-CN" altLang="zh-CN" sz="1200" dirty="0" smtClean="0">
                    <a:solidFill>
                      <a:schemeClr val="bg1">
                        <a:lumMod val="20000"/>
                        <a:lumOff val="80000"/>
                      </a:schemeClr>
                    </a:solidFill>
                  </a:rPr>
                  <a:t>评价</a:t>
                </a:r>
                <a:endParaRPr lang="zh-CN" altLang="zh-CN" sz="1200" dirty="0">
                  <a:solidFill>
                    <a:schemeClr val="bg1">
                      <a:lumMod val="20000"/>
                      <a:lumOff val="80000"/>
                    </a:schemeClr>
                  </a:solidFill>
                </a:endParaRPr>
              </a:p>
            </p:txBody>
          </p:sp>
        </p:grpSp>
        <p:grpSp>
          <p:nvGrpSpPr>
            <p:cNvPr id="24" name="组合 23"/>
            <p:cNvGrpSpPr/>
            <p:nvPr/>
          </p:nvGrpSpPr>
          <p:grpSpPr>
            <a:xfrm>
              <a:off x="1414451" y="2326055"/>
              <a:ext cx="1310991" cy="2302580"/>
              <a:chOff x="1475656" y="2326055"/>
              <a:chExt cx="1310991" cy="2302580"/>
            </a:xfrm>
          </p:grpSpPr>
          <p:grpSp>
            <p:nvGrpSpPr>
              <p:cNvPr id="19" name="组合 18"/>
              <p:cNvGrpSpPr/>
              <p:nvPr/>
            </p:nvGrpSpPr>
            <p:grpSpPr>
              <a:xfrm>
                <a:off x="1475656" y="2326055"/>
                <a:ext cx="1296144" cy="582500"/>
                <a:chOff x="1475656" y="2326055"/>
                <a:chExt cx="1296144" cy="582500"/>
              </a:xfrm>
            </p:grpSpPr>
            <p:sp>
              <p:nvSpPr>
                <p:cNvPr id="4" name="圆角矩形 3"/>
                <p:cNvSpPr/>
                <p:nvPr/>
              </p:nvSpPr>
              <p:spPr bwMode="auto">
                <a:xfrm>
                  <a:off x="1475656" y="2326055"/>
                  <a:ext cx="1296144" cy="576064"/>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7" name="TextBox 6"/>
                <p:cNvSpPr txBox="1"/>
                <p:nvPr/>
              </p:nvSpPr>
              <p:spPr>
                <a:xfrm>
                  <a:off x="1493223" y="2331474"/>
                  <a:ext cx="1273785" cy="577081"/>
                </a:xfrm>
                <a:prstGeom prst="rect">
                  <a:avLst/>
                </a:prstGeom>
                <a:noFill/>
              </p:spPr>
              <p:txBody>
                <a:bodyPr wrap="square" rtlCol="0">
                  <a:spAutoFit/>
                </a:bodyPr>
                <a:lstStyle/>
                <a:p>
                  <a:r>
                    <a:rPr lang="zh-CN" altLang="zh-CN" sz="1050" dirty="0">
                      <a:solidFill>
                        <a:schemeClr val="bg1">
                          <a:lumMod val="20000"/>
                          <a:lumOff val="80000"/>
                        </a:schemeClr>
                      </a:solidFill>
                    </a:rPr>
                    <a:t>基于总体规模与投资效率指标的综合评价（方法一</a:t>
                  </a:r>
                  <a:r>
                    <a:rPr lang="zh-CN" altLang="zh-CN" sz="1050" dirty="0" smtClean="0">
                      <a:solidFill>
                        <a:schemeClr val="bg1">
                          <a:lumMod val="20000"/>
                          <a:lumOff val="80000"/>
                        </a:schemeClr>
                      </a:solidFill>
                    </a:rPr>
                    <a:t>）</a:t>
                  </a:r>
                  <a:endParaRPr lang="zh-CN" altLang="zh-CN" sz="1050" dirty="0">
                    <a:solidFill>
                      <a:schemeClr val="bg1">
                        <a:lumMod val="20000"/>
                        <a:lumOff val="80000"/>
                      </a:schemeClr>
                    </a:solidFill>
                  </a:endParaRPr>
                </a:p>
              </p:txBody>
            </p:sp>
          </p:grpSp>
          <p:grpSp>
            <p:nvGrpSpPr>
              <p:cNvPr id="20" name="组合 19"/>
              <p:cNvGrpSpPr/>
              <p:nvPr/>
            </p:nvGrpSpPr>
            <p:grpSpPr>
              <a:xfrm>
                <a:off x="1487558" y="4051554"/>
                <a:ext cx="1299089" cy="577081"/>
                <a:chOff x="1487558" y="4051554"/>
                <a:chExt cx="1299089" cy="577081"/>
              </a:xfrm>
            </p:grpSpPr>
            <p:sp>
              <p:nvSpPr>
                <p:cNvPr id="5" name="圆角矩形 4"/>
                <p:cNvSpPr/>
                <p:nvPr/>
              </p:nvSpPr>
              <p:spPr bwMode="auto">
                <a:xfrm>
                  <a:off x="1487558" y="4052635"/>
                  <a:ext cx="1299089" cy="576000"/>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12" name="TextBox 11"/>
                <p:cNvSpPr txBox="1"/>
                <p:nvPr/>
              </p:nvSpPr>
              <p:spPr>
                <a:xfrm>
                  <a:off x="1494695" y="4051554"/>
                  <a:ext cx="1270840" cy="577081"/>
                </a:xfrm>
                <a:prstGeom prst="rect">
                  <a:avLst/>
                </a:prstGeom>
                <a:noFill/>
              </p:spPr>
              <p:txBody>
                <a:bodyPr wrap="square" rtlCol="0">
                  <a:spAutoFit/>
                </a:bodyPr>
                <a:lstStyle/>
                <a:p>
                  <a:r>
                    <a:rPr lang="zh-CN" altLang="en-US" sz="1050" dirty="0">
                      <a:solidFill>
                        <a:schemeClr val="bg1">
                          <a:lumMod val="20000"/>
                          <a:lumOff val="80000"/>
                        </a:schemeClr>
                      </a:solidFill>
                    </a:rPr>
                    <a:t>基于成长与价值指标的综合</a:t>
                  </a:r>
                  <a:r>
                    <a:rPr lang="zh-CN" altLang="en-US" sz="1050" dirty="0" smtClean="0">
                      <a:solidFill>
                        <a:schemeClr val="bg1">
                          <a:lumMod val="20000"/>
                          <a:lumOff val="80000"/>
                        </a:schemeClr>
                      </a:solidFill>
                    </a:rPr>
                    <a:t>评价</a:t>
                  </a:r>
                  <a:endParaRPr lang="en-US" altLang="zh-CN" sz="1050" dirty="0" smtClean="0">
                    <a:solidFill>
                      <a:schemeClr val="bg1">
                        <a:lumMod val="20000"/>
                        <a:lumOff val="80000"/>
                      </a:schemeClr>
                    </a:solidFill>
                  </a:endParaRPr>
                </a:p>
                <a:p>
                  <a:r>
                    <a:rPr lang="zh-CN" altLang="en-US" sz="1050" dirty="0" smtClean="0">
                      <a:solidFill>
                        <a:schemeClr val="bg1">
                          <a:lumMod val="20000"/>
                          <a:lumOff val="80000"/>
                        </a:schemeClr>
                      </a:solidFill>
                    </a:rPr>
                    <a:t>（</a:t>
                  </a:r>
                  <a:r>
                    <a:rPr lang="zh-CN" altLang="en-US" sz="1050" dirty="0">
                      <a:solidFill>
                        <a:schemeClr val="bg1">
                          <a:lumMod val="20000"/>
                          <a:lumOff val="80000"/>
                        </a:schemeClr>
                      </a:solidFill>
                    </a:rPr>
                    <a:t>方法二）</a:t>
                  </a:r>
                </a:p>
              </p:txBody>
            </p:sp>
          </p:grpSp>
        </p:grpSp>
        <p:grpSp>
          <p:nvGrpSpPr>
            <p:cNvPr id="25" name="组合 24"/>
            <p:cNvGrpSpPr/>
            <p:nvPr/>
          </p:nvGrpSpPr>
          <p:grpSpPr>
            <a:xfrm>
              <a:off x="2937923" y="2129672"/>
              <a:ext cx="2160241" cy="2839533"/>
              <a:chOff x="2987823" y="2139702"/>
              <a:chExt cx="2160241" cy="2839533"/>
            </a:xfrm>
          </p:grpSpPr>
          <p:grpSp>
            <p:nvGrpSpPr>
              <p:cNvPr id="21" name="组合 20"/>
              <p:cNvGrpSpPr/>
              <p:nvPr/>
            </p:nvGrpSpPr>
            <p:grpSpPr>
              <a:xfrm>
                <a:off x="2987823" y="2139702"/>
                <a:ext cx="2160241" cy="1232144"/>
                <a:chOff x="2987823" y="2139702"/>
                <a:chExt cx="2160241" cy="1232144"/>
              </a:xfrm>
            </p:grpSpPr>
            <p:sp>
              <p:nvSpPr>
                <p:cNvPr id="9" name="圆角矩形 8"/>
                <p:cNvSpPr/>
                <p:nvPr/>
              </p:nvSpPr>
              <p:spPr bwMode="auto">
                <a:xfrm>
                  <a:off x="2987823" y="2139702"/>
                  <a:ext cx="2160241" cy="1186456"/>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13" name="TextBox 12"/>
                <p:cNvSpPr txBox="1"/>
                <p:nvPr/>
              </p:nvSpPr>
              <p:spPr>
                <a:xfrm>
                  <a:off x="3095835" y="2186906"/>
                  <a:ext cx="1999101" cy="1184940"/>
                </a:xfrm>
                <a:prstGeom prst="rect">
                  <a:avLst/>
                </a:prstGeom>
                <a:noFill/>
              </p:spPr>
              <p:txBody>
                <a:bodyPr wrap="square" rtlCol="0">
                  <a:spAutoFit/>
                </a:bodyPr>
                <a:lstStyle/>
                <a:p>
                  <a:r>
                    <a:rPr lang="zh-CN" altLang="zh-CN" sz="1050" dirty="0">
                      <a:solidFill>
                        <a:schemeClr val="bg1">
                          <a:lumMod val="20000"/>
                          <a:lumOff val="80000"/>
                        </a:schemeClr>
                      </a:solidFill>
                    </a:rPr>
                    <a:t>①选择指标：营业收入、营业利润、利润总额、净利润、资产总计、固定资产净额、净资产收益率、每股净资产、每股资本公积、每股收益</a:t>
                  </a:r>
                </a:p>
                <a:p>
                  <a:r>
                    <a:rPr lang="zh-CN" altLang="zh-CN" sz="1050" dirty="0">
                      <a:solidFill>
                        <a:schemeClr val="bg1">
                          <a:lumMod val="20000"/>
                          <a:lumOff val="80000"/>
                        </a:schemeClr>
                      </a:solidFill>
                    </a:rPr>
                    <a:t>②数据区间：</a:t>
                  </a:r>
                  <a:r>
                    <a:rPr lang="en-US" altLang="zh-CN" sz="1050" dirty="0">
                      <a:solidFill>
                        <a:schemeClr val="bg1">
                          <a:lumMod val="20000"/>
                          <a:lumOff val="80000"/>
                        </a:schemeClr>
                      </a:solidFill>
                    </a:rPr>
                    <a:t>2013~2016</a:t>
                  </a:r>
                  <a:endParaRPr lang="zh-CN" altLang="zh-CN" sz="1050" dirty="0">
                    <a:solidFill>
                      <a:schemeClr val="bg1">
                        <a:lumMod val="20000"/>
                        <a:lumOff val="80000"/>
                      </a:schemeClr>
                    </a:solidFill>
                  </a:endParaRPr>
                </a:p>
                <a:p>
                  <a:endParaRPr lang="zh-CN" altLang="en-US" sz="800" dirty="0">
                    <a:solidFill>
                      <a:schemeClr val="bg1">
                        <a:lumMod val="20000"/>
                        <a:lumOff val="80000"/>
                      </a:schemeClr>
                    </a:solidFill>
                  </a:endParaRPr>
                </a:p>
              </p:txBody>
            </p:sp>
          </p:grpSp>
          <p:grpSp>
            <p:nvGrpSpPr>
              <p:cNvPr id="22" name="组合 21"/>
              <p:cNvGrpSpPr/>
              <p:nvPr/>
            </p:nvGrpSpPr>
            <p:grpSpPr>
              <a:xfrm>
                <a:off x="2987823" y="3830214"/>
                <a:ext cx="2160241" cy="1149021"/>
                <a:chOff x="2987823" y="3830214"/>
                <a:chExt cx="2160241" cy="1149021"/>
              </a:xfrm>
            </p:grpSpPr>
            <p:sp>
              <p:nvSpPr>
                <p:cNvPr id="8" name="圆角矩形 7"/>
                <p:cNvSpPr/>
                <p:nvPr/>
              </p:nvSpPr>
              <p:spPr bwMode="auto">
                <a:xfrm>
                  <a:off x="2987823" y="3830214"/>
                  <a:ext cx="2160241" cy="1045792"/>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14" name="TextBox 13"/>
                <p:cNvSpPr txBox="1"/>
                <p:nvPr/>
              </p:nvSpPr>
              <p:spPr>
                <a:xfrm>
                  <a:off x="3095835" y="3917406"/>
                  <a:ext cx="1944216" cy="1061829"/>
                </a:xfrm>
                <a:prstGeom prst="rect">
                  <a:avLst/>
                </a:prstGeom>
                <a:noFill/>
              </p:spPr>
              <p:txBody>
                <a:bodyPr wrap="square" rtlCol="0">
                  <a:spAutoFit/>
                </a:bodyPr>
                <a:lstStyle/>
                <a:p>
                  <a:r>
                    <a:rPr lang="zh-CN" altLang="zh-CN" sz="1050" dirty="0">
                      <a:solidFill>
                        <a:schemeClr val="bg1">
                          <a:lumMod val="20000"/>
                          <a:lumOff val="80000"/>
                        </a:schemeClr>
                      </a:solidFill>
                    </a:rPr>
                    <a:t>①选择指标：市盈率、市现率、</a:t>
                  </a:r>
                </a:p>
                <a:p>
                  <a:r>
                    <a:rPr lang="zh-CN" altLang="zh-CN" sz="1050" dirty="0">
                      <a:solidFill>
                        <a:schemeClr val="bg1">
                          <a:lumMod val="20000"/>
                          <a:lumOff val="80000"/>
                        </a:schemeClr>
                      </a:solidFill>
                    </a:rPr>
                    <a:t>市净率、市盈率增长率、净利润增长率、营业收入增长率、营业利润率、净资产收益率</a:t>
                  </a:r>
                </a:p>
                <a:p>
                  <a:r>
                    <a:rPr lang="zh-CN" altLang="zh-CN" sz="1050" dirty="0">
                      <a:solidFill>
                        <a:schemeClr val="bg1">
                          <a:lumMod val="20000"/>
                          <a:lumOff val="80000"/>
                        </a:schemeClr>
                      </a:solidFill>
                    </a:rPr>
                    <a:t>②数据区间：</a:t>
                  </a:r>
                  <a:r>
                    <a:rPr lang="en-US" altLang="zh-CN" sz="1050" dirty="0">
                      <a:solidFill>
                        <a:schemeClr val="bg1">
                          <a:lumMod val="20000"/>
                          <a:lumOff val="80000"/>
                        </a:schemeClr>
                      </a:solidFill>
                    </a:rPr>
                    <a:t>2013~2016</a:t>
                  </a:r>
                  <a:endParaRPr lang="zh-CN" altLang="zh-CN" sz="1050" dirty="0">
                    <a:solidFill>
                      <a:schemeClr val="bg1">
                        <a:lumMod val="20000"/>
                        <a:lumOff val="80000"/>
                      </a:schemeClr>
                    </a:solidFill>
                  </a:endParaRPr>
                </a:p>
                <a:p>
                  <a:endParaRPr lang="zh-CN" altLang="en-US" sz="1050" dirty="0">
                    <a:solidFill>
                      <a:schemeClr val="bg1">
                        <a:lumMod val="20000"/>
                        <a:lumOff val="80000"/>
                      </a:schemeClr>
                    </a:solidFill>
                  </a:endParaRPr>
                </a:p>
              </p:txBody>
            </p:sp>
          </p:grpSp>
        </p:grpSp>
        <p:grpSp>
          <p:nvGrpSpPr>
            <p:cNvPr id="23" name="组合 22"/>
            <p:cNvGrpSpPr/>
            <p:nvPr/>
          </p:nvGrpSpPr>
          <p:grpSpPr>
            <a:xfrm>
              <a:off x="5325492" y="2139702"/>
              <a:ext cx="1395445" cy="2736303"/>
              <a:chOff x="5408802" y="2139702"/>
              <a:chExt cx="1395445" cy="2736303"/>
            </a:xfrm>
          </p:grpSpPr>
          <p:sp>
            <p:nvSpPr>
              <p:cNvPr id="10" name="圆角矩形 9"/>
              <p:cNvSpPr/>
              <p:nvPr/>
            </p:nvSpPr>
            <p:spPr bwMode="auto">
              <a:xfrm>
                <a:off x="5408802" y="2139702"/>
                <a:ext cx="1395445" cy="2736303"/>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15" name="TextBox 14"/>
              <p:cNvSpPr txBox="1"/>
              <p:nvPr/>
            </p:nvSpPr>
            <p:spPr>
              <a:xfrm>
                <a:off x="5516814" y="2214387"/>
                <a:ext cx="1143417" cy="2516073"/>
              </a:xfrm>
              <a:prstGeom prst="rect">
                <a:avLst/>
              </a:prstGeom>
              <a:noFill/>
            </p:spPr>
            <p:txBody>
              <a:bodyPr wrap="square" rtlCol="0">
                <a:spAutoFit/>
              </a:bodyPr>
              <a:lstStyle/>
              <a:p>
                <a:r>
                  <a:rPr lang="zh-CN" altLang="zh-CN" sz="1050" dirty="0">
                    <a:solidFill>
                      <a:schemeClr val="bg1">
                        <a:lumMod val="20000"/>
                        <a:lumOff val="80000"/>
                      </a:schemeClr>
                    </a:solidFill>
                  </a:rPr>
                  <a:t>按年度进行综合评价</a:t>
                </a:r>
                <a:r>
                  <a:rPr lang="zh-CN" altLang="zh-CN" sz="1050" dirty="0" smtClean="0">
                    <a:solidFill>
                      <a:schemeClr val="bg1">
                        <a:lumMod val="20000"/>
                        <a:lumOff val="80000"/>
                      </a:schemeClr>
                    </a:solidFill>
                  </a:rPr>
                  <a:t>：</a:t>
                </a:r>
                <a:endParaRPr lang="en-US" altLang="zh-CN" sz="1050" dirty="0" smtClean="0">
                  <a:solidFill>
                    <a:schemeClr val="bg1">
                      <a:lumMod val="20000"/>
                      <a:lumOff val="80000"/>
                    </a:schemeClr>
                  </a:solidFill>
                </a:endParaRPr>
              </a:p>
              <a:p>
                <a:endParaRPr lang="en-US" altLang="zh-CN" sz="1050" dirty="0" smtClean="0">
                  <a:solidFill>
                    <a:schemeClr val="bg1">
                      <a:lumMod val="20000"/>
                      <a:lumOff val="80000"/>
                    </a:schemeClr>
                  </a:solidFill>
                </a:endParaRPr>
              </a:p>
              <a:p>
                <a:r>
                  <a:rPr lang="zh-CN" altLang="zh-CN" sz="1050" dirty="0" smtClean="0">
                    <a:solidFill>
                      <a:schemeClr val="bg1">
                        <a:lumMod val="20000"/>
                        <a:lumOff val="80000"/>
                      </a:schemeClr>
                    </a:solidFill>
                  </a:rPr>
                  <a:t>①</a:t>
                </a:r>
                <a:r>
                  <a:rPr lang="zh-CN" altLang="zh-CN" sz="1050" dirty="0">
                    <a:solidFill>
                      <a:schemeClr val="bg1">
                        <a:lumMod val="20000"/>
                        <a:lumOff val="80000"/>
                      </a:schemeClr>
                    </a:solidFill>
                  </a:rPr>
                  <a:t>指标数据处理（包括预处理</a:t>
                </a:r>
                <a:r>
                  <a:rPr lang="zh-CN" altLang="zh-CN" sz="1050" dirty="0" smtClean="0">
                    <a:solidFill>
                      <a:schemeClr val="bg1">
                        <a:lumMod val="20000"/>
                        <a:lumOff val="80000"/>
                      </a:schemeClr>
                    </a:solidFill>
                  </a:rPr>
                  <a:t>）</a:t>
                </a:r>
                <a:r>
                  <a:rPr lang="en-US" altLang="zh-CN" sz="1050" dirty="0" smtClean="0">
                    <a:solidFill>
                      <a:schemeClr val="bg1">
                        <a:lumMod val="20000"/>
                        <a:lumOff val="80000"/>
                      </a:schemeClr>
                    </a:solidFill>
                    <a:sym typeface="Wingdings" pitchFamily="2" charset="2"/>
                  </a:rPr>
                  <a:t></a:t>
                </a:r>
                <a:r>
                  <a:rPr lang="zh-CN" altLang="zh-CN" sz="1050" dirty="0" smtClean="0">
                    <a:solidFill>
                      <a:schemeClr val="bg1">
                        <a:lumMod val="20000"/>
                        <a:lumOff val="80000"/>
                      </a:schemeClr>
                    </a:solidFill>
                  </a:rPr>
                  <a:t>主成分分析</a:t>
                </a:r>
                <a:endParaRPr lang="en-US" altLang="zh-CN" sz="1050" dirty="0" smtClean="0">
                  <a:solidFill>
                    <a:schemeClr val="bg1">
                      <a:lumMod val="20000"/>
                      <a:lumOff val="80000"/>
                    </a:schemeClr>
                  </a:solidFill>
                </a:endParaRPr>
              </a:p>
              <a:p>
                <a:r>
                  <a:rPr lang="en-US" altLang="zh-CN" sz="1050" dirty="0" smtClean="0">
                    <a:solidFill>
                      <a:schemeClr val="bg1">
                        <a:lumMod val="20000"/>
                        <a:lumOff val="80000"/>
                      </a:schemeClr>
                    </a:solidFill>
                    <a:sym typeface="Wingdings" pitchFamily="2" charset="2"/>
                  </a:rPr>
                  <a:t></a:t>
                </a:r>
                <a:r>
                  <a:rPr lang="zh-CN" altLang="zh-CN" sz="1050" dirty="0" smtClean="0">
                    <a:solidFill>
                      <a:schemeClr val="bg1">
                        <a:lumMod val="20000"/>
                        <a:lumOff val="80000"/>
                      </a:schemeClr>
                    </a:solidFill>
                  </a:rPr>
                  <a:t>基于</a:t>
                </a:r>
                <a:r>
                  <a:rPr lang="zh-CN" altLang="zh-CN" sz="1050" dirty="0">
                    <a:solidFill>
                      <a:schemeClr val="bg1">
                        <a:lumMod val="20000"/>
                        <a:lumOff val="80000"/>
                      </a:schemeClr>
                    </a:solidFill>
                  </a:rPr>
                  <a:t>主成分进行综合排名</a:t>
                </a:r>
                <a:r>
                  <a:rPr lang="zh-CN" altLang="zh-CN" sz="1050" dirty="0" smtClean="0">
                    <a:solidFill>
                      <a:schemeClr val="bg1">
                        <a:lumMod val="20000"/>
                        <a:lumOff val="80000"/>
                      </a:schemeClr>
                    </a:solidFill>
                  </a:rPr>
                  <a:t>；</a:t>
                </a:r>
                <a:endParaRPr lang="en-US" altLang="zh-CN" sz="1050" dirty="0" smtClean="0">
                  <a:solidFill>
                    <a:schemeClr val="bg1">
                      <a:lumMod val="20000"/>
                      <a:lumOff val="80000"/>
                    </a:schemeClr>
                  </a:solidFill>
                </a:endParaRPr>
              </a:p>
              <a:p>
                <a:endParaRPr lang="en-US" altLang="zh-CN" sz="1050" dirty="0" smtClean="0">
                  <a:solidFill>
                    <a:schemeClr val="bg1">
                      <a:lumMod val="20000"/>
                      <a:lumOff val="80000"/>
                    </a:schemeClr>
                  </a:solidFill>
                </a:endParaRPr>
              </a:p>
              <a:p>
                <a:r>
                  <a:rPr lang="zh-CN" altLang="zh-CN" sz="1050" dirty="0" smtClean="0">
                    <a:solidFill>
                      <a:schemeClr val="bg1">
                        <a:lumMod val="20000"/>
                        <a:lumOff val="80000"/>
                      </a:schemeClr>
                    </a:solidFill>
                  </a:rPr>
                  <a:t>②</a:t>
                </a:r>
                <a:r>
                  <a:rPr lang="zh-CN" altLang="zh-CN" sz="1050" dirty="0">
                    <a:solidFill>
                      <a:schemeClr val="bg1">
                        <a:lumMod val="20000"/>
                        <a:lumOff val="80000"/>
                      </a:schemeClr>
                    </a:solidFill>
                  </a:rPr>
                  <a:t>取排名前</a:t>
                </a:r>
                <a:r>
                  <a:rPr lang="en-US" altLang="zh-CN" sz="1050" dirty="0">
                    <a:solidFill>
                      <a:schemeClr val="bg1">
                        <a:lumMod val="20000"/>
                        <a:lumOff val="80000"/>
                      </a:schemeClr>
                    </a:solidFill>
                  </a:rPr>
                  <a:t>n</a:t>
                </a:r>
                <a:r>
                  <a:rPr lang="zh-CN" altLang="zh-CN" sz="1050" dirty="0">
                    <a:solidFill>
                      <a:schemeClr val="bg1">
                        <a:lumMod val="20000"/>
                        <a:lumOff val="80000"/>
                      </a:schemeClr>
                    </a:solidFill>
                  </a:rPr>
                  <a:t>股票构建投资组合，以下一个年度一定持有期计算收益率</a:t>
                </a:r>
              </a:p>
              <a:p>
                <a:endParaRPr lang="zh-CN" altLang="en-US" sz="1050" dirty="0">
                  <a:solidFill>
                    <a:schemeClr val="bg1">
                      <a:lumMod val="20000"/>
                      <a:lumOff val="80000"/>
                    </a:schemeClr>
                  </a:solidFill>
                </a:endParaRPr>
              </a:p>
            </p:txBody>
          </p:sp>
        </p:grpSp>
        <p:grpSp>
          <p:nvGrpSpPr>
            <p:cNvPr id="26" name="组合 25"/>
            <p:cNvGrpSpPr/>
            <p:nvPr/>
          </p:nvGrpSpPr>
          <p:grpSpPr>
            <a:xfrm>
              <a:off x="6948264" y="1980648"/>
              <a:ext cx="1898848" cy="3162852"/>
              <a:chOff x="6948264" y="1980648"/>
              <a:chExt cx="1898848" cy="3162852"/>
            </a:xfrm>
          </p:grpSpPr>
          <p:sp>
            <p:nvSpPr>
              <p:cNvPr id="11" name="圆角矩形 10"/>
              <p:cNvSpPr/>
              <p:nvPr/>
            </p:nvSpPr>
            <p:spPr bwMode="auto">
              <a:xfrm>
                <a:off x="6948264" y="1980648"/>
                <a:ext cx="1898848" cy="2983549"/>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17" name="TextBox 16"/>
              <p:cNvSpPr txBox="1"/>
              <p:nvPr/>
            </p:nvSpPr>
            <p:spPr>
              <a:xfrm>
                <a:off x="7166752" y="1981096"/>
                <a:ext cx="1581709" cy="3162404"/>
              </a:xfrm>
              <a:prstGeom prst="rect">
                <a:avLst/>
              </a:prstGeom>
              <a:noFill/>
            </p:spPr>
            <p:txBody>
              <a:bodyPr wrap="square" rtlCol="0">
                <a:spAutoFit/>
              </a:bodyPr>
              <a:lstStyle/>
              <a:p>
                <a:r>
                  <a:rPr lang="zh-CN" altLang="zh-CN" sz="1050" dirty="0">
                    <a:solidFill>
                      <a:schemeClr val="bg1">
                        <a:lumMod val="20000"/>
                        <a:lumOff val="80000"/>
                      </a:schemeClr>
                    </a:solidFill>
                  </a:rPr>
                  <a:t>量化投资策略设计与分析</a:t>
                </a:r>
                <a:r>
                  <a:rPr lang="zh-CN" altLang="zh-CN" sz="1050" dirty="0" smtClean="0">
                    <a:solidFill>
                      <a:schemeClr val="bg1">
                        <a:lumMod val="20000"/>
                        <a:lumOff val="80000"/>
                      </a:schemeClr>
                    </a:solidFill>
                  </a:rPr>
                  <a:t>：</a:t>
                </a:r>
                <a:endParaRPr lang="en-US" altLang="zh-CN" sz="1050" dirty="0" smtClean="0">
                  <a:solidFill>
                    <a:schemeClr val="bg1">
                      <a:lumMod val="20000"/>
                      <a:lumOff val="80000"/>
                    </a:schemeClr>
                  </a:solidFill>
                </a:endParaRPr>
              </a:p>
              <a:p>
                <a:endParaRPr lang="en-US" altLang="zh-CN" sz="1050" dirty="0" smtClean="0">
                  <a:solidFill>
                    <a:schemeClr val="bg1">
                      <a:lumMod val="20000"/>
                      <a:lumOff val="80000"/>
                    </a:schemeClr>
                  </a:solidFill>
                </a:endParaRPr>
              </a:p>
              <a:p>
                <a:r>
                  <a:rPr lang="zh-CN" altLang="zh-CN" sz="1050" dirty="0" smtClean="0">
                    <a:solidFill>
                      <a:schemeClr val="bg1">
                        <a:lumMod val="20000"/>
                        <a:lumOff val="80000"/>
                      </a:schemeClr>
                    </a:solidFill>
                  </a:rPr>
                  <a:t>①</a:t>
                </a:r>
                <a:r>
                  <a:rPr lang="zh-CN" altLang="zh-CN" sz="1050" dirty="0">
                    <a:solidFill>
                      <a:schemeClr val="bg1">
                        <a:lumMod val="20000"/>
                        <a:lumOff val="80000"/>
                      </a:schemeClr>
                    </a:solidFill>
                  </a:rPr>
                  <a:t>将按年度进行综合评价的两个步骤定义为两个函数：综合排名函数与收益率计算函数</a:t>
                </a:r>
                <a:r>
                  <a:rPr lang="zh-CN" altLang="zh-CN" sz="1050" dirty="0" smtClean="0">
                    <a:solidFill>
                      <a:schemeClr val="bg1">
                        <a:lumMod val="20000"/>
                        <a:lumOff val="80000"/>
                      </a:schemeClr>
                    </a:solidFill>
                  </a:rPr>
                  <a:t>；</a:t>
                </a:r>
                <a:endParaRPr lang="en-US" altLang="zh-CN" sz="1050" dirty="0" smtClean="0">
                  <a:solidFill>
                    <a:schemeClr val="bg1">
                      <a:lumMod val="20000"/>
                      <a:lumOff val="80000"/>
                    </a:schemeClr>
                  </a:solidFill>
                </a:endParaRPr>
              </a:p>
              <a:p>
                <a:endParaRPr lang="en-US" altLang="zh-CN" sz="1050" dirty="0" smtClean="0">
                  <a:solidFill>
                    <a:schemeClr val="bg1">
                      <a:lumMod val="20000"/>
                      <a:lumOff val="80000"/>
                    </a:schemeClr>
                  </a:solidFill>
                </a:endParaRPr>
              </a:p>
              <a:p>
                <a:r>
                  <a:rPr lang="zh-CN" altLang="zh-CN" sz="1050" dirty="0" smtClean="0">
                    <a:solidFill>
                      <a:schemeClr val="bg1">
                        <a:lumMod val="20000"/>
                        <a:lumOff val="80000"/>
                      </a:schemeClr>
                    </a:solidFill>
                  </a:rPr>
                  <a:t>②</a:t>
                </a:r>
                <a:r>
                  <a:rPr lang="zh-CN" altLang="zh-CN" sz="1050" dirty="0">
                    <a:solidFill>
                      <a:schemeClr val="bg1">
                        <a:lumMod val="20000"/>
                        <a:lumOff val="80000"/>
                      </a:schemeClr>
                    </a:solidFill>
                  </a:rPr>
                  <a:t>调用定义的两个函数，以</a:t>
                </a:r>
                <a:r>
                  <a:rPr lang="en-US" altLang="zh-CN" sz="1050" dirty="0">
                    <a:solidFill>
                      <a:schemeClr val="bg1">
                        <a:lumMod val="20000"/>
                        <a:lumOff val="80000"/>
                      </a:schemeClr>
                    </a:solidFill>
                  </a:rPr>
                  <a:t>2013~2016</a:t>
                </a:r>
                <a:r>
                  <a:rPr lang="zh-CN" altLang="zh-CN" sz="1050" dirty="0">
                    <a:solidFill>
                      <a:schemeClr val="bg1">
                        <a:lumMod val="20000"/>
                        <a:lumOff val="80000"/>
                      </a:schemeClr>
                    </a:solidFill>
                  </a:rPr>
                  <a:t>年财务数据及指标为基础，分别计算排名前</a:t>
                </a:r>
                <a:r>
                  <a:rPr lang="en-US" altLang="zh-CN" sz="1050" dirty="0">
                    <a:solidFill>
                      <a:schemeClr val="bg1">
                        <a:lumMod val="20000"/>
                        <a:lumOff val="80000"/>
                      </a:schemeClr>
                    </a:solidFill>
                  </a:rPr>
                  <a:t>20</a:t>
                </a:r>
                <a:r>
                  <a:rPr lang="zh-CN" altLang="zh-CN" sz="1050" dirty="0">
                    <a:solidFill>
                      <a:schemeClr val="bg1">
                        <a:lumMod val="20000"/>
                        <a:lumOff val="80000"/>
                      </a:schemeClr>
                    </a:solidFill>
                  </a:rPr>
                  <a:t>、</a:t>
                </a:r>
                <a:r>
                  <a:rPr lang="en-US" altLang="zh-CN" sz="1050" dirty="0">
                    <a:solidFill>
                      <a:schemeClr val="bg1">
                        <a:lumMod val="20000"/>
                        <a:lumOff val="80000"/>
                      </a:schemeClr>
                    </a:solidFill>
                  </a:rPr>
                  <a:t>40</a:t>
                </a:r>
                <a:r>
                  <a:rPr lang="zh-CN" altLang="zh-CN" sz="1050" dirty="0">
                    <a:solidFill>
                      <a:schemeClr val="bg1">
                        <a:lumMod val="20000"/>
                        <a:lumOff val="80000"/>
                      </a:schemeClr>
                    </a:solidFill>
                  </a:rPr>
                  <a:t>构建的投资组合在下一个年度一定持有期收益率，并与同期的沪深</a:t>
                </a:r>
                <a:r>
                  <a:rPr lang="en-US" altLang="zh-CN" sz="1050" dirty="0">
                    <a:solidFill>
                      <a:schemeClr val="bg1">
                        <a:lumMod val="20000"/>
                        <a:lumOff val="80000"/>
                      </a:schemeClr>
                    </a:solidFill>
                  </a:rPr>
                  <a:t>300</a:t>
                </a:r>
                <a:r>
                  <a:rPr lang="zh-CN" altLang="zh-CN" sz="1050" dirty="0">
                    <a:solidFill>
                      <a:schemeClr val="bg1">
                        <a:lumMod val="20000"/>
                        <a:lumOff val="80000"/>
                      </a:schemeClr>
                    </a:solidFill>
                  </a:rPr>
                  <a:t>指数收益率进行比较</a:t>
                </a:r>
                <a:r>
                  <a:rPr lang="zh-CN" altLang="zh-CN" sz="1050" dirty="0" smtClean="0">
                    <a:solidFill>
                      <a:schemeClr val="bg1">
                        <a:lumMod val="20000"/>
                        <a:lumOff val="80000"/>
                      </a:schemeClr>
                    </a:solidFill>
                  </a:rPr>
                  <a:t>；</a:t>
                </a:r>
                <a:endParaRPr lang="en-US" altLang="zh-CN" sz="1050" dirty="0" smtClean="0">
                  <a:solidFill>
                    <a:schemeClr val="bg1">
                      <a:lumMod val="20000"/>
                      <a:lumOff val="80000"/>
                    </a:schemeClr>
                  </a:solidFill>
                </a:endParaRPr>
              </a:p>
              <a:p>
                <a:endParaRPr lang="en-US" altLang="zh-CN" sz="1050" dirty="0" smtClean="0">
                  <a:solidFill>
                    <a:schemeClr val="bg1">
                      <a:lumMod val="20000"/>
                      <a:lumOff val="80000"/>
                    </a:schemeClr>
                  </a:solidFill>
                </a:endParaRPr>
              </a:p>
              <a:p>
                <a:r>
                  <a:rPr lang="zh-CN" altLang="zh-CN" sz="1050" dirty="0" smtClean="0">
                    <a:solidFill>
                      <a:schemeClr val="bg1">
                        <a:lumMod val="20000"/>
                        <a:lumOff val="80000"/>
                      </a:schemeClr>
                    </a:solidFill>
                  </a:rPr>
                  <a:t>③</a:t>
                </a:r>
                <a:r>
                  <a:rPr lang="zh-CN" altLang="zh-CN" sz="1050" dirty="0">
                    <a:solidFill>
                      <a:schemeClr val="bg1">
                        <a:lumMod val="20000"/>
                        <a:lumOff val="80000"/>
                      </a:schemeClr>
                    </a:solidFill>
                  </a:rPr>
                  <a:t>两种评价方法比较</a:t>
                </a:r>
              </a:p>
              <a:p>
                <a:endParaRPr lang="zh-CN" altLang="en-US" sz="1050" dirty="0">
                  <a:solidFill>
                    <a:schemeClr val="bg1">
                      <a:lumMod val="20000"/>
                      <a:lumOff val="80000"/>
                    </a:schemeClr>
                  </a:solidFill>
                </a:endParaRPr>
              </a:p>
            </p:txBody>
          </p:sp>
        </p:grpSp>
      </p:grpSp>
      <p:cxnSp>
        <p:nvCxnSpPr>
          <p:cNvPr id="35" name="直接箭头连接符 34"/>
          <p:cNvCxnSpPr>
            <a:stCxn id="4" idx="3"/>
          </p:cNvCxnSpPr>
          <p:nvPr/>
        </p:nvCxnSpPr>
        <p:spPr bwMode="auto">
          <a:xfrm flipV="1">
            <a:off x="2710595" y="2614088"/>
            <a:ext cx="227328" cy="12382"/>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39" name="直接箭头连接符 38"/>
          <p:cNvCxnSpPr>
            <a:stCxn id="3" idx="7"/>
            <a:endCxn id="4" idx="1"/>
          </p:cNvCxnSpPr>
          <p:nvPr/>
        </p:nvCxnSpPr>
        <p:spPr bwMode="auto">
          <a:xfrm flipV="1">
            <a:off x="1101833" y="2626470"/>
            <a:ext cx="312618" cy="574165"/>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41" name="直接箭头连接符 40"/>
          <p:cNvCxnSpPr>
            <a:stCxn id="3" idx="5"/>
            <a:endCxn id="12" idx="1"/>
          </p:cNvCxnSpPr>
          <p:nvPr/>
        </p:nvCxnSpPr>
        <p:spPr bwMode="auto">
          <a:xfrm>
            <a:off x="1101833" y="3909987"/>
            <a:ext cx="331657" cy="434040"/>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43" name="直接箭头连接符 42"/>
          <p:cNvCxnSpPr>
            <a:stCxn id="5" idx="3"/>
            <a:endCxn id="8" idx="1"/>
          </p:cNvCxnSpPr>
          <p:nvPr/>
        </p:nvCxnSpPr>
        <p:spPr bwMode="auto">
          <a:xfrm>
            <a:off x="2725442" y="4344565"/>
            <a:ext cx="212481" cy="2432"/>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45" name="直接箭头连接符 44"/>
          <p:cNvCxnSpPr>
            <a:stCxn id="9" idx="3"/>
          </p:cNvCxnSpPr>
          <p:nvPr/>
        </p:nvCxnSpPr>
        <p:spPr bwMode="auto">
          <a:xfrm flipV="1">
            <a:off x="5098164" y="2722902"/>
            <a:ext cx="227328" cy="11848"/>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47" name="直接箭头连接符 46"/>
          <p:cNvCxnSpPr>
            <a:stCxn id="8" idx="3"/>
          </p:cNvCxnSpPr>
          <p:nvPr/>
        </p:nvCxnSpPr>
        <p:spPr bwMode="auto">
          <a:xfrm flipV="1">
            <a:off x="5098164" y="4343081"/>
            <a:ext cx="227328" cy="3916"/>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50" name="直接箭头连接符 49"/>
          <p:cNvCxnSpPr/>
          <p:nvPr/>
        </p:nvCxnSpPr>
        <p:spPr bwMode="auto">
          <a:xfrm>
            <a:off x="6720936" y="3562298"/>
            <a:ext cx="227328" cy="0"/>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27950" y="425857"/>
            <a:ext cx="8318584" cy="923330"/>
          </a:xfrm>
          <a:prstGeom prst="rect">
            <a:avLst/>
          </a:prstGeom>
          <a:noFill/>
        </p:spPr>
        <p:txBody>
          <a:bodyPr wrap="square" rtlCol="0">
            <a:spAutoFit/>
          </a:bodyPr>
          <a:lstStyle/>
          <a:p>
            <a:pPr lvl="0" indent="216000">
              <a:lnSpc>
                <a:spcPct val="150000"/>
              </a:lnSpc>
            </a:pPr>
            <a:r>
              <a:rPr lang="zh-CN" altLang="zh-CN" sz="900" dirty="0">
                <a:solidFill>
                  <a:schemeClr val="accent1"/>
                </a:solidFill>
              </a:rPr>
              <a:t>随着我国证券市场的不断壮大，目前在上海证券交易所和深圳证券交易所上市交易的公司已经达到</a:t>
            </a:r>
            <a:r>
              <a:rPr lang="en-US" altLang="zh-CN" sz="900" dirty="0">
                <a:solidFill>
                  <a:schemeClr val="accent1"/>
                </a:solidFill>
              </a:rPr>
              <a:t>3700</a:t>
            </a:r>
            <a:r>
              <a:rPr lang="zh-CN" altLang="zh-CN" sz="900" dirty="0">
                <a:solidFill>
                  <a:schemeClr val="accent1"/>
                </a:solidFill>
              </a:rPr>
              <a:t>多家，证券及证券投资在社会经济生活中的地位也越来越重要。在庞大的上市公司数量及其数据面前，传统的基本面分析方法具有很大的局限性。因此，基于数量化的分析方法，采用计算机技术及数据挖掘模型，帮助我们快速的挖掘并分析数据，从而找到我们需要的信息，这种技能已经成为投资界所必须的技能。本案例正是基于这样的背景出发，选择上市公司财务报表及财务指标数据，利用主成分分析方法，对上市公司进行综合评价，为投资者提供一定的参考价值</a:t>
            </a:r>
            <a:r>
              <a:rPr lang="zh-CN" altLang="zh-CN" sz="800" dirty="0">
                <a:solidFill>
                  <a:schemeClr val="accent1"/>
                </a:solidFill>
              </a:rPr>
              <a:t>。</a:t>
            </a:r>
          </a:p>
        </p:txBody>
      </p:sp>
      <p:sp>
        <p:nvSpPr>
          <p:cNvPr id="16" name="燕尾形 15"/>
          <p:cNvSpPr/>
          <p:nvPr/>
        </p:nvSpPr>
        <p:spPr bwMode="auto">
          <a:xfrm>
            <a:off x="3707904" y="56565"/>
            <a:ext cx="72000" cy="369292"/>
          </a:xfrm>
          <a:prstGeom prst="chevron">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Tree>
    <p:extLst>
      <p:ext uri="{BB962C8B-B14F-4D97-AF65-F5344CB8AC3E}">
        <p14:creationId xmlns:p14="http://schemas.microsoft.com/office/powerpoint/2010/main" val="34591883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4" y="33470"/>
            <a:ext cx="5590539" cy="392387"/>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fontAlgn="base">
              <a:spcBef>
                <a:spcPct val="0"/>
              </a:spcBef>
              <a:spcAft>
                <a:spcPct val="0"/>
              </a:spcAft>
              <a:buFont typeface="Arial" pitchFamily="34" charset="0"/>
              <a:buNone/>
            </a:pPr>
            <a:r>
              <a:rPr lang="en-US" altLang="zh-CN" sz="2100" dirty="0" smtClean="0">
                <a:solidFill>
                  <a:srgbClr val="FFFFFF"/>
                </a:solidFill>
                <a:latin typeface="微软雅黑"/>
                <a:ea typeface="微软雅黑"/>
              </a:rPr>
              <a:t>8.3 </a:t>
            </a:r>
            <a:r>
              <a:rPr lang="zh-CN" altLang="en-US" sz="2100" dirty="0" smtClean="0">
                <a:solidFill>
                  <a:srgbClr val="FFFFFF"/>
                </a:solidFill>
                <a:latin typeface="微软雅黑"/>
                <a:ea typeface="微软雅黑"/>
              </a:rPr>
              <a:t>基于</a:t>
            </a:r>
            <a:r>
              <a:rPr lang="zh-CN" altLang="en-US" sz="2100" dirty="0">
                <a:solidFill>
                  <a:srgbClr val="FFFFFF"/>
                </a:solidFill>
                <a:latin typeface="微软雅黑"/>
                <a:ea typeface="微软雅黑"/>
              </a:rPr>
              <a:t>总体规模与投资效率指标的综合评价</a:t>
            </a:r>
          </a:p>
        </p:txBody>
      </p:sp>
      <p:sp>
        <p:nvSpPr>
          <p:cNvPr id="56" name="TextBox 55"/>
          <p:cNvSpPr txBox="1"/>
          <p:nvPr/>
        </p:nvSpPr>
        <p:spPr>
          <a:xfrm>
            <a:off x="82136" y="56553"/>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sp>
        <p:nvSpPr>
          <p:cNvPr id="28" name="TextBox 27"/>
          <p:cNvSpPr txBox="1"/>
          <p:nvPr/>
        </p:nvSpPr>
        <p:spPr>
          <a:xfrm>
            <a:off x="443012" y="457309"/>
            <a:ext cx="7992888" cy="1106329"/>
          </a:xfrm>
          <a:prstGeom prst="rect">
            <a:avLst/>
          </a:prstGeom>
          <a:noFill/>
        </p:spPr>
        <p:txBody>
          <a:bodyPr wrap="square" rtlCol="0">
            <a:spAutoFit/>
          </a:bodyPr>
          <a:lstStyle/>
          <a:p>
            <a:pPr indent="252000">
              <a:lnSpc>
                <a:spcPct val="150000"/>
              </a:lnSpc>
            </a:pPr>
            <a:r>
              <a:rPr lang="zh-CN" altLang="en-US" sz="900" dirty="0">
                <a:solidFill>
                  <a:schemeClr val="accent1">
                    <a:lumMod val="50000"/>
                  </a:schemeClr>
                </a:solidFill>
              </a:rPr>
              <a:t>上市公司总体规模体现了公司的整体竞争能力、市场抗风险能力和影响力。总体规模较大的上市公司在市场上有其优势。除此之外我们还需要考虑其投资效率，如果投资效率低下，那么其优势也许就不存在了。下面主要选择反映公司总体规模和投资效率方面的财务数据及财务指标利用主成分分析模型进行综合评价，最终根据评价的结果提取排名前</a:t>
            </a:r>
            <a:r>
              <a:rPr lang="en-US" altLang="zh-CN" sz="900" dirty="0">
                <a:solidFill>
                  <a:schemeClr val="accent1">
                    <a:lumMod val="50000"/>
                  </a:schemeClr>
                </a:solidFill>
              </a:rPr>
              <a:t>20</a:t>
            </a:r>
            <a:r>
              <a:rPr lang="zh-CN" altLang="en-US" sz="900" dirty="0">
                <a:solidFill>
                  <a:schemeClr val="accent1">
                    <a:lumMod val="50000"/>
                  </a:schemeClr>
                </a:solidFill>
              </a:rPr>
              <a:t>、</a:t>
            </a:r>
            <a:r>
              <a:rPr lang="en-US" altLang="zh-CN" sz="900" dirty="0">
                <a:solidFill>
                  <a:schemeClr val="accent1">
                    <a:lumMod val="50000"/>
                  </a:schemeClr>
                </a:solidFill>
              </a:rPr>
              <a:t>40</a:t>
            </a:r>
            <a:r>
              <a:rPr lang="zh-CN" altLang="en-US" sz="900" dirty="0">
                <a:solidFill>
                  <a:schemeClr val="accent1">
                    <a:lumMod val="50000"/>
                  </a:schemeClr>
                </a:solidFill>
              </a:rPr>
              <a:t>股票构建投资组合，并按一定的持有期设计其量化投资策略并计算收益率，同时与同期的沪深</a:t>
            </a:r>
            <a:r>
              <a:rPr lang="en-US" altLang="zh-CN" sz="900" dirty="0">
                <a:solidFill>
                  <a:schemeClr val="accent1">
                    <a:lumMod val="50000"/>
                  </a:schemeClr>
                </a:solidFill>
              </a:rPr>
              <a:t>300</a:t>
            </a:r>
            <a:r>
              <a:rPr lang="zh-CN" altLang="en-US" sz="900" dirty="0">
                <a:solidFill>
                  <a:schemeClr val="accent1">
                    <a:lumMod val="50000"/>
                  </a:schemeClr>
                </a:solidFill>
              </a:rPr>
              <a:t>指数收益率进行比较，从而评价其投资绩效。这里考虑到持有期较长，为了消除期间分红、送股、拆股等行为的影响，收益率计算采用考虑现金红利再投资的收盘价可比价进行计算。</a:t>
            </a:r>
            <a:endParaRPr lang="zh-CN" altLang="en-US" sz="900" dirty="0">
              <a:solidFill>
                <a:schemeClr val="accent1">
                  <a:lumMod val="50000"/>
                </a:schemeClr>
              </a:solidFill>
            </a:endParaRPr>
          </a:p>
        </p:txBody>
      </p:sp>
      <p:sp>
        <p:nvSpPr>
          <p:cNvPr id="2" name="TextBox 1"/>
          <p:cNvSpPr txBox="1"/>
          <p:nvPr/>
        </p:nvSpPr>
        <p:spPr>
          <a:xfrm>
            <a:off x="6444208" y="33470"/>
            <a:ext cx="2016224" cy="392400"/>
          </a:xfrm>
          <a:prstGeom prst="rect">
            <a:avLst/>
          </a:prstGeom>
          <a:noFill/>
        </p:spPr>
        <p:txBody>
          <a:bodyPr wrap="square" rtlCol="0">
            <a:spAutoFit/>
          </a:bodyPr>
          <a:lstStyle/>
          <a:p>
            <a:pPr lvl="0" fontAlgn="base">
              <a:spcBef>
                <a:spcPct val="0"/>
              </a:spcBef>
              <a:spcAft>
                <a:spcPct val="0"/>
              </a:spcAft>
            </a:pPr>
            <a:r>
              <a:rPr lang="en-US" altLang="zh-CN" sz="2100" dirty="0">
                <a:solidFill>
                  <a:srgbClr val="FFFFFF"/>
                </a:solidFill>
                <a:latin typeface="微软雅黑"/>
              </a:rPr>
              <a:t>8.3.1 </a:t>
            </a:r>
            <a:r>
              <a:rPr lang="zh-CN" altLang="en-US" sz="2100" dirty="0">
                <a:solidFill>
                  <a:srgbClr val="FFFFFF"/>
                </a:solidFill>
                <a:latin typeface="微软雅黑"/>
              </a:rPr>
              <a:t>指标选择</a:t>
            </a:r>
          </a:p>
        </p:txBody>
      </p:sp>
      <p:sp>
        <p:nvSpPr>
          <p:cNvPr id="9" name="TextBox 8"/>
          <p:cNvSpPr txBox="1"/>
          <p:nvPr/>
        </p:nvSpPr>
        <p:spPr>
          <a:xfrm>
            <a:off x="452675" y="1563638"/>
            <a:ext cx="7992888" cy="1200329"/>
          </a:xfrm>
          <a:prstGeom prst="rect">
            <a:avLst/>
          </a:prstGeom>
          <a:noFill/>
        </p:spPr>
        <p:txBody>
          <a:bodyPr wrap="square" rtlCol="0">
            <a:spAutoFit/>
          </a:bodyPr>
          <a:lstStyle/>
          <a:p>
            <a:pPr indent="288000"/>
            <a:r>
              <a:rPr lang="zh-CN" altLang="zh-CN" sz="1200" dirty="0">
                <a:solidFill>
                  <a:schemeClr val="accent1"/>
                </a:solidFill>
              </a:rPr>
              <a:t>我们获取的</a:t>
            </a:r>
            <a:r>
              <a:rPr lang="zh-CN" altLang="zh-CN" sz="1200" b="1" dirty="0">
                <a:solidFill>
                  <a:schemeClr val="accent1"/>
                </a:solidFill>
              </a:rPr>
              <a:t>总体规模指标</a:t>
            </a:r>
            <a:r>
              <a:rPr lang="zh-CN" altLang="zh-CN" sz="1200" dirty="0">
                <a:solidFill>
                  <a:schemeClr val="accent1"/>
                </a:solidFill>
              </a:rPr>
              <a:t>包括上市公司的</a:t>
            </a:r>
            <a:r>
              <a:rPr lang="zh-CN" altLang="zh-CN" sz="1200" dirty="0">
                <a:solidFill>
                  <a:srgbClr val="C00000"/>
                </a:solidFill>
              </a:rPr>
              <a:t>营业收入</a:t>
            </a:r>
            <a:r>
              <a:rPr lang="zh-CN" altLang="zh-CN" sz="1200" dirty="0">
                <a:solidFill>
                  <a:schemeClr val="accent1"/>
                </a:solidFill>
              </a:rPr>
              <a:t>、</a:t>
            </a:r>
            <a:r>
              <a:rPr lang="zh-CN" altLang="zh-CN" sz="1200" dirty="0">
                <a:solidFill>
                  <a:srgbClr val="C00000"/>
                </a:solidFill>
              </a:rPr>
              <a:t>营业利润</a:t>
            </a:r>
            <a:r>
              <a:rPr lang="zh-CN" altLang="zh-CN" sz="1200" dirty="0">
                <a:solidFill>
                  <a:schemeClr val="accent1"/>
                </a:solidFill>
              </a:rPr>
              <a:t>、</a:t>
            </a:r>
            <a:r>
              <a:rPr lang="zh-CN" altLang="zh-CN" sz="1200" dirty="0">
                <a:solidFill>
                  <a:srgbClr val="C00000"/>
                </a:solidFill>
              </a:rPr>
              <a:t>利润总额</a:t>
            </a:r>
            <a:r>
              <a:rPr lang="zh-CN" altLang="zh-CN" sz="1200" dirty="0">
                <a:solidFill>
                  <a:schemeClr val="accent1"/>
                </a:solidFill>
              </a:rPr>
              <a:t>、</a:t>
            </a:r>
            <a:r>
              <a:rPr lang="zh-CN" altLang="zh-CN" sz="1200" dirty="0">
                <a:solidFill>
                  <a:srgbClr val="C00000"/>
                </a:solidFill>
              </a:rPr>
              <a:t>净利润</a:t>
            </a:r>
            <a:r>
              <a:rPr lang="zh-CN" altLang="zh-CN" sz="1200" dirty="0">
                <a:solidFill>
                  <a:schemeClr val="accent1"/>
                </a:solidFill>
              </a:rPr>
              <a:t>、</a:t>
            </a:r>
            <a:r>
              <a:rPr lang="zh-CN" altLang="zh-CN" sz="1200" dirty="0">
                <a:solidFill>
                  <a:srgbClr val="C00000"/>
                </a:solidFill>
              </a:rPr>
              <a:t>资产总计</a:t>
            </a:r>
            <a:r>
              <a:rPr lang="zh-CN" altLang="zh-CN" sz="1200" dirty="0">
                <a:solidFill>
                  <a:schemeClr val="accent1"/>
                </a:solidFill>
              </a:rPr>
              <a:t>、</a:t>
            </a:r>
            <a:r>
              <a:rPr lang="zh-CN" altLang="zh-CN" sz="1200" dirty="0">
                <a:solidFill>
                  <a:srgbClr val="C00000"/>
                </a:solidFill>
              </a:rPr>
              <a:t>固定资产净额</a:t>
            </a:r>
            <a:r>
              <a:rPr lang="zh-CN" altLang="zh-CN" sz="1200" dirty="0">
                <a:solidFill>
                  <a:schemeClr val="accent1"/>
                </a:solidFill>
              </a:rPr>
              <a:t>，</a:t>
            </a:r>
            <a:r>
              <a:rPr lang="zh-CN" altLang="zh-CN" sz="1200" b="1" dirty="0">
                <a:solidFill>
                  <a:schemeClr val="accent1"/>
                </a:solidFill>
              </a:rPr>
              <a:t>投资效率指标</a:t>
            </a:r>
            <a:r>
              <a:rPr lang="zh-CN" altLang="zh-CN" sz="1200" dirty="0">
                <a:solidFill>
                  <a:schemeClr val="accent1"/>
                </a:solidFill>
              </a:rPr>
              <a:t>包括</a:t>
            </a:r>
            <a:r>
              <a:rPr lang="zh-CN" altLang="zh-CN" sz="1200" dirty="0">
                <a:solidFill>
                  <a:srgbClr val="C00000"/>
                </a:solidFill>
              </a:rPr>
              <a:t>净资产收益率</a:t>
            </a:r>
            <a:r>
              <a:rPr lang="zh-CN" altLang="zh-CN" sz="1200" dirty="0">
                <a:solidFill>
                  <a:schemeClr val="accent1"/>
                </a:solidFill>
              </a:rPr>
              <a:t>、</a:t>
            </a:r>
            <a:r>
              <a:rPr lang="zh-CN" altLang="zh-CN" sz="1200" dirty="0">
                <a:solidFill>
                  <a:srgbClr val="C00000"/>
                </a:solidFill>
              </a:rPr>
              <a:t>每股净资产</a:t>
            </a:r>
            <a:r>
              <a:rPr lang="zh-CN" altLang="zh-CN" sz="1200" dirty="0">
                <a:solidFill>
                  <a:schemeClr val="accent1"/>
                </a:solidFill>
              </a:rPr>
              <a:t>、</a:t>
            </a:r>
            <a:r>
              <a:rPr lang="zh-CN" altLang="zh-CN" sz="1200" dirty="0">
                <a:solidFill>
                  <a:srgbClr val="C00000"/>
                </a:solidFill>
              </a:rPr>
              <a:t>每股资本公积</a:t>
            </a:r>
            <a:r>
              <a:rPr lang="zh-CN" altLang="zh-CN" sz="1200" dirty="0">
                <a:solidFill>
                  <a:schemeClr val="accent1"/>
                </a:solidFill>
              </a:rPr>
              <a:t>、</a:t>
            </a:r>
            <a:r>
              <a:rPr lang="zh-CN" altLang="zh-CN" sz="1200" dirty="0">
                <a:solidFill>
                  <a:srgbClr val="C00000"/>
                </a:solidFill>
              </a:rPr>
              <a:t>每股收益</a:t>
            </a:r>
            <a:r>
              <a:rPr lang="zh-CN" altLang="zh-CN" sz="1200" dirty="0">
                <a:solidFill>
                  <a:schemeClr val="accent1"/>
                </a:solidFill>
              </a:rPr>
              <a:t>，一共</a:t>
            </a:r>
            <a:r>
              <a:rPr lang="en-US" altLang="zh-CN" sz="1200" dirty="0">
                <a:solidFill>
                  <a:schemeClr val="accent1"/>
                </a:solidFill>
              </a:rPr>
              <a:t>10</a:t>
            </a:r>
            <a:r>
              <a:rPr lang="zh-CN" altLang="zh-CN" sz="1200" dirty="0">
                <a:solidFill>
                  <a:schemeClr val="accent1"/>
                </a:solidFill>
              </a:rPr>
              <a:t>个指标。数据来源于国泰安</a:t>
            </a:r>
            <a:r>
              <a:rPr lang="en-US" altLang="zh-CN" sz="1200" dirty="0">
                <a:solidFill>
                  <a:schemeClr val="accent1"/>
                </a:solidFill>
              </a:rPr>
              <a:t>CSMAR</a:t>
            </a:r>
            <a:r>
              <a:rPr lang="zh-CN" altLang="zh-CN" sz="1200" dirty="0">
                <a:solidFill>
                  <a:schemeClr val="accent1"/>
                </a:solidFill>
              </a:rPr>
              <a:t>数据库，具体信息如表</a:t>
            </a:r>
            <a:r>
              <a:rPr lang="en-US" altLang="zh-CN" sz="1200" dirty="0">
                <a:solidFill>
                  <a:schemeClr val="accent1"/>
                </a:solidFill>
              </a:rPr>
              <a:t>8-1</a:t>
            </a:r>
            <a:r>
              <a:rPr lang="zh-CN" altLang="zh-CN" sz="1200" dirty="0">
                <a:solidFill>
                  <a:schemeClr val="accent1"/>
                </a:solidFill>
              </a:rPr>
              <a:t>所示</a:t>
            </a:r>
            <a:r>
              <a:rPr lang="zh-CN" altLang="zh-CN" sz="1200" dirty="0" smtClean="0">
                <a:solidFill>
                  <a:schemeClr val="accent1"/>
                </a:solidFill>
              </a:rPr>
              <a:t>。</a:t>
            </a:r>
            <a:endParaRPr lang="en-US" altLang="zh-CN" sz="1200" dirty="0">
              <a:solidFill>
                <a:schemeClr val="accent1"/>
              </a:solidFill>
            </a:endParaRPr>
          </a:p>
          <a:p>
            <a:pPr indent="457200"/>
            <a:endParaRPr lang="zh-CN" altLang="zh-CN" sz="1200" dirty="0">
              <a:solidFill>
                <a:schemeClr val="accent1"/>
              </a:solidFill>
            </a:endParaRPr>
          </a:p>
          <a:p>
            <a:pPr algn="ctr"/>
            <a:r>
              <a:rPr lang="en-US" altLang="zh-CN" sz="1200" dirty="0">
                <a:solidFill>
                  <a:schemeClr val="accent1"/>
                </a:solidFill>
              </a:rPr>
              <a:t>                  </a:t>
            </a:r>
            <a:r>
              <a:rPr lang="zh-CN" altLang="zh-CN" sz="1200" dirty="0">
                <a:solidFill>
                  <a:schemeClr val="accent1"/>
                </a:solidFill>
              </a:rPr>
              <a:t>表</a:t>
            </a:r>
            <a:r>
              <a:rPr lang="en-US" altLang="zh-CN" sz="1200" dirty="0">
                <a:solidFill>
                  <a:schemeClr val="accent1"/>
                </a:solidFill>
              </a:rPr>
              <a:t>8-1  </a:t>
            </a:r>
            <a:r>
              <a:rPr lang="zh-CN" altLang="zh-CN" sz="1200" dirty="0">
                <a:solidFill>
                  <a:schemeClr val="accent1"/>
                </a:solidFill>
              </a:rPr>
              <a:t>上市公司总体规模与投资效率指标</a:t>
            </a:r>
          </a:p>
          <a:p>
            <a:endParaRPr lang="zh-CN" altLang="en-US" sz="1200" dirty="0">
              <a:solidFill>
                <a:schemeClr val="accent1"/>
              </a:solidFill>
            </a:endParaRPr>
          </a:p>
        </p:txBody>
      </p:sp>
      <p:graphicFrame>
        <p:nvGraphicFramePr>
          <p:cNvPr id="10" name="表格 9"/>
          <p:cNvGraphicFramePr>
            <a:graphicFrameLocks noGrp="1"/>
          </p:cNvGraphicFramePr>
          <p:nvPr>
            <p:extLst>
              <p:ext uri="{D42A27DB-BD31-4B8C-83A1-F6EECF244321}">
                <p14:modId xmlns:p14="http://schemas.microsoft.com/office/powerpoint/2010/main" val="3537379634"/>
              </p:ext>
            </p:extLst>
          </p:nvPr>
        </p:nvGraphicFramePr>
        <p:xfrm>
          <a:off x="1938907" y="2625433"/>
          <a:ext cx="5410201" cy="1920240"/>
        </p:xfrm>
        <a:graphic>
          <a:graphicData uri="http://schemas.openxmlformats.org/drawingml/2006/table">
            <a:tbl>
              <a:tblPr firstRow="1" firstCol="1" bandRow="1"/>
              <a:tblGrid>
                <a:gridCol w="878634"/>
                <a:gridCol w="989733"/>
                <a:gridCol w="3541834"/>
              </a:tblGrid>
              <a:tr h="0">
                <a:tc>
                  <a:txBody>
                    <a:bodyPr/>
                    <a:lstStyle/>
                    <a:p>
                      <a:pPr algn="just">
                        <a:spcAft>
                          <a:spcPts val="0"/>
                        </a:spcAft>
                      </a:pPr>
                      <a:r>
                        <a:rPr lang="zh-CN" sz="1050" b="1" kern="100" dirty="0">
                          <a:effectLst/>
                          <a:latin typeface="Calibri"/>
                          <a:ea typeface="宋体"/>
                          <a:cs typeface="Times New Roman"/>
                        </a:rPr>
                        <a:t>字段名称</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b="1" kern="100">
                          <a:effectLst/>
                          <a:latin typeface="Calibri"/>
                          <a:ea typeface="宋体"/>
                          <a:cs typeface="Times New Roman"/>
                        </a:rPr>
                        <a:t>字段中文名称</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b="1" kern="100" dirty="0">
                          <a:effectLst/>
                          <a:latin typeface="Calibri"/>
                          <a:ea typeface="宋体"/>
                          <a:cs typeface="Times New Roman"/>
                        </a:rPr>
                        <a:t>字段说明</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n-US" sz="1050" b="1" kern="100" dirty="0">
                          <a:effectLst/>
                          <a:latin typeface="Calibri"/>
                          <a:ea typeface="宋体"/>
                          <a:cs typeface="Times New Roman"/>
                        </a:rPr>
                        <a:t>B001101000</a:t>
                      </a:r>
                      <a:endParaRPr lang="zh-CN" sz="1050" b="1" kern="100" dirty="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zh-CN" sz="1050" b="1" kern="100">
                          <a:effectLst/>
                          <a:latin typeface="Calibri"/>
                          <a:ea typeface="宋体"/>
                          <a:cs typeface="Times New Roman"/>
                        </a:rPr>
                        <a:t>营业收入</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zh-CN" sz="1050" b="1" kern="100">
                          <a:effectLst/>
                          <a:latin typeface="Calibri"/>
                          <a:ea typeface="宋体"/>
                          <a:cs typeface="Times New Roman"/>
                        </a:rPr>
                        <a:t>企业经营过程中确认的营业收入。</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r>
              <a:tr h="0">
                <a:tc>
                  <a:txBody>
                    <a:bodyPr/>
                    <a:lstStyle/>
                    <a:p>
                      <a:pPr algn="just">
                        <a:spcAft>
                          <a:spcPts val="0"/>
                        </a:spcAft>
                      </a:pPr>
                      <a:r>
                        <a:rPr lang="en-US" sz="1050" b="1" kern="100" dirty="0">
                          <a:effectLst/>
                          <a:latin typeface="Calibri"/>
                          <a:ea typeface="宋体"/>
                          <a:cs typeface="Times New Roman"/>
                        </a:rPr>
                        <a:t>B001300000</a:t>
                      </a:r>
                      <a:endParaRPr lang="zh-CN" sz="1050" b="1"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just">
                        <a:spcAft>
                          <a:spcPts val="0"/>
                        </a:spcAft>
                      </a:pPr>
                      <a:r>
                        <a:rPr lang="zh-CN" sz="1050" b="1" kern="100">
                          <a:effectLst/>
                          <a:latin typeface="Calibri"/>
                          <a:ea typeface="宋体"/>
                          <a:cs typeface="Times New Roman"/>
                        </a:rPr>
                        <a:t>营业利润</a:t>
                      </a:r>
                    </a:p>
                  </a:txBody>
                  <a:tcPr marL="68580" marR="68580" marT="0" marB="0">
                    <a:lnL>
                      <a:noFill/>
                    </a:lnL>
                    <a:lnR>
                      <a:noFill/>
                    </a:lnR>
                    <a:lnT>
                      <a:noFill/>
                    </a:lnT>
                    <a:lnB>
                      <a:noFill/>
                    </a:lnB>
                  </a:tcPr>
                </a:tc>
                <a:tc>
                  <a:txBody>
                    <a:bodyPr/>
                    <a:lstStyle/>
                    <a:p>
                      <a:pPr algn="just">
                        <a:spcAft>
                          <a:spcPts val="0"/>
                        </a:spcAft>
                      </a:pPr>
                      <a:r>
                        <a:rPr lang="zh-CN" sz="1050" b="1" kern="100">
                          <a:effectLst/>
                          <a:latin typeface="Calibri"/>
                          <a:ea typeface="宋体"/>
                          <a:cs typeface="Times New Roman"/>
                        </a:rPr>
                        <a:t>与经营业务有关的利润</a:t>
                      </a:r>
                    </a:p>
                  </a:txBody>
                  <a:tcPr marL="68580" marR="68580" marT="0" marB="0">
                    <a:lnL>
                      <a:noFill/>
                    </a:lnL>
                    <a:lnR>
                      <a:noFill/>
                    </a:lnR>
                    <a:lnT>
                      <a:noFill/>
                    </a:lnT>
                    <a:lnB>
                      <a:noFill/>
                    </a:lnB>
                  </a:tcPr>
                </a:tc>
              </a:tr>
              <a:tr h="0">
                <a:tc>
                  <a:txBody>
                    <a:bodyPr/>
                    <a:lstStyle/>
                    <a:p>
                      <a:pPr algn="just">
                        <a:spcAft>
                          <a:spcPts val="0"/>
                        </a:spcAft>
                      </a:pPr>
                      <a:r>
                        <a:rPr lang="en-US" sz="1050" b="1" kern="100" dirty="0">
                          <a:effectLst/>
                          <a:latin typeface="Calibri"/>
                          <a:ea typeface="宋体"/>
                          <a:cs typeface="Times New Roman"/>
                        </a:rPr>
                        <a:t>B001000000</a:t>
                      </a:r>
                      <a:endParaRPr lang="zh-CN" sz="1050" b="1"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just">
                        <a:spcAft>
                          <a:spcPts val="0"/>
                        </a:spcAft>
                      </a:pPr>
                      <a:r>
                        <a:rPr lang="zh-CN" sz="1050" b="1" kern="100">
                          <a:effectLst/>
                          <a:latin typeface="Calibri"/>
                          <a:ea typeface="宋体"/>
                          <a:cs typeface="Times New Roman"/>
                        </a:rPr>
                        <a:t>利润总额</a:t>
                      </a:r>
                    </a:p>
                  </a:txBody>
                  <a:tcPr marL="68580" marR="68580" marT="0" marB="0">
                    <a:lnL>
                      <a:noFill/>
                    </a:lnL>
                    <a:lnR>
                      <a:noFill/>
                    </a:lnR>
                    <a:lnT>
                      <a:noFill/>
                    </a:lnT>
                    <a:lnB>
                      <a:noFill/>
                    </a:lnB>
                  </a:tcPr>
                </a:tc>
                <a:tc>
                  <a:txBody>
                    <a:bodyPr/>
                    <a:lstStyle/>
                    <a:p>
                      <a:pPr algn="just">
                        <a:spcAft>
                          <a:spcPts val="0"/>
                        </a:spcAft>
                      </a:pPr>
                      <a:r>
                        <a:rPr lang="zh-CN" sz="1050" b="1" kern="100">
                          <a:effectLst/>
                          <a:latin typeface="Calibri"/>
                          <a:ea typeface="宋体"/>
                          <a:cs typeface="Times New Roman"/>
                        </a:rPr>
                        <a:t>公司实现的利润总额</a:t>
                      </a:r>
                    </a:p>
                  </a:txBody>
                  <a:tcPr marL="68580" marR="68580" marT="0" marB="0">
                    <a:lnL>
                      <a:noFill/>
                    </a:lnL>
                    <a:lnR>
                      <a:noFill/>
                    </a:lnR>
                    <a:lnT>
                      <a:noFill/>
                    </a:lnT>
                    <a:lnB>
                      <a:noFill/>
                    </a:lnB>
                  </a:tcPr>
                </a:tc>
              </a:tr>
              <a:tr h="0">
                <a:tc>
                  <a:txBody>
                    <a:bodyPr/>
                    <a:lstStyle/>
                    <a:p>
                      <a:pPr algn="just">
                        <a:spcAft>
                          <a:spcPts val="0"/>
                        </a:spcAft>
                      </a:pPr>
                      <a:r>
                        <a:rPr lang="en-US" sz="1050" b="1" kern="100" dirty="0">
                          <a:effectLst/>
                          <a:latin typeface="Calibri"/>
                          <a:ea typeface="宋体"/>
                          <a:cs typeface="Times New Roman"/>
                        </a:rPr>
                        <a:t>B002000000</a:t>
                      </a:r>
                      <a:endParaRPr lang="zh-CN" sz="1050" b="1"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just">
                        <a:spcAft>
                          <a:spcPts val="0"/>
                        </a:spcAft>
                      </a:pPr>
                      <a:r>
                        <a:rPr lang="zh-CN" sz="1050" b="1" kern="100">
                          <a:effectLst/>
                          <a:latin typeface="Calibri"/>
                          <a:ea typeface="宋体"/>
                          <a:cs typeface="Times New Roman"/>
                        </a:rPr>
                        <a:t>净利润</a:t>
                      </a:r>
                    </a:p>
                  </a:txBody>
                  <a:tcPr marL="68580" marR="68580" marT="0" marB="0">
                    <a:lnL>
                      <a:noFill/>
                    </a:lnL>
                    <a:lnR>
                      <a:noFill/>
                    </a:lnR>
                    <a:lnT>
                      <a:noFill/>
                    </a:lnT>
                    <a:lnB>
                      <a:noFill/>
                    </a:lnB>
                  </a:tcPr>
                </a:tc>
                <a:tc>
                  <a:txBody>
                    <a:bodyPr/>
                    <a:lstStyle/>
                    <a:p>
                      <a:pPr algn="just">
                        <a:spcAft>
                          <a:spcPts val="0"/>
                        </a:spcAft>
                      </a:pPr>
                      <a:r>
                        <a:rPr lang="zh-CN" sz="1050" b="1" kern="100">
                          <a:effectLst/>
                          <a:latin typeface="Calibri"/>
                          <a:ea typeface="宋体"/>
                          <a:cs typeface="Times New Roman"/>
                        </a:rPr>
                        <a:t>公司实现的净利润</a:t>
                      </a:r>
                    </a:p>
                  </a:txBody>
                  <a:tcPr marL="68580" marR="68580" marT="0" marB="0">
                    <a:lnL>
                      <a:noFill/>
                    </a:lnL>
                    <a:lnR>
                      <a:noFill/>
                    </a:lnR>
                    <a:lnT>
                      <a:noFill/>
                    </a:lnT>
                    <a:lnB>
                      <a:noFill/>
                    </a:lnB>
                  </a:tcPr>
                </a:tc>
              </a:tr>
              <a:tr h="0">
                <a:tc>
                  <a:txBody>
                    <a:bodyPr/>
                    <a:lstStyle/>
                    <a:p>
                      <a:pPr algn="just">
                        <a:spcAft>
                          <a:spcPts val="0"/>
                        </a:spcAft>
                      </a:pPr>
                      <a:r>
                        <a:rPr lang="en-US" sz="1050" b="1" kern="100" dirty="0">
                          <a:effectLst/>
                          <a:latin typeface="Calibri"/>
                          <a:ea typeface="宋体"/>
                          <a:cs typeface="Times New Roman"/>
                        </a:rPr>
                        <a:t>A001000000</a:t>
                      </a:r>
                      <a:endParaRPr lang="zh-CN" sz="1050" b="1" kern="100" dirty="0">
                        <a:effectLst/>
                        <a:latin typeface="Calibri"/>
                        <a:ea typeface="宋体"/>
                        <a:cs typeface="Times New Roman"/>
                      </a:endParaRPr>
                    </a:p>
                  </a:txBody>
                  <a:tcPr marL="68580" marR="68580" marT="0" marB="0">
                    <a:lnL>
                      <a:noFill/>
                    </a:lnL>
                    <a:lnR>
                      <a:noFill/>
                    </a:lnR>
                    <a:lnT>
                      <a:noFill/>
                    </a:lnT>
                    <a:lnB>
                      <a:noFill/>
                    </a:lnB>
                  </a:tcPr>
                </a:tc>
                <a:tc>
                  <a:txBody>
                    <a:bodyPr/>
                    <a:lstStyle/>
                    <a:p>
                      <a:pPr algn="just">
                        <a:spcAft>
                          <a:spcPts val="0"/>
                        </a:spcAft>
                      </a:pPr>
                      <a:r>
                        <a:rPr lang="zh-CN" sz="1050" b="1" kern="100" dirty="0">
                          <a:effectLst/>
                          <a:latin typeface="Calibri"/>
                          <a:ea typeface="宋体"/>
                          <a:cs typeface="Times New Roman"/>
                        </a:rPr>
                        <a:t>资产总计</a:t>
                      </a:r>
                    </a:p>
                  </a:txBody>
                  <a:tcPr marL="68580" marR="68580" marT="0" marB="0">
                    <a:lnL>
                      <a:noFill/>
                    </a:lnL>
                    <a:lnR>
                      <a:noFill/>
                    </a:lnR>
                    <a:lnT>
                      <a:noFill/>
                    </a:lnT>
                    <a:lnB>
                      <a:noFill/>
                    </a:lnB>
                  </a:tcPr>
                </a:tc>
                <a:tc>
                  <a:txBody>
                    <a:bodyPr/>
                    <a:lstStyle/>
                    <a:p>
                      <a:pPr algn="just">
                        <a:spcAft>
                          <a:spcPts val="0"/>
                        </a:spcAft>
                      </a:pPr>
                      <a:r>
                        <a:rPr lang="zh-CN" sz="1050" b="1" kern="100" dirty="0">
                          <a:effectLst/>
                          <a:latin typeface="Calibri"/>
                          <a:ea typeface="宋体"/>
                          <a:cs typeface="Times New Roman"/>
                        </a:rPr>
                        <a:t>资产各项目之总计</a:t>
                      </a:r>
                    </a:p>
                  </a:txBody>
                  <a:tcPr marL="68580" marR="68580" marT="0" marB="0">
                    <a:lnL>
                      <a:noFill/>
                    </a:lnL>
                    <a:lnR>
                      <a:noFill/>
                    </a:lnR>
                    <a:lnT>
                      <a:noFill/>
                    </a:lnT>
                    <a:lnB>
                      <a:noFill/>
                    </a:lnB>
                  </a:tcPr>
                </a:tc>
              </a:tr>
              <a:tr h="0">
                <a:tc>
                  <a:txBody>
                    <a:bodyPr/>
                    <a:lstStyle/>
                    <a:p>
                      <a:pPr algn="just">
                        <a:spcAft>
                          <a:spcPts val="0"/>
                        </a:spcAft>
                      </a:pPr>
                      <a:r>
                        <a:rPr lang="en-US" sz="1050" b="1" kern="100">
                          <a:effectLst/>
                          <a:latin typeface="Calibri"/>
                          <a:ea typeface="宋体"/>
                          <a:cs typeface="Times New Roman"/>
                        </a:rPr>
                        <a:t>A001212000</a:t>
                      </a:r>
                      <a:endParaRPr lang="zh-CN" sz="1050" b="1" kern="100">
                        <a:effectLst/>
                        <a:latin typeface="Calibri"/>
                        <a:ea typeface="宋体"/>
                        <a:cs typeface="Times New Roman"/>
                      </a:endParaRPr>
                    </a:p>
                  </a:txBody>
                  <a:tcPr marL="68580" marR="68580" marT="0" marB="0">
                    <a:lnL>
                      <a:noFill/>
                    </a:lnL>
                    <a:lnR>
                      <a:noFill/>
                    </a:lnR>
                    <a:lnT>
                      <a:noFill/>
                    </a:lnT>
                    <a:lnB>
                      <a:noFill/>
                    </a:lnB>
                  </a:tcPr>
                </a:tc>
                <a:tc>
                  <a:txBody>
                    <a:bodyPr/>
                    <a:lstStyle/>
                    <a:p>
                      <a:pPr algn="just">
                        <a:spcAft>
                          <a:spcPts val="0"/>
                        </a:spcAft>
                      </a:pPr>
                      <a:r>
                        <a:rPr lang="zh-CN" sz="1050" b="1" kern="100" dirty="0">
                          <a:effectLst/>
                          <a:latin typeface="Calibri"/>
                          <a:ea typeface="宋体"/>
                          <a:cs typeface="Times New Roman"/>
                        </a:rPr>
                        <a:t>固定资产净额</a:t>
                      </a:r>
                    </a:p>
                  </a:txBody>
                  <a:tcPr marL="68580" marR="68580" marT="0" marB="0">
                    <a:lnL>
                      <a:noFill/>
                    </a:lnL>
                    <a:lnR>
                      <a:noFill/>
                    </a:lnR>
                    <a:lnT>
                      <a:noFill/>
                    </a:lnT>
                    <a:lnB>
                      <a:noFill/>
                    </a:lnB>
                  </a:tcPr>
                </a:tc>
                <a:tc>
                  <a:txBody>
                    <a:bodyPr/>
                    <a:lstStyle/>
                    <a:p>
                      <a:pPr algn="just">
                        <a:spcAft>
                          <a:spcPts val="0"/>
                        </a:spcAft>
                      </a:pPr>
                      <a:r>
                        <a:rPr lang="zh-CN" sz="1050" b="1" kern="100">
                          <a:effectLst/>
                          <a:latin typeface="Calibri"/>
                          <a:ea typeface="宋体"/>
                          <a:cs typeface="Times New Roman"/>
                        </a:rPr>
                        <a:t>固定资产原价除去累计折旧和固定资产减值准备之后的净额</a:t>
                      </a:r>
                    </a:p>
                  </a:txBody>
                  <a:tcPr marL="68580" marR="68580" marT="0" marB="0">
                    <a:lnL>
                      <a:noFill/>
                    </a:lnL>
                    <a:lnR>
                      <a:noFill/>
                    </a:lnR>
                    <a:lnT>
                      <a:noFill/>
                    </a:lnT>
                    <a:lnB>
                      <a:noFill/>
                    </a:lnB>
                  </a:tcPr>
                </a:tc>
              </a:tr>
              <a:tr h="0">
                <a:tc>
                  <a:txBody>
                    <a:bodyPr/>
                    <a:lstStyle/>
                    <a:p>
                      <a:pPr algn="just">
                        <a:spcAft>
                          <a:spcPts val="0"/>
                        </a:spcAft>
                      </a:pPr>
                      <a:r>
                        <a:rPr lang="en-US" sz="1050" b="1" kern="100">
                          <a:effectLst/>
                          <a:latin typeface="Calibri"/>
                          <a:ea typeface="宋体"/>
                          <a:cs typeface="Times New Roman"/>
                        </a:rPr>
                        <a:t>F050501B</a:t>
                      </a:r>
                      <a:endParaRPr lang="zh-CN" sz="1050" b="1" kern="100">
                        <a:effectLst/>
                        <a:latin typeface="Calibri"/>
                        <a:ea typeface="宋体"/>
                        <a:cs typeface="Times New Roman"/>
                      </a:endParaRPr>
                    </a:p>
                  </a:txBody>
                  <a:tcPr marL="68580" marR="68580" marT="0" marB="0">
                    <a:lnL>
                      <a:noFill/>
                    </a:lnL>
                    <a:lnR>
                      <a:noFill/>
                    </a:lnR>
                    <a:lnT>
                      <a:noFill/>
                    </a:lnT>
                    <a:lnB>
                      <a:noFill/>
                    </a:lnB>
                  </a:tcPr>
                </a:tc>
                <a:tc>
                  <a:txBody>
                    <a:bodyPr/>
                    <a:lstStyle/>
                    <a:p>
                      <a:pPr algn="just">
                        <a:spcAft>
                          <a:spcPts val="0"/>
                        </a:spcAft>
                      </a:pPr>
                      <a:r>
                        <a:rPr lang="zh-CN" sz="1050" b="1" kern="100" dirty="0">
                          <a:effectLst/>
                          <a:latin typeface="Calibri"/>
                          <a:ea typeface="宋体"/>
                          <a:cs typeface="Times New Roman"/>
                        </a:rPr>
                        <a:t>净资产收益率</a:t>
                      </a:r>
                    </a:p>
                  </a:txBody>
                  <a:tcPr marL="68580" marR="68580" marT="0" marB="0">
                    <a:lnL>
                      <a:noFill/>
                    </a:lnL>
                    <a:lnR>
                      <a:noFill/>
                    </a:lnR>
                    <a:lnT>
                      <a:noFill/>
                    </a:lnT>
                    <a:lnB>
                      <a:noFill/>
                    </a:lnB>
                  </a:tcPr>
                </a:tc>
                <a:tc>
                  <a:txBody>
                    <a:bodyPr/>
                    <a:lstStyle/>
                    <a:p>
                      <a:pPr algn="just">
                        <a:spcAft>
                          <a:spcPts val="0"/>
                        </a:spcAft>
                      </a:pPr>
                      <a:r>
                        <a:rPr lang="zh-CN" sz="1050" b="1" kern="100">
                          <a:effectLst/>
                          <a:latin typeface="Calibri"/>
                          <a:ea typeface="宋体"/>
                          <a:cs typeface="Times New Roman"/>
                        </a:rPr>
                        <a:t>净利润／股东权益余额</a:t>
                      </a:r>
                    </a:p>
                  </a:txBody>
                  <a:tcPr marL="68580" marR="68580" marT="0" marB="0">
                    <a:lnL>
                      <a:noFill/>
                    </a:lnL>
                    <a:lnR>
                      <a:noFill/>
                    </a:lnR>
                    <a:lnT>
                      <a:noFill/>
                    </a:lnT>
                    <a:lnB>
                      <a:noFill/>
                    </a:lnB>
                  </a:tcPr>
                </a:tc>
              </a:tr>
              <a:tr h="0">
                <a:tc>
                  <a:txBody>
                    <a:bodyPr/>
                    <a:lstStyle/>
                    <a:p>
                      <a:pPr algn="just">
                        <a:spcAft>
                          <a:spcPts val="0"/>
                        </a:spcAft>
                      </a:pPr>
                      <a:r>
                        <a:rPr lang="en-US" sz="1050" b="1" kern="100">
                          <a:effectLst/>
                          <a:latin typeface="Calibri"/>
                          <a:ea typeface="宋体"/>
                          <a:cs typeface="Times New Roman"/>
                        </a:rPr>
                        <a:t>F091001A</a:t>
                      </a:r>
                      <a:endParaRPr lang="zh-CN" sz="1050" b="1" kern="100">
                        <a:effectLst/>
                        <a:latin typeface="Calibri"/>
                        <a:ea typeface="宋体"/>
                        <a:cs typeface="Times New Roman"/>
                      </a:endParaRPr>
                    </a:p>
                  </a:txBody>
                  <a:tcPr marL="68580" marR="68580" marT="0" marB="0">
                    <a:lnL>
                      <a:noFill/>
                    </a:lnL>
                    <a:lnR>
                      <a:noFill/>
                    </a:lnR>
                    <a:lnT>
                      <a:noFill/>
                    </a:lnT>
                    <a:lnB>
                      <a:noFill/>
                    </a:lnB>
                  </a:tcPr>
                </a:tc>
                <a:tc>
                  <a:txBody>
                    <a:bodyPr/>
                    <a:lstStyle/>
                    <a:p>
                      <a:pPr algn="just">
                        <a:spcAft>
                          <a:spcPts val="0"/>
                        </a:spcAft>
                      </a:pPr>
                      <a:r>
                        <a:rPr lang="zh-CN" sz="1050" b="1" kern="100" dirty="0">
                          <a:effectLst/>
                          <a:latin typeface="Calibri"/>
                          <a:ea typeface="宋体"/>
                          <a:cs typeface="Times New Roman"/>
                        </a:rPr>
                        <a:t>每股净资产</a:t>
                      </a:r>
                    </a:p>
                  </a:txBody>
                  <a:tcPr marL="68580" marR="68580" marT="0" marB="0">
                    <a:lnL>
                      <a:noFill/>
                    </a:lnL>
                    <a:lnR>
                      <a:noFill/>
                    </a:lnR>
                    <a:lnT>
                      <a:noFill/>
                    </a:lnT>
                    <a:lnB>
                      <a:noFill/>
                    </a:lnB>
                  </a:tcPr>
                </a:tc>
                <a:tc>
                  <a:txBody>
                    <a:bodyPr/>
                    <a:lstStyle/>
                    <a:p>
                      <a:pPr algn="just">
                        <a:spcAft>
                          <a:spcPts val="0"/>
                        </a:spcAft>
                      </a:pPr>
                      <a:r>
                        <a:rPr lang="zh-CN" sz="1050" b="1" kern="100" dirty="0">
                          <a:effectLst/>
                          <a:latin typeface="Calibri"/>
                          <a:ea typeface="宋体"/>
                          <a:cs typeface="Times New Roman"/>
                        </a:rPr>
                        <a:t>所有者权益合计期末值</a:t>
                      </a:r>
                      <a:r>
                        <a:rPr lang="en-US" sz="1050" b="1" kern="100" dirty="0">
                          <a:effectLst/>
                          <a:latin typeface="Calibri"/>
                          <a:ea typeface="宋体"/>
                          <a:cs typeface="Times New Roman"/>
                        </a:rPr>
                        <a:t> / </a:t>
                      </a:r>
                      <a:r>
                        <a:rPr lang="zh-CN" sz="1050" b="1" kern="100" dirty="0">
                          <a:effectLst/>
                          <a:latin typeface="Calibri"/>
                          <a:ea typeface="宋体"/>
                          <a:cs typeface="Times New Roman"/>
                        </a:rPr>
                        <a:t>实收资本期末值</a:t>
                      </a:r>
                    </a:p>
                  </a:txBody>
                  <a:tcPr marL="68580" marR="68580" marT="0" marB="0">
                    <a:lnL>
                      <a:noFill/>
                    </a:lnL>
                    <a:lnR>
                      <a:noFill/>
                    </a:lnR>
                    <a:lnT>
                      <a:noFill/>
                    </a:lnT>
                    <a:lnB>
                      <a:noFill/>
                    </a:lnB>
                  </a:tcPr>
                </a:tc>
              </a:tr>
              <a:tr h="0">
                <a:tc>
                  <a:txBody>
                    <a:bodyPr/>
                    <a:lstStyle/>
                    <a:p>
                      <a:pPr algn="just">
                        <a:spcAft>
                          <a:spcPts val="0"/>
                        </a:spcAft>
                      </a:pPr>
                      <a:r>
                        <a:rPr lang="en-US" sz="1050" b="1" kern="100">
                          <a:effectLst/>
                          <a:latin typeface="Calibri"/>
                          <a:ea typeface="宋体"/>
                          <a:cs typeface="Times New Roman"/>
                        </a:rPr>
                        <a:t>F091301A</a:t>
                      </a:r>
                      <a:endParaRPr lang="zh-CN" sz="1050" b="1" kern="100">
                        <a:effectLst/>
                        <a:latin typeface="Calibri"/>
                        <a:ea typeface="宋体"/>
                        <a:cs typeface="Times New Roman"/>
                      </a:endParaRPr>
                    </a:p>
                  </a:txBody>
                  <a:tcPr marL="68580" marR="68580" marT="0" marB="0">
                    <a:lnL>
                      <a:noFill/>
                    </a:lnL>
                    <a:lnR>
                      <a:noFill/>
                    </a:lnR>
                    <a:lnT>
                      <a:noFill/>
                    </a:lnT>
                    <a:lnB>
                      <a:noFill/>
                    </a:lnB>
                  </a:tcPr>
                </a:tc>
                <a:tc>
                  <a:txBody>
                    <a:bodyPr/>
                    <a:lstStyle/>
                    <a:p>
                      <a:pPr algn="just">
                        <a:spcAft>
                          <a:spcPts val="0"/>
                        </a:spcAft>
                      </a:pPr>
                      <a:r>
                        <a:rPr lang="zh-CN" sz="1050" b="1" kern="100" dirty="0">
                          <a:effectLst/>
                          <a:latin typeface="Calibri"/>
                          <a:ea typeface="宋体"/>
                          <a:cs typeface="Times New Roman"/>
                        </a:rPr>
                        <a:t>每股资本公积</a:t>
                      </a:r>
                    </a:p>
                  </a:txBody>
                  <a:tcPr marL="68580" marR="68580" marT="0" marB="0">
                    <a:lnL>
                      <a:noFill/>
                    </a:lnL>
                    <a:lnR>
                      <a:noFill/>
                    </a:lnR>
                    <a:lnT>
                      <a:noFill/>
                    </a:lnT>
                    <a:lnB>
                      <a:noFill/>
                    </a:lnB>
                  </a:tcPr>
                </a:tc>
                <a:tc>
                  <a:txBody>
                    <a:bodyPr/>
                    <a:lstStyle/>
                    <a:p>
                      <a:pPr algn="just">
                        <a:spcAft>
                          <a:spcPts val="0"/>
                        </a:spcAft>
                      </a:pPr>
                      <a:r>
                        <a:rPr lang="zh-CN" sz="1050" b="1" kern="100" dirty="0">
                          <a:effectLst/>
                          <a:latin typeface="Calibri"/>
                          <a:ea typeface="宋体"/>
                          <a:cs typeface="Times New Roman"/>
                        </a:rPr>
                        <a:t>资本公积期末值</a:t>
                      </a:r>
                      <a:r>
                        <a:rPr lang="en-US" sz="1050" b="1" kern="100" dirty="0">
                          <a:effectLst/>
                          <a:latin typeface="Calibri"/>
                          <a:ea typeface="宋体"/>
                          <a:cs typeface="Times New Roman"/>
                        </a:rPr>
                        <a:t> / </a:t>
                      </a:r>
                      <a:r>
                        <a:rPr lang="zh-CN" sz="1050" b="1" kern="100" dirty="0">
                          <a:effectLst/>
                          <a:latin typeface="Calibri"/>
                          <a:ea typeface="宋体"/>
                          <a:cs typeface="Times New Roman"/>
                        </a:rPr>
                        <a:t>实收资本期末值； </a:t>
                      </a:r>
                    </a:p>
                  </a:txBody>
                  <a:tcPr marL="68580" marR="68580" marT="0" marB="0">
                    <a:lnL>
                      <a:noFill/>
                    </a:lnL>
                    <a:lnR>
                      <a:noFill/>
                    </a:lnR>
                    <a:lnT>
                      <a:noFill/>
                    </a:lnT>
                    <a:lnB>
                      <a:noFill/>
                    </a:lnB>
                  </a:tcPr>
                </a:tc>
              </a:tr>
              <a:tr h="0">
                <a:tc>
                  <a:txBody>
                    <a:bodyPr/>
                    <a:lstStyle/>
                    <a:p>
                      <a:pPr algn="just">
                        <a:spcAft>
                          <a:spcPts val="0"/>
                        </a:spcAft>
                      </a:pPr>
                      <a:r>
                        <a:rPr lang="en-US" sz="1050" b="1" kern="100">
                          <a:effectLst/>
                          <a:latin typeface="Calibri"/>
                          <a:ea typeface="宋体"/>
                          <a:cs typeface="Times New Roman"/>
                        </a:rPr>
                        <a:t>F090101B</a:t>
                      </a:r>
                      <a:endParaRPr lang="zh-CN" sz="1050" b="1" kern="100">
                        <a:effectLst/>
                        <a:latin typeface="Calibri"/>
                        <a:ea typeface="宋体"/>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b="1" kern="100">
                          <a:effectLst/>
                          <a:latin typeface="Calibri"/>
                          <a:ea typeface="宋体"/>
                          <a:cs typeface="Times New Roman"/>
                        </a:rPr>
                        <a:t>每股收益</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b="1" kern="100" dirty="0">
                          <a:effectLst/>
                          <a:latin typeface="Calibri"/>
                          <a:ea typeface="宋体"/>
                          <a:cs typeface="Times New Roman"/>
                        </a:rPr>
                        <a:t>净利润本期值</a:t>
                      </a:r>
                      <a:r>
                        <a:rPr lang="en-US" sz="1050" b="1" kern="100" dirty="0">
                          <a:effectLst/>
                          <a:latin typeface="Calibri"/>
                          <a:ea typeface="宋体"/>
                          <a:cs typeface="Times New Roman"/>
                        </a:rPr>
                        <a:t> / </a:t>
                      </a:r>
                      <a:r>
                        <a:rPr lang="zh-CN" sz="1050" b="1" kern="100" dirty="0">
                          <a:effectLst/>
                          <a:latin typeface="Calibri"/>
                          <a:ea typeface="宋体"/>
                          <a:cs typeface="Times New Roman"/>
                        </a:rPr>
                        <a:t>实收资本期末值</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1" name="TextBox 10"/>
          <p:cNvSpPr txBox="1"/>
          <p:nvPr/>
        </p:nvSpPr>
        <p:spPr>
          <a:xfrm>
            <a:off x="1907704" y="4587974"/>
            <a:ext cx="5616624" cy="230832"/>
          </a:xfrm>
          <a:prstGeom prst="rect">
            <a:avLst/>
          </a:prstGeom>
          <a:noFill/>
        </p:spPr>
        <p:txBody>
          <a:bodyPr wrap="square" rtlCol="0">
            <a:spAutoFit/>
          </a:bodyPr>
          <a:lstStyle/>
          <a:p>
            <a:r>
              <a:rPr lang="zh-CN" altLang="zh-CN" sz="900" kern="100" dirty="0">
                <a:latin typeface="Calibri"/>
                <a:ea typeface="宋体"/>
                <a:cs typeface="Times New Roman"/>
              </a:rPr>
              <a:t>具体数据见《</a:t>
            </a:r>
            <a:r>
              <a:rPr lang="en-US" altLang="zh-CN" sz="900" kern="100" dirty="0">
                <a:latin typeface="Calibri"/>
                <a:ea typeface="宋体"/>
                <a:cs typeface="Times New Roman"/>
              </a:rPr>
              <a:t>data.xlsx</a:t>
            </a:r>
            <a:r>
              <a:rPr lang="zh-CN" altLang="zh-CN" sz="900" kern="100" dirty="0">
                <a:latin typeface="Calibri"/>
                <a:ea typeface="宋体"/>
                <a:cs typeface="Times New Roman"/>
              </a:rPr>
              <a:t>》数据文件，包括</a:t>
            </a:r>
            <a:r>
              <a:rPr lang="en-US" altLang="zh-CN" sz="900" kern="100" dirty="0">
                <a:latin typeface="Calibri"/>
                <a:ea typeface="宋体"/>
                <a:cs typeface="Times New Roman"/>
              </a:rPr>
              <a:t>2013~2017</a:t>
            </a:r>
            <a:r>
              <a:rPr lang="zh-CN" altLang="zh-CN" sz="900" kern="100" dirty="0">
                <a:latin typeface="Calibri"/>
                <a:ea typeface="宋体"/>
                <a:cs typeface="Times New Roman"/>
              </a:rPr>
              <a:t>年的数据，综合评价按年份进行</a:t>
            </a:r>
            <a:endParaRPr lang="zh-CN" altLang="en-US" sz="900" kern="100" dirty="0">
              <a:latin typeface="Calibri"/>
              <a:ea typeface="宋体"/>
              <a:cs typeface="Times New Roman"/>
            </a:endParaRPr>
          </a:p>
        </p:txBody>
      </p:sp>
      <p:sp>
        <p:nvSpPr>
          <p:cNvPr id="12" name="燕尾形 11"/>
          <p:cNvSpPr/>
          <p:nvPr/>
        </p:nvSpPr>
        <p:spPr bwMode="auto">
          <a:xfrm>
            <a:off x="6401365" y="56553"/>
            <a:ext cx="45719" cy="369304"/>
          </a:xfrm>
          <a:prstGeom prst="chevron">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Tree>
    <p:extLst>
      <p:ext uri="{BB962C8B-B14F-4D97-AF65-F5344CB8AC3E}">
        <p14:creationId xmlns:p14="http://schemas.microsoft.com/office/powerpoint/2010/main" val="409582740"/>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5" y="33470"/>
            <a:ext cx="2350179" cy="392411"/>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fontAlgn="base">
              <a:spcBef>
                <a:spcPct val="0"/>
              </a:spcBef>
              <a:spcAft>
                <a:spcPct val="0"/>
              </a:spcAft>
              <a:buFont typeface="Arial" pitchFamily="34" charset="0"/>
              <a:buNone/>
            </a:pPr>
            <a:r>
              <a:rPr lang="en-US" altLang="zh-CN" sz="2100" dirty="0" smtClean="0">
                <a:solidFill>
                  <a:srgbClr val="FFFFFF"/>
                </a:solidFill>
                <a:latin typeface="微软雅黑"/>
                <a:ea typeface="微软雅黑"/>
              </a:rPr>
              <a:t>8.3.2 </a:t>
            </a:r>
            <a:r>
              <a:rPr lang="zh-CN" altLang="en-US" sz="2100" dirty="0" smtClean="0">
                <a:solidFill>
                  <a:srgbClr val="FFFFFF"/>
                </a:solidFill>
                <a:latin typeface="微软雅黑"/>
                <a:ea typeface="微软雅黑"/>
              </a:rPr>
              <a:t>数据处理</a:t>
            </a:r>
            <a:endParaRPr lang="zh-CN" altLang="en-US" sz="2100" dirty="0">
              <a:solidFill>
                <a:srgbClr val="FFFFFF"/>
              </a:solidFill>
              <a:latin typeface="微软雅黑"/>
              <a:ea typeface="微软雅黑"/>
            </a:endParaRPr>
          </a:p>
        </p:txBody>
      </p:sp>
      <p:sp>
        <p:nvSpPr>
          <p:cNvPr id="56" name="TextBox 55"/>
          <p:cNvSpPr txBox="1"/>
          <p:nvPr/>
        </p:nvSpPr>
        <p:spPr>
          <a:xfrm>
            <a:off x="105155" y="56565"/>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sp>
        <p:nvSpPr>
          <p:cNvPr id="2" name="TextBox 1"/>
          <p:cNvSpPr txBox="1"/>
          <p:nvPr/>
        </p:nvSpPr>
        <p:spPr>
          <a:xfrm>
            <a:off x="171448" y="555526"/>
            <a:ext cx="5256584" cy="4490973"/>
          </a:xfrm>
          <a:prstGeom prst="rect">
            <a:avLst/>
          </a:prstGeom>
          <a:noFill/>
        </p:spPr>
        <p:txBody>
          <a:bodyPr wrap="square" rtlCol="0">
            <a:spAutoFit/>
          </a:bodyPr>
          <a:lstStyle/>
          <a:p>
            <a:r>
              <a:rPr lang="zh-CN" altLang="zh-CN" sz="1100" dirty="0">
                <a:solidFill>
                  <a:schemeClr val="accent1">
                    <a:lumMod val="50000"/>
                  </a:schemeClr>
                </a:solidFill>
              </a:rPr>
              <a:t>作为一个例子我们先获取</a:t>
            </a:r>
            <a:r>
              <a:rPr lang="en-US" altLang="zh-CN" sz="1100" dirty="0">
                <a:solidFill>
                  <a:schemeClr val="accent1">
                    <a:lumMod val="50000"/>
                  </a:schemeClr>
                </a:solidFill>
              </a:rPr>
              <a:t>2016</a:t>
            </a:r>
            <a:r>
              <a:rPr lang="zh-CN" altLang="zh-CN" sz="1100" dirty="0">
                <a:solidFill>
                  <a:schemeClr val="accent1">
                    <a:lumMod val="50000"/>
                  </a:schemeClr>
                </a:solidFill>
              </a:rPr>
              <a:t>年度的数据进行处理，因为评价排名是按年份进行的，可以很容易将其定义为函数推广到其他年份。数据处理包括：</a:t>
            </a:r>
          </a:p>
          <a:p>
            <a:pPr>
              <a:spcAft>
                <a:spcPts val="200"/>
              </a:spcAft>
            </a:pPr>
            <a:r>
              <a:rPr lang="en-US" altLang="zh-CN" sz="1100" b="1" dirty="0">
                <a:solidFill>
                  <a:srgbClr val="C00000"/>
                </a:solidFill>
              </a:rPr>
              <a:t>1. </a:t>
            </a:r>
            <a:r>
              <a:rPr lang="zh-CN" altLang="zh-CN" sz="1100" b="1" dirty="0">
                <a:solidFill>
                  <a:srgbClr val="C00000"/>
                </a:solidFill>
              </a:rPr>
              <a:t>筛选指标值大于</a:t>
            </a:r>
            <a:r>
              <a:rPr lang="en-US" altLang="zh-CN" sz="1100" b="1" dirty="0">
                <a:solidFill>
                  <a:srgbClr val="C00000"/>
                </a:solidFill>
              </a:rPr>
              <a:t>0</a:t>
            </a:r>
            <a:r>
              <a:rPr lang="zh-CN" altLang="zh-CN" sz="1100" b="1" dirty="0">
                <a:solidFill>
                  <a:srgbClr val="C00000"/>
                </a:solidFill>
              </a:rPr>
              <a:t>的数据</a:t>
            </a:r>
          </a:p>
          <a:p>
            <a:r>
              <a:rPr lang="zh-CN" altLang="zh-CN" sz="1050" dirty="0">
                <a:solidFill>
                  <a:schemeClr val="accent1">
                    <a:lumMod val="50000"/>
                  </a:schemeClr>
                </a:solidFill>
              </a:rPr>
              <a:t>因为对上市公司评价，首先是选择质地比较好的公司，指标值小于</a:t>
            </a:r>
            <a:r>
              <a:rPr lang="en-US" altLang="zh-CN" sz="1050" dirty="0">
                <a:solidFill>
                  <a:schemeClr val="accent1">
                    <a:lumMod val="50000"/>
                  </a:schemeClr>
                </a:solidFill>
              </a:rPr>
              <a:t>0</a:t>
            </a:r>
            <a:r>
              <a:rPr lang="zh-CN" altLang="zh-CN" sz="1050" dirty="0">
                <a:solidFill>
                  <a:schemeClr val="accent1">
                    <a:lumMod val="50000"/>
                  </a:schemeClr>
                </a:solidFill>
              </a:rPr>
              <a:t>可能是由于公司资产为负值或者利润为负值等原因造成的，这类公司首先排除在外。</a:t>
            </a:r>
          </a:p>
          <a:p>
            <a:pPr>
              <a:spcAft>
                <a:spcPts val="200"/>
              </a:spcAft>
            </a:pPr>
            <a:r>
              <a:rPr lang="en-US" altLang="zh-CN" sz="1100" b="1" dirty="0">
                <a:solidFill>
                  <a:srgbClr val="C00000"/>
                </a:solidFill>
              </a:rPr>
              <a:t>2. </a:t>
            </a:r>
            <a:r>
              <a:rPr lang="zh-CN" altLang="zh-CN" sz="1100" b="1" dirty="0">
                <a:solidFill>
                  <a:srgbClr val="C00000"/>
                </a:solidFill>
              </a:rPr>
              <a:t>去掉</a:t>
            </a:r>
            <a:r>
              <a:rPr lang="en-US" altLang="zh-CN" sz="1100" b="1" dirty="0">
                <a:solidFill>
                  <a:srgbClr val="C00000"/>
                </a:solidFill>
              </a:rPr>
              <a:t>NAN</a:t>
            </a:r>
            <a:r>
              <a:rPr lang="zh-CN" altLang="zh-CN" sz="1100" b="1" dirty="0">
                <a:solidFill>
                  <a:srgbClr val="C00000"/>
                </a:solidFill>
              </a:rPr>
              <a:t>值</a:t>
            </a:r>
          </a:p>
          <a:p>
            <a:r>
              <a:rPr lang="zh-CN" altLang="zh-CN" sz="1050" dirty="0">
                <a:solidFill>
                  <a:schemeClr val="accent1">
                    <a:lumMod val="50000"/>
                  </a:schemeClr>
                </a:solidFill>
              </a:rPr>
              <a:t>即空值，由于某种原因造成了公司某个方面的指标取值缺失，这类公司也排除在外。</a:t>
            </a:r>
          </a:p>
          <a:p>
            <a:pPr>
              <a:spcAft>
                <a:spcPts val="200"/>
              </a:spcAft>
            </a:pPr>
            <a:r>
              <a:rPr lang="en-US" altLang="zh-CN" sz="1100" b="1" dirty="0">
                <a:solidFill>
                  <a:srgbClr val="C00000"/>
                </a:solidFill>
              </a:rPr>
              <a:t>3. </a:t>
            </a:r>
            <a:r>
              <a:rPr lang="zh-CN" altLang="zh-CN" sz="1100" b="1" dirty="0">
                <a:solidFill>
                  <a:srgbClr val="C00000"/>
                </a:solidFill>
              </a:rPr>
              <a:t>数据标准化</a:t>
            </a:r>
          </a:p>
          <a:p>
            <a:r>
              <a:rPr lang="zh-CN" altLang="zh-CN" sz="1050" dirty="0">
                <a:solidFill>
                  <a:schemeClr val="accent1">
                    <a:lumMod val="50000"/>
                  </a:schemeClr>
                </a:solidFill>
              </a:rPr>
              <a:t>由于某些指标的单位不统一或者某些指标的取值很大、有些指标的取值很小，需要对指标数据做标准化处理。</a:t>
            </a:r>
          </a:p>
          <a:p>
            <a:pPr>
              <a:spcAft>
                <a:spcPts val="600"/>
              </a:spcAft>
            </a:pPr>
            <a:r>
              <a:rPr lang="zh-CN" altLang="zh-CN" sz="1050" dirty="0">
                <a:solidFill>
                  <a:schemeClr val="accent1">
                    <a:lumMod val="50000"/>
                  </a:schemeClr>
                </a:solidFill>
              </a:rPr>
              <a:t>计算流程及思路如下</a:t>
            </a:r>
            <a:r>
              <a:rPr lang="zh-CN" altLang="zh-CN" sz="1050" dirty="0" smtClean="0">
                <a:solidFill>
                  <a:schemeClr val="accent1">
                    <a:lumMod val="50000"/>
                  </a:schemeClr>
                </a:solidFill>
              </a:rPr>
              <a:t>：</a:t>
            </a:r>
            <a:endParaRPr lang="zh-CN" altLang="zh-CN" sz="1050" dirty="0">
              <a:solidFill>
                <a:schemeClr val="accent1">
                  <a:lumMod val="50000"/>
                </a:schemeClr>
              </a:solidFill>
            </a:endParaRPr>
          </a:p>
          <a:p>
            <a:r>
              <a:rPr lang="zh-CN" altLang="zh-CN" sz="1050" dirty="0">
                <a:solidFill>
                  <a:schemeClr val="accent1">
                    <a:lumMod val="50000"/>
                  </a:schemeClr>
                </a:solidFill>
              </a:rPr>
              <a:t>（</a:t>
            </a:r>
            <a:r>
              <a:rPr lang="en-US" altLang="zh-CN" sz="1050" dirty="0">
                <a:solidFill>
                  <a:schemeClr val="accent1">
                    <a:lumMod val="50000"/>
                  </a:schemeClr>
                </a:solidFill>
              </a:rPr>
              <a:t>1</a:t>
            </a:r>
            <a:r>
              <a:rPr lang="zh-CN" altLang="zh-CN" sz="1050" dirty="0">
                <a:solidFill>
                  <a:schemeClr val="accent1">
                    <a:lumMod val="50000"/>
                  </a:schemeClr>
                </a:solidFill>
              </a:rPr>
              <a:t>）读取</a:t>
            </a:r>
            <a:r>
              <a:rPr lang="en-US" altLang="zh-CN" sz="1050" dirty="0">
                <a:solidFill>
                  <a:schemeClr val="accent1">
                    <a:lumMod val="50000"/>
                  </a:schemeClr>
                </a:solidFill>
              </a:rPr>
              <a:t>2016</a:t>
            </a:r>
            <a:r>
              <a:rPr lang="zh-CN" altLang="zh-CN" sz="1050" dirty="0">
                <a:solidFill>
                  <a:schemeClr val="accent1">
                    <a:lumMod val="50000"/>
                  </a:schemeClr>
                </a:solidFill>
              </a:rPr>
              <a:t>年度的数据，其中第</a:t>
            </a:r>
            <a:r>
              <a:rPr lang="en-US" altLang="zh-CN" sz="1050" dirty="0">
                <a:solidFill>
                  <a:schemeClr val="accent1">
                    <a:lumMod val="50000"/>
                  </a:schemeClr>
                </a:solidFill>
              </a:rPr>
              <a:t>0</a:t>
            </a:r>
            <a:r>
              <a:rPr lang="zh-CN" altLang="zh-CN" sz="1050" dirty="0">
                <a:solidFill>
                  <a:schemeClr val="accent1">
                    <a:lumMod val="50000"/>
                  </a:schemeClr>
                </a:solidFill>
              </a:rPr>
              <a:t>列为标识列（股票代码）</a:t>
            </a:r>
          </a:p>
          <a:p>
            <a:r>
              <a:rPr lang="en-US" altLang="zh-CN" sz="1100" b="1" dirty="0">
                <a:solidFill>
                  <a:schemeClr val="accent1">
                    <a:lumMod val="50000"/>
                  </a:schemeClr>
                </a:solidFill>
              </a:rPr>
              <a:t>import pandas as </a:t>
            </a:r>
            <a:r>
              <a:rPr lang="en-US" altLang="zh-CN" sz="1100" b="1" dirty="0" err="1">
                <a:solidFill>
                  <a:schemeClr val="accent1">
                    <a:lumMod val="50000"/>
                  </a:schemeClr>
                </a:solidFill>
              </a:rPr>
              <a:t>pd</a:t>
            </a:r>
            <a:endParaRPr lang="zh-CN" altLang="zh-CN" sz="1100" b="1" dirty="0">
              <a:solidFill>
                <a:schemeClr val="accent1">
                  <a:lumMod val="50000"/>
                </a:schemeClr>
              </a:solidFill>
            </a:endParaRPr>
          </a:p>
          <a:p>
            <a:r>
              <a:rPr lang="en-US" altLang="zh-CN" sz="1100" b="1" dirty="0">
                <a:solidFill>
                  <a:schemeClr val="accent1">
                    <a:lumMod val="50000"/>
                  </a:schemeClr>
                </a:solidFill>
              </a:rPr>
              <a:t>data=</a:t>
            </a:r>
            <a:r>
              <a:rPr lang="en-US" altLang="zh-CN" sz="1100" b="1" dirty="0" err="1">
                <a:solidFill>
                  <a:schemeClr val="accent1">
                    <a:lumMod val="50000"/>
                  </a:schemeClr>
                </a:solidFill>
              </a:rPr>
              <a:t>pd.read_excel</a:t>
            </a:r>
            <a:r>
              <a:rPr lang="en-US" altLang="zh-CN" sz="1100" b="1" dirty="0">
                <a:solidFill>
                  <a:schemeClr val="accent1">
                    <a:lumMod val="50000"/>
                  </a:schemeClr>
                </a:solidFill>
              </a:rPr>
              <a:t>('data.xlsx')</a:t>
            </a:r>
            <a:endParaRPr lang="zh-CN" altLang="zh-CN" sz="1100" b="1" dirty="0">
              <a:solidFill>
                <a:schemeClr val="accent1">
                  <a:lumMod val="50000"/>
                </a:schemeClr>
              </a:solidFill>
            </a:endParaRPr>
          </a:p>
          <a:p>
            <a:pPr>
              <a:spcAft>
                <a:spcPts val="400"/>
              </a:spcAft>
            </a:pPr>
            <a:r>
              <a:rPr lang="en-US" altLang="zh-CN" sz="1100" b="1" dirty="0">
                <a:solidFill>
                  <a:schemeClr val="accent1">
                    <a:lumMod val="50000"/>
                  </a:schemeClr>
                </a:solidFill>
              </a:rPr>
              <a:t>data2=</a:t>
            </a:r>
            <a:r>
              <a:rPr lang="en-US" altLang="zh-CN" sz="1100" b="1" dirty="0" err="1">
                <a:solidFill>
                  <a:schemeClr val="accent1">
                    <a:lumMod val="50000"/>
                  </a:schemeClr>
                </a:solidFill>
              </a:rPr>
              <a:t>data.iloc</a:t>
            </a:r>
            <a:r>
              <a:rPr lang="en-US" altLang="zh-CN" sz="1100" b="1" dirty="0">
                <a:solidFill>
                  <a:schemeClr val="accent1">
                    <a:lumMod val="50000"/>
                  </a:schemeClr>
                </a:solidFill>
              </a:rPr>
              <a:t>[data['</a:t>
            </a:r>
            <a:r>
              <a:rPr lang="en-US" altLang="zh-CN" sz="1100" b="1" dirty="0" err="1">
                <a:solidFill>
                  <a:schemeClr val="accent1">
                    <a:lumMod val="50000"/>
                  </a:schemeClr>
                </a:solidFill>
              </a:rPr>
              <a:t>Accper</a:t>
            </a:r>
            <a:r>
              <a:rPr lang="en-US" altLang="zh-CN" sz="1100" b="1" dirty="0">
                <a:solidFill>
                  <a:schemeClr val="accent1">
                    <a:lumMod val="50000"/>
                  </a:schemeClr>
                </a:solidFill>
              </a:rPr>
              <a:t>'].values=='2016-12-31',[ 0,2,3,4,5,6,7,8,9,10,11]]</a:t>
            </a:r>
            <a:endParaRPr lang="zh-CN" altLang="zh-CN" sz="1100" b="1" dirty="0">
              <a:solidFill>
                <a:schemeClr val="accent1">
                  <a:lumMod val="50000"/>
                </a:schemeClr>
              </a:solidFill>
            </a:endParaRPr>
          </a:p>
          <a:p>
            <a:r>
              <a:rPr lang="zh-CN" altLang="zh-CN" sz="1050" dirty="0">
                <a:solidFill>
                  <a:schemeClr val="accent1">
                    <a:lumMod val="50000"/>
                  </a:schemeClr>
                </a:solidFill>
              </a:rPr>
              <a:t>（</a:t>
            </a:r>
            <a:r>
              <a:rPr lang="en-US" altLang="zh-CN" sz="1050" dirty="0">
                <a:solidFill>
                  <a:schemeClr val="accent1">
                    <a:lumMod val="50000"/>
                  </a:schemeClr>
                </a:solidFill>
              </a:rPr>
              <a:t>2</a:t>
            </a:r>
            <a:r>
              <a:rPr lang="zh-CN" altLang="zh-CN" sz="1050" dirty="0">
                <a:solidFill>
                  <a:schemeClr val="accent1">
                    <a:lumMod val="50000"/>
                  </a:schemeClr>
                </a:solidFill>
              </a:rPr>
              <a:t>）筛选指标值大于</a:t>
            </a:r>
            <a:r>
              <a:rPr lang="en-US" altLang="zh-CN" sz="1050" dirty="0">
                <a:solidFill>
                  <a:schemeClr val="accent1">
                    <a:lumMod val="50000"/>
                  </a:schemeClr>
                </a:solidFill>
              </a:rPr>
              <a:t>0</a:t>
            </a:r>
            <a:r>
              <a:rPr lang="zh-CN" altLang="zh-CN" sz="1050" dirty="0">
                <a:solidFill>
                  <a:schemeClr val="accent1">
                    <a:lumMod val="50000"/>
                  </a:schemeClr>
                </a:solidFill>
              </a:rPr>
              <a:t>的数据以及去掉</a:t>
            </a:r>
            <a:r>
              <a:rPr lang="en-US" altLang="zh-CN" sz="1050" dirty="0">
                <a:solidFill>
                  <a:schemeClr val="accent1">
                    <a:lumMod val="50000"/>
                  </a:schemeClr>
                </a:solidFill>
              </a:rPr>
              <a:t>NAN</a:t>
            </a:r>
            <a:r>
              <a:rPr lang="zh-CN" altLang="zh-CN" sz="1050" dirty="0">
                <a:solidFill>
                  <a:schemeClr val="accent1">
                    <a:lumMod val="50000"/>
                  </a:schemeClr>
                </a:solidFill>
              </a:rPr>
              <a:t>值</a:t>
            </a:r>
          </a:p>
          <a:p>
            <a:r>
              <a:rPr lang="en-US" altLang="zh-CN" sz="1100" b="1" dirty="0">
                <a:solidFill>
                  <a:schemeClr val="accent1">
                    <a:lumMod val="50000"/>
                  </a:schemeClr>
                </a:solidFill>
              </a:rPr>
              <a:t>data2=data2[data2&gt;0]</a:t>
            </a:r>
            <a:endParaRPr lang="zh-CN" altLang="zh-CN" sz="1100" b="1" dirty="0">
              <a:solidFill>
                <a:schemeClr val="accent1">
                  <a:lumMod val="50000"/>
                </a:schemeClr>
              </a:solidFill>
            </a:endParaRPr>
          </a:p>
          <a:p>
            <a:pPr>
              <a:spcAft>
                <a:spcPts val="400"/>
              </a:spcAft>
            </a:pPr>
            <a:r>
              <a:rPr lang="en-US" altLang="zh-CN" sz="1100" b="1" dirty="0">
                <a:solidFill>
                  <a:schemeClr val="accent1">
                    <a:lumMod val="50000"/>
                  </a:schemeClr>
                </a:solidFill>
              </a:rPr>
              <a:t>data2=data2.dropna()</a:t>
            </a:r>
            <a:endParaRPr lang="zh-CN" altLang="zh-CN" sz="1100" b="1" dirty="0">
              <a:solidFill>
                <a:schemeClr val="accent1">
                  <a:lumMod val="50000"/>
                </a:schemeClr>
              </a:solidFill>
            </a:endParaRPr>
          </a:p>
          <a:p>
            <a:r>
              <a:rPr lang="zh-CN" altLang="zh-CN" sz="1050" dirty="0">
                <a:solidFill>
                  <a:schemeClr val="accent1">
                    <a:lumMod val="50000"/>
                  </a:schemeClr>
                </a:solidFill>
              </a:rPr>
              <a:t>（</a:t>
            </a:r>
            <a:r>
              <a:rPr lang="en-US" altLang="zh-CN" sz="1050" dirty="0">
                <a:solidFill>
                  <a:schemeClr val="accent1">
                    <a:lumMod val="50000"/>
                  </a:schemeClr>
                </a:solidFill>
              </a:rPr>
              <a:t>3</a:t>
            </a:r>
            <a:r>
              <a:rPr lang="zh-CN" altLang="zh-CN" sz="1050" dirty="0">
                <a:solidFill>
                  <a:schemeClr val="accent1">
                    <a:lumMod val="50000"/>
                  </a:schemeClr>
                </a:solidFill>
              </a:rPr>
              <a:t>）数据标准化，注意标准化的数据需要去掉第</a:t>
            </a:r>
            <a:r>
              <a:rPr lang="en-US" altLang="zh-CN" sz="1050" dirty="0">
                <a:solidFill>
                  <a:schemeClr val="accent1">
                    <a:lumMod val="50000"/>
                  </a:schemeClr>
                </a:solidFill>
              </a:rPr>
              <a:t>0</a:t>
            </a:r>
            <a:r>
              <a:rPr lang="zh-CN" altLang="zh-CN" sz="1050" dirty="0">
                <a:solidFill>
                  <a:schemeClr val="accent1">
                    <a:lumMod val="50000"/>
                  </a:schemeClr>
                </a:solidFill>
              </a:rPr>
              <a:t>列（股票代码，标识列），这里数据标准化方法采用均值</a:t>
            </a:r>
            <a:r>
              <a:rPr lang="en-US" altLang="zh-CN" sz="1050" dirty="0">
                <a:solidFill>
                  <a:schemeClr val="accent1">
                    <a:lumMod val="50000"/>
                  </a:schemeClr>
                </a:solidFill>
              </a:rPr>
              <a:t>-</a:t>
            </a:r>
            <a:r>
              <a:rPr lang="zh-CN" altLang="zh-CN" sz="1050" dirty="0">
                <a:solidFill>
                  <a:schemeClr val="accent1">
                    <a:lumMod val="50000"/>
                  </a:schemeClr>
                </a:solidFill>
              </a:rPr>
              <a:t>方差法。</a:t>
            </a:r>
          </a:p>
          <a:p>
            <a:r>
              <a:rPr lang="en-US" altLang="zh-CN" sz="1100" b="1" dirty="0">
                <a:solidFill>
                  <a:schemeClr val="accent1">
                    <a:lumMod val="50000"/>
                  </a:schemeClr>
                </a:solidFill>
              </a:rPr>
              <a:t>from </a:t>
            </a:r>
            <a:r>
              <a:rPr lang="en-US" altLang="zh-CN" sz="1100" b="1" dirty="0" err="1">
                <a:solidFill>
                  <a:schemeClr val="accent1">
                    <a:lumMod val="50000"/>
                  </a:schemeClr>
                </a:solidFill>
              </a:rPr>
              <a:t>sklearn.preprocessing</a:t>
            </a:r>
            <a:r>
              <a:rPr lang="en-US" altLang="zh-CN" sz="1100" b="1" dirty="0">
                <a:solidFill>
                  <a:schemeClr val="accent1">
                    <a:lumMod val="50000"/>
                  </a:schemeClr>
                </a:solidFill>
              </a:rPr>
              <a:t> import </a:t>
            </a:r>
            <a:r>
              <a:rPr lang="en-US" altLang="zh-CN" sz="1100" b="1" dirty="0" err="1">
                <a:solidFill>
                  <a:schemeClr val="accent1">
                    <a:lumMod val="50000"/>
                  </a:schemeClr>
                </a:solidFill>
              </a:rPr>
              <a:t>StandardScaler</a:t>
            </a:r>
            <a:r>
              <a:rPr lang="en-US" altLang="zh-CN" sz="1100" b="1" dirty="0">
                <a:solidFill>
                  <a:schemeClr val="accent1">
                    <a:lumMod val="50000"/>
                  </a:schemeClr>
                </a:solidFill>
              </a:rPr>
              <a:t>  </a:t>
            </a:r>
            <a:endParaRPr lang="zh-CN" altLang="zh-CN" sz="1100" b="1" dirty="0">
              <a:solidFill>
                <a:schemeClr val="accent1">
                  <a:lumMod val="50000"/>
                </a:schemeClr>
              </a:solidFill>
            </a:endParaRPr>
          </a:p>
          <a:p>
            <a:r>
              <a:rPr lang="en-US" altLang="zh-CN" sz="1100" b="1" dirty="0">
                <a:solidFill>
                  <a:schemeClr val="accent1">
                    <a:lumMod val="50000"/>
                  </a:schemeClr>
                </a:solidFill>
              </a:rPr>
              <a:t>X=data2.iloc[:,1:]</a:t>
            </a:r>
            <a:endParaRPr lang="zh-CN" altLang="zh-CN" sz="1100" b="1" dirty="0">
              <a:solidFill>
                <a:schemeClr val="accent1">
                  <a:lumMod val="50000"/>
                </a:schemeClr>
              </a:solidFill>
            </a:endParaRPr>
          </a:p>
          <a:p>
            <a:r>
              <a:rPr lang="en-US" altLang="zh-CN" sz="1100" b="1" dirty="0" err="1">
                <a:solidFill>
                  <a:schemeClr val="accent1">
                    <a:lumMod val="50000"/>
                  </a:schemeClr>
                </a:solidFill>
              </a:rPr>
              <a:t>scaler</a:t>
            </a:r>
            <a:r>
              <a:rPr lang="en-US" altLang="zh-CN" sz="1100" b="1" dirty="0">
                <a:solidFill>
                  <a:schemeClr val="accent1">
                    <a:lumMod val="50000"/>
                  </a:schemeClr>
                </a:solidFill>
              </a:rPr>
              <a:t> = </a:t>
            </a:r>
            <a:r>
              <a:rPr lang="en-US" altLang="zh-CN" sz="1100" b="1" dirty="0" err="1">
                <a:solidFill>
                  <a:schemeClr val="accent1">
                    <a:lumMod val="50000"/>
                  </a:schemeClr>
                </a:solidFill>
              </a:rPr>
              <a:t>StandardScaler</a:t>
            </a:r>
            <a:r>
              <a:rPr lang="en-US" altLang="zh-CN" sz="1100" b="1" dirty="0">
                <a:solidFill>
                  <a:schemeClr val="accent1">
                    <a:lumMod val="50000"/>
                  </a:schemeClr>
                </a:solidFill>
              </a:rPr>
              <a:t>()</a:t>
            </a:r>
            <a:endParaRPr lang="zh-CN" altLang="zh-CN" sz="1100" b="1" dirty="0">
              <a:solidFill>
                <a:schemeClr val="accent1">
                  <a:lumMod val="50000"/>
                </a:schemeClr>
              </a:solidFill>
            </a:endParaRPr>
          </a:p>
          <a:p>
            <a:r>
              <a:rPr lang="en-US" altLang="zh-CN" sz="1100" b="1" dirty="0" err="1">
                <a:solidFill>
                  <a:schemeClr val="accent1">
                    <a:lumMod val="50000"/>
                  </a:schemeClr>
                </a:solidFill>
              </a:rPr>
              <a:t>scaler.fit</a:t>
            </a:r>
            <a:r>
              <a:rPr lang="en-US" altLang="zh-CN" sz="1100" b="1" dirty="0">
                <a:solidFill>
                  <a:schemeClr val="accent1">
                    <a:lumMod val="50000"/>
                  </a:schemeClr>
                </a:solidFill>
              </a:rPr>
              <a:t>(X) </a:t>
            </a:r>
            <a:endParaRPr lang="zh-CN" altLang="zh-CN" sz="1100" b="1" dirty="0">
              <a:solidFill>
                <a:schemeClr val="accent1">
                  <a:lumMod val="50000"/>
                </a:schemeClr>
              </a:solidFill>
            </a:endParaRPr>
          </a:p>
          <a:p>
            <a:r>
              <a:rPr lang="en-US" altLang="zh-CN" sz="1100" b="1" dirty="0">
                <a:solidFill>
                  <a:schemeClr val="accent1">
                    <a:lumMod val="50000"/>
                  </a:schemeClr>
                </a:solidFill>
              </a:rPr>
              <a:t>X=</a:t>
            </a:r>
            <a:r>
              <a:rPr lang="en-US" altLang="zh-CN" sz="1100" b="1" dirty="0" err="1">
                <a:solidFill>
                  <a:schemeClr val="accent1">
                    <a:lumMod val="50000"/>
                  </a:schemeClr>
                </a:solidFill>
              </a:rPr>
              <a:t>scaler.transform</a:t>
            </a:r>
            <a:r>
              <a:rPr lang="en-US" altLang="zh-CN" sz="1100" b="1" dirty="0">
                <a:solidFill>
                  <a:schemeClr val="accent1">
                    <a:lumMod val="50000"/>
                  </a:schemeClr>
                </a:solidFill>
              </a:rPr>
              <a:t>(X)  </a:t>
            </a:r>
            <a:endParaRPr lang="zh-CN" altLang="zh-CN" sz="1100" b="1" dirty="0">
              <a:solidFill>
                <a:schemeClr val="accent1">
                  <a:lumMod val="50000"/>
                </a:schemeClr>
              </a:solidFill>
            </a:endParaRPr>
          </a:p>
        </p:txBody>
      </p:sp>
      <p:sp>
        <p:nvSpPr>
          <p:cNvPr id="3" name="TextBox 2"/>
          <p:cNvSpPr txBox="1"/>
          <p:nvPr/>
        </p:nvSpPr>
        <p:spPr>
          <a:xfrm>
            <a:off x="5021255" y="33470"/>
            <a:ext cx="3024336" cy="692497"/>
          </a:xfrm>
          <a:prstGeom prst="rect">
            <a:avLst/>
          </a:prstGeom>
          <a:noFill/>
        </p:spPr>
        <p:txBody>
          <a:bodyPr wrap="square" rtlCol="0">
            <a:spAutoFit/>
          </a:bodyPr>
          <a:lstStyle/>
          <a:p>
            <a:pPr algn="r"/>
            <a:r>
              <a:rPr lang="en-US" altLang="zh-CN" sz="2100" dirty="0">
                <a:solidFill>
                  <a:srgbClr val="FFFFFF"/>
                </a:solidFill>
                <a:latin typeface="微软雅黑"/>
                <a:ea typeface="微软雅黑"/>
              </a:rPr>
              <a:t>8.3.3 </a:t>
            </a:r>
            <a:r>
              <a:rPr lang="zh-CN" altLang="en-US" sz="2100" dirty="0">
                <a:solidFill>
                  <a:srgbClr val="FFFFFF"/>
                </a:solidFill>
                <a:latin typeface="微软雅黑"/>
                <a:ea typeface="微软雅黑"/>
              </a:rPr>
              <a:t>主成分分析</a:t>
            </a:r>
          </a:p>
          <a:p>
            <a:endParaRPr lang="zh-CN" altLang="en-US" dirty="0"/>
          </a:p>
        </p:txBody>
      </p:sp>
      <p:sp>
        <p:nvSpPr>
          <p:cNvPr id="4" name="TextBox 3"/>
          <p:cNvSpPr txBox="1"/>
          <p:nvPr/>
        </p:nvSpPr>
        <p:spPr>
          <a:xfrm>
            <a:off x="5580104" y="555526"/>
            <a:ext cx="3240368" cy="3200876"/>
          </a:xfrm>
          <a:prstGeom prst="rect">
            <a:avLst/>
          </a:prstGeom>
          <a:noFill/>
        </p:spPr>
        <p:txBody>
          <a:bodyPr wrap="square" rtlCol="0">
            <a:spAutoFit/>
          </a:bodyPr>
          <a:lstStyle/>
          <a:p>
            <a:r>
              <a:rPr lang="zh-CN" altLang="en-US" sz="1100" dirty="0">
                <a:solidFill>
                  <a:schemeClr val="accent1">
                    <a:lumMod val="50000"/>
                  </a:schemeClr>
                </a:solidFill>
              </a:rPr>
              <a:t>对标准化之后的指标数据</a:t>
            </a:r>
            <a:r>
              <a:rPr lang="en-US" altLang="zh-CN" sz="1100" dirty="0">
                <a:solidFill>
                  <a:schemeClr val="accent1">
                    <a:lumMod val="50000"/>
                  </a:schemeClr>
                </a:solidFill>
              </a:rPr>
              <a:t>X</a:t>
            </a:r>
            <a:r>
              <a:rPr lang="zh-CN" altLang="en-US" sz="1100" dirty="0">
                <a:solidFill>
                  <a:schemeClr val="accent1">
                    <a:lumMod val="50000"/>
                  </a:schemeClr>
                </a:solidFill>
              </a:rPr>
              <a:t>作主成分分析，提取其主成分，要求累计贡献率在</a:t>
            </a:r>
            <a:r>
              <a:rPr lang="en-US" altLang="zh-CN" sz="1100" dirty="0">
                <a:solidFill>
                  <a:schemeClr val="accent1">
                    <a:lumMod val="50000"/>
                  </a:schemeClr>
                </a:solidFill>
              </a:rPr>
              <a:t>95%</a:t>
            </a:r>
            <a:r>
              <a:rPr lang="zh-CN" altLang="en-US" sz="1100" dirty="0">
                <a:solidFill>
                  <a:schemeClr val="accent1">
                    <a:lumMod val="50000"/>
                  </a:schemeClr>
                </a:solidFill>
              </a:rPr>
              <a:t>以上。</a:t>
            </a:r>
            <a:endParaRPr lang="en-US" altLang="zh-CN" sz="1100" dirty="0">
              <a:solidFill>
                <a:schemeClr val="accent1">
                  <a:lumMod val="50000"/>
                </a:schemeClr>
              </a:solidFill>
            </a:endParaRPr>
          </a:p>
          <a:p>
            <a:pPr>
              <a:spcAft>
                <a:spcPts val="600"/>
              </a:spcAft>
            </a:pPr>
            <a:r>
              <a:rPr lang="zh-CN" altLang="en-US" sz="1100" dirty="0">
                <a:solidFill>
                  <a:schemeClr val="accent1">
                    <a:lumMod val="50000"/>
                  </a:schemeClr>
                </a:solidFill>
              </a:rPr>
              <a:t>其示例代码如下：</a:t>
            </a:r>
          </a:p>
          <a:p>
            <a:pPr lvl="0"/>
            <a:r>
              <a:rPr lang="en-US" altLang="zh-CN" sz="1200" b="1" dirty="0">
                <a:solidFill>
                  <a:schemeClr val="accent1">
                    <a:lumMod val="50000"/>
                  </a:schemeClr>
                </a:solidFill>
              </a:rPr>
              <a:t>from </a:t>
            </a:r>
            <a:r>
              <a:rPr lang="en-US" altLang="zh-CN" sz="1200" b="1" dirty="0" err="1">
                <a:solidFill>
                  <a:schemeClr val="accent1">
                    <a:lumMod val="50000"/>
                  </a:schemeClr>
                </a:solidFill>
              </a:rPr>
              <a:t>sklearn.decomposition</a:t>
            </a:r>
            <a:r>
              <a:rPr lang="en-US" altLang="zh-CN" sz="1200" b="1" dirty="0">
                <a:solidFill>
                  <a:schemeClr val="accent1">
                    <a:lumMod val="50000"/>
                  </a:schemeClr>
                </a:solidFill>
              </a:rPr>
              <a:t> import </a:t>
            </a:r>
            <a:r>
              <a:rPr lang="en-US" altLang="zh-CN" sz="1200" b="1" dirty="0" smtClean="0">
                <a:solidFill>
                  <a:schemeClr val="accent1">
                    <a:lumMod val="50000"/>
                  </a:schemeClr>
                </a:solidFill>
              </a:rPr>
              <a:t>PCA</a:t>
            </a:r>
          </a:p>
          <a:p>
            <a:pPr lvl="0"/>
            <a:r>
              <a:rPr lang="en-US" altLang="zh-CN" sz="1000" dirty="0">
                <a:solidFill>
                  <a:schemeClr val="accent1">
                    <a:lumMod val="50000"/>
                  </a:schemeClr>
                </a:solidFill>
              </a:rPr>
              <a:t> #</a:t>
            </a:r>
            <a:r>
              <a:rPr lang="zh-CN" altLang="en-US" sz="1000" dirty="0">
                <a:solidFill>
                  <a:schemeClr val="accent1">
                    <a:lumMod val="50000"/>
                  </a:schemeClr>
                </a:solidFill>
              </a:rPr>
              <a:t>累计贡献率为</a:t>
            </a:r>
            <a:r>
              <a:rPr lang="en-US" altLang="zh-CN" sz="1000" dirty="0">
                <a:solidFill>
                  <a:schemeClr val="accent1">
                    <a:lumMod val="50000"/>
                  </a:schemeClr>
                </a:solidFill>
              </a:rPr>
              <a:t>95%  </a:t>
            </a:r>
          </a:p>
          <a:p>
            <a:pPr lvl="0"/>
            <a:r>
              <a:rPr lang="en-US" altLang="zh-CN" sz="1200" b="1" dirty="0" err="1">
                <a:solidFill>
                  <a:schemeClr val="accent1">
                    <a:lumMod val="50000"/>
                  </a:schemeClr>
                </a:solidFill>
              </a:rPr>
              <a:t>pca</a:t>
            </a:r>
            <a:r>
              <a:rPr lang="en-US" altLang="zh-CN" sz="1200" b="1" dirty="0">
                <a:solidFill>
                  <a:schemeClr val="accent1">
                    <a:lumMod val="50000"/>
                  </a:schemeClr>
                </a:solidFill>
              </a:rPr>
              <a:t>=PCA(</a:t>
            </a:r>
            <a:r>
              <a:rPr lang="en-US" altLang="zh-CN" sz="1200" b="1" dirty="0" err="1">
                <a:solidFill>
                  <a:schemeClr val="accent1">
                    <a:lumMod val="50000"/>
                  </a:schemeClr>
                </a:solidFill>
              </a:rPr>
              <a:t>n_components</a:t>
            </a:r>
            <a:r>
              <a:rPr lang="en-US" altLang="zh-CN" sz="1200" b="1" dirty="0">
                <a:solidFill>
                  <a:schemeClr val="accent1">
                    <a:lumMod val="50000"/>
                  </a:schemeClr>
                </a:solidFill>
              </a:rPr>
              <a:t>=0.95)  </a:t>
            </a:r>
            <a:r>
              <a:rPr lang="en-US" altLang="zh-CN" sz="1200" b="1" dirty="0" smtClean="0">
                <a:solidFill>
                  <a:schemeClr val="accent1">
                    <a:lumMod val="50000"/>
                  </a:schemeClr>
                </a:solidFill>
              </a:rPr>
              <a:t> </a:t>
            </a:r>
          </a:p>
          <a:p>
            <a:r>
              <a:rPr lang="en-US" altLang="zh-CN" sz="1100" dirty="0">
                <a:solidFill>
                  <a:schemeClr val="accent1">
                    <a:lumMod val="50000"/>
                  </a:schemeClr>
                </a:solidFill>
              </a:rPr>
              <a:t> </a:t>
            </a:r>
            <a:r>
              <a:rPr lang="en-US" altLang="zh-CN" sz="1000" dirty="0">
                <a:solidFill>
                  <a:schemeClr val="accent1">
                    <a:lumMod val="50000"/>
                  </a:schemeClr>
                </a:solidFill>
              </a:rPr>
              <a:t>#</a:t>
            </a:r>
            <a:r>
              <a:rPr lang="zh-CN" altLang="en-US" sz="1000" dirty="0">
                <a:solidFill>
                  <a:schemeClr val="accent1">
                    <a:lumMod val="50000"/>
                  </a:schemeClr>
                </a:solidFill>
              </a:rPr>
              <a:t>满足累计贡献率为</a:t>
            </a:r>
            <a:r>
              <a:rPr lang="en-US" altLang="zh-CN" sz="1000" dirty="0">
                <a:solidFill>
                  <a:schemeClr val="accent1">
                    <a:lumMod val="50000"/>
                  </a:schemeClr>
                </a:solidFill>
              </a:rPr>
              <a:t>95%</a:t>
            </a:r>
            <a:r>
              <a:rPr lang="zh-CN" altLang="en-US" sz="1000" dirty="0">
                <a:solidFill>
                  <a:schemeClr val="accent1">
                    <a:lumMod val="50000"/>
                  </a:schemeClr>
                </a:solidFill>
              </a:rPr>
              <a:t>的主成分数据</a:t>
            </a:r>
            <a:r>
              <a:rPr lang="en-US" altLang="zh-CN" sz="1000" dirty="0">
                <a:solidFill>
                  <a:schemeClr val="accent1">
                    <a:lumMod val="50000"/>
                  </a:schemeClr>
                </a:solidFill>
              </a:rPr>
              <a:t> </a:t>
            </a:r>
          </a:p>
          <a:p>
            <a:pPr lvl="0"/>
            <a:r>
              <a:rPr lang="en-US" altLang="zh-CN" sz="1200" b="1" dirty="0" smtClean="0">
                <a:solidFill>
                  <a:schemeClr val="accent1">
                    <a:lumMod val="50000"/>
                  </a:schemeClr>
                </a:solidFill>
              </a:rPr>
              <a:t>Y=</a:t>
            </a:r>
            <a:r>
              <a:rPr lang="en-US" altLang="zh-CN" sz="1200" b="1" dirty="0" err="1" smtClean="0">
                <a:solidFill>
                  <a:schemeClr val="accent1">
                    <a:lumMod val="50000"/>
                  </a:schemeClr>
                </a:solidFill>
              </a:rPr>
              <a:t>pca.fit_transform</a:t>
            </a:r>
            <a:r>
              <a:rPr lang="en-US" altLang="zh-CN" sz="1200" b="1" dirty="0" smtClean="0">
                <a:solidFill>
                  <a:schemeClr val="accent1">
                    <a:lumMod val="50000"/>
                  </a:schemeClr>
                </a:solidFill>
              </a:rPr>
              <a:t>(X) </a:t>
            </a:r>
          </a:p>
          <a:p>
            <a:r>
              <a:rPr lang="en-US" altLang="zh-CN" sz="1100" dirty="0">
                <a:solidFill>
                  <a:schemeClr val="accent1">
                    <a:lumMod val="50000"/>
                  </a:schemeClr>
                </a:solidFill>
              </a:rPr>
              <a:t>#</a:t>
            </a:r>
            <a:r>
              <a:rPr lang="zh-CN" altLang="en-US" sz="1000" dirty="0">
                <a:solidFill>
                  <a:schemeClr val="accent1">
                    <a:lumMod val="50000"/>
                  </a:schemeClr>
                </a:solidFill>
              </a:rPr>
              <a:t>贡献率</a:t>
            </a:r>
            <a:endParaRPr lang="en-US" altLang="zh-CN" sz="1000" dirty="0">
              <a:solidFill>
                <a:schemeClr val="accent1">
                  <a:lumMod val="50000"/>
                </a:schemeClr>
              </a:solidFill>
            </a:endParaRPr>
          </a:p>
          <a:p>
            <a:pPr lvl="0"/>
            <a:r>
              <a:rPr lang="en-US" altLang="zh-CN" sz="1200" b="1" dirty="0" err="1" smtClean="0">
                <a:solidFill>
                  <a:schemeClr val="accent1">
                    <a:lumMod val="50000"/>
                  </a:schemeClr>
                </a:solidFill>
              </a:rPr>
              <a:t>gxl</a:t>
            </a:r>
            <a:r>
              <a:rPr lang="en-US" altLang="zh-CN" sz="1200" b="1" dirty="0" smtClean="0">
                <a:solidFill>
                  <a:schemeClr val="accent1">
                    <a:lumMod val="50000"/>
                  </a:schemeClr>
                </a:solidFill>
              </a:rPr>
              <a:t>=</a:t>
            </a:r>
            <a:r>
              <a:rPr lang="en-US" altLang="zh-CN" sz="1200" b="1" dirty="0" err="1" smtClean="0">
                <a:solidFill>
                  <a:schemeClr val="accent1">
                    <a:lumMod val="50000"/>
                  </a:schemeClr>
                </a:solidFill>
              </a:rPr>
              <a:t>pca.explained_variance_ratio</a:t>
            </a:r>
            <a:r>
              <a:rPr lang="en-US" altLang="zh-CN" sz="1200" b="1" dirty="0" smtClean="0">
                <a:solidFill>
                  <a:schemeClr val="accent1">
                    <a:lumMod val="50000"/>
                  </a:schemeClr>
                </a:solidFill>
              </a:rPr>
              <a:t>_ </a:t>
            </a:r>
          </a:p>
          <a:p>
            <a:pPr lvl="0"/>
            <a:endParaRPr lang="en-US" altLang="zh-CN" sz="1200" b="1" dirty="0" smtClean="0">
              <a:solidFill>
                <a:schemeClr val="accent1">
                  <a:lumMod val="50000"/>
                </a:schemeClr>
              </a:solidFill>
            </a:endParaRPr>
          </a:p>
          <a:p>
            <a:pPr lvl="0" indent="180000"/>
            <a:r>
              <a:rPr lang="en-US" altLang="zh-CN" sz="1200" b="1" dirty="0" smtClean="0">
                <a:solidFill>
                  <a:schemeClr val="accent1">
                    <a:lumMod val="50000"/>
                  </a:schemeClr>
                </a:solidFill>
              </a:rPr>
              <a:t>  </a:t>
            </a:r>
            <a:r>
              <a:rPr lang="zh-CN" altLang="en-US" sz="1100" dirty="0">
                <a:solidFill>
                  <a:schemeClr val="accent1">
                    <a:lumMod val="50000"/>
                  </a:schemeClr>
                </a:solidFill>
              </a:rPr>
              <a:t>通过主成分分析，可以获得其主成分，接下来就可以根据获得的主成分计算每个上市公司的综合得分了。根据综合得分，就可以获得上市公司的综合排名。下面将介绍其具体计算流程及程序实现。</a:t>
            </a:r>
          </a:p>
          <a:p>
            <a:pPr lvl="0"/>
            <a:endParaRPr lang="zh-CN" altLang="en-US" sz="1100" b="1" dirty="0">
              <a:solidFill>
                <a:schemeClr val="accent1">
                  <a:lumMod val="50000"/>
                </a:schemeClr>
              </a:solidFill>
            </a:endParaRPr>
          </a:p>
        </p:txBody>
      </p:sp>
      <p:sp>
        <p:nvSpPr>
          <p:cNvPr id="8" name="燕尾形 7"/>
          <p:cNvSpPr/>
          <p:nvPr/>
        </p:nvSpPr>
        <p:spPr bwMode="auto">
          <a:xfrm>
            <a:off x="5508104" y="57281"/>
            <a:ext cx="72000" cy="368599"/>
          </a:xfrm>
          <a:prstGeom prst="chevron">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Tree>
    <p:extLst>
      <p:ext uri="{BB962C8B-B14F-4D97-AF65-F5344CB8AC3E}">
        <p14:creationId xmlns:p14="http://schemas.microsoft.com/office/powerpoint/2010/main" val="2946331377"/>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5" y="33470"/>
            <a:ext cx="3780194" cy="392411"/>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fontAlgn="base">
              <a:spcBef>
                <a:spcPct val="0"/>
              </a:spcBef>
              <a:spcAft>
                <a:spcPct val="0"/>
              </a:spcAft>
              <a:buFont typeface="Arial" pitchFamily="34" charset="0"/>
              <a:buNone/>
            </a:pPr>
            <a:r>
              <a:rPr lang="en-US" altLang="zh-CN" sz="2100" dirty="0">
                <a:solidFill>
                  <a:srgbClr val="FFFFFF"/>
                </a:solidFill>
                <a:latin typeface="微软雅黑"/>
                <a:ea typeface="微软雅黑"/>
              </a:rPr>
              <a:t>8.3.4 </a:t>
            </a:r>
            <a:r>
              <a:rPr lang="zh-CN" altLang="en-US" sz="2100" dirty="0">
                <a:solidFill>
                  <a:srgbClr val="FFFFFF"/>
                </a:solidFill>
                <a:latin typeface="微软雅黑"/>
                <a:ea typeface="微软雅黑"/>
              </a:rPr>
              <a:t>综合排名</a:t>
            </a:r>
          </a:p>
        </p:txBody>
      </p:sp>
      <p:sp>
        <p:nvSpPr>
          <p:cNvPr id="56" name="TextBox 55"/>
          <p:cNvSpPr txBox="1"/>
          <p:nvPr/>
        </p:nvSpPr>
        <p:spPr>
          <a:xfrm>
            <a:off x="75479" y="56565"/>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2493313373"/>
              </p:ext>
            </p:extLst>
          </p:nvPr>
        </p:nvGraphicFramePr>
        <p:xfrm>
          <a:off x="1619672" y="4011910"/>
          <a:ext cx="1455420" cy="969645"/>
        </p:xfrm>
        <a:graphic>
          <a:graphicData uri="http://schemas.openxmlformats.org/drawingml/2006/table">
            <a:tbl>
              <a:tblPr firstRow="1" firstCol="1" bandRow="1"/>
              <a:tblGrid>
                <a:gridCol w="608803"/>
                <a:gridCol w="846617"/>
              </a:tblGrid>
              <a:tr h="0">
                <a:tc>
                  <a:txBody>
                    <a:bodyPr/>
                    <a:lstStyle/>
                    <a:p>
                      <a:pPr algn="l">
                        <a:spcAft>
                          <a:spcPts val="0"/>
                        </a:spcAft>
                      </a:pPr>
                      <a:r>
                        <a:rPr lang="en-US" sz="1050" b="1" kern="100" dirty="0" err="1">
                          <a:solidFill>
                            <a:schemeClr val="tx1"/>
                          </a:solidFill>
                          <a:effectLst/>
                          <a:latin typeface="Calibri"/>
                          <a:ea typeface="宋体"/>
                          <a:cs typeface="Times New Roman"/>
                        </a:rPr>
                        <a:t>Stkcd</a:t>
                      </a:r>
                      <a:endParaRPr lang="zh-CN" sz="1050" b="1" kern="100" dirty="0">
                        <a:solidFill>
                          <a:schemeClr val="tx1"/>
                        </a:solidFill>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050" b="1" kern="100">
                          <a:solidFill>
                            <a:schemeClr val="tx1"/>
                          </a:solidFill>
                          <a:effectLst/>
                          <a:latin typeface="Calibri"/>
                          <a:ea typeface="宋体"/>
                          <a:cs typeface="Times New Roman"/>
                        </a:rPr>
                        <a:t>Stknme</a:t>
                      </a:r>
                      <a:endParaRPr lang="zh-CN" sz="1050" b="1" kern="100">
                        <a:solidFill>
                          <a:schemeClr val="tx1"/>
                        </a:solidFill>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1925">
                <a:tc>
                  <a:txBody>
                    <a:bodyPr/>
                    <a:lstStyle/>
                    <a:p>
                      <a:pPr algn="l">
                        <a:spcAft>
                          <a:spcPts val="0"/>
                        </a:spcAft>
                      </a:pPr>
                      <a:r>
                        <a:rPr lang="en-US" sz="1050" b="1" kern="100">
                          <a:solidFill>
                            <a:schemeClr val="tx1"/>
                          </a:solidFill>
                          <a:effectLst/>
                          <a:latin typeface="Calibri"/>
                          <a:ea typeface="宋体"/>
                          <a:cs typeface="Times New Roman"/>
                        </a:rPr>
                        <a:t>000001</a:t>
                      </a:r>
                      <a:endParaRPr lang="zh-CN" sz="1050" b="1" kern="100">
                        <a:solidFill>
                          <a:schemeClr val="tx1"/>
                        </a:solidFill>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zh-CN" sz="1050" b="1" kern="100">
                          <a:solidFill>
                            <a:schemeClr val="tx1"/>
                          </a:solidFill>
                          <a:effectLst/>
                          <a:latin typeface="Calibri"/>
                          <a:ea typeface="宋体"/>
                          <a:cs typeface="Times New Roman"/>
                        </a:rPr>
                        <a:t>平安银行</a:t>
                      </a: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161925">
                <a:tc>
                  <a:txBody>
                    <a:bodyPr/>
                    <a:lstStyle/>
                    <a:p>
                      <a:pPr algn="l">
                        <a:spcAft>
                          <a:spcPts val="0"/>
                        </a:spcAft>
                      </a:pPr>
                      <a:r>
                        <a:rPr lang="en-US" sz="1050" b="1" kern="100" dirty="0">
                          <a:solidFill>
                            <a:schemeClr val="tx1"/>
                          </a:solidFill>
                          <a:effectLst/>
                          <a:latin typeface="Calibri"/>
                          <a:ea typeface="宋体"/>
                          <a:cs typeface="Times New Roman"/>
                        </a:rPr>
                        <a:t>000002</a:t>
                      </a:r>
                      <a:endParaRPr lang="zh-CN" sz="1050" b="1" kern="100" dirty="0">
                        <a:solidFill>
                          <a:schemeClr val="tx1"/>
                        </a:solidFill>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zh-CN" sz="1050" b="1" kern="100" dirty="0">
                          <a:solidFill>
                            <a:schemeClr val="tx1"/>
                          </a:solidFill>
                          <a:effectLst/>
                          <a:latin typeface="Calibri"/>
                          <a:ea typeface="宋体"/>
                          <a:cs typeface="Times New Roman"/>
                        </a:rPr>
                        <a:t>万科</a:t>
                      </a:r>
                      <a:r>
                        <a:rPr lang="en-US" sz="1050" b="1" kern="100" dirty="0">
                          <a:solidFill>
                            <a:schemeClr val="tx1"/>
                          </a:solidFill>
                          <a:effectLst/>
                          <a:latin typeface="Calibri"/>
                          <a:ea typeface="宋体"/>
                          <a:cs typeface="Times New Roman"/>
                        </a:rPr>
                        <a:t>A</a:t>
                      </a:r>
                      <a:endParaRPr lang="zh-CN" sz="1050" b="1" kern="100" dirty="0">
                        <a:solidFill>
                          <a:schemeClr val="tx1"/>
                        </a:solidFill>
                        <a:effectLst/>
                        <a:latin typeface="Calibri"/>
                        <a:ea typeface="宋体"/>
                        <a:cs typeface="Times New Roman"/>
                      </a:endParaRPr>
                    </a:p>
                  </a:txBody>
                  <a:tcPr marL="68580" marR="68580" marT="0" marB="0" anchor="b">
                    <a:lnL>
                      <a:noFill/>
                    </a:lnL>
                    <a:lnR>
                      <a:noFill/>
                    </a:lnR>
                    <a:lnT>
                      <a:noFill/>
                    </a:lnT>
                    <a:lnB>
                      <a:noFill/>
                    </a:lnB>
                  </a:tcPr>
                </a:tc>
              </a:tr>
              <a:tr h="161925">
                <a:tc>
                  <a:txBody>
                    <a:bodyPr/>
                    <a:lstStyle/>
                    <a:p>
                      <a:pPr algn="l">
                        <a:spcAft>
                          <a:spcPts val="0"/>
                        </a:spcAft>
                      </a:pPr>
                      <a:r>
                        <a:rPr lang="en-US" sz="1050" b="1" kern="100">
                          <a:solidFill>
                            <a:schemeClr val="tx1"/>
                          </a:solidFill>
                          <a:effectLst/>
                          <a:latin typeface="Calibri"/>
                          <a:ea typeface="宋体"/>
                          <a:cs typeface="Times New Roman"/>
                        </a:rPr>
                        <a:t>000003</a:t>
                      </a:r>
                      <a:endParaRPr lang="zh-CN" sz="1050" b="1" kern="100">
                        <a:solidFill>
                          <a:schemeClr val="tx1"/>
                        </a:solidFill>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050" b="1" kern="100" dirty="0">
                          <a:solidFill>
                            <a:schemeClr val="tx1"/>
                          </a:solidFill>
                          <a:effectLst/>
                          <a:latin typeface="Calibri"/>
                          <a:ea typeface="宋体"/>
                          <a:cs typeface="Times New Roman"/>
                        </a:rPr>
                        <a:t>PT </a:t>
                      </a:r>
                      <a:r>
                        <a:rPr lang="zh-CN" sz="1050" b="1" kern="100" dirty="0">
                          <a:solidFill>
                            <a:schemeClr val="tx1"/>
                          </a:solidFill>
                          <a:effectLst/>
                          <a:latin typeface="Calibri"/>
                          <a:ea typeface="宋体"/>
                          <a:cs typeface="Times New Roman"/>
                        </a:rPr>
                        <a:t>金田</a:t>
                      </a:r>
                      <a:r>
                        <a:rPr lang="en-US" sz="1050" b="1" kern="100" dirty="0">
                          <a:solidFill>
                            <a:schemeClr val="tx1"/>
                          </a:solidFill>
                          <a:effectLst/>
                          <a:latin typeface="Calibri"/>
                          <a:ea typeface="宋体"/>
                          <a:cs typeface="Times New Roman"/>
                        </a:rPr>
                        <a:t>A</a:t>
                      </a:r>
                      <a:endParaRPr lang="zh-CN" sz="1050" b="1" kern="100" dirty="0">
                        <a:solidFill>
                          <a:schemeClr val="tx1"/>
                        </a:solidFill>
                        <a:effectLst/>
                        <a:latin typeface="Calibri"/>
                        <a:ea typeface="宋体"/>
                        <a:cs typeface="Times New Roman"/>
                      </a:endParaRPr>
                    </a:p>
                  </a:txBody>
                  <a:tcPr marL="68580" marR="68580" marT="0" marB="0" anchor="b">
                    <a:lnL>
                      <a:noFill/>
                    </a:lnL>
                    <a:lnR>
                      <a:noFill/>
                    </a:lnR>
                    <a:lnT>
                      <a:noFill/>
                    </a:lnT>
                    <a:lnB>
                      <a:noFill/>
                    </a:lnB>
                  </a:tcPr>
                </a:tc>
              </a:tr>
              <a:tr h="161925">
                <a:tc>
                  <a:txBody>
                    <a:bodyPr/>
                    <a:lstStyle/>
                    <a:p>
                      <a:pPr algn="l">
                        <a:spcAft>
                          <a:spcPts val="0"/>
                        </a:spcAft>
                      </a:pPr>
                      <a:r>
                        <a:rPr lang="en-US" sz="1050" b="1" kern="100">
                          <a:solidFill>
                            <a:schemeClr val="tx1"/>
                          </a:solidFill>
                          <a:effectLst/>
                          <a:latin typeface="Calibri"/>
                          <a:ea typeface="宋体"/>
                          <a:cs typeface="Times New Roman"/>
                        </a:rPr>
                        <a:t>000004</a:t>
                      </a:r>
                      <a:endParaRPr lang="zh-CN" sz="1050" b="1" kern="100">
                        <a:solidFill>
                          <a:schemeClr val="tx1"/>
                        </a:solidFill>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zh-CN" sz="1050" b="1" kern="100" dirty="0">
                          <a:solidFill>
                            <a:schemeClr val="tx1"/>
                          </a:solidFill>
                          <a:effectLst/>
                          <a:latin typeface="Calibri"/>
                          <a:ea typeface="宋体"/>
                          <a:cs typeface="Times New Roman"/>
                        </a:rPr>
                        <a:t>国农科技</a:t>
                      </a:r>
                    </a:p>
                  </a:txBody>
                  <a:tcPr marL="68580" marR="68580" marT="0" marB="0" anchor="b">
                    <a:lnL>
                      <a:noFill/>
                    </a:lnL>
                    <a:lnR>
                      <a:noFill/>
                    </a:lnR>
                    <a:lnT>
                      <a:noFill/>
                    </a:lnT>
                    <a:lnB>
                      <a:noFill/>
                    </a:lnB>
                  </a:tcPr>
                </a:tc>
              </a:tr>
              <a:tr h="161925">
                <a:tc>
                  <a:txBody>
                    <a:bodyPr/>
                    <a:lstStyle/>
                    <a:p>
                      <a:pPr algn="l">
                        <a:spcAft>
                          <a:spcPts val="0"/>
                        </a:spcAft>
                      </a:pPr>
                      <a:r>
                        <a:rPr lang="zh-CN" sz="1050" b="1" kern="100">
                          <a:solidFill>
                            <a:schemeClr val="tx1"/>
                          </a:solidFill>
                          <a:effectLst/>
                          <a:latin typeface="Calibri"/>
                          <a:ea typeface="宋体"/>
                          <a:cs typeface="Times New Roman"/>
                        </a:rPr>
                        <a:t>……</a:t>
                      </a: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050" b="1" kern="100" dirty="0">
                          <a:solidFill>
                            <a:schemeClr val="tx1"/>
                          </a:solidFill>
                          <a:effectLst/>
                          <a:latin typeface="Calibri"/>
                          <a:ea typeface="宋体"/>
                          <a:cs typeface="Times New Roman"/>
                        </a:rPr>
                        <a:t>……</a:t>
                      </a: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179512" y="555526"/>
            <a:ext cx="5616624" cy="3616375"/>
          </a:xfrm>
          <a:prstGeom prst="rect">
            <a:avLst/>
          </a:prstGeom>
          <a:noFill/>
        </p:spPr>
        <p:txBody>
          <a:bodyPr wrap="square" rtlCol="0">
            <a:spAutoFit/>
          </a:bodyPr>
          <a:lstStyle/>
          <a:p>
            <a:r>
              <a:rPr lang="en-US" altLang="zh-CN" sz="1100" dirty="0">
                <a:solidFill>
                  <a:schemeClr val="accent1">
                    <a:lumMod val="50000"/>
                  </a:schemeClr>
                </a:solidFill>
              </a:rPr>
              <a:t>1. </a:t>
            </a:r>
            <a:r>
              <a:rPr lang="zh-CN" altLang="zh-CN" sz="1100" dirty="0">
                <a:solidFill>
                  <a:schemeClr val="accent1">
                    <a:lumMod val="50000"/>
                  </a:schemeClr>
                </a:solidFill>
              </a:rPr>
              <a:t>计算综合得分，其中综合得分等于提取的各个主成分与其贡献率的加权求和</a:t>
            </a:r>
          </a:p>
          <a:p>
            <a:r>
              <a:rPr lang="en-US" altLang="zh-CN" sz="1100" b="1" dirty="0">
                <a:solidFill>
                  <a:schemeClr val="accent1">
                    <a:lumMod val="50000"/>
                  </a:schemeClr>
                </a:solidFill>
              </a:rPr>
              <a:t>import </a:t>
            </a:r>
            <a:r>
              <a:rPr lang="en-US" altLang="zh-CN" sz="1100" b="1" dirty="0" err="1">
                <a:solidFill>
                  <a:schemeClr val="accent1">
                    <a:lumMod val="50000"/>
                  </a:schemeClr>
                </a:solidFill>
              </a:rPr>
              <a:t>numpy</a:t>
            </a:r>
            <a:r>
              <a:rPr lang="en-US" altLang="zh-CN" sz="1100" b="1" dirty="0">
                <a:solidFill>
                  <a:schemeClr val="accent1">
                    <a:lumMod val="50000"/>
                  </a:schemeClr>
                </a:solidFill>
              </a:rPr>
              <a:t> as </a:t>
            </a:r>
            <a:r>
              <a:rPr lang="en-US" altLang="zh-CN" sz="1100" b="1" dirty="0" err="1">
                <a:solidFill>
                  <a:schemeClr val="accent1">
                    <a:lumMod val="50000"/>
                  </a:schemeClr>
                </a:solidFill>
              </a:rPr>
              <a:t>np</a:t>
            </a:r>
            <a:endParaRPr lang="zh-CN" altLang="zh-CN" sz="1100" b="1" dirty="0">
              <a:solidFill>
                <a:schemeClr val="accent1">
                  <a:lumMod val="50000"/>
                </a:schemeClr>
              </a:solidFill>
            </a:endParaRPr>
          </a:p>
          <a:p>
            <a:r>
              <a:rPr lang="en-US" altLang="zh-CN" sz="1100" b="1" dirty="0">
                <a:solidFill>
                  <a:schemeClr val="accent1">
                    <a:lumMod val="50000"/>
                  </a:schemeClr>
                </a:solidFill>
              </a:rPr>
              <a:t>F=</a:t>
            </a:r>
            <a:r>
              <a:rPr lang="en-US" altLang="zh-CN" sz="1100" b="1" dirty="0" err="1">
                <a:solidFill>
                  <a:schemeClr val="accent1">
                    <a:lumMod val="50000"/>
                  </a:schemeClr>
                </a:solidFill>
              </a:rPr>
              <a:t>np.zeros</a:t>
            </a:r>
            <a:r>
              <a:rPr lang="en-US" altLang="zh-CN" sz="1100" b="1" dirty="0">
                <a:solidFill>
                  <a:schemeClr val="accent1">
                    <a:lumMod val="50000"/>
                  </a:schemeClr>
                </a:solidFill>
              </a:rPr>
              <a:t>((</a:t>
            </a:r>
            <a:r>
              <a:rPr lang="en-US" altLang="zh-CN" sz="1100" b="1" dirty="0" err="1">
                <a:solidFill>
                  <a:schemeClr val="accent1">
                    <a:lumMod val="50000"/>
                  </a:schemeClr>
                </a:solidFill>
              </a:rPr>
              <a:t>len</a:t>
            </a:r>
            <a:r>
              <a:rPr lang="en-US" altLang="zh-CN" sz="1100" b="1" dirty="0">
                <a:solidFill>
                  <a:schemeClr val="accent1">
                    <a:lumMod val="50000"/>
                  </a:schemeClr>
                </a:solidFill>
              </a:rPr>
              <a:t>(Y)))       </a:t>
            </a:r>
            <a:r>
              <a:rPr lang="en-US" altLang="zh-CN" sz="1000" dirty="0">
                <a:solidFill>
                  <a:schemeClr val="accent1"/>
                </a:solidFill>
              </a:rPr>
              <a:t>#</a:t>
            </a:r>
            <a:r>
              <a:rPr lang="zh-CN" altLang="zh-CN" sz="1000" dirty="0">
                <a:solidFill>
                  <a:schemeClr val="accent1"/>
                </a:solidFill>
              </a:rPr>
              <a:t>预定义综合得分数组</a:t>
            </a:r>
            <a:r>
              <a:rPr lang="en-US" altLang="zh-CN" sz="1000" dirty="0">
                <a:solidFill>
                  <a:schemeClr val="accent1"/>
                </a:solidFill>
              </a:rPr>
              <a:t>F</a:t>
            </a:r>
            <a:endParaRPr lang="zh-CN" altLang="zh-CN" sz="1000" dirty="0">
              <a:solidFill>
                <a:schemeClr val="accent1"/>
              </a:solidFill>
            </a:endParaRPr>
          </a:p>
          <a:p>
            <a:r>
              <a:rPr lang="en-US" altLang="zh-CN" sz="1100" b="1" dirty="0">
                <a:solidFill>
                  <a:schemeClr val="accent1">
                    <a:lumMod val="50000"/>
                  </a:schemeClr>
                </a:solidFill>
              </a:rPr>
              <a:t>for i in range(</a:t>
            </a:r>
            <a:r>
              <a:rPr lang="en-US" altLang="zh-CN" sz="1100" b="1" dirty="0" err="1">
                <a:solidFill>
                  <a:schemeClr val="accent1">
                    <a:lumMod val="50000"/>
                  </a:schemeClr>
                </a:solidFill>
              </a:rPr>
              <a:t>len</a:t>
            </a:r>
            <a:r>
              <a:rPr lang="en-US" altLang="zh-CN" sz="1100" b="1" dirty="0">
                <a:solidFill>
                  <a:schemeClr val="accent1">
                    <a:lumMod val="50000"/>
                  </a:schemeClr>
                </a:solidFill>
              </a:rPr>
              <a:t>(</a:t>
            </a:r>
            <a:r>
              <a:rPr lang="en-US" altLang="zh-CN" sz="1100" b="1" dirty="0" err="1">
                <a:solidFill>
                  <a:schemeClr val="accent1">
                    <a:lumMod val="50000"/>
                  </a:schemeClr>
                </a:solidFill>
              </a:rPr>
              <a:t>gxl</a:t>
            </a:r>
            <a:r>
              <a:rPr lang="en-US" altLang="zh-CN" sz="1100" b="1" dirty="0">
                <a:solidFill>
                  <a:schemeClr val="accent1">
                    <a:lumMod val="50000"/>
                  </a:schemeClr>
                </a:solidFill>
              </a:rPr>
              <a:t>)):</a:t>
            </a:r>
            <a:endParaRPr lang="zh-CN" altLang="zh-CN" sz="1100" b="1" dirty="0">
              <a:solidFill>
                <a:schemeClr val="accent1">
                  <a:lumMod val="50000"/>
                </a:schemeClr>
              </a:solidFill>
            </a:endParaRPr>
          </a:p>
          <a:p>
            <a:r>
              <a:rPr lang="en-US" altLang="zh-CN" sz="1100" b="1" dirty="0">
                <a:solidFill>
                  <a:schemeClr val="accent1">
                    <a:lumMod val="50000"/>
                  </a:schemeClr>
                </a:solidFill>
              </a:rPr>
              <a:t>    f=Y[:,i]*</a:t>
            </a:r>
            <a:r>
              <a:rPr lang="en-US" altLang="zh-CN" sz="1100" b="1" dirty="0" err="1">
                <a:solidFill>
                  <a:schemeClr val="accent1">
                    <a:lumMod val="50000"/>
                  </a:schemeClr>
                </a:solidFill>
              </a:rPr>
              <a:t>gxl</a:t>
            </a:r>
            <a:r>
              <a:rPr lang="en-US" altLang="zh-CN" sz="1100" b="1" dirty="0">
                <a:solidFill>
                  <a:schemeClr val="accent1">
                    <a:lumMod val="50000"/>
                  </a:schemeClr>
                </a:solidFill>
              </a:rPr>
              <a:t>[i]       </a:t>
            </a:r>
            <a:r>
              <a:rPr lang="en-US" altLang="zh-CN" sz="1100" dirty="0">
                <a:solidFill>
                  <a:schemeClr val="accent1"/>
                </a:solidFill>
              </a:rPr>
              <a:t> </a:t>
            </a:r>
            <a:r>
              <a:rPr lang="en-US" altLang="zh-CN" sz="1000" dirty="0">
                <a:solidFill>
                  <a:schemeClr val="accent1"/>
                </a:solidFill>
              </a:rPr>
              <a:t>#</a:t>
            </a:r>
            <a:r>
              <a:rPr lang="zh-CN" altLang="zh-CN" sz="1000" dirty="0">
                <a:solidFill>
                  <a:schemeClr val="accent1"/>
                </a:solidFill>
              </a:rPr>
              <a:t>第</a:t>
            </a:r>
            <a:r>
              <a:rPr lang="en-US" altLang="zh-CN" sz="1000" dirty="0">
                <a:solidFill>
                  <a:schemeClr val="accent1"/>
                </a:solidFill>
              </a:rPr>
              <a:t>i</a:t>
            </a:r>
            <a:r>
              <a:rPr lang="zh-CN" altLang="zh-CN" sz="1000" dirty="0">
                <a:solidFill>
                  <a:schemeClr val="accent1"/>
                </a:solidFill>
              </a:rPr>
              <a:t>个主成分与第</a:t>
            </a:r>
            <a:r>
              <a:rPr lang="en-US" altLang="zh-CN" sz="1000" dirty="0">
                <a:solidFill>
                  <a:schemeClr val="accent1"/>
                </a:solidFill>
              </a:rPr>
              <a:t>i</a:t>
            </a:r>
            <a:r>
              <a:rPr lang="zh-CN" altLang="zh-CN" sz="1000" dirty="0">
                <a:solidFill>
                  <a:schemeClr val="accent1"/>
                </a:solidFill>
              </a:rPr>
              <a:t>个主成分贡献率的乘积</a:t>
            </a:r>
          </a:p>
          <a:p>
            <a:pPr>
              <a:spcAft>
                <a:spcPts val="400"/>
              </a:spcAft>
            </a:pPr>
            <a:r>
              <a:rPr lang="en-US" altLang="zh-CN" sz="1100" b="1" dirty="0">
                <a:solidFill>
                  <a:schemeClr val="accent1">
                    <a:lumMod val="50000"/>
                  </a:schemeClr>
                </a:solidFill>
              </a:rPr>
              <a:t>F=</a:t>
            </a:r>
            <a:r>
              <a:rPr lang="en-US" altLang="zh-CN" sz="1100" b="1" dirty="0" err="1">
                <a:solidFill>
                  <a:schemeClr val="accent1">
                    <a:lumMod val="50000"/>
                  </a:schemeClr>
                </a:solidFill>
              </a:rPr>
              <a:t>F+f</a:t>
            </a:r>
            <a:r>
              <a:rPr lang="en-US" altLang="zh-CN" sz="1100" b="1" dirty="0">
                <a:solidFill>
                  <a:schemeClr val="accent1">
                    <a:lumMod val="50000"/>
                  </a:schemeClr>
                </a:solidFill>
              </a:rPr>
              <a:t>  </a:t>
            </a:r>
            <a:r>
              <a:rPr lang="en-US" altLang="zh-CN" sz="1200" dirty="0">
                <a:solidFill>
                  <a:schemeClr val="accent1">
                    <a:lumMod val="50000"/>
                  </a:schemeClr>
                </a:solidFill>
              </a:rPr>
              <a:t>            </a:t>
            </a:r>
            <a:r>
              <a:rPr lang="en-US" altLang="zh-CN" sz="1000" dirty="0">
                <a:solidFill>
                  <a:schemeClr val="accent1"/>
                </a:solidFill>
              </a:rPr>
              <a:t>#</a:t>
            </a:r>
            <a:r>
              <a:rPr lang="zh-CN" altLang="zh-CN" sz="1000" dirty="0">
                <a:solidFill>
                  <a:schemeClr val="accent1"/>
                </a:solidFill>
              </a:rPr>
              <a:t>数组累积求和</a:t>
            </a:r>
          </a:p>
          <a:p>
            <a:r>
              <a:rPr lang="en-US" altLang="zh-CN" sz="1100" dirty="0">
                <a:solidFill>
                  <a:schemeClr val="accent1">
                    <a:lumMod val="50000"/>
                  </a:schemeClr>
                </a:solidFill>
              </a:rPr>
              <a:t>2. </a:t>
            </a:r>
            <a:r>
              <a:rPr lang="zh-CN" altLang="zh-CN" sz="1100" dirty="0">
                <a:solidFill>
                  <a:schemeClr val="accent1">
                    <a:lumMod val="50000"/>
                  </a:schemeClr>
                </a:solidFill>
              </a:rPr>
              <a:t>整理排名结果</a:t>
            </a:r>
          </a:p>
          <a:p>
            <a:pPr indent="216000">
              <a:spcAft>
                <a:spcPts val="400"/>
              </a:spcAft>
            </a:pPr>
            <a:r>
              <a:rPr lang="zh-CN" altLang="zh-CN" sz="1050" dirty="0">
                <a:solidFill>
                  <a:schemeClr val="accent1">
                    <a:lumMod val="50000"/>
                  </a:schemeClr>
                </a:solidFill>
              </a:rPr>
              <a:t>为了方便进行排名，采用序列作为排名结果储存数据结构。排名包括两种方式，一种</a:t>
            </a:r>
            <a:r>
              <a:rPr lang="en-US" altLang="zh-CN" sz="1050" dirty="0">
                <a:solidFill>
                  <a:schemeClr val="accent1">
                    <a:lumMod val="50000"/>
                  </a:schemeClr>
                </a:solidFill>
              </a:rPr>
              <a:t>index</a:t>
            </a:r>
            <a:r>
              <a:rPr lang="zh-CN" altLang="zh-CN" sz="1050" dirty="0">
                <a:solidFill>
                  <a:schemeClr val="accent1">
                    <a:lumMod val="50000"/>
                  </a:schemeClr>
                </a:solidFill>
              </a:rPr>
              <a:t>为股票代码，方面后续收益率计算使用；一种</a:t>
            </a:r>
            <a:r>
              <a:rPr lang="en-US" altLang="zh-CN" sz="1050" dirty="0">
                <a:solidFill>
                  <a:schemeClr val="accent1">
                    <a:lumMod val="50000"/>
                  </a:schemeClr>
                </a:solidFill>
              </a:rPr>
              <a:t>index</a:t>
            </a:r>
            <a:r>
              <a:rPr lang="zh-CN" altLang="zh-CN" sz="1050" dirty="0">
                <a:solidFill>
                  <a:schemeClr val="accent1">
                    <a:lumMod val="50000"/>
                  </a:schemeClr>
                </a:solidFill>
              </a:rPr>
              <a:t>为股票中文简称，方便查看其排名结果。</a:t>
            </a:r>
          </a:p>
          <a:p>
            <a:r>
              <a:rPr lang="zh-CN" altLang="zh-CN" sz="1100" b="1" dirty="0">
                <a:solidFill>
                  <a:schemeClr val="accent1">
                    <a:lumMod val="50000"/>
                  </a:schemeClr>
                </a:solidFill>
              </a:rPr>
              <a:t>第一种方式如下</a:t>
            </a:r>
            <a:r>
              <a:rPr lang="zh-CN" altLang="zh-CN" sz="1200" dirty="0" smtClean="0">
                <a:solidFill>
                  <a:schemeClr val="accent1">
                    <a:lumMod val="50000"/>
                  </a:schemeClr>
                </a:solidFill>
              </a:rPr>
              <a:t>：</a:t>
            </a:r>
            <a:endParaRPr lang="en-US" altLang="zh-CN" sz="1200" dirty="0" smtClean="0">
              <a:solidFill>
                <a:schemeClr val="accent1">
                  <a:lumMod val="50000"/>
                </a:schemeClr>
              </a:solidFill>
            </a:endParaRPr>
          </a:p>
          <a:p>
            <a:r>
              <a:rPr lang="en-US" altLang="zh-CN" sz="1000" dirty="0">
                <a:solidFill>
                  <a:schemeClr val="accent1"/>
                </a:solidFill>
              </a:rPr>
              <a:t>#</a:t>
            </a:r>
            <a:r>
              <a:rPr lang="zh-CN" altLang="zh-CN" sz="1000" dirty="0">
                <a:solidFill>
                  <a:schemeClr val="accent1"/>
                </a:solidFill>
              </a:rPr>
              <a:t>构建序列，值为综合得分</a:t>
            </a:r>
            <a:r>
              <a:rPr lang="en-US" altLang="zh-CN" sz="1000" dirty="0">
                <a:solidFill>
                  <a:schemeClr val="accent1"/>
                </a:solidFill>
              </a:rPr>
              <a:t>F</a:t>
            </a:r>
            <a:r>
              <a:rPr lang="zh-CN" altLang="zh-CN" sz="1000" dirty="0">
                <a:solidFill>
                  <a:schemeClr val="accent1"/>
                </a:solidFill>
              </a:rPr>
              <a:t>，</a:t>
            </a:r>
            <a:r>
              <a:rPr lang="en-US" altLang="zh-CN" sz="1000" dirty="0">
                <a:solidFill>
                  <a:schemeClr val="accent1"/>
                </a:solidFill>
              </a:rPr>
              <a:t>index</a:t>
            </a:r>
            <a:r>
              <a:rPr lang="zh-CN" altLang="zh-CN" sz="1000" dirty="0">
                <a:solidFill>
                  <a:schemeClr val="accent1"/>
                </a:solidFill>
              </a:rPr>
              <a:t>为股票代码</a:t>
            </a:r>
          </a:p>
          <a:p>
            <a:r>
              <a:rPr lang="en-US" altLang="zh-CN" sz="1100" b="1" dirty="0" smtClean="0">
                <a:solidFill>
                  <a:schemeClr val="accent1">
                    <a:lumMod val="50000"/>
                  </a:schemeClr>
                </a:solidFill>
              </a:rPr>
              <a:t>fs1=</a:t>
            </a:r>
            <a:r>
              <a:rPr lang="en-US" altLang="zh-CN" sz="1100" b="1" dirty="0" err="1" smtClean="0">
                <a:solidFill>
                  <a:schemeClr val="accent1">
                    <a:lumMod val="50000"/>
                  </a:schemeClr>
                </a:solidFill>
              </a:rPr>
              <a:t>pd.Series</a:t>
            </a:r>
            <a:r>
              <a:rPr lang="en-US" altLang="zh-CN" sz="1100" b="1" dirty="0" smtClean="0">
                <a:solidFill>
                  <a:schemeClr val="accent1">
                    <a:lumMod val="50000"/>
                  </a:schemeClr>
                </a:solidFill>
              </a:rPr>
              <a:t>(</a:t>
            </a:r>
            <a:r>
              <a:rPr lang="en-US" altLang="zh-CN" sz="1100" b="1" dirty="0" err="1" smtClean="0">
                <a:solidFill>
                  <a:schemeClr val="accent1">
                    <a:lumMod val="50000"/>
                  </a:schemeClr>
                </a:solidFill>
              </a:rPr>
              <a:t>F,index</a:t>
            </a:r>
            <a:r>
              <a:rPr lang="en-US" altLang="zh-CN" sz="1100" b="1" dirty="0" smtClean="0">
                <a:solidFill>
                  <a:schemeClr val="accent1">
                    <a:lumMod val="50000"/>
                  </a:schemeClr>
                </a:solidFill>
              </a:rPr>
              <a:t>=data2</a:t>
            </a:r>
            <a:r>
              <a:rPr lang="en-US" altLang="zh-CN" sz="1100" b="1" dirty="0">
                <a:solidFill>
                  <a:schemeClr val="accent1">
                    <a:lumMod val="50000"/>
                  </a:schemeClr>
                </a:solidFill>
              </a:rPr>
              <a:t>['</a:t>
            </a:r>
            <a:r>
              <a:rPr lang="en-US" altLang="zh-CN" sz="1100" b="1" dirty="0" err="1">
                <a:solidFill>
                  <a:schemeClr val="accent1">
                    <a:lumMod val="50000"/>
                  </a:schemeClr>
                </a:solidFill>
              </a:rPr>
              <a:t>Stkcd</a:t>
            </a:r>
            <a:r>
              <a:rPr lang="en-US" altLang="zh-CN" sz="1100" b="1" dirty="0">
                <a:solidFill>
                  <a:schemeClr val="accent1">
                    <a:lumMod val="50000"/>
                  </a:schemeClr>
                </a:solidFill>
              </a:rPr>
              <a:t>'].</a:t>
            </a:r>
            <a:r>
              <a:rPr lang="en-US" altLang="zh-CN" sz="1100" b="1" dirty="0" smtClean="0">
                <a:solidFill>
                  <a:schemeClr val="accent1">
                    <a:lumMod val="50000"/>
                  </a:schemeClr>
                </a:solidFill>
              </a:rPr>
              <a:t>value</a:t>
            </a:r>
            <a:r>
              <a:rPr lang="en-US" altLang="zh-CN" sz="1100" b="1" dirty="0">
                <a:solidFill>
                  <a:schemeClr val="accent1">
                    <a:lumMod val="50000"/>
                  </a:schemeClr>
                </a:solidFill>
              </a:rPr>
              <a:t>s) </a:t>
            </a:r>
            <a:endParaRPr lang="en-US" altLang="zh-CN" sz="1100" b="1" dirty="0" smtClean="0">
              <a:solidFill>
                <a:schemeClr val="accent1">
                  <a:lumMod val="50000"/>
                </a:schemeClr>
              </a:solidFill>
            </a:endParaRPr>
          </a:p>
          <a:p>
            <a:r>
              <a:rPr lang="en-US" altLang="zh-CN" sz="1000" dirty="0">
                <a:solidFill>
                  <a:schemeClr val="accent1"/>
                </a:solidFill>
              </a:rPr>
              <a:t>#</a:t>
            </a:r>
            <a:r>
              <a:rPr lang="zh-CN" altLang="zh-CN" sz="1000" dirty="0">
                <a:solidFill>
                  <a:schemeClr val="accent1"/>
                </a:solidFill>
              </a:rPr>
              <a:t>结果排名，降序</a:t>
            </a:r>
            <a:endParaRPr lang="en-US" altLang="zh-CN" sz="1000" dirty="0">
              <a:solidFill>
                <a:schemeClr val="accent1"/>
              </a:solidFill>
            </a:endParaRPr>
          </a:p>
          <a:p>
            <a:pPr>
              <a:spcAft>
                <a:spcPts val="400"/>
              </a:spcAft>
            </a:pPr>
            <a:r>
              <a:rPr lang="en-US" altLang="zh-CN" sz="1100" b="1" dirty="0" smtClean="0">
                <a:solidFill>
                  <a:schemeClr val="accent1">
                    <a:lumMod val="50000"/>
                  </a:schemeClr>
                </a:solidFill>
              </a:rPr>
              <a:t>Fscore1=fs1.sort_values(ascending=False</a:t>
            </a:r>
            <a:r>
              <a:rPr lang="en-US" altLang="zh-CN" sz="1100" b="1" dirty="0">
                <a:solidFill>
                  <a:schemeClr val="accent1">
                    <a:lumMod val="50000"/>
                  </a:schemeClr>
                </a:solidFill>
              </a:rPr>
              <a:t>) </a:t>
            </a:r>
            <a:endParaRPr lang="en-US" altLang="zh-CN" sz="1100" b="1" dirty="0" smtClean="0">
              <a:solidFill>
                <a:schemeClr val="accent1">
                  <a:lumMod val="50000"/>
                </a:schemeClr>
              </a:solidFill>
            </a:endParaRPr>
          </a:p>
          <a:p>
            <a:r>
              <a:rPr lang="zh-CN" altLang="zh-CN" sz="1100" b="1" dirty="0" smtClean="0">
                <a:solidFill>
                  <a:schemeClr val="accent1">
                    <a:lumMod val="50000"/>
                  </a:schemeClr>
                </a:solidFill>
              </a:rPr>
              <a:t>第二</a:t>
            </a:r>
            <a:r>
              <a:rPr lang="zh-CN" altLang="zh-CN" sz="1100" b="1" dirty="0">
                <a:solidFill>
                  <a:schemeClr val="accent1">
                    <a:lumMod val="50000"/>
                  </a:schemeClr>
                </a:solidFill>
              </a:rPr>
              <a:t>种方式如下</a:t>
            </a:r>
            <a:r>
              <a:rPr lang="zh-CN" altLang="zh-CN" sz="1200" dirty="0">
                <a:solidFill>
                  <a:schemeClr val="accent1">
                    <a:lumMod val="50000"/>
                  </a:schemeClr>
                </a:solidFill>
              </a:rPr>
              <a:t>：</a:t>
            </a:r>
          </a:p>
          <a:p>
            <a:pPr indent="216000"/>
            <a:r>
              <a:rPr lang="zh-CN" altLang="zh-CN" sz="1050" dirty="0">
                <a:solidFill>
                  <a:schemeClr val="accent1">
                    <a:lumMod val="50000"/>
                  </a:schemeClr>
                </a:solidFill>
              </a:rPr>
              <a:t>首先获取主成分分析指标数据对应的上市公司名称，可以通过</a:t>
            </a:r>
            <a:r>
              <a:rPr lang="en-US" altLang="zh-CN" sz="1050" dirty="0">
                <a:solidFill>
                  <a:schemeClr val="accent1">
                    <a:lumMod val="50000"/>
                  </a:schemeClr>
                </a:solidFill>
              </a:rPr>
              <a:t>data2</a:t>
            </a:r>
            <a:r>
              <a:rPr lang="zh-CN" altLang="zh-CN" sz="1050" dirty="0">
                <a:solidFill>
                  <a:schemeClr val="accent1">
                    <a:lumMod val="50000"/>
                  </a:schemeClr>
                </a:solidFill>
              </a:rPr>
              <a:t>数据（经过预处理的财务指标数据，见</a:t>
            </a:r>
            <a:r>
              <a:rPr lang="en-US" altLang="zh-CN" sz="1050" dirty="0">
                <a:solidFill>
                  <a:schemeClr val="accent1">
                    <a:lumMod val="50000"/>
                  </a:schemeClr>
                </a:solidFill>
              </a:rPr>
              <a:t>8.3.2</a:t>
            </a:r>
            <a:r>
              <a:rPr lang="zh-CN" altLang="zh-CN" sz="1050" dirty="0">
                <a:solidFill>
                  <a:schemeClr val="accent1">
                    <a:lumMod val="50000"/>
                  </a:schemeClr>
                </a:solidFill>
              </a:rPr>
              <a:t>）中的股票代码关联上市公司信息表（</a:t>
            </a:r>
            <a:r>
              <a:rPr lang="en-US" altLang="zh-CN" sz="1050" dirty="0">
                <a:solidFill>
                  <a:schemeClr val="accent1">
                    <a:lumMod val="50000"/>
                  </a:schemeClr>
                </a:solidFill>
              </a:rPr>
              <a:t>TRD_Co.xlsx</a:t>
            </a:r>
            <a:r>
              <a:rPr lang="zh-CN" altLang="zh-CN" sz="1050" dirty="0">
                <a:solidFill>
                  <a:schemeClr val="accent1">
                    <a:lumMod val="50000"/>
                  </a:schemeClr>
                </a:solidFill>
              </a:rPr>
              <a:t>）筛选获得。</a:t>
            </a:r>
            <a:r>
              <a:rPr lang="en-US" altLang="zh-CN" sz="1050" dirty="0">
                <a:solidFill>
                  <a:schemeClr val="accent1">
                    <a:lumMod val="50000"/>
                  </a:schemeClr>
                </a:solidFill>
              </a:rPr>
              <a:t>TRD_Co.xlsx</a:t>
            </a:r>
            <a:r>
              <a:rPr lang="zh-CN" altLang="zh-CN" sz="1050" dirty="0">
                <a:solidFill>
                  <a:schemeClr val="accent1">
                    <a:lumMod val="50000"/>
                  </a:schemeClr>
                </a:solidFill>
              </a:rPr>
              <a:t>数据表详细信息如表</a:t>
            </a:r>
            <a:r>
              <a:rPr lang="en-US" altLang="zh-CN" sz="1050" dirty="0">
                <a:solidFill>
                  <a:schemeClr val="accent1">
                    <a:lumMod val="50000"/>
                  </a:schemeClr>
                </a:solidFill>
              </a:rPr>
              <a:t>8-2</a:t>
            </a:r>
            <a:r>
              <a:rPr lang="zh-CN" altLang="zh-CN" sz="1050" dirty="0">
                <a:solidFill>
                  <a:schemeClr val="accent1">
                    <a:lumMod val="50000"/>
                  </a:schemeClr>
                </a:solidFill>
              </a:rPr>
              <a:t>所示。</a:t>
            </a:r>
          </a:p>
          <a:p>
            <a:endParaRPr lang="zh-CN" altLang="en-US" sz="1200" dirty="0">
              <a:solidFill>
                <a:schemeClr val="accent1">
                  <a:lumMod val="50000"/>
                </a:schemeClr>
              </a:solidFill>
            </a:endParaRPr>
          </a:p>
        </p:txBody>
      </p:sp>
      <p:sp>
        <p:nvSpPr>
          <p:cNvPr id="8" name="TextBox 7"/>
          <p:cNvSpPr txBox="1"/>
          <p:nvPr/>
        </p:nvSpPr>
        <p:spPr>
          <a:xfrm>
            <a:off x="5747676" y="555526"/>
            <a:ext cx="3360828" cy="2431435"/>
          </a:xfrm>
          <a:prstGeom prst="rect">
            <a:avLst/>
          </a:prstGeom>
          <a:noFill/>
        </p:spPr>
        <p:txBody>
          <a:bodyPr wrap="square" rtlCol="0">
            <a:spAutoFit/>
          </a:bodyPr>
          <a:lstStyle/>
          <a:p>
            <a:r>
              <a:rPr lang="zh-CN" altLang="zh-CN" sz="1050" dirty="0">
                <a:solidFill>
                  <a:schemeClr val="accent1">
                    <a:lumMod val="50000"/>
                  </a:schemeClr>
                </a:solidFill>
              </a:rPr>
              <a:t>其中</a:t>
            </a:r>
            <a:r>
              <a:rPr lang="en-US" altLang="zh-CN" sz="1050" dirty="0" err="1">
                <a:solidFill>
                  <a:schemeClr val="accent1">
                    <a:lumMod val="50000"/>
                  </a:schemeClr>
                </a:solidFill>
              </a:rPr>
              <a:t>Stkcd</a:t>
            </a:r>
            <a:r>
              <a:rPr lang="zh-CN" altLang="zh-CN" sz="1050" dirty="0">
                <a:solidFill>
                  <a:schemeClr val="accent1">
                    <a:lumMod val="50000"/>
                  </a:schemeClr>
                </a:solidFill>
              </a:rPr>
              <a:t>为股票代码，</a:t>
            </a:r>
            <a:r>
              <a:rPr lang="en-US" altLang="zh-CN" sz="1050" dirty="0" err="1">
                <a:solidFill>
                  <a:schemeClr val="accent1">
                    <a:lumMod val="50000"/>
                  </a:schemeClr>
                </a:solidFill>
              </a:rPr>
              <a:t>Stknme</a:t>
            </a:r>
            <a:r>
              <a:rPr lang="zh-CN" altLang="zh-CN" sz="1050" dirty="0">
                <a:solidFill>
                  <a:schemeClr val="accent1">
                    <a:lumMod val="50000"/>
                  </a:schemeClr>
                </a:solidFill>
              </a:rPr>
              <a:t>为股票简称。示例代码如下：</a:t>
            </a:r>
          </a:p>
          <a:p>
            <a:r>
              <a:rPr lang="en-US" altLang="zh-CN" sz="1100" b="1" dirty="0">
                <a:solidFill>
                  <a:schemeClr val="accent1">
                    <a:lumMod val="50000"/>
                  </a:schemeClr>
                </a:solidFill>
              </a:rPr>
              <a:t>co=</a:t>
            </a:r>
            <a:r>
              <a:rPr lang="en-US" altLang="zh-CN" sz="1100" b="1" dirty="0" err="1">
                <a:solidFill>
                  <a:schemeClr val="accent1">
                    <a:lumMod val="50000"/>
                  </a:schemeClr>
                </a:solidFill>
              </a:rPr>
              <a:t>pd.read_excel</a:t>
            </a:r>
            <a:r>
              <a:rPr lang="en-US" altLang="zh-CN" sz="1100" b="1" dirty="0">
                <a:solidFill>
                  <a:schemeClr val="accent1">
                    <a:lumMod val="50000"/>
                  </a:schemeClr>
                </a:solidFill>
              </a:rPr>
              <a:t>('TRD_Co.xlsx')</a:t>
            </a:r>
            <a:endParaRPr lang="zh-CN" altLang="zh-CN" sz="1100" b="1" dirty="0">
              <a:solidFill>
                <a:schemeClr val="accent1">
                  <a:lumMod val="50000"/>
                </a:schemeClr>
              </a:solidFill>
            </a:endParaRPr>
          </a:p>
          <a:p>
            <a:r>
              <a:rPr lang="en-US" altLang="zh-CN" sz="1100" b="1" dirty="0">
                <a:solidFill>
                  <a:schemeClr val="accent1">
                    <a:lumMod val="50000"/>
                  </a:schemeClr>
                </a:solidFill>
              </a:rPr>
              <a:t>Co=</a:t>
            </a:r>
            <a:r>
              <a:rPr lang="en-US" altLang="zh-CN" sz="1100" b="1" dirty="0" err="1">
                <a:solidFill>
                  <a:schemeClr val="accent1">
                    <a:lumMod val="50000"/>
                  </a:schemeClr>
                </a:solidFill>
              </a:rPr>
              <a:t>pd.Series</a:t>
            </a:r>
            <a:r>
              <a:rPr lang="en-US" altLang="zh-CN" sz="1100" b="1" dirty="0">
                <a:solidFill>
                  <a:schemeClr val="accent1">
                    <a:lumMod val="50000"/>
                  </a:schemeClr>
                </a:solidFill>
              </a:rPr>
              <a:t>(co['</a:t>
            </a:r>
            <a:r>
              <a:rPr lang="en-US" altLang="zh-CN" sz="1100" b="1" dirty="0" err="1">
                <a:solidFill>
                  <a:schemeClr val="accent1">
                    <a:lumMod val="50000"/>
                  </a:schemeClr>
                </a:solidFill>
              </a:rPr>
              <a:t>Stknme</a:t>
            </a:r>
            <a:r>
              <a:rPr lang="en-US" altLang="zh-CN" sz="1100" b="1" dirty="0">
                <a:solidFill>
                  <a:schemeClr val="accent1">
                    <a:lumMod val="50000"/>
                  </a:schemeClr>
                </a:solidFill>
              </a:rPr>
              <a:t>'].</a:t>
            </a:r>
            <a:r>
              <a:rPr lang="en-US" altLang="zh-CN" sz="1100" b="1" dirty="0" err="1">
                <a:solidFill>
                  <a:schemeClr val="accent1">
                    <a:lumMod val="50000"/>
                  </a:schemeClr>
                </a:solidFill>
              </a:rPr>
              <a:t>values,index</a:t>
            </a:r>
            <a:r>
              <a:rPr lang="en-US" altLang="zh-CN" sz="1100" b="1" dirty="0">
                <a:solidFill>
                  <a:schemeClr val="accent1">
                    <a:lumMod val="50000"/>
                  </a:schemeClr>
                </a:solidFill>
              </a:rPr>
              <a:t>=co['</a:t>
            </a:r>
            <a:r>
              <a:rPr lang="en-US" altLang="zh-CN" sz="1100" b="1" dirty="0" err="1">
                <a:solidFill>
                  <a:schemeClr val="accent1">
                    <a:lumMod val="50000"/>
                  </a:schemeClr>
                </a:solidFill>
              </a:rPr>
              <a:t>Stkcd</a:t>
            </a:r>
            <a:r>
              <a:rPr lang="en-US" altLang="zh-CN" sz="1100" b="1" dirty="0">
                <a:solidFill>
                  <a:schemeClr val="accent1">
                    <a:lumMod val="50000"/>
                  </a:schemeClr>
                </a:solidFill>
              </a:rPr>
              <a:t>'].values)</a:t>
            </a:r>
            <a:endParaRPr lang="zh-CN" altLang="zh-CN" sz="1100" b="1" dirty="0">
              <a:solidFill>
                <a:schemeClr val="accent1">
                  <a:lumMod val="50000"/>
                </a:schemeClr>
              </a:solidFill>
            </a:endParaRPr>
          </a:p>
          <a:p>
            <a:r>
              <a:rPr lang="en-US" altLang="zh-CN" sz="1100" b="1" dirty="0">
                <a:solidFill>
                  <a:schemeClr val="accent1">
                    <a:lumMod val="50000"/>
                  </a:schemeClr>
                </a:solidFill>
              </a:rPr>
              <a:t>Co1=Co[data2['</a:t>
            </a:r>
            <a:r>
              <a:rPr lang="en-US" altLang="zh-CN" sz="1100" b="1" dirty="0" err="1">
                <a:solidFill>
                  <a:schemeClr val="accent1">
                    <a:lumMod val="50000"/>
                  </a:schemeClr>
                </a:solidFill>
              </a:rPr>
              <a:t>Stkcd</a:t>
            </a:r>
            <a:r>
              <a:rPr lang="en-US" altLang="zh-CN" sz="1100" b="1" dirty="0">
                <a:solidFill>
                  <a:schemeClr val="accent1">
                    <a:lumMod val="50000"/>
                  </a:schemeClr>
                </a:solidFill>
              </a:rPr>
              <a:t>'].values</a:t>
            </a:r>
            <a:r>
              <a:rPr lang="en-US" altLang="zh-CN" sz="1000" dirty="0">
                <a:solidFill>
                  <a:schemeClr val="accent1"/>
                </a:solidFill>
              </a:rPr>
              <a:t>]  #</a:t>
            </a:r>
            <a:r>
              <a:rPr lang="zh-CN" altLang="zh-CN" sz="1000" dirty="0">
                <a:solidFill>
                  <a:schemeClr val="accent1"/>
                </a:solidFill>
              </a:rPr>
              <a:t>主成分分析指标数据对应的上市公司名称</a:t>
            </a:r>
          </a:p>
          <a:p>
            <a:r>
              <a:rPr lang="zh-CN" altLang="zh-CN" sz="1050" dirty="0">
                <a:solidFill>
                  <a:schemeClr val="accent1">
                    <a:lumMod val="50000"/>
                  </a:schemeClr>
                </a:solidFill>
              </a:rPr>
              <a:t>其次，以综合得分</a:t>
            </a:r>
            <a:r>
              <a:rPr lang="en-US" altLang="zh-CN" sz="1050" dirty="0">
                <a:solidFill>
                  <a:schemeClr val="accent1">
                    <a:lumMod val="50000"/>
                  </a:schemeClr>
                </a:solidFill>
              </a:rPr>
              <a:t>F</a:t>
            </a:r>
            <a:r>
              <a:rPr lang="zh-CN" altLang="zh-CN" sz="1050" dirty="0">
                <a:solidFill>
                  <a:schemeClr val="accent1">
                    <a:lumMod val="50000"/>
                  </a:schemeClr>
                </a:solidFill>
              </a:rPr>
              <a:t>为值，上市公司名称作为索引（</a:t>
            </a:r>
            <a:r>
              <a:rPr lang="en-US" altLang="zh-CN" sz="1050" dirty="0">
                <a:solidFill>
                  <a:schemeClr val="accent1">
                    <a:lumMod val="50000"/>
                  </a:schemeClr>
                </a:solidFill>
              </a:rPr>
              <a:t>index</a:t>
            </a:r>
            <a:r>
              <a:rPr lang="zh-CN" altLang="zh-CN" sz="1050" dirty="0">
                <a:solidFill>
                  <a:schemeClr val="accent1">
                    <a:lumMod val="50000"/>
                  </a:schemeClr>
                </a:solidFill>
              </a:rPr>
              <a:t>）</a:t>
            </a:r>
            <a:r>
              <a:rPr lang="en-US" altLang="zh-CN" sz="1050" dirty="0">
                <a:solidFill>
                  <a:schemeClr val="accent1">
                    <a:lumMod val="50000"/>
                  </a:schemeClr>
                </a:solidFill>
              </a:rPr>
              <a:t>,</a:t>
            </a:r>
            <a:r>
              <a:rPr lang="zh-CN" altLang="zh-CN" sz="1050" dirty="0">
                <a:solidFill>
                  <a:schemeClr val="accent1">
                    <a:lumMod val="50000"/>
                  </a:schemeClr>
                </a:solidFill>
              </a:rPr>
              <a:t>构建序列，并按值作降序排序，以观察其排名结果，示例代码如下：</a:t>
            </a:r>
          </a:p>
          <a:p>
            <a:r>
              <a:rPr lang="en-US" altLang="zh-CN" sz="1100" b="1" dirty="0">
                <a:solidFill>
                  <a:schemeClr val="accent1">
                    <a:lumMod val="50000"/>
                  </a:schemeClr>
                </a:solidFill>
              </a:rPr>
              <a:t>fs2=</a:t>
            </a:r>
            <a:r>
              <a:rPr lang="en-US" altLang="zh-CN" sz="1100" b="1" dirty="0" err="1">
                <a:solidFill>
                  <a:schemeClr val="accent1">
                    <a:lumMod val="50000"/>
                  </a:schemeClr>
                </a:solidFill>
              </a:rPr>
              <a:t>pd.Series</a:t>
            </a:r>
            <a:r>
              <a:rPr lang="en-US" altLang="zh-CN" sz="1100" b="1" dirty="0">
                <a:solidFill>
                  <a:schemeClr val="accent1">
                    <a:lumMod val="50000"/>
                  </a:schemeClr>
                </a:solidFill>
              </a:rPr>
              <a:t>(</a:t>
            </a:r>
            <a:r>
              <a:rPr lang="en-US" altLang="zh-CN" sz="1100" b="1" dirty="0" err="1">
                <a:solidFill>
                  <a:schemeClr val="accent1">
                    <a:lumMod val="50000"/>
                  </a:schemeClr>
                </a:solidFill>
              </a:rPr>
              <a:t>F,index</a:t>
            </a:r>
            <a:r>
              <a:rPr lang="en-US" altLang="zh-CN" sz="1100" b="1" dirty="0">
                <a:solidFill>
                  <a:schemeClr val="accent1">
                    <a:lumMod val="50000"/>
                  </a:schemeClr>
                </a:solidFill>
              </a:rPr>
              <a:t>=Co1.values)</a:t>
            </a:r>
            <a:endParaRPr lang="zh-CN" altLang="zh-CN" sz="1100" b="1" dirty="0">
              <a:solidFill>
                <a:schemeClr val="accent1">
                  <a:lumMod val="50000"/>
                </a:schemeClr>
              </a:solidFill>
            </a:endParaRPr>
          </a:p>
          <a:p>
            <a:r>
              <a:rPr lang="en-US" altLang="zh-CN" sz="1100" b="1" dirty="0">
                <a:solidFill>
                  <a:schemeClr val="accent1">
                    <a:lumMod val="50000"/>
                  </a:schemeClr>
                </a:solidFill>
              </a:rPr>
              <a:t>Fscore2=fs2.sort_values(ascending=False)</a:t>
            </a:r>
            <a:endParaRPr lang="zh-CN" altLang="zh-CN" sz="1100" b="1" dirty="0">
              <a:solidFill>
                <a:schemeClr val="accent1">
                  <a:lumMod val="50000"/>
                </a:schemeClr>
              </a:solidFill>
            </a:endParaRPr>
          </a:p>
          <a:p>
            <a:r>
              <a:rPr lang="zh-CN" altLang="zh-CN" sz="1050" dirty="0">
                <a:solidFill>
                  <a:schemeClr val="accent1">
                    <a:lumMod val="50000"/>
                  </a:schemeClr>
                </a:solidFill>
              </a:rPr>
              <a:t>最终得到两种方式的排名结果（部分）如图</a:t>
            </a:r>
            <a:r>
              <a:rPr lang="en-US" altLang="zh-CN" sz="1050" dirty="0">
                <a:solidFill>
                  <a:schemeClr val="accent1">
                    <a:lumMod val="50000"/>
                  </a:schemeClr>
                </a:solidFill>
              </a:rPr>
              <a:t>8-1</a:t>
            </a:r>
            <a:r>
              <a:rPr lang="zh-CN" altLang="zh-CN" sz="1050" dirty="0">
                <a:solidFill>
                  <a:schemeClr val="accent1">
                    <a:lumMod val="50000"/>
                  </a:schemeClr>
                </a:solidFill>
              </a:rPr>
              <a:t>所示。</a:t>
            </a:r>
          </a:p>
          <a:p>
            <a:endParaRPr lang="zh-CN" altLang="en-US" sz="1200" dirty="0">
              <a:solidFill>
                <a:schemeClr val="accent1"/>
              </a:solidFill>
            </a:endParaRPr>
          </a:p>
        </p:txBody>
      </p:sp>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1888" y="3030946"/>
            <a:ext cx="2664296" cy="161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7129334" y="4716184"/>
            <a:ext cx="720080" cy="230832"/>
          </a:xfrm>
          <a:prstGeom prst="rect">
            <a:avLst/>
          </a:prstGeom>
          <a:noFill/>
        </p:spPr>
        <p:txBody>
          <a:bodyPr wrap="square" rtlCol="0">
            <a:spAutoFit/>
          </a:bodyPr>
          <a:lstStyle/>
          <a:p>
            <a:r>
              <a:rPr lang="zh-CN" altLang="en-US" sz="900" dirty="0" smtClean="0">
                <a:solidFill>
                  <a:schemeClr val="accent1"/>
                </a:solidFill>
              </a:rPr>
              <a:t>图</a:t>
            </a:r>
            <a:r>
              <a:rPr lang="en-US" altLang="zh-CN" sz="900" dirty="0" smtClean="0">
                <a:solidFill>
                  <a:schemeClr val="accent1"/>
                </a:solidFill>
              </a:rPr>
              <a:t>8-1</a:t>
            </a:r>
            <a:endParaRPr lang="zh-CN" altLang="en-US" sz="900" dirty="0">
              <a:solidFill>
                <a:schemeClr val="accent1"/>
              </a:solidFill>
            </a:endParaRPr>
          </a:p>
        </p:txBody>
      </p:sp>
      <p:sp>
        <p:nvSpPr>
          <p:cNvPr id="11" name="TextBox 10"/>
          <p:cNvSpPr txBox="1"/>
          <p:nvPr/>
        </p:nvSpPr>
        <p:spPr>
          <a:xfrm>
            <a:off x="963552" y="4377618"/>
            <a:ext cx="997967" cy="261610"/>
          </a:xfrm>
          <a:prstGeom prst="rect">
            <a:avLst/>
          </a:prstGeom>
          <a:noFill/>
        </p:spPr>
        <p:txBody>
          <a:bodyPr wrap="square" rtlCol="0">
            <a:spAutoFit/>
          </a:bodyPr>
          <a:lstStyle/>
          <a:p>
            <a:r>
              <a:rPr lang="zh-CN" altLang="en-US" sz="1100" dirty="0" smtClean="0">
                <a:solidFill>
                  <a:schemeClr val="accent1"/>
                </a:solidFill>
              </a:rPr>
              <a:t>表</a:t>
            </a:r>
            <a:r>
              <a:rPr lang="en-US" altLang="zh-CN" sz="1100" dirty="0" smtClean="0">
                <a:solidFill>
                  <a:schemeClr val="accent1"/>
                </a:solidFill>
              </a:rPr>
              <a:t>8-2</a:t>
            </a:r>
            <a:endParaRPr lang="zh-CN" altLang="en-US" sz="1100" dirty="0">
              <a:solidFill>
                <a:schemeClr val="accent1"/>
              </a:solidFill>
            </a:endParaRPr>
          </a:p>
        </p:txBody>
      </p:sp>
    </p:spTree>
    <p:extLst>
      <p:ext uri="{BB962C8B-B14F-4D97-AF65-F5344CB8AC3E}">
        <p14:creationId xmlns:p14="http://schemas.microsoft.com/office/powerpoint/2010/main" val="1838879586"/>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5" y="33470"/>
            <a:ext cx="3780194" cy="392411"/>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fontAlgn="base">
              <a:spcBef>
                <a:spcPct val="0"/>
              </a:spcBef>
              <a:spcAft>
                <a:spcPct val="0"/>
              </a:spcAft>
              <a:buFont typeface="Arial" pitchFamily="34" charset="0"/>
              <a:buNone/>
            </a:pPr>
            <a:r>
              <a:rPr lang="en-US" altLang="zh-CN" sz="2100" dirty="0">
                <a:solidFill>
                  <a:srgbClr val="FFFFFF"/>
                </a:solidFill>
                <a:latin typeface="微软雅黑"/>
                <a:ea typeface="微软雅黑"/>
              </a:rPr>
              <a:t>8.3.5 </a:t>
            </a:r>
            <a:r>
              <a:rPr lang="zh-CN" altLang="en-US" sz="2100" dirty="0">
                <a:solidFill>
                  <a:srgbClr val="FFFFFF"/>
                </a:solidFill>
                <a:latin typeface="微软雅黑"/>
                <a:ea typeface="微软雅黑"/>
              </a:rPr>
              <a:t>收益率计算</a:t>
            </a:r>
          </a:p>
        </p:txBody>
      </p:sp>
      <p:sp>
        <p:nvSpPr>
          <p:cNvPr id="56" name="TextBox 55"/>
          <p:cNvSpPr txBox="1"/>
          <p:nvPr/>
        </p:nvSpPr>
        <p:spPr>
          <a:xfrm>
            <a:off x="105155" y="52574"/>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sp>
        <p:nvSpPr>
          <p:cNvPr id="5" name="TextBox 4"/>
          <p:cNvSpPr txBox="1"/>
          <p:nvPr/>
        </p:nvSpPr>
        <p:spPr>
          <a:xfrm>
            <a:off x="179510" y="526455"/>
            <a:ext cx="4968554" cy="1246495"/>
          </a:xfrm>
          <a:prstGeom prst="rect">
            <a:avLst/>
          </a:prstGeom>
          <a:noFill/>
        </p:spPr>
        <p:txBody>
          <a:bodyPr wrap="square" rtlCol="0">
            <a:spAutoFit/>
          </a:bodyPr>
          <a:lstStyle/>
          <a:p>
            <a:pPr indent="180000"/>
            <a:r>
              <a:rPr lang="zh-CN" altLang="zh-CN" sz="900" dirty="0">
                <a:solidFill>
                  <a:schemeClr val="accent1"/>
                </a:solidFill>
              </a:rPr>
              <a:t>以排名前</a:t>
            </a:r>
            <a:r>
              <a:rPr lang="en-US" altLang="zh-CN" sz="900" dirty="0">
                <a:solidFill>
                  <a:schemeClr val="accent1"/>
                </a:solidFill>
              </a:rPr>
              <a:t>30</a:t>
            </a:r>
            <a:r>
              <a:rPr lang="zh-CN" altLang="zh-CN" sz="900" dirty="0">
                <a:solidFill>
                  <a:schemeClr val="accent1"/>
                </a:solidFill>
              </a:rPr>
              <a:t>的上市公司股票代码构建投资组合作为计算举例，持有期为</a:t>
            </a:r>
            <a:r>
              <a:rPr lang="en-US" altLang="zh-CN" sz="900" dirty="0">
                <a:solidFill>
                  <a:schemeClr val="accent1"/>
                </a:solidFill>
              </a:rPr>
              <a:t>2017-05-01</a:t>
            </a:r>
            <a:r>
              <a:rPr lang="zh-CN" altLang="zh-CN" sz="900" dirty="0">
                <a:solidFill>
                  <a:schemeClr val="accent1"/>
                </a:solidFill>
              </a:rPr>
              <a:t>日至</a:t>
            </a:r>
            <a:r>
              <a:rPr lang="en-US" altLang="zh-CN" sz="900" dirty="0">
                <a:solidFill>
                  <a:schemeClr val="accent1"/>
                </a:solidFill>
              </a:rPr>
              <a:t>2017-12-31</a:t>
            </a:r>
            <a:r>
              <a:rPr lang="zh-CN" altLang="zh-CN" sz="900" dirty="0">
                <a:solidFill>
                  <a:schemeClr val="accent1"/>
                </a:solidFill>
              </a:rPr>
              <a:t>日，计算其收益率（注：年度报告最后公布日期为下一年的</a:t>
            </a:r>
            <a:r>
              <a:rPr lang="en-US" altLang="zh-CN" sz="900" dirty="0">
                <a:solidFill>
                  <a:schemeClr val="accent1"/>
                </a:solidFill>
              </a:rPr>
              <a:t>4</a:t>
            </a:r>
            <a:r>
              <a:rPr lang="zh-CN" altLang="zh-CN" sz="900" dirty="0">
                <a:solidFill>
                  <a:schemeClr val="accent1"/>
                </a:solidFill>
              </a:rPr>
              <a:t>月</a:t>
            </a:r>
            <a:r>
              <a:rPr lang="en-US" altLang="zh-CN" sz="900" dirty="0">
                <a:solidFill>
                  <a:schemeClr val="accent1"/>
                </a:solidFill>
              </a:rPr>
              <a:t>30</a:t>
            </a:r>
            <a:r>
              <a:rPr lang="zh-CN" altLang="zh-CN" sz="900" dirty="0">
                <a:solidFill>
                  <a:schemeClr val="accent1"/>
                </a:solidFill>
              </a:rPr>
              <a:t>日，为了保障数据的可获得性，故取持有期为下一年的</a:t>
            </a:r>
            <a:r>
              <a:rPr lang="en-US" altLang="zh-CN" sz="900" dirty="0">
                <a:solidFill>
                  <a:schemeClr val="accent1"/>
                </a:solidFill>
              </a:rPr>
              <a:t>5</a:t>
            </a:r>
            <a:r>
              <a:rPr lang="zh-CN" altLang="zh-CN" sz="900" dirty="0">
                <a:solidFill>
                  <a:schemeClr val="accent1"/>
                </a:solidFill>
              </a:rPr>
              <a:t>月</a:t>
            </a:r>
            <a:r>
              <a:rPr lang="en-US" altLang="zh-CN" sz="900" dirty="0">
                <a:solidFill>
                  <a:schemeClr val="accent1"/>
                </a:solidFill>
              </a:rPr>
              <a:t>1</a:t>
            </a:r>
            <a:r>
              <a:rPr lang="zh-CN" altLang="zh-CN" sz="900" dirty="0">
                <a:solidFill>
                  <a:schemeClr val="accent1"/>
                </a:solidFill>
              </a:rPr>
              <a:t>日至年末）。每只股票的收益率计算方法为：以该股票持有期内首个交易日考虑现金红利再投资的收盘价可比价</a:t>
            </a:r>
            <a:r>
              <a:rPr lang="en-US" altLang="zh-CN" sz="900" dirty="0">
                <a:solidFill>
                  <a:schemeClr val="accent1"/>
                </a:solidFill>
              </a:rPr>
              <a:t>p1</a:t>
            </a:r>
            <a:r>
              <a:rPr lang="zh-CN" altLang="zh-CN" sz="900" dirty="0">
                <a:solidFill>
                  <a:schemeClr val="accent1"/>
                </a:solidFill>
              </a:rPr>
              <a:t>买入，持有期内最后交易日的考虑现金红利再投资的收盘价可比价</a:t>
            </a:r>
            <a:r>
              <a:rPr lang="en-US" altLang="zh-CN" sz="900" dirty="0">
                <a:solidFill>
                  <a:schemeClr val="accent1"/>
                </a:solidFill>
              </a:rPr>
              <a:t>p2</a:t>
            </a:r>
            <a:r>
              <a:rPr lang="zh-CN" altLang="zh-CN" sz="900" dirty="0">
                <a:solidFill>
                  <a:schemeClr val="accent1"/>
                </a:solidFill>
              </a:rPr>
              <a:t>卖出，计算其收益率，收益率计算公式为：</a:t>
            </a:r>
            <a:r>
              <a:rPr lang="en-US" altLang="zh-CN" sz="900" dirty="0">
                <a:solidFill>
                  <a:schemeClr val="accent1"/>
                </a:solidFill>
              </a:rPr>
              <a:t>(p2-p1)/p1</a:t>
            </a:r>
            <a:r>
              <a:rPr lang="zh-CN" altLang="zh-CN" sz="900" dirty="0">
                <a:solidFill>
                  <a:schemeClr val="accent1"/>
                </a:solidFill>
              </a:rPr>
              <a:t>。而投资组合的收益率为该组合内所有股票收益率之和。交易数据具体见</a:t>
            </a:r>
            <a:r>
              <a:rPr lang="en-US" altLang="zh-CN" sz="900" dirty="0">
                <a:solidFill>
                  <a:schemeClr val="accent1"/>
                </a:solidFill>
              </a:rPr>
              <a:t>trd_2017.xlsx</a:t>
            </a:r>
            <a:r>
              <a:rPr lang="zh-CN" altLang="zh-CN" sz="900" dirty="0">
                <a:solidFill>
                  <a:schemeClr val="accent1"/>
                </a:solidFill>
              </a:rPr>
              <a:t>文件，其基本数据格式和字段说明如下表</a:t>
            </a:r>
            <a:r>
              <a:rPr lang="en-US" altLang="zh-CN" sz="900" dirty="0">
                <a:solidFill>
                  <a:schemeClr val="accent1"/>
                </a:solidFill>
              </a:rPr>
              <a:t>8-3</a:t>
            </a:r>
            <a:r>
              <a:rPr lang="zh-CN" altLang="zh-CN" sz="900" dirty="0">
                <a:solidFill>
                  <a:schemeClr val="accent1"/>
                </a:solidFill>
              </a:rPr>
              <a:t>所示</a:t>
            </a:r>
            <a:r>
              <a:rPr lang="zh-CN" altLang="zh-CN" sz="900" dirty="0" smtClean="0">
                <a:solidFill>
                  <a:schemeClr val="accent1"/>
                </a:solidFill>
              </a:rPr>
              <a:t>。数据来源于国泰安</a:t>
            </a:r>
            <a:r>
              <a:rPr lang="en-US" altLang="zh-CN" sz="900" dirty="0" smtClean="0">
                <a:solidFill>
                  <a:schemeClr val="accent1"/>
                </a:solidFill>
              </a:rPr>
              <a:t>CSMAR</a:t>
            </a:r>
            <a:r>
              <a:rPr lang="zh-CN" altLang="zh-CN" sz="900" dirty="0" smtClean="0">
                <a:solidFill>
                  <a:schemeClr val="accent1"/>
                </a:solidFill>
              </a:rPr>
              <a:t>数据库。</a:t>
            </a:r>
            <a:endParaRPr lang="zh-CN" altLang="zh-CN" sz="900" dirty="0">
              <a:solidFill>
                <a:schemeClr val="accent1"/>
              </a:solidFill>
            </a:endParaRPr>
          </a:p>
          <a:p>
            <a:pPr indent="457200"/>
            <a:endParaRPr lang="zh-CN" altLang="en-US" sz="1200" dirty="0">
              <a:solidFill>
                <a:schemeClr val="accent1"/>
              </a:solidFill>
            </a:endParaRPr>
          </a:p>
        </p:txBody>
      </p:sp>
      <p:graphicFrame>
        <p:nvGraphicFramePr>
          <p:cNvPr id="6" name="表格 5"/>
          <p:cNvGraphicFramePr>
            <a:graphicFrameLocks noGrp="1"/>
          </p:cNvGraphicFramePr>
          <p:nvPr>
            <p:extLst>
              <p:ext uri="{D42A27DB-BD31-4B8C-83A1-F6EECF244321}">
                <p14:modId xmlns:p14="http://schemas.microsoft.com/office/powerpoint/2010/main" val="1466481589"/>
              </p:ext>
            </p:extLst>
          </p:nvPr>
        </p:nvGraphicFramePr>
        <p:xfrm>
          <a:off x="683568" y="1768007"/>
          <a:ext cx="3186564" cy="975360"/>
        </p:xfrm>
        <a:graphic>
          <a:graphicData uri="http://schemas.openxmlformats.org/drawingml/2006/table">
            <a:tbl>
              <a:tblPr firstRow="1" firstCol="1" bandRow="1"/>
              <a:tblGrid>
                <a:gridCol w="651427"/>
                <a:gridCol w="714760"/>
                <a:gridCol w="564570"/>
                <a:gridCol w="641023"/>
                <a:gridCol w="614784"/>
              </a:tblGrid>
              <a:tr h="111375">
                <a:tc>
                  <a:txBody>
                    <a:bodyPr/>
                    <a:lstStyle/>
                    <a:p>
                      <a:pPr algn="just">
                        <a:spcAft>
                          <a:spcPts val="0"/>
                        </a:spcAft>
                      </a:pPr>
                      <a:r>
                        <a:rPr lang="en-US" sz="800" kern="0" dirty="0" err="1">
                          <a:solidFill>
                            <a:srgbClr val="000000"/>
                          </a:solidFill>
                          <a:effectLst/>
                          <a:latin typeface="宋体"/>
                          <a:ea typeface="宋体"/>
                          <a:cs typeface="宋体"/>
                        </a:rPr>
                        <a:t>Stkcd</a:t>
                      </a:r>
                      <a:endParaRPr lang="zh-CN" sz="7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800" kern="0" dirty="0" err="1">
                          <a:solidFill>
                            <a:srgbClr val="000000"/>
                          </a:solidFill>
                          <a:effectLst/>
                          <a:latin typeface="宋体"/>
                          <a:ea typeface="宋体"/>
                          <a:cs typeface="宋体"/>
                        </a:rPr>
                        <a:t>Trddt</a:t>
                      </a:r>
                      <a:endParaRPr lang="zh-CN" sz="7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800" kern="0" dirty="0" err="1">
                          <a:solidFill>
                            <a:srgbClr val="000000"/>
                          </a:solidFill>
                          <a:effectLst/>
                          <a:latin typeface="宋体"/>
                          <a:ea typeface="宋体"/>
                          <a:cs typeface="宋体"/>
                        </a:rPr>
                        <a:t>Clsprc</a:t>
                      </a:r>
                      <a:endParaRPr lang="zh-CN" sz="7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800" kern="0">
                          <a:solidFill>
                            <a:srgbClr val="000000"/>
                          </a:solidFill>
                          <a:effectLst/>
                          <a:latin typeface="宋体"/>
                          <a:ea typeface="宋体"/>
                          <a:cs typeface="宋体"/>
                        </a:rPr>
                        <a:t>Adjprcwd</a:t>
                      </a:r>
                      <a:endParaRPr lang="zh-CN" sz="7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800" kern="0">
                          <a:solidFill>
                            <a:srgbClr val="000000"/>
                          </a:solidFill>
                          <a:effectLst/>
                          <a:latin typeface="宋体"/>
                          <a:ea typeface="宋体"/>
                          <a:cs typeface="宋体"/>
                        </a:rPr>
                        <a:t>Adjprcnd</a:t>
                      </a:r>
                      <a:endParaRPr lang="zh-CN" sz="7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1375">
                <a:tc>
                  <a:txBody>
                    <a:bodyPr/>
                    <a:lstStyle/>
                    <a:p>
                      <a:pPr algn="just">
                        <a:spcAft>
                          <a:spcPts val="0"/>
                        </a:spcAft>
                      </a:pPr>
                      <a:r>
                        <a:rPr lang="en-US" sz="800" kern="0" dirty="0">
                          <a:solidFill>
                            <a:srgbClr val="000000"/>
                          </a:solidFill>
                          <a:effectLst/>
                          <a:latin typeface="宋体"/>
                          <a:ea typeface="宋体"/>
                          <a:cs typeface="宋体"/>
                        </a:rPr>
                        <a:t>603227</a:t>
                      </a:r>
                      <a:endParaRPr lang="zh-CN" sz="7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en-US" sz="800" kern="0" dirty="0">
                          <a:solidFill>
                            <a:srgbClr val="000000"/>
                          </a:solidFill>
                          <a:effectLst/>
                          <a:latin typeface="宋体"/>
                          <a:ea typeface="宋体"/>
                          <a:cs typeface="宋体"/>
                        </a:rPr>
                        <a:t>2017-03-29</a:t>
                      </a:r>
                      <a:endParaRPr lang="zh-CN" sz="7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800" kern="0">
                          <a:solidFill>
                            <a:srgbClr val="000000"/>
                          </a:solidFill>
                          <a:effectLst/>
                          <a:latin typeface="宋体"/>
                          <a:ea typeface="宋体"/>
                          <a:cs typeface="宋体"/>
                        </a:rPr>
                        <a:t>10.98</a:t>
                      </a:r>
                      <a:endParaRPr lang="zh-CN" sz="7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800" kern="0">
                          <a:solidFill>
                            <a:srgbClr val="000000"/>
                          </a:solidFill>
                          <a:effectLst/>
                          <a:latin typeface="宋体"/>
                          <a:ea typeface="宋体"/>
                          <a:cs typeface="宋体"/>
                        </a:rPr>
                        <a:t>22.16166</a:t>
                      </a:r>
                      <a:endParaRPr lang="zh-CN" sz="7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800" kern="0" dirty="0">
                          <a:solidFill>
                            <a:srgbClr val="000000"/>
                          </a:solidFill>
                          <a:effectLst/>
                          <a:latin typeface="宋体"/>
                          <a:ea typeface="宋体"/>
                          <a:cs typeface="宋体"/>
                        </a:rPr>
                        <a:t>21.959991</a:t>
                      </a:r>
                      <a:endParaRPr lang="zh-CN" sz="7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111375">
                <a:tc>
                  <a:txBody>
                    <a:bodyPr/>
                    <a:lstStyle/>
                    <a:p>
                      <a:pPr algn="just">
                        <a:spcAft>
                          <a:spcPts val="0"/>
                        </a:spcAft>
                      </a:pPr>
                      <a:r>
                        <a:rPr lang="en-US" sz="800" kern="0" dirty="0">
                          <a:solidFill>
                            <a:srgbClr val="000000"/>
                          </a:solidFill>
                          <a:effectLst/>
                          <a:latin typeface="宋体"/>
                          <a:ea typeface="宋体"/>
                          <a:cs typeface="宋体"/>
                        </a:rPr>
                        <a:t>603228</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800" kern="0" dirty="0">
                          <a:solidFill>
                            <a:srgbClr val="000000"/>
                          </a:solidFill>
                          <a:effectLst/>
                          <a:latin typeface="宋体"/>
                          <a:ea typeface="宋体"/>
                          <a:cs typeface="宋体"/>
                        </a:rPr>
                        <a:t>2017-03-29</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48.05</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a:solidFill>
                            <a:srgbClr val="000000"/>
                          </a:solidFill>
                          <a:effectLst/>
                          <a:latin typeface="宋体"/>
                          <a:ea typeface="宋体"/>
                          <a:cs typeface="宋体"/>
                        </a:rPr>
                        <a:t>48.05</a:t>
                      </a:r>
                      <a:endParaRPr lang="zh-CN" sz="7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a:solidFill>
                            <a:srgbClr val="000000"/>
                          </a:solidFill>
                          <a:effectLst/>
                          <a:latin typeface="宋体"/>
                          <a:ea typeface="宋体"/>
                          <a:cs typeface="宋体"/>
                        </a:rPr>
                        <a:t>48.05</a:t>
                      </a:r>
                      <a:endParaRPr lang="zh-CN" sz="700" kern="100">
                        <a:effectLst/>
                        <a:latin typeface="Calibri"/>
                        <a:ea typeface="宋体"/>
                        <a:cs typeface="Times New Roman"/>
                      </a:endParaRPr>
                    </a:p>
                  </a:txBody>
                  <a:tcPr marL="68580" marR="68580" marT="0" marB="0" anchor="b">
                    <a:lnL>
                      <a:noFill/>
                    </a:lnL>
                    <a:lnR>
                      <a:noFill/>
                    </a:lnR>
                    <a:lnT>
                      <a:noFill/>
                    </a:lnT>
                    <a:lnB>
                      <a:noFill/>
                    </a:lnB>
                  </a:tcPr>
                </a:tc>
              </a:tr>
              <a:tr h="111375">
                <a:tc>
                  <a:txBody>
                    <a:bodyPr/>
                    <a:lstStyle/>
                    <a:p>
                      <a:pPr algn="just">
                        <a:spcAft>
                          <a:spcPts val="0"/>
                        </a:spcAft>
                      </a:pPr>
                      <a:r>
                        <a:rPr lang="en-US" sz="800" kern="0">
                          <a:solidFill>
                            <a:srgbClr val="000000"/>
                          </a:solidFill>
                          <a:effectLst/>
                          <a:latin typeface="宋体"/>
                          <a:ea typeface="宋体"/>
                          <a:cs typeface="宋体"/>
                        </a:rPr>
                        <a:t>603238</a:t>
                      </a:r>
                      <a:endParaRPr lang="zh-CN" sz="7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800" kern="0" dirty="0">
                          <a:solidFill>
                            <a:srgbClr val="000000"/>
                          </a:solidFill>
                          <a:effectLst/>
                          <a:latin typeface="宋体"/>
                          <a:ea typeface="宋体"/>
                          <a:cs typeface="宋体"/>
                        </a:rPr>
                        <a:t>2017-03-29</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43.02</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43.02</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a:solidFill>
                            <a:srgbClr val="000000"/>
                          </a:solidFill>
                          <a:effectLst/>
                          <a:latin typeface="宋体"/>
                          <a:ea typeface="宋体"/>
                          <a:cs typeface="宋体"/>
                        </a:rPr>
                        <a:t>43.02</a:t>
                      </a:r>
                      <a:endParaRPr lang="zh-CN" sz="700" kern="100">
                        <a:effectLst/>
                        <a:latin typeface="Calibri"/>
                        <a:ea typeface="宋体"/>
                        <a:cs typeface="Times New Roman"/>
                      </a:endParaRPr>
                    </a:p>
                  </a:txBody>
                  <a:tcPr marL="68580" marR="68580" marT="0" marB="0" anchor="b">
                    <a:lnL>
                      <a:noFill/>
                    </a:lnL>
                    <a:lnR>
                      <a:noFill/>
                    </a:lnR>
                    <a:lnT>
                      <a:noFill/>
                    </a:lnT>
                    <a:lnB>
                      <a:noFill/>
                    </a:lnB>
                  </a:tcPr>
                </a:tc>
              </a:tr>
              <a:tr h="111375">
                <a:tc>
                  <a:txBody>
                    <a:bodyPr/>
                    <a:lstStyle/>
                    <a:p>
                      <a:pPr algn="just">
                        <a:spcAft>
                          <a:spcPts val="0"/>
                        </a:spcAft>
                      </a:pPr>
                      <a:r>
                        <a:rPr lang="en-US" sz="800" kern="0">
                          <a:solidFill>
                            <a:srgbClr val="000000"/>
                          </a:solidFill>
                          <a:effectLst/>
                          <a:latin typeface="宋体"/>
                          <a:ea typeface="宋体"/>
                          <a:cs typeface="宋体"/>
                        </a:rPr>
                        <a:t>603239</a:t>
                      </a:r>
                      <a:endParaRPr lang="zh-CN" sz="7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800" kern="0" dirty="0">
                          <a:solidFill>
                            <a:srgbClr val="000000"/>
                          </a:solidFill>
                          <a:effectLst/>
                          <a:latin typeface="宋体"/>
                          <a:ea typeface="宋体"/>
                          <a:cs typeface="宋体"/>
                        </a:rPr>
                        <a:t>2017-03-29</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98.66</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98.66</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a:solidFill>
                            <a:srgbClr val="000000"/>
                          </a:solidFill>
                          <a:effectLst/>
                          <a:latin typeface="宋体"/>
                          <a:ea typeface="宋体"/>
                          <a:cs typeface="宋体"/>
                        </a:rPr>
                        <a:t>98.66</a:t>
                      </a:r>
                      <a:endParaRPr lang="zh-CN" sz="700" kern="100">
                        <a:effectLst/>
                        <a:latin typeface="Calibri"/>
                        <a:ea typeface="宋体"/>
                        <a:cs typeface="Times New Roman"/>
                      </a:endParaRPr>
                    </a:p>
                  </a:txBody>
                  <a:tcPr marL="68580" marR="68580" marT="0" marB="0" anchor="b">
                    <a:lnL>
                      <a:noFill/>
                    </a:lnL>
                    <a:lnR>
                      <a:noFill/>
                    </a:lnR>
                    <a:lnT>
                      <a:noFill/>
                    </a:lnT>
                    <a:lnB>
                      <a:noFill/>
                    </a:lnB>
                  </a:tcPr>
                </a:tc>
              </a:tr>
              <a:tr h="111375">
                <a:tc>
                  <a:txBody>
                    <a:bodyPr/>
                    <a:lstStyle/>
                    <a:p>
                      <a:pPr algn="just">
                        <a:spcAft>
                          <a:spcPts val="0"/>
                        </a:spcAft>
                      </a:pPr>
                      <a:r>
                        <a:rPr lang="en-US" sz="800" kern="0">
                          <a:solidFill>
                            <a:srgbClr val="000000"/>
                          </a:solidFill>
                          <a:effectLst/>
                          <a:latin typeface="宋体"/>
                          <a:ea typeface="宋体"/>
                          <a:cs typeface="宋体"/>
                        </a:rPr>
                        <a:t>603258</a:t>
                      </a:r>
                      <a:endParaRPr lang="zh-CN" sz="7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800" kern="0">
                          <a:solidFill>
                            <a:srgbClr val="000000"/>
                          </a:solidFill>
                          <a:effectLst/>
                          <a:latin typeface="宋体"/>
                          <a:ea typeface="宋体"/>
                          <a:cs typeface="宋体"/>
                        </a:rPr>
                        <a:t>2017-03-29</a:t>
                      </a:r>
                      <a:endParaRPr lang="zh-CN" sz="7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53.77</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53.77</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53.77</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r>
              <a:tr h="111375">
                <a:tc>
                  <a:txBody>
                    <a:bodyPr/>
                    <a:lstStyle/>
                    <a:p>
                      <a:pPr algn="just">
                        <a:spcAft>
                          <a:spcPts val="0"/>
                        </a:spcAft>
                      </a:pPr>
                      <a:r>
                        <a:rPr lang="en-US" sz="800" kern="0">
                          <a:solidFill>
                            <a:srgbClr val="000000"/>
                          </a:solidFill>
                          <a:effectLst/>
                          <a:latin typeface="宋体"/>
                          <a:ea typeface="宋体"/>
                          <a:cs typeface="宋体"/>
                        </a:rPr>
                        <a:t>603266</a:t>
                      </a:r>
                      <a:endParaRPr lang="zh-CN" sz="7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800" kern="0">
                          <a:solidFill>
                            <a:srgbClr val="000000"/>
                          </a:solidFill>
                          <a:effectLst/>
                          <a:latin typeface="宋体"/>
                          <a:ea typeface="宋体"/>
                          <a:cs typeface="宋体"/>
                        </a:rPr>
                        <a:t>2017-03-29</a:t>
                      </a:r>
                      <a:endParaRPr lang="zh-CN" sz="7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a:solidFill>
                            <a:srgbClr val="000000"/>
                          </a:solidFill>
                          <a:effectLst/>
                          <a:latin typeface="宋体"/>
                          <a:ea typeface="宋体"/>
                          <a:cs typeface="宋体"/>
                        </a:rPr>
                        <a:t>44.37</a:t>
                      </a:r>
                      <a:endParaRPr lang="zh-CN" sz="7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44.37</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800" kern="0" dirty="0">
                          <a:solidFill>
                            <a:srgbClr val="000000"/>
                          </a:solidFill>
                          <a:effectLst/>
                          <a:latin typeface="宋体"/>
                          <a:ea typeface="宋体"/>
                          <a:cs typeface="宋体"/>
                        </a:rPr>
                        <a:t>44.37</a:t>
                      </a:r>
                      <a:endParaRPr lang="zh-CN" sz="700" kern="100" dirty="0">
                        <a:effectLst/>
                        <a:latin typeface="Calibri"/>
                        <a:ea typeface="宋体"/>
                        <a:cs typeface="Times New Roman"/>
                      </a:endParaRPr>
                    </a:p>
                  </a:txBody>
                  <a:tcPr marL="68580" marR="68580" marT="0" marB="0" anchor="b">
                    <a:lnL>
                      <a:noFill/>
                    </a:lnL>
                    <a:lnR>
                      <a:noFill/>
                    </a:lnR>
                    <a:lnT>
                      <a:noFill/>
                    </a:lnT>
                    <a:lnB>
                      <a:noFill/>
                    </a:lnB>
                  </a:tcPr>
                </a:tc>
              </a:tr>
              <a:tr h="111375">
                <a:tc>
                  <a:txBody>
                    <a:bodyPr/>
                    <a:lstStyle/>
                    <a:p>
                      <a:pPr algn="just">
                        <a:spcAft>
                          <a:spcPts val="0"/>
                        </a:spcAft>
                      </a:pPr>
                      <a:r>
                        <a:rPr lang="zh-CN" sz="800" kern="0">
                          <a:solidFill>
                            <a:srgbClr val="000000"/>
                          </a:solidFill>
                          <a:effectLst/>
                          <a:latin typeface="Calibri"/>
                          <a:ea typeface="宋体"/>
                          <a:cs typeface="宋体"/>
                        </a:rPr>
                        <a:t>……</a:t>
                      </a:r>
                      <a:endParaRPr lang="zh-CN" sz="7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800" kern="0">
                          <a:solidFill>
                            <a:srgbClr val="000000"/>
                          </a:solidFill>
                          <a:effectLst/>
                          <a:latin typeface="Calibri"/>
                          <a:ea typeface="宋体"/>
                          <a:cs typeface="宋体"/>
                        </a:rPr>
                        <a:t>……</a:t>
                      </a:r>
                      <a:endParaRPr lang="zh-CN" sz="7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0" dirty="0">
                          <a:solidFill>
                            <a:srgbClr val="000000"/>
                          </a:solidFill>
                          <a:effectLst/>
                          <a:latin typeface="Calibri"/>
                          <a:ea typeface="宋体"/>
                          <a:cs typeface="宋体"/>
                        </a:rPr>
                        <a:t>……</a:t>
                      </a:r>
                      <a:endParaRPr lang="zh-CN" sz="7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0" dirty="0">
                          <a:solidFill>
                            <a:srgbClr val="000000"/>
                          </a:solidFill>
                          <a:effectLst/>
                          <a:latin typeface="Calibri"/>
                          <a:ea typeface="宋体"/>
                          <a:cs typeface="宋体"/>
                        </a:rPr>
                        <a:t>……</a:t>
                      </a:r>
                      <a:endParaRPr lang="zh-CN" sz="7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0" dirty="0">
                          <a:solidFill>
                            <a:srgbClr val="000000"/>
                          </a:solidFill>
                          <a:effectLst/>
                          <a:latin typeface="Calibri"/>
                          <a:ea typeface="宋体"/>
                          <a:cs typeface="宋体"/>
                        </a:rPr>
                        <a:t>……</a:t>
                      </a:r>
                      <a:endParaRPr lang="zh-CN" sz="7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7" name="Rectangle 1"/>
          <p:cNvSpPr>
            <a:spLocks noChangeArrowheads="1"/>
          </p:cNvSpPr>
          <p:nvPr/>
        </p:nvSpPr>
        <p:spPr bwMode="auto">
          <a:xfrm>
            <a:off x="1331640" y="1552563"/>
            <a:ext cx="1377029"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800"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  </a:t>
            </a:r>
            <a:r>
              <a:rPr kumimoji="0" lang="zh-CN" altLang="en-US" sz="800"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表</a:t>
            </a:r>
            <a:r>
              <a:rPr kumimoji="0" lang="en-US" altLang="zh-CN" sz="800"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8-3    2017</a:t>
            </a:r>
            <a:r>
              <a:rPr kumimoji="0" lang="zh-CN" altLang="en-US" sz="800"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年交易数据表</a:t>
            </a:r>
            <a:endParaRPr kumimoji="0" lang="zh-CN" altLang="en-US" sz="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8" name="TextBox 7"/>
          <p:cNvSpPr txBox="1"/>
          <p:nvPr/>
        </p:nvSpPr>
        <p:spPr>
          <a:xfrm>
            <a:off x="5364088" y="526455"/>
            <a:ext cx="3528392" cy="4308872"/>
          </a:xfrm>
          <a:prstGeom prst="rect">
            <a:avLst/>
          </a:prstGeom>
          <a:noFill/>
        </p:spPr>
        <p:txBody>
          <a:bodyPr wrap="square" rtlCol="0">
            <a:spAutoFit/>
          </a:bodyPr>
          <a:lstStyle/>
          <a:p>
            <a:r>
              <a:rPr lang="en-US" altLang="zh-CN" sz="1000" dirty="0" smtClean="0">
                <a:solidFill>
                  <a:schemeClr val="accent1"/>
                </a:solidFill>
              </a:rPr>
              <a:t>#</a:t>
            </a:r>
            <a:r>
              <a:rPr lang="zh-CN" altLang="zh-CN" sz="1000" dirty="0">
                <a:solidFill>
                  <a:schemeClr val="accent1"/>
                </a:solidFill>
              </a:rPr>
              <a:t>获取交易数据</a:t>
            </a:r>
          </a:p>
          <a:p>
            <a:r>
              <a:rPr lang="en-US" altLang="zh-CN" sz="1200" dirty="0" err="1">
                <a:solidFill>
                  <a:schemeClr val="accent1"/>
                </a:solidFill>
              </a:rPr>
              <a:t>trd</a:t>
            </a:r>
            <a:r>
              <a:rPr lang="en-US" altLang="zh-CN" sz="1200" dirty="0">
                <a:solidFill>
                  <a:schemeClr val="accent1"/>
                </a:solidFill>
              </a:rPr>
              <a:t>=</a:t>
            </a:r>
            <a:r>
              <a:rPr lang="en-US" altLang="zh-CN" sz="1200" dirty="0" err="1">
                <a:solidFill>
                  <a:schemeClr val="accent1"/>
                </a:solidFill>
              </a:rPr>
              <a:t>pd.read_excel</a:t>
            </a:r>
            <a:r>
              <a:rPr lang="en-US" altLang="zh-CN" sz="1200" dirty="0">
                <a:solidFill>
                  <a:schemeClr val="accent1"/>
                </a:solidFill>
              </a:rPr>
              <a:t>('trd_2017.xlsx')</a:t>
            </a:r>
            <a:endParaRPr lang="zh-CN" altLang="zh-CN" sz="1200" dirty="0">
              <a:solidFill>
                <a:schemeClr val="accent1"/>
              </a:solidFill>
            </a:endParaRPr>
          </a:p>
          <a:p>
            <a:r>
              <a:rPr lang="en-US" altLang="zh-CN" sz="1000" dirty="0">
                <a:solidFill>
                  <a:schemeClr val="accent1"/>
                </a:solidFill>
              </a:rPr>
              <a:t>#</a:t>
            </a:r>
            <a:r>
              <a:rPr lang="zh-CN" altLang="zh-CN" sz="1000" dirty="0">
                <a:solidFill>
                  <a:schemeClr val="accent1"/>
                </a:solidFill>
              </a:rPr>
              <a:t>预定义每个股票的收益率序列</a:t>
            </a:r>
          </a:p>
          <a:p>
            <a:r>
              <a:rPr lang="en-US" altLang="zh-CN" sz="1200" dirty="0" err="1">
                <a:solidFill>
                  <a:schemeClr val="accent1"/>
                </a:solidFill>
              </a:rPr>
              <a:t>r_list</a:t>
            </a:r>
            <a:r>
              <a:rPr lang="en-US" altLang="zh-CN" sz="1200" dirty="0">
                <a:solidFill>
                  <a:schemeClr val="accent1"/>
                </a:solidFill>
              </a:rPr>
              <a:t>=[]</a:t>
            </a:r>
            <a:endParaRPr lang="zh-CN" altLang="zh-CN" sz="1200" dirty="0">
              <a:solidFill>
                <a:schemeClr val="accent1"/>
              </a:solidFill>
            </a:endParaRPr>
          </a:p>
          <a:p>
            <a:r>
              <a:rPr lang="en-US" altLang="zh-CN" sz="1200" dirty="0">
                <a:solidFill>
                  <a:schemeClr val="accent1"/>
                </a:solidFill>
              </a:rPr>
              <a:t>for i in range(30):</a:t>
            </a:r>
            <a:endParaRPr lang="zh-CN" altLang="zh-CN" sz="1200" dirty="0">
              <a:solidFill>
                <a:schemeClr val="accent1"/>
              </a:solidFill>
            </a:endParaRPr>
          </a:p>
          <a:p>
            <a:r>
              <a:rPr lang="en-US" altLang="zh-CN" sz="1200" dirty="0">
                <a:solidFill>
                  <a:schemeClr val="accent1"/>
                </a:solidFill>
              </a:rPr>
              <a:t>    </a:t>
            </a:r>
            <a:r>
              <a:rPr lang="en-US" altLang="zh-CN" sz="1000" dirty="0">
                <a:solidFill>
                  <a:schemeClr val="accent1"/>
                </a:solidFill>
              </a:rPr>
              <a:t>#</a:t>
            </a:r>
            <a:r>
              <a:rPr lang="zh-CN" altLang="zh-CN" sz="1000" dirty="0">
                <a:solidFill>
                  <a:schemeClr val="accent1"/>
                </a:solidFill>
              </a:rPr>
              <a:t>获取排名第</a:t>
            </a:r>
            <a:r>
              <a:rPr lang="en-US" altLang="zh-CN" sz="1000" dirty="0">
                <a:solidFill>
                  <a:schemeClr val="accent1"/>
                </a:solidFill>
              </a:rPr>
              <a:t>i</a:t>
            </a:r>
            <a:r>
              <a:rPr lang="zh-CN" altLang="zh-CN" sz="1000" dirty="0">
                <a:solidFill>
                  <a:schemeClr val="accent1"/>
                </a:solidFill>
              </a:rPr>
              <a:t>个股票代码</a:t>
            </a:r>
          </a:p>
          <a:p>
            <a:r>
              <a:rPr lang="en-US" altLang="zh-CN" sz="1200" dirty="0">
                <a:solidFill>
                  <a:schemeClr val="accent1"/>
                </a:solidFill>
              </a:rPr>
              <a:t>code=Fscore1.index[i]</a:t>
            </a:r>
            <a:endParaRPr lang="zh-CN" altLang="zh-CN" sz="1200" dirty="0">
              <a:solidFill>
                <a:schemeClr val="accent1"/>
              </a:solidFill>
            </a:endParaRPr>
          </a:p>
          <a:p>
            <a:r>
              <a:rPr lang="en-US" altLang="zh-CN" sz="1000" dirty="0">
                <a:solidFill>
                  <a:schemeClr val="accent1"/>
                </a:solidFill>
              </a:rPr>
              <a:t>#</a:t>
            </a:r>
            <a:r>
              <a:rPr lang="zh-CN" altLang="zh-CN" sz="1000" dirty="0">
                <a:solidFill>
                  <a:schemeClr val="accent1"/>
                </a:solidFill>
              </a:rPr>
              <a:t>获取排名第</a:t>
            </a:r>
            <a:r>
              <a:rPr lang="en-US" altLang="zh-CN" sz="1000" dirty="0">
                <a:solidFill>
                  <a:schemeClr val="accent1"/>
                </a:solidFill>
              </a:rPr>
              <a:t>i</a:t>
            </a:r>
            <a:r>
              <a:rPr lang="zh-CN" altLang="zh-CN" sz="1000" dirty="0">
                <a:solidFill>
                  <a:schemeClr val="accent1"/>
                </a:solidFill>
              </a:rPr>
              <a:t>个股票代码的交易数据</a:t>
            </a:r>
          </a:p>
          <a:p>
            <a:r>
              <a:rPr lang="en-US" altLang="zh-CN" sz="1200" dirty="0" err="1">
                <a:solidFill>
                  <a:schemeClr val="accent1"/>
                </a:solidFill>
              </a:rPr>
              <a:t>dt</a:t>
            </a:r>
            <a:r>
              <a:rPr lang="en-US" altLang="zh-CN" sz="1200" dirty="0">
                <a:solidFill>
                  <a:schemeClr val="accent1"/>
                </a:solidFill>
              </a:rPr>
              <a:t>=</a:t>
            </a:r>
            <a:r>
              <a:rPr lang="en-US" altLang="zh-CN" sz="1200" dirty="0" err="1">
                <a:solidFill>
                  <a:schemeClr val="accent1"/>
                </a:solidFill>
              </a:rPr>
              <a:t>trd.iloc</a:t>
            </a:r>
            <a:r>
              <a:rPr lang="en-US" altLang="zh-CN" sz="1200" dirty="0">
                <a:solidFill>
                  <a:schemeClr val="accent1"/>
                </a:solidFill>
              </a:rPr>
              <a:t>[</a:t>
            </a:r>
            <a:r>
              <a:rPr lang="en-US" altLang="zh-CN" sz="1200" dirty="0" err="1">
                <a:solidFill>
                  <a:schemeClr val="accent1"/>
                </a:solidFill>
              </a:rPr>
              <a:t>trd.iloc</a:t>
            </a:r>
            <a:r>
              <a:rPr lang="en-US" altLang="zh-CN" sz="1200" dirty="0">
                <a:solidFill>
                  <a:schemeClr val="accent1"/>
                </a:solidFill>
              </a:rPr>
              <a:t>[:,0].values==code,:]</a:t>
            </a:r>
            <a:endParaRPr lang="zh-CN" altLang="zh-CN" sz="1200" dirty="0">
              <a:solidFill>
                <a:schemeClr val="accent1"/>
              </a:solidFill>
            </a:endParaRPr>
          </a:p>
          <a:p>
            <a:r>
              <a:rPr lang="en-US" altLang="zh-CN" sz="1000" dirty="0">
                <a:solidFill>
                  <a:schemeClr val="accent1"/>
                </a:solidFill>
              </a:rPr>
              <a:t>#</a:t>
            </a:r>
            <a:r>
              <a:rPr lang="zh-CN" altLang="zh-CN" sz="1000" dirty="0">
                <a:solidFill>
                  <a:schemeClr val="accent1"/>
                </a:solidFill>
              </a:rPr>
              <a:t>获取排名第</a:t>
            </a:r>
            <a:r>
              <a:rPr lang="en-US" altLang="zh-CN" sz="1000" dirty="0">
                <a:solidFill>
                  <a:schemeClr val="accent1"/>
                </a:solidFill>
              </a:rPr>
              <a:t>i</a:t>
            </a:r>
            <a:r>
              <a:rPr lang="zh-CN" altLang="zh-CN" sz="1000" dirty="0">
                <a:solidFill>
                  <a:schemeClr val="accent1"/>
                </a:solidFill>
              </a:rPr>
              <a:t>个股票代码</a:t>
            </a:r>
            <a:r>
              <a:rPr lang="en-US" altLang="zh-CN" sz="1000" dirty="0">
                <a:solidFill>
                  <a:schemeClr val="accent1"/>
                </a:solidFill>
              </a:rPr>
              <a:t>2017</a:t>
            </a:r>
            <a:r>
              <a:rPr lang="zh-CN" altLang="zh-CN" sz="1000" dirty="0">
                <a:solidFill>
                  <a:schemeClr val="accent1"/>
                </a:solidFill>
              </a:rPr>
              <a:t>年度的交易数据，并按交易日期升序排序</a:t>
            </a:r>
          </a:p>
          <a:p>
            <a:r>
              <a:rPr lang="en-US" altLang="zh-CN" sz="1200" dirty="0">
                <a:solidFill>
                  <a:schemeClr val="accent1"/>
                </a:solidFill>
              </a:rPr>
              <a:t>    I1=</a:t>
            </a:r>
            <a:r>
              <a:rPr lang="en-US" altLang="zh-CN" sz="1200" dirty="0" err="1">
                <a:solidFill>
                  <a:schemeClr val="accent1"/>
                </a:solidFill>
              </a:rPr>
              <a:t>dt</a:t>
            </a:r>
            <a:r>
              <a:rPr lang="en-US" altLang="zh-CN" sz="1200" dirty="0">
                <a:solidFill>
                  <a:schemeClr val="accent1"/>
                </a:solidFill>
              </a:rPr>
              <a:t>['</a:t>
            </a:r>
            <a:r>
              <a:rPr lang="en-US" altLang="zh-CN" sz="1200" dirty="0" err="1">
                <a:solidFill>
                  <a:schemeClr val="accent1"/>
                </a:solidFill>
              </a:rPr>
              <a:t>Trddt</a:t>
            </a:r>
            <a:r>
              <a:rPr lang="en-US" altLang="zh-CN" sz="1200" dirty="0">
                <a:solidFill>
                  <a:schemeClr val="accent1"/>
                </a:solidFill>
              </a:rPr>
              <a:t>'].values&gt;='2017-05-01'</a:t>
            </a:r>
            <a:endParaRPr lang="zh-CN" altLang="zh-CN" sz="1200" dirty="0">
              <a:solidFill>
                <a:schemeClr val="accent1"/>
              </a:solidFill>
            </a:endParaRPr>
          </a:p>
          <a:p>
            <a:r>
              <a:rPr lang="en-US" altLang="zh-CN" sz="1200" dirty="0">
                <a:solidFill>
                  <a:schemeClr val="accent1"/>
                </a:solidFill>
              </a:rPr>
              <a:t>    I2=</a:t>
            </a:r>
            <a:r>
              <a:rPr lang="en-US" altLang="zh-CN" sz="1200" dirty="0" err="1">
                <a:solidFill>
                  <a:schemeClr val="accent1"/>
                </a:solidFill>
              </a:rPr>
              <a:t>dt</a:t>
            </a:r>
            <a:r>
              <a:rPr lang="en-US" altLang="zh-CN" sz="1200" dirty="0">
                <a:solidFill>
                  <a:schemeClr val="accent1"/>
                </a:solidFill>
              </a:rPr>
              <a:t>['</a:t>
            </a:r>
            <a:r>
              <a:rPr lang="en-US" altLang="zh-CN" sz="1200" dirty="0" err="1">
                <a:solidFill>
                  <a:schemeClr val="accent1"/>
                </a:solidFill>
              </a:rPr>
              <a:t>Trddt</a:t>
            </a:r>
            <a:r>
              <a:rPr lang="en-US" altLang="zh-CN" sz="1200" dirty="0">
                <a:solidFill>
                  <a:schemeClr val="accent1"/>
                </a:solidFill>
              </a:rPr>
              <a:t>'].values&lt;='2017-12-31'</a:t>
            </a:r>
            <a:endParaRPr lang="zh-CN" altLang="zh-CN" sz="1200" dirty="0">
              <a:solidFill>
                <a:schemeClr val="accent1"/>
              </a:solidFill>
            </a:endParaRPr>
          </a:p>
          <a:p>
            <a:r>
              <a:rPr lang="en-US" altLang="zh-CN" sz="1200" dirty="0" err="1">
                <a:solidFill>
                  <a:schemeClr val="accent1"/>
                </a:solidFill>
              </a:rPr>
              <a:t>dtt</a:t>
            </a:r>
            <a:r>
              <a:rPr lang="en-US" altLang="zh-CN" sz="1200" dirty="0">
                <a:solidFill>
                  <a:schemeClr val="accent1"/>
                </a:solidFill>
              </a:rPr>
              <a:t>=</a:t>
            </a:r>
            <a:r>
              <a:rPr lang="en-US" altLang="zh-CN" sz="1200" dirty="0" err="1">
                <a:solidFill>
                  <a:schemeClr val="accent1"/>
                </a:solidFill>
              </a:rPr>
              <a:t>dt.iloc</a:t>
            </a:r>
            <a:r>
              <a:rPr lang="en-US" altLang="zh-CN" sz="1200" dirty="0">
                <a:solidFill>
                  <a:schemeClr val="accent1"/>
                </a:solidFill>
              </a:rPr>
              <a:t>[I1&amp;I2,:].</a:t>
            </a:r>
            <a:r>
              <a:rPr lang="en-US" altLang="zh-CN" sz="1200" dirty="0" err="1">
                <a:solidFill>
                  <a:schemeClr val="accent1"/>
                </a:solidFill>
              </a:rPr>
              <a:t>sort_values</a:t>
            </a:r>
            <a:r>
              <a:rPr lang="en-US" altLang="zh-CN" sz="1200" dirty="0">
                <a:solidFill>
                  <a:schemeClr val="accent1"/>
                </a:solidFill>
              </a:rPr>
              <a:t>('</a:t>
            </a:r>
            <a:r>
              <a:rPr lang="en-US" altLang="zh-CN" sz="1200" dirty="0" err="1">
                <a:solidFill>
                  <a:schemeClr val="accent1"/>
                </a:solidFill>
              </a:rPr>
              <a:t>Trddt</a:t>
            </a:r>
            <a:r>
              <a:rPr lang="en-US" altLang="zh-CN" sz="1200" dirty="0">
                <a:solidFill>
                  <a:schemeClr val="accent1"/>
                </a:solidFill>
              </a:rPr>
              <a:t>')</a:t>
            </a:r>
            <a:endParaRPr lang="zh-CN" altLang="zh-CN" sz="1200" dirty="0">
              <a:solidFill>
                <a:schemeClr val="accent1"/>
              </a:solidFill>
            </a:endParaRPr>
          </a:p>
          <a:p>
            <a:r>
              <a:rPr lang="en-US" altLang="zh-CN" sz="1000" dirty="0">
                <a:solidFill>
                  <a:schemeClr val="accent1"/>
                </a:solidFill>
              </a:rPr>
              <a:t>#</a:t>
            </a:r>
            <a:r>
              <a:rPr lang="zh-CN" altLang="zh-CN" sz="1000" dirty="0">
                <a:solidFill>
                  <a:schemeClr val="accent1"/>
                </a:solidFill>
              </a:rPr>
              <a:t>数据是否为空条件判断</a:t>
            </a:r>
          </a:p>
          <a:p>
            <a:r>
              <a:rPr lang="en-US" altLang="zh-CN" sz="1200" dirty="0">
                <a:solidFill>
                  <a:schemeClr val="accent1"/>
                </a:solidFill>
              </a:rPr>
              <a:t>if </a:t>
            </a:r>
            <a:r>
              <a:rPr lang="en-US" altLang="zh-CN" sz="1200" dirty="0" err="1">
                <a:solidFill>
                  <a:schemeClr val="accent1"/>
                </a:solidFill>
              </a:rPr>
              <a:t>len</a:t>
            </a:r>
            <a:r>
              <a:rPr lang="en-US" altLang="zh-CN" sz="1200" dirty="0">
                <a:solidFill>
                  <a:schemeClr val="accent1"/>
                </a:solidFill>
              </a:rPr>
              <a:t>(</a:t>
            </a:r>
            <a:r>
              <a:rPr lang="en-US" altLang="zh-CN" sz="1200" dirty="0" err="1">
                <a:solidFill>
                  <a:schemeClr val="accent1"/>
                </a:solidFill>
              </a:rPr>
              <a:t>dtt</a:t>
            </a:r>
            <a:r>
              <a:rPr lang="en-US" altLang="zh-CN" sz="1200" dirty="0">
                <a:solidFill>
                  <a:schemeClr val="accent1"/>
                </a:solidFill>
              </a:rPr>
              <a:t>)&gt;1:</a:t>
            </a:r>
            <a:endParaRPr lang="zh-CN" altLang="zh-CN" sz="1200" dirty="0">
              <a:solidFill>
                <a:schemeClr val="accent1"/>
              </a:solidFill>
            </a:endParaRPr>
          </a:p>
          <a:p>
            <a:r>
              <a:rPr lang="en-US" altLang="zh-CN" sz="1000" dirty="0">
                <a:solidFill>
                  <a:schemeClr val="accent1"/>
                </a:solidFill>
              </a:rPr>
              <a:t>    #</a:t>
            </a:r>
            <a:r>
              <a:rPr lang="zh-CN" altLang="zh-CN" sz="1000" dirty="0">
                <a:solidFill>
                  <a:schemeClr val="accent1"/>
                </a:solidFill>
              </a:rPr>
              <a:t>获取排名第</a:t>
            </a:r>
            <a:r>
              <a:rPr lang="en-US" altLang="zh-CN" sz="1000" dirty="0">
                <a:solidFill>
                  <a:schemeClr val="accent1"/>
                </a:solidFill>
              </a:rPr>
              <a:t>i</a:t>
            </a:r>
            <a:r>
              <a:rPr lang="zh-CN" altLang="zh-CN" sz="1000" dirty="0">
                <a:solidFill>
                  <a:schemeClr val="accent1"/>
                </a:solidFill>
              </a:rPr>
              <a:t>个股票代码的</a:t>
            </a:r>
          </a:p>
          <a:p>
            <a:r>
              <a:rPr lang="en-US" altLang="zh-CN" sz="1000" dirty="0">
                <a:solidFill>
                  <a:schemeClr val="accent1"/>
                </a:solidFill>
              </a:rPr>
              <a:t>#</a:t>
            </a:r>
            <a:r>
              <a:rPr lang="zh-CN" altLang="zh-CN" sz="1000" dirty="0">
                <a:solidFill>
                  <a:schemeClr val="accent1"/>
                </a:solidFill>
              </a:rPr>
              <a:t>首个和最后一个交易日的考虑现金红利再投资的收盘价可比价</a:t>
            </a:r>
          </a:p>
          <a:p>
            <a:r>
              <a:rPr lang="en-US" altLang="zh-CN" sz="1200" dirty="0">
                <a:solidFill>
                  <a:schemeClr val="accent1"/>
                </a:solidFill>
              </a:rPr>
              <a:t>        p1=</a:t>
            </a:r>
            <a:r>
              <a:rPr lang="en-US" altLang="zh-CN" sz="1200" dirty="0" err="1">
                <a:solidFill>
                  <a:schemeClr val="accent1"/>
                </a:solidFill>
              </a:rPr>
              <a:t>dtt.iloc</a:t>
            </a:r>
            <a:r>
              <a:rPr lang="en-US" altLang="zh-CN" sz="1200" dirty="0">
                <a:solidFill>
                  <a:schemeClr val="accent1"/>
                </a:solidFill>
              </a:rPr>
              <a:t>[0,3]</a:t>
            </a:r>
            <a:endParaRPr lang="zh-CN" altLang="zh-CN" sz="1200" dirty="0">
              <a:solidFill>
                <a:schemeClr val="accent1"/>
              </a:solidFill>
            </a:endParaRPr>
          </a:p>
          <a:p>
            <a:r>
              <a:rPr lang="en-US" altLang="zh-CN" sz="1200" dirty="0">
                <a:solidFill>
                  <a:schemeClr val="accent1"/>
                </a:solidFill>
              </a:rPr>
              <a:t>        p2=</a:t>
            </a:r>
            <a:r>
              <a:rPr lang="en-US" altLang="zh-CN" sz="1200" dirty="0" err="1">
                <a:solidFill>
                  <a:schemeClr val="accent1"/>
                </a:solidFill>
              </a:rPr>
              <a:t>dtt.iloc</a:t>
            </a:r>
            <a:r>
              <a:rPr lang="en-US" altLang="zh-CN" sz="1200" dirty="0">
                <a:solidFill>
                  <a:schemeClr val="accent1"/>
                </a:solidFill>
              </a:rPr>
              <a:t>[</a:t>
            </a:r>
            <a:r>
              <a:rPr lang="en-US" altLang="zh-CN" sz="1200" dirty="0" err="1">
                <a:solidFill>
                  <a:schemeClr val="accent1"/>
                </a:solidFill>
              </a:rPr>
              <a:t>len</a:t>
            </a:r>
            <a:r>
              <a:rPr lang="en-US" altLang="zh-CN" sz="1200" dirty="0">
                <a:solidFill>
                  <a:schemeClr val="accent1"/>
                </a:solidFill>
              </a:rPr>
              <a:t>(</a:t>
            </a:r>
            <a:r>
              <a:rPr lang="en-US" altLang="zh-CN" sz="1200" dirty="0" err="1">
                <a:solidFill>
                  <a:schemeClr val="accent1"/>
                </a:solidFill>
              </a:rPr>
              <a:t>dtt</a:t>
            </a:r>
            <a:r>
              <a:rPr lang="en-US" altLang="zh-CN" sz="1200" dirty="0">
                <a:solidFill>
                  <a:schemeClr val="accent1"/>
                </a:solidFill>
              </a:rPr>
              <a:t>)-1,3]</a:t>
            </a:r>
            <a:endParaRPr lang="zh-CN" altLang="zh-CN" sz="1200" dirty="0">
              <a:solidFill>
                <a:schemeClr val="accent1"/>
              </a:solidFill>
            </a:endParaRPr>
          </a:p>
          <a:p>
            <a:r>
              <a:rPr lang="en-US" altLang="zh-CN" sz="1000" dirty="0">
                <a:solidFill>
                  <a:schemeClr val="accent1"/>
                </a:solidFill>
              </a:rPr>
              <a:t>        #</a:t>
            </a:r>
            <a:r>
              <a:rPr lang="zh-CN" altLang="zh-CN" sz="1000" dirty="0">
                <a:solidFill>
                  <a:schemeClr val="accent1"/>
                </a:solidFill>
              </a:rPr>
              <a:t>计算排名第</a:t>
            </a:r>
            <a:r>
              <a:rPr lang="en-US" altLang="zh-CN" sz="1000" dirty="0">
                <a:solidFill>
                  <a:schemeClr val="accent1"/>
                </a:solidFill>
              </a:rPr>
              <a:t>i</a:t>
            </a:r>
            <a:r>
              <a:rPr lang="zh-CN" altLang="zh-CN" sz="1000" dirty="0">
                <a:solidFill>
                  <a:schemeClr val="accent1"/>
                </a:solidFill>
              </a:rPr>
              <a:t>个股票代码的收益率</a:t>
            </a:r>
            <a:r>
              <a:rPr lang="en-US" altLang="zh-CN" sz="1000" dirty="0">
                <a:solidFill>
                  <a:schemeClr val="accent1"/>
                </a:solidFill>
              </a:rPr>
              <a:t>,</a:t>
            </a:r>
            <a:r>
              <a:rPr lang="zh-CN" altLang="zh-CN" sz="1000" dirty="0">
                <a:solidFill>
                  <a:schemeClr val="accent1"/>
                </a:solidFill>
              </a:rPr>
              <a:t>并添加到</a:t>
            </a:r>
            <a:r>
              <a:rPr lang="en-US" altLang="zh-CN" sz="1000" dirty="0" err="1">
                <a:solidFill>
                  <a:schemeClr val="accent1"/>
                </a:solidFill>
              </a:rPr>
              <a:t>r_list</a:t>
            </a:r>
            <a:r>
              <a:rPr lang="zh-CN" altLang="zh-CN" sz="1000" dirty="0">
                <a:solidFill>
                  <a:schemeClr val="accent1"/>
                </a:solidFill>
              </a:rPr>
              <a:t>中</a:t>
            </a:r>
          </a:p>
          <a:p>
            <a:r>
              <a:rPr lang="en-US" altLang="zh-CN" sz="1200" dirty="0">
                <a:solidFill>
                  <a:schemeClr val="accent1"/>
                </a:solidFill>
              </a:rPr>
              <a:t>        </a:t>
            </a:r>
            <a:r>
              <a:rPr lang="en-US" altLang="zh-CN" sz="1200" dirty="0" err="1">
                <a:solidFill>
                  <a:schemeClr val="accent1"/>
                </a:solidFill>
              </a:rPr>
              <a:t>r_list.append</a:t>
            </a:r>
            <a:r>
              <a:rPr lang="en-US" altLang="zh-CN" sz="1200" dirty="0">
                <a:solidFill>
                  <a:schemeClr val="accent1"/>
                </a:solidFill>
              </a:rPr>
              <a:t>((p2-p1)/p1)</a:t>
            </a:r>
            <a:endParaRPr lang="zh-CN" altLang="zh-CN" sz="1200" dirty="0">
              <a:solidFill>
                <a:schemeClr val="accent1"/>
              </a:solidFill>
            </a:endParaRPr>
          </a:p>
          <a:p>
            <a:r>
              <a:rPr lang="en-US" altLang="zh-CN" sz="1200" dirty="0" err="1">
                <a:solidFill>
                  <a:schemeClr val="accent1"/>
                </a:solidFill>
              </a:rPr>
              <a:t>r_total</a:t>
            </a:r>
            <a:r>
              <a:rPr lang="en-US" altLang="zh-CN" sz="1200" dirty="0">
                <a:solidFill>
                  <a:schemeClr val="accent1"/>
                </a:solidFill>
              </a:rPr>
              <a:t>=sum(</a:t>
            </a:r>
            <a:r>
              <a:rPr lang="en-US" altLang="zh-CN" sz="1200" dirty="0" err="1">
                <a:solidFill>
                  <a:schemeClr val="accent1"/>
                </a:solidFill>
              </a:rPr>
              <a:t>r_list</a:t>
            </a:r>
            <a:r>
              <a:rPr lang="en-US" altLang="zh-CN" sz="1200" dirty="0">
                <a:solidFill>
                  <a:schemeClr val="accent1"/>
                </a:solidFill>
              </a:rPr>
              <a:t>)  </a:t>
            </a:r>
            <a:r>
              <a:rPr lang="en-US" altLang="zh-CN" sz="1000" dirty="0">
                <a:solidFill>
                  <a:schemeClr val="accent1"/>
                </a:solidFill>
              </a:rPr>
              <a:t>#</a:t>
            </a:r>
            <a:r>
              <a:rPr lang="zh-CN" altLang="zh-CN" sz="1000" dirty="0">
                <a:solidFill>
                  <a:schemeClr val="accent1"/>
                </a:solidFill>
              </a:rPr>
              <a:t>计算总收益率</a:t>
            </a:r>
          </a:p>
          <a:p>
            <a:endParaRPr lang="zh-CN" altLang="en-US" sz="800" dirty="0">
              <a:solidFill>
                <a:schemeClr val="accent1"/>
              </a:solidFill>
            </a:endParaRPr>
          </a:p>
        </p:txBody>
      </p:sp>
      <p:sp>
        <p:nvSpPr>
          <p:cNvPr id="9" name="TextBox 8"/>
          <p:cNvSpPr txBox="1"/>
          <p:nvPr/>
        </p:nvSpPr>
        <p:spPr>
          <a:xfrm>
            <a:off x="291962" y="3552319"/>
            <a:ext cx="2047790" cy="923330"/>
          </a:xfrm>
          <a:prstGeom prst="rect">
            <a:avLst/>
          </a:prstGeom>
          <a:noFill/>
        </p:spPr>
        <p:txBody>
          <a:bodyPr wrap="square" rtlCol="0">
            <a:spAutoFit/>
          </a:bodyPr>
          <a:lstStyle/>
          <a:p>
            <a:r>
              <a:rPr lang="zh-CN" altLang="zh-CN" sz="900" b="1" dirty="0">
                <a:solidFill>
                  <a:schemeClr val="accent1"/>
                </a:solidFill>
              </a:rPr>
              <a:t>最终获得投资组合中每个股票代码收益率列表如图</a:t>
            </a:r>
            <a:r>
              <a:rPr lang="en-US" altLang="zh-CN" sz="900" b="1" dirty="0">
                <a:solidFill>
                  <a:schemeClr val="accent1"/>
                </a:solidFill>
              </a:rPr>
              <a:t>8-2</a:t>
            </a:r>
            <a:r>
              <a:rPr lang="zh-CN" altLang="zh-CN" sz="900" b="1" dirty="0">
                <a:solidFill>
                  <a:schemeClr val="accent1"/>
                </a:solidFill>
              </a:rPr>
              <a:t>所示（部分结果）。这里可以看到该组合只有</a:t>
            </a:r>
            <a:r>
              <a:rPr lang="en-US" altLang="zh-CN" sz="900" b="1" dirty="0">
                <a:solidFill>
                  <a:schemeClr val="accent1"/>
                </a:solidFill>
              </a:rPr>
              <a:t>28</a:t>
            </a:r>
            <a:r>
              <a:rPr lang="zh-CN" altLang="zh-CN" sz="900" b="1" dirty="0">
                <a:solidFill>
                  <a:schemeClr val="accent1"/>
                </a:solidFill>
              </a:rPr>
              <a:t>只股票代码，不足</a:t>
            </a:r>
            <a:r>
              <a:rPr lang="en-US" altLang="zh-CN" sz="900" b="1" dirty="0">
                <a:solidFill>
                  <a:schemeClr val="accent1"/>
                </a:solidFill>
              </a:rPr>
              <a:t>30</a:t>
            </a:r>
            <a:r>
              <a:rPr lang="zh-CN" altLang="zh-CN" sz="900" b="1" dirty="0">
                <a:solidFill>
                  <a:schemeClr val="accent1"/>
                </a:solidFill>
              </a:rPr>
              <a:t>只，是因为存在</a:t>
            </a:r>
            <a:r>
              <a:rPr lang="en-US" altLang="zh-CN" sz="900" b="1" dirty="0">
                <a:solidFill>
                  <a:schemeClr val="accent1"/>
                </a:solidFill>
              </a:rPr>
              <a:t>2</a:t>
            </a:r>
            <a:r>
              <a:rPr lang="zh-CN" altLang="zh-CN" sz="900" b="1" dirty="0">
                <a:solidFill>
                  <a:schemeClr val="accent1"/>
                </a:solidFill>
              </a:rPr>
              <a:t>只股票在计算持有期内没有交易。</a:t>
            </a:r>
          </a:p>
          <a:p>
            <a:endParaRPr lang="zh-CN" altLang="en-US" sz="900" dirty="0"/>
          </a:p>
        </p:txBody>
      </p:sp>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3004" y="3291830"/>
            <a:ext cx="2007347" cy="1512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79512" y="2750141"/>
            <a:ext cx="4968552" cy="830997"/>
          </a:xfrm>
          <a:prstGeom prst="rect">
            <a:avLst/>
          </a:prstGeom>
          <a:noFill/>
        </p:spPr>
        <p:txBody>
          <a:bodyPr wrap="square" rtlCol="0">
            <a:spAutoFit/>
          </a:bodyPr>
          <a:lstStyle/>
          <a:p>
            <a:r>
              <a:rPr lang="zh-CN" altLang="zh-CN" sz="1200" dirty="0">
                <a:solidFill>
                  <a:schemeClr val="accent1"/>
                </a:solidFill>
              </a:rPr>
              <a:t>其中字段依次表示：股票代码、交易日期、收盘价、考虑现金红利再投资的收盘价可比价、不考虑现金红利再投资的收盘价可比价。投资组合收益率计算示例代码</a:t>
            </a:r>
            <a:r>
              <a:rPr lang="zh-CN" altLang="zh-CN" sz="1200" dirty="0" smtClean="0">
                <a:solidFill>
                  <a:schemeClr val="accent1"/>
                </a:solidFill>
              </a:rPr>
              <a:t>如</a:t>
            </a:r>
            <a:r>
              <a:rPr lang="zh-CN" altLang="en-US" sz="1200" dirty="0" smtClean="0">
                <a:solidFill>
                  <a:schemeClr val="accent1"/>
                </a:solidFill>
              </a:rPr>
              <a:t>右</a:t>
            </a:r>
            <a:r>
              <a:rPr lang="zh-CN" altLang="zh-CN" sz="1200" dirty="0" smtClean="0">
                <a:solidFill>
                  <a:schemeClr val="accent1"/>
                </a:solidFill>
              </a:rPr>
              <a:t>：</a:t>
            </a:r>
            <a:endParaRPr lang="zh-CN" altLang="zh-CN" sz="1200" dirty="0">
              <a:solidFill>
                <a:schemeClr val="accent1"/>
              </a:solidFill>
            </a:endParaRPr>
          </a:p>
          <a:p>
            <a:endParaRPr lang="zh-CN" altLang="en-US" sz="1200" dirty="0">
              <a:solidFill>
                <a:schemeClr val="accent1"/>
              </a:solidFill>
            </a:endParaRPr>
          </a:p>
        </p:txBody>
      </p:sp>
      <p:sp>
        <p:nvSpPr>
          <p:cNvPr id="12" name="TextBox 11"/>
          <p:cNvSpPr txBox="1"/>
          <p:nvPr/>
        </p:nvSpPr>
        <p:spPr>
          <a:xfrm>
            <a:off x="323528" y="4475649"/>
            <a:ext cx="2016224" cy="646331"/>
          </a:xfrm>
          <a:prstGeom prst="rect">
            <a:avLst/>
          </a:prstGeom>
          <a:noFill/>
        </p:spPr>
        <p:txBody>
          <a:bodyPr wrap="square" rtlCol="0">
            <a:spAutoFit/>
          </a:bodyPr>
          <a:lstStyle/>
          <a:p>
            <a:r>
              <a:rPr lang="zh-CN" altLang="zh-CN" sz="1200" dirty="0">
                <a:solidFill>
                  <a:srgbClr val="C00000"/>
                </a:solidFill>
              </a:rPr>
              <a:t>总的收益率为：</a:t>
            </a:r>
            <a:r>
              <a:rPr lang="en-US" altLang="zh-CN" sz="1200" dirty="0" err="1" smtClean="0">
                <a:solidFill>
                  <a:srgbClr val="C00000"/>
                </a:solidFill>
              </a:rPr>
              <a:t>r_total</a:t>
            </a:r>
            <a:r>
              <a:rPr lang="en-US" altLang="zh-CN" sz="1200" dirty="0" smtClean="0">
                <a:solidFill>
                  <a:srgbClr val="C00000"/>
                </a:solidFill>
              </a:rPr>
              <a:t>=4.54296132786</a:t>
            </a:r>
            <a:r>
              <a:rPr lang="zh-CN" altLang="zh-CN" sz="1200" dirty="0">
                <a:solidFill>
                  <a:schemeClr val="accent1"/>
                </a:solidFill>
              </a:rPr>
              <a:t>。</a:t>
            </a:r>
          </a:p>
          <a:p>
            <a:endParaRPr lang="zh-CN" altLang="en-US" sz="1200" dirty="0">
              <a:solidFill>
                <a:schemeClr val="accent1"/>
              </a:solidFill>
            </a:endParaRPr>
          </a:p>
        </p:txBody>
      </p:sp>
      <p:sp>
        <p:nvSpPr>
          <p:cNvPr id="13" name="TextBox 12"/>
          <p:cNvSpPr txBox="1"/>
          <p:nvPr/>
        </p:nvSpPr>
        <p:spPr>
          <a:xfrm>
            <a:off x="3275856" y="4774310"/>
            <a:ext cx="504056" cy="215444"/>
          </a:xfrm>
          <a:prstGeom prst="rect">
            <a:avLst/>
          </a:prstGeom>
          <a:noFill/>
        </p:spPr>
        <p:txBody>
          <a:bodyPr wrap="square" rtlCol="0">
            <a:spAutoFit/>
          </a:bodyPr>
          <a:lstStyle/>
          <a:p>
            <a:r>
              <a:rPr lang="zh-CN" altLang="en-US" sz="800" dirty="0" smtClean="0">
                <a:solidFill>
                  <a:schemeClr val="accent1"/>
                </a:solidFill>
              </a:rPr>
              <a:t>图</a:t>
            </a:r>
            <a:r>
              <a:rPr lang="en-US" altLang="zh-CN" sz="800" dirty="0" smtClean="0">
                <a:solidFill>
                  <a:schemeClr val="accent1"/>
                </a:solidFill>
              </a:rPr>
              <a:t>8-2</a:t>
            </a:r>
            <a:endParaRPr lang="zh-CN" altLang="en-US" sz="800" dirty="0">
              <a:solidFill>
                <a:schemeClr val="accent1"/>
              </a:solidFill>
            </a:endParaRPr>
          </a:p>
        </p:txBody>
      </p:sp>
    </p:spTree>
    <p:extLst>
      <p:ext uri="{BB962C8B-B14F-4D97-AF65-F5344CB8AC3E}">
        <p14:creationId xmlns:p14="http://schemas.microsoft.com/office/powerpoint/2010/main" val="4917015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5" y="33470"/>
            <a:ext cx="3780194" cy="392411"/>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fontAlgn="base">
              <a:spcBef>
                <a:spcPct val="0"/>
              </a:spcBef>
              <a:spcAft>
                <a:spcPct val="0"/>
              </a:spcAft>
              <a:buFont typeface="Arial" pitchFamily="34" charset="0"/>
              <a:buNone/>
            </a:pPr>
            <a:r>
              <a:rPr lang="en-US" altLang="zh-CN" sz="2100" dirty="0">
                <a:solidFill>
                  <a:srgbClr val="FFFFFF"/>
                </a:solidFill>
                <a:latin typeface="微软雅黑"/>
                <a:ea typeface="微软雅黑"/>
              </a:rPr>
              <a:t>8.3.6 </a:t>
            </a:r>
            <a:r>
              <a:rPr lang="zh-CN" altLang="en-US" sz="2100" dirty="0">
                <a:solidFill>
                  <a:srgbClr val="FFFFFF"/>
                </a:solidFill>
                <a:latin typeface="微软雅黑"/>
                <a:ea typeface="微软雅黑"/>
              </a:rPr>
              <a:t>量化投资策略设计与分析</a:t>
            </a:r>
          </a:p>
        </p:txBody>
      </p:sp>
      <p:sp>
        <p:nvSpPr>
          <p:cNvPr id="56" name="TextBox 55"/>
          <p:cNvSpPr txBox="1"/>
          <p:nvPr/>
        </p:nvSpPr>
        <p:spPr>
          <a:xfrm>
            <a:off x="105156" y="56565"/>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sp>
        <p:nvSpPr>
          <p:cNvPr id="5" name="TextBox 4"/>
          <p:cNvSpPr txBox="1"/>
          <p:nvPr/>
        </p:nvSpPr>
        <p:spPr>
          <a:xfrm>
            <a:off x="102999" y="513207"/>
            <a:ext cx="8715316" cy="646331"/>
          </a:xfrm>
          <a:prstGeom prst="rect">
            <a:avLst/>
          </a:prstGeom>
          <a:noFill/>
        </p:spPr>
        <p:txBody>
          <a:bodyPr wrap="square" rtlCol="0">
            <a:spAutoFit/>
          </a:bodyPr>
          <a:lstStyle/>
          <a:p>
            <a:pPr indent="180000"/>
            <a:r>
              <a:rPr lang="zh-CN" altLang="zh-CN" sz="900" dirty="0">
                <a:solidFill>
                  <a:schemeClr val="accent1">
                    <a:lumMod val="50000"/>
                  </a:schemeClr>
                </a:solidFill>
              </a:rPr>
              <a:t>前面</a:t>
            </a:r>
            <a:r>
              <a:rPr lang="en-US" altLang="zh-CN" sz="900" dirty="0">
                <a:solidFill>
                  <a:schemeClr val="accent1">
                    <a:lumMod val="50000"/>
                  </a:schemeClr>
                </a:solidFill>
              </a:rPr>
              <a:t>8.3.1~8.3.5</a:t>
            </a:r>
            <a:r>
              <a:rPr lang="zh-CN" altLang="zh-CN" sz="900" dirty="0">
                <a:solidFill>
                  <a:schemeClr val="accent1">
                    <a:lumMod val="50000"/>
                  </a:schemeClr>
                </a:solidFill>
              </a:rPr>
              <a:t>作为一个例子，</a:t>
            </a:r>
            <a:r>
              <a:rPr lang="zh-CN" altLang="zh-CN" sz="900" b="1" dirty="0">
                <a:solidFill>
                  <a:schemeClr val="accent1">
                    <a:lumMod val="50000"/>
                  </a:schemeClr>
                </a:solidFill>
              </a:rPr>
              <a:t>以</a:t>
            </a:r>
            <a:r>
              <a:rPr lang="en-US" altLang="zh-CN" sz="900" b="1" dirty="0">
                <a:solidFill>
                  <a:schemeClr val="accent1">
                    <a:lumMod val="50000"/>
                  </a:schemeClr>
                </a:solidFill>
              </a:rPr>
              <a:t>2016</a:t>
            </a:r>
            <a:r>
              <a:rPr lang="zh-CN" altLang="zh-CN" sz="900" b="1" dirty="0">
                <a:solidFill>
                  <a:schemeClr val="accent1">
                    <a:lumMod val="50000"/>
                  </a:schemeClr>
                </a:solidFill>
              </a:rPr>
              <a:t>年度的财务报表及财务指标数据为基础对上市公司进行了综合评价</a:t>
            </a:r>
            <a:r>
              <a:rPr lang="zh-CN" altLang="zh-CN" sz="900" dirty="0">
                <a:solidFill>
                  <a:schemeClr val="accent1">
                    <a:lumMod val="50000"/>
                  </a:schemeClr>
                </a:solidFill>
              </a:rPr>
              <a:t>，并取排名前</a:t>
            </a:r>
            <a:r>
              <a:rPr lang="en-US" altLang="zh-CN" sz="900" dirty="0">
                <a:solidFill>
                  <a:schemeClr val="accent1">
                    <a:lumMod val="50000"/>
                  </a:schemeClr>
                </a:solidFill>
              </a:rPr>
              <a:t>30</a:t>
            </a:r>
            <a:r>
              <a:rPr lang="zh-CN" altLang="zh-CN" sz="900" dirty="0">
                <a:solidFill>
                  <a:schemeClr val="accent1">
                    <a:lumMod val="50000"/>
                  </a:schemeClr>
                </a:solidFill>
              </a:rPr>
              <a:t>的股票构建投资组合，同时以持有期为</a:t>
            </a:r>
            <a:r>
              <a:rPr lang="en-US" altLang="zh-CN" sz="900" dirty="0">
                <a:solidFill>
                  <a:schemeClr val="accent1">
                    <a:lumMod val="50000"/>
                  </a:schemeClr>
                </a:solidFill>
              </a:rPr>
              <a:t>2017-05-01~12-31</a:t>
            </a:r>
            <a:r>
              <a:rPr lang="zh-CN" altLang="zh-CN" sz="900" dirty="0">
                <a:solidFill>
                  <a:schemeClr val="accent1">
                    <a:lumMod val="50000"/>
                  </a:schemeClr>
                </a:solidFill>
              </a:rPr>
              <a:t>计算投资组合收益率。该例子详细介绍了如何选取指标、数据预处理、主成分分析及排名、投资组合收益率计算等相关方法及程序实现。本节主要是对该例子做一个总结提炼及推广，即抽象为函数的形式。通过</a:t>
            </a:r>
            <a:r>
              <a:rPr lang="zh-CN" altLang="zh-CN" sz="900" b="1" dirty="0">
                <a:solidFill>
                  <a:schemeClr val="accent1">
                    <a:lumMod val="50000"/>
                  </a:schemeClr>
                </a:solidFill>
              </a:rPr>
              <a:t>定义综合排名函数和收益率计算函数</a:t>
            </a:r>
            <a:r>
              <a:rPr lang="zh-CN" altLang="zh-CN" sz="900" dirty="0">
                <a:solidFill>
                  <a:schemeClr val="accent1">
                    <a:lumMod val="50000"/>
                  </a:schemeClr>
                </a:solidFill>
              </a:rPr>
              <a:t>，可以获得不同年份、不同持有期的股票综合排名及投资组合收益率，并最终通过</a:t>
            </a:r>
            <a:r>
              <a:rPr lang="zh-CN" altLang="zh-CN" sz="900" b="1" dirty="0">
                <a:solidFill>
                  <a:schemeClr val="accent1">
                    <a:lumMod val="50000"/>
                  </a:schemeClr>
                </a:solidFill>
              </a:rPr>
              <a:t>调用这两个函数实现量化投资策略设计与实现</a:t>
            </a:r>
            <a:r>
              <a:rPr lang="zh-CN" altLang="zh-CN" sz="900" dirty="0">
                <a:solidFill>
                  <a:schemeClr val="accent1">
                    <a:lumMod val="50000"/>
                  </a:schemeClr>
                </a:solidFill>
              </a:rPr>
              <a:t>。下面将给以详细介绍</a:t>
            </a:r>
            <a:r>
              <a:rPr lang="zh-CN" altLang="zh-CN" sz="900" dirty="0" smtClean="0">
                <a:solidFill>
                  <a:schemeClr val="accent1">
                    <a:lumMod val="50000"/>
                  </a:schemeClr>
                </a:solidFill>
              </a:rPr>
              <a:t>。</a:t>
            </a:r>
            <a:endParaRPr lang="zh-CN" altLang="zh-CN" sz="900" dirty="0">
              <a:solidFill>
                <a:schemeClr val="accent1">
                  <a:lumMod val="50000"/>
                </a:schemeClr>
              </a:solidFill>
            </a:endParaRPr>
          </a:p>
        </p:txBody>
      </p:sp>
      <p:sp>
        <p:nvSpPr>
          <p:cNvPr id="6" name="TextBox 5"/>
          <p:cNvSpPr txBox="1"/>
          <p:nvPr/>
        </p:nvSpPr>
        <p:spPr>
          <a:xfrm>
            <a:off x="251520" y="1347614"/>
            <a:ext cx="3960440" cy="3708708"/>
          </a:xfrm>
          <a:prstGeom prst="rect">
            <a:avLst/>
          </a:prstGeom>
          <a:noFill/>
        </p:spPr>
        <p:txBody>
          <a:bodyPr wrap="square" rtlCol="0">
            <a:spAutoFit/>
          </a:bodyPr>
          <a:lstStyle/>
          <a:p>
            <a:pPr>
              <a:spcAft>
                <a:spcPts val="600"/>
              </a:spcAft>
            </a:pPr>
            <a:r>
              <a:rPr lang="en-US" altLang="zh-CN" sz="1000" b="1" dirty="0">
                <a:solidFill>
                  <a:schemeClr val="accent1">
                    <a:lumMod val="50000"/>
                  </a:schemeClr>
                </a:solidFill>
              </a:rPr>
              <a:t>1. </a:t>
            </a:r>
            <a:r>
              <a:rPr lang="zh-CN" altLang="zh-CN" sz="1000" b="1" dirty="0">
                <a:solidFill>
                  <a:schemeClr val="accent1">
                    <a:lumMod val="50000"/>
                  </a:schemeClr>
                </a:solidFill>
              </a:rPr>
              <a:t>综合排名函数定义</a:t>
            </a:r>
          </a:p>
          <a:p>
            <a:pPr indent="266700" algn="just">
              <a:spcAft>
                <a:spcPts val="0"/>
              </a:spcAft>
            </a:pPr>
            <a:r>
              <a:rPr lang="zh-CN" altLang="zh-CN" sz="1000" dirty="0">
                <a:solidFill>
                  <a:schemeClr val="accent1">
                    <a:lumMod val="50000"/>
                  </a:schemeClr>
                </a:solidFill>
              </a:rPr>
              <a:t>为了将基于总体规模与投资效率指标的综合评价方法推广到其他年份及方便量化投资策略的使用，我们将</a:t>
            </a:r>
            <a:r>
              <a:rPr lang="en-US" altLang="zh-CN" sz="1000" dirty="0">
                <a:solidFill>
                  <a:schemeClr val="accent1">
                    <a:lumMod val="50000"/>
                  </a:schemeClr>
                </a:solidFill>
              </a:rPr>
              <a:t>8.3.1</a:t>
            </a:r>
            <a:r>
              <a:rPr lang="zh-CN" altLang="zh-CN" sz="1000" dirty="0">
                <a:solidFill>
                  <a:schemeClr val="accent1">
                    <a:lumMod val="50000"/>
                  </a:schemeClr>
                </a:solidFill>
              </a:rPr>
              <a:t>至</a:t>
            </a:r>
            <a:r>
              <a:rPr lang="en-US" altLang="zh-CN" sz="1000" dirty="0">
                <a:solidFill>
                  <a:schemeClr val="accent1">
                    <a:lumMod val="50000"/>
                  </a:schemeClr>
                </a:solidFill>
              </a:rPr>
              <a:t>8.3.4</a:t>
            </a:r>
            <a:r>
              <a:rPr lang="zh-CN" altLang="zh-CN" sz="1000" dirty="0">
                <a:solidFill>
                  <a:schemeClr val="accent1">
                    <a:lumMod val="50000"/>
                  </a:schemeClr>
                </a:solidFill>
              </a:rPr>
              <a:t>关于获得综合排名的程序脚本定义为函数的形式，该函数我们记为</a:t>
            </a:r>
            <a:r>
              <a:rPr lang="en-US" altLang="zh-CN" sz="1000" dirty="0" err="1">
                <a:solidFill>
                  <a:schemeClr val="accent1">
                    <a:lumMod val="50000"/>
                  </a:schemeClr>
                </a:solidFill>
              </a:rPr>
              <a:t>Fr</a:t>
            </a:r>
            <a:r>
              <a:rPr lang="zh-CN" altLang="zh-CN" sz="1000" dirty="0">
                <a:solidFill>
                  <a:schemeClr val="accent1">
                    <a:lumMod val="50000"/>
                  </a:schemeClr>
                </a:solidFill>
              </a:rPr>
              <a:t>，存在于</a:t>
            </a:r>
            <a:r>
              <a:rPr lang="en-US" altLang="zh-CN" sz="1000" dirty="0">
                <a:solidFill>
                  <a:schemeClr val="accent1">
                    <a:lumMod val="50000"/>
                  </a:schemeClr>
                </a:solidFill>
              </a:rPr>
              <a:t>fun.py</a:t>
            </a:r>
            <a:r>
              <a:rPr lang="zh-CN" altLang="zh-CN" sz="1000" dirty="0">
                <a:solidFill>
                  <a:schemeClr val="accent1">
                    <a:lumMod val="50000"/>
                  </a:schemeClr>
                </a:solidFill>
              </a:rPr>
              <a:t>文件中，该函数详细定义示例代码如下：</a:t>
            </a:r>
          </a:p>
          <a:p>
            <a:pPr algn="just">
              <a:spcAft>
                <a:spcPts val="0"/>
              </a:spcAft>
            </a:pPr>
            <a:r>
              <a:rPr lang="en-US" altLang="zh-CN" sz="1000" kern="100" dirty="0" err="1">
                <a:solidFill>
                  <a:schemeClr val="accent1">
                    <a:lumMod val="50000"/>
                  </a:schemeClr>
                </a:solidFill>
                <a:latin typeface="Calibri"/>
                <a:ea typeface="宋体"/>
                <a:cs typeface="Times New Roman"/>
              </a:rPr>
              <a:t>def</a:t>
            </a:r>
            <a:r>
              <a:rPr lang="en-US" altLang="zh-CN" sz="1000" kern="100" dirty="0">
                <a:solidFill>
                  <a:schemeClr val="accent1">
                    <a:lumMod val="50000"/>
                  </a:schemeClr>
                </a:solidFill>
                <a:latin typeface="Calibri"/>
                <a:ea typeface="宋体"/>
                <a:cs typeface="Times New Roman"/>
              </a:rPr>
              <a:t> </a:t>
            </a:r>
            <a:r>
              <a:rPr lang="en-US" altLang="zh-CN" sz="1000" kern="100" dirty="0" err="1">
                <a:solidFill>
                  <a:schemeClr val="accent1">
                    <a:lumMod val="50000"/>
                  </a:schemeClr>
                </a:solidFill>
                <a:latin typeface="Calibri"/>
                <a:ea typeface="宋体"/>
                <a:cs typeface="Times New Roman"/>
              </a:rPr>
              <a:t>Fr</a:t>
            </a:r>
            <a:r>
              <a:rPr lang="en-US" altLang="zh-CN" sz="1000" kern="100" dirty="0">
                <a:solidFill>
                  <a:schemeClr val="accent1">
                    <a:lumMod val="50000"/>
                  </a:schemeClr>
                </a:solidFill>
                <a:latin typeface="Calibri"/>
                <a:ea typeface="宋体"/>
                <a:cs typeface="Times New Roman"/>
              </a:rPr>
              <a:t>(</a:t>
            </a:r>
            <a:r>
              <a:rPr lang="en-US" altLang="zh-CN" sz="1000" kern="100" dirty="0" err="1">
                <a:solidFill>
                  <a:schemeClr val="accent1">
                    <a:lumMod val="50000"/>
                  </a:schemeClr>
                </a:solidFill>
                <a:latin typeface="Calibri"/>
                <a:ea typeface="宋体"/>
                <a:cs typeface="Times New Roman"/>
              </a:rPr>
              <a:t>data,year</a:t>
            </a:r>
            <a:r>
              <a:rPr lang="en-US" altLang="zh-CN" sz="1000" kern="100" dirty="0">
                <a:solidFill>
                  <a:schemeClr val="accent1">
                    <a:lumMod val="50000"/>
                  </a:schemeClr>
                </a:solidFill>
                <a:latin typeface="Calibri"/>
                <a:ea typeface="宋体"/>
                <a:cs typeface="Times New Roman"/>
              </a:rPr>
              <a:t>):</a:t>
            </a:r>
            <a:endParaRPr lang="zh-CN" altLang="zh-CN" sz="1000" kern="100" dirty="0">
              <a:solidFill>
                <a:schemeClr val="accent1">
                  <a:lumMod val="50000"/>
                </a:schemeClr>
              </a:solidFill>
              <a:latin typeface="Calibri"/>
              <a:ea typeface="宋体"/>
              <a:cs typeface="Times New Roman"/>
            </a:endParaRPr>
          </a:p>
          <a:p>
            <a:pPr algn="just">
              <a:spcAft>
                <a:spcPts val="0"/>
              </a:spcAft>
            </a:pPr>
            <a:r>
              <a:rPr lang="en-US" altLang="zh-CN" sz="1000" kern="100" dirty="0">
                <a:solidFill>
                  <a:schemeClr val="accent1">
                    <a:lumMod val="50000"/>
                  </a:schemeClr>
                </a:solidFill>
                <a:latin typeface="Calibri"/>
                <a:ea typeface="宋体"/>
                <a:cs typeface="Times New Roman"/>
              </a:rPr>
              <a:t>    #</a:t>
            </a:r>
            <a:r>
              <a:rPr lang="zh-CN" altLang="zh-CN" sz="1000" kern="100" dirty="0">
                <a:solidFill>
                  <a:schemeClr val="accent1">
                    <a:lumMod val="50000"/>
                  </a:schemeClr>
                </a:solidFill>
                <a:latin typeface="Calibri"/>
                <a:ea typeface="宋体"/>
                <a:cs typeface="Times New Roman"/>
              </a:rPr>
              <a:t>输入：</a:t>
            </a:r>
          </a:p>
          <a:p>
            <a:pPr algn="just">
              <a:spcAft>
                <a:spcPts val="0"/>
              </a:spcAft>
            </a:pPr>
            <a:r>
              <a:rPr lang="en-US" altLang="zh-CN" sz="1000" kern="100" dirty="0">
                <a:solidFill>
                  <a:schemeClr val="accent1">
                    <a:lumMod val="50000"/>
                  </a:schemeClr>
                </a:solidFill>
                <a:latin typeface="Calibri"/>
                <a:ea typeface="宋体"/>
                <a:cs typeface="Times New Roman"/>
              </a:rPr>
              <a:t>    #data--</a:t>
            </a:r>
            <a:r>
              <a:rPr lang="zh-CN" altLang="zh-CN" sz="1000" kern="100" dirty="0">
                <a:solidFill>
                  <a:schemeClr val="accent1">
                    <a:lumMod val="50000"/>
                  </a:schemeClr>
                </a:solidFill>
                <a:latin typeface="Calibri"/>
                <a:ea typeface="宋体"/>
                <a:cs typeface="Times New Roman"/>
              </a:rPr>
              <a:t>财务指标数据</a:t>
            </a:r>
          </a:p>
          <a:p>
            <a:pPr algn="just">
              <a:spcAft>
                <a:spcPts val="0"/>
              </a:spcAft>
            </a:pPr>
            <a:r>
              <a:rPr lang="en-US" altLang="zh-CN" sz="1000" kern="100" dirty="0">
                <a:solidFill>
                  <a:schemeClr val="accent1">
                    <a:lumMod val="50000"/>
                  </a:schemeClr>
                </a:solidFill>
                <a:latin typeface="Calibri"/>
                <a:ea typeface="宋体"/>
                <a:cs typeface="Times New Roman"/>
              </a:rPr>
              <a:t>    #year--</a:t>
            </a:r>
            <a:r>
              <a:rPr lang="zh-CN" altLang="zh-CN" sz="1000" kern="100" dirty="0">
                <a:solidFill>
                  <a:schemeClr val="accent1">
                    <a:lumMod val="50000"/>
                  </a:schemeClr>
                </a:solidFill>
                <a:latin typeface="Calibri"/>
                <a:ea typeface="宋体"/>
                <a:cs typeface="Times New Roman"/>
              </a:rPr>
              <a:t>排名年度</a:t>
            </a:r>
          </a:p>
          <a:p>
            <a:pPr algn="just">
              <a:spcAft>
                <a:spcPts val="0"/>
              </a:spcAft>
            </a:pPr>
            <a:r>
              <a:rPr lang="en-US" altLang="zh-CN" sz="1000" kern="100" dirty="0">
                <a:solidFill>
                  <a:schemeClr val="accent1">
                    <a:lumMod val="50000"/>
                  </a:schemeClr>
                </a:solidFill>
                <a:latin typeface="Calibri"/>
                <a:ea typeface="宋体"/>
                <a:cs typeface="Times New Roman"/>
              </a:rPr>
              <a:t>    #</a:t>
            </a:r>
            <a:r>
              <a:rPr lang="zh-CN" altLang="zh-CN" sz="1000" kern="100" dirty="0">
                <a:solidFill>
                  <a:schemeClr val="accent1">
                    <a:lumMod val="50000"/>
                  </a:schemeClr>
                </a:solidFill>
                <a:latin typeface="Calibri"/>
                <a:ea typeface="宋体"/>
                <a:cs typeface="Times New Roman"/>
              </a:rPr>
              <a:t>输出：</a:t>
            </a:r>
          </a:p>
          <a:p>
            <a:pPr algn="just">
              <a:spcAft>
                <a:spcPts val="0"/>
              </a:spcAft>
            </a:pPr>
            <a:r>
              <a:rPr lang="en-US" altLang="zh-CN" sz="1000" kern="100" dirty="0">
                <a:solidFill>
                  <a:schemeClr val="accent1">
                    <a:lumMod val="50000"/>
                  </a:schemeClr>
                </a:solidFill>
                <a:latin typeface="Calibri"/>
                <a:ea typeface="宋体"/>
                <a:cs typeface="Times New Roman"/>
              </a:rPr>
              <a:t>    #Fscore1--</a:t>
            </a:r>
            <a:r>
              <a:rPr lang="zh-CN" altLang="zh-CN" sz="1000" kern="100" dirty="0">
                <a:solidFill>
                  <a:schemeClr val="accent1">
                    <a:lumMod val="50000"/>
                  </a:schemeClr>
                </a:solidFill>
                <a:latin typeface="Calibri"/>
                <a:ea typeface="宋体"/>
                <a:cs typeface="Times New Roman"/>
              </a:rPr>
              <a:t>排名结果（股票代码形式）</a:t>
            </a:r>
          </a:p>
          <a:p>
            <a:pPr algn="just">
              <a:spcAft>
                <a:spcPts val="0"/>
              </a:spcAft>
            </a:pPr>
            <a:r>
              <a:rPr lang="en-US" altLang="zh-CN" sz="1000" kern="100" dirty="0">
                <a:solidFill>
                  <a:schemeClr val="accent1">
                    <a:lumMod val="50000"/>
                  </a:schemeClr>
                </a:solidFill>
                <a:latin typeface="Calibri"/>
                <a:ea typeface="宋体"/>
                <a:cs typeface="Times New Roman"/>
              </a:rPr>
              <a:t>    #Fscore2--</a:t>
            </a:r>
            <a:r>
              <a:rPr lang="zh-CN" altLang="zh-CN" sz="1000" kern="100" dirty="0">
                <a:solidFill>
                  <a:schemeClr val="accent1">
                    <a:lumMod val="50000"/>
                  </a:schemeClr>
                </a:solidFill>
                <a:latin typeface="Calibri"/>
                <a:ea typeface="宋体"/>
                <a:cs typeface="Times New Roman"/>
              </a:rPr>
              <a:t>排名结果（股票名称形式）</a:t>
            </a:r>
          </a:p>
          <a:p>
            <a:pPr>
              <a:spcAft>
                <a:spcPts val="0"/>
              </a:spcAft>
            </a:pPr>
            <a:r>
              <a:rPr lang="en-US" altLang="zh-CN" sz="1100" dirty="0">
                <a:solidFill>
                  <a:schemeClr val="accent1">
                    <a:lumMod val="50000"/>
                  </a:schemeClr>
                </a:solidFill>
              </a:rPr>
              <a:t>    import pandas as </a:t>
            </a:r>
            <a:r>
              <a:rPr lang="en-US" altLang="zh-CN" sz="1100" dirty="0" err="1">
                <a:solidFill>
                  <a:schemeClr val="accent1">
                    <a:lumMod val="50000"/>
                  </a:schemeClr>
                </a:solidFill>
              </a:rPr>
              <a:t>pd</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data2=</a:t>
            </a:r>
            <a:r>
              <a:rPr lang="en-US" altLang="zh-CN" sz="1100" dirty="0" err="1">
                <a:solidFill>
                  <a:schemeClr val="accent1">
                    <a:lumMod val="50000"/>
                  </a:schemeClr>
                </a:solidFill>
              </a:rPr>
              <a:t>data.iloc</a:t>
            </a:r>
            <a:r>
              <a:rPr lang="en-US" altLang="zh-CN" sz="1100" dirty="0">
                <a:solidFill>
                  <a:schemeClr val="accent1">
                    <a:lumMod val="50000"/>
                  </a:schemeClr>
                </a:solidFill>
              </a:rPr>
              <a:t>[data['</a:t>
            </a:r>
            <a:r>
              <a:rPr lang="en-US" altLang="zh-CN" sz="1100" dirty="0" err="1">
                <a:solidFill>
                  <a:schemeClr val="accent1">
                    <a:lumMod val="50000"/>
                  </a:schemeClr>
                </a:solidFill>
              </a:rPr>
              <a:t>Accper</a:t>
            </a:r>
            <a:r>
              <a:rPr lang="en-US" altLang="zh-CN" sz="1100" dirty="0">
                <a:solidFill>
                  <a:schemeClr val="accent1">
                    <a:lumMod val="50000"/>
                  </a:schemeClr>
                </a:solidFill>
              </a:rPr>
              <a:t>'].values==</a:t>
            </a:r>
            <a:r>
              <a:rPr lang="en-US" altLang="zh-CN" sz="1100" dirty="0" err="1">
                <a:solidFill>
                  <a:schemeClr val="accent1">
                    <a:lumMod val="50000"/>
                  </a:schemeClr>
                </a:solidFill>
              </a:rPr>
              <a:t>str</a:t>
            </a:r>
            <a:r>
              <a:rPr lang="en-US" altLang="zh-CN" sz="1100" dirty="0">
                <a:solidFill>
                  <a:schemeClr val="accent1">
                    <a:lumMod val="50000"/>
                  </a:schemeClr>
                </a:solidFill>
              </a:rPr>
              <a:t>(year)+'-12-31',[ 0,2,3,4,5,6,7,8,9,10,11]]</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data2=data2[data2&gt;0]</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data2=data2.dropna()</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from </a:t>
            </a:r>
            <a:r>
              <a:rPr lang="en-US" altLang="zh-CN" sz="1100" dirty="0" err="1">
                <a:solidFill>
                  <a:schemeClr val="accent1">
                    <a:lumMod val="50000"/>
                  </a:schemeClr>
                </a:solidFill>
              </a:rPr>
              <a:t>sklearn.preprocessing</a:t>
            </a:r>
            <a:r>
              <a:rPr lang="en-US" altLang="zh-CN" sz="1100" dirty="0">
                <a:solidFill>
                  <a:schemeClr val="accent1">
                    <a:lumMod val="50000"/>
                  </a:schemeClr>
                </a:solidFill>
              </a:rPr>
              <a:t> import </a:t>
            </a:r>
            <a:r>
              <a:rPr lang="en-US" altLang="zh-CN" sz="1100" dirty="0" err="1">
                <a:solidFill>
                  <a:schemeClr val="accent1">
                    <a:lumMod val="50000"/>
                  </a:schemeClr>
                </a:solidFill>
              </a:rPr>
              <a:t>StandardScaler</a:t>
            </a:r>
            <a:r>
              <a:rPr lang="en-US" altLang="zh-CN" sz="1100" dirty="0">
                <a:solidFill>
                  <a:schemeClr val="accent1">
                    <a:lumMod val="50000"/>
                  </a:schemeClr>
                </a:solidFill>
              </a:rPr>
              <a:t>  </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X=data2.iloc[:,1:]</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a:t>
            </a:r>
            <a:r>
              <a:rPr lang="en-US" altLang="zh-CN" sz="1100" dirty="0" err="1">
                <a:solidFill>
                  <a:schemeClr val="accent1">
                    <a:lumMod val="50000"/>
                  </a:schemeClr>
                </a:solidFill>
              </a:rPr>
              <a:t>scaler</a:t>
            </a:r>
            <a:r>
              <a:rPr lang="en-US" altLang="zh-CN" sz="1100" dirty="0">
                <a:solidFill>
                  <a:schemeClr val="accent1">
                    <a:lumMod val="50000"/>
                  </a:schemeClr>
                </a:solidFill>
              </a:rPr>
              <a:t> = </a:t>
            </a:r>
            <a:r>
              <a:rPr lang="en-US" altLang="zh-CN" sz="1100" dirty="0" err="1">
                <a:solidFill>
                  <a:schemeClr val="accent1">
                    <a:lumMod val="50000"/>
                  </a:schemeClr>
                </a:solidFill>
              </a:rPr>
              <a:t>StandardScaler</a:t>
            </a:r>
            <a:r>
              <a:rPr lang="en-US" altLang="zh-CN" sz="1100" dirty="0">
                <a:solidFill>
                  <a:schemeClr val="accent1">
                    <a:lumMod val="50000"/>
                  </a:schemeClr>
                </a:solidFill>
              </a:rPr>
              <a:t>()</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a:t>
            </a:r>
            <a:r>
              <a:rPr lang="en-US" altLang="zh-CN" sz="1100" dirty="0" err="1">
                <a:solidFill>
                  <a:schemeClr val="accent1">
                    <a:lumMod val="50000"/>
                  </a:schemeClr>
                </a:solidFill>
              </a:rPr>
              <a:t>scaler.fit</a:t>
            </a:r>
            <a:r>
              <a:rPr lang="en-US" altLang="zh-CN" sz="1100" dirty="0">
                <a:solidFill>
                  <a:schemeClr val="accent1">
                    <a:lumMod val="50000"/>
                  </a:schemeClr>
                </a:solidFill>
              </a:rPr>
              <a:t>(X) </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X=</a:t>
            </a:r>
            <a:r>
              <a:rPr lang="en-US" altLang="zh-CN" sz="1100" dirty="0" err="1">
                <a:solidFill>
                  <a:schemeClr val="accent1">
                    <a:lumMod val="50000"/>
                  </a:schemeClr>
                </a:solidFill>
              </a:rPr>
              <a:t>scaler.transform</a:t>
            </a:r>
            <a:r>
              <a:rPr lang="en-US" altLang="zh-CN" sz="1100" dirty="0">
                <a:solidFill>
                  <a:schemeClr val="accent1">
                    <a:lumMod val="50000"/>
                  </a:schemeClr>
                </a:solidFill>
              </a:rPr>
              <a:t>(X)  </a:t>
            </a:r>
            <a:endParaRPr lang="zh-CN" altLang="zh-CN" sz="1100" dirty="0">
              <a:solidFill>
                <a:schemeClr val="accent1">
                  <a:lumMod val="50000"/>
                </a:schemeClr>
              </a:solidFill>
            </a:endParaRPr>
          </a:p>
        </p:txBody>
      </p:sp>
      <p:sp>
        <p:nvSpPr>
          <p:cNvPr id="7" name="TextBox 6"/>
          <p:cNvSpPr txBox="1"/>
          <p:nvPr/>
        </p:nvSpPr>
        <p:spPr>
          <a:xfrm>
            <a:off x="4401925" y="1416864"/>
            <a:ext cx="4634571" cy="3570208"/>
          </a:xfrm>
          <a:prstGeom prst="rect">
            <a:avLst/>
          </a:prstGeom>
          <a:noFill/>
        </p:spPr>
        <p:txBody>
          <a:bodyPr wrap="square" rtlCol="0">
            <a:spAutoFit/>
          </a:bodyPr>
          <a:lstStyle/>
          <a:p>
            <a:pPr>
              <a:spcAft>
                <a:spcPts val="0"/>
              </a:spcAft>
            </a:pPr>
            <a:r>
              <a:rPr lang="en-US" altLang="zh-CN" sz="1000" kern="100" dirty="0">
                <a:solidFill>
                  <a:schemeClr val="accent1">
                    <a:lumMod val="50000"/>
                  </a:schemeClr>
                </a:solidFill>
                <a:latin typeface="Calibri"/>
                <a:ea typeface="宋体"/>
                <a:cs typeface="Times New Roman"/>
              </a:rPr>
              <a:t> </a:t>
            </a:r>
            <a:r>
              <a:rPr lang="en-US" altLang="zh-CN" sz="1100" dirty="0">
                <a:solidFill>
                  <a:schemeClr val="accent1">
                    <a:lumMod val="50000"/>
                  </a:schemeClr>
                </a:solidFill>
              </a:rPr>
              <a:t>from </a:t>
            </a:r>
            <a:r>
              <a:rPr lang="en-US" altLang="zh-CN" sz="1100" dirty="0" err="1">
                <a:solidFill>
                  <a:schemeClr val="accent1">
                    <a:lumMod val="50000"/>
                  </a:schemeClr>
                </a:solidFill>
              </a:rPr>
              <a:t>sklearn.decomposition</a:t>
            </a:r>
            <a:r>
              <a:rPr lang="en-US" altLang="zh-CN" sz="1100" dirty="0">
                <a:solidFill>
                  <a:schemeClr val="accent1">
                    <a:lumMod val="50000"/>
                  </a:schemeClr>
                </a:solidFill>
              </a:rPr>
              <a:t> import PCA </a:t>
            </a:r>
            <a:endParaRPr lang="zh-CN" altLang="zh-CN" sz="1100" dirty="0">
              <a:solidFill>
                <a:schemeClr val="accent1">
                  <a:lumMod val="50000"/>
                </a:schemeClr>
              </a:solidFill>
            </a:endParaRPr>
          </a:p>
          <a:p>
            <a:pPr algn="just">
              <a:spcAft>
                <a:spcPts val="0"/>
              </a:spcAft>
            </a:pPr>
            <a:r>
              <a:rPr lang="en-US" altLang="zh-CN" sz="1000" kern="100" dirty="0">
                <a:solidFill>
                  <a:schemeClr val="accent1">
                    <a:lumMod val="50000"/>
                  </a:schemeClr>
                </a:solidFill>
                <a:latin typeface="Calibri"/>
                <a:ea typeface="宋体"/>
                <a:cs typeface="Times New Roman"/>
              </a:rPr>
              <a:t>    </a:t>
            </a:r>
            <a:r>
              <a:rPr lang="en-US" altLang="zh-CN" sz="1100" dirty="0" err="1">
                <a:solidFill>
                  <a:schemeClr val="accent1">
                    <a:lumMod val="50000"/>
                  </a:schemeClr>
                </a:solidFill>
              </a:rPr>
              <a:t>pca</a:t>
            </a:r>
            <a:r>
              <a:rPr lang="en-US" altLang="zh-CN" sz="1100" dirty="0">
                <a:solidFill>
                  <a:schemeClr val="accent1">
                    <a:lumMod val="50000"/>
                  </a:schemeClr>
                </a:solidFill>
              </a:rPr>
              <a:t>=PCA(</a:t>
            </a:r>
            <a:r>
              <a:rPr lang="en-US" altLang="zh-CN" sz="1100" dirty="0" err="1">
                <a:solidFill>
                  <a:schemeClr val="accent1">
                    <a:lumMod val="50000"/>
                  </a:schemeClr>
                </a:solidFill>
              </a:rPr>
              <a:t>n_components</a:t>
            </a:r>
            <a:r>
              <a:rPr lang="en-US" altLang="zh-CN" sz="1100" dirty="0">
                <a:solidFill>
                  <a:schemeClr val="accent1">
                    <a:lumMod val="50000"/>
                  </a:schemeClr>
                </a:solidFill>
              </a:rPr>
              <a:t>=0.95)      </a:t>
            </a:r>
            <a:r>
              <a:rPr lang="en-US" altLang="zh-CN" sz="1000" kern="100" dirty="0">
                <a:solidFill>
                  <a:schemeClr val="accent1">
                    <a:lumMod val="50000"/>
                  </a:schemeClr>
                </a:solidFill>
                <a:latin typeface="Calibri"/>
                <a:ea typeface="宋体"/>
                <a:cs typeface="Times New Roman"/>
              </a:rPr>
              <a:t>#</a:t>
            </a:r>
            <a:r>
              <a:rPr lang="zh-CN" altLang="zh-CN" sz="1000" kern="100" dirty="0">
                <a:solidFill>
                  <a:schemeClr val="accent1">
                    <a:lumMod val="50000"/>
                  </a:schemeClr>
                </a:solidFill>
                <a:latin typeface="Calibri"/>
                <a:ea typeface="宋体"/>
                <a:cs typeface="Times New Roman"/>
              </a:rPr>
              <a:t>累计贡献率为</a:t>
            </a:r>
            <a:r>
              <a:rPr lang="en-US" altLang="zh-CN" sz="1000" kern="100" dirty="0">
                <a:solidFill>
                  <a:schemeClr val="accent1">
                    <a:lumMod val="50000"/>
                  </a:schemeClr>
                </a:solidFill>
                <a:latin typeface="Calibri"/>
                <a:ea typeface="宋体"/>
                <a:cs typeface="Times New Roman"/>
              </a:rPr>
              <a:t>95%</a:t>
            </a:r>
            <a:endParaRPr lang="zh-CN" altLang="zh-CN" sz="1000" kern="100" dirty="0">
              <a:solidFill>
                <a:schemeClr val="accent1">
                  <a:lumMod val="50000"/>
                </a:schemeClr>
              </a:solidFill>
              <a:latin typeface="Calibri"/>
              <a:ea typeface="宋体"/>
              <a:cs typeface="Times New Roman"/>
            </a:endParaRPr>
          </a:p>
          <a:p>
            <a:pPr algn="just">
              <a:spcAft>
                <a:spcPts val="0"/>
              </a:spcAft>
            </a:pPr>
            <a:r>
              <a:rPr lang="en-US" altLang="zh-CN" sz="1000" kern="100" dirty="0">
                <a:solidFill>
                  <a:schemeClr val="accent1">
                    <a:lumMod val="50000"/>
                  </a:schemeClr>
                </a:solidFill>
                <a:latin typeface="Calibri"/>
                <a:ea typeface="宋体"/>
                <a:cs typeface="Times New Roman"/>
              </a:rPr>
              <a:t>    </a:t>
            </a:r>
            <a:r>
              <a:rPr lang="en-US" altLang="zh-CN" sz="1100" dirty="0">
                <a:solidFill>
                  <a:schemeClr val="accent1">
                    <a:lumMod val="50000"/>
                  </a:schemeClr>
                </a:solidFill>
              </a:rPr>
              <a:t>Y=</a:t>
            </a:r>
            <a:r>
              <a:rPr lang="en-US" altLang="zh-CN" sz="1100" dirty="0" err="1">
                <a:solidFill>
                  <a:schemeClr val="accent1">
                    <a:lumMod val="50000"/>
                  </a:schemeClr>
                </a:solidFill>
              </a:rPr>
              <a:t>pca.fit_transform</a:t>
            </a:r>
            <a:r>
              <a:rPr lang="en-US" altLang="zh-CN" sz="1100" dirty="0">
                <a:solidFill>
                  <a:schemeClr val="accent1">
                    <a:lumMod val="50000"/>
                  </a:schemeClr>
                </a:solidFill>
              </a:rPr>
              <a:t>(X)            </a:t>
            </a:r>
            <a:r>
              <a:rPr lang="en-US" altLang="zh-CN" sz="1000" kern="100" dirty="0">
                <a:solidFill>
                  <a:schemeClr val="accent1">
                    <a:lumMod val="50000"/>
                  </a:schemeClr>
                </a:solidFill>
                <a:latin typeface="Calibri"/>
                <a:ea typeface="宋体"/>
                <a:cs typeface="Times New Roman"/>
              </a:rPr>
              <a:t>#</a:t>
            </a:r>
            <a:r>
              <a:rPr lang="zh-CN" altLang="zh-CN" sz="1000" kern="100" dirty="0">
                <a:solidFill>
                  <a:schemeClr val="accent1">
                    <a:lumMod val="50000"/>
                  </a:schemeClr>
                </a:solidFill>
                <a:latin typeface="Calibri"/>
                <a:ea typeface="宋体"/>
                <a:cs typeface="Times New Roman"/>
              </a:rPr>
              <a:t>满足累计贡献率为</a:t>
            </a:r>
            <a:r>
              <a:rPr lang="en-US" altLang="zh-CN" sz="1000" kern="100" dirty="0">
                <a:solidFill>
                  <a:schemeClr val="accent1">
                    <a:lumMod val="50000"/>
                  </a:schemeClr>
                </a:solidFill>
                <a:latin typeface="Calibri"/>
                <a:ea typeface="宋体"/>
                <a:cs typeface="Times New Roman"/>
              </a:rPr>
              <a:t>95%</a:t>
            </a:r>
            <a:r>
              <a:rPr lang="zh-CN" altLang="zh-CN" sz="1000" kern="100" dirty="0">
                <a:solidFill>
                  <a:schemeClr val="accent1">
                    <a:lumMod val="50000"/>
                  </a:schemeClr>
                </a:solidFill>
                <a:latin typeface="Calibri"/>
                <a:ea typeface="宋体"/>
                <a:cs typeface="Times New Roman"/>
              </a:rPr>
              <a:t>的主成分数据</a:t>
            </a:r>
          </a:p>
          <a:p>
            <a:pPr algn="just">
              <a:spcAft>
                <a:spcPts val="0"/>
              </a:spcAft>
            </a:pPr>
            <a:r>
              <a:rPr lang="en-US" altLang="zh-CN" sz="1000" kern="100" dirty="0">
                <a:solidFill>
                  <a:schemeClr val="accent1">
                    <a:lumMod val="50000"/>
                  </a:schemeClr>
                </a:solidFill>
                <a:latin typeface="Calibri"/>
                <a:ea typeface="宋体"/>
                <a:cs typeface="Times New Roman"/>
              </a:rPr>
              <a:t>    </a:t>
            </a:r>
            <a:r>
              <a:rPr lang="en-US" altLang="zh-CN" sz="1100" dirty="0" err="1">
                <a:solidFill>
                  <a:schemeClr val="accent1">
                    <a:lumMod val="50000"/>
                  </a:schemeClr>
                </a:solidFill>
              </a:rPr>
              <a:t>gxl</a:t>
            </a:r>
            <a:r>
              <a:rPr lang="en-US" altLang="zh-CN" sz="1100" dirty="0">
                <a:solidFill>
                  <a:schemeClr val="accent1">
                    <a:lumMod val="50000"/>
                  </a:schemeClr>
                </a:solidFill>
              </a:rPr>
              <a:t>=</a:t>
            </a:r>
            <a:r>
              <a:rPr lang="en-US" altLang="zh-CN" sz="1100" dirty="0" err="1">
                <a:solidFill>
                  <a:schemeClr val="accent1">
                    <a:lumMod val="50000"/>
                  </a:schemeClr>
                </a:solidFill>
              </a:rPr>
              <a:t>pca.explained_variance_ratio</a:t>
            </a:r>
            <a:r>
              <a:rPr lang="en-US" altLang="zh-CN" sz="1100" dirty="0">
                <a:solidFill>
                  <a:schemeClr val="accent1">
                    <a:lumMod val="50000"/>
                  </a:schemeClr>
                </a:solidFill>
              </a:rPr>
              <a:t>_   </a:t>
            </a:r>
            <a:r>
              <a:rPr lang="en-US" altLang="zh-CN" sz="1000" kern="100" dirty="0">
                <a:solidFill>
                  <a:schemeClr val="accent1">
                    <a:lumMod val="50000"/>
                  </a:schemeClr>
                </a:solidFill>
                <a:latin typeface="Calibri"/>
                <a:ea typeface="宋体"/>
                <a:cs typeface="Times New Roman"/>
              </a:rPr>
              <a:t>#</a:t>
            </a:r>
            <a:r>
              <a:rPr lang="zh-CN" altLang="zh-CN" sz="1000" kern="100" dirty="0">
                <a:solidFill>
                  <a:schemeClr val="accent1">
                    <a:lumMod val="50000"/>
                  </a:schemeClr>
                </a:solidFill>
                <a:latin typeface="Calibri"/>
                <a:ea typeface="宋体"/>
                <a:cs typeface="Times New Roman"/>
              </a:rPr>
              <a:t>贡献率</a:t>
            </a:r>
          </a:p>
          <a:p>
            <a:pPr>
              <a:spcAft>
                <a:spcPts val="0"/>
              </a:spcAft>
            </a:pPr>
            <a:r>
              <a:rPr lang="en-US" altLang="zh-CN" sz="1000" kern="100" dirty="0">
                <a:solidFill>
                  <a:schemeClr val="accent1">
                    <a:lumMod val="50000"/>
                  </a:schemeClr>
                </a:solidFill>
                <a:latin typeface="Calibri"/>
                <a:ea typeface="宋体"/>
                <a:cs typeface="Times New Roman"/>
              </a:rPr>
              <a:t>    </a:t>
            </a:r>
            <a:r>
              <a:rPr lang="en-US" altLang="zh-CN" sz="1100" dirty="0">
                <a:solidFill>
                  <a:schemeClr val="accent1">
                    <a:lumMod val="50000"/>
                  </a:schemeClr>
                </a:solidFill>
              </a:rPr>
              <a:t>import </a:t>
            </a:r>
            <a:r>
              <a:rPr lang="en-US" altLang="zh-CN" sz="1100" dirty="0" err="1">
                <a:solidFill>
                  <a:schemeClr val="accent1">
                    <a:lumMod val="50000"/>
                  </a:schemeClr>
                </a:solidFill>
              </a:rPr>
              <a:t>numpy</a:t>
            </a:r>
            <a:r>
              <a:rPr lang="en-US" altLang="zh-CN" sz="1100" dirty="0">
                <a:solidFill>
                  <a:schemeClr val="accent1">
                    <a:lumMod val="50000"/>
                  </a:schemeClr>
                </a:solidFill>
              </a:rPr>
              <a:t> as </a:t>
            </a:r>
            <a:r>
              <a:rPr lang="en-US" altLang="zh-CN" sz="1100" dirty="0" err="1">
                <a:solidFill>
                  <a:schemeClr val="accent1">
                    <a:lumMod val="50000"/>
                  </a:schemeClr>
                </a:solidFill>
              </a:rPr>
              <a:t>np</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a:t>
            </a:r>
            <a:r>
              <a:rPr lang="en-US" altLang="zh-CN" sz="1100" dirty="0" err="1">
                <a:solidFill>
                  <a:schemeClr val="accent1">
                    <a:lumMod val="50000"/>
                  </a:schemeClr>
                </a:solidFill>
              </a:rPr>
              <a:t>np.zeros</a:t>
            </a:r>
            <a:r>
              <a:rPr lang="en-US" altLang="zh-CN" sz="1100" dirty="0">
                <a:solidFill>
                  <a:schemeClr val="accent1">
                    <a:lumMod val="50000"/>
                  </a:schemeClr>
                </a:solidFill>
              </a:rPr>
              <a:t>((</a:t>
            </a:r>
            <a:r>
              <a:rPr lang="en-US" altLang="zh-CN" sz="1100" dirty="0" err="1">
                <a:solidFill>
                  <a:schemeClr val="accent1">
                    <a:lumMod val="50000"/>
                  </a:schemeClr>
                </a:solidFill>
              </a:rPr>
              <a:t>len</a:t>
            </a:r>
            <a:r>
              <a:rPr lang="en-US" altLang="zh-CN" sz="1100" dirty="0">
                <a:solidFill>
                  <a:schemeClr val="accent1">
                    <a:lumMod val="50000"/>
                  </a:schemeClr>
                </a:solidFill>
              </a:rPr>
              <a:t>(Y)))</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for i in range(</a:t>
            </a:r>
            <a:r>
              <a:rPr lang="en-US" altLang="zh-CN" sz="1100" dirty="0" err="1">
                <a:solidFill>
                  <a:schemeClr val="accent1">
                    <a:lumMod val="50000"/>
                  </a:schemeClr>
                </a:solidFill>
              </a:rPr>
              <a:t>len</a:t>
            </a:r>
            <a:r>
              <a:rPr lang="en-US" altLang="zh-CN" sz="1100" dirty="0">
                <a:solidFill>
                  <a:schemeClr val="accent1">
                    <a:lumMod val="50000"/>
                  </a:schemeClr>
                </a:solidFill>
              </a:rPr>
              <a:t>(</a:t>
            </a:r>
            <a:r>
              <a:rPr lang="en-US" altLang="zh-CN" sz="1100" dirty="0" err="1">
                <a:solidFill>
                  <a:schemeClr val="accent1">
                    <a:lumMod val="50000"/>
                  </a:schemeClr>
                </a:solidFill>
              </a:rPr>
              <a:t>gxl</a:t>
            </a:r>
            <a:r>
              <a:rPr lang="en-US" altLang="zh-CN" sz="1100" dirty="0">
                <a:solidFill>
                  <a:schemeClr val="accent1">
                    <a:lumMod val="50000"/>
                  </a:schemeClr>
                </a:solidFill>
              </a:rPr>
              <a:t>)):</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f=Y[:,i]*</a:t>
            </a:r>
            <a:r>
              <a:rPr lang="en-US" altLang="zh-CN" sz="1100" dirty="0" err="1">
                <a:solidFill>
                  <a:schemeClr val="accent1">
                    <a:lumMod val="50000"/>
                  </a:schemeClr>
                </a:solidFill>
              </a:rPr>
              <a:t>gxl</a:t>
            </a:r>
            <a:r>
              <a:rPr lang="en-US" altLang="zh-CN" sz="1100" dirty="0">
                <a:solidFill>
                  <a:schemeClr val="accent1">
                    <a:lumMod val="50000"/>
                  </a:schemeClr>
                </a:solidFill>
              </a:rPr>
              <a:t>[i]</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a:t>
            </a:r>
            <a:r>
              <a:rPr lang="en-US" altLang="zh-CN" sz="1100" dirty="0" err="1">
                <a:solidFill>
                  <a:schemeClr val="accent1">
                    <a:lumMod val="50000"/>
                  </a:schemeClr>
                </a:solidFill>
              </a:rPr>
              <a:t>F+f</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fs1=</a:t>
            </a:r>
            <a:r>
              <a:rPr lang="en-US" altLang="zh-CN" sz="1100" dirty="0" err="1">
                <a:solidFill>
                  <a:schemeClr val="accent1">
                    <a:lumMod val="50000"/>
                  </a:schemeClr>
                </a:solidFill>
              </a:rPr>
              <a:t>pd.Series</a:t>
            </a:r>
            <a:r>
              <a:rPr lang="en-US" altLang="zh-CN" sz="1100" dirty="0">
                <a:solidFill>
                  <a:schemeClr val="accent1">
                    <a:lumMod val="50000"/>
                  </a:schemeClr>
                </a:solidFill>
              </a:rPr>
              <a:t>(</a:t>
            </a:r>
            <a:r>
              <a:rPr lang="en-US" altLang="zh-CN" sz="1100" dirty="0" err="1">
                <a:solidFill>
                  <a:schemeClr val="accent1">
                    <a:lumMod val="50000"/>
                  </a:schemeClr>
                </a:solidFill>
              </a:rPr>
              <a:t>F,index</a:t>
            </a:r>
            <a:r>
              <a:rPr lang="en-US" altLang="zh-CN" sz="1100" dirty="0">
                <a:solidFill>
                  <a:schemeClr val="accent1">
                    <a:lumMod val="50000"/>
                  </a:schemeClr>
                </a:solidFill>
              </a:rPr>
              <a:t>=data2['</a:t>
            </a:r>
            <a:r>
              <a:rPr lang="en-US" altLang="zh-CN" sz="1100" dirty="0" err="1">
                <a:solidFill>
                  <a:schemeClr val="accent1">
                    <a:lumMod val="50000"/>
                  </a:schemeClr>
                </a:solidFill>
              </a:rPr>
              <a:t>Stkcd</a:t>
            </a:r>
            <a:r>
              <a:rPr lang="en-US" altLang="zh-CN" sz="1100" dirty="0">
                <a:solidFill>
                  <a:schemeClr val="accent1">
                    <a:lumMod val="50000"/>
                  </a:schemeClr>
                </a:solidFill>
              </a:rPr>
              <a:t>'].values)</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Fscore1=fs1.sort_values(ascending=False)   </a:t>
            </a:r>
            <a:r>
              <a:rPr lang="en-US" altLang="zh-CN" sz="1000" kern="100" dirty="0">
                <a:solidFill>
                  <a:schemeClr val="accent1">
                    <a:lumMod val="50000"/>
                  </a:schemeClr>
                </a:solidFill>
                <a:latin typeface="Calibri"/>
                <a:ea typeface="宋体"/>
                <a:cs typeface="Times New Roman"/>
              </a:rPr>
              <a:t>#</a:t>
            </a:r>
            <a:r>
              <a:rPr lang="zh-CN" altLang="zh-CN" sz="1000" kern="100" dirty="0">
                <a:solidFill>
                  <a:schemeClr val="accent1">
                    <a:lumMod val="50000"/>
                  </a:schemeClr>
                </a:solidFill>
                <a:latin typeface="Calibri"/>
                <a:ea typeface="宋体"/>
                <a:cs typeface="Times New Roman"/>
              </a:rPr>
              <a:t>降序，</a:t>
            </a:r>
            <a:r>
              <a:rPr lang="en-US" altLang="zh-CN" sz="1000" kern="100" dirty="0">
                <a:solidFill>
                  <a:schemeClr val="accent1">
                    <a:lumMod val="50000"/>
                  </a:schemeClr>
                </a:solidFill>
                <a:latin typeface="Calibri"/>
                <a:ea typeface="宋体"/>
                <a:cs typeface="Times New Roman"/>
              </a:rPr>
              <a:t>True</a:t>
            </a:r>
            <a:r>
              <a:rPr lang="zh-CN" altLang="zh-CN" sz="1000" kern="100" dirty="0">
                <a:solidFill>
                  <a:schemeClr val="accent1">
                    <a:lumMod val="50000"/>
                  </a:schemeClr>
                </a:solidFill>
                <a:latin typeface="Calibri"/>
                <a:ea typeface="宋体"/>
                <a:cs typeface="Times New Roman"/>
              </a:rPr>
              <a:t>为升序</a:t>
            </a:r>
          </a:p>
          <a:p>
            <a:pPr>
              <a:spcAft>
                <a:spcPts val="0"/>
              </a:spcAft>
            </a:pPr>
            <a:r>
              <a:rPr lang="en-US" altLang="zh-CN" sz="1100" dirty="0">
                <a:solidFill>
                  <a:schemeClr val="accent1">
                    <a:lumMod val="50000"/>
                  </a:schemeClr>
                </a:solidFill>
              </a:rPr>
              <a:t>    co=</a:t>
            </a:r>
            <a:r>
              <a:rPr lang="en-US" altLang="zh-CN" sz="1100" dirty="0" err="1">
                <a:solidFill>
                  <a:schemeClr val="accent1">
                    <a:lumMod val="50000"/>
                  </a:schemeClr>
                </a:solidFill>
              </a:rPr>
              <a:t>pd.read_excel</a:t>
            </a:r>
            <a:r>
              <a:rPr lang="en-US" altLang="zh-CN" sz="1100" dirty="0">
                <a:solidFill>
                  <a:schemeClr val="accent1">
                    <a:lumMod val="50000"/>
                  </a:schemeClr>
                </a:solidFill>
              </a:rPr>
              <a:t>('TRD_Co.xlsx')</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Co=</a:t>
            </a:r>
            <a:r>
              <a:rPr lang="en-US" altLang="zh-CN" sz="1100" dirty="0" err="1">
                <a:solidFill>
                  <a:schemeClr val="accent1">
                    <a:lumMod val="50000"/>
                  </a:schemeClr>
                </a:solidFill>
              </a:rPr>
              <a:t>pd.Series</a:t>
            </a:r>
            <a:r>
              <a:rPr lang="en-US" altLang="zh-CN" sz="1100" dirty="0">
                <a:solidFill>
                  <a:schemeClr val="accent1">
                    <a:lumMod val="50000"/>
                  </a:schemeClr>
                </a:solidFill>
              </a:rPr>
              <a:t>(co['</a:t>
            </a:r>
            <a:r>
              <a:rPr lang="en-US" altLang="zh-CN" sz="1100" dirty="0" err="1">
                <a:solidFill>
                  <a:schemeClr val="accent1">
                    <a:lumMod val="50000"/>
                  </a:schemeClr>
                </a:solidFill>
              </a:rPr>
              <a:t>Stknme</a:t>
            </a:r>
            <a:r>
              <a:rPr lang="en-US" altLang="zh-CN" sz="1100" dirty="0">
                <a:solidFill>
                  <a:schemeClr val="accent1">
                    <a:lumMod val="50000"/>
                  </a:schemeClr>
                </a:solidFill>
              </a:rPr>
              <a:t>'].</a:t>
            </a:r>
            <a:r>
              <a:rPr lang="en-US" altLang="zh-CN" sz="1100" dirty="0" err="1">
                <a:solidFill>
                  <a:schemeClr val="accent1">
                    <a:lumMod val="50000"/>
                  </a:schemeClr>
                </a:solidFill>
              </a:rPr>
              <a:t>values,index</a:t>
            </a:r>
            <a:r>
              <a:rPr lang="en-US" altLang="zh-CN" sz="1100" dirty="0">
                <a:solidFill>
                  <a:schemeClr val="accent1">
                    <a:lumMod val="50000"/>
                  </a:schemeClr>
                </a:solidFill>
              </a:rPr>
              <a:t>=co['</a:t>
            </a:r>
            <a:r>
              <a:rPr lang="en-US" altLang="zh-CN" sz="1100" dirty="0" err="1">
                <a:solidFill>
                  <a:schemeClr val="accent1">
                    <a:lumMod val="50000"/>
                  </a:schemeClr>
                </a:solidFill>
              </a:rPr>
              <a:t>Stkcd</a:t>
            </a:r>
            <a:r>
              <a:rPr lang="en-US" altLang="zh-CN" sz="1100" dirty="0">
                <a:solidFill>
                  <a:schemeClr val="accent1">
                    <a:lumMod val="50000"/>
                  </a:schemeClr>
                </a:solidFill>
              </a:rPr>
              <a:t>'].values)</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Co1=Co[data2['</a:t>
            </a:r>
            <a:r>
              <a:rPr lang="en-US" altLang="zh-CN" sz="1100" dirty="0" err="1">
                <a:solidFill>
                  <a:schemeClr val="accent1">
                    <a:lumMod val="50000"/>
                  </a:schemeClr>
                </a:solidFill>
              </a:rPr>
              <a:t>Stkcd</a:t>
            </a:r>
            <a:r>
              <a:rPr lang="en-US" altLang="zh-CN" sz="1100" dirty="0">
                <a:solidFill>
                  <a:schemeClr val="accent1">
                    <a:lumMod val="50000"/>
                  </a:schemeClr>
                </a:solidFill>
              </a:rPr>
              <a:t>'].values]</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fs2=</a:t>
            </a:r>
            <a:r>
              <a:rPr lang="en-US" altLang="zh-CN" sz="1100" dirty="0" err="1">
                <a:solidFill>
                  <a:schemeClr val="accent1">
                    <a:lumMod val="50000"/>
                  </a:schemeClr>
                </a:solidFill>
              </a:rPr>
              <a:t>pd.Series</a:t>
            </a:r>
            <a:r>
              <a:rPr lang="en-US" altLang="zh-CN" sz="1100" dirty="0">
                <a:solidFill>
                  <a:schemeClr val="accent1">
                    <a:lumMod val="50000"/>
                  </a:schemeClr>
                </a:solidFill>
              </a:rPr>
              <a:t>(</a:t>
            </a:r>
            <a:r>
              <a:rPr lang="en-US" altLang="zh-CN" sz="1100" dirty="0" err="1">
                <a:solidFill>
                  <a:schemeClr val="accent1">
                    <a:lumMod val="50000"/>
                  </a:schemeClr>
                </a:solidFill>
              </a:rPr>
              <a:t>F,index</a:t>
            </a:r>
            <a:r>
              <a:rPr lang="en-US" altLang="zh-CN" sz="1100" dirty="0">
                <a:solidFill>
                  <a:schemeClr val="accent1">
                    <a:lumMod val="50000"/>
                  </a:schemeClr>
                </a:solidFill>
              </a:rPr>
              <a:t>=Co1.values)</a:t>
            </a:r>
            <a:endParaRPr lang="zh-CN" altLang="zh-CN" sz="1100" dirty="0">
              <a:solidFill>
                <a:schemeClr val="accent1">
                  <a:lumMod val="50000"/>
                </a:schemeClr>
              </a:solidFill>
            </a:endParaRPr>
          </a:p>
          <a:p>
            <a:pPr>
              <a:spcAft>
                <a:spcPts val="0"/>
              </a:spcAft>
            </a:pPr>
            <a:r>
              <a:rPr lang="en-US" altLang="zh-CN" sz="1100" dirty="0">
                <a:solidFill>
                  <a:schemeClr val="accent1">
                    <a:lumMod val="50000"/>
                  </a:schemeClr>
                </a:solidFill>
              </a:rPr>
              <a:t>    Fscore2=fs2.sort_values(ascending=False)</a:t>
            </a:r>
            <a:r>
              <a:rPr lang="en-US" altLang="zh-CN" sz="1000" kern="100" dirty="0">
                <a:solidFill>
                  <a:schemeClr val="accent1">
                    <a:lumMod val="50000"/>
                  </a:schemeClr>
                </a:solidFill>
                <a:latin typeface="Calibri"/>
                <a:ea typeface="宋体"/>
                <a:cs typeface="Times New Roman"/>
              </a:rPr>
              <a:t>   #</a:t>
            </a:r>
            <a:r>
              <a:rPr lang="zh-CN" altLang="zh-CN" sz="1000" kern="100" dirty="0">
                <a:solidFill>
                  <a:schemeClr val="accent1">
                    <a:lumMod val="50000"/>
                  </a:schemeClr>
                </a:solidFill>
                <a:latin typeface="Calibri"/>
                <a:ea typeface="宋体"/>
                <a:cs typeface="Times New Roman"/>
              </a:rPr>
              <a:t>降序，</a:t>
            </a:r>
            <a:r>
              <a:rPr lang="en-US" altLang="zh-CN" sz="1000" kern="100" dirty="0">
                <a:solidFill>
                  <a:schemeClr val="accent1">
                    <a:lumMod val="50000"/>
                  </a:schemeClr>
                </a:solidFill>
                <a:latin typeface="Calibri"/>
                <a:ea typeface="宋体"/>
                <a:cs typeface="Times New Roman"/>
              </a:rPr>
              <a:t>True</a:t>
            </a:r>
            <a:r>
              <a:rPr lang="zh-CN" altLang="zh-CN" sz="1000" kern="100" dirty="0">
                <a:solidFill>
                  <a:schemeClr val="accent1">
                    <a:lumMod val="50000"/>
                  </a:schemeClr>
                </a:solidFill>
                <a:latin typeface="Calibri"/>
                <a:ea typeface="宋体"/>
                <a:cs typeface="Times New Roman"/>
              </a:rPr>
              <a:t>为升序</a:t>
            </a:r>
          </a:p>
          <a:p>
            <a:pPr indent="266700">
              <a:spcAft>
                <a:spcPts val="0"/>
              </a:spcAft>
            </a:pPr>
            <a:r>
              <a:rPr lang="en-US" altLang="zh-CN" sz="1100" dirty="0">
                <a:solidFill>
                  <a:schemeClr val="accent1">
                    <a:lumMod val="50000"/>
                  </a:schemeClr>
                </a:solidFill>
              </a:rPr>
              <a:t>return (Fscore1,Fscore2)</a:t>
            </a:r>
            <a:endParaRPr lang="zh-CN" altLang="zh-CN" sz="1100" dirty="0">
              <a:solidFill>
                <a:schemeClr val="accent1">
                  <a:lumMod val="50000"/>
                </a:schemeClr>
              </a:solidFill>
            </a:endParaRPr>
          </a:p>
          <a:p>
            <a:pPr indent="266700" algn="just">
              <a:spcAft>
                <a:spcPts val="0"/>
              </a:spcAft>
            </a:pPr>
            <a:r>
              <a:rPr lang="zh-CN" altLang="zh-CN" sz="1000" dirty="0">
                <a:solidFill>
                  <a:schemeClr val="accent1">
                    <a:lumMod val="50000"/>
                  </a:schemeClr>
                </a:solidFill>
              </a:rPr>
              <a:t>该函数的输入参数有两个，分别为财务指标数据集</a:t>
            </a:r>
            <a:r>
              <a:rPr lang="en-US" altLang="zh-CN" sz="1000" dirty="0">
                <a:solidFill>
                  <a:schemeClr val="accent1">
                    <a:lumMod val="50000"/>
                  </a:schemeClr>
                </a:solidFill>
              </a:rPr>
              <a:t>data</a:t>
            </a:r>
            <a:r>
              <a:rPr lang="zh-CN" altLang="zh-CN" sz="1000" dirty="0">
                <a:solidFill>
                  <a:schemeClr val="accent1">
                    <a:lumMod val="50000"/>
                  </a:schemeClr>
                </a:solidFill>
              </a:rPr>
              <a:t>和排名年度</a:t>
            </a:r>
            <a:r>
              <a:rPr lang="en-US" altLang="zh-CN" sz="1000" dirty="0">
                <a:solidFill>
                  <a:schemeClr val="accent1">
                    <a:lumMod val="50000"/>
                  </a:schemeClr>
                </a:solidFill>
              </a:rPr>
              <a:t>year</a:t>
            </a:r>
            <a:r>
              <a:rPr lang="zh-CN" altLang="zh-CN" sz="1000" dirty="0">
                <a:solidFill>
                  <a:schemeClr val="accent1">
                    <a:lumMod val="50000"/>
                  </a:schemeClr>
                </a:solidFill>
              </a:rPr>
              <a:t>。返回两个结果，分别对应两种不同的排名方式：</a:t>
            </a:r>
            <a:r>
              <a:rPr lang="en-US" altLang="zh-CN" sz="1000" dirty="0">
                <a:solidFill>
                  <a:schemeClr val="accent1">
                    <a:lumMod val="50000"/>
                  </a:schemeClr>
                </a:solidFill>
              </a:rPr>
              <a:t>Fscore1</a:t>
            </a:r>
            <a:r>
              <a:rPr lang="zh-CN" altLang="zh-CN" sz="1000" dirty="0">
                <a:solidFill>
                  <a:schemeClr val="accent1">
                    <a:lumMod val="50000"/>
                  </a:schemeClr>
                </a:solidFill>
              </a:rPr>
              <a:t>对应</a:t>
            </a:r>
            <a:r>
              <a:rPr lang="en-US" altLang="zh-CN" sz="1000" dirty="0">
                <a:solidFill>
                  <a:schemeClr val="accent1">
                    <a:lumMod val="50000"/>
                  </a:schemeClr>
                </a:solidFill>
              </a:rPr>
              <a:t>index</a:t>
            </a:r>
            <a:r>
              <a:rPr lang="zh-CN" altLang="zh-CN" sz="1000" dirty="0">
                <a:solidFill>
                  <a:schemeClr val="accent1">
                    <a:lumMod val="50000"/>
                  </a:schemeClr>
                </a:solidFill>
              </a:rPr>
              <a:t>为股票代码、值为综合得分的以序列为数据结构的排名结果；</a:t>
            </a:r>
            <a:r>
              <a:rPr lang="en-US" altLang="zh-CN" sz="1000" dirty="0">
                <a:solidFill>
                  <a:schemeClr val="accent1">
                    <a:lumMod val="50000"/>
                  </a:schemeClr>
                </a:solidFill>
              </a:rPr>
              <a:t>Fscore2</a:t>
            </a:r>
            <a:r>
              <a:rPr lang="zh-CN" altLang="zh-CN" sz="1000" dirty="0">
                <a:solidFill>
                  <a:schemeClr val="accent1">
                    <a:lumMod val="50000"/>
                  </a:schemeClr>
                </a:solidFill>
              </a:rPr>
              <a:t>对应</a:t>
            </a:r>
            <a:r>
              <a:rPr lang="en-US" altLang="zh-CN" sz="1000" dirty="0">
                <a:solidFill>
                  <a:schemeClr val="accent1">
                    <a:lumMod val="50000"/>
                  </a:schemeClr>
                </a:solidFill>
              </a:rPr>
              <a:t>index</a:t>
            </a:r>
            <a:r>
              <a:rPr lang="zh-CN" altLang="zh-CN" sz="1000" dirty="0">
                <a:solidFill>
                  <a:schemeClr val="accent1">
                    <a:lumMod val="50000"/>
                  </a:schemeClr>
                </a:solidFill>
              </a:rPr>
              <a:t>为股票名称、值为综合得分的以序列为数据结构的排名结果；</a:t>
            </a:r>
            <a:endParaRPr lang="zh-CN" altLang="en-US" sz="1000" dirty="0">
              <a:solidFill>
                <a:schemeClr val="accent1">
                  <a:lumMod val="50000"/>
                </a:schemeClr>
              </a:solidFill>
            </a:endParaRPr>
          </a:p>
        </p:txBody>
      </p:sp>
    </p:spTree>
    <p:extLst>
      <p:ext uri="{BB962C8B-B14F-4D97-AF65-F5344CB8AC3E}">
        <p14:creationId xmlns:p14="http://schemas.microsoft.com/office/powerpoint/2010/main" val="373570728"/>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5" y="33470"/>
            <a:ext cx="3780194" cy="392411"/>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fontAlgn="base">
              <a:spcBef>
                <a:spcPct val="0"/>
              </a:spcBef>
              <a:spcAft>
                <a:spcPct val="0"/>
              </a:spcAft>
              <a:buFont typeface="Arial" pitchFamily="34" charset="0"/>
              <a:buNone/>
            </a:pPr>
            <a:r>
              <a:rPr lang="en-US" altLang="zh-CN" sz="2100" dirty="0">
                <a:solidFill>
                  <a:srgbClr val="FFFFFF"/>
                </a:solidFill>
                <a:latin typeface="微软雅黑"/>
                <a:ea typeface="微软雅黑"/>
              </a:rPr>
              <a:t>8.3.6 </a:t>
            </a:r>
            <a:r>
              <a:rPr lang="zh-CN" altLang="en-US" sz="2100" dirty="0">
                <a:solidFill>
                  <a:srgbClr val="FFFFFF"/>
                </a:solidFill>
                <a:latin typeface="微软雅黑"/>
                <a:ea typeface="微软雅黑"/>
              </a:rPr>
              <a:t>量化投资策略设计与分析</a:t>
            </a:r>
          </a:p>
        </p:txBody>
      </p:sp>
      <p:sp>
        <p:nvSpPr>
          <p:cNvPr id="56" name="TextBox 55"/>
          <p:cNvSpPr txBox="1"/>
          <p:nvPr/>
        </p:nvSpPr>
        <p:spPr>
          <a:xfrm>
            <a:off x="123264" y="56565"/>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sp>
        <p:nvSpPr>
          <p:cNvPr id="6" name="TextBox 5"/>
          <p:cNvSpPr txBox="1"/>
          <p:nvPr/>
        </p:nvSpPr>
        <p:spPr>
          <a:xfrm>
            <a:off x="323528" y="627534"/>
            <a:ext cx="3096344" cy="4539704"/>
          </a:xfrm>
          <a:prstGeom prst="rect">
            <a:avLst/>
          </a:prstGeom>
          <a:noFill/>
        </p:spPr>
        <p:txBody>
          <a:bodyPr wrap="square" rtlCol="0">
            <a:spAutoFit/>
          </a:bodyPr>
          <a:lstStyle/>
          <a:p>
            <a:pPr>
              <a:spcAft>
                <a:spcPts val="600"/>
              </a:spcAft>
            </a:pPr>
            <a:r>
              <a:rPr lang="en-US" altLang="zh-CN" sz="1000" b="1" dirty="0">
                <a:solidFill>
                  <a:schemeClr val="accent1">
                    <a:lumMod val="50000"/>
                  </a:schemeClr>
                </a:solidFill>
              </a:rPr>
              <a:t>2. </a:t>
            </a:r>
            <a:r>
              <a:rPr lang="zh-CN" altLang="zh-CN" sz="1000" b="1" dirty="0">
                <a:solidFill>
                  <a:schemeClr val="accent1">
                    <a:lumMod val="50000"/>
                  </a:schemeClr>
                </a:solidFill>
              </a:rPr>
              <a:t>收益率计算函数</a:t>
            </a:r>
            <a:r>
              <a:rPr lang="zh-CN" altLang="zh-CN" sz="1000" b="1" dirty="0" smtClean="0">
                <a:solidFill>
                  <a:schemeClr val="accent1">
                    <a:lumMod val="50000"/>
                  </a:schemeClr>
                </a:solidFill>
              </a:rPr>
              <a:t>定义</a:t>
            </a:r>
            <a:endParaRPr lang="zh-CN" altLang="zh-CN" sz="1000" b="1" dirty="0">
              <a:solidFill>
                <a:schemeClr val="accent1">
                  <a:lumMod val="50000"/>
                </a:schemeClr>
              </a:solidFill>
            </a:endParaRPr>
          </a:p>
          <a:p>
            <a:r>
              <a:rPr lang="zh-CN" altLang="zh-CN" sz="1000" dirty="0">
                <a:solidFill>
                  <a:schemeClr val="accent1">
                    <a:lumMod val="50000"/>
                  </a:schemeClr>
                </a:solidFill>
              </a:rPr>
              <a:t>为了后续量化投资策略的使用，也将</a:t>
            </a:r>
            <a:r>
              <a:rPr lang="en-US" altLang="zh-CN" sz="1000" dirty="0">
                <a:solidFill>
                  <a:schemeClr val="accent1">
                    <a:lumMod val="50000"/>
                  </a:schemeClr>
                </a:solidFill>
              </a:rPr>
              <a:t>8.3.5</a:t>
            </a:r>
            <a:r>
              <a:rPr lang="zh-CN" altLang="zh-CN" sz="1000" dirty="0">
                <a:solidFill>
                  <a:schemeClr val="accent1">
                    <a:lumMod val="50000"/>
                  </a:schemeClr>
                </a:solidFill>
              </a:rPr>
              <a:t>收益率的计算脚本</a:t>
            </a:r>
            <a:r>
              <a:rPr lang="zh-CN" altLang="zh-CN" sz="1000" dirty="0">
                <a:solidFill>
                  <a:schemeClr val="accent1">
                    <a:lumMod val="50000"/>
                  </a:schemeClr>
                </a:solidFill>
              </a:rPr>
              <a:t>定义为函数的形式</a:t>
            </a:r>
            <a:r>
              <a:rPr lang="zh-CN" altLang="zh-CN" sz="1000" dirty="0">
                <a:solidFill>
                  <a:schemeClr val="accent1">
                    <a:lumMod val="50000"/>
                  </a:schemeClr>
                </a:solidFill>
              </a:rPr>
              <a:t>，该函数我们记为</a:t>
            </a:r>
            <a:r>
              <a:rPr lang="en-US" altLang="zh-CN" sz="1000" dirty="0">
                <a:solidFill>
                  <a:schemeClr val="accent1">
                    <a:lumMod val="50000"/>
                  </a:schemeClr>
                </a:solidFill>
              </a:rPr>
              <a:t>Re</a:t>
            </a:r>
            <a:r>
              <a:rPr lang="zh-CN" altLang="zh-CN" sz="1000" dirty="0">
                <a:solidFill>
                  <a:schemeClr val="accent1">
                    <a:lumMod val="50000"/>
                  </a:schemeClr>
                </a:solidFill>
              </a:rPr>
              <a:t>，存在于</a:t>
            </a:r>
            <a:r>
              <a:rPr lang="en-US" altLang="zh-CN" sz="1000" dirty="0">
                <a:solidFill>
                  <a:schemeClr val="accent1">
                    <a:lumMod val="50000"/>
                  </a:schemeClr>
                </a:solidFill>
              </a:rPr>
              <a:t>fun2.py</a:t>
            </a:r>
            <a:r>
              <a:rPr lang="zh-CN" altLang="zh-CN" sz="1000" dirty="0">
                <a:solidFill>
                  <a:schemeClr val="accent1">
                    <a:lumMod val="50000"/>
                  </a:schemeClr>
                </a:solidFill>
              </a:rPr>
              <a:t>文件中。该函数详细定义示例代码如下：</a:t>
            </a:r>
          </a:p>
          <a:p>
            <a:r>
              <a:rPr lang="en-US" altLang="zh-CN" sz="800" dirty="0" err="1">
                <a:solidFill>
                  <a:schemeClr val="accent1">
                    <a:lumMod val="50000"/>
                  </a:schemeClr>
                </a:solidFill>
              </a:rPr>
              <a:t>def</a:t>
            </a:r>
            <a:r>
              <a:rPr lang="en-US" altLang="zh-CN" sz="800" dirty="0">
                <a:solidFill>
                  <a:schemeClr val="accent1">
                    <a:lumMod val="50000"/>
                  </a:schemeClr>
                </a:solidFill>
              </a:rPr>
              <a:t> Re(Fscore1,s_trd1,s_trd2,num):</a:t>
            </a:r>
            <a:endParaRPr lang="zh-CN" altLang="zh-CN" sz="800" dirty="0">
              <a:solidFill>
                <a:schemeClr val="accent1">
                  <a:lumMod val="50000"/>
                </a:schemeClr>
              </a:solidFill>
            </a:endParaRPr>
          </a:p>
          <a:p>
            <a:r>
              <a:rPr lang="en-US" altLang="zh-CN" sz="800" dirty="0">
                <a:solidFill>
                  <a:schemeClr val="accent1">
                    <a:lumMod val="50000"/>
                  </a:schemeClr>
                </a:solidFill>
              </a:rPr>
              <a:t>   #</a:t>
            </a:r>
            <a:r>
              <a:rPr lang="zh-CN" altLang="zh-CN" sz="800" dirty="0">
                <a:solidFill>
                  <a:schemeClr val="accent1">
                    <a:lumMod val="50000"/>
                  </a:schemeClr>
                </a:solidFill>
              </a:rPr>
              <a:t>输入：</a:t>
            </a:r>
          </a:p>
          <a:p>
            <a:r>
              <a:rPr lang="en-US" altLang="zh-CN" sz="800" dirty="0">
                <a:solidFill>
                  <a:schemeClr val="accent1">
                    <a:lumMod val="50000"/>
                  </a:schemeClr>
                </a:solidFill>
              </a:rPr>
              <a:t>   #Fscore1--</a:t>
            </a:r>
            <a:r>
              <a:rPr lang="zh-CN" altLang="zh-CN" sz="800" dirty="0">
                <a:solidFill>
                  <a:schemeClr val="accent1">
                    <a:lumMod val="50000"/>
                  </a:schemeClr>
                </a:solidFill>
              </a:rPr>
              <a:t>排名结果（股票代码形式）</a:t>
            </a:r>
          </a:p>
          <a:p>
            <a:r>
              <a:rPr lang="en-US" altLang="zh-CN" sz="800" dirty="0">
                <a:solidFill>
                  <a:schemeClr val="accent1">
                    <a:lumMod val="50000"/>
                  </a:schemeClr>
                </a:solidFill>
              </a:rPr>
              <a:t>   #s_trd1--</a:t>
            </a:r>
            <a:r>
              <a:rPr lang="zh-CN" altLang="zh-CN" sz="800" dirty="0">
                <a:solidFill>
                  <a:schemeClr val="accent1">
                    <a:lumMod val="50000"/>
                  </a:schemeClr>
                </a:solidFill>
              </a:rPr>
              <a:t>持有期开始日期</a:t>
            </a:r>
          </a:p>
          <a:p>
            <a:r>
              <a:rPr lang="en-US" altLang="zh-CN" sz="800" dirty="0">
                <a:solidFill>
                  <a:schemeClr val="accent1">
                    <a:lumMod val="50000"/>
                  </a:schemeClr>
                </a:solidFill>
              </a:rPr>
              <a:t>   #s_trd1--</a:t>
            </a:r>
            <a:r>
              <a:rPr lang="zh-CN" altLang="zh-CN" sz="800" dirty="0">
                <a:solidFill>
                  <a:schemeClr val="accent1">
                    <a:lumMod val="50000"/>
                  </a:schemeClr>
                </a:solidFill>
              </a:rPr>
              <a:t>持有期结束日期</a:t>
            </a:r>
          </a:p>
          <a:p>
            <a:r>
              <a:rPr lang="en-US" altLang="zh-CN" sz="800" dirty="0">
                <a:solidFill>
                  <a:schemeClr val="accent1">
                    <a:lumMod val="50000"/>
                  </a:schemeClr>
                </a:solidFill>
              </a:rPr>
              <a:t>   #</a:t>
            </a:r>
            <a:r>
              <a:rPr lang="en-US" altLang="zh-CN" sz="800" dirty="0" err="1">
                <a:solidFill>
                  <a:schemeClr val="accent1">
                    <a:lumMod val="50000"/>
                  </a:schemeClr>
                </a:solidFill>
              </a:rPr>
              <a:t>num</a:t>
            </a:r>
            <a:r>
              <a:rPr lang="en-US" altLang="zh-CN" sz="800" dirty="0">
                <a:solidFill>
                  <a:schemeClr val="accent1">
                    <a:lumMod val="50000"/>
                  </a:schemeClr>
                </a:solidFill>
              </a:rPr>
              <a:t>--</a:t>
            </a:r>
            <a:r>
              <a:rPr lang="zh-CN" altLang="zh-CN" sz="800" dirty="0">
                <a:solidFill>
                  <a:schemeClr val="accent1">
                    <a:lumMod val="50000"/>
                  </a:schemeClr>
                </a:solidFill>
              </a:rPr>
              <a:t>排名数</a:t>
            </a:r>
          </a:p>
          <a:p>
            <a:r>
              <a:rPr lang="en-US" altLang="zh-CN" sz="800" dirty="0">
                <a:solidFill>
                  <a:schemeClr val="accent1">
                    <a:lumMod val="50000"/>
                  </a:schemeClr>
                </a:solidFill>
              </a:rPr>
              <a:t>   #</a:t>
            </a:r>
            <a:r>
              <a:rPr lang="zh-CN" altLang="zh-CN" sz="800" dirty="0">
                <a:solidFill>
                  <a:schemeClr val="accent1">
                    <a:lumMod val="50000"/>
                  </a:schemeClr>
                </a:solidFill>
              </a:rPr>
              <a:t>输出：</a:t>
            </a:r>
          </a:p>
          <a:p>
            <a:r>
              <a:rPr lang="en-US" altLang="zh-CN" sz="800" dirty="0">
                <a:solidFill>
                  <a:schemeClr val="accent1">
                    <a:lumMod val="50000"/>
                  </a:schemeClr>
                </a:solidFill>
              </a:rPr>
              <a:t>   #</a:t>
            </a:r>
            <a:r>
              <a:rPr lang="en-US" altLang="zh-CN" sz="800" dirty="0" err="1">
                <a:solidFill>
                  <a:schemeClr val="accent1">
                    <a:lumMod val="50000"/>
                  </a:schemeClr>
                </a:solidFill>
              </a:rPr>
              <a:t>r_list</a:t>
            </a:r>
            <a:r>
              <a:rPr lang="en-US" altLang="zh-CN" sz="800" dirty="0">
                <a:solidFill>
                  <a:schemeClr val="accent1">
                    <a:lumMod val="50000"/>
                  </a:schemeClr>
                </a:solidFill>
              </a:rPr>
              <a:t>--</a:t>
            </a:r>
            <a:r>
              <a:rPr lang="zh-CN" altLang="zh-CN" sz="800" dirty="0">
                <a:solidFill>
                  <a:schemeClr val="accent1">
                    <a:lumMod val="50000"/>
                  </a:schemeClr>
                </a:solidFill>
              </a:rPr>
              <a:t>股票代码收益率列表</a:t>
            </a:r>
          </a:p>
          <a:p>
            <a:r>
              <a:rPr lang="en-US" altLang="zh-CN" sz="800" dirty="0">
                <a:solidFill>
                  <a:schemeClr val="accent1">
                    <a:lumMod val="50000"/>
                  </a:schemeClr>
                </a:solidFill>
              </a:rPr>
              <a:t>   #</a:t>
            </a:r>
            <a:r>
              <a:rPr lang="en-US" altLang="zh-CN" sz="800" dirty="0" err="1">
                <a:solidFill>
                  <a:schemeClr val="accent1">
                    <a:lumMod val="50000"/>
                  </a:schemeClr>
                </a:solidFill>
              </a:rPr>
              <a:t>r_total</a:t>
            </a:r>
            <a:r>
              <a:rPr lang="en-US" altLang="zh-CN" sz="800" dirty="0">
                <a:solidFill>
                  <a:schemeClr val="accent1">
                    <a:lumMod val="50000"/>
                  </a:schemeClr>
                </a:solidFill>
              </a:rPr>
              <a:t>--</a:t>
            </a:r>
            <a:r>
              <a:rPr lang="zh-CN" altLang="zh-CN" sz="800" dirty="0">
                <a:solidFill>
                  <a:schemeClr val="accent1">
                    <a:lumMod val="50000"/>
                  </a:schemeClr>
                </a:solidFill>
              </a:rPr>
              <a:t>总收益率</a:t>
            </a:r>
          </a:p>
          <a:p>
            <a:r>
              <a:rPr lang="en-US" altLang="zh-CN" sz="800" dirty="0">
                <a:solidFill>
                  <a:schemeClr val="accent1">
                    <a:lumMod val="50000"/>
                  </a:schemeClr>
                </a:solidFill>
              </a:rPr>
              <a:t>   </a:t>
            </a:r>
            <a:r>
              <a:rPr lang="en-US" altLang="zh-CN" sz="1100" dirty="0">
                <a:solidFill>
                  <a:schemeClr val="accent1">
                    <a:lumMod val="50000"/>
                  </a:schemeClr>
                </a:solidFill>
              </a:rPr>
              <a:t>import pandas as </a:t>
            </a:r>
            <a:r>
              <a:rPr lang="en-US" altLang="zh-CN" sz="1100" dirty="0" err="1">
                <a:solidFill>
                  <a:schemeClr val="accent1">
                    <a:lumMod val="50000"/>
                  </a:schemeClr>
                </a:solidFill>
              </a:rPr>
              <a:t>pd</a:t>
            </a:r>
            <a:endParaRPr lang="zh-CN" altLang="zh-CN" sz="1100" dirty="0">
              <a:solidFill>
                <a:schemeClr val="accent1">
                  <a:lumMod val="50000"/>
                </a:schemeClr>
              </a:solidFill>
            </a:endParaRPr>
          </a:p>
          <a:p>
            <a:r>
              <a:rPr lang="en-US" altLang="zh-CN" sz="1100" dirty="0">
                <a:solidFill>
                  <a:schemeClr val="accent1">
                    <a:lumMod val="50000"/>
                  </a:schemeClr>
                </a:solidFill>
              </a:rPr>
              <a:t>   </a:t>
            </a:r>
            <a:r>
              <a:rPr lang="en-US" altLang="zh-CN" sz="1100" dirty="0" err="1">
                <a:solidFill>
                  <a:schemeClr val="accent1">
                    <a:lumMod val="50000"/>
                  </a:schemeClr>
                </a:solidFill>
              </a:rPr>
              <a:t>trd</a:t>
            </a:r>
            <a:r>
              <a:rPr lang="en-US" altLang="zh-CN" sz="1100" dirty="0">
                <a:solidFill>
                  <a:schemeClr val="accent1">
                    <a:lumMod val="50000"/>
                  </a:schemeClr>
                </a:solidFill>
              </a:rPr>
              <a:t>=</a:t>
            </a:r>
            <a:r>
              <a:rPr lang="en-US" altLang="zh-CN" sz="1100" dirty="0" err="1">
                <a:solidFill>
                  <a:schemeClr val="accent1">
                    <a:lumMod val="50000"/>
                  </a:schemeClr>
                </a:solidFill>
              </a:rPr>
              <a:t>pd.read_excel</a:t>
            </a:r>
            <a:r>
              <a:rPr lang="en-US" altLang="zh-CN" sz="1100" dirty="0">
                <a:solidFill>
                  <a:schemeClr val="accent1">
                    <a:lumMod val="50000"/>
                  </a:schemeClr>
                </a:solidFill>
              </a:rPr>
              <a:t>('trd_'+s_trd1[0:4]+'.</a:t>
            </a:r>
            <a:r>
              <a:rPr lang="en-US" altLang="zh-CN" sz="1100" dirty="0" err="1">
                <a:solidFill>
                  <a:schemeClr val="accent1">
                    <a:lumMod val="50000"/>
                  </a:schemeClr>
                </a:solidFill>
              </a:rPr>
              <a:t>xlsx</a:t>
            </a:r>
            <a:r>
              <a:rPr lang="en-US" altLang="zh-CN" sz="1100" dirty="0">
                <a:solidFill>
                  <a:schemeClr val="accent1">
                    <a:lumMod val="50000"/>
                  </a:schemeClr>
                </a:solidFill>
              </a:rPr>
              <a:t>')</a:t>
            </a:r>
            <a:endParaRPr lang="zh-CN" altLang="zh-CN" sz="1100" dirty="0">
              <a:solidFill>
                <a:schemeClr val="accent1">
                  <a:lumMod val="50000"/>
                </a:schemeClr>
              </a:solidFill>
            </a:endParaRPr>
          </a:p>
          <a:p>
            <a:r>
              <a:rPr lang="en-US" altLang="zh-CN" sz="1100" dirty="0">
                <a:solidFill>
                  <a:schemeClr val="accent1">
                    <a:lumMod val="50000"/>
                  </a:schemeClr>
                </a:solidFill>
              </a:rPr>
              <a:t>   </a:t>
            </a:r>
            <a:r>
              <a:rPr lang="en-US" altLang="zh-CN" sz="1100" dirty="0" err="1">
                <a:solidFill>
                  <a:schemeClr val="accent1">
                    <a:lumMod val="50000"/>
                  </a:schemeClr>
                </a:solidFill>
              </a:rPr>
              <a:t>r_list</a:t>
            </a:r>
            <a:r>
              <a:rPr lang="en-US" altLang="zh-CN" sz="1100" dirty="0">
                <a:solidFill>
                  <a:schemeClr val="accent1">
                    <a:lumMod val="50000"/>
                  </a:schemeClr>
                </a:solidFill>
              </a:rPr>
              <a:t>=[]</a:t>
            </a:r>
            <a:endParaRPr lang="zh-CN" altLang="zh-CN" sz="1100" dirty="0">
              <a:solidFill>
                <a:schemeClr val="accent1">
                  <a:lumMod val="50000"/>
                </a:schemeClr>
              </a:solidFill>
            </a:endParaRPr>
          </a:p>
          <a:p>
            <a:r>
              <a:rPr lang="en-US" altLang="zh-CN" sz="1100" dirty="0">
                <a:solidFill>
                  <a:schemeClr val="accent1">
                    <a:lumMod val="50000"/>
                  </a:schemeClr>
                </a:solidFill>
              </a:rPr>
              <a:t>   for i in range(</a:t>
            </a:r>
            <a:r>
              <a:rPr lang="en-US" altLang="zh-CN" sz="1100" dirty="0" err="1">
                <a:solidFill>
                  <a:schemeClr val="accent1">
                    <a:lumMod val="50000"/>
                  </a:schemeClr>
                </a:solidFill>
              </a:rPr>
              <a:t>num</a:t>
            </a:r>
            <a:r>
              <a:rPr lang="en-US" altLang="zh-CN" sz="1100" dirty="0">
                <a:solidFill>
                  <a:schemeClr val="accent1">
                    <a:lumMod val="50000"/>
                  </a:schemeClr>
                </a:solidFill>
              </a:rPr>
              <a:t>):</a:t>
            </a:r>
            <a:endParaRPr lang="zh-CN" altLang="zh-CN" sz="1100" dirty="0">
              <a:solidFill>
                <a:schemeClr val="accent1">
                  <a:lumMod val="50000"/>
                </a:schemeClr>
              </a:solidFill>
            </a:endParaRPr>
          </a:p>
          <a:p>
            <a:r>
              <a:rPr lang="en-US" altLang="zh-CN" sz="1100" dirty="0">
                <a:solidFill>
                  <a:schemeClr val="accent1">
                    <a:lumMod val="50000"/>
                  </a:schemeClr>
                </a:solidFill>
              </a:rPr>
              <a:t>       code=Fscore1.index[i]</a:t>
            </a:r>
            <a:endParaRPr lang="zh-CN" altLang="zh-CN" sz="1100" dirty="0">
              <a:solidFill>
                <a:schemeClr val="accent1">
                  <a:lumMod val="50000"/>
                </a:schemeClr>
              </a:solidFill>
            </a:endParaRPr>
          </a:p>
          <a:p>
            <a:r>
              <a:rPr lang="en-US" altLang="zh-CN" sz="1100" dirty="0">
                <a:solidFill>
                  <a:schemeClr val="accent1">
                    <a:lumMod val="50000"/>
                  </a:schemeClr>
                </a:solidFill>
              </a:rPr>
              <a:t>       </a:t>
            </a:r>
            <a:r>
              <a:rPr lang="en-US" altLang="zh-CN" sz="1100" dirty="0" err="1">
                <a:solidFill>
                  <a:schemeClr val="accent1">
                    <a:lumMod val="50000"/>
                  </a:schemeClr>
                </a:solidFill>
              </a:rPr>
              <a:t>dt</a:t>
            </a:r>
            <a:r>
              <a:rPr lang="en-US" altLang="zh-CN" sz="1100" dirty="0">
                <a:solidFill>
                  <a:schemeClr val="accent1">
                    <a:lumMod val="50000"/>
                  </a:schemeClr>
                </a:solidFill>
              </a:rPr>
              <a:t>=</a:t>
            </a:r>
            <a:r>
              <a:rPr lang="en-US" altLang="zh-CN" sz="1100" dirty="0" err="1">
                <a:solidFill>
                  <a:schemeClr val="accent1">
                    <a:lumMod val="50000"/>
                  </a:schemeClr>
                </a:solidFill>
              </a:rPr>
              <a:t>trd.iloc</a:t>
            </a:r>
            <a:r>
              <a:rPr lang="en-US" altLang="zh-CN" sz="1100" dirty="0">
                <a:solidFill>
                  <a:schemeClr val="accent1">
                    <a:lumMod val="50000"/>
                  </a:schemeClr>
                </a:solidFill>
              </a:rPr>
              <a:t>[</a:t>
            </a:r>
            <a:r>
              <a:rPr lang="en-US" altLang="zh-CN" sz="1100" dirty="0" err="1">
                <a:solidFill>
                  <a:schemeClr val="accent1">
                    <a:lumMod val="50000"/>
                  </a:schemeClr>
                </a:solidFill>
              </a:rPr>
              <a:t>trd.iloc</a:t>
            </a:r>
            <a:r>
              <a:rPr lang="en-US" altLang="zh-CN" sz="1100" dirty="0">
                <a:solidFill>
                  <a:schemeClr val="accent1">
                    <a:lumMod val="50000"/>
                  </a:schemeClr>
                </a:solidFill>
              </a:rPr>
              <a:t>[:,0].values==code,:]</a:t>
            </a:r>
            <a:endParaRPr lang="zh-CN" altLang="zh-CN" sz="1100" dirty="0">
              <a:solidFill>
                <a:schemeClr val="accent1">
                  <a:lumMod val="50000"/>
                </a:schemeClr>
              </a:solidFill>
            </a:endParaRPr>
          </a:p>
          <a:p>
            <a:r>
              <a:rPr lang="en-US" altLang="zh-CN" sz="1100" dirty="0">
                <a:solidFill>
                  <a:schemeClr val="accent1">
                    <a:lumMod val="50000"/>
                  </a:schemeClr>
                </a:solidFill>
              </a:rPr>
              <a:t>       I1=</a:t>
            </a:r>
            <a:r>
              <a:rPr lang="en-US" altLang="zh-CN" sz="1100" dirty="0" err="1">
                <a:solidFill>
                  <a:schemeClr val="accent1">
                    <a:lumMod val="50000"/>
                  </a:schemeClr>
                </a:solidFill>
              </a:rPr>
              <a:t>dt</a:t>
            </a:r>
            <a:r>
              <a:rPr lang="en-US" altLang="zh-CN" sz="1100" dirty="0">
                <a:solidFill>
                  <a:schemeClr val="accent1">
                    <a:lumMod val="50000"/>
                  </a:schemeClr>
                </a:solidFill>
              </a:rPr>
              <a:t>['</a:t>
            </a:r>
            <a:r>
              <a:rPr lang="en-US" altLang="zh-CN" sz="1100" dirty="0" err="1">
                <a:solidFill>
                  <a:schemeClr val="accent1">
                    <a:lumMod val="50000"/>
                  </a:schemeClr>
                </a:solidFill>
              </a:rPr>
              <a:t>Trddt</a:t>
            </a:r>
            <a:r>
              <a:rPr lang="en-US" altLang="zh-CN" sz="1100" dirty="0">
                <a:solidFill>
                  <a:schemeClr val="accent1">
                    <a:lumMod val="50000"/>
                  </a:schemeClr>
                </a:solidFill>
              </a:rPr>
              <a:t>'].values&gt;=s_trd1</a:t>
            </a:r>
            <a:endParaRPr lang="zh-CN" altLang="zh-CN" sz="1100" dirty="0">
              <a:solidFill>
                <a:schemeClr val="accent1">
                  <a:lumMod val="50000"/>
                </a:schemeClr>
              </a:solidFill>
            </a:endParaRPr>
          </a:p>
          <a:p>
            <a:r>
              <a:rPr lang="en-US" altLang="zh-CN" sz="1100" dirty="0">
                <a:solidFill>
                  <a:schemeClr val="accent1">
                    <a:lumMod val="50000"/>
                  </a:schemeClr>
                </a:solidFill>
              </a:rPr>
              <a:t>       I2=</a:t>
            </a:r>
            <a:r>
              <a:rPr lang="en-US" altLang="zh-CN" sz="1100" dirty="0" err="1">
                <a:solidFill>
                  <a:schemeClr val="accent1">
                    <a:lumMod val="50000"/>
                  </a:schemeClr>
                </a:solidFill>
              </a:rPr>
              <a:t>dt</a:t>
            </a:r>
            <a:r>
              <a:rPr lang="en-US" altLang="zh-CN" sz="1100" dirty="0">
                <a:solidFill>
                  <a:schemeClr val="accent1">
                    <a:lumMod val="50000"/>
                  </a:schemeClr>
                </a:solidFill>
              </a:rPr>
              <a:t>['</a:t>
            </a:r>
            <a:r>
              <a:rPr lang="en-US" altLang="zh-CN" sz="1100" dirty="0" err="1">
                <a:solidFill>
                  <a:schemeClr val="accent1">
                    <a:lumMod val="50000"/>
                  </a:schemeClr>
                </a:solidFill>
              </a:rPr>
              <a:t>Trddt</a:t>
            </a:r>
            <a:r>
              <a:rPr lang="en-US" altLang="zh-CN" sz="1100" dirty="0">
                <a:solidFill>
                  <a:schemeClr val="accent1">
                    <a:lumMod val="50000"/>
                  </a:schemeClr>
                </a:solidFill>
              </a:rPr>
              <a:t>'].values&lt;=s_trd2</a:t>
            </a:r>
            <a:endParaRPr lang="zh-CN" altLang="zh-CN" sz="1100" dirty="0">
              <a:solidFill>
                <a:schemeClr val="accent1">
                  <a:lumMod val="50000"/>
                </a:schemeClr>
              </a:solidFill>
            </a:endParaRPr>
          </a:p>
          <a:p>
            <a:r>
              <a:rPr lang="en-US" altLang="zh-CN" sz="1100" dirty="0">
                <a:solidFill>
                  <a:schemeClr val="accent1">
                    <a:lumMod val="50000"/>
                  </a:schemeClr>
                </a:solidFill>
              </a:rPr>
              <a:t>       </a:t>
            </a:r>
            <a:r>
              <a:rPr lang="en-US" altLang="zh-CN" sz="1100" dirty="0" err="1">
                <a:solidFill>
                  <a:schemeClr val="accent1">
                    <a:lumMod val="50000"/>
                  </a:schemeClr>
                </a:solidFill>
              </a:rPr>
              <a:t>dtt</a:t>
            </a:r>
            <a:r>
              <a:rPr lang="en-US" altLang="zh-CN" sz="1100" dirty="0">
                <a:solidFill>
                  <a:schemeClr val="accent1">
                    <a:lumMod val="50000"/>
                  </a:schemeClr>
                </a:solidFill>
              </a:rPr>
              <a:t>=</a:t>
            </a:r>
            <a:r>
              <a:rPr lang="en-US" altLang="zh-CN" sz="1100" dirty="0" err="1">
                <a:solidFill>
                  <a:schemeClr val="accent1">
                    <a:lumMod val="50000"/>
                  </a:schemeClr>
                </a:solidFill>
              </a:rPr>
              <a:t>dt.iloc</a:t>
            </a:r>
            <a:r>
              <a:rPr lang="en-US" altLang="zh-CN" sz="1100" dirty="0">
                <a:solidFill>
                  <a:schemeClr val="accent1">
                    <a:lumMod val="50000"/>
                  </a:schemeClr>
                </a:solidFill>
              </a:rPr>
              <a:t>[I1&amp;I2,:].</a:t>
            </a:r>
            <a:r>
              <a:rPr lang="en-US" altLang="zh-CN" sz="1100" dirty="0" err="1">
                <a:solidFill>
                  <a:schemeClr val="accent1">
                    <a:lumMod val="50000"/>
                  </a:schemeClr>
                </a:solidFill>
              </a:rPr>
              <a:t>sort_values</a:t>
            </a:r>
            <a:r>
              <a:rPr lang="en-US" altLang="zh-CN" sz="1100" dirty="0">
                <a:solidFill>
                  <a:schemeClr val="accent1">
                    <a:lumMod val="50000"/>
                  </a:schemeClr>
                </a:solidFill>
              </a:rPr>
              <a:t>('</a:t>
            </a:r>
            <a:r>
              <a:rPr lang="en-US" altLang="zh-CN" sz="1100" dirty="0" err="1">
                <a:solidFill>
                  <a:schemeClr val="accent1">
                    <a:lumMod val="50000"/>
                  </a:schemeClr>
                </a:solidFill>
              </a:rPr>
              <a:t>Trddt</a:t>
            </a:r>
            <a:r>
              <a:rPr lang="en-US" altLang="zh-CN" sz="1100" dirty="0">
                <a:solidFill>
                  <a:schemeClr val="accent1">
                    <a:lumMod val="50000"/>
                  </a:schemeClr>
                </a:solidFill>
              </a:rPr>
              <a:t>')</a:t>
            </a:r>
            <a:endParaRPr lang="zh-CN" altLang="zh-CN" sz="1100" dirty="0">
              <a:solidFill>
                <a:schemeClr val="accent1">
                  <a:lumMod val="50000"/>
                </a:schemeClr>
              </a:solidFill>
            </a:endParaRPr>
          </a:p>
          <a:p>
            <a:r>
              <a:rPr lang="en-US" altLang="zh-CN" sz="1100" dirty="0">
                <a:solidFill>
                  <a:schemeClr val="accent1">
                    <a:lumMod val="50000"/>
                  </a:schemeClr>
                </a:solidFill>
              </a:rPr>
              <a:t>       if </a:t>
            </a:r>
            <a:r>
              <a:rPr lang="en-US" altLang="zh-CN" sz="1100" dirty="0" err="1">
                <a:solidFill>
                  <a:schemeClr val="accent1">
                    <a:lumMod val="50000"/>
                  </a:schemeClr>
                </a:solidFill>
              </a:rPr>
              <a:t>len</a:t>
            </a:r>
            <a:r>
              <a:rPr lang="en-US" altLang="zh-CN" sz="1100" dirty="0">
                <a:solidFill>
                  <a:schemeClr val="accent1">
                    <a:lumMod val="50000"/>
                  </a:schemeClr>
                </a:solidFill>
              </a:rPr>
              <a:t>(</a:t>
            </a:r>
            <a:r>
              <a:rPr lang="en-US" altLang="zh-CN" sz="1100" dirty="0" err="1">
                <a:solidFill>
                  <a:schemeClr val="accent1">
                    <a:lumMod val="50000"/>
                  </a:schemeClr>
                </a:solidFill>
              </a:rPr>
              <a:t>dtt</a:t>
            </a:r>
            <a:r>
              <a:rPr lang="en-US" altLang="zh-CN" sz="1100" dirty="0">
                <a:solidFill>
                  <a:schemeClr val="accent1">
                    <a:lumMod val="50000"/>
                  </a:schemeClr>
                </a:solidFill>
              </a:rPr>
              <a:t>)&gt;1:</a:t>
            </a:r>
            <a:endParaRPr lang="zh-CN" altLang="zh-CN" sz="1100" dirty="0">
              <a:solidFill>
                <a:schemeClr val="accent1">
                  <a:lumMod val="50000"/>
                </a:schemeClr>
              </a:solidFill>
            </a:endParaRPr>
          </a:p>
          <a:p>
            <a:r>
              <a:rPr lang="en-US" altLang="zh-CN" sz="1100" dirty="0">
                <a:solidFill>
                  <a:schemeClr val="accent1">
                    <a:lumMod val="50000"/>
                  </a:schemeClr>
                </a:solidFill>
              </a:rPr>
              <a:t>          p1=</a:t>
            </a:r>
            <a:r>
              <a:rPr lang="en-US" altLang="zh-CN" sz="1100" dirty="0" err="1">
                <a:solidFill>
                  <a:schemeClr val="accent1">
                    <a:lumMod val="50000"/>
                  </a:schemeClr>
                </a:solidFill>
              </a:rPr>
              <a:t>dtt.iloc</a:t>
            </a:r>
            <a:r>
              <a:rPr lang="en-US" altLang="zh-CN" sz="1100" dirty="0">
                <a:solidFill>
                  <a:schemeClr val="accent1">
                    <a:lumMod val="50000"/>
                  </a:schemeClr>
                </a:solidFill>
              </a:rPr>
              <a:t>[0,3]</a:t>
            </a:r>
            <a:endParaRPr lang="zh-CN" altLang="zh-CN" sz="1100" dirty="0">
              <a:solidFill>
                <a:schemeClr val="accent1">
                  <a:lumMod val="50000"/>
                </a:schemeClr>
              </a:solidFill>
            </a:endParaRPr>
          </a:p>
          <a:p>
            <a:r>
              <a:rPr lang="en-US" altLang="zh-CN" sz="1100" dirty="0">
                <a:solidFill>
                  <a:schemeClr val="accent1">
                    <a:lumMod val="50000"/>
                  </a:schemeClr>
                </a:solidFill>
              </a:rPr>
              <a:t>          p2=</a:t>
            </a:r>
            <a:r>
              <a:rPr lang="en-US" altLang="zh-CN" sz="1100" dirty="0" err="1">
                <a:solidFill>
                  <a:schemeClr val="accent1">
                    <a:lumMod val="50000"/>
                  </a:schemeClr>
                </a:solidFill>
              </a:rPr>
              <a:t>dtt.iloc</a:t>
            </a:r>
            <a:r>
              <a:rPr lang="en-US" altLang="zh-CN" sz="1100" dirty="0">
                <a:solidFill>
                  <a:schemeClr val="accent1">
                    <a:lumMod val="50000"/>
                  </a:schemeClr>
                </a:solidFill>
              </a:rPr>
              <a:t>[</a:t>
            </a:r>
            <a:r>
              <a:rPr lang="en-US" altLang="zh-CN" sz="1100" dirty="0" err="1">
                <a:solidFill>
                  <a:schemeClr val="accent1">
                    <a:lumMod val="50000"/>
                  </a:schemeClr>
                </a:solidFill>
              </a:rPr>
              <a:t>len</a:t>
            </a:r>
            <a:r>
              <a:rPr lang="en-US" altLang="zh-CN" sz="1100" dirty="0">
                <a:solidFill>
                  <a:schemeClr val="accent1">
                    <a:lumMod val="50000"/>
                  </a:schemeClr>
                </a:solidFill>
              </a:rPr>
              <a:t>(</a:t>
            </a:r>
            <a:r>
              <a:rPr lang="en-US" altLang="zh-CN" sz="1100" dirty="0" err="1">
                <a:solidFill>
                  <a:schemeClr val="accent1">
                    <a:lumMod val="50000"/>
                  </a:schemeClr>
                </a:solidFill>
              </a:rPr>
              <a:t>dtt</a:t>
            </a:r>
            <a:r>
              <a:rPr lang="en-US" altLang="zh-CN" sz="1100" dirty="0">
                <a:solidFill>
                  <a:schemeClr val="accent1">
                    <a:lumMod val="50000"/>
                  </a:schemeClr>
                </a:solidFill>
              </a:rPr>
              <a:t>)-1,3]</a:t>
            </a:r>
            <a:endParaRPr lang="zh-CN" altLang="zh-CN" sz="1100" dirty="0">
              <a:solidFill>
                <a:schemeClr val="accent1">
                  <a:lumMod val="50000"/>
                </a:schemeClr>
              </a:solidFill>
            </a:endParaRPr>
          </a:p>
          <a:p>
            <a:r>
              <a:rPr lang="en-US" altLang="zh-CN" sz="1100" dirty="0">
                <a:solidFill>
                  <a:schemeClr val="accent1">
                    <a:lumMod val="50000"/>
                  </a:schemeClr>
                </a:solidFill>
              </a:rPr>
              <a:t>          </a:t>
            </a:r>
            <a:r>
              <a:rPr lang="en-US" altLang="zh-CN" sz="1100" dirty="0" err="1">
                <a:solidFill>
                  <a:schemeClr val="accent1">
                    <a:lumMod val="50000"/>
                  </a:schemeClr>
                </a:solidFill>
              </a:rPr>
              <a:t>r_list.append</a:t>
            </a:r>
            <a:r>
              <a:rPr lang="en-US" altLang="zh-CN" sz="1100" dirty="0">
                <a:solidFill>
                  <a:schemeClr val="accent1">
                    <a:lumMod val="50000"/>
                  </a:schemeClr>
                </a:solidFill>
              </a:rPr>
              <a:t>((p2-p1)/p1)</a:t>
            </a:r>
            <a:endParaRPr lang="zh-CN" altLang="zh-CN" sz="1100" dirty="0">
              <a:solidFill>
                <a:schemeClr val="accent1">
                  <a:lumMod val="50000"/>
                </a:schemeClr>
              </a:solidFill>
            </a:endParaRPr>
          </a:p>
          <a:p>
            <a:r>
              <a:rPr lang="en-US" altLang="zh-CN" sz="1100" dirty="0">
                <a:solidFill>
                  <a:schemeClr val="accent1">
                    <a:lumMod val="50000"/>
                  </a:schemeClr>
                </a:solidFill>
              </a:rPr>
              <a:t>   </a:t>
            </a:r>
            <a:endParaRPr lang="zh-CN" altLang="zh-CN" sz="1100" dirty="0">
              <a:solidFill>
                <a:schemeClr val="accent1">
                  <a:lumMod val="50000"/>
                </a:schemeClr>
              </a:solidFill>
            </a:endParaRPr>
          </a:p>
          <a:p>
            <a:pPr algn="just">
              <a:spcAft>
                <a:spcPts val="0"/>
              </a:spcAft>
            </a:pPr>
            <a:endParaRPr lang="zh-CN" altLang="zh-CN" sz="800" kern="100" dirty="0">
              <a:solidFill>
                <a:schemeClr val="accent1">
                  <a:lumMod val="50000"/>
                </a:schemeClr>
              </a:solidFill>
              <a:latin typeface="Calibri"/>
              <a:ea typeface="宋体"/>
              <a:cs typeface="Times New Roman"/>
            </a:endParaRPr>
          </a:p>
        </p:txBody>
      </p:sp>
      <p:sp>
        <p:nvSpPr>
          <p:cNvPr id="7" name="TextBox 6"/>
          <p:cNvSpPr txBox="1"/>
          <p:nvPr/>
        </p:nvSpPr>
        <p:spPr>
          <a:xfrm>
            <a:off x="4258696" y="2211710"/>
            <a:ext cx="4716016" cy="2785378"/>
          </a:xfrm>
          <a:prstGeom prst="rect">
            <a:avLst/>
          </a:prstGeom>
          <a:noFill/>
        </p:spPr>
        <p:txBody>
          <a:bodyPr wrap="square" rtlCol="0">
            <a:spAutoFit/>
          </a:bodyPr>
          <a:lstStyle/>
          <a:p>
            <a:pPr>
              <a:spcAft>
                <a:spcPts val="600"/>
              </a:spcAft>
            </a:pPr>
            <a:r>
              <a:rPr lang="en-US" altLang="zh-CN" sz="1000" b="1" dirty="0">
                <a:solidFill>
                  <a:schemeClr val="accent1">
                    <a:lumMod val="50000"/>
                  </a:schemeClr>
                </a:solidFill>
              </a:rPr>
              <a:t>3. </a:t>
            </a:r>
            <a:r>
              <a:rPr lang="zh-CN" altLang="zh-CN" sz="1000" b="1" dirty="0">
                <a:solidFill>
                  <a:schemeClr val="accent1">
                    <a:lumMod val="50000"/>
                  </a:schemeClr>
                </a:solidFill>
              </a:rPr>
              <a:t>函数使用方法</a:t>
            </a:r>
          </a:p>
          <a:p>
            <a:r>
              <a:rPr lang="zh-CN" altLang="zh-CN" sz="1000" dirty="0">
                <a:solidFill>
                  <a:schemeClr val="accent1">
                    <a:lumMod val="50000"/>
                  </a:schemeClr>
                </a:solidFill>
              </a:rPr>
              <a:t>前面已经定义了综合排名函数和收益率计算函数，那么这两个函数如何使用呢？以</a:t>
            </a:r>
            <a:r>
              <a:rPr lang="en-US" altLang="zh-CN" sz="1000" dirty="0">
                <a:solidFill>
                  <a:schemeClr val="accent1">
                    <a:lumMod val="50000"/>
                  </a:schemeClr>
                </a:solidFill>
              </a:rPr>
              <a:t>8.3.1~8.3.5</a:t>
            </a:r>
            <a:r>
              <a:rPr lang="zh-CN" altLang="zh-CN" sz="1000" dirty="0">
                <a:solidFill>
                  <a:schemeClr val="accent1">
                    <a:lumMod val="50000"/>
                  </a:schemeClr>
                </a:solidFill>
              </a:rPr>
              <a:t>介绍的例子为例，即以</a:t>
            </a:r>
            <a:r>
              <a:rPr lang="en-US" altLang="zh-CN" sz="1000" dirty="0">
                <a:solidFill>
                  <a:schemeClr val="accent1">
                    <a:lumMod val="50000"/>
                  </a:schemeClr>
                </a:solidFill>
              </a:rPr>
              <a:t>2016</a:t>
            </a:r>
            <a:r>
              <a:rPr lang="zh-CN" altLang="zh-CN" sz="1000" dirty="0">
                <a:solidFill>
                  <a:schemeClr val="accent1">
                    <a:lumMod val="50000"/>
                  </a:schemeClr>
                </a:solidFill>
              </a:rPr>
              <a:t>年的财务指标数据进行排名，获取其排名结果前</a:t>
            </a:r>
            <a:r>
              <a:rPr lang="en-US" altLang="zh-CN" sz="1000" dirty="0">
                <a:solidFill>
                  <a:schemeClr val="accent1">
                    <a:lumMod val="50000"/>
                  </a:schemeClr>
                </a:solidFill>
              </a:rPr>
              <a:t>30</a:t>
            </a:r>
            <a:r>
              <a:rPr lang="zh-CN" altLang="zh-CN" sz="1000" dirty="0">
                <a:solidFill>
                  <a:schemeClr val="accent1">
                    <a:lumMod val="50000"/>
                  </a:schemeClr>
                </a:solidFill>
              </a:rPr>
              <a:t>的股票代码构建投资组合，计算持有期为</a:t>
            </a:r>
            <a:r>
              <a:rPr lang="en-US" altLang="zh-CN" sz="1000" dirty="0">
                <a:solidFill>
                  <a:schemeClr val="accent1">
                    <a:lumMod val="50000"/>
                  </a:schemeClr>
                </a:solidFill>
              </a:rPr>
              <a:t>2017-05-01</a:t>
            </a:r>
            <a:r>
              <a:rPr lang="zh-CN" altLang="zh-CN" sz="1000" dirty="0">
                <a:solidFill>
                  <a:schemeClr val="accent1">
                    <a:lumMod val="50000"/>
                  </a:schemeClr>
                </a:solidFill>
              </a:rPr>
              <a:t>至</a:t>
            </a:r>
            <a:r>
              <a:rPr lang="en-US" altLang="zh-CN" sz="1000" dirty="0">
                <a:solidFill>
                  <a:schemeClr val="accent1">
                    <a:lumMod val="50000"/>
                  </a:schemeClr>
                </a:solidFill>
              </a:rPr>
              <a:t>2017-12-31</a:t>
            </a:r>
            <a:r>
              <a:rPr lang="zh-CN" altLang="zh-CN" sz="1000" dirty="0">
                <a:solidFill>
                  <a:schemeClr val="accent1">
                    <a:lumMod val="50000"/>
                  </a:schemeClr>
                </a:solidFill>
              </a:rPr>
              <a:t>日的投资组合收益率，调用函数实现的示例代码如下：</a:t>
            </a:r>
          </a:p>
          <a:p>
            <a:r>
              <a:rPr lang="en-US" altLang="zh-CN" sz="1000" dirty="0">
                <a:solidFill>
                  <a:schemeClr val="accent1">
                    <a:lumMod val="50000"/>
                  </a:schemeClr>
                </a:solidFill>
              </a:rPr>
              <a:t>import pandas as </a:t>
            </a:r>
            <a:r>
              <a:rPr lang="en-US" altLang="zh-CN" sz="1000" dirty="0" err="1">
                <a:solidFill>
                  <a:schemeClr val="accent1">
                    <a:lumMod val="50000"/>
                  </a:schemeClr>
                </a:solidFill>
              </a:rPr>
              <a:t>pd</a:t>
            </a:r>
            <a:endParaRPr lang="zh-CN" altLang="zh-CN" sz="1000" dirty="0">
              <a:solidFill>
                <a:schemeClr val="accent1">
                  <a:lumMod val="50000"/>
                </a:schemeClr>
              </a:solidFill>
            </a:endParaRPr>
          </a:p>
          <a:p>
            <a:r>
              <a:rPr lang="en-US" altLang="zh-CN" sz="1000" dirty="0">
                <a:solidFill>
                  <a:schemeClr val="accent1">
                    <a:lumMod val="50000"/>
                  </a:schemeClr>
                </a:solidFill>
              </a:rPr>
              <a:t>import fun</a:t>
            </a:r>
            <a:endParaRPr lang="zh-CN" altLang="zh-CN" sz="1000" dirty="0">
              <a:solidFill>
                <a:schemeClr val="accent1">
                  <a:lumMod val="50000"/>
                </a:schemeClr>
              </a:solidFill>
            </a:endParaRPr>
          </a:p>
          <a:p>
            <a:r>
              <a:rPr lang="en-US" altLang="zh-CN" sz="1000" dirty="0">
                <a:solidFill>
                  <a:schemeClr val="accent1">
                    <a:lumMod val="50000"/>
                  </a:schemeClr>
                </a:solidFill>
              </a:rPr>
              <a:t>import fun2</a:t>
            </a:r>
            <a:endParaRPr lang="zh-CN" altLang="zh-CN" sz="1000" dirty="0">
              <a:solidFill>
                <a:schemeClr val="accent1">
                  <a:lumMod val="50000"/>
                </a:schemeClr>
              </a:solidFill>
            </a:endParaRPr>
          </a:p>
          <a:p>
            <a:r>
              <a:rPr lang="en-US" altLang="zh-CN" sz="1000" dirty="0">
                <a:solidFill>
                  <a:schemeClr val="accent1">
                    <a:lumMod val="50000"/>
                  </a:schemeClr>
                </a:solidFill>
              </a:rPr>
              <a:t>data=</a:t>
            </a:r>
            <a:r>
              <a:rPr lang="en-US" altLang="zh-CN" sz="1000" dirty="0" err="1">
                <a:solidFill>
                  <a:schemeClr val="accent1">
                    <a:lumMod val="50000"/>
                  </a:schemeClr>
                </a:solidFill>
              </a:rPr>
              <a:t>pd.read_excel</a:t>
            </a:r>
            <a:r>
              <a:rPr lang="en-US" altLang="zh-CN" sz="1000" dirty="0">
                <a:solidFill>
                  <a:schemeClr val="accent1">
                    <a:lumMod val="50000"/>
                  </a:schemeClr>
                </a:solidFill>
              </a:rPr>
              <a:t>('data.xlsx')</a:t>
            </a:r>
            <a:endParaRPr lang="zh-CN" altLang="zh-CN" sz="1000" dirty="0">
              <a:solidFill>
                <a:schemeClr val="accent1">
                  <a:lumMod val="50000"/>
                </a:schemeClr>
              </a:solidFill>
            </a:endParaRPr>
          </a:p>
          <a:p>
            <a:r>
              <a:rPr lang="en-US" altLang="zh-CN" sz="1000" dirty="0">
                <a:solidFill>
                  <a:schemeClr val="accent1">
                    <a:lumMod val="50000"/>
                  </a:schemeClr>
                </a:solidFill>
              </a:rPr>
              <a:t>r1=</a:t>
            </a:r>
            <a:r>
              <a:rPr lang="en-US" altLang="zh-CN" sz="1000" dirty="0" err="1">
                <a:solidFill>
                  <a:schemeClr val="accent1">
                    <a:lumMod val="50000"/>
                  </a:schemeClr>
                </a:solidFill>
              </a:rPr>
              <a:t>fun.Fr</a:t>
            </a:r>
            <a:r>
              <a:rPr lang="en-US" altLang="zh-CN" sz="1000" dirty="0">
                <a:solidFill>
                  <a:schemeClr val="accent1">
                    <a:lumMod val="50000"/>
                  </a:schemeClr>
                </a:solidFill>
              </a:rPr>
              <a:t>(data,2016)</a:t>
            </a:r>
            <a:endParaRPr lang="zh-CN" altLang="zh-CN" sz="1000" dirty="0">
              <a:solidFill>
                <a:schemeClr val="accent1">
                  <a:lumMod val="50000"/>
                </a:schemeClr>
              </a:solidFill>
            </a:endParaRPr>
          </a:p>
          <a:p>
            <a:r>
              <a:rPr lang="en-US" altLang="zh-CN" sz="1000" dirty="0">
                <a:solidFill>
                  <a:schemeClr val="accent1">
                    <a:lumMod val="50000"/>
                  </a:schemeClr>
                </a:solidFill>
              </a:rPr>
              <a:t>Fscore1=r1[0]</a:t>
            </a:r>
            <a:endParaRPr lang="zh-CN" altLang="zh-CN" sz="1000" dirty="0">
              <a:solidFill>
                <a:schemeClr val="accent1">
                  <a:lumMod val="50000"/>
                </a:schemeClr>
              </a:solidFill>
            </a:endParaRPr>
          </a:p>
          <a:p>
            <a:r>
              <a:rPr lang="en-US" altLang="zh-CN" sz="1000" dirty="0">
                <a:solidFill>
                  <a:schemeClr val="accent1">
                    <a:lumMod val="50000"/>
                  </a:schemeClr>
                </a:solidFill>
              </a:rPr>
              <a:t>Fscore2=r1[1]</a:t>
            </a:r>
            <a:endParaRPr lang="zh-CN" altLang="zh-CN" sz="1000" dirty="0">
              <a:solidFill>
                <a:schemeClr val="accent1">
                  <a:lumMod val="50000"/>
                </a:schemeClr>
              </a:solidFill>
            </a:endParaRPr>
          </a:p>
          <a:p>
            <a:r>
              <a:rPr lang="en-US" altLang="zh-CN" sz="1000" dirty="0">
                <a:solidFill>
                  <a:schemeClr val="accent1">
                    <a:lumMod val="50000"/>
                  </a:schemeClr>
                </a:solidFill>
              </a:rPr>
              <a:t>r2=fun2.Re(Fscore1,'2017-05-01','2017-12-31',30)</a:t>
            </a:r>
            <a:endParaRPr lang="zh-CN" altLang="zh-CN" sz="1000" dirty="0">
              <a:solidFill>
                <a:schemeClr val="accent1">
                  <a:lumMod val="50000"/>
                </a:schemeClr>
              </a:solidFill>
            </a:endParaRPr>
          </a:p>
          <a:p>
            <a:r>
              <a:rPr lang="en-US" altLang="zh-CN" sz="1000" dirty="0" err="1">
                <a:solidFill>
                  <a:schemeClr val="accent1">
                    <a:lumMod val="50000"/>
                  </a:schemeClr>
                </a:solidFill>
              </a:rPr>
              <a:t>r_list</a:t>
            </a:r>
            <a:r>
              <a:rPr lang="en-US" altLang="zh-CN" sz="1000" dirty="0">
                <a:solidFill>
                  <a:schemeClr val="accent1">
                    <a:lumMod val="50000"/>
                  </a:schemeClr>
                </a:solidFill>
              </a:rPr>
              <a:t>=r2[0]</a:t>
            </a:r>
            <a:endParaRPr lang="zh-CN" altLang="zh-CN" sz="1000" dirty="0">
              <a:solidFill>
                <a:schemeClr val="accent1">
                  <a:lumMod val="50000"/>
                </a:schemeClr>
              </a:solidFill>
            </a:endParaRPr>
          </a:p>
          <a:p>
            <a:r>
              <a:rPr lang="en-US" altLang="zh-CN" sz="1000" dirty="0" err="1">
                <a:solidFill>
                  <a:schemeClr val="accent1">
                    <a:lumMod val="50000"/>
                  </a:schemeClr>
                </a:solidFill>
              </a:rPr>
              <a:t>r_total</a:t>
            </a:r>
            <a:r>
              <a:rPr lang="en-US" altLang="zh-CN" sz="1000" dirty="0">
                <a:solidFill>
                  <a:schemeClr val="accent1">
                    <a:lumMod val="50000"/>
                  </a:schemeClr>
                </a:solidFill>
              </a:rPr>
              <a:t>=r2[1]</a:t>
            </a:r>
            <a:endParaRPr lang="zh-CN" altLang="zh-CN" sz="1000" dirty="0">
              <a:solidFill>
                <a:schemeClr val="accent1">
                  <a:lumMod val="50000"/>
                </a:schemeClr>
              </a:solidFill>
            </a:endParaRPr>
          </a:p>
          <a:p>
            <a:r>
              <a:rPr lang="zh-CN" altLang="zh-CN" sz="1000" dirty="0">
                <a:solidFill>
                  <a:schemeClr val="accent1">
                    <a:lumMod val="50000"/>
                  </a:schemeClr>
                </a:solidFill>
              </a:rPr>
              <a:t>其结果</a:t>
            </a:r>
            <a:r>
              <a:rPr lang="en-US" altLang="zh-CN" sz="1000" dirty="0">
                <a:solidFill>
                  <a:schemeClr val="accent1">
                    <a:lumMod val="50000"/>
                  </a:schemeClr>
                </a:solidFill>
              </a:rPr>
              <a:t>Fscore1</a:t>
            </a:r>
            <a:r>
              <a:rPr lang="zh-CN" altLang="zh-CN" sz="1000" dirty="0">
                <a:solidFill>
                  <a:schemeClr val="accent1">
                    <a:lumMod val="50000"/>
                  </a:schemeClr>
                </a:solidFill>
              </a:rPr>
              <a:t>、</a:t>
            </a:r>
            <a:r>
              <a:rPr lang="en-US" altLang="zh-CN" sz="1000" dirty="0">
                <a:solidFill>
                  <a:schemeClr val="accent1">
                    <a:lumMod val="50000"/>
                  </a:schemeClr>
                </a:solidFill>
              </a:rPr>
              <a:t>Fscore2</a:t>
            </a:r>
            <a:r>
              <a:rPr lang="zh-CN" altLang="zh-CN" sz="1000" dirty="0">
                <a:solidFill>
                  <a:schemeClr val="accent1">
                    <a:lumMod val="50000"/>
                  </a:schemeClr>
                </a:solidFill>
              </a:rPr>
              <a:t>、</a:t>
            </a:r>
            <a:r>
              <a:rPr lang="en-US" altLang="zh-CN" sz="1000" dirty="0" err="1">
                <a:solidFill>
                  <a:schemeClr val="accent1">
                    <a:lumMod val="50000"/>
                  </a:schemeClr>
                </a:solidFill>
              </a:rPr>
              <a:t>r_list</a:t>
            </a:r>
            <a:r>
              <a:rPr lang="zh-CN" altLang="zh-CN" sz="1000" dirty="0">
                <a:solidFill>
                  <a:schemeClr val="accent1">
                    <a:lumMod val="50000"/>
                  </a:schemeClr>
                </a:solidFill>
              </a:rPr>
              <a:t>、</a:t>
            </a:r>
            <a:r>
              <a:rPr lang="en-US" altLang="zh-CN" sz="1000" dirty="0" err="1">
                <a:solidFill>
                  <a:schemeClr val="accent1">
                    <a:lumMod val="50000"/>
                  </a:schemeClr>
                </a:solidFill>
              </a:rPr>
              <a:t>r_total</a:t>
            </a:r>
            <a:r>
              <a:rPr lang="zh-CN" altLang="zh-CN" sz="1000" dirty="0">
                <a:solidFill>
                  <a:schemeClr val="accent1">
                    <a:lumMod val="50000"/>
                  </a:schemeClr>
                </a:solidFill>
              </a:rPr>
              <a:t>同</a:t>
            </a:r>
            <a:r>
              <a:rPr lang="en-US" altLang="zh-CN" sz="1000" dirty="0">
                <a:solidFill>
                  <a:schemeClr val="accent1">
                    <a:lumMod val="50000"/>
                  </a:schemeClr>
                </a:solidFill>
              </a:rPr>
              <a:t>8.3.4</a:t>
            </a:r>
            <a:r>
              <a:rPr lang="zh-CN" altLang="zh-CN" sz="1000" dirty="0">
                <a:solidFill>
                  <a:schemeClr val="accent1">
                    <a:lumMod val="50000"/>
                  </a:schemeClr>
                </a:solidFill>
              </a:rPr>
              <a:t>和</a:t>
            </a:r>
            <a:r>
              <a:rPr lang="en-US" altLang="zh-CN" sz="1000" dirty="0">
                <a:solidFill>
                  <a:schemeClr val="accent1">
                    <a:lumMod val="50000"/>
                  </a:schemeClr>
                </a:solidFill>
              </a:rPr>
              <a:t>8.3.5.</a:t>
            </a:r>
            <a:endParaRPr lang="zh-CN" altLang="zh-CN" sz="1000" dirty="0">
              <a:solidFill>
                <a:schemeClr val="accent1">
                  <a:lumMod val="50000"/>
                </a:schemeClr>
              </a:solidFill>
            </a:endParaRPr>
          </a:p>
          <a:p>
            <a:pPr algn="just">
              <a:spcAft>
                <a:spcPts val="0"/>
              </a:spcAft>
            </a:pPr>
            <a:endParaRPr lang="zh-CN" altLang="en-US" sz="1000" dirty="0">
              <a:solidFill>
                <a:schemeClr val="accent1">
                  <a:lumMod val="50000"/>
                </a:schemeClr>
              </a:solidFill>
            </a:endParaRPr>
          </a:p>
        </p:txBody>
      </p:sp>
      <p:sp>
        <p:nvSpPr>
          <p:cNvPr id="2" name="TextBox 1"/>
          <p:cNvSpPr txBox="1"/>
          <p:nvPr/>
        </p:nvSpPr>
        <p:spPr>
          <a:xfrm>
            <a:off x="4211960" y="915566"/>
            <a:ext cx="4464496" cy="1046440"/>
          </a:xfrm>
          <a:prstGeom prst="rect">
            <a:avLst/>
          </a:prstGeom>
          <a:noFill/>
        </p:spPr>
        <p:txBody>
          <a:bodyPr wrap="square" rtlCol="0">
            <a:spAutoFit/>
          </a:bodyPr>
          <a:lstStyle/>
          <a:p>
            <a:r>
              <a:rPr lang="en-US" altLang="zh-CN" sz="1000" dirty="0">
                <a:solidFill>
                  <a:schemeClr val="accent1">
                    <a:lumMod val="50000"/>
                  </a:schemeClr>
                </a:solidFill>
              </a:rPr>
              <a:t> </a:t>
            </a:r>
            <a:r>
              <a:rPr lang="en-US" altLang="zh-CN" sz="1100" dirty="0" err="1">
                <a:solidFill>
                  <a:schemeClr val="accent1">
                    <a:lumMod val="50000"/>
                  </a:schemeClr>
                </a:solidFill>
              </a:rPr>
              <a:t>r_total</a:t>
            </a:r>
            <a:r>
              <a:rPr lang="en-US" altLang="zh-CN" sz="1100" dirty="0">
                <a:solidFill>
                  <a:schemeClr val="accent1">
                    <a:lumMod val="50000"/>
                  </a:schemeClr>
                </a:solidFill>
              </a:rPr>
              <a:t>=sum(</a:t>
            </a:r>
            <a:r>
              <a:rPr lang="en-US" altLang="zh-CN" sz="1100" dirty="0" err="1">
                <a:solidFill>
                  <a:schemeClr val="accent1">
                    <a:lumMod val="50000"/>
                  </a:schemeClr>
                </a:solidFill>
              </a:rPr>
              <a:t>r_list</a:t>
            </a:r>
            <a:r>
              <a:rPr lang="en-US" altLang="zh-CN" sz="1100" dirty="0">
                <a:solidFill>
                  <a:schemeClr val="accent1">
                    <a:lumMod val="50000"/>
                  </a:schemeClr>
                </a:solidFill>
              </a:rPr>
              <a:t>)</a:t>
            </a:r>
            <a:endParaRPr lang="zh-CN" altLang="zh-CN" sz="1100" dirty="0">
              <a:solidFill>
                <a:schemeClr val="accent1">
                  <a:lumMod val="50000"/>
                </a:schemeClr>
              </a:solidFill>
            </a:endParaRPr>
          </a:p>
          <a:p>
            <a:r>
              <a:rPr lang="en-US" altLang="zh-CN" sz="1100" dirty="0">
                <a:solidFill>
                  <a:schemeClr val="accent1">
                    <a:lumMod val="50000"/>
                  </a:schemeClr>
                </a:solidFill>
              </a:rPr>
              <a:t>   return (</a:t>
            </a:r>
            <a:r>
              <a:rPr lang="en-US" altLang="zh-CN" sz="1100" dirty="0" err="1">
                <a:solidFill>
                  <a:schemeClr val="accent1">
                    <a:lumMod val="50000"/>
                  </a:schemeClr>
                </a:solidFill>
              </a:rPr>
              <a:t>r_list,r_total</a:t>
            </a:r>
            <a:r>
              <a:rPr lang="en-US" altLang="zh-CN" sz="1100" dirty="0">
                <a:solidFill>
                  <a:schemeClr val="accent1">
                    <a:lumMod val="50000"/>
                  </a:schemeClr>
                </a:solidFill>
              </a:rPr>
              <a:t>)</a:t>
            </a:r>
            <a:endParaRPr lang="zh-CN" altLang="zh-CN" sz="1100" dirty="0">
              <a:solidFill>
                <a:schemeClr val="accent1">
                  <a:lumMod val="50000"/>
                </a:schemeClr>
              </a:solidFill>
            </a:endParaRPr>
          </a:p>
          <a:p>
            <a:r>
              <a:rPr lang="zh-CN" altLang="zh-CN" sz="1000" dirty="0">
                <a:solidFill>
                  <a:schemeClr val="accent1">
                    <a:lumMod val="50000"/>
                  </a:schemeClr>
                </a:solidFill>
              </a:rPr>
              <a:t>该函数的输入参数依次为排名结果（综合排名函数返回的股票代码形式结果）、持有期开始日期、持有期结束日期、投资组合的股票代码个数（排名结果前</a:t>
            </a:r>
            <a:r>
              <a:rPr lang="en-US" altLang="zh-CN" sz="1000" dirty="0">
                <a:solidFill>
                  <a:schemeClr val="accent1">
                    <a:lumMod val="50000"/>
                  </a:schemeClr>
                </a:solidFill>
              </a:rPr>
              <a:t>N</a:t>
            </a:r>
            <a:r>
              <a:rPr lang="zh-CN" altLang="zh-CN" sz="1000" dirty="0">
                <a:solidFill>
                  <a:schemeClr val="accent1">
                    <a:lumMod val="50000"/>
                  </a:schemeClr>
                </a:solidFill>
              </a:rPr>
              <a:t>名）。返回结果依次为投资组合中所有股票代码的收益率列表和投资组合总收益率。</a:t>
            </a:r>
            <a:endParaRPr lang="zh-CN" altLang="en-US" sz="1000" dirty="0">
              <a:solidFill>
                <a:schemeClr val="accent1">
                  <a:lumMod val="50000"/>
                </a:schemeClr>
              </a:solidFill>
            </a:endParaRPr>
          </a:p>
        </p:txBody>
      </p:sp>
    </p:spTree>
    <p:extLst>
      <p:ext uri="{BB962C8B-B14F-4D97-AF65-F5344CB8AC3E}">
        <p14:creationId xmlns:p14="http://schemas.microsoft.com/office/powerpoint/2010/main" val="84367181"/>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5" y="33470"/>
            <a:ext cx="3780194" cy="392411"/>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fontAlgn="base">
              <a:spcBef>
                <a:spcPct val="0"/>
              </a:spcBef>
              <a:spcAft>
                <a:spcPct val="0"/>
              </a:spcAft>
              <a:buFont typeface="Arial" pitchFamily="34" charset="0"/>
              <a:buNone/>
            </a:pPr>
            <a:r>
              <a:rPr lang="en-US" altLang="zh-CN" sz="2100" dirty="0">
                <a:solidFill>
                  <a:srgbClr val="FFFFFF"/>
                </a:solidFill>
                <a:latin typeface="微软雅黑"/>
                <a:ea typeface="微软雅黑"/>
              </a:rPr>
              <a:t>8.3.6 </a:t>
            </a:r>
            <a:r>
              <a:rPr lang="zh-CN" altLang="en-US" sz="2100" dirty="0">
                <a:solidFill>
                  <a:srgbClr val="FFFFFF"/>
                </a:solidFill>
                <a:latin typeface="微软雅黑"/>
                <a:ea typeface="微软雅黑"/>
              </a:rPr>
              <a:t>量化投资策略设计与分析</a:t>
            </a:r>
          </a:p>
        </p:txBody>
      </p:sp>
      <p:sp>
        <p:nvSpPr>
          <p:cNvPr id="56" name="TextBox 55"/>
          <p:cNvSpPr txBox="1"/>
          <p:nvPr/>
        </p:nvSpPr>
        <p:spPr>
          <a:xfrm>
            <a:off x="105156" y="56565"/>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sp>
        <p:nvSpPr>
          <p:cNvPr id="6" name="TextBox 5"/>
          <p:cNvSpPr txBox="1"/>
          <p:nvPr/>
        </p:nvSpPr>
        <p:spPr>
          <a:xfrm>
            <a:off x="341804" y="555526"/>
            <a:ext cx="3726140" cy="1369606"/>
          </a:xfrm>
          <a:prstGeom prst="rect">
            <a:avLst/>
          </a:prstGeom>
          <a:noFill/>
        </p:spPr>
        <p:txBody>
          <a:bodyPr wrap="square" rtlCol="0">
            <a:spAutoFit/>
          </a:bodyPr>
          <a:lstStyle/>
          <a:p>
            <a:pPr>
              <a:spcAft>
                <a:spcPts val="600"/>
              </a:spcAft>
            </a:pPr>
            <a:r>
              <a:rPr lang="en-US" altLang="zh-CN" sz="1000" b="1" dirty="0">
                <a:solidFill>
                  <a:schemeClr val="accent1">
                    <a:lumMod val="50000"/>
                  </a:schemeClr>
                </a:solidFill>
              </a:rPr>
              <a:t>4. </a:t>
            </a:r>
            <a:r>
              <a:rPr lang="zh-CN" altLang="zh-CN" sz="1000" b="1" dirty="0">
                <a:solidFill>
                  <a:schemeClr val="accent1">
                    <a:lumMod val="50000"/>
                  </a:schemeClr>
                </a:solidFill>
              </a:rPr>
              <a:t>量化投资策略设计</a:t>
            </a:r>
          </a:p>
          <a:p>
            <a:pPr indent="252000"/>
            <a:r>
              <a:rPr lang="zh-CN" altLang="zh-CN" sz="1000" dirty="0">
                <a:solidFill>
                  <a:schemeClr val="accent1">
                    <a:lumMod val="50000"/>
                  </a:schemeClr>
                </a:solidFill>
              </a:rPr>
              <a:t>进一步地我们设计一个量化投资策略：以</a:t>
            </a:r>
            <a:r>
              <a:rPr lang="en-US" altLang="zh-CN" sz="1000" dirty="0">
                <a:solidFill>
                  <a:schemeClr val="accent1">
                    <a:lumMod val="50000"/>
                  </a:schemeClr>
                </a:solidFill>
              </a:rPr>
              <a:t>2013</a:t>
            </a:r>
            <a:r>
              <a:rPr lang="zh-CN" altLang="zh-CN" sz="1000" dirty="0">
                <a:solidFill>
                  <a:schemeClr val="accent1">
                    <a:lumMod val="50000"/>
                  </a:schemeClr>
                </a:solidFill>
              </a:rPr>
              <a:t>年</a:t>
            </a:r>
            <a:r>
              <a:rPr lang="en-US" altLang="zh-CN" sz="1000" dirty="0">
                <a:solidFill>
                  <a:schemeClr val="accent1">
                    <a:lumMod val="50000"/>
                  </a:schemeClr>
                </a:solidFill>
              </a:rPr>
              <a:t>~2016</a:t>
            </a:r>
            <a:r>
              <a:rPr lang="zh-CN" altLang="zh-CN" sz="1000" dirty="0">
                <a:solidFill>
                  <a:schemeClr val="accent1">
                    <a:lumMod val="50000"/>
                  </a:schemeClr>
                </a:solidFill>
              </a:rPr>
              <a:t>年的财务指标数据为基础计算其综合排名，并取排名前</a:t>
            </a:r>
            <a:r>
              <a:rPr lang="en-US" altLang="zh-CN" sz="1000" dirty="0">
                <a:solidFill>
                  <a:schemeClr val="accent1">
                    <a:lumMod val="50000"/>
                  </a:schemeClr>
                </a:solidFill>
              </a:rPr>
              <a:t>20</a:t>
            </a:r>
            <a:r>
              <a:rPr lang="zh-CN" altLang="zh-CN" sz="1000" dirty="0">
                <a:solidFill>
                  <a:schemeClr val="accent1">
                    <a:lumMod val="50000"/>
                  </a:schemeClr>
                </a:solidFill>
              </a:rPr>
              <a:t>、</a:t>
            </a:r>
            <a:r>
              <a:rPr lang="en-US" altLang="zh-CN" sz="1000" dirty="0">
                <a:solidFill>
                  <a:schemeClr val="accent1">
                    <a:lumMod val="50000"/>
                  </a:schemeClr>
                </a:solidFill>
              </a:rPr>
              <a:t>40</a:t>
            </a:r>
            <a:r>
              <a:rPr lang="zh-CN" altLang="zh-CN" sz="1000" dirty="0">
                <a:solidFill>
                  <a:schemeClr val="accent1">
                    <a:lumMod val="50000"/>
                  </a:schemeClr>
                </a:solidFill>
              </a:rPr>
              <a:t>的股票构建投资组合，以下一个年度</a:t>
            </a:r>
            <a:r>
              <a:rPr lang="en-US" altLang="zh-CN" sz="1000" dirty="0">
                <a:solidFill>
                  <a:schemeClr val="accent1">
                    <a:lumMod val="50000"/>
                  </a:schemeClr>
                </a:solidFill>
              </a:rPr>
              <a:t>05-01~06-30</a:t>
            </a:r>
            <a:r>
              <a:rPr lang="zh-CN" altLang="zh-CN" sz="1000" dirty="0">
                <a:solidFill>
                  <a:schemeClr val="accent1">
                    <a:lumMod val="50000"/>
                  </a:schemeClr>
                </a:solidFill>
              </a:rPr>
              <a:t>、</a:t>
            </a:r>
            <a:r>
              <a:rPr lang="en-US" altLang="zh-CN" sz="1000" dirty="0">
                <a:solidFill>
                  <a:schemeClr val="accent1">
                    <a:lumMod val="50000"/>
                  </a:schemeClr>
                </a:solidFill>
              </a:rPr>
              <a:t>05-01~09-30</a:t>
            </a:r>
            <a:r>
              <a:rPr lang="zh-CN" altLang="zh-CN" sz="1000" dirty="0">
                <a:solidFill>
                  <a:schemeClr val="accent1">
                    <a:lumMod val="50000"/>
                  </a:schemeClr>
                </a:solidFill>
              </a:rPr>
              <a:t>、</a:t>
            </a:r>
            <a:r>
              <a:rPr lang="en-US" altLang="zh-CN" sz="1000" dirty="0">
                <a:solidFill>
                  <a:schemeClr val="accent1">
                    <a:lumMod val="50000"/>
                  </a:schemeClr>
                </a:solidFill>
              </a:rPr>
              <a:t>05-01~12-31</a:t>
            </a:r>
            <a:r>
              <a:rPr lang="zh-CN" altLang="zh-CN" sz="1000" dirty="0">
                <a:solidFill>
                  <a:schemeClr val="accent1">
                    <a:lumMod val="50000"/>
                  </a:schemeClr>
                </a:solidFill>
              </a:rPr>
              <a:t>作为持有期，分别计算其投资组合的收益率，并与同期的沪深</a:t>
            </a:r>
            <a:r>
              <a:rPr lang="en-US" altLang="zh-CN" sz="1000" dirty="0">
                <a:solidFill>
                  <a:schemeClr val="accent1">
                    <a:lumMod val="50000"/>
                  </a:schemeClr>
                </a:solidFill>
              </a:rPr>
              <a:t>300</a:t>
            </a:r>
            <a:r>
              <a:rPr lang="zh-CN" altLang="zh-CN" sz="1000" dirty="0">
                <a:solidFill>
                  <a:schemeClr val="accent1">
                    <a:lumMod val="50000"/>
                  </a:schemeClr>
                </a:solidFill>
              </a:rPr>
              <a:t>指数收益率进行对比。沪深</a:t>
            </a:r>
            <a:r>
              <a:rPr lang="en-US" altLang="zh-CN" sz="1000" dirty="0">
                <a:solidFill>
                  <a:schemeClr val="accent1">
                    <a:lumMod val="50000"/>
                  </a:schemeClr>
                </a:solidFill>
              </a:rPr>
              <a:t>300</a:t>
            </a:r>
            <a:r>
              <a:rPr lang="zh-CN" altLang="zh-CN" sz="1000" dirty="0">
                <a:solidFill>
                  <a:schemeClr val="accent1">
                    <a:lumMod val="50000"/>
                  </a:schemeClr>
                </a:solidFill>
              </a:rPr>
              <a:t>指数日交易数据文件表结构如下表</a:t>
            </a:r>
            <a:r>
              <a:rPr lang="en-US" altLang="zh-CN" sz="1000" dirty="0">
                <a:solidFill>
                  <a:schemeClr val="accent1">
                    <a:lumMod val="50000"/>
                  </a:schemeClr>
                </a:solidFill>
              </a:rPr>
              <a:t>8-4</a:t>
            </a:r>
            <a:r>
              <a:rPr lang="zh-CN" altLang="zh-CN" sz="1000" dirty="0">
                <a:solidFill>
                  <a:schemeClr val="accent1">
                    <a:lumMod val="50000"/>
                  </a:schemeClr>
                </a:solidFill>
              </a:rPr>
              <a:t>所示。数据来源于国泰安</a:t>
            </a:r>
            <a:r>
              <a:rPr lang="en-US" altLang="zh-CN" sz="1000" dirty="0">
                <a:solidFill>
                  <a:schemeClr val="accent1">
                    <a:lumMod val="50000"/>
                  </a:schemeClr>
                </a:solidFill>
              </a:rPr>
              <a:t>CSMAR</a:t>
            </a:r>
            <a:r>
              <a:rPr lang="zh-CN" altLang="zh-CN" sz="1000" dirty="0">
                <a:solidFill>
                  <a:schemeClr val="accent1">
                    <a:lumMod val="50000"/>
                  </a:schemeClr>
                </a:solidFill>
              </a:rPr>
              <a:t>数据库</a:t>
            </a:r>
            <a:r>
              <a:rPr lang="en-US" altLang="zh-CN" sz="1000" dirty="0">
                <a:solidFill>
                  <a:schemeClr val="accent1">
                    <a:lumMod val="50000"/>
                  </a:schemeClr>
                </a:solidFill>
              </a:rPr>
              <a:t>.</a:t>
            </a:r>
            <a:endParaRPr lang="zh-CN" altLang="zh-CN" sz="1000" dirty="0">
              <a:solidFill>
                <a:schemeClr val="accent1">
                  <a:lumMod val="50000"/>
                </a:schemeClr>
              </a:solidFill>
            </a:endParaRPr>
          </a:p>
          <a:p>
            <a:pPr algn="just">
              <a:spcAft>
                <a:spcPts val="0"/>
              </a:spcAft>
            </a:pPr>
            <a:endParaRPr lang="zh-CN" altLang="zh-CN" sz="800" kern="100" dirty="0">
              <a:solidFill>
                <a:schemeClr val="accent1">
                  <a:lumMod val="50000"/>
                </a:schemeClr>
              </a:solidFill>
              <a:latin typeface="Calibri"/>
              <a:ea typeface="宋体"/>
              <a:cs typeface="Times New Roman"/>
            </a:endParaRPr>
          </a:p>
        </p:txBody>
      </p:sp>
      <p:sp>
        <p:nvSpPr>
          <p:cNvPr id="7" name="TextBox 6"/>
          <p:cNvSpPr txBox="1"/>
          <p:nvPr/>
        </p:nvSpPr>
        <p:spPr>
          <a:xfrm>
            <a:off x="4283968" y="543016"/>
            <a:ext cx="4716016" cy="4708981"/>
          </a:xfrm>
          <a:prstGeom prst="rect">
            <a:avLst/>
          </a:prstGeom>
          <a:noFill/>
        </p:spPr>
        <p:txBody>
          <a:bodyPr wrap="square" rtlCol="0">
            <a:spAutoFit/>
          </a:bodyPr>
          <a:lstStyle/>
          <a:p>
            <a:pPr lvl="0"/>
            <a:r>
              <a:rPr lang="en-US" altLang="zh-CN" sz="1100" dirty="0">
                <a:solidFill>
                  <a:schemeClr val="accent1">
                    <a:lumMod val="50000"/>
                  </a:schemeClr>
                </a:solidFill>
              </a:rPr>
              <a:t>list2=[] </a:t>
            </a:r>
            <a:r>
              <a:rPr lang="en-US" altLang="zh-CN" sz="800" dirty="0">
                <a:solidFill>
                  <a:schemeClr val="accent1">
                    <a:lumMod val="50000"/>
                  </a:schemeClr>
                </a:solidFill>
              </a:rPr>
              <a:t>#</a:t>
            </a:r>
            <a:r>
              <a:rPr lang="zh-CN" altLang="zh-CN" sz="800" dirty="0">
                <a:solidFill>
                  <a:schemeClr val="accent1">
                    <a:lumMod val="50000"/>
                  </a:schemeClr>
                </a:solidFill>
              </a:rPr>
              <a:t>存放持有</a:t>
            </a:r>
            <a:r>
              <a:rPr lang="zh-CN" altLang="zh-CN" sz="800" dirty="0" smtClean="0">
                <a:solidFill>
                  <a:schemeClr val="accent1">
                    <a:lumMod val="50000"/>
                  </a:schemeClr>
                </a:solidFill>
              </a:rPr>
              <a:t>期</a:t>
            </a:r>
            <a:endParaRPr lang="en-US" altLang="zh-CN" sz="1100" dirty="0" smtClean="0">
              <a:solidFill>
                <a:schemeClr val="accent1">
                  <a:lumMod val="50000"/>
                </a:schemeClr>
              </a:solidFill>
            </a:endParaRPr>
          </a:p>
          <a:p>
            <a:r>
              <a:rPr lang="en-US" altLang="zh-CN" sz="1100" dirty="0" smtClean="0">
                <a:solidFill>
                  <a:schemeClr val="accent1">
                    <a:lumMod val="50000"/>
                  </a:schemeClr>
                </a:solidFill>
              </a:rPr>
              <a:t>list3</a:t>
            </a:r>
            <a:r>
              <a:rPr lang="en-US" altLang="zh-CN" sz="1100" dirty="0">
                <a:solidFill>
                  <a:schemeClr val="accent1">
                    <a:lumMod val="50000"/>
                  </a:schemeClr>
                </a:solidFill>
              </a:rPr>
              <a:t>=[] </a:t>
            </a:r>
            <a:r>
              <a:rPr lang="en-US" altLang="zh-CN" sz="800" dirty="0">
                <a:solidFill>
                  <a:schemeClr val="accent1">
                    <a:lumMod val="50000"/>
                  </a:schemeClr>
                </a:solidFill>
              </a:rPr>
              <a:t>#</a:t>
            </a:r>
            <a:r>
              <a:rPr lang="zh-CN" altLang="zh-CN" sz="800" dirty="0">
                <a:solidFill>
                  <a:schemeClr val="accent1">
                    <a:lumMod val="50000"/>
                  </a:schemeClr>
                </a:solidFill>
              </a:rPr>
              <a:t>存放投资组合收益率</a:t>
            </a:r>
          </a:p>
          <a:p>
            <a:r>
              <a:rPr lang="en-US" altLang="zh-CN" sz="1100" dirty="0">
                <a:solidFill>
                  <a:schemeClr val="accent1">
                    <a:lumMod val="50000"/>
                  </a:schemeClr>
                </a:solidFill>
              </a:rPr>
              <a:t>list4=[] </a:t>
            </a:r>
            <a:r>
              <a:rPr lang="en-US" altLang="zh-CN" sz="800" dirty="0">
                <a:solidFill>
                  <a:schemeClr val="accent1">
                    <a:lumMod val="50000"/>
                  </a:schemeClr>
                </a:solidFill>
              </a:rPr>
              <a:t>#</a:t>
            </a:r>
            <a:r>
              <a:rPr lang="zh-CN" altLang="zh-CN" sz="800" dirty="0">
                <a:solidFill>
                  <a:schemeClr val="accent1">
                    <a:lumMod val="50000"/>
                  </a:schemeClr>
                </a:solidFill>
              </a:rPr>
              <a:t>存放沪深</a:t>
            </a:r>
            <a:r>
              <a:rPr lang="en-US" altLang="zh-CN" sz="800" dirty="0">
                <a:solidFill>
                  <a:schemeClr val="accent1">
                    <a:lumMod val="50000"/>
                  </a:schemeClr>
                </a:solidFill>
              </a:rPr>
              <a:t>300</a:t>
            </a:r>
            <a:r>
              <a:rPr lang="zh-CN" altLang="zh-CN" sz="800" dirty="0">
                <a:solidFill>
                  <a:schemeClr val="accent1">
                    <a:lumMod val="50000"/>
                  </a:schemeClr>
                </a:solidFill>
              </a:rPr>
              <a:t>指数</a:t>
            </a:r>
            <a:r>
              <a:rPr lang="zh-CN" altLang="zh-CN" sz="800" dirty="0" smtClean="0">
                <a:solidFill>
                  <a:schemeClr val="accent1">
                    <a:lumMod val="50000"/>
                  </a:schemeClr>
                </a:solidFill>
              </a:rPr>
              <a:t>收益率</a:t>
            </a:r>
            <a:endParaRPr lang="en-US" altLang="zh-CN" sz="800" dirty="0" smtClean="0">
              <a:solidFill>
                <a:schemeClr val="accent1">
                  <a:lumMod val="50000"/>
                </a:schemeClr>
              </a:solidFill>
            </a:endParaRPr>
          </a:p>
          <a:p>
            <a:r>
              <a:rPr lang="en-US" altLang="zh-CN" sz="1050" dirty="0">
                <a:solidFill>
                  <a:schemeClr val="accent1">
                    <a:lumMod val="50000"/>
                  </a:schemeClr>
                </a:solidFill>
              </a:rPr>
              <a:t> </a:t>
            </a:r>
            <a:r>
              <a:rPr lang="en-US" altLang="zh-CN" sz="800" dirty="0">
                <a:solidFill>
                  <a:schemeClr val="accent1">
                    <a:lumMod val="50000"/>
                  </a:schemeClr>
                </a:solidFill>
              </a:rPr>
              <a:t>#</a:t>
            </a:r>
            <a:r>
              <a:rPr lang="zh-CN" altLang="zh-CN" sz="800" dirty="0">
                <a:solidFill>
                  <a:schemeClr val="accent1">
                    <a:lumMod val="50000"/>
                  </a:schemeClr>
                </a:solidFill>
              </a:rPr>
              <a:t>持有期</a:t>
            </a:r>
          </a:p>
          <a:p>
            <a:r>
              <a:rPr lang="en-US" altLang="zh-CN" sz="1100" dirty="0">
                <a:solidFill>
                  <a:schemeClr val="accent1">
                    <a:lumMod val="50000"/>
                  </a:schemeClr>
                </a:solidFill>
              </a:rPr>
              <a:t>for year in [2013,2014,2015,2016]:</a:t>
            </a:r>
            <a:endParaRPr lang="zh-CN" altLang="zh-CN" sz="1100" dirty="0">
              <a:solidFill>
                <a:schemeClr val="accent1">
                  <a:lumMod val="50000"/>
                </a:schemeClr>
              </a:solidFill>
            </a:endParaRPr>
          </a:p>
          <a:p>
            <a:r>
              <a:rPr lang="en-US" altLang="zh-CN" sz="1100" dirty="0">
                <a:solidFill>
                  <a:schemeClr val="accent1">
                    <a:lumMod val="50000"/>
                  </a:schemeClr>
                </a:solidFill>
              </a:rPr>
              <a:t>for time in ['06-30','09-30','12-31']:</a:t>
            </a:r>
            <a:endParaRPr lang="zh-CN" altLang="zh-CN" sz="1100" dirty="0">
              <a:solidFill>
                <a:schemeClr val="accent1">
                  <a:lumMod val="50000"/>
                </a:schemeClr>
              </a:solidFill>
            </a:endParaRPr>
          </a:p>
          <a:p>
            <a:r>
              <a:rPr lang="en-US" altLang="zh-CN" sz="1050" dirty="0">
                <a:solidFill>
                  <a:schemeClr val="accent1">
                    <a:lumMod val="50000"/>
                  </a:schemeClr>
                </a:solidFill>
              </a:rPr>
              <a:t>    </a:t>
            </a:r>
            <a:r>
              <a:rPr lang="en-US" altLang="zh-CN" sz="800" dirty="0">
                <a:solidFill>
                  <a:schemeClr val="accent1">
                    <a:lumMod val="50000"/>
                  </a:schemeClr>
                </a:solidFill>
              </a:rPr>
              <a:t>#</a:t>
            </a:r>
            <a:r>
              <a:rPr lang="zh-CN" altLang="zh-CN" sz="800" dirty="0">
                <a:solidFill>
                  <a:schemeClr val="accent1">
                    <a:lumMod val="50000"/>
                  </a:schemeClr>
                </a:solidFill>
              </a:rPr>
              <a:t>获得基于总体规模与投资效率指标的综合评价排名结果</a:t>
            </a:r>
          </a:p>
          <a:p>
            <a:r>
              <a:rPr lang="en-US" altLang="zh-CN" sz="1100" dirty="0">
                <a:solidFill>
                  <a:schemeClr val="accent1">
                    <a:lumMod val="50000"/>
                  </a:schemeClr>
                </a:solidFill>
              </a:rPr>
              <a:t>        r1=</a:t>
            </a:r>
            <a:r>
              <a:rPr lang="en-US" altLang="zh-CN" sz="1100" dirty="0" err="1">
                <a:solidFill>
                  <a:schemeClr val="accent1">
                    <a:lumMod val="50000"/>
                  </a:schemeClr>
                </a:solidFill>
              </a:rPr>
              <a:t>fun.Fr</a:t>
            </a:r>
            <a:r>
              <a:rPr lang="en-US" altLang="zh-CN" sz="1100" dirty="0">
                <a:solidFill>
                  <a:schemeClr val="accent1">
                    <a:lumMod val="50000"/>
                  </a:schemeClr>
                </a:solidFill>
              </a:rPr>
              <a:t>(</a:t>
            </a:r>
            <a:r>
              <a:rPr lang="en-US" altLang="zh-CN" sz="1100" dirty="0" err="1">
                <a:solidFill>
                  <a:schemeClr val="accent1">
                    <a:lumMod val="50000"/>
                  </a:schemeClr>
                </a:solidFill>
              </a:rPr>
              <a:t>data,year</a:t>
            </a:r>
            <a:r>
              <a:rPr lang="en-US" altLang="zh-CN" sz="1100" dirty="0">
                <a:solidFill>
                  <a:schemeClr val="accent1">
                    <a:lumMod val="50000"/>
                  </a:schemeClr>
                </a:solidFill>
              </a:rPr>
              <a:t>)</a:t>
            </a:r>
            <a:endParaRPr lang="zh-CN" altLang="zh-CN" sz="1100" dirty="0">
              <a:solidFill>
                <a:schemeClr val="accent1">
                  <a:lumMod val="50000"/>
                </a:schemeClr>
              </a:solidFill>
            </a:endParaRPr>
          </a:p>
          <a:p>
            <a:r>
              <a:rPr lang="en-US" altLang="zh-CN" sz="1100" dirty="0">
                <a:solidFill>
                  <a:schemeClr val="accent1">
                    <a:lumMod val="50000"/>
                  </a:schemeClr>
                </a:solidFill>
              </a:rPr>
              <a:t>        r2=fun2.Re(r1[0],</a:t>
            </a:r>
            <a:r>
              <a:rPr lang="en-US" altLang="zh-CN" sz="1100" dirty="0" err="1">
                <a:solidFill>
                  <a:schemeClr val="accent1">
                    <a:lumMod val="50000"/>
                  </a:schemeClr>
                </a:solidFill>
              </a:rPr>
              <a:t>str</a:t>
            </a:r>
            <a:r>
              <a:rPr lang="en-US" altLang="zh-CN" sz="1100" dirty="0">
                <a:solidFill>
                  <a:schemeClr val="accent1">
                    <a:lumMod val="50000"/>
                  </a:schemeClr>
                </a:solidFill>
              </a:rPr>
              <a:t>(year+1)+'-05-01',str(year+1)+'-'+time,40)</a:t>
            </a:r>
            <a:endParaRPr lang="zh-CN" altLang="zh-CN" sz="1100" dirty="0">
              <a:solidFill>
                <a:schemeClr val="accent1">
                  <a:lumMod val="50000"/>
                </a:schemeClr>
              </a:solidFill>
            </a:endParaRPr>
          </a:p>
          <a:p>
            <a:r>
              <a:rPr lang="en-US" altLang="zh-CN" sz="1100" dirty="0">
                <a:solidFill>
                  <a:schemeClr val="accent1">
                    <a:lumMod val="50000"/>
                  </a:schemeClr>
                </a:solidFill>
              </a:rPr>
              <a:t>        </a:t>
            </a:r>
            <a:r>
              <a:rPr lang="en-US" altLang="zh-CN" sz="1100" dirty="0" err="1">
                <a:solidFill>
                  <a:schemeClr val="accent1">
                    <a:lumMod val="50000"/>
                  </a:schemeClr>
                </a:solidFill>
              </a:rPr>
              <a:t>r_total</a:t>
            </a:r>
            <a:r>
              <a:rPr lang="en-US" altLang="zh-CN" sz="1100" dirty="0">
                <a:solidFill>
                  <a:schemeClr val="accent1">
                    <a:lumMod val="50000"/>
                  </a:schemeClr>
                </a:solidFill>
              </a:rPr>
              <a:t>=r2[1]</a:t>
            </a:r>
            <a:endParaRPr lang="zh-CN" altLang="zh-CN" sz="1100" dirty="0">
              <a:solidFill>
                <a:schemeClr val="accent1">
                  <a:lumMod val="50000"/>
                </a:schemeClr>
              </a:solidFill>
            </a:endParaRPr>
          </a:p>
          <a:p>
            <a:r>
              <a:rPr lang="en-US" altLang="zh-CN" sz="1100" dirty="0">
                <a:solidFill>
                  <a:schemeClr val="accent1">
                    <a:lumMod val="50000"/>
                  </a:schemeClr>
                </a:solidFill>
              </a:rPr>
              <a:t>        list1.append(year)</a:t>
            </a:r>
            <a:endParaRPr lang="zh-CN" altLang="zh-CN" sz="1100" dirty="0">
              <a:solidFill>
                <a:schemeClr val="accent1">
                  <a:lumMod val="50000"/>
                </a:schemeClr>
              </a:solidFill>
            </a:endParaRPr>
          </a:p>
          <a:p>
            <a:r>
              <a:rPr lang="en-US" altLang="zh-CN" sz="1100" dirty="0">
                <a:solidFill>
                  <a:schemeClr val="accent1">
                    <a:lumMod val="50000"/>
                  </a:schemeClr>
                </a:solidFill>
              </a:rPr>
              <a:t>        list2.append(</a:t>
            </a:r>
            <a:r>
              <a:rPr lang="en-US" altLang="zh-CN" sz="1100" dirty="0" err="1">
                <a:solidFill>
                  <a:schemeClr val="accent1">
                    <a:lumMod val="50000"/>
                  </a:schemeClr>
                </a:solidFill>
              </a:rPr>
              <a:t>str</a:t>
            </a:r>
            <a:r>
              <a:rPr lang="en-US" altLang="zh-CN" sz="1100" dirty="0">
                <a:solidFill>
                  <a:schemeClr val="accent1">
                    <a:lumMod val="50000"/>
                  </a:schemeClr>
                </a:solidFill>
              </a:rPr>
              <a:t>(year+1)+'-05-01'+'--'+</a:t>
            </a:r>
            <a:r>
              <a:rPr lang="en-US" altLang="zh-CN" sz="1100" dirty="0" err="1">
                <a:solidFill>
                  <a:schemeClr val="accent1">
                    <a:lumMod val="50000"/>
                  </a:schemeClr>
                </a:solidFill>
              </a:rPr>
              <a:t>str</a:t>
            </a:r>
            <a:r>
              <a:rPr lang="en-US" altLang="zh-CN" sz="1100" dirty="0">
                <a:solidFill>
                  <a:schemeClr val="accent1">
                    <a:lumMod val="50000"/>
                  </a:schemeClr>
                </a:solidFill>
              </a:rPr>
              <a:t>(year+1)+'-'+time)</a:t>
            </a:r>
            <a:endParaRPr lang="zh-CN" altLang="zh-CN" sz="1100" dirty="0">
              <a:solidFill>
                <a:schemeClr val="accent1">
                  <a:lumMod val="50000"/>
                </a:schemeClr>
              </a:solidFill>
            </a:endParaRPr>
          </a:p>
          <a:p>
            <a:r>
              <a:rPr lang="en-US" altLang="zh-CN" sz="1100" dirty="0">
                <a:solidFill>
                  <a:schemeClr val="accent1">
                    <a:lumMod val="50000"/>
                  </a:schemeClr>
                </a:solidFill>
              </a:rPr>
              <a:t>        list3.append(</a:t>
            </a:r>
            <a:r>
              <a:rPr lang="en-US" altLang="zh-CN" sz="1100" dirty="0" err="1">
                <a:solidFill>
                  <a:schemeClr val="accent1">
                    <a:lumMod val="50000"/>
                  </a:schemeClr>
                </a:solidFill>
              </a:rPr>
              <a:t>r_total</a:t>
            </a:r>
            <a:r>
              <a:rPr lang="en-US" altLang="zh-CN" sz="1100" dirty="0">
                <a:solidFill>
                  <a:schemeClr val="accent1">
                    <a:lumMod val="50000"/>
                  </a:schemeClr>
                </a:solidFill>
              </a:rPr>
              <a:t>)</a:t>
            </a:r>
            <a:endParaRPr lang="zh-CN" altLang="zh-CN" sz="1100" dirty="0">
              <a:solidFill>
                <a:schemeClr val="accent1">
                  <a:lumMod val="50000"/>
                </a:schemeClr>
              </a:solidFill>
            </a:endParaRPr>
          </a:p>
          <a:p>
            <a:r>
              <a:rPr lang="en-US" altLang="zh-CN" sz="1050" dirty="0">
                <a:solidFill>
                  <a:schemeClr val="accent1">
                    <a:lumMod val="50000"/>
                  </a:schemeClr>
                </a:solidFill>
              </a:rPr>
              <a:t>        </a:t>
            </a:r>
            <a:r>
              <a:rPr lang="en-US" altLang="zh-CN" sz="800" dirty="0">
                <a:solidFill>
                  <a:schemeClr val="accent1">
                    <a:lumMod val="50000"/>
                  </a:schemeClr>
                </a:solidFill>
              </a:rPr>
              <a:t>#</a:t>
            </a:r>
            <a:r>
              <a:rPr lang="zh-CN" altLang="zh-CN" sz="800" dirty="0">
                <a:solidFill>
                  <a:schemeClr val="accent1">
                    <a:lumMod val="50000"/>
                  </a:schemeClr>
                </a:solidFill>
              </a:rPr>
              <a:t>计算沪深</a:t>
            </a:r>
            <a:r>
              <a:rPr lang="en-US" altLang="zh-CN" sz="800" dirty="0">
                <a:solidFill>
                  <a:schemeClr val="accent1">
                    <a:lumMod val="50000"/>
                  </a:schemeClr>
                </a:solidFill>
              </a:rPr>
              <a:t>300</a:t>
            </a:r>
            <a:r>
              <a:rPr lang="zh-CN" altLang="zh-CN" sz="800" dirty="0">
                <a:solidFill>
                  <a:schemeClr val="accent1">
                    <a:lumMod val="50000"/>
                  </a:schemeClr>
                </a:solidFill>
              </a:rPr>
              <a:t>指数同期收益率</a:t>
            </a:r>
          </a:p>
          <a:p>
            <a:r>
              <a:rPr lang="en-US" altLang="zh-CN" sz="1050" dirty="0">
                <a:solidFill>
                  <a:schemeClr val="accent1">
                    <a:lumMod val="50000"/>
                  </a:schemeClr>
                </a:solidFill>
              </a:rPr>
              <a:t>    </a:t>
            </a:r>
            <a:r>
              <a:rPr lang="en-US" altLang="zh-CN" sz="1100" dirty="0">
                <a:solidFill>
                  <a:schemeClr val="accent1">
                    <a:lumMod val="50000"/>
                  </a:schemeClr>
                </a:solidFill>
              </a:rPr>
              <a:t>    td1=</a:t>
            </a:r>
            <a:r>
              <a:rPr lang="en-US" altLang="zh-CN" sz="1100" dirty="0" err="1">
                <a:solidFill>
                  <a:schemeClr val="accent1">
                    <a:lumMod val="50000"/>
                  </a:schemeClr>
                </a:solidFill>
              </a:rPr>
              <a:t>str</a:t>
            </a:r>
            <a:r>
              <a:rPr lang="en-US" altLang="zh-CN" sz="1100" dirty="0">
                <a:solidFill>
                  <a:schemeClr val="accent1">
                    <a:lumMod val="50000"/>
                  </a:schemeClr>
                </a:solidFill>
              </a:rPr>
              <a:t>(year+1)+'-05-01'</a:t>
            </a:r>
            <a:endParaRPr lang="zh-CN" altLang="zh-CN" sz="1100" dirty="0">
              <a:solidFill>
                <a:schemeClr val="accent1">
                  <a:lumMod val="50000"/>
                </a:schemeClr>
              </a:solidFill>
            </a:endParaRPr>
          </a:p>
          <a:p>
            <a:r>
              <a:rPr lang="en-US" altLang="zh-CN" sz="1100" dirty="0">
                <a:solidFill>
                  <a:schemeClr val="accent1">
                    <a:lumMod val="50000"/>
                  </a:schemeClr>
                </a:solidFill>
              </a:rPr>
              <a:t>        td2=</a:t>
            </a:r>
            <a:r>
              <a:rPr lang="en-US" altLang="zh-CN" sz="1100" dirty="0" err="1">
                <a:solidFill>
                  <a:schemeClr val="accent1">
                    <a:lumMod val="50000"/>
                  </a:schemeClr>
                </a:solidFill>
              </a:rPr>
              <a:t>str</a:t>
            </a:r>
            <a:r>
              <a:rPr lang="en-US" altLang="zh-CN" sz="1100" dirty="0">
                <a:solidFill>
                  <a:schemeClr val="accent1">
                    <a:lumMod val="50000"/>
                  </a:schemeClr>
                </a:solidFill>
              </a:rPr>
              <a:t>(year+1)+'-'+time</a:t>
            </a:r>
            <a:endParaRPr lang="zh-CN" altLang="zh-CN" sz="1100" dirty="0">
              <a:solidFill>
                <a:schemeClr val="accent1">
                  <a:lumMod val="50000"/>
                </a:schemeClr>
              </a:solidFill>
            </a:endParaRPr>
          </a:p>
          <a:p>
            <a:r>
              <a:rPr lang="en-US" altLang="zh-CN" sz="1100" dirty="0">
                <a:solidFill>
                  <a:schemeClr val="accent1">
                    <a:lumMod val="50000"/>
                  </a:schemeClr>
                </a:solidFill>
              </a:rPr>
              <a:t>        I1=ind300.iloc[:,1].values&gt;=td1</a:t>
            </a:r>
            <a:endParaRPr lang="zh-CN" altLang="zh-CN" sz="1100" dirty="0">
              <a:solidFill>
                <a:schemeClr val="accent1">
                  <a:lumMod val="50000"/>
                </a:schemeClr>
              </a:solidFill>
            </a:endParaRPr>
          </a:p>
          <a:p>
            <a:r>
              <a:rPr lang="en-US" altLang="zh-CN" sz="1100" dirty="0">
                <a:solidFill>
                  <a:schemeClr val="accent1">
                    <a:lumMod val="50000"/>
                  </a:schemeClr>
                </a:solidFill>
              </a:rPr>
              <a:t>        I2=ind300.iloc[:,1].values&lt;=td2</a:t>
            </a:r>
            <a:endParaRPr lang="zh-CN" altLang="zh-CN" sz="1100" dirty="0">
              <a:solidFill>
                <a:schemeClr val="accent1">
                  <a:lumMod val="50000"/>
                </a:schemeClr>
              </a:solidFill>
            </a:endParaRPr>
          </a:p>
          <a:p>
            <a:r>
              <a:rPr lang="en-US" altLang="zh-CN" sz="1100" dirty="0">
                <a:solidFill>
                  <a:schemeClr val="accent1">
                    <a:lumMod val="50000"/>
                  </a:schemeClr>
                </a:solidFill>
              </a:rPr>
              <a:t>        </a:t>
            </a:r>
            <a:r>
              <a:rPr lang="en-US" altLang="zh-CN" sz="1100" dirty="0" err="1">
                <a:solidFill>
                  <a:schemeClr val="accent1">
                    <a:lumMod val="50000"/>
                  </a:schemeClr>
                </a:solidFill>
              </a:rPr>
              <a:t>dt</a:t>
            </a:r>
            <a:r>
              <a:rPr lang="en-US" altLang="zh-CN" sz="1100" dirty="0">
                <a:solidFill>
                  <a:schemeClr val="accent1">
                    <a:lumMod val="50000"/>
                  </a:schemeClr>
                </a:solidFill>
              </a:rPr>
              <a:t>=ind300.iloc[I1&amp;I2,[1,2]].</a:t>
            </a:r>
            <a:r>
              <a:rPr lang="en-US" altLang="zh-CN" sz="1100" dirty="0" err="1">
                <a:solidFill>
                  <a:schemeClr val="accent1">
                    <a:lumMod val="50000"/>
                  </a:schemeClr>
                </a:solidFill>
              </a:rPr>
              <a:t>sort_values</a:t>
            </a:r>
            <a:r>
              <a:rPr lang="en-US" altLang="zh-CN" sz="1100" dirty="0">
                <a:solidFill>
                  <a:schemeClr val="accent1">
                    <a:lumMod val="50000"/>
                  </a:schemeClr>
                </a:solidFill>
              </a:rPr>
              <a:t>('Idxtrd01')</a:t>
            </a:r>
            <a:endParaRPr lang="zh-CN" altLang="zh-CN" sz="1100" dirty="0">
              <a:solidFill>
                <a:schemeClr val="accent1">
                  <a:lumMod val="50000"/>
                </a:schemeClr>
              </a:solidFill>
            </a:endParaRPr>
          </a:p>
          <a:p>
            <a:r>
              <a:rPr lang="en-US" altLang="zh-CN" sz="1100" dirty="0">
                <a:solidFill>
                  <a:schemeClr val="accent1">
                    <a:lumMod val="50000"/>
                  </a:schemeClr>
                </a:solidFill>
              </a:rPr>
              <a:t>        p=</a:t>
            </a:r>
            <a:r>
              <a:rPr lang="en-US" altLang="zh-CN" sz="1100" dirty="0" err="1">
                <a:solidFill>
                  <a:schemeClr val="accent1">
                    <a:lumMod val="50000"/>
                  </a:schemeClr>
                </a:solidFill>
              </a:rPr>
              <a:t>dt.iloc</a:t>
            </a:r>
            <a:r>
              <a:rPr lang="en-US" altLang="zh-CN" sz="1100" dirty="0">
                <a:solidFill>
                  <a:schemeClr val="accent1">
                    <a:lumMod val="50000"/>
                  </a:schemeClr>
                </a:solidFill>
              </a:rPr>
              <a:t>[:,1].values</a:t>
            </a:r>
            <a:endParaRPr lang="zh-CN" altLang="zh-CN" sz="1100" dirty="0">
              <a:solidFill>
                <a:schemeClr val="accent1">
                  <a:lumMod val="50000"/>
                </a:schemeClr>
              </a:solidFill>
            </a:endParaRPr>
          </a:p>
          <a:p>
            <a:r>
              <a:rPr lang="en-US" altLang="zh-CN" sz="1050" dirty="0">
                <a:solidFill>
                  <a:schemeClr val="accent1">
                    <a:lumMod val="50000"/>
                  </a:schemeClr>
                </a:solidFill>
              </a:rPr>
              <a:t>        </a:t>
            </a:r>
            <a:r>
              <a:rPr lang="en-US" altLang="zh-CN" sz="1100" dirty="0">
                <a:solidFill>
                  <a:schemeClr val="accent1">
                    <a:lumMod val="50000"/>
                  </a:schemeClr>
                </a:solidFill>
              </a:rPr>
              <a:t>list4.append((p[</a:t>
            </a:r>
            <a:r>
              <a:rPr lang="en-US" altLang="zh-CN" sz="1100" dirty="0" err="1">
                <a:solidFill>
                  <a:schemeClr val="accent1">
                    <a:lumMod val="50000"/>
                  </a:schemeClr>
                </a:solidFill>
              </a:rPr>
              <a:t>len</a:t>
            </a:r>
            <a:r>
              <a:rPr lang="en-US" altLang="zh-CN" sz="1100" dirty="0">
                <a:solidFill>
                  <a:schemeClr val="accent1">
                    <a:lumMod val="50000"/>
                  </a:schemeClr>
                </a:solidFill>
              </a:rPr>
              <a:t>(p)-1]-p[0])/p[0]) </a:t>
            </a:r>
            <a:endParaRPr lang="zh-CN" altLang="zh-CN" sz="1100" dirty="0">
              <a:solidFill>
                <a:schemeClr val="accent1">
                  <a:lumMod val="50000"/>
                </a:schemeClr>
              </a:solidFill>
            </a:endParaRPr>
          </a:p>
          <a:p>
            <a:r>
              <a:rPr lang="en-US" altLang="zh-CN" sz="800" dirty="0">
                <a:solidFill>
                  <a:schemeClr val="accent1">
                    <a:lumMod val="50000"/>
                  </a:schemeClr>
                </a:solidFill>
              </a:rPr>
              <a:t>#</a:t>
            </a:r>
            <a:r>
              <a:rPr lang="zh-CN" altLang="zh-CN" sz="800" dirty="0">
                <a:solidFill>
                  <a:schemeClr val="accent1">
                    <a:lumMod val="50000"/>
                  </a:schemeClr>
                </a:solidFill>
              </a:rPr>
              <a:t>将结果转化为数据框，并导出到</a:t>
            </a:r>
            <a:r>
              <a:rPr lang="en-US" altLang="zh-CN" sz="800" dirty="0">
                <a:solidFill>
                  <a:schemeClr val="accent1">
                    <a:lumMod val="50000"/>
                  </a:schemeClr>
                </a:solidFill>
              </a:rPr>
              <a:t>Excel</a:t>
            </a:r>
            <a:endParaRPr lang="zh-CN" altLang="zh-CN" sz="800" dirty="0">
              <a:solidFill>
                <a:schemeClr val="accent1">
                  <a:lumMod val="50000"/>
                </a:schemeClr>
              </a:solidFill>
            </a:endParaRPr>
          </a:p>
          <a:p>
            <a:r>
              <a:rPr lang="en-US" altLang="zh-CN" sz="1100" dirty="0">
                <a:solidFill>
                  <a:schemeClr val="accent1">
                    <a:lumMod val="50000"/>
                  </a:schemeClr>
                </a:solidFill>
              </a:rPr>
              <a:t>D={'year':list1,'time':list2,'r_total':list3,'index':list4}</a:t>
            </a:r>
            <a:endParaRPr lang="zh-CN" altLang="zh-CN" sz="1100" dirty="0">
              <a:solidFill>
                <a:schemeClr val="accent1">
                  <a:lumMod val="50000"/>
                </a:schemeClr>
              </a:solidFill>
            </a:endParaRPr>
          </a:p>
          <a:p>
            <a:r>
              <a:rPr lang="en-US" altLang="zh-CN" sz="1100" dirty="0">
                <a:solidFill>
                  <a:schemeClr val="accent1">
                    <a:lumMod val="50000"/>
                  </a:schemeClr>
                </a:solidFill>
              </a:rPr>
              <a:t>D=</a:t>
            </a:r>
            <a:r>
              <a:rPr lang="en-US" altLang="zh-CN" sz="1100" dirty="0" err="1">
                <a:solidFill>
                  <a:schemeClr val="accent1">
                    <a:lumMod val="50000"/>
                  </a:schemeClr>
                </a:solidFill>
              </a:rPr>
              <a:t>pd.DataFrame</a:t>
            </a:r>
            <a:r>
              <a:rPr lang="en-US" altLang="zh-CN" sz="1100" dirty="0">
                <a:solidFill>
                  <a:schemeClr val="accent1">
                    <a:lumMod val="50000"/>
                  </a:schemeClr>
                </a:solidFill>
              </a:rPr>
              <a:t>(D)</a:t>
            </a:r>
            <a:endParaRPr lang="zh-CN" altLang="zh-CN" sz="1100" dirty="0">
              <a:solidFill>
                <a:schemeClr val="accent1">
                  <a:lumMod val="50000"/>
                </a:schemeClr>
              </a:solidFill>
            </a:endParaRPr>
          </a:p>
          <a:p>
            <a:r>
              <a:rPr lang="en-US" altLang="zh-CN" sz="1100" dirty="0" err="1">
                <a:solidFill>
                  <a:schemeClr val="accent1">
                    <a:lumMod val="50000"/>
                  </a:schemeClr>
                </a:solidFill>
              </a:rPr>
              <a:t>D.to_excel</a:t>
            </a:r>
            <a:r>
              <a:rPr lang="en-US" altLang="zh-CN" sz="1100" dirty="0">
                <a:solidFill>
                  <a:schemeClr val="accent1">
                    <a:lumMod val="50000"/>
                  </a:schemeClr>
                </a:solidFill>
              </a:rPr>
              <a:t>('D.xlsx')</a:t>
            </a:r>
            <a:endParaRPr lang="zh-CN" altLang="zh-CN" sz="1100" dirty="0">
              <a:solidFill>
                <a:schemeClr val="accent1">
                  <a:lumMod val="50000"/>
                </a:schemeClr>
              </a:solidFill>
            </a:endParaRPr>
          </a:p>
          <a:p>
            <a:r>
              <a:rPr lang="zh-CN" altLang="zh-CN" sz="800" dirty="0">
                <a:solidFill>
                  <a:schemeClr val="accent1">
                    <a:lumMod val="50000"/>
                  </a:schemeClr>
                </a:solidFill>
              </a:rPr>
              <a:t>执行以上程序最终获得排名前</a:t>
            </a:r>
            <a:r>
              <a:rPr lang="en-US" altLang="zh-CN" sz="800" dirty="0">
                <a:solidFill>
                  <a:schemeClr val="accent1">
                    <a:lumMod val="50000"/>
                  </a:schemeClr>
                </a:solidFill>
              </a:rPr>
              <a:t>20</a:t>
            </a:r>
            <a:r>
              <a:rPr lang="zh-CN" altLang="zh-CN" sz="800" dirty="0">
                <a:solidFill>
                  <a:schemeClr val="accent1">
                    <a:lumMod val="50000"/>
                  </a:schemeClr>
                </a:solidFill>
              </a:rPr>
              <a:t>、</a:t>
            </a:r>
            <a:r>
              <a:rPr lang="en-US" altLang="zh-CN" sz="800" dirty="0">
                <a:solidFill>
                  <a:schemeClr val="accent1">
                    <a:lumMod val="50000"/>
                  </a:schemeClr>
                </a:solidFill>
              </a:rPr>
              <a:t>40</a:t>
            </a:r>
            <a:r>
              <a:rPr lang="zh-CN" altLang="zh-CN" sz="800" dirty="0">
                <a:solidFill>
                  <a:schemeClr val="accent1">
                    <a:lumMod val="50000"/>
                  </a:schemeClr>
                </a:solidFill>
              </a:rPr>
              <a:t>股票投资组合收益率及投资组合明细如下表</a:t>
            </a:r>
            <a:r>
              <a:rPr lang="en-US" altLang="zh-CN" sz="800" dirty="0">
                <a:solidFill>
                  <a:schemeClr val="accent1">
                    <a:lumMod val="50000"/>
                  </a:schemeClr>
                </a:solidFill>
              </a:rPr>
              <a:t>8-5</a:t>
            </a:r>
            <a:r>
              <a:rPr lang="zh-CN" altLang="zh-CN" sz="800" dirty="0">
                <a:solidFill>
                  <a:schemeClr val="accent1">
                    <a:lumMod val="50000"/>
                  </a:schemeClr>
                </a:solidFill>
              </a:rPr>
              <a:t>、</a:t>
            </a:r>
            <a:r>
              <a:rPr lang="en-US" altLang="zh-CN" sz="800" dirty="0">
                <a:solidFill>
                  <a:schemeClr val="accent1">
                    <a:lumMod val="50000"/>
                  </a:schemeClr>
                </a:solidFill>
              </a:rPr>
              <a:t>8-6</a:t>
            </a:r>
            <a:r>
              <a:rPr lang="zh-CN" altLang="zh-CN" sz="800" dirty="0">
                <a:solidFill>
                  <a:schemeClr val="accent1">
                    <a:lumMod val="50000"/>
                  </a:schemeClr>
                </a:solidFill>
              </a:rPr>
              <a:t>、</a:t>
            </a:r>
            <a:r>
              <a:rPr lang="en-US" altLang="zh-CN" sz="800" dirty="0">
                <a:solidFill>
                  <a:schemeClr val="accent1">
                    <a:lumMod val="50000"/>
                  </a:schemeClr>
                </a:solidFill>
              </a:rPr>
              <a:t>8-7</a:t>
            </a:r>
            <a:r>
              <a:rPr lang="zh-CN" altLang="zh-CN" sz="800" dirty="0">
                <a:solidFill>
                  <a:schemeClr val="accent1">
                    <a:lumMod val="50000"/>
                  </a:schemeClr>
                </a:solidFill>
              </a:rPr>
              <a:t>所示。</a:t>
            </a:r>
          </a:p>
          <a:p>
            <a:pPr algn="just">
              <a:spcAft>
                <a:spcPts val="0"/>
              </a:spcAft>
            </a:pPr>
            <a:endParaRPr lang="zh-CN" altLang="en-US" sz="1050" dirty="0">
              <a:solidFill>
                <a:schemeClr val="accent1">
                  <a:lumMod val="50000"/>
                </a:schemeClr>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2370527602"/>
              </p:ext>
            </p:extLst>
          </p:nvPr>
        </p:nvGraphicFramePr>
        <p:xfrm>
          <a:off x="755576" y="1984547"/>
          <a:ext cx="2375421" cy="864096"/>
        </p:xfrm>
        <a:graphic>
          <a:graphicData uri="http://schemas.openxmlformats.org/drawingml/2006/table">
            <a:tbl>
              <a:tblPr firstRow="1" firstCol="1" bandRow="1"/>
              <a:tblGrid>
                <a:gridCol w="720899"/>
                <a:gridCol w="886351"/>
                <a:gridCol w="768171"/>
              </a:tblGrid>
              <a:tr h="106596">
                <a:tc>
                  <a:txBody>
                    <a:bodyPr/>
                    <a:lstStyle/>
                    <a:p>
                      <a:pPr algn="just">
                        <a:spcAft>
                          <a:spcPts val="0"/>
                        </a:spcAft>
                      </a:pPr>
                      <a:r>
                        <a:rPr lang="en-US" sz="600" kern="0" dirty="0" err="1">
                          <a:solidFill>
                            <a:srgbClr val="000000"/>
                          </a:solidFill>
                          <a:effectLst/>
                          <a:latin typeface="宋体"/>
                          <a:ea typeface="宋体"/>
                          <a:cs typeface="宋体"/>
                        </a:rPr>
                        <a:t>Indexcd</a:t>
                      </a:r>
                      <a:endParaRPr lang="zh-CN" sz="5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600" kern="0">
                          <a:solidFill>
                            <a:srgbClr val="000000"/>
                          </a:solidFill>
                          <a:effectLst/>
                          <a:latin typeface="宋体"/>
                          <a:ea typeface="宋体"/>
                          <a:cs typeface="宋体"/>
                        </a:rPr>
                        <a:t>Idxtrd01</a:t>
                      </a:r>
                      <a:endParaRPr lang="zh-CN" sz="5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600" kern="0">
                          <a:solidFill>
                            <a:srgbClr val="000000"/>
                          </a:solidFill>
                          <a:effectLst/>
                          <a:latin typeface="宋体"/>
                          <a:ea typeface="宋体"/>
                          <a:cs typeface="宋体"/>
                        </a:rPr>
                        <a:t>Idxtrd05</a:t>
                      </a:r>
                      <a:endParaRPr lang="zh-CN" sz="5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6250">
                <a:tc>
                  <a:txBody>
                    <a:bodyPr/>
                    <a:lstStyle/>
                    <a:p>
                      <a:pPr algn="just">
                        <a:spcAft>
                          <a:spcPts val="0"/>
                        </a:spcAft>
                      </a:pPr>
                      <a:r>
                        <a:rPr lang="en-US" sz="600" kern="0" dirty="0">
                          <a:solidFill>
                            <a:srgbClr val="000000"/>
                          </a:solidFill>
                          <a:effectLst/>
                          <a:latin typeface="宋体"/>
                          <a:ea typeface="宋体"/>
                          <a:cs typeface="宋体"/>
                        </a:rPr>
                        <a:t>000300</a:t>
                      </a:r>
                      <a:endParaRPr lang="zh-CN" sz="5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en-US" sz="600" kern="0" dirty="0">
                          <a:solidFill>
                            <a:srgbClr val="000000"/>
                          </a:solidFill>
                          <a:effectLst/>
                          <a:latin typeface="宋体"/>
                          <a:ea typeface="宋体"/>
                          <a:cs typeface="宋体"/>
                        </a:rPr>
                        <a:t>2014-01-02</a:t>
                      </a:r>
                      <a:endParaRPr lang="zh-CN" sz="5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600" kern="0">
                          <a:solidFill>
                            <a:srgbClr val="000000"/>
                          </a:solidFill>
                          <a:effectLst/>
                          <a:latin typeface="宋体"/>
                          <a:ea typeface="宋体"/>
                          <a:cs typeface="宋体"/>
                        </a:rPr>
                        <a:t>2321.98</a:t>
                      </a:r>
                      <a:endParaRPr lang="zh-CN" sz="5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126250">
                <a:tc>
                  <a:txBody>
                    <a:bodyPr/>
                    <a:lstStyle/>
                    <a:p>
                      <a:pPr algn="just">
                        <a:spcAft>
                          <a:spcPts val="0"/>
                        </a:spcAft>
                      </a:pPr>
                      <a:r>
                        <a:rPr lang="en-US" sz="600" kern="0" dirty="0">
                          <a:solidFill>
                            <a:srgbClr val="000000"/>
                          </a:solidFill>
                          <a:effectLst/>
                          <a:latin typeface="宋体"/>
                          <a:ea typeface="宋体"/>
                          <a:cs typeface="宋体"/>
                        </a:rPr>
                        <a:t>000300</a:t>
                      </a:r>
                      <a:endParaRPr lang="zh-CN" sz="5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600" kern="0" dirty="0">
                          <a:solidFill>
                            <a:srgbClr val="000000"/>
                          </a:solidFill>
                          <a:effectLst/>
                          <a:latin typeface="宋体"/>
                          <a:ea typeface="宋体"/>
                          <a:cs typeface="宋体"/>
                        </a:rPr>
                        <a:t>2014-01-03</a:t>
                      </a:r>
                      <a:endParaRPr lang="zh-CN" sz="5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600" kern="0">
                          <a:solidFill>
                            <a:srgbClr val="000000"/>
                          </a:solidFill>
                          <a:effectLst/>
                          <a:latin typeface="宋体"/>
                          <a:ea typeface="宋体"/>
                          <a:cs typeface="宋体"/>
                        </a:rPr>
                        <a:t>2290.78</a:t>
                      </a:r>
                      <a:endParaRPr lang="zh-CN" sz="500" kern="100">
                        <a:effectLst/>
                        <a:latin typeface="Calibri"/>
                        <a:ea typeface="宋体"/>
                        <a:cs typeface="Times New Roman"/>
                      </a:endParaRPr>
                    </a:p>
                  </a:txBody>
                  <a:tcPr marL="68580" marR="68580" marT="0" marB="0" anchor="b">
                    <a:lnL>
                      <a:noFill/>
                    </a:lnL>
                    <a:lnR>
                      <a:noFill/>
                    </a:lnR>
                    <a:lnT>
                      <a:noFill/>
                    </a:lnT>
                    <a:lnB>
                      <a:noFill/>
                    </a:lnB>
                  </a:tcPr>
                </a:tc>
              </a:tr>
              <a:tr h="126250">
                <a:tc>
                  <a:txBody>
                    <a:bodyPr/>
                    <a:lstStyle/>
                    <a:p>
                      <a:pPr algn="just">
                        <a:spcAft>
                          <a:spcPts val="0"/>
                        </a:spcAft>
                      </a:pPr>
                      <a:r>
                        <a:rPr lang="en-US" sz="600" kern="0" dirty="0">
                          <a:solidFill>
                            <a:srgbClr val="000000"/>
                          </a:solidFill>
                          <a:effectLst/>
                          <a:latin typeface="宋体"/>
                          <a:ea typeface="宋体"/>
                          <a:cs typeface="宋体"/>
                        </a:rPr>
                        <a:t>000300</a:t>
                      </a:r>
                      <a:endParaRPr lang="zh-CN" sz="5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600" kern="0" dirty="0">
                          <a:solidFill>
                            <a:srgbClr val="000000"/>
                          </a:solidFill>
                          <a:effectLst/>
                          <a:latin typeface="宋体"/>
                          <a:ea typeface="宋体"/>
                          <a:cs typeface="宋体"/>
                        </a:rPr>
                        <a:t>2014-01-06</a:t>
                      </a:r>
                      <a:endParaRPr lang="zh-CN" sz="5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600" kern="0">
                          <a:solidFill>
                            <a:srgbClr val="000000"/>
                          </a:solidFill>
                          <a:effectLst/>
                          <a:latin typeface="宋体"/>
                          <a:ea typeface="宋体"/>
                          <a:cs typeface="宋体"/>
                        </a:rPr>
                        <a:t>2238.64</a:t>
                      </a:r>
                      <a:endParaRPr lang="zh-CN" sz="500" kern="100">
                        <a:effectLst/>
                        <a:latin typeface="Calibri"/>
                        <a:ea typeface="宋体"/>
                        <a:cs typeface="Times New Roman"/>
                      </a:endParaRPr>
                    </a:p>
                  </a:txBody>
                  <a:tcPr marL="68580" marR="68580" marT="0" marB="0" anchor="b">
                    <a:lnL>
                      <a:noFill/>
                    </a:lnL>
                    <a:lnR>
                      <a:noFill/>
                    </a:lnR>
                    <a:lnT>
                      <a:noFill/>
                    </a:lnT>
                    <a:lnB>
                      <a:noFill/>
                    </a:lnB>
                  </a:tcPr>
                </a:tc>
              </a:tr>
              <a:tr h="126250">
                <a:tc>
                  <a:txBody>
                    <a:bodyPr/>
                    <a:lstStyle/>
                    <a:p>
                      <a:pPr algn="just">
                        <a:spcAft>
                          <a:spcPts val="0"/>
                        </a:spcAft>
                      </a:pPr>
                      <a:r>
                        <a:rPr lang="en-US" sz="600" kern="0">
                          <a:solidFill>
                            <a:srgbClr val="000000"/>
                          </a:solidFill>
                          <a:effectLst/>
                          <a:latin typeface="宋体"/>
                          <a:ea typeface="宋体"/>
                          <a:cs typeface="宋体"/>
                        </a:rPr>
                        <a:t>000300</a:t>
                      </a:r>
                      <a:endParaRPr lang="zh-CN" sz="5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600" kern="0" dirty="0">
                          <a:solidFill>
                            <a:srgbClr val="000000"/>
                          </a:solidFill>
                          <a:effectLst/>
                          <a:latin typeface="宋体"/>
                          <a:ea typeface="宋体"/>
                          <a:cs typeface="宋体"/>
                        </a:rPr>
                        <a:t>2014-01-07</a:t>
                      </a:r>
                      <a:endParaRPr lang="zh-CN" sz="5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600" kern="0" dirty="0">
                          <a:solidFill>
                            <a:srgbClr val="000000"/>
                          </a:solidFill>
                          <a:effectLst/>
                          <a:latin typeface="宋体"/>
                          <a:ea typeface="宋体"/>
                          <a:cs typeface="宋体"/>
                        </a:rPr>
                        <a:t>2238</a:t>
                      </a:r>
                      <a:endParaRPr lang="zh-CN" sz="500" kern="100" dirty="0">
                        <a:effectLst/>
                        <a:latin typeface="Calibri"/>
                        <a:ea typeface="宋体"/>
                        <a:cs typeface="Times New Roman"/>
                      </a:endParaRPr>
                    </a:p>
                  </a:txBody>
                  <a:tcPr marL="68580" marR="68580" marT="0" marB="0" anchor="b">
                    <a:lnL>
                      <a:noFill/>
                    </a:lnL>
                    <a:lnR>
                      <a:noFill/>
                    </a:lnR>
                    <a:lnT>
                      <a:noFill/>
                    </a:lnT>
                    <a:lnB>
                      <a:noFill/>
                    </a:lnB>
                  </a:tcPr>
                </a:tc>
              </a:tr>
              <a:tr h="126250">
                <a:tc>
                  <a:txBody>
                    <a:bodyPr/>
                    <a:lstStyle/>
                    <a:p>
                      <a:pPr algn="just">
                        <a:spcAft>
                          <a:spcPts val="0"/>
                        </a:spcAft>
                      </a:pPr>
                      <a:r>
                        <a:rPr lang="en-US" sz="600" kern="0">
                          <a:solidFill>
                            <a:srgbClr val="000000"/>
                          </a:solidFill>
                          <a:effectLst/>
                          <a:latin typeface="宋体"/>
                          <a:ea typeface="宋体"/>
                          <a:cs typeface="宋体"/>
                        </a:rPr>
                        <a:t>000300</a:t>
                      </a:r>
                      <a:endParaRPr lang="zh-CN" sz="5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just">
                        <a:spcAft>
                          <a:spcPts val="0"/>
                        </a:spcAft>
                      </a:pPr>
                      <a:r>
                        <a:rPr lang="en-US" sz="600" kern="0" dirty="0">
                          <a:solidFill>
                            <a:srgbClr val="000000"/>
                          </a:solidFill>
                          <a:effectLst/>
                          <a:latin typeface="宋体"/>
                          <a:ea typeface="宋体"/>
                          <a:cs typeface="宋体"/>
                        </a:rPr>
                        <a:t>2014-01-08</a:t>
                      </a:r>
                      <a:endParaRPr lang="zh-CN" sz="5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600" kern="0" dirty="0">
                          <a:solidFill>
                            <a:srgbClr val="000000"/>
                          </a:solidFill>
                          <a:effectLst/>
                          <a:latin typeface="宋体"/>
                          <a:ea typeface="宋体"/>
                          <a:cs typeface="宋体"/>
                        </a:rPr>
                        <a:t>2241.91</a:t>
                      </a:r>
                      <a:endParaRPr lang="zh-CN" sz="500" kern="100" dirty="0">
                        <a:effectLst/>
                        <a:latin typeface="Calibri"/>
                        <a:ea typeface="宋体"/>
                        <a:cs typeface="Times New Roman"/>
                      </a:endParaRPr>
                    </a:p>
                  </a:txBody>
                  <a:tcPr marL="68580" marR="68580" marT="0" marB="0" anchor="b">
                    <a:lnL>
                      <a:noFill/>
                    </a:lnL>
                    <a:lnR>
                      <a:noFill/>
                    </a:lnR>
                    <a:lnT>
                      <a:noFill/>
                    </a:lnT>
                    <a:lnB>
                      <a:noFill/>
                    </a:lnB>
                  </a:tcPr>
                </a:tc>
              </a:tr>
              <a:tr h="126250">
                <a:tc>
                  <a:txBody>
                    <a:bodyPr/>
                    <a:lstStyle/>
                    <a:p>
                      <a:pPr algn="just">
                        <a:spcAft>
                          <a:spcPts val="0"/>
                        </a:spcAft>
                      </a:pPr>
                      <a:r>
                        <a:rPr lang="zh-CN" sz="600" kern="0">
                          <a:solidFill>
                            <a:srgbClr val="000000"/>
                          </a:solidFill>
                          <a:effectLst/>
                          <a:latin typeface="Calibri"/>
                          <a:ea typeface="宋体"/>
                          <a:cs typeface="宋体"/>
                        </a:rPr>
                        <a:t>……</a:t>
                      </a:r>
                      <a:endParaRPr lang="zh-CN" sz="5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600" kern="0" dirty="0">
                          <a:solidFill>
                            <a:srgbClr val="000000"/>
                          </a:solidFill>
                          <a:effectLst/>
                          <a:latin typeface="Calibri"/>
                          <a:ea typeface="宋体"/>
                          <a:cs typeface="宋体"/>
                        </a:rPr>
                        <a:t>……</a:t>
                      </a:r>
                      <a:endParaRPr lang="zh-CN" sz="5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600" kern="0" dirty="0">
                          <a:solidFill>
                            <a:srgbClr val="000000"/>
                          </a:solidFill>
                          <a:effectLst/>
                          <a:latin typeface="Calibri"/>
                          <a:ea typeface="宋体"/>
                          <a:cs typeface="宋体"/>
                        </a:rPr>
                        <a:t>……</a:t>
                      </a:r>
                      <a:endParaRPr lang="zh-CN" sz="5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4" name="TextBox 3"/>
          <p:cNvSpPr txBox="1"/>
          <p:nvPr/>
        </p:nvSpPr>
        <p:spPr>
          <a:xfrm>
            <a:off x="1259632" y="1802020"/>
            <a:ext cx="1148681" cy="276999"/>
          </a:xfrm>
          <a:prstGeom prst="rect">
            <a:avLst/>
          </a:prstGeom>
          <a:noFill/>
        </p:spPr>
        <p:txBody>
          <a:bodyPr wrap="square" rtlCol="0">
            <a:spAutoFit/>
          </a:bodyPr>
          <a:lstStyle/>
          <a:p>
            <a:r>
              <a:rPr lang="zh-CN" altLang="zh-CN" sz="600" dirty="0">
                <a:solidFill>
                  <a:schemeClr val="accent1">
                    <a:lumMod val="50000"/>
                  </a:schemeClr>
                </a:solidFill>
              </a:rPr>
              <a:t>表</a:t>
            </a:r>
            <a:r>
              <a:rPr lang="en-US" altLang="zh-CN" sz="600" dirty="0">
                <a:solidFill>
                  <a:schemeClr val="accent1">
                    <a:lumMod val="50000"/>
                  </a:schemeClr>
                </a:solidFill>
              </a:rPr>
              <a:t>8-4 </a:t>
            </a:r>
            <a:r>
              <a:rPr lang="zh-CN" altLang="zh-CN" sz="600" dirty="0">
                <a:solidFill>
                  <a:schemeClr val="accent1">
                    <a:lumMod val="50000"/>
                  </a:schemeClr>
                </a:solidFill>
              </a:rPr>
              <a:t>沪深</a:t>
            </a:r>
            <a:r>
              <a:rPr lang="en-US" altLang="zh-CN" sz="600" dirty="0">
                <a:solidFill>
                  <a:schemeClr val="accent1">
                    <a:lumMod val="50000"/>
                  </a:schemeClr>
                </a:solidFill>
              </a:rPr>
              <a:t>300</a:t>
            </a:r>
            <a:r>
              <a:rPr lang="zh-CN" altLang="zh-CN" sz="600" dirty="0">
                <a:solidFill>
                  <a:schemeClr val="accent1">
                    <a:lumMod val="50000"/>
                  </a:schemeClr>
                </a:solidFill>
              </a:rPr>
              <a:t>指数交易数据</a:t>
            </a:r>
          </a:p>
          <a:p>
            <a:endParaRPr lang="zh-CN" altLang="en-US" sz="600" dirty="0"/>
          </a:p>
        </p:txBody>
      </p:sp>
      <p:sp>
        <p:nvSpPr>
          <p:cNvPr id="5" name="TextBox 4"/>
          <p:cNvSpPr txBox="1"/>
          <p:nvPr/>
        </p:nvSpPr>
        <p:spPr>
          <a:xfrm>
            <a:off x="449816" y="2863145"/>
            <a:ext cx="3546119" cy="900246"/>
          </a:xfrm>
          <a:prstGeom prst="rect">
            <a:avLst/>
          </a:prstGeom>
          <a:noFill/>
        </p:spPr>
        <p:txBody>
          <a:bodyPr wrap="square" rtlCol="0">
            <a:spAutoFit/>
          </a:bodyPr>
          <a:lstStyle/>
          <a:p>
            <a:r>
              <a:rPr lang="zh-CN" altLang="zh-CN" sz="1050" dirty="0">
                <a:solidFill>
                  <a:schemeClr val="accent1">
                    <a:lumMod val="50000"/>
                  </a:schemeClr>
                </a:solidFill>
              </a:rPr>
              <a:t>其中字段依次表示指数</a:t>
            </a:r>
            <a:r>
              <a:rPr lang="zh-CN" altLang="zh-CN" sz="1000" dirty="0">
                <a:solidFill>
                  <a:schemeClr val="accent1">
                    <a:lumMod val="50000"/>
                  </a:schemeClr>
                </a:solidFill>
              </a:rPr>
              <a:t>代码</a:t>
            </a:r>
            <a:r>
              <a:rPr lang="zh-CN" altLang="zh-CN" sz="1050" dirty="0">
                <a:solidFill>
                  <a:schemeClr val="accent1">
                    <a:lumMod val="50000"/>
                  </a:schemeClr>
                </a:solidFill>
              </a:rPr>
              <a:t>、交易日期、收盘指数。持有期内的指数收益率计算公式为：持有期内指数收益率</a:t>
            </a:r>
            <a:r>
              <a:rPr lang="en-US" altLang="zh-CN" sz="1050" dirty="0">
                <a:solidFill>
                  <a:schemeClr val="accent1">
                    <a:lumMod val="50000"/>
                  </a:schemeClr>
                </a:solidFill>
              </a:rPr>
              <a:t>=</a:t>
            </a:r>
            <a:r>
              <a:rPr lang="zh-CN" altLang="zh-CN" sz="1050" dirty="0">
                <a:solidFill>
                  <a:schemeClr val="accent1">
                    <a:lumMod val="50000"/>
                  </a:schemeClr>
                </a:solidFill>
              </a:rPr>
              <a:t>（期末收盘指数</a:t>
            </a:r>
            <a:r>
              <a:rPr lang="en-US" altLang="zh-CN" sz="1050" dirty="0">
                <a:solidFill>
                  <a:schemeClr val="accent1">
                    <a:lumMod val="50000"/>
                  </a:schemeClr>
                </a:solidFill>
              </a:rPr>
              <a:t>-</a:t>
            </a:r>
            <a:r>
              <a:rPr lang="zh-CN" altLang="zh-CN" sz="1050" dirty="0">
                <a:solidFill>
                  <a:schemeClr val="accent1">
                    <a:lumMod val="50000"/>
                  </a:schemeClr>
                </a:solidFill>
              </a:rPr>
              <a:t>期初收盘指数）</a:t>
            </a:r>
            <a:r>
              <a:rPr lang="en-US" altLang="zh-CN" sz="1050" dirty="0">
                <a:solidFill>
                  <a:schemeClr val="accent1">
                    <a:lumMod val="50000"/>
                  </a:schemeClr>
                </a:solidFill>
              </a:rPr>
              <a:t>/</a:t>
            </a:r>
            <a:r>
              <a:rPr lang="zh-CN" altLang="zh-CN" sz="1050" dirty="0">
                <a:solidFill>
                  <a:schemeClr val="accent1">
                    <a:lumMod val="50000"/>
                  </a:schemeClr>
                </a:solidFill>
              </a:rPr>
              <a:t>期初收盘指数。量化投资策略设计实现示例代码</a:t>
            </a:r>
            <a:r>
              <a:rPr lang="zh-CN" altLang="zh-CN" sz="1050" dirty="0" smtClean="0">
                <a:solidFill>
                  <a:schemeClr val="accent1">
                    <a:lumMod val="50000"/>
                  </a:schemeClr>
                </a:solidFill>
              </a:rPr>
              <a:t>如</a:t>
            </a:r>
            <a:r>
              <a:rPr lang="zh-CN" altLang="en-US" sz="1050" dirty="0">
                <a:solidFill>
                  <a:schemeClr val="accent1">
                    <a:lumMod val="50000"/>
                  </a:schemeClr>
                </a:solidFill>
              </a:rPr>
              <a:t>下</a:t>
            </a:r>
            <a:r>
              <a:rPr lang="zh-CN" altLang="zh-CN" sz="1050" dirty="0" smtClean="0">
                <a:solidFill>
                  <a:schemeClr val="accent1">
                    <a:lumMod val="50000"/>
                  </a:schemeClr>
                </a:solidFill>
              </a:rPr>
              <a:t>：</a:t>
            </a:r>
            <a:endParaRPr lang="zh-CN" altLang="zh-CN" sz="1050" dirty="0">
              <a:solidFill>
                <a:schemeClr val="accent1">
                  <a:lumMod val="50000"/>
                </a:schemeClr>
              </a:solidFill>
            </a:endParaRPr>
          </a:p>
          <a:p>
            <a:endParaRPr lang="zh-CN" altLang="en-US" sz="1050" dirty="0">
              <a:solidFill>
                <a:schemeClr val="accent1">
                  <a:lumMod val="50000"/>
                </a:schemeClr>
              </a:solidFill>
            </a:endParaRPr>
          </a:p>
        </p:txBody>
      </p:sp>
      <p:sp>
        <p:nvSpPr>
          <p:cNvPr id="3" name="TextBox 2"/>
          <p:cNvSpPr txBox="1"/>
          <p:nvPr/>
        </p:nvSpPr>
        <p:spPr>
          <a:xfrm>
            <a:off x="539551" y="3651870"/>
            <a:ext cx="2898597" cy="1277273"/>
          </a:xfrm>
          <a:prstGeom prst="rect">
            <a:avLst/>
          </a:prstGeom>
          <a:noFill/>
        </p:spPr>
        <p:txBody>
          <a:bodyPr wrap="square" rtlCol="0">
            <a:spAutoFit/>
          </a:bodyPr>
          <a:lstStyle/>
          <a:p>
            <a:r>
              <a:rPr lang="en-US" altLang="zh-CN" sz="1100" dirty="0">
                <a:solidFill>
                  <a:schemeClr val="accent1">
                    <a:lumMod val="50000"/>
                  </a:schemeClr>
                </a:solidFill>
              </a:rPr>
              <a:t>import pandas as </a:t>
            </a:r>
            <a:r>
              <a:rPr lang="en-US" altLang="zh-CN" sz="1100" dirty="0" err="1">
                <a:solidFill>
                  <a:schemeClr val="accent1">
                    <a:lumMod val="50000"/>
                  </a:schemeClr>
                </a:solidFill>
              </a:rPr>
              <a:t>pd</a:t>
            </a:r>
            <a:endParaRPr lang="zh-CN" altLang="zh-CN" sz="1100" dirty="0">
              <a:solidFill>
                <a:schemeClr val="accent1">
                  <a:lumMod val="50000"/>
                </a:schemeClr>
              </a:solidFill>
            </a:endParaRPr>
          </a:p>
          <a:p>
            <a:r>
              <a:rPr lang="en-US" altLang="zh-CN" sz="1100" dirty="0">
                <a:solidFill>
                  <a:schemeClr val="accent1">
                    <a:lumMod val="50000"/>
                  </a:schemeClr>
                </a:solidFill>
              </a:rPr>
              <a:t>import fun  </a:t>
            </a:r>
            <a:r>
              <a:rPr lang="en-US" altLang="zh-CN" sz="800" dirty="0">
                <a:solidFill>
                  <a:schemeClr val="accent1">
                    <a:lumMod val="50000"/>
                  </a:schemeClr>
                </a:solidFill>
              </a:rPr>
              <a:t> #</a:t>
            </a:r>
            <a:r>
              <a:rPr lang="zh-CN" altLang="zh-CN" sz="800" dirty="0">
                <a:solidFill>
                  <a:schemeClr val="accent1">
                    <a:lumMod val="50000"/>
                  </a:schemeClr>
                </a:solidFill>
              </a:rPr>
              <a:t>导入自定义的函数文件</a:t>
            </a:r>
          </a:p>
          <a:p>
            <a:r>
              <a:rPr lang="en-US" altLang="zh-CN" sz="1100" dirty="0">
                <a:solidFill>
                  <a:schemeClr val="accent1">
                    <a:lumMod val="50000"/>
                  </a:schemeClr>
                </a:solidFill>
              </a:rPr>
              <a:t>import fun2 </a:t>
            </a:r>
            <a:r>
              <a:rPr lang="en-US" altLang="zh-CN" sz="900" dirty="0">
                <a:solidFill>
                  <a:schemeClr val="accent1">
                    <a:lumMod val="50000"/>
                  </a:schemeClr>
                </a:solidFill>
              </a:rPr>
              <a:t> </a:t>
            </a:r>
            <a:r>
              <a:rPr lang="en-US" altLang="zh-CN" sz="800" dirty="0">
                <a:solidFill>
                  <a:schemeClr val="accent1">
                    <a:lumMod val="50000"/>
                  </a:schemeClr>
                </a:solidFill>
              </a:rPr>
              <a:t>#</a:t>
            </a:r>
            <a:r>
              <a:rPr lang="zh-CN" altLang="zh-CN" sz="800" dirty="0">
                <a:solidFill>
                  <a:schemeClr val="accent1">
                    <a:lumMod val="50000"/>
                  </a:schemeClr>
                </a:solidFill>
              </a:rPr>
              <a:t>导入自定义的函数文件</a:t>
            </a:r>
          </a:p>
          <a:p>
            <a:r>
              <a:rPr lang="en-US" altLang="zh-CN" sz="1100" dirty="0">
                <a:solidFill>
                  <a:schemeClr val="accent1">
                    <a:lumMod val="50000"/>
                  </a:schemeClr>
                </a:solidFill>
              </a:rPr>
              <a:t>data=</a:t>
            </a:r>
            <a:r>
              <a:rPr lang="en-US" altLang="zh-CN" sz="1100" dirty="0" err="1">
                <a:solidFill>
                  <a:schemeClr val="accent1">
                    <a:lumMod val="50000"/>
                  </a:schemeClr>
                </a:solidFill>
              </a:rPr>
              <a:t>pd.read_excel</a:t>
            </a:r>
            <a:r>
              <a:rPr lang="en-US" altLang="zh-CN" sz="1100" dirty="0">
                <a:solidFill>
                  <a:schemeClr val="accent1">
                    <a:lumMod val="50000"/>
                  </a:schemeClr>
                </a:solidFill>
              </a:rPr>
              <a:t>('data.xlsx')</a:t>
            </a:r>
            <a:endParaRPr lang="zh-CN" altLang="zh-CN" sz="1100" dirty="0">
              <a:solidFill>
                <a:schemeClr val="accent1">
                  <a:lumMod val="50000"/>
                </a:schemeClr>
              </a:solidFill>
            </a:endParaRPr>
          </a:p>
          <a:p>
            <a:r>
              <a:rPr lang="en-US" altLang="zh-CN" sz="1100" dirty="0">
                <a:solidFill>
                  <a:schemeClr val="accent1">
                    <a:lumMod val="50000"/>
                  </a:schemeClr>
                </a:solidFill>
              </a:rPr>
              <a:t>ind300=</a:t>
            </a:r>
            <a:r>
              <a:rPr lang="en-US" altLang="zh-CN" sz="1100" dirty="0" err="1">
                <a:solidFill>
                  <a:schemeClr val="accent1">
                    <a:lumMod val="50000"/>
                  </a:schemeClr>
                </a:solidFill>
              </a:rPr>
              <a:t>pd.read_excel</a:t>
            </a:r>
            <a:r>
              <a:rPr lang="en-US" altLang="zh-CN" sz="1100" dirty="0">
                <a:solidFill>
                  <a:schemeClr val="accent1">
                    <a:lumMod val="50000"/>
                  </a:schemeClr>
                </a:solidFill>
              </a:rPr>
              <a:t>('index300.xlsx')</a:t>
            </a:r>
            <a:endParaRPr lang="zh-CN" altLang="zh-CN" sz="1100" dirty="0">
              <a:solidFill>
                <a:schemeClr val="accent1">
                  <a:lumMod val="50000"/>
                </a:schemeClr>
              </a:solidFill>
            </a:endParaRPr>
          </a:p>
          <a:p>
            <a:pPr lvl="0"/>
            <a:r>
              <a:rPr lang="en-US" altLang="zh-CN" sz="1100" dirty="0">
                <a:solidFill>
                  <a:schemeClr val="accent1">
                    <a:lumMod val="50000"/>
                  </a:schemeClr>
                </a:solidFill>
              </a:rPr>
              <a:t>list1=[] </a:t>
            </a:r>
            <a:r>
              <a:rPr lang="en-US" altLang="zh-CN" sz="800" dirty="0">
                <a:solidFill>
                  <a:schemeClr val="accent1">
                    <a:lumMod val="50000"/>
                  </a:schemeClr>
                </a:solidFill>
              </a:rPr>
              <a:t>#</a:t>
            </a:r>
            <a:r>
              <a:rPr lang="zh-CN" altLang="zh-CN" sz="800" dirty="0">
                <a:solidFill>
                  <a:schemeClr val="accent1">
                    <a:lumMod val="50000"/>
                  </a:schemeClr>
                </a:solidFill>
              </a:rPr>
              <a:t>存放年度</a:t>
            </a:r>
          </a:p>
          <a:p>
            <a:endParaRPr lang="zh-CN" altLang="en-US" sz="1100" dirty="0">
              <a:solidFill>
                <a:schemeClr val="accent1">
                  <a:lumMod val="50000"/>
                </a:schemeClr>
              </a:solidFill>
            </a:endParaRPr>
          </a:p>
        </p:txBody>
      </p:sp>
    </p:spTree>
    <p:extLst>
      <p:ext uri="{BB962C8B-B14F-4D97-AF65-F5344CB8AC3E}">
        <p14:creationId xmlns:p14="http://schemas.microsoft.com/office/powerpoint/2010/main" val="540508784"/>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97685" y="33470"/>
            <a:ext cx="3780194" cy="392411"/>
          </a:xfrm>
          <a:prstGeom prst="rect">
            <a:avLst/>
          </a:prstGeom>
          <a:noFill/>
        </p:spPr>
        <p:txBody>
          <a:bodyPr wrap="square" lIns="68553" tIns="34276" rIns="68553" bIns="34276"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fontAlgn="base">
              <a:spcBef>
                <a:spcPct val="0"/>
              </a:spcBef>
              <a:spcAft>
                <a:spcPct val="0"/>
              </a:spcAft>
              <a:buFont typeface="Arial" pitchFamily="34" charset="0"/>
              <a:buNone/>
            </a:pPr>
            <a:r>
              <a:rPr lang="en-US" altLang="zh-CN" sz="2100" dirty="0">
                <a:solidFill>
                  <a:srgbClr val="FFFFFF"/>
                </a:solidFill>
                <a:latin typeface="微软雅黑"/>
                <a:ea typeface="微软雅黑"/>
              </a:rPr>
              <a:t>8.3.6 </a:t>
            </a:r>
            <a:r>
              <a:rPr lang="zh-CN" altLang="en-US" sz="2100" dirty="0">
                <a:solidFill>
                  <a:srgbClr val="FFFFFF"/>
                </a:solidFill>
                <a:latin typeface="微软雅黑"/>
                <a:ea typeface="微软雅黑"/>
              </a:rPr>
              <a:t>量化投资策略设计与分析</a:t>
            </a:r>
          </a:p>
        </p:txBody>
      </p:sp>
      <p:sp>
        <p:nvSpPr>
          <p:cNvPr id="56" name="TextBox 55"/>
          <p:cNvSpPr txBox="1"/>
          <p:nvPr/>
        </p:nvSpPr>
        <p:spPr>
          <a:xfrm>
            <a:off x="87590" y="56565"/>
            <a:ext cx="797883" cy="346220"/>
          </a:xfrm>
          <a:prstGeom prst="rect">
            <a:avLst/>
          </a:prstGeom>
          <a:noFill/>
        </p:spPr>
        <p:txBody>
          <a:bodyPr wrap="square" lIns="68553" tIns="34276" rIns="68553" bIns="34276" rtlCol="0">
            <a:spAutoFit/>
          </a:bodyPr>
          <a:lstStyle/>
          <a:p>
            <a:pPr algn="ctr" fontAlgn="base">
              <a:spcBef>
                <a:spcPct val="0"/>
              </a:spcBef>
              <a:spcAft>
                <a:spcPct val="0"/>
              </a:spcAft>
              <a:buFont typeface="Arial" pitchFamily="34" charset="0"/>
              <a:buNone/>
            </a:pPr>
            <a:r>
              <a:rPr lang="en-US" altLang="zh-CN" sz="1500" dirty="0">
                <a:solidFill>
                  <a:srgbClr val="FFFFFF"/>
                </a:solidFill>
                <a:ea typeface="宋体" pitchFamily="2" charset="-122"/>
              </a:rPr>
              <a:t>Part </a:t>
            </a:r>
            <a:r>
              <a:rPr lang="en-US" altLang="zh-CN" sz="1500" dirty="0" smtClean="0">
                <a:solidFill>
                  <a:srgbClr val="FFFFFF"/>
                </a:solidFill>
                <a:ea typeface="宋体" pitchFamily="2" charset="-122"/>
              </a:rPr>
              <a:t>8</a:t>
            </a:r>
            <a:r>
              <a:rPr lang="en-US" altLang="zh-CN" dirty="0" smtClean="0">
                <a:solidFill>
                  <a:srgbClr val="FFFFFF"/>
                </a:solidFill>
                <a:ea typeface="宋体" pitchFamily="2" charset="-122"/>
              </a:rPr>
              <a:t> </a:t>
            </a:r>
            <a:endParaRPr lang="zh-CN" altLang="en-US" dirty="0">
              <a:solidFill>
                <a:srgbClr val="FFFFFF"/>
              </a:solidFill>
              <a:ea typeface="宋体" pitchFamily="2" charset="-122"/>
            </a:endParaRPr>
          </a:p>
        </p:txBody>
      </p:sp>
      <p:pic>
        <p:nvPicPr>
          <p:cNvPr id="122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1569" y="627534"/>
            <a:ext cx="3400581"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590" y="2643758"/>
            <a:ext cx="3580308" cy="1971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表格 2"/>
          <p:cNvGraphicFramePr>
            <a:graphicFrameLocks noGrp="1"/>
          </p:cNvGraphicFramePr>
          <p:nvPr>
            <p:extLst>
              <p:ext uri="{D42A27DB-BD31-4B8C-83A1-F6EECF244321}">
                <p14:modId xmlns:p14="http://schemas.microsoft.com/office/powerpoint/2010/main" val="1547404575"/>
              </p:ext>
            </p:extLst>
          </p:nvPr>
        </p:nvGraphicFramePr>
        <p:xfrm>
          <a:off x="3751878" y="771551"/>
          <a:ext cx="5140602" cy="4165058"/>
        </p:xfrm>
        <a:graphic>
          <a:graphicData uri="http://schemas.openxmlformats.org/drawingml/2006/table">
            <a:tbl>
              <a:tblPr firstRow="1" firstCol="1" bandRow="1"/>
              <a:tblGrid>
                <a:gridCol w="460082"/>
                <a:gridCol w="501866"/>
                <a:gridCol w="4178654"/>
              </a:tblGrid>
              <a:tr h="214938">
                <a:tc>
                  <a:txBody>
                    <a:bodyPr/>
                    <a:lstStyle/>
                    <a:p>
                      <a:pPr algn="l">
                        <a:lnSpc>
                          <a:spcPct val="150000"/>
                        </a:lnSpc>
                        <a:spcAft>
                          <a:spcPts val="0"/>
                        </a:spcAft>
                      </a:pPr>
                      <a:r>
                        <a:rPr lang="zh-CN" sz="800" kern="100" dirty="0">
                          <a:solidFill>
                            <a:schemeClr val="accent1">
                              <a:lumMod val="50000"/>
                            </a:schemeClr>
                          </a:solidFill>
                          <a:effectLst/>
                          <a:latin typeface="Calibri"/>
                          <a:ea typeface="宋体"/>
                          <a:cs typeface="Times New Roman"/>
                        </a:rPr>
                        <a:t>投资组合</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800" kern="100" dirty="0">
                          <a:solidFill>
                            <a:schemeClr val="accent1">
                              <a:lumMod val="50000"/>
                            </a:schemeClr>
                          </a:solidFill>
                          <a:effectLst/>
                          <a:latin typeface="Calibri"/>
                          <a:ea typeface="宋体"/>
                          <a:cs typeface="Times New Roman"/>
                        </a:rPr>
                        <a:t>年度</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800" kern="100" dirty="0">
                          <a:solidFill>
                            <a:schemeClr val="accent1">
                              <a:lumMod val="50000"/>
                            </a:schemeClr>
                          </a:solidFill>
                          <a:effectLst/>
                          <a:latin typeface="Calibri"/>
                          <a:ea typeface="宋体"/>
                          <a:cs typeface="Times New Roman"/>
                        </a:rPr>
                        <a:t>股票名称</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4440">
                <a:tc rowSpan="4">
                  <a:txBody>
                    <a:bodyPr/>
                    <a:lstStyle/>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r>
                        <a:rPr lang="zh-CN" sz="800" kern="100" dirty="0" smtClean="0">
                          <a:solidFill>
                            <a:schemeClr val="accent1">
                              <a:lumMod val="50000"/>
                            </a:schemeClr>
                          </a:solidFill>
                          <a:effectLst/>
                          <a:latin typeface="Calibri"/>
                          <a:ea typeface="宋体"/>
                          <a:cs typeface="Times New Roman"/>
                        </a:rPr>
                        <a:t>排名</a:t>
                      </a:r>
                      <a:r>
                        <a:rPr lang="zh-CN" sz="800" kern="100" dirty="0">
                          <a:solidFill>
                            <a:schemeClr val="accent1">
                              <a:lumMod val="50000"/>
                            </a:schemeClr>
                          </a:solidFill>
                          <a:effectLst/>
                          <a:latin typeface="Calibri"/>
                          <a:ea typeface="宋体"/>
                          <a:cs typeface="Times New Roman"/>
                        </a:rPr>
                        <a:t>前</a:t>
                      </a:r>
                      <a:r>
                        <a:rPr lang="en-US" sz="800" kern="100" dirty="0">
                          <a:solidFill>
                            <a:schemeClr val="accent1">
                              <a:lumMod val="50000"/>
                            </a:schemeClr>
                          </a:solidFill>
                          <a:effectLst/>
                          <a:latin typeface="Calibri"/>
                          <a:ea typeface="宋体"/>
                          <a:cs typeface="Times New Roman"/>
                        </a:rPr>
                        <a:t>20</a:t>
                      </a:r>
                      <a:r>
                        <a:rPr lang="zh-CN" sz="800" kern="100" dirty="0">
                          <a:solidFill>
                            <a:schemeClr val="accent1">
                              <a:lumMod val="50000"/>
                            </a:schemeClr>
                          </a:solidFill>
                          <a:effectLst/>
                          <a:latin typeface="Calibri"/>
                          <a:ea typeface="宋体"/>
                          <a:cs typeface="Times New Roman"/>
                        </a:rPr>
                        <a:t>的股票投资组合</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800" kern="100" dirty="0">
                          <a:solidFill>
                            <a:schemeClr val="accent1">
                              <a:lumMod val="50000"/>
                            </a:schemeClr>
                          </a:solidFill>
                          <a:effectLst/>
                          <a:latin typeface="宋体"/>
                          <a:ea typeface="宋体"/>
                          <a:cs typeface="Times New Roman"/>
                        </a:rPr>
                        <a:t>2013</a:t>
                      </a:r>
                      <a:endParaRPr lang="zh-CN" sz="800" kern="100" dirty="0">
                        <a:solidFill>
                          <a:schemeClr val="accent1">
                            <a:lumMod val="50000"/>
                          </a:schemeClr>
                        </a:solidFill>
                        <a:effectLst/>
                        <a:latin typeface="Calibri"/>
                        <a:ea typeface="宋体"/>
                        <a:cs typeface="Times New Roman"/>
                      </a:endParaRP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100" dirty="0">
                          <a:solidFill>
                            <a:schemeClr val="accent1">
                              <a:lumMod val="50000"/>
                            </a:schemeClr>
                          </a:solidFill>
                          <a:effectLst/>
                          <a:latin typeface="Calibri"/>
                          <a:ea typeface="宋体"/>
                          <a:cs typeface="Times New Roman"/>
                        </a:rPr>
                        <a:t>中国石油、中国石化、中国神华、上汽集团、中国建筑、贵州茅台、中国联通、深中华</a:t>
                      </a:r>
                      <a:r>
                        <a:rPr lang="en-US" sz="800" kern="100" dirty="0">
                          <a:solidFill>
                            <a:schemeClr val="accent1">
                              <a:lumMod val="50000"/>
                            </a:schemeClr>
                          </a:solidFill>
                          <a:effectLst/>
                          <a:latin typeface="Calibri"/>
                          <a:ea typeface="宋体"/>
                          <a:cs typeface="Times New Roman"/>
                        </a:rPr>
                        <a:t>A</a:t>
                      </a:r>
                      <a:r>
                        <a:rPr lang="zh-CN" sz="800" kern="100" dirty="0">
                          <a:solidFill>
                            <a:schemeClr val="accent1">
                              <a:lumMod val="50000"/>
                            </a:schemeClr>
                          </a:solidFill>
                          <a:effectLst/>
                          <a:latin typeface="Calibri"/>
                          <a:ea typeface="宋体"/>
                          <a:cs typeface="Times New Roman"/>
                        </a:rPr>
                        <a:t>、中国铁建、万科</a:t>
                      </a:r>
                      <a:r>
                        <a:rPr lang="en-US" sz="800" kern="100" dirty="0">
                          <a:solidFill>
                            <a:schemeClr val="accent1">
                              <a:lumMod val="50000"/>
                            </a:schemeClr>
                          </a:solidFill>
                          <a:effectLst/>
                          <a:latin typeface="Calibri"/>
                          <a:ea typeface="宋体"/>
                          <a:cs typeface="Times New Roman"/>
                        </a:rPr>
                        <a:t>A</a:t>
                      </a:r>
                      <a:r>
                        <a:rPr lang="zh-CN" sz="800" kern="100" dirty="0">
                          <a:solidFill>
                            <a:schemeClr val="accent1">
                              <a:lumMod val="50000"/>
                            </a:schemeClr>
                          </a:solidFill>
                          <a:effectLst/>
                          <a:latin typeface="Calibri"/>
                          <a:ea typeface="宋体"/>
                          <a:cs typeface="Times New Roman"/>
                        </a:rPr>
                        <a:t>、中国中铁、中国交建、华能国际、美的集团、皇庭国际、保利地产、格力电器、国电电力、大唐发电、招商地产</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406">
                <a:tc vMerge="1">
                  <a:txBody>
                    <a:bodyPr/>
                    <a:lstStyle/>
                    <a:p>
                      <a:endParaRPr lang="zh-CN" altLang="en-US"/>
                    </a:p>
                  </a:txBody>
                  <a:tcPr/>
                </a:tc>
                <a:tc>
                  <a:txBody>
                    <a:bodyPr/>
                    <a:lstStyle/>
                    <a:p>
                      <a:pPr algn="l">
                        <a:spcAft>
                          <a:spcPts val="0"/>
                        </a:spcAft>
                      </a:pPr>
                      <a:r>
                        <a:rPr lang="en-US" sz="800" kern="100">
                          <a:solidFill>
                            <a:schemeClr val="accent1">
                              <a:lumMod val="50000"/>
                            </a:schemeClr>
                          </a:solidFill>
                          <a:effectLst/>
                          <a:latin typeface="宋体"/>
                          <a:ea typeface="宋体"/>
                          <a:cs typeface="Times New Roman"/>
                        </a:rPr>
                        <a:t>2014</a:t>
                      </a:r>
                      <a:endParaRPr lang="zh-CN" sz="800" kern="100">
                        <a:solidFill>
                          <a:schemeClr val="accent1">
                            <a:lumMod val="50000"/>
                          </a:schemeClr>
                        </a:solidFill>
                        <a:effectLst/>
                        <a:latin typeface="Calibri"/>
                        <a:ea typeface="宋体"/>
                        <a:cs typeface="Times New Roman"/>
                      </a:endParaRP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100">
                          <a:solidFill>
                            <a:schemeClr val="accent1">
                              <a:lumMod val="50000"/>
                            </a:schemeClr>
                          </a:solidFill>
                          <a:effectLst/>
                          <a:latin typeface="Calibri"/>
                          <a:ea typeface="宋体"/>
                          <a:cs typeface="Times New Roman"/>
                        </a:rPr>
                        <a:t>中国石油、中国石化、中国神华、中国建筑、上汽集团、贵州茅台、中国联通、长航凤凰、中国铁建、万科</a:t>
                      </a:r>
                      <a:r>
                        <a:rPr lang="en-US" sz="800" kern="100">
                          <a:solidFill>
                            <a:schemeClr val="accent1">
                              <a:lumMod val="50000"/>
                            </a:schemeClr>
                          </a:solidFill>
                          <a:effectLst/>
                          <a:latin typeface="Calibri"/>
                          <a:ea typeface="宋体"/>
                          <a:cs typeface="Times New Roman"/>
                        </a:rPr>
                        <a:t>A</a:t>
                      </a:r>
                      <a:r>
                        <a:rPr lang="zh-CN" sz="800" kern="100">
                          <a:solidFill>
                            <a:schemeClr val="accent1">
                              <a:lumMod val="50000"/>
                            </a:schemeClr>
                          </a:solidFill>
                          <a:effectLst/>
                          <a:latin typeface="Calibri"/>
                          <a:ea typeface="宋体"/>
                          <a:cs typeface="Times New Roman"/>
                        </a:rPr>
                        <a:t>、中国中铁、中国交建、华能国际、格力电器、保利地产、海螺水泥、美的集团、大秦铁路、长江电力、视觉中国</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406">
                <a:tc vMerge="1">
                  <a:txBody>
                    <a:bodyPr/>
                    <a:lstStyle/>
                    <a:p>
                      <a:endParaRPr lang="zh-CN" altLang="en-US"/>
                    </a:p>
                  </a:txBody>
                  <a:tcPr/>
                </a:tc>
                <a:tc>
                  <a:txBody>
                    <a:bodyPr/>
                    <a:lstStyle/>
                    <a:p>
                      <a:pPr algn="l">
                        <a:spcAft>
                          <a:spcPts val="0"/>
                        </a:spcAft>
                      </a:pPr>
                      <a:r>
                        <a:rPr lang="en-US" sz="800" kern="100">
                          <a:solidFill>
                            <a:schemeClr val="accent1">
                              <a:lumMod val="50000"/>
                            </a:schemeClr>
                          </a:solidFill>
                          <a:effectLst/>
                          <a:latin typeface="宋体"/>
                          <a:ea typeface="宋体"/>
                          <a:cs typeface="Times New Roman"/>
                        </a:rPr>
                        <a:t>2015</a:t>
                      </a:r>
                      <a:endParaRPr lang="zh-CN" sz="800" kern="100">
                        <a:solidFill>
                          <a:schemeClr val="accent1">
                            <a:lumMod val="50000"/>
                          </a:schemeClr>
                        </a:solidFill>
                        <a:effectLst/>
                        <a:latin typeface="Calibri"/>
                        <a:ea typeface="宋体"/>
                        <a:cs typeface="Times New Roman"/>
                      </a:endParaRP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100" dirty="0">
                          <a:solidFill>
                            <a:schemeClr val="accent1">
                              <a:lumMod val="50000"/>
                            </a:schemeClr>
                          </a:solidFill>
                          <a:effectLst/>
                          <a:latin typeface="Calibri"/>
                          <a:ea typeface="宋体"/>
                          <a:cs typeface="Times New Roman"/>
                        </a:rPr>
                        <a:t>中国石油、中国石化、中国建筑、上汽集团、贵州茅台、中国神华、万科</a:t>
                      </a:r>
                      <a:r>
                        <a:rPr lang="en-US" sz="800" kern="100" dirty="0">
                          <a:solidFill>
                            <a:schemeClr val="accent1">
                              <a:lumMod val="50000"/>
                            </a:schemeClr>
                          </a:solidFill>
                          <a:effectLst/>
                          <a:latin typeface="Calibri"/>
                          <a:ea typeface="宋体"/>
                          <a:cs typeface="Times New Roman"/>
                        </a:rPr>
                        <a:t>A</a:t>
                      </a:r>
                      <a:r>
                        <a:rPr lang="zh-CN" sz="800" kern="100" dirty="0">
                          <a:solidFill>
                            <a:schemeClr val="accent1">
                              <a:lumMod val="50000"/>
                            </a:schemeClr>
                          </a:solidFill>
                          <a:effectLst/>
                          <a:latin typeface="Calibri"/>
                          <a:ea typeface="宋体"/>
                          <a:cs typeface="Times New Roman"/>
                        </a:rPr>
                        <a:t>、恺英网络、华能国际、中国交建、中国铁建、保利地产、中国中铁、分众传媒、中国联通、美的集团、中国中车、格力电器、华电国际、大秦铁路</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2406">
                <a:tc vMerge="1">
                  <a:txBody>
                    <a:bodyPr/>
                    <a:lstStyle/>
                    <a:p>
                      <a:endParaRPr lang="zh-CN" altLang="en-US"/>
                    </a:p>
                  </a:txBody>
                  <a:tcPr/>
                </a:tc>
                <a:tc>
                  <a:txBody>
                    <a:bodyPr/>
                    <a:lstStyle/>
                    <a:p>
                      <a:pPr algn="l">
                        <a:spcAft>
                          <a:spcPts val="0"/>
                        </a:spcAft>
                      </a:pPr>
                      <a:r>
                        <a:rPr lang="en-US" sz="800" kern="100">
                          <a:solidFill>
                            <a:schemeClr val="accent1">
                              <a:lumMod val="50000"/>
                            </a:schemeClr>
                          </a:solidFill>
                          <a:effectLst/>
                          <a:latin typeface="宋体"/>
                          <a:ea typeface="宋体"/>
                          <a:cs typeface="Times New Roman"/>
                        </a:rPr>
                        <a:t>2016</a:t>
                      </a:r>
                      <a:endParaRPr lang="zh-CN" sz="800" kern="100">
                        <a:solidFill>
                          <a:schemeClr val="accent1">
                            <a:lumMod val="50000"/>
                          </a:schemeClr>
                        </a:solidFill>
                        <a:effectLst/>
                        <a:latin typeface="Calibri"/>
                        <a:ea typeface="宋体"/>
                        <a:cs typeface="Times New Roman"/>
                      </a:endParaRP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100" dirty="0">
                          <a:solidFill>
                            <a:schemeClr val="accent1">
                              <a:lumMod val="50000"/>
                            </a:schemeClr>
                          </a:solidFill>
                          <a:effectLst/>
                          <a:latin typeface="Calibri"/>
                          <a:ea typeface="宋体"/>
                          <a:cs typeface="Times New Roman"/>
                        </a:rPr>
                        <a:t>中国石化、中国石油、中国建筑、上汽集团、中国神华、贵州茅台、万科</a:t>
                      </a:r>
                      <a:r>
                        <a:rPr lang="en-US" sz="800" kern="100" dirty="0">
                          <a:solidFill>
                            <a:schemeClr val="accent1">
                              <a:lumMod val="50000"/>
                            </a:schemeClr>
                          </a:solidFill>
                          <a:effectLst/>
                          <a:latin typeface="Calibri"/>
                          <a:ea typeface="宋体"/>
                          <a:cs typeface="Times New Roman"/>
                        </a:rPr>
                        <a:t>A</a:t>
                      </a:r>
                      <a:r>
                        <a:rPr lang="zh-CN" sz="800" kern="100" dirty="0">
                          <a:solidFill>
                            <a:schemeClr val="accent1">
                              <a:lumMod val="50000"/>
                            </a:schemeClr>
                          </a:solidFill>
                          <a:effectLst/>
                          <a:latin typeface="Calibri"/>
                          <a:ea typeface="宋体"/>
                          <a:cs typeface="Times New Roman"/>
                        </a:rPr>
                        <a:t>、中国交建、长江电力、中国铁建、分众传媒、中国中铁、保利地产、美的集团、格力电器、华能国际、中油资本、恺英网络、绿地控股、吉比特</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963">
                <a:tc rowSpan="4">
                  <a:txBody>
                    <a:bodyPr/>
                    <a:lstStyle/>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endParaRPr lang="en-US" altLang="zh-CN" sz="800" kern="100" dirty="0" smtClean="0">
                        <a:solidFill>
                          <a:schemeClr val="accent1">
                            <a:lumMod val="50000"/>
                          </a:schemeClr>
                        </a:solidFill>
                        <a:effectLst/>
                        <a:latin typeface="Calibri"/>
                        <a:ea typeface="宋体"/>
                        <a:cs typeface="Times New Roman"/>
                      </a:endParaRPr>
                    </a:p>
                    <a:p>
                      <a:pPr algn="l">
                        <a:spcAft>
                          <a:spcPts val="0"/>
                        </a:spcAft>
                      </a:pPr>
                      <a:r>
                        <a:rPr lang="zh-CN" sz="800" kern="100" dirty="0" smtClean="0">
                          <a:solidFill>
                            <a:schemeClr val="accent1">
                              <a:lumMod val="50000"/>
                            </a:schemeClr>
                          </a:solidFill>
                          <a:effectLst/>
                          <a:latin typeface="Calibri"/>
                          <a:ea typeface="宋体"/>
                          <a:cs typeface="Times New Roman"/>
                        </a:rPr>
                        <a:t>排名</a:t>
                      </a:r>
                      <a:r>
                        <a:rPr lang="zh-CN" sz="800" kern="100" dirty="0">
                          <a:solidFill>
                            <a:schemeClr val="accent1">
                              <a:lumMod val="50000"/>
                            </a:schemeClr>
                          </a:solidFill>
                          <a:effectLst/>
                          <a:latin typeface="Calibri"/>
                          <a:ea typeface="宋体"/>
                          <a:cs typeface="Times New Roman"/>
                        </a:rPr>
                        <a:t>前</a:t>
                      </a:r>
                      <a:r>
                        <a:rPr lang="en-US" sz="800" kern="100" dirty="0">
                          <a:solidFill>
                            <a:schemeClr val="accent1">
                              <a:lumMod val="50000"/>
                            </a:schemeClr>
                          </a:solidFill>
                          <a:effectLst/>
                          <a:latin typeface="Calibri"/>
                          <a:ea typeface="宋体"/>
                          <a:cs typeface="Times New Roman"/>
                        </a:rPr>
                        <a:t>40</a:t>
                      </a:r>
                      <a:r>
                        <a:rPr lang="zh-CN" sz="800" kern="100" dirty="0">
                          <a:solidFill>
                            <a:schemeClr val="accent1">
                              <a:lumMod val="50000"/>
                            </a:schemeClr>
                          </a:solidFill>
                          <a:effectLst/>
                          <a:latin typeface="Calibri"/>
                          <a:ea typeface="宋体"/>
                          <a:cs typeface="Times New Roman"/>
                        </a:rPr>
                        <a:t>的股票投资组合</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800" kern="100" dirty="0">
                          <a:solidFill>
                            <a:schemeClr val="accent1">
                              <a:lumMod val="50000"/>
                            </a:schemeClr>
                          </a:solidFill>
                          <a:effectLst/>
                          <a:latin typeface="宋体"/>
                          <a:ea typeface="宋体"/>
                          <a:cs typeface="Times New Roman"/>
                        </a:rPr>
                        <a:t>2013</a:t>
                      </a:r>
                      <a:endParaRPr lang="zh-CN" sz="800" kern="100" dirty="0">
                        <a:solidFill>
                          <a:schemeClr val="accent1">
                            <a:lumMod val="50000"/>
                          </a:schemeClr>
                        </a:solidFill>
                        <a:effectLst/>
                        <a:latin typeface="Calibri"/>
                        <a:ea typeface="宋体"/>
                        <a:cs typeface="Times New Roman"/>
                      </a:endParaRP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100" dirty="0">
                          <a:solidFill>
                            <a:schemeClr val="accent1">
                              <a:lumMod val="50000"/>
                            </a:schemeClr>
                          </a:solidFill>
                          <a:effectLst/>
                          <a:latin typeface="Calibri"/>
                          <a:ea typeface="宋体"/>
                          <a:cs typeface="Times New Roman"/>
                        </a:rPr>
                        <a:t>中国石油、中国石化、中国神华、上汽集团、中国建筑、贵州茅台、中国联通、深中华</a:t>
                      </a:r>
                      <a:r>
                        <a:rPr lang="en-US" sz="800" kern="100" dirty="0">
                          <a:solidFill>
                            <a:schemeClr val="accent1">
                              <a:lumMod val="50000"/>
                            </a:schemeClr>
                          </a:solidFill>
                          <a:effectLst/>
                          <a:latin typeface="Calibri"/>
                          <a:ea typeface="宋体"/>
                          <a:cs typeface="Times New Roman"/>
                        </a:rPr>
                        <a:t>A</a:t>
                      </a:r>
                      <a:r>
                        <a:rPr lang="zh-CN" sz="800" kern="100" dirty="0">
                          <a:solidFill>
                            <a:schemeClr val="accent1">
                              <a:lumMod val="50000"/>
                            </a:schemeClr>
                          </a:solidFill>
                          <a:effectLst/>
                          <a:latin typeface="Calibri"/>
                          <a:ea typeface="宋体"/>
                          <a:cs typeface="Times New Roman"/>
                        </a:rPr>
                        <a:t>、中国铁建、万科</a:t>
                      </a:r>
                      <a:r>
                        <a:rPr lang="en-US" sz="800" kern="100" dirty="0">
                          <a:solidFill>
                            <a:schemeClr val="accent1">
                              <a:lumMod val="50000"/>
                            </a:schemeClr>
                          </a:solidFill>
                          <a:effectLst/>
                          <a:latin typeface="Calibri"/>
                          <a:ea typeface="宋体"/>
                          <a:cs typeface="Times New Roman"/>
                        </a:rPr>
                        <a:t>A</a:t>
                      </a:r>
                      <a:r>
                        <a:rPr lang="zh-CN" sz="800" kern="100" dirty="0">
                          <a:solidFill>
                            <a:schemeClr val="accent1">
                              <a:lumMod val="50000"/>
                            </a:schemeClr>
                          </a:solidFill>
                          <a:effectLst/>
                          <a:latin typeface="Calibri"/>
                          <a:ea typeface="宋体"/>
                          <a:cs typeface="Times New Roman"/>
                        </a:rPr>
                        <a:t>、中国中铁、中国交建、华能国际、美的集团、皇庭国际、保利地产、格力电器、国电电力、大唐发电、招商地产、大秦铁路、长江电力、海螺水泥、宝钢股份、华电国际、国投电力、中国国航、洋河股份、长城汽车、中煤能源、中国电建、江西铜业、五粮液、科伦药业、中海油服、中国中冶、大商股份、浙能电力、南方航空、华域汽车</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963">
                <a:tc vMerge="1">
                  <a:txBody>
                    <a:bodyPr/>
                    <a:lstStyle/>
                    <a:p>
                      <a:endParaRPr lang="zh-CN" altLang="en-US"/>
                    </a:p>
                  </a:txBody>
                  <a:tcPr/>
                </a:tc>
                <a:tc>
                  <a:txBody>
                    <a:bodyPr/>
                    <a:lstStyle/>
                    <a:p>
                      <a:pPr algn="l">
                        <a:spcAft>
                          <a:spcPts val="0"/>
                        </a:spcAft>
                      </a:pPr>
                      <a:r>
                        <a:rPr lang="en-US" sz="800" kern="100">
                          <a:solidFill>
                            <a:schemeClr val="accent1">
                              <a:lumMod val="50000"/>
                            </a:schemeClr>
                          </a:solidFill>
                          <a:effectLst/>
                          <a:latin typeface="宋体"/>
                          <a:ea typeface="宋体"/>
                          <a:cs typeface="Times New Roman"/>
                        </a:rPr>
                        <a:t>2014</a:t>
                      </a:r>
                      <a:endParaRPr lang="zh-CN" sz="800" kern="100">
                        <a:solidFill>
                          <a:schemeClr val="accent1">
                            <a:lumMod val="50000"/>
                          </a:schemeClr>
                        </a:solidFill>
                        <a:effectLst/>
                        <a:latin typeface="Calibri"/>
                        <a:ea typeface="宋体"/>
                        <a:cs typeface="Times New Roman"/>
                      </a:endParaRP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100">
                          <a:solidFill>
                            <a:schemeClr val="accent1">
                              <a:lumMod val="50000"/>
                            </a:schemeClr>
                          </a:solidFill>
                          <a:effectLst/>
                          <a:latin typeface="Calibri"/>
                          <a:ea typeface="宋体"/>
                          <a:cs typeface="Times New Roman"/>
                        </a:rPr>
                        <a:t>中国石油、中国石化、中国神华、中国建筑、上汽集团、贵州茅台、中国联通、长航凤凰、中国铁建、万科</a:t>
                      </a:r>
                      <a:r>
                        <a:rPr lang="en-US" sz="800" kern="100">
                          <a:solidFill>
                            <a:schemeClr val="accent1">
                              <a:lumMod val="50000"/>
                            </a:schemeClr>
                          </a:solidFill>
                          <a:effectLst/>
                          <a:latin typeface="Calibri"/>
                          <a:ea typeface="宋体"/>
                          <a:cs typeface="Times New Roman"/>
                        </a:rPr>
                        <a:t>A</a:t>
                      </a:r>
                      <a:r>
                        <a:rPr lang="zh-CN" sz="800" kern="100">
                          <a:solidFill>
                            <a:schemeClr val="accent1">
                              <a:lumMod val="50000"/>
                            </a:schemeClr>
                          </a:solidFill>
                          <a:effectLst/>
                          <a:latin typeface="Calibri"/>
                          <a:ea typeface="宋体"/>
                          <a:cs typeface="Times New Roman"/>
                        </a:rPr>
                        <a:t>、中国中铁、中国交建、华能国际、格力电器、保利地产、海螺水泥、美的集团、大秦铁路、长江电力、视觉中国、国投电力、国电电力、国投资本、华电国际、潍柴动力、宝钢股份、招商地产、大唐发电、长城汽车、洋河股份、中国国航、中海油服、大商股份、中国电建、青岛海尔、华域汽车、中国中冶、南方航空、华夏幸福、江西铜业</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963">
                <a:tc vMerge="1">
                  <a:txBody>
                    <a:bodyPr/>
                    <a:lstStyle/>
                    <a:p>
                      <a:endParaRPr lang="zh-CN" altLang="en-US"/>
                    </a:p>
                  </a:txBody>
                  <a:tcPr/>
                </a:tc>
                <a:tc>
                  <a:txBody>
                    <a:bodyPr/>
                    <a:lstStyle/>
                    <a:p>
                      <a:pPr algn="l">
                        <a:spcAft>
                          <a:spcPts val="0"/>
                        </a:spcAft>
                      </a:pPr>
                      <a:r>
                        <a:rPr lang="en-US" sz="800" kern="100" dirty="0">
                          <a:solidFill>
                            <a:schemeClr val="accent1">
                              <a:lumMod val="50000"/>
                            </a:schemeClr>
                          </a:solidFill>
                          <a:effectLst/>
                          <a:latin typeface="宋体"/>
                          <a:ea typeface="宋体"/>
                          <a:cs typeface="Times New Roman"/>
                        </a:rPr>
                        <a:t>2015</a:t>
                      </a:r>
                      <a:endParaRPr lang="zh-CN" sz="800" kern="100" dirty="0">
                        <a:solidFill>
                          <a:schemeClr val="accent1">
                            <a:lumMod val="50000"/>
                          </a:schemeClr>
                        </a:solidFill>
                        <a:effectLst/>
                        <a:latin typeface="Calibri"/>
                        <a:ea typeface="宋体"/>
                        <a:cs typeface="Times New Roman"/>
                      </a:endParaRP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100">
                          <a:solidFill>
                            <a:schemeClr val="accent1">
                              <a:lumMod val="50000"/>
                            </a:schemeClr>
                          </a:solidFill>
                          <a:effectLst/>
                          <a:latin typeface="Calibri"/>
                          <a:ea typeface="宋体"/>
                          <a:cs typeface="Times New Roman"/>
                        </a:rPr>
                        <a:t>中国石油、中国石化、中国建筑、上汽集团、贵州茅台、中国神华、万科</a:t>
                      </a:r>
                      <a:r>
                        <a:rPr lang="en-US" sz="800" kern="100">
                          <a:solidFill>
                            <a:schemeClr val="accent1">
                              <a:lumMod val="50000"/>
                            </a:schemeClr>
                          </a:solidFill>
                          <a:effectLst/>
                          <a:latin typeface="Calibri"/>
                          <a:ea typeface="宋体"/>
                          <a:cs typeface="Times New Roman"/>
                        </a:rPr>
                        <a:t>A</a:t>
                      </a:r>
                      <a:r>
                        <a:rPr lang="zh-CN" sz="800" kern="100">
                          <a:solidFill>
                            <a:schemeClr val="accent1">
                              <a:lumMod val="50000"/>
                            </a:schemeClr>
                          </a:solidFill>
                          <a:effectLst/>
                          <a:latin typeface="Calibri"/>
                          <a:ea typeface="宋体"/>
                          <a:cs typeface="Times New Roman"/>
                        </a:rPr>
                        <a:t>、恺英网络、华能国际、中国交建、中国铁建、保利地产、中国中铁、分众传媒、中国联通、美的集团、中国中车、格力电器、华电国际、大秦铁路、长江电力、国投电力、绿地控股、长安汽车、华域汽车、洋河股份、海螺水泥、国电电力、中国国航、中国电建、招商蛇口、浙能电力、长城汽车、华夏幸福、中国核电、五粮液、温氏股份、大唐发电、中国中冶、上港集团</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963">
                <a:tc vMerge="1">
                  <a:txBody>
                    <a:bodyPr/>
                    <a:lstStyle/>
                    <a:p>
                      <a:endParaRPr lang="zh-CN" altLang="en-US"/>
                    </a:p>
                  </a:txBody>
                  <a:tcPr/>
                </a:tc>
                <a:tc>
                  <a:txBody>
                    <a:bodyPr/>
                    <a:lstStyle/>
                    <a:p>
                      <a:pPr algn="l">
                        <a:spcAft>
                          <a:spcPts val="0"/>
                        </a:spcAft>
                      </a:pPr>
                      <a:r>
                        <a:rPr lang="en-US" sz="800" kern="100">
                          <a:solidFill>
                            <a:schemeClr val="accent1">
                              <a:lumMod val="50000"/>
                            </a:schemeClr>
                          </a:solidFill>
                          <a:effectLst/>
                          <a:latin typeface="Calibri"/>
                          <a:ea typeface="宋体"/>
                          <a:cs typeface="Times New Roman"/>
                        </a:rPr>
                        <a:t>2016</a:t>
                      </a:r>
                      <a:endParaRPr lang="zh-CN" sz="800" kern="100">
                        <a:solidFill>
                          <a:schemeClr val="accent1">
                            <a:lumMod val="50000"/>
                          </a:schemeClr>
                        </a:solidFill>
                        <a:effectLst/>
                        <a:latin typeface="Calibri"/>
                        <a:ea typeface="宋体"/>
                        <a:cs typeface="Times New Roman"/>
                      </a:endParaRP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800" kern="100" dirty="0">
                          <a:solidFill>
                            <a:schemeClr val="accent1">
                              <a:lumMod val="50000"/>
                            </a:schemeClr>
                          </a:solidFill>
                          <a:effectLst/>
                          <a:latin typeface="Calibri"/>
                          <a:ea typeface="宋体"/>
                          <a:cs typeface="Times New Roman"/>
                        </a:rPr>
                        <a:t>中国石化、中国石油、中国建筑、上汽集团、中国神华、贵州茅台、万科</a:t>
                      </a:r>
                      <a:r>
                        <a:rPr lang="en-US" sz="800" kern="100" dirty="0">
                          <a:solidFill>
                            <a:schemeClr val="accent1">
                              <a:lumMod val="50000"/>
                            </a:schemeClr>
                          </a:solidFill>
                          <a:effectLst/>
                          <a:latin typeface="Calibri"/>
                          <a:ea typeface="宋体"/>
                          <a:cs typeface="Times New Roman"/>
                        </a:rPr>
                        <a:t>A</a:t>
                      </a:r>
                      <a:r>
                        <a:rPr lang="zh-CN" sz="800" kern="100" dirty="0">
                          <a:solidFill>
                            <a:schemeClr val="accent1">
                              <a:lumMod val="50000"/>
                            </a:schemeClr>
                          </a:solidFill>
                          <a:effectLst/>
                          <a:latin typeface="Calibri"/>
                          <a:ea typeface="宋体"/>
                          <a:cs typeface="Times New Roman"/>
                        </a:rPr>
                        <a:t>、中国交建、长江电力、中国铁建、分众传媒、中国中铁、保利地产、美的集团、格力电器、华能国际、中油资本、恺英网络、绿地控股、吉比特、中国中车、招商蛇口、温氏股份、宝钢股份、中国电建、华域汽车、海螺水泥、中国国航、五矿资本、长安汽车、国电电力、国投电力、长城汽车、洋河股份、金地集团、商业城、比亚迪、华夏幸福、中国核电、南方航空</a:t>
                      </a:r>
                    </a:p>
                  </a:txBody>
                  <a:tcPr marL="19657" marR="1965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 name="TextBox 8"/>
          <p:cNvSpPr txBox="1"/>
          <p:nvPr/>
        </p:nvSpPr>
        <p:spPr>
          <a:xfrm>
            <a:off x="5292080" y="555526"/>
            <a:ext cx="1738337" cy="338554"/>
          </a:xfrm>
          <a:prstGeom prst="rect">
            <a:avLst/>
          </a:prstGeom>
          <a:noFill/>
        </p:spPr>
        <p:txBody>
          <a:bodyPr wrap="square" rtlCol="0">
            <a:spAutoFit/>
          </a:bodyPr>
          <a:lstStyle/>
          <a:p>
            <a:r>
              <a:rPr lang="zh-CN" altLang="zh-CN" sz="800" dirty="0">
                <a:solidFill>
                  <a:schemeClr val="accent1"/>
                </a:solidFill>
              </a:rPr>
              <a:t>表</a:t>
            </a:r>
            <a:r>
              <a:rPr lang="en-US" altLang="zh-CN" sz="800" dirty="0">
                <a:solidFill>
                  <a:schemeClr val="accent1"/>
                </a:solidFill>
              </a:rPr>
              <a:t>8-7  </a:t>
            </a:r>
            <a:r>
              <a:rPr lang="zh-CN" altLang="zh-CN" sz="800" dirty="0">
                <a:solidFill>
                  <a:schemeClr val="accent1"/>
                </a:solidFill>
              </a:rPr>
              <a:t>投资组合明细表</a:t>
            </a:r>
          </a:p>
          <a:p>
            <a:endParaRPr lang="zh-CN" altLang="en-US" sz="800" dirty="0">
              <a:solidFill>
                <a:schemeClr val="accent1"/>
              </a:solidFill>
            </a:endParaRPr>
          </a:p>
        </p:txBody>
      </p:sp>
    </p:spTree>
    <p:extLst>
      <p:ext uri="{BB962C8B-B14F-4D97-AF65-F5344CB8AC3E}">
        <p14:creationId xmlns:p14="http://schemas.microsoft.com/office/powerpoint/2010/main" val="335150219"/>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TotalTime>
  <Words>4262</Words>
  <Application>Microsoft Office PowerPoint</Application>
  <PresentationFormat>全屏显示(16:9)</PresentationFormat>
  <Paragraphs>395</Paragraphs>
  <Slides>9</Slides>
  <Notes>9</Notes>
  <HiddenSlides>0</HiddenSlides>
  <MMClips>0</MMClips>
  <ScaleCrop>false</ScaleCrop>
  <HeadingPairs>
    <vt:vector size="4" baseType="variant">
      <vt:variant>
        <vt:lpstr>主题</vt:lpstr>
      </vt:variant>
      <vt:variant>
        <vt:i4>1</vt:i4>
      </vt:variant>
      <vt:variant>
        <vt:lpstr>幻灯片标题</vt:lpstr>
      </vt:variant>
      <vt:variant>
        <vt:i4>9</vt:i4>
      </vt:variant>
    </vt:vector>
  </HeadingPairs>
  <TitlesOfParts>
    <vt:vector size="10" baseType="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suga</dc:creator>
  <cp:lastModifiedBy>suga</cp:lastModifiedBy>
  <cp:revision>28</cp:revision>
  <dcterms:created xsi:type="dcterms:W3CDTF">2019-11-29T13:48:01Z</dcterms:created>
  <dcterms:modified xsi:type="dcterms:W3CDTF">2019-11-30T12:55:04Z</dcterms:modified>
</cp:coreProperties>
</file>