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9">
  <p:sldMasterIdLst>
    <p:sldMasterId id="2147483648" r:id="rId1"/>
  </p:sldMasterIdLst>
  <p:notesMasterIdLst>
    <p:notesMasterId r:id="rId13"/>
  </p:notesMasterIdLst>
  <p:handoutMasterIdLst>
    <p:handoutMasterId r:id="rId14"/>
  </p:handoutMasterIdLst>
  <p:sldIdLst>
    <p:sldId id="828" r:id="rId2"/>
    <p:sldId id="914" r:id="rId3"/>
    <p:sldId id="855" r:id="rId4"/>
    <p:sldId id="928" r:id="rId5"/>
    <p:sldId id="922" r:id="rId6"/>
    <p:sldId id="934" r:id="rId7"/>
    <p:sldId id="935" r:id="rId8"/>
    <p:sldId id="927" r:id="rId9"/>
    <p:sldId id="938" r:id="rId10"/>
    <p:sldId id="954" r:id="rId11"/>
    <p:sldId id="940" r:id="rId12"/>
  </p:sldIdLst>
  <p:sldSz cx="12196763"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44" autoAdjust="0"/>
    <p:restoredTop sz="99815" autoAdjust="0"/>
  </p:normalViewPr>
  <p:slideViewPr>
    <p:cSldViewPr snapToObjects="1">
      <p:cViewPr varScale="1">
        <p:scale>
          <a:sx n="89" d="100"/>
          <a:sy n="89" d="100"/>
        </p:scale>
        <p:origin x="-222" y="-108"/>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t>‹#›</a:t>
            </a:fld>
            <a:endParaRPr lang="zh-CN" altLang="en-US"/>
          </a:p>
        </p:txBody>
      </p:sp>
    </p:spTree>
    <p:extLst>
      <p:ext uri="{BB962C8B-B14F-4D97-AF65-F5344CB8AC3E}">
        <p14:creationId xmlns:p14="http://schemas.microsoft.com/office/powerpoint/2010/main" val="93716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t>2020/1/12</a:t>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t>‹#›</a:t>
            </a:fld>
            <a:endParaRPr lang="en-US"/>
          </a:p>
        </p:txBody>
      </p:sp>
    </p:spTree>
    <p:extLst>
      <p:ext uri="{BB962C8B-B14F-4D97-AF65-F5344CB8AC3E}">
        <p14:creationId xmlns:p14="http://schemas.microsoft.com/office/powerpoint/2010/main" val="4178400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3</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4</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5</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11</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t>‹#›</a:t>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10" advTm="9437"/>
    </mc:Choice>
    <mc:Fallback xmlns="">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jpe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271773"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5.3.1 </a:t>
            </a:r>
            <a:r>
              <a:rPr lang="zh-CN" altLang="en-US" sz="2800" dirty="0" smtClean="0">
                <a:solidFill>
                  <a:schemeClr val="accent2"/>
                </a:solidFill>
                <a:latin typeface="微软雅黑" panose="020B0503020204020204" pitchFamily="34" charset="-122"/>
                <a:ea typeface="微软雅黑" panose="020B0503020204020204" pitchFamily="34" charset="-122"/>
              </a:rPr>
              <a:t>一元线性回归</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17" name="文本框 3"/>
          <p:cNvSpPr txBox="1">
            <a:spLocks noChangeArrowheads="1"/>
          </p:cNvSpPr>
          <p:nvPr/>
        </p:nvSpPr>
        <p:spPr bwMode="auto">
          <a:xfrm>
            <a:off x="140263" y="3849924"/>
            <a:ext cx="6283318" cy="191950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zh-CN" altLang="en-US" sz="2000" b="1" dirty="0" smtClean="0"/>
              <a:t>一元线性回归背景：</a:t>
            </a:r>
            <a:endParaRPr lang="en-US" altLang="zh-CN" sz="2000" b="1" dirty="0" smtClean="0"/>
          </a:p>
          <a:p>
            <a:r>
              <a:rPr lang="zh-CN" altLang="zh-CN" sz="1800" dirty="0" smtClean="0"/>
              <a:t>所谓</a:t>
            </a:r>
            <a:r>
              <a:rPr lang="zh-CN" altLang="zh-CN" sz="1800" dirty="0"/>
              <a:t>一元线性回归，就是自变量和因变量只有一个的线性相关关系模型。下面我们先从一个简单的引例开始，介绍一元线性回归模型的提出背景，进而给出其回归模型、回归方程、回归方程的参数估计和拟合优度等基本概念。</a:t>
            </a:r>
          </a:p>
        </p:txBody>
      </p:sp>
      <p:sp>
        <p:nvSpPr>
          <p:cNvPr id="8" name="文本框 3"/>
          <p:cNvSpPr txBox="1">
            <a:spLocks noChangeArrowheads="1"/>
          </p:cNvSpPr>
          <p:nvPr/>
        </p:nvSpPr>
        <p:spPr bwMode="auto">
          <a:xfrm>
            <a:off x="6583314" y="600829"/>
            <a:ext cx="5594325" cy="457048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en-US" altLang="zh-CN" sz="2000" dirty="0"/>
              <a:t>1.</a:t>
            </a:r>
            <a:r>
              <a:rPr lang="zh-CN" altLang="en-US" sz="2000" dirty="0"/>
              <a:t>引例：</a:t>
            </a:r>
            <a:endParaRPr lang="en-US" altLang="zh-CN" sz="2000" dirty="0"/>
          </a:p>
          <a:p>
            <a:pPr>
              <a:buNone/>
            </a:pPr>
            <a:r>
              <a:rPr lang="zh-CN" altLang="zh-CN" sz="1600" b="1" dirty="0"/>
              <a:t>有一则新闻：国家旅游局长表示，到</a:t>
            </a:r>
            <a:r>
              <a:rPr lang="en-US" altLang="zh-CN" sz="1600" b="1" dirty="0"/>
              <a:t>2020</a:t>
            </a:r>
            <a:r>
              <a:rPr lang="zh-CN" altLang="zh-CN" sz="1600" b="1" dirty="0"/>
              <a:t>年中国旅游业总收入将超过</a:t>
            </a:r>
            <a:r>
              <a:rPr lang="en-US" altLang="zh-CN" sz="1600" b="1" dirty="0"/>
              <a:t>3000</a:t>
            </a:r>
            <a:r>
              <a:rPr lang="zh-CN" altLang="zh-CN" sz="1600" b="1" dirty="0"/>
              <a:t>亿美元。那么他是如何做出这样的预测的呢？</a:t>
            </a:r>
          </a:p>
          <a:p>
            <a:pPr>
              <a:buNone/>
            </a:pPr>
            <a:r>
              <a:rPr lang="zh-CN" altLang="zh-CN" sz="1600" b="1" dirty="0"/>
              <a:t>旅游总收入（</a:t>
            </a:r>
            <a:r>
              <a:rPr lang="en-US" altLang="zh-CN" sz="1600" b="1" dirty="0"/>
              <a:t>Y</a:t>
            </a:r>
            <a:r>
              <a:rPr lang="zh-CN" altLang="zh-CN" sz="1600" b="1" dirty="0"/>
              <a:t>）</a:t>
            </a:r>
            <a:r>
              <a:rPr lang="en-US" altLang="zh-CN" sz="1600" b="1" dirty="0"/>
              <a:t>        </a:t>
            </a:r>
            <a:r>
              <a:rPr lang="zh-CN" altLang="zh-CN" sz="1600" b="1" dirty="0"/>
              <a:t>居民平均收入（</a:t>
            </a:r>
            <a:r>
              <a:rPr lang="en-US" altLang="zh-CN" sz="1600" b="1" dirty="0"/>
              <a:t>X</a:t>
            </a:r>
            <a:r>
              <a:rPr lang="zh-CN" altLang="zh-CN" sz="1600" b="1" dirty="0"/>
              <a:t>）……</a:t>
            </a:r>
          </a:p>
          <a:p>
            <a:pPr>
              <a:buNone/>
            </a:pPr>
            <a:r>
              <a:rPr lang="zh-CN" altLang="zh-CN" sz="1600" b="1" dirty="0"/>
              <a:t>身高预测问题：</a:t>
            </a:r>
          </a:p>
          <a:p>
            <a:pPr>
              <a:buNone/>
            </a:pPr>
            <a:r>
              <a:rPr lang="zh-CN" altLang="zh-CN" sz="1600" b="1" dirty="0"/>
              <a:t>子女的身高（</a:t>
            </a:r>
            <a:r>
              <a:rPr lang="en-US" altLang="zh-CN" sz="1600" b="1" dirty="0"/>
              <a:t>Y</a:t>
            </a:r>
            <a:r>
              <a:rPr lang="zh-CN" altLang="zh-CN" sz="1600" b="1" dirty="0"/>
              <a:t>）</a:t>
            </a:r>
            <a:r>
              <a:rPr lang="en-US" altLang="zh-CN" sz="1600" b="1" dirty="0"/>
              <a:t>     </a:t>
            </a:r>
            <a:r>
              <a:rPr lang="zh-CN" altLang="zh-CN" sz="1600" b="1" dirty="0"/>
              <a:t>父母的身高（</a:t>
            </a:r>
            <a:r>
              <a:rPr lang="en-US" altLang="zh-CN" sz="1600" b="1" dirty="0"/>
              <a:t>X</a:t>
            </a:r>
            <a:r>
              <a:rPr lang="zh-CN" altLang="zh-CN" sz="1600" b="1" dirty="0"/>
              <a:t>）</a:t>
            </a:r>
          </a:p>
          <a:p>
            <a:pPr>
              <a:buNone/>
            </a:pPr>
            <a:r>
              <a:rPr lang="zh-CN" altLang="zh-CN" sz="1600" b="1" dirty="0"/>
              <a:t>变量之间的相互关系，主要有三种：</a:t>
            </a:r>
          </a:p>
          <a:p>
            <a:pPr>
              <a:buNone/>
            </a:pPr>
            <a:r>
              <a:rPr lang="zh-CN" altLang="zh-CN" sz="1600" b="1" dirty="0"/>
              <a:t>（</a:t>
            </a:r>
            <a:r>
              <a:rPr lang="en-US" altLang="zh-CN" sz="1600" b="1" dirty="0"/>
              <a:t>1</a:t>
            </a:r>
            <a:r>
              <a:rPr lang="zh-CN" altLang="zh-CN" sz="1600" b="1" dirty="0"/>
              <a:t>）确定的函数关系</a:t>
            </a:r>
            <a:r>
              <a:rPr lang="en-US" altLang="zh-CN" sz="1600" b="1" dirty="0"/>
              <a:t>         Y=f</a:t>
            </a:r>
            <a:r>
              <a:rPr lang="zh-CN" altLang="zh-CN" sz="1600" b="1" dirty="0"/>
              <a:t>（</a:t>
            </a:r>
            <a:r>
              <a:rPr lang="en-US" altLang="zh-CN" sz="1600" b="1" dirty="0"/>
              <a:t>X</a:t>
            </a:r>
            <a:r>
              <a:rPr lang="zh-CN" altLang="zh-CN" sz="1600" b="1" dirty="0" smtClean="0"/>
              <a:t>）</a:t>
            </a:r>
            <a:endParaRPr lang="en-US" altLang="zh-CN" sz="1600" b="1" dirty="0" smtClean="0"/>
          </a:p>
          <a:p>
            <a:pPr>
              <a:buNone/>
            </a:pPr>
            <a:r>
              <a:rPr lang="zh-CN" altLang="zh-CN" sz="1600" b="1" dirty="0" smtClean="0"/>
              <a:t>（</a:t>
            </a:r>
            <a:r>
              <a:rPr lang="en-US" altLang="zh-CN" sz="1600" b="1" dirty="0"/>
              <a:t>2</a:t>
            </a:r>
            <a:r>
              <a:rPr lang="zh-CN" altLang="zh-CN" sz="1600" b="1" dirty="0"/>
              <a:t>）不确定的统计相关关系</a:t>
            </a:r>
            <a:r>
              <a:rPr lang="en-US" altLang="zh-CN" sz="1600" b="1" dirty="0"/>
              <a:t>   </a:t>
            </a:r>
            <a:endParaRPr lang="zh-CN" altLang="zh-CN" sz="1600" b="1" dirty="0"/>
          </a:p>
          <a:p>
            <a:pPr>
              <a:buNone/>
            </a:pPr>
            <a:r>
              <a:rPr lang="zh-CN" altLang="zh-CN" sz="1600" b="1" dirty="0"/>
              <a:t>（</a:t>
            </a:r>
            <a:r>
              <a:rPr lang="en-US" altLang="zh-CN" sz="1600" b="1" dirty="0"/>
              <a:t>3</a:t>
            </a:r>
            <a:r>
              <a:rPr lang="zh-CN" altLang="zh-CN" sz="1600" b="1" dirty="0"/>
              <a:t>）没有关系</a:t>
            </a:r>
            <a:r>
              <a:rPr lang="en-US" altLang="zh-CN" sz="1600" b="1" dirty="0"/>
              <a:t>               </a:t>
            </a:r>
            <a:r>
              <a:rPr lang="zh-CN" altLang="zh-CN" sz="1600" b="1" dirty="0"/>
              <a:t>不用分析</a:t>
            </a:r>
          </a:p>
          <a:p>
            <a:pPr>
              <a:buNone/>
            </a:pPr>
            <a:r>
              <a:rPr lang="zh-CN" altLang="zh-CN" sz="1600" b="1" dirty="0"/>
              <a:t>以上两种例子均属于第</a:t>
            </a:r>
            <a:r>
              <a:rPr lang="en-US" altLang="zh-CN" sz="1600" b="1" dirty="0"/>
              <a:t>2</a:t>
            </a:r>
            <a:r>
              <a:rPr lang="zh-CN" altLang="zh-CN" sz="1600" b="1" dirty="0"/>
              <a:t>种情况</a:t>
            </a:r>
            <a:r>
              <a:rPr lang="zh-CN" altLang="zh-CN" sz="1600" b="1" dirty="0" smtClean="0"/>
              <a:t>。</a:t>
            </a:r>
            <a:endParaRPr lang="zh-CN" altLang="zh-CN" sz="1600" b="1" dirty="0"/>
          </a:p>
        </p:txBody>
      </p:sp>
      <p:sp>
        <p:nvSpPr>
          <p:cNvPr id="2" name="TextBox 1"/>
          <p:cNvSpPr txBox="1"/>
          <p:nvPr/>
        </p:nvSpPr>
        <p:spPr>
          <a:xfrm>
            <a:off x="105423" y="600829"/>
            <a:ext cx="6318158" cy="324909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342900" indent="-342900">
              <a:lnSpc>
                <a:spcPct val="120000"/>
              </a:lnSpc>
              <a:spcBef>
                <a:spcPts val="1000"/>
              </a:spcBef>
              <a:buFont typeface="Arial" panose="020B0604020202020204" pitchFamily="34" charset="0"/>
              <a:buChar char="•"/>
            </a:pPr>
            <a:r>
              <a:rPr kumimoji="1" lang="zh-CN" altLang="en-US" sz="2000" b="1" dirty="0" smtClean="0">
                <a:solidFill>
                  <a:srgbClr val="595959"/>
                </a:solidFill>
                <a:ea typeface="微软雅黑" panose="020B0503020204020204" pitchFamily="34" charset="-122"/>
              </a:rPr>
              <a:t>线性回归背景：</a:t>
            </a:r>
            <a:endParaRPr kumimoji="1" lang="en-US" altLang="zh-CN" sz="2000" b="1" dirty="0" smtClean="0">
              <a:solidFill>
                <a:srgbClr val="595959"/>
              </a:solidFill>
              <a:ea typeface="微软雅黑" panose="020B0503020204020204" pitchFamily="34" charset="-122"/>
            </a:endParaRPr>
          </a:p>
          <a:p>
            <a:pPr marL="342900" indent="-342900">
              <a:lnSpc>
                <a:spcPct val="120000"/>
              </a:lnSpc>
              <a:spcBef>
                <a:spcPts val="1000"/>
              </a:spcBef>
              <a:buFont typeface="Arial" panose="020B0604020202020204" pitchFamily="34" charset="0"/>
              <a:buChar char="•"/>
            </a:pPr>
            <a:r>
              <a:rPr kumimoji="1" lang="zh-CN" altLang="zh-CN" dirty="0" smtClean="0">
                <a:solidFill>
                  <a:srgbClr val="595959"/>
                </a:solidFill>
                <a:ea typeface="微软雅黑" panose="020B0503020204020204" pitchFamily="34" charset="-122"/>
              </a:rPr>
              <a:t>在</a:t>
            </a:r>
            <a:r>
              <a:rPr kumimoji="1" lang="zh-CN" altLang="zh-CN" dirty="0">
                <a:solidFill>
                  <a:srgbClr val="595959"/>
                </a:solidFill>
                <a:ea typeface="微软雅黑" panose="020B0503020204020204" pitchFamily="34" charset="-122"/>
              </a:rPr>
              <a:t>数学上变量之间可以用确定的函数关系来表示是比较常见的一种方式。然而在实现应用中，还存在许多变量之间不能用确定的函数关系来表示的例子。前面已经介绍过变量之间可能存在着相关性，那么变量之间的相关关系如何来表示呢？本节将介绍变量之间存在线性相关关系的模型：线性回归模型。下面我们先介绍简单的一元线性回归，进而再拓展到较为复杂的多元线性回归。最后给出线性回归模型的</a:t>
            </a:r>
            <a:r>
              <a:rPr kumimoji="1" lang="en-US" altLang="zh-CN" dirty="0">
                <a:solidFill>
                  <a:srgbClr val="595959"/>
                </a:solidFill>
                <a:ea typeface="微软雅黑" panose="020B0503020204020204" pitchFamily="34" charset="-122"/>
              </a:rPr>
              <a:t>Python</a:t>
            </a:r>
            <a:r>
              <a:rPr kumimoji="1" lang="zh-CN" altLang="zh-CN" dirty="0">
                <a:solidFill>
                  <a:srgbClr val="595959"/>
                </a:solidFill>
                <a:ea typeface="微软雅黑" panose="020B0503020204020204" pitchFamily="34" charset="-122"/>
              </a:rPr>
              <a:t>实现方法。</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5.3.1 </a:t>
            </a:r>
            <a:r>
              <a:rPr lang="zh-CN" altLang="en-US" sz="2800" dirty="0" smtClean="0">
                <a:solidFill>
                  <a:schemeClr val="accent2"/>
                </a:solidFill>
                <a:latin typeface="微软雅黑" panose="020B0503020204020204" pitchFamily="34" charset="-122"/>
                <a:ea typeface="微软雅黑" panose="020B0503020204020204" pitchFamily="34" charset="-122"/>
              </a:rPr>
              <a:t>一元线性回归</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300467" y="601939"/>
            <a:ext cx="5788568" cy="219547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zh-CN" altLang="zh-CN" sz="2000" b="1" dirty="0"/>
              <a:t> </a:t>
            </a:r>
            <a:r>
              <a:rPr lang="en-US" altLang="zh-CN" sz="2000" b="1" dirty="0" smtClean="0"/>
              <a:t>2.</a:t>
            </a:r>
            <a:r>
              <a:rPr lang="zh-CN" altLang="zh-CN" sz="2000" b="1" dirty="0" smtClean="0"/>
              <a:t>回归模型</a:t>
            </a:r>
            <a:r>
              <a:rPr lang="en-US" altLang="zh-CN" sz="2000" b="1" dirty="0" smtClean="0"/>
              <a:t> </a:t>
            </a:r>
          </a:p>
          <a:p>
            <a:endParaRPr lang="zh-CN" altLang="zh-CN" sz="2000" dirty="0"/>
          </a:p>
          <a:p>
            <a:pPr>
              <a:buNone/>
            </a:pPr>
            <a:r>
              <a:rPr lang="en-US" altLang="zh-CN" sz="2000" dirty="0"/>
              <a:t>Y</a:t>
            </a:r>
            <a:r>
              <a:rPr lang="zh-CN" altLang="zh-CN" sz="2000" dirty="0"/>
              <a:t>因变量（随机变量），</a:t>
            </a:r>
            <a:r>
              <a:rPr lang="en-US" altLang="zh-CN" sz="2000" dirty="0"/>
              <a:t>x</a:t>
            </a:r>
            <a:r>
              <a:rPr lang="zh-CN" altLang="zh-CN" sz="2000" dirty="0"/>
              <a:t>为自变量（确定的变量），</a:t>
            </a:r>
            <a:r>
              <a:rPr lang="en-US" altLang="zh-CN" sz="2000" dirty="0"/>
              <a:t> </a:t>
            </a:r>
            <a:r>
              <a:rPr lang="en-US" altLang="zh-CN" sz="2000" dirty="0" smtClean="0"/>
              <a:t>         </a:t>
            </a:r>
            <a:r>
              <a:rPr lang="zh-CN" altLang="zh-CN" sz="2000" dirty="0" smtClean="0"/>
              <a:t>为</a:t>
            </a:r>
            <a:r>
              <a:rPr lang="zh-CN" altLang="zh-CN" sz="2000" dirty="0"/>
              <a:t>模型系数</a:t>
            </a:r>
            <a:r>
              <a:rPr lang="zh-CN" altLang="zh-CN" sz="2000" dirty="0" smtClean="0"/>
              <a:t>，</a:t>
            </a:r>
            <a:r>
              <a:rPr lang="en-US" altLang="zh-CN" sz="2000" dirty="0"/>
              <a:t> </a:t>
            </a:r>
            <a:r>
              <a:rPr lang="en-US" altLang="zh-CN" sz="2000" dirty="0" smtClean="0"/>
              <a:t>                  </a:t>
            </a:r>
            <a:r>
              <a:rPr lang="zh-CN" altLang="zh-CN" sz="2000" dirty="0" smtClean="0"/>
              <a:t>。</a:t>
            </a:r>
            <a:r>
              <a:rPr lang="zh-CN" altLang="zh-CN" sz="2000" dirty="0"/>
              <a:t>每给定一个</a:t>
            </a:r>
            <a:r>
              <a:rPr lang="en-US" altLang="zh-CN" sz="2000" dirty="0"/>
              <a:t>x</a:t>
            </a:r>
            <a:r>
              <a:rPr lang="zh-CN" altLang="zh-CN" sz="2000" dirty="0"/>
              <a:t>，得到</a:t>
            </a:r>
            <a:r>
              <a:rPr lang="en-US" altLang="zh-CN" sz="2000" dirty="0"/>
              <a:t>Y</a:t>
            </a:r>
            <a:r>
              <a:rPr lang="zh-CN" altLang="zh-CN" sz="2000" dirty="0"/>
              <a:t>的一个分布。</a:t>
            </a:r>
          </a:p>
        </p:txBody>
      </p:sp>
      <p:sp>
        <p:nvSpPr>
          <p:cNvPr id="16" name="文本框 7"/>
          <p:cNvSpPr txBox="1">
            <a:spLocks noChangeArrowheads="1"/>
          </p:cNvSpPr>
          <p:nvPr/>
        </p:nvSpPr>
        <p:spPr bwMode="auto">
          <a:xfrm>
            <a:off x="300467" y="2833915"/>
            <a:ext cx="5788568" cy="30623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en-US" altLang="zh-CN" sz="2000" b="1" dirty="0" smtClean="0"/>
              <a:t>3.</a:t>
            </a:r>
            <a:r>
              <a:rPr lang="zh-CN" altLang="en-US" sz="2000" b="1" dirty="0"/>
              <a:t>回归方程</a:t>
            </a:r>
            <a:endParaRPr lang="en-US" altLang="zh-CN" sz="2000" b="1" dirty="0"/>
          </a:p>
          <a:p>
            <a:pPr>
              <a:buNone/>
            </a:pPr>
            <a:r>
              <a:rPr lang="zh-CN" altLang="zh-CN" sz="2000" dirty="0" smtClean="0"/>
              <a:t>对</a:t>
            </a:r>
            <a:r>
              <a:rPr lang="zh-CN" altLang="zh-CN" sz="2000" dirty="0"/>
              <a:t>回归模型两边取数学期望，得到回归方程如下</a:t>
            </a:r>
            <a:r>
              <a:rPr lang="zh-CN" altLang="zh-CN" sz="2000" dirty="0" smtClean="0"/>
              <a:t>：</a:t>
            </a:r>
            <a:endParaRPr lang="en-US" altLang="zh-CN" sz="2000" dirty="0" smtClean="0"/>
          </a:p>
          <a:p>
            <a:pPr>
              <a:buNone/>
            </a:pPr>
            <a:r>
              <a:rPr lang="en-US" altLang="zh-CN" sz="2000" dirty="0"/>
              <a:t> </a:t>
            </a:r>
            <a:r>
              <a:rPr lang="en-US" altLang="zh-CN" sz="2000" dirty="0" smtClean="0"/>
              <a:t>                                </a:t>
            </a:r>
            <a:r>
              <a:rPr lang="zh-CN" altLang="en-US" sz="2000" dirty="0" smtClean="0"/>
              <a:t>，</a:t>
            </a:r>
            <a:r>
              <a:rPr lang="zh-CN" altLang="zh-CN" sz="2000" dirty="0" smtClean="0"/>
              <a:t>每</a:t>
            </a:r>
            <a:r>
              <a:rPr lang="zh-CN" altLang="zh-CN" sz="2000" dirty="0"/>
              <a:t>给定一个</a:t>
            </a:r>
            <a:r>
              <a:rPr lang="en-US" altLang="zh-CN" sz="2000" dirty="0"/>
              <a:t>x</a:t>
            </a:r>
            <a:r>
              <a:rPr lang="zh-CN" altLang="zh-CN" sz="2000" dirty="0"/>
              <a:t>，便有</a:t>
            </a:r>
            <a:r>
              <a:rPr lang="en-US" altLang="zh-CN" sz="2000" dirty="0"/>
              <a:t>Y</a:t>
            </a:r>
            <a:r>
              <a:rPr lang="zh-CN" altLang="zh-CN" sz="2000" dirty="0"/>
              <a:t>的一个数学期望值与之对应，他们是一个函数关系。 一般地，通过样本观测数据，可以估计出以上回归方程的参数，其一般形式为</a:t>
            </a:r>
            <a:r>
              <a:rPr lang="zh-CN" altLang="zh-CN" sz="2000" dirty="0" smtClean="0"/>
              <a:t>：</a:t>
            </a:r>
            <a:r>
              <a:rPr lang="en-US" altLang="zh-CN" sz="2000" dirty="0" smtClean="0"/>
              <a:t>          </a:t>
            </a:r>
            <a:endParaRPr lang="zh-CN" altLang="zh-CN" sz="2000" dirty="0"/>
          </a:p>
          <a:p>
            <a:r>
              <a:rPr lang="zh-CN" altLang="zh-CN" sz="2000" dirty="0"/>
              <a:t>其中</a:t>
            </a:r>
            <a:r>
              <a:rPr lang="en-US" altLang="zh-CN" sz="2000" dirty="0"/>
              <a:t> </a:t>
            </a:r>
            <a:r>
              <a:rPr lang="en-US" altLang="zh-CN" sz="2000" dirty="0" smtClean="0"/>
              <a:t>                   </a:t>
            </a:r>
            <a:r>
              <a:rPr lang="zh-CN" altLang="zh-CN" sz="2000" dirty="0" smtClean="0"/>
              <a:t>为</a:t>
            </a:r>
            <a:r>
              <a:rPr lang="zh-CN" altLang="zh-CN" sz="2000" dirty="0"/>
              <a:t>对期望值及两个参数的估计。</a:t>
            </a:r>
          </a:p>
        </p:txBody>
      </p:sp>
      <p:pic>
        <p:nvPicPr>
          <p:cNvPr id="103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65" y="1052736"/>
            <a:ext cx="174876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5047" y="1974848"/>
            <a:ext cx="647869" cy="358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9"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1620" y="1939996"/>
            <a:ext cx="1304593" cy="42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0" name="Picture 1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7254" y="3782867"/>
            <a:ext cx="2063453"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2"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8475" y="4949008"/>
            <a:ext cx="18954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596" y="5477192"/>
            <a:ext cx="1244709"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6372994" y="606521"/>
            <a:ext cx="5518095" cy="600164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lnSpc>
                <a:spcPct val="120000"/>
              </a:lnSpc>
              <a:spcBef>
                <a:spcPts val="1000"/>
              </a:spcBef>
              <a:buFont typeface="Arial" panose="020B0604020202020204" pitchFamily="34" charset="0"/>
              <a:buChar char="•"/>
            </a:pPr>
            <a:r>
              <a:rPr kumimoji="1" lang="en-US" altLang="zh-CN" sz="2000" b="1" dirty="0">
                <a:solidFill>
                  <a:srgbClr val="595959"/>
                </a:solidFill>
                <a:ea typeface="微软雅黑" panose="020B0503020204020204" pitchFamily="34" charset="-122"/>
              </a:rPr>
              <a:t>4.</a:t>
            </a:r>
            <a:r>
              <a:rPr kumimoji="1" lang="zh-CN" altLang="zh-CN" sz="2000" b="1" dirty="0">
                <a:solidFill>
                  <a:srgbClr val="595959"/>
                </a:solidFill>
                <a:ea typeface="微软雅黑" panose="020B0503020204020204" pitchFamily="34" charset="-122"/>
              </a:rPr>
              <a:t>回归方程参数估计</a:t>
            </a:r>
          </a:p>
          <a:p>
            <a:r>
              <a:rPr lang="zh-CN" altLang="zh-CN" dirty="0"/>
              <a:t>对总体</a:t>
            </a:r>
            <a:r>
              <a:rPr lang="en-US" altLang="zh-CN" dirty="0"/>
              <a:t>(</a:t>
            </a:r>
            <a:r>
              <a:rPr lang="en-US" altLang="zh-CN" dirty="0" err="1"/>
              <a:t>x,Y</a:t>
            </a:r>
            <a:r>
              <a:rPr lang="en-US" altLang="zh-CN" dirty="0"/>
              <a:t>)</a:t>
            </a:r>
            <a:r>
              <a:rPr lang="zh-CN" altLang="zh-CN" dirty="0"/>
              <a:t>进行</a:t>
            </a:r>
            <a:r>
              <a:rPr lang="en-US" altLang="zh-CN" dirty="0"/>
              <a:t>n</a:t>
            </a:r>
            <a:r>
              <a:rPr lang="zh-CN" altLang="zh-CN" dirty="0"/>
              <a:t>次独立观测，获得</a:t>
            </a:r>
            <a:r>
              <a:rPr lang="en-US" altLang="zh-CN" dirty="0"/>
              <a:t>n</a:t>
            </a:r>
            <a:r>
              <a:rPr lang="zh-CN" altLang="zh-CN" dirty="0"/>
              <a:t>个样本观测数据：</a:t>
            </a:r>
            <a:r>
              <a:rPr lang="en-US" altLang="zh-CN" dirty="0"/>
              <a:t>(x1,y1),(x2,y2),…,(</a:t>
            </a:r>
            <a:r>
              <a:rPr lang="en-US" altLang="zh-CN" dirty="0" err="1"/>
              <a:t>xn,yn</a:t>
            </a:r>
            <a:r>
              <a:rPr lang="en-US" altLang="zh-CN" dirty="0"/>
              <a:t>)</a:t>
            </a:r>
            <a:r>
              <a:rPr lang="zh-CN" altLang="zh-CN" dirty="0"/>
              <a:t>，将其绘制在图像上，如下图所示</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endParaRPr lang="en-US" altLang="zh-CN" dirty="0"/>
          </a:p>
          <a:p>
            <a:r>
              <a:rPr lang="zh-CN" altLang="zh-CN" dirty="0"/>
              <a:t>如何对这些观测值给出最合适的拟合直线呢？——最小二乘法，其基本思想是真实观测值与预测值（均值）总的偏差平方和最小，即</a:t>
            </a:r>
            <a:r>
              <a:rPr lang="en-US" altLang="zh-CN" dirty="0"/>
              <a:t> </a:t>
            </a:r>
            <a:endParaRPr lang="en-US" altLang="zh-CN" dirty="0" smtClean="0"/>
          </a:p>
          <a:p>
            <a:r>
              <a:rPr lang="en-US" altLang="zh-CN" dirty="0" smtClean="0"/>
              <a:t>  </a:t>
            </a:r>
          </a:p>
          <a:p>
            <a:endParaRPr lang="zh-CN" altLang="zh-CN" dirty="0"/>
          </a:p>
          <a:p>
            <a:r>
              <a:rPr lang="zh-CN" altLang="zh-CN" dirty="0"/>
              <a:t>求解以上最优化问题，即得到</a:t>
            </a:r>
            <a:r>
              <a:rPr lang="zh-CN" altLang="zh-CN" dirty="0" smtClean="0"/>
              <a:t>：</a:t>
            </a:r>
            <a:endParaRPr lang="zh-CN" altLang="zh-CN" dirty="0"/>
          </a:p>
          <a:p>
            <a:r>
              <a:rPr lang="en-US" altLang="zh-CN" dirty="0"/>
              <a:t>                     </a:t>
            </a:r>
            <a:endParaRPr lang="en-US" altLang="zh-CN" dirty="0" smtClean="0"/>
          </a:p>
          <a:p>
            <a:r>
              <a:rPr lang="zh-CN" altLang="zh-CN" dirty="0" smtClean="0"/>
              <a:t>其中：</a:t>
            </a:r>
            <a:endParaRPr lang="en-US" altLang="zh-CN" dirty="0" smtClean="0"/>
          </a:p>
          <a:p>
            <a:endParaRPr lang="en-US" altLang="zh-CN" dirty="0"/>
          </a:p>
          <a:p>
            <a:endParaRPr lang="zh-CN" altLang="zh-CN" dirty="0"/>
          </a:p>
          <a:p>
            <a:r>
              <a:rPr lang="zh-CN" altLang="zh-CN" dirty="0"/>
              <a:t>于是就得到了基于经验的回归方程</a:t>
            </a:r>
            <a:r>
              <a:rPr lang="zh-CN" altLang="zh-CN" dirty="0" smtClean="0"/>
              <a:t>：</a:t>
            </a:r>
            <a:endParaRPr lang="zh-CN" altLang="zh-CN" dirty="0"/>
          </a:p>
        </p:txBody>
      </p:sp>
      <p:pic>
        <p:nvPicPr>
          <p:cNvPr id="30" name="图片 29" descr="https://p1.ssl.qhmsg.com/t0163a4d12d813d33b3.jpg"/>
          <p:cNvPicPr/>
          <p:nvPr/>
        </p:nvPicPr>
        <p:blipFill>
          <a:blip r:embed="rId9" cstate="print">
            <a:extLst>
              <a:ext uri="{28A0092B-C50C-407E-A947-70E740481C1C}">
                <a14:useLocalDpi xmlns:a14="http://schemas.microsoft.com/office/drawing/2010/main" val="0"/>
              </a:ext>
            </a:extLst>
          </a:blip>
          <a:srcRect/>
          <a:stretch>
            <a:fillRect/>
          </a:stretch>
        </p:blipFill>
        <p:spPr>
          <a:xfrm>
            <a:off x="8690669" y="1556792"/>
            <a:ext cx="2844317" cy="1656893"/>
          </a:xfrm>
          <a:prstGeom prst="rect">
            <a:avLst/>
          </a:prstGeom>
          <a:noFill/>
          <a:ln>
            <a:noFill/>
          </a:ln>
        </p:spPr>
      </p:pic>
      <p:pic>
        <p:nvPicPr>
          <p:cNvPr id="1044"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0429" y="4263287"/>
            <a:ext cx="3096343"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57294" y="4434737"/>
            <a:ext cx="213379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76400" y="5272920"/>
            <a:ext cx="4581525" cy="827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10145" y="6025176"/>
            <a:ext cx="1647780" cy="57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5.3.1 </a:t>
            </a:r>
            <a:r>
              <a:rPr lang="zh-CN" altLang="en-US" sz="2800" dirty="0" smtClean="0">
                <a:solidFill>
                  <a:schemeClr val="accent2"/>
                </a:solidFill>
                <a:latin typeface="微软雅黑" panose="020B0503020204020204" pitchFamily="34" charset="-122"/>
                <a:ea typeface="微软雅黑" panose="020B0503020204020204" pitchFamily="34" charset="-122"/>
              </a:rPr>
              <a:t>一元线性回归</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13" name="文本框 7"/>
          <p:cNvSpPr txBox="1">
            <a:spLocks noChangeArrowheads="1"/>
          </p:cNvSpPr>
          <p:nvPr/>
        </p:nvSpPr>
        <p:spPr bwMode="auto">
          <a:xfrm>
            <a:off x="68255" y="641149"/>
            <a:ext cx="11862774" cy="5608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en-US" altLang="zh-CN" b="1" dirty="0"/>
              <a:t>5</a:t>
            </a:r>
            <a:r>
              <a:rPr lang="zh-CN" altLang="zh-CN" b="1" dirty="0"/>
              <a:t>．回归方程拟合优度</a:t>
            </a:r>
            <a:endParaRPr lang="zh-CN" altLang="zh-CN" dirty="0"/>
          </a:p>
          <a:p>
            <a:r>
              <a:rPr lang="zh-CN" altLang="zh-CN" dirty="0"/>
              <a:t>经过前面的步骤我们获得了线性回归方程，那么这个回归方程的拟合程度如何？能不能利用这个方程进行预测？可以通过拟合优度来进行判断。在介绍拟合优度概念之前，先介绍几个概念：总离差平方和、回归平方和、残差平方和，其计算公式分别如下：</a:t>
            </a:r>
          </a:p>
          <a:p>
            <a:r>
              <a:rPr lang="en-US" altLang="zh-CN" dirty="0"/>
              <a:t>  </a:t>
            </a:r>
            <a:r>
              <a:rPr lang="en-US" altLang="zh-CN" dirty="0" smtClean="0"/>
              <a:t>                             ,                                ,</a:t>
            </a:r>
            <a:endParaRPr lang="zh-CN" altLang="zh-CN" dirty="0"/>
          </a:p>
          <a:p>
            <a:r>
              <a:rPr lang="zh-CN" altLang="zh-CN" dirty="0"/>
              <a:t>可以证明：</a:t>
            </a:r>
            <a:r>
              <a:rPr lang="en-US" altLang="zh-CN" dirty="0"/>
              <a:t> </a:t>
            </a:r>
            <a:r>
              <a:rPr lang="zh-CN" altLang="zh-CN" dirty="0"/>
              <a:t>。</a:t>
            </a:r>
            <a:r>
              <a:rPr lang="en-US" altLang="zh-CN" dirty="0"/>
              <a:t> </a:t>
            </a:r>
            <a:r>
              <a:rPr lang="zh-CN" altLang="zh-CN" dirty="0"/>
              <a:t>取不同的值</a:t>
            </a:r>
            <a:r>
              <a:rPr lang="en-US" altLang="zh-CN" dirty="0"/>
              <a:t> </a:t>
            </a:r>
            <a:r>
              <a:rPr lang="zh-CN" altLang="zh-CN" dirty="0"/>
              <a:t>必然不同，故</a:t>
            </a:r>
            <a:r>
              <a:rPr lang="en-US" altLang="zh-CN" dirty="0"/>
              <a:t>RSS</a:t>
            </a:r>
            <a:r>
              <a:rPr lang="zh-CN" altLang="zh-CN" dirty="0"/>
              <a:t>是由于</a:t>
            </a:r>
            <a:r>
              <a:rPr lang="en-US" altLang="zh-CN" dirty="0"/>
              <a:t>Y</a:t>
            </a:r>
            <a:r>
              <a:rPr lang="zh-CN" altLang="zh-CN" dirty="0"/>
              <a:t>与</a:t>
            </a:r>
            <a:r>
              <a:rPr lang="en-US" altLang="zh-CN" dirty="0"/>
              <a:t>X</a:t>
            </a:r>
            <a:r>
              <a:rPr lang="zh-CN" altLang="zh-CN" dirty="0"/>
              <a:t>有显著线性关系时，</a:t>
            </a:r>
            <a:r>
              <a:rPr lang="en-US" altLang="zh-CN" dirty="0"/>
              <a:t>X</a:t>
            </a:r>
            <a:r>
              <a:rPr lang="zh-CN" altLang="zh-CN" dirty="0"/>
              <a:t>取值不同而引起</a:t>
            </a:r>
            <a:r>
              <a:rPr lang="en-US" altLang="zh-CN" dirty="0"/>
              <a:t>Y</a:t>
            </a:r>
            <a:r>
              <a:rPr lang="zh-CN" altLang="zh-CN" dirty="0"/>
              <a:t>的变化。</a:t>
            </a:r>
            <a:r>
              <a:rPr lang="en-US" altLang="zh-CN" dirty="0"/>
              <a:t>ESS</a:t>
            </a:r>
            <a:r>
              <a:rPr lang="zh-CN" altLang="zh-CN" dirty="0"/>
              <a:t>是由于</a:t>
            </a:r>
            <a:r>
              <a:rPr lang="en-US" altLang="zh-CN" dirty="0"/>
              <a:t>Y</a:t>
            </a:r>
            <a:r>
              <a:rPr lang="zh-CN" altLang="zh-CN" dirty="0"/>
              <a:t>与</a:t>
            </a:r>
            <a:r>
              <a:rPr lang="en-US" altLang="zh-CN" dirty="0"/>
              <a:t>X</a:t>
            </a:r>
            <a:r>
              <a:rPr lang="zh-CN" altLang="zh-CN" dirty="0"/>
              <a:t>可能不是具有明显的线性关系及其他方面的因素产生的误差。如果</a:t>
            </a:r>
            <a:r>
              <a:rPr lang="en-US" altLang="zh-CN" dirty="0"/>
              <a:t>RSS</a:t>
            </a:r>
            <a:r>
              <a:rPr lang="zh-CN" altLang="zh-CN" dirty="0"/>
              <a:t>远远大于</a:t>
            </a:r>
            <a:r>
              <a:rPr lang="en-US" altLang="zh-CN" dirty="0"/>
              <a:t>ESS</a:t>
            </a:r>
            <a:r>
              <a:rPr lang="zh-CN" altLang="zh-CN" dirty="0"/>
              <a:t>，说明是什么？说明是回归的线性关系显著，可以用一个指标公式来计算</a:t>
            </a:r>
            <a:r>
              <a:rPr lang="zh-CN" altLang="zh-CN" dirty="0" smtClean="0"/>
              <a:t>：</a:t>
            </a:r>
            <a:endParaRPr lang="en-US" altLang="zh-CN" dirty="0" smtClean="0"/>
          </a:p>
          <a:p>
            <a:endParaRPr lang="zh-CN" altLang="zh-CN" dirty="0"/>
          </a:p>
          <a:p>
            <a:r>
              <a:rPr lang="zh-CN" altLang="zh-CN" dirty="0"/>
              <a:t>称为拟合优度（判定系数），值越大表明直线拟合程度越好。</a:t>
            </a:r>
          </a:p>
        </p:txBody>
      </p:sp>
      <p:sp>
        <p:nvSpPr>
          <p:cNvPr id="5" name="Rectangle 7"/>
          <p:cNvSpPr>
            <a:spLocks noChangeArrowheads="1"/>
          </p:cNvSpPr>
          <p:nvPr/>
        </p:nvSpPr>
        <p:spPr bwMode="auto">
          <a:xfrm>
            <a:off x="0" y="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08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741" y="2547973"/>
            <a:ext cx="2376264"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5530" y="2547973"/>
            <a:ext cx="2376787"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6"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761" y="2491009"/>
            <a:ext cx="2114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7"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4085" y="4797152"/>
            <a:ext cx="11620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59197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5.3.2 </a:t>
            </a:r>
            <a:r>
              <a:rPr lang="zh-CN" altLang="en-US" sz="2800" dirty="0">
                <a:solidFill>
                  <a:schemeClr val="accent2"/>
                </a:solidFill>
                <a:latin typeface="微软雅黑" panose="020B0503020204020204" pitchFamily="34" charset="-122"/>
                <a:ea typeface="微软雅黑" panose="020B0503020204020204" pitchFamily="34" charset="-122"/>
              </a:rPr>
              <a:t>多元线性回归</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17" name="文本框 7"/>
          <p:cNvSpPr txBox="1">
            <a:spLocks noChangeArrowheads="1"/>
          </p:cNvSpPr>
          <p:nvPr/>
        </p:nvSpPr>
        <p:spPr bwMode="auto">
          <a:xfrm>
            <a:off x="68255" y="641149"/>
            <a:ext cx="11862774" cy="1771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zh-CN" altLang="zh-CN" sz="2000" dirty="0"/>
              <a:t>前面介绍了只有一个自变量和一个因变量的一元线性回归模型，然而在现实中自变量通常包含有多个，这时称它为多元线性回归模型。下面我们给出多元线性回归模型、回归方程、回归方程参数估计和拟合优度等基本概念</a:t>
            </a:r>
            <a:r>
              <a:rPr lang="zh-CN" altLang="zh-CN" sz="2000" dirty="0" smtClean="0"/>
              <a:t>。</a:t>
            </a:r>
          </a:p>
          <a:p>
            <a:endParaRPr lang="zh-CN" altLang="zh-CN" dirty="0"/>
          </a:p>
        </p:txBody>
      </p:sp>
      <p:sp>
        <p:nvSpPr>
          <p:cNvPr id="5" name="TextBox 4"/>
          <p:cNvSpPr txBox="1"/>
          <p:nvPr/>
        </p:nvSpPr>
        <p:spPr>
          <a:xfrm>
            <a:off x="6792" y="1916832"/>
            <a:ext cx="9043918" cy="4801314"/>
          </a:xfrm>
          <a:prstGeom prst="rect">
            <a:avLst/>
          </a:prstGeom>
          <a:noFill/>
        </p:spPr>
        <p:txBody>
          <a:bodyPr wrap="square" rtlCol="0">
            <a:spAutoFit/>
          </a:bodyPr>
          <a:lstStyle/>
          <a:p>
            <a:r>
              <a:rPr lang="en-US" altLang="zh-CN" b="1" dirty="0"/>
              <a:t>1.</a:t>
            </a:r>
            <a:r>
              <a:rPr lang="zh-CN" altLang="zh-CN" b="1" dirty="0"/>
              <a:t>多元线性回归</a:t>
            </a:r>
            <a:r>
              <a:rPr lang="zh-CN" altLang="zh-CN" b="1" dirty="0" smtClean="0"/>
              <a:t>模型</a:t>
            </a:r>
            <a:endParaRPr lang="en-US" altLang="zh-CN" b="1" dirty="0" smtClean="0"/>
          </a:p>
          <a:p>
            <a:endParaRPr lang="en-US" altLang="zh-CN" b="1" dirty="0"/>
          </a:p>
          <a:p>
            <a:r>
              <a:rPr lang="zh-CN" altLang="zh-CN" dirty="0"/>
              <a:t>对于总体</a:t>
            </a:r>
            <a:r>
              <a:rPr lang="en-US" altLang="zh-CN" dirty="0"/>
              <a:t> </a:t>
            </a:r>
            <a:r>
              <a:rPr lang="zh-CN" altLang="zh-CN" dirty="0"/>
              <a:t>的</a:t>
            </a:r>
            <a:r>
              <a:rPr lang="en-US" altLang="zh-CN" dirty="0"/>
              <a:t>n</a:t>
            </a:r>
            <a:r>
              <a:rPr lang="zh-CN" altLang="zh-CN" dirty="0"/>
              <a:t>个观测值</a:t>
            </a:r>
            <a:r>
              <a:rPr lang="zh-CN" altLang="zh-CN" dirty="0" smtClean="0"/>
              <a:t>：</a:t>
            </a:r>
            <a:endParaRPr lang="en-US" altLang="zh-CN" dirty="0" smtClean="0"/>
          </a:p>
          <a:p>
            <a:endParaRPr lang="en-US" altLang="zh-CN" dirty="0" smtClean="0"/>
          </a:p>
          <a:p>
            <a:endParaRPr lang="en-US" altLang="zh-CN" dirty="0"/>
          </a:p>
          <a:p>
            <a:r>
              <a:rPr lang="zh-CN" altLang="zh-CN" dirty="0"/>
              <a:t>它满足</a:t>
            </a:r>
            <a:r>
              <a:rPr lang="zh-CN" altLang="zh-CN" dirty="0" smtClean="0"/>
              <a:t>式：</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其中</a:t>
            </a:r>
            <a:r>
              <a:rPr lang="en-US" altLang="zh-CN" dirty="0" smtClean="0"/>
              <a:t>        </a:t>
            </a:r>
            <a:r>
              <a:rPr lang="zh-CN" altLang="zh-CN" dirty="0" smtClean="0"/>
              <a:t>相互</a:t>
            </a:r>
            <a:r>
              <a:rPr lang="zh-CN" altLang="zh-CN" dirty="0"/>
              <a:t>独立，且设</a:t>
            </a:r>
            <a:r>
              <a:rPr lang="en-US" altLang="zh-CN" dirty="0"/>
              <a:t> </a:t>
            </a:r>
            <a:r>
              <a:rPr lang="zh-CN" altLang="zh-CN" dirty="0" smtClean="0"/>
              <a:t>，</a:t>
            </a:r>
            <a:endParaRPr lang="en-US" altLang="zh-CN" dirty="0" smtClean="0"/>
          </a:p>
          <a:p>
            <a:r>
              <a:rPr lang="zh-CN" altLang="zh-CN" dirty="0" smtClean="0"/>
              <a:t>记</a:t>
            </a:r>
            <a:endParaRPr lang="zh-CN" altLang="zh-CN" dirty="0"/>
          </a:p>
          <a:p>
            <a:r>
              <a:rPr lang="en-US" altLang="zh-CN" dirty="0" smtClean="0"/>
              <a:t> </a:t>
            </a:r>
            <a:endParaRPr lang="zh-CN" altLang="zh-CN" dirty="0"/>
          </a:p>
          <a:p>
            <a:r>
              <a:rPr lang="en-US" altLang="zh-CN" dirty="0"/>
              <a:t> </a:t>
            </a:r>
            <a:r>
              <a:rPr lang="en-US" altLang="zh-CN" dirty="0" smtClean="0"/>
              <a:t>                     </a:t>
            </a:r>
          </a:p>
          <a:p>
            <a:endParaRPr lang="en-US" altLang="zh-CN" b="1" dirty="0"/>
          </a:p>
          <a:p>
            <a:r>
              <a:rPr lang="en-US" altLang="zh-CN" b="1" dirty="0" smtClean="0"/>
              <a:t>                          ,                                                ,                                 ,</a:t>
            </a:r>
          </a:p>
          <a:p>
            <a:endParaRPr lang="zh-CN" altLang="zh-CN" dirty="0"/>
          </a:p>
        </p:txBody>
      </p:sp>
      <p:pic>
        <p:nvPicPr>
          <p:cNvPr id="4131"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05" y="2266891"/>
            <a:ext cx="474994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2"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35" y="2728913"/>
            <a:ext cx="475001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3"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4523" y="3195638"/>
            <a:ext cx="374173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4"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674" y="4639746"/>
            <a:ext cx="489849" cy="413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5" name="Picture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3354" y="4639746"/>
            <a:ext cx="2694564" cy="43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6" name="Picture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088" y="5018256"/>
            <a:ext cx="1709281" cy="13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7" name="Picture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5763" y="5071050"/>
            <a:ext cx="2680490" cy="1382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8" name="Picture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78020" y="5071051"/>
            <a:ext cx="1944215" cy="138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39" name="Picture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66533" y="5071051"/>
            <a:ext cx="1584176" cy="1299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5.3.2 </a:t>
            </a:r>
            <a:r>
              <a:rPr lang="zh-CN" altLang="en-US" sz="2800" dirty="0">
                <a:solidFill>
                  <a:schemeClr val="accent2"/>
                </a:solidFill>
                <a:latin typeface="微软雅黑" panose="020B0503020204020204" pitchFamily="34" charset="-122"/>
                <a:ea typeface="微软雅黑" panose="020B0503020204020204" pitchFamily="34" charset="-122"/>
              </a:rPr>
              <a:t>多元线性回归</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2" name="Rectangle 6"/>
          <p:cNvSpPr>
            <a:spLocks noChangeArrowheads="1"/>
          </p:cNvSpPr>
          <p:nvPr/>
        </p:nvSpPr>
        <p:spPr bwMode="auto">
          <a:xfrm>
            <a:off x="0" y="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8"/>
          <p:cNvSpPr>
            <a:spLocks noChangeArrowheads="1"/>
          </p:cNvSpPr>
          <p:nvPr/>
        </p:nvSpPr>
        <p:spPr bwMode="auto">
          <a:xfrm>
            <a:off x="0" y="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171652" y="2945964"/>
            <a:ext cx="6502657" cy="317009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2000" b="1" dirty="0"/>
              <a:t>3</a:t>
            </a:r>
            <a:r>
              <a:rPr lang="zh-CN" altLang="en-US" sz="2000" b="1" dirty="0"/>
              <a:t>．多元线性回归方程参数估计</a:t>
            </a:r>
          </a:p>
          <a:p>
            <a:r>
              <a:rPr lang="zh-CN" altLang="en-US" dirty="0"/>
              <a:t> </a:t>
            </a:r>
            <a:r>
              <a:rPr lang="zh-CN" altLang="en-US" dirty="0" smtClean="0"/>
              <a:t>      的</a:t>
            </a:r>
            <a:r>
              <a:rPr lang="zh-CN" altLang="en-US" dirty="0"/>
              <a:t>参数估计（最小二乘法，过程略）为：</a:t>
            </a:r>
          </a:p>
          <a:p>
            <a:r>
              <a:rPr lang="zh-CN" altLang="en-US" dirty="0"/>
              <a:t>          </a:t>
            </a:r>
          </a:p>
          <a:p>
            <a:r>
              <a:rPr lang="zh-CN" altLang="en-US" dirty="0"/>
              <a:t> </a:t>
            </a:r>
            <a:r>
              <a:rPr lang="zh-CN" altLang="en-US" dirty="0" smtClean="0"/>
              <a:t>      </a:t>
            </a:r>
            <a:endParaRPr lang="en-US" altLang="zh-CN" dirty="0" smtClean="0"/>
          </a:p>
          <a:p>
            <a:r>
              <a:rPr lang="en-US" altLang="zh-CN" dirty="0"/>
              <a:t> </a:t>
            </a:r>
            <a:r>
              <a:rPr lang="en-US" altLang="zh-CN" dirty="0" smtClean="0"/>
              <a:t>      </a:t>
            </a:r>
            <a:r>
              <a:rPr lang="zh-CN" altLang="en-US" dirty="0" smtClean="0"/>
              <a:t>的</a:t>
            </a:r>
            <a:r>
              <a:rPr lang="zh-CN" altLang="en-US" dirty="0"/>
              <a:t>参数估计（推导过程略</a:t>
            </a:r>
            <a:r>
              <a:rPr lang="zh-CN" altLang="en-US" dirty="0" smtClean="0"/>
              <a:t>）</a:t>
            </a:r>
            <a:endParaRPr lang="en-US" altLang="zh-CN" dirty="0" smtClean="0"/>
          </a:p>
          <a:p>
            <a:r>
              <a:rPr lang="en-US" altLang="zh-CN" dirty="0"/>
              <a:t> </a:t>
            </a:r>
            <a:r>
              <a:rPr lang="en-US" altLang="zh-CN" dirty="0" smtClean="0"/>
              <a:t>      </a:t>
            </a:r>
            <a:endParaRPr lang="zh-CN" altLang="en-US" dirty="0"/>
          </a:p>
          <a:p>
            <a:r>
              <a:rPr lang="zh-CN" altLang="en-US" dirty="0"/>
              <a:t> </a:t>
            </a:r>
          </a:p>
          <a:p>
            <a:endParaRPr lang="en-US" altLang="zh-CN" dirty="0" smtClean="0"/>
          </a:p>
          <a:p>
            <a:endParaRPr lang="en-US" altLang="zh-CN" dirty="0" smtClean="0"/>
          </a:p>
          <a:p>
            <a:r>
              <a:rPr lang="zh-CN" altLang="en-US" dirty="0" smtClean="0"/>
              <a:t>其中 </a:t>
            </a:r>
            <a:r>
              <a:rPr lang="en-US" altLang="zh-CN" dirty="0"/>
              <a:t> </a:t>
            </a:r>
            <a:r>
              <a:rPr lang="en-US" altLang="zh-CN" dirty="0" smtClean="0"/>
              <a:t>                                                                           </a:t>
            </a:r>
            <a:r>
              <a:rPr lang="zh-CN" altLang="en-US" dirty="0" smtClean="0"/>
              <a:t>，</a:t>
            </a:r>
            <a:endParaRPr lang="en-US" altLang="zh-CN" dirty="0" smtClean="0"/>
          </a:p>
          <a:p>
            <a:r>
              <a:rPr lang="en-US" altLang="zh-CN" dirty="0" smtClean="0"/>
              <a:t>H</a:t>
            </a:r>
            <a:r>
              <a:rPr lang="zh-CN" altLang="en-US" dirty="0"/>
              <a:t>称为对称幂等矩阵</a:t>
            </a:r>
          </a:p>
        </p:txBody>
      </p:sp>
      <p:pic>
        <p:nvPicPr>
          <p:cNvPr id="5146"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64" y="3324686"/>
            <a:ext cx="481088" cy="295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7"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839" y="3645024"/>
            <a:ext cx="1828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8"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064" y="4064124"/>
            <a:ext cx="4810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9"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134" y="4291713"/>
            <a:ext cx="1731404" cy="877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0"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4431" y="5262524"/>
            <a:ext cx="4824535" cy="521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883922" y="690998"/>
            <a:ext cx="4978177" cy="483209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2000" b="1" dirty="0"/>
              <a:t>4</a:t>
            </a:r>
            <a:r>
              <a:rPr lang="zh-CN" altLang="en-US" sz="2000" b="1" dirty="0"/>
              <a:t>．多元线性回归方程拟合优度</a:t>
            </a:r>
          </a:p>
          <a:p>
            <a:r>
              <a:rPr lang="zh-CN" altLang="en-US" dirty="0"/>
              <a:t>与一元线性回归模型类似，其总离差平方和、回归平方和、残差平方和的公式可以表示为：</a:t>
            </a:r>
          </a:p>
          <a:p>
            <a:r>
              <a:rPr lang="zh-CN" altLang="en-US" dirty="0"/>
              <a:t> </a:t>
            </a:r>
            <a:r>
              <a:rPr lang="zh-CN" altLang="en-US" dirty="0" smtClean="0"/>
              <a:t>     </a:t>
            </a:r>
            <a:endParaRPr lang="zh-CN" altLang="en-US" dirty="0"/>
          </a:p>
          <a:p>
            <a:r>
              <a:rPr lang="zh-CN" altLang="en-US" dirty="0"/>
              <a:t>       </a:t>
            </a:r>
          </a:p>
          <a:p>
            <a:r>
              <a:rPr lang="zh-CN" altLang="en-US" dirty="0"/>
              <a:t> </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a:p>
            <a:endParaRPr lang="en-US" altLang="zh-CN" dirty="0" smtClean="0"/>
          </a:p>
          <a:p>
            <a:r>
              <a:rPr lang="zh-CN" altLang="en-US" dirty="0" smtClean="0"/>
              <a:t>可以</a:t>
            </a:r>
            <a:r>
              <a:rPr lang="zh-CN" altLang="en-US" dirty="0"/>
              <a:t>证明： </a:t>
            </a:r>
            <a:r>
              <a:rPr lang="en-US" altLang="zh-CN" dirty="0"/>
              <a:t> </a:t>
            </a:r>
            <a:r>
              <a:rPr lang="en-US" altLang="zh-CN" dirty="0" smtClean="0"/>
              <a:t>                                              </a:t>
            </a:r>
            <a:r>
              <a:rPr lang="zh-CN" altLang="en-US" dirty="0" smtClean="0"/>
              <a:t>。</a:t>
            </a:r>
            <a:endParaRPr lang="en-US" altLang="zh-CN" dirty="0" smtClean="0"/>
          </a:p>
          <a:p>
            <a:r>
              <a:rPr lang="zh-CN" altLang="en-US" dirty="0" smtClean="0"/>
              <a:t>拟合优度</a:t>
            </a:r>
            <a:r>
              <a:rPr lang="zh-CN" altLang="en-US" dirty="0"/>
              <a:t>（判定系数）为</a:t>
            </a:r>
            <a:r>
              <a:rPr lang="zh-CN" altLang="en-US" dirty="0" smtClean="0"/>
              <a:t>：</a:t>
            </a:r>
            <a:endParaRPr lang="en-US" altLang="zh-CN" dirty="0" smtClean="0"/>
          </a:p>
          <a:p>
            <a:endParaRPr lang="zh-CN" altLang="en-US" dirty="0"/>
          </a:p>
          <a:p>
            <a:r>
              <a:rPr lang="zh-CN" altLang="en-US" dirty="0"/>
              <a:t> </a:t>
            </a:r>
          </a:p>
        </p:txBody>
      </p:sp>
      <p:pic>
        <p:nvPicPr>
          <p:cNvPr id="5151"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34486" y="1707290"/>
            <a:ext cx="4104456" cy="8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2" name="Picture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1915" y="2541152"/>
            <a:ext cx="4104456"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3"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01915" y="3350777"/>
            <a:ext cx="42195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4" name="Picture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87122" y="4290045"/>
            <a:ext cx="3234368" cy="294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5" name="Picture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01915" y="4793370"/>
            <a:ext cx="121920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71651" y="698922"/>
            <a:ext cx="6502657" cy="178510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2000" b="1" dirty="0"/>
              <a:t>2</a:t>
            </a:r>
            <a:r>
              <a:rPr lang="zh-CN" altLang="en-US" sz="2000" b="1" dirty="0"/>
              <a:t>．多元线性回归方程</a:t>
            </a:r>
          </a:p>
          <a:p>
            <a:r>
              <a:rPr lang="zh-CN" altLang="en-US" dirty="0"/>
              <a:t>两边取期望值，即得到其回归方程如下</a:t>
            </a:r>
          </a:p>
          <a:p>
            <a:r>
              <a:rPr lang="zh-CN" altLang="en-US" dirty="0"/>
              <a:t> </a:t>
            </a:r>
          </a:p>
          <a:p>
            <a:r>
              <a:rPr lang="zh-CN" altLang="en-US" dirty="0"/>
              <a:t>其一般的形式如下：</a:t>
            </a:r>
          </a:p>
          <a:p>
            <a:r>
              <a:rPr lang="zh-CN" altLang="en-US" dirty="0"/>
              <a:t>                          </a:t>
            </a:r>
          </a:p>
          <a:p>
            <a:r>
              <a:rPr lang="zh-CN" altLang="en-US" dirty="0"/>
              <a:t>其中             分布为期望值及回归系数的估计</a:t>
            </a:r>
          </a:p>
        </p:txBody>
      </p:sp>
      <p:pic>
        <p:nvPicPr>
          <p:cNvPr id="5156" name="Picture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9412" y="1325200"/>
            <a:ext cx="13541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7" name="Picture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5699" y="2014126"/>
            <a:ext cx="592137"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8" name="Picture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73538" y="1700041"/>
            <a:ext cx="10969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4" y="44625"/>
            <a:ext cx="8531529"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5.3.3 Python</a:t>
            </a:r>
            <a:r>
              <a:rPr lang="zh-CN" altLang="en-US" sz="2800" dirty="0">
                <a:solidFill>
                  <a:schemeClr val="accent2"/>
                </a:solidFill>
                <a:latin typeface="微软雅黑" panose="020B0503020204020204" pitchFamily="34" charset="-122"/>
                <a:ea typeface="微软雅黑" panose="020B0503020204020204" pitchFamily="34" charset="-122"/>
              </a:rPr>
              <a:t>线性回归应用举例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3" name="TextBox 2"/>
          <p:cNvSpPr txBox="1"/>
          <p:nvPr/>
        </p:nvSpPr>
        <p:spPr>
          <a:xfrm>
            <a:off x="140263" y="692696"/>
            <a:ext cx="11934782" cy="799193"/>
          </a:xfrm>
          <a:prstGeom prst="rect">
            <a:avLst/>
          </a:prstGeom>
          <a:noFill/>
        </p:spPr>
        <p:txBody>
          <a:bodyPr wrap="square" rtlCol="0">
            <a:spAutoFit/>
          </a:bodyPr>
          <a:lstStyle/>
          <a:p>
            <a:pPr marL="285750" indent="-285750">
              <a:lnSpc>
                <a:spcPct val="120000"/>
              </a:lnSpc>
              <a:spcBef>
                <a:spcPts val="1000"/>
              </a:spcBef>
              <a:buFont typeface="Arial" panose="020B0604020202020204" pitchFamily="34" charset="0"/>
              <a:buChar char="•"/>
            </a:pPr>
            <a:r>
              <a:rPr kumimoji="1" lang="zh-CN" altLang="zh-CN" sz="2000" dirty="0">
                <a:solidFill>
                  <a:srgbClr val="595959"/>
                </a:solidFill>
                <a:ea typeface="微软雅黑" panose="020B0503020204020204" pitchFamily="34" charset="-122"/>
              </a:rPr>
              <a:t>在发电场中电力输出（</a:t>
            </a:r>
            <a:r>
              <a:rPr kumimoji="1" lang="en-US" altLang="zh-CN" sz="2000" dirty="0">
                <a:solidFill>
                  <a:srgbClr val="595959"/>
                </a:solidFill>
                <a:ea typeface="微软雅黑" panose="020B0503020204020204" pitchFamily="34" charset="-122"/>
              </a:rPr>
              <a:t>PE</a:t>
            </a:r>
            <a:r>
              <a:rPr kumimoji="1" lang="zh-CN" altLang="zh-CN" sz="2000" dirty="0">
                <a:solidFill>
                  <a:srgbClr val="595959"/>
                </a:solidFill>
                <a:ea typeface="微软雅黑" panose="020B0503020204020204" pitchFamily="34" charset="-122"/>
              </a:rPr>
              <a:t>）与</a:t>
            </a:r>
            <a:r>
              <a:rPr kumimoji="1" lang="en-US" altLang="zh-CN" sz="2000" dirty="0">
                <a:solidFill>
                  <a:srgbClr val="595959"/>
                </a:solidFill>
                <a:ea typeface="微软雅黑" panose="020B0503020204020204" pitchFamily="34" charset="-122"/>
              </a:rPr>
              <a:t>AT</a:t>
            </a:r>
            <a:r>
              <a:rPr kumimoji="1" lang="zh-CN" altLang="zh-CN" sz="2000" dirty="0">
                <a:solidFill>
                  <a:srgbClr val="595959"/>
                </a:solidFill>
                <a:ea typeface="微软雅黑" panose="020B0503020204020204" pitchFamily="34" charset="-122"/>
              </a:rPr>
              <a:t>（温度）、</a:t>
            </a:r>
            <a:r>
              <a:rPr kumimoji="1" lang="en-US" altLang="zh-CN" sz="2000" dirty="0">
                <a:solidFill>
                  <a:srgbClr val="595959"/>
                </a:solidFill>
                <a:ea typeface="微软雅黑" panose="020B0503020204020204" pitchFamily="34" charset="-122"/>
              </a:rPr>
              <a:t>V</a:t>
            </a:r>
            <a:r>
              <a:rPr kumimoji="1" lang="zh-CN" altLang="zh-CN" sz="2000" dirty="0">
                <a:solidFill>
                  <a:srgbClr val="595959"/>
                </a:solidFill>
                <a:ea typeface="微软雅黑" panose="020B0503020204020204" pitchFamily="34" charset="-122"/>
              </a:rPr>
              <a:t>（压力）、</a:t>
            </a:r>
            <a:r>
              <a:rPr kumimoji="1" lang="en-US" altLang="zh-CN" sz="2000" dirty="0">
                <a:solidFill>
                  <a:srgbClr val="595959"/>
                </a:solidFill>
                <a:ea typeface="微软雅黑" panose="020B0503020204020204" pitchFamily="34" charset="-122"/>
              </a:rPr>
              <a:t>AP</a:t>
            </a:r>
            <a:r>
              <a:rPr kumimoji="1" lang="zh-CN" altLang="zh-CN" sz="2000" dirty="0">
                <a:solidFill>
                  <a:srgbClr val="595959"/>
                </a:solidFill>
                <a:ea typeface="微软雅黑" panose="020B0503020204020204" pitchFamily="34" charset="-122"/>
              </a:rPr>
              <a:t>（湿度）、</a:t>
            </a:r>
            <a:r>
              <a:rPr kumimoji="1" lang="en-US" altLang="zh-CN" sz="2000" dirty="0">
                <a:solidFill>
                  <a:srgbClr val="595959"/>
                </a:solidFill>
                <a:ea typeface="微软雅黑" panose="020B0503020204020204" pitchFamily="34" charset="-122"/>
              </a:rPr>
              <a:t>RH</a:t>
            </a:r>
            <a:r>
              <a:rPr kumimoji="1" lang="zh-CN" altLang="zh-CN" sz="2000" dirty="0">
                <a:solidFill>
                  <a:srgbClr val="595959"/>
                </a:solidFill>
                <a:ea typeface="微软雅黑" panose="020B0503020204020204" pitchFamily="34" charset="-122"/>
              </a:rPr>
              <a:t>（压强）有关，相关测试数据（部分）如表</a:t>
            </a:r>
            <a:r>
              <a:rPr kumimoji="1" lang="en-US" altLang="zh-CN" sz="2000" dirty="0">
                <a:solidFill>
                  <a:srgbClr val="595959"/>
                </a:solidFill>
                <a:ea typeface="微软雅黑" panose="020B0503020204020204" pitchFamily="34" charset="-122"/>
              </a:rPr>
              <a:t>5-2</a:t>
            </a:r>
            <a:r>
              <a:rPr kumimoji="1" lang="zh-CN" altLang="zh-CN" sz="2000" dirty="0">
                <a:solidFill>
                  <a:srgbClr val="595959"/>
                </a:solidFill>
                <a:ea typeface="微软雅黑" panose="020B0503020204020204" pitchFamily="34" charset="-122"/>
              </a:rPr>
              <a:t>所示。</a:t>
            </a:r>
          </a:p>
        </p:txBody>
      </p:sp>
      <p:sp>
        <p:nvSpPr>
          <p:cNvPr id="9" name="TextBox 8"/>
          <p:cNvSpPr txBox="1"/>
          <p:nvPr/>
        </p:nvSpPr>
        <p:spPr>
          <a:xfrm>
            <a:off x="4516408" y="1307223"/>
            <a:ext cx="2160240" cy="369332"/>
          </a:xfrm>
          <a:prstGeom prst="rect">
            <a:avLst/>
          </a:prstGeom>
          <a:noFill/>
        </p:spPr>
        <p:txBody>
          <a:bodyPr wrap="square" rtlCol="0">
            <a:spAutoFit/>
          </a:bodyPr>
          <a:lstStyle/>
          <a:p>
            <a:pPr algn="ctr"/>
            <a:r>
              <a:rPr lang="zh-CN" altLang="en-US" dirty="0" smtClean="0"/>
              <a:t>表</a:t>
            </a:r>
            <a:r>
              <a:rPr lang="en-US" altLang="zh-CN" dirty="0" smtClean="0"/>
              <a:t>5-2</a:t>
            </a:r>
            <a:endParaRPr lang="zh-CN" altLang="en-US" dirty="0"/>
          </a:p>
        </p:txBody>
      </p:sp>
      <p:graphicFrame>
        <p:nvGraphicFramePr>
          <p:cNvPr id="11" name="表格 10"/>
          <p:cNvGraphicFramePr>
            <a:graphicFrameLocks noGrp="1"/>
          </p:cNvGraphicFramePr>
          <p:nvPr/>
        </p:nvGraphicFramePr>
        <p:xfrm>
          <a:off x="89055" y="1676555"/>
          <a:ext cx="7776865" cy="5051175"/>
        </p:xfrm>
        <a:graphic>
          <a:graphicData uri="http://schemas.openxmlformats.org/drawingml/2006/table">
            <a:tbl>
              <a:tblPr firstRow="1" firstCol="1" bandRow="1">
                <a:tableStyleId>{D27102A9-8310-4765-A935-A1911B00CA55}</a:tableStyleId>
              </a:tblPr>
              <a:tblGrid>
                <a:gridCol w="1555373"/>
                <a:gridCol w="1555373"/>
                <a:gridCol w="1555373"/>
                <a:gridCol w="1555373"/>
                <a:gridCol w="1555373"/>
              </a:tblGrid>
              <a:tr h="192097">
                <a:tc>
                  <a:txBody>
                    <a:bodyPr/>
                    <a:lstStyle/>
                    <a:p>
                      <a:pPr algn="l">
                        <a:spcAft>
                          <a:spcPts val="0"/>
                        </a:spcAft>
                      </a:pPr>
                      <a:r>
                        <a:rPr lang="en-US" sz="1100" kern="0" dirty="0">
                          <a:effectLst/>
                        </a:rPr>
                        <a:t>AT</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V</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AP</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RH</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PE</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8.34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40.77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1010.84</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90.01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480.48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23.64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58.49</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1011.4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74.2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445.75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29.74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56.9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1007.15</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41.91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438.76</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19.07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49.69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1007.22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76.79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453.09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11.8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40.66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1017.13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97.2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464.43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13.97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39.16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1016.05</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84.6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470.96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22.1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71.29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1008.2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75.38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442.35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14.47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41.76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1021.98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78.41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464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31.25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69.51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1010.25</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36.83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428.77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6.77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38.18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1017.8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81.13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484.31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28.28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68.67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1006.36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69.9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435.29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22.99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46.93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1014.15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49.42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451.41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en-US" sz="1100" kern="0">
                          <a:effectLst/>
                        </a:rPr>
                        <a:t>29.3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70.04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1010.95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61.23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426.25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347077">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zh-CN" sz="1100" kern="0" dirty="0">
                          <a:effectLst/>
                        </a:rPr>
                        <a:t>……</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r>
            </a:tbl>
          </a:graphicData>
        </a:graphic>
      </p:graphicFrame>
      <p:sp>
        <p:nvSpPr>
          <p:cNvPr id="12" name="椭圆形标注 11"/>
          <p:cNvSpPr/>
          <p:nvPr/>
        </p:nvSpPr>
        <p:spPr bwMode="auto">
          <a:xfrm>
            <a:off x="6960518" y="4581128"/>
            <a:ext cx="4970511" cy="1944216"/>
          </a:xfrm>
          <a:prstGeom prst="wedgeEllipseCallou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zh-CN" altLang="en-US" dirty="0">
                <a:solidFill>
                  <a:schemeClr val="tx1"/>
                </a:solidFill>
                <a:latin typeface="Arial" panose="020B0604020202020204" pitchFamily="34" charset="0"/>
                <a:ea typeface="宋体" panose="02010600030101010101" pitchFamily="2" charset="-122"/>
              </a:rPr>
              <a:t>注：数据来源于</a:t>
            </a:r>
            <a:r>
              <a:rPr lang="en-US" altLang="zh-CN" dirty="0">
                <a:solidFill>
                  <a:schemeClr val="tx1"/>
                </a:solidFill>
                <a:latin typeface="Arial" panose="020B0604020202020204" pitchFamily="34" charset="0"/>
                <a:ea typeface="宋体" panose="02010600030101010101" pitchFamily="2" charset="-122"/>
              </a:rPr>
              <a:t>UCI</a:t>
            </a:r>
            <a:r>
              <a:rPr lang="zh-CN" altLang="en-US" dirty="0">
                <a:solidFill>
                  <a:schemeClr val="tx1"/>
                </a:solidFill>
                <a:latin typeface="Arial" panose="020B0604020202020204" pitchFamily="34" charset="0"/>
                <a:ea typeface="宋体" panose="02010600030101010101" pitchFamily="2" charset="-122"/>
              </a:rPr>
              <a:t>公共测试数据库</a:t>
            </a:r>
          </a:p>
          <a:p>
            <a:r>
              <a:rPr lang="zh-CN" altLang="en-US" dirty="0">
                <a:solidFill>
                  <a:schemeClr val="tx1"/>
                </a:solidFill>
                <a:latin typeface="Arial" panose="020B0604020202020204" pitchFamily="34" charset="0"/>
                <a:ea typeface="宋体" panose="02010600030101010101" pitchFamily="2" charset="-122"/>
              </a:rPr>
              <a:t>下载地址为：</a:t>
            </a:r>
            <a:r>
              <a:rPr lang="en-US" altLang="zh-CN" dirty="0">
                <a:solidFill>
                  <a:schemeClr val="tx1"/>
                </a:solidFill>
                <a:latin typeface="Arial" panose="020B0604020202020204" pitchFamily="34" charset="0"/>
                <a:ea typeface="宋体" panose="02010600030101010101" pitchFamily="2" charset="-122"/>
              </a:rPr>
              <a:t>http://archive.ics.uci.edu/ml/machine-learning-databases/00294/</a:t>
            </a:r>
          </a:p>
        </p:txBody>
      </p:sp>
      <p:sp>
        <p:nvSpPr>
          <p:cNvPr id="13" name="流程图: 可选过程 12"/>
          <p:cNvSpPr/>
          <p:nvPr/>
        </p:nvSpPr>
        <p:spPr bwMode="auto">
          <a:xfrm>
            <a:off x="7970589" y="1302350"/>
            <a:ext cx="4104456" cy="2990746"/>
          </a:xfrm>
          <a:prstGeom prst="flowChartAlternateProcess">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lstStyle/>
          <a:p>
            <a:r>
              <a:rPr lang="zh-CN" altLang="en-US" dirty="0"/>
              <a:t>问题如下：</a:t>
            </a:r>
          </a:p>
          <a:p>
            <a:r>
              <a:rPr lang="zh-CN" altLang="en-US" dirty="0"/>
              <a:t>（</a:t>
            </a:r>
            <a:r>
              <a:rPr lang="en-US" altLang="zh-CN" dirty="0"/>
              <a:t>1</a:t>
            </a:r>
            <a:r>
              <a:rPr lang="zh-CN" altLang="en-US" dirty="0"/>
              <a:t>）利用线性回归分析命令，求出</a:t>
            </a:r>
            <a:r>
              <a:rPr lang="en-US" altLang="zh-CN" dirty="0"/>
              <a:t>PE</a:t>
            </a:r>
            <a:r>
              <a:rPr lang="zh-CN" altLang="en-US" dirty="0"/>
              <a:t>与</a:t>
            </a:r>
            <a:r>
              <a:rPr lang="en-US" altLang="zh-CN" dirty="0"/>
              <a:t>AT</a:t>
            </a:r>
            <a:r>
              <a:rPr lang="zh-CN" altLang="en-US" dirty="0"/>
              <a:t>、</a:t>
            </a:r>
            <a:r>
              <a:rPr lang="en-US" altLang="zh-CN" dirty="0"/>
              <a:t>V</a:t>
            </a:r>
            <a:r>
              <a:rPr lang="zh-CN" altLang="en-US" dirty="0"/>
              <a:t>、</a:t>
            </a:r>
            <a:r>
              <a:rPr lang="en-US" altLang="zh-CN" dirty="0"/>
              <a:t>AP</a:t>
            </a:r>
            <a:r>
              <a:rPr lang="zh-CN" altLang="en-US" dirty="0"/>
              <a:t>、</a:t>
            </a:r>
            <a:r>
              <a:rPr lang="en-US" altLang="zh-CN" dirty="0"/>
              <a:t>RH</a:t>
            </a:r>
            <a:r>
              <a:rPr lang="zh-CN" altLang="en-US" dirty="0"/>
              <a:t>之间的线性回归关系式系数向量（包括常数项）和拟合优度（判定系数），并在命令窗口输出来。</a:t>
            </a:r>
          </a:p>
          <a:p>
            <a:r>
              <a:rPr lang="zh-CN" altLang="en-US" dirty="0"/>
              <a:t>（</a:t>
            </a:r>
            <a:r>
              <a:rPr lang="en-US" altLang="zh-CN" dirty="0"/>
              <a:t>2</a:t>
            </a:r>
            <a:r>
              <a:rPr lang="zh-CN" altLang="en-US" dirty="0"/>
              <a:t>）今有某次测试数据</a:t>
            </a:r>
            <a:r>
              <a:rPr lang="en-US" altLang="zh-CN" dirty="0"/>
              <a:t>AT=28.4</a:t>
            </a:r>
            <a:r>
              <a:rPr lang="zh-CN" altLang="en-US" dirty="0"/>
              <a:t>、</a:t>
            </a:r>
            <a:r>
              <a:rPr lang="en-US" altLang="zh-CN" dirty="0"/>
              <a:t>V=50.6</a:t>
            </a:r>
            <a:r>
              <a:rPr lang="zh-CN" altLang="en-US" dirty="0"/>
              <a:t>、</a:t>
            </a:r>
            <a:r>
              <a:rPr lang="en-US" altLang="zh-CN" dirty="0"/>
              <a:t>AP=1011.9</a:t>
            </a:r>
            <a:r>
              <a:rPr lang="zh-CN" altLang="en-US" dirty="0"/>
              <a:t>、</a:t>
            </a:r>
            <a:r>
              <a:rPr lang="en-US" altLang="zh-CN" dirty="0"/>
              <a:t>RH=80.54</a:t>
            </a:r>
            <a:r>
              <a:rPr lang="zh-CN" altLang="en-US" dirty="0"/>
              <a:t>，试预测其</a:t>
            </a:r>
            <a:r>
              <a:rPr lang="en-US" altLang="zh-CN" dirty="0"/>
              <a:t>PE</a:t>
            </a:r>
            <a:r>
              <a:rPr lang="zh-CN" altLang="en-US" dirty="0"/>
              <a:t>值。</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73616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5.3.3 Python</a:t>
            </a:r>
            <a:r>
              <a:rPr lang="zh-CN" altLang="en-US" sz="2800" dirty="0">
                <a:solidFill>
                  <a:schemeClr val="accent2"/>
                </a:solidFill>
                <a:latin typeface="微软雅黑" panose="020B0503020204020204" pitchFamily="34" charset="-122"/>
                <a:ea typeface="微软雅黑" panose="020B0503020204020204" pitchFamily="34" charset="-122"/>
              </a:rPr>
              <a:t>线性回归应用举例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3" name="TextBox 2"/>
          <p:cNvSpPr txBox="1"/>
          <p:nvPr/>
        </p:nvSpPr>
        <p:spPr>
          <a:xfrm>
            <a:off x="141334" y="1230917"/>
            <a:ext cx="5238038" cy="203132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zh-CN" b="1" dirty="0" smtClean="0">
                <a:solidFill>
                  <a:srgbClr val="595959"/>
                </a:solidFill>
                <a:ea typeface="微软雅黑" panose="020B0503020204020204" pitchFamily="34" charset="-122"/>
              </a:rPr>
              <a:t>1</a:t>
            </a:r>
            <a:r>
              <a:rPr kumimoji="1" lang="zh-CN" altLang="zh-CN" b="1" dirty="0">
                <a:solidFill>
                  <a:srgbClr val="595959"/>
                </a:solidFill>
                <a:ea typeface="微软雅黑" panose="020B0503020204020204" pitchFamily="34" charset="-122"/>
              </a:rPr>
              <a:t>．读取数据，确定自变量</a:t>
            </a:r>
            <a:r>
              <a:rPr kumimoji="1" lang="en-US" altLang="zh-CN" b="1" dirty="0">
                <a:solidFill>
                  <a:srgbClr val="595959"/>
                </a:solidFill>
                <a:ea typeface="微软雅黑" panose="020B0503020204020204" pitchFamily="34" charset="-122"/>
              </a:rPr>
              <a:t>x</a:t>
            </a:r>
            <a:r>
              <a:rPr kumimoji="1" lang="zh-CN" altLang="zh-CN" b="1" dirty="0">
                <a:solidFill>
                  <a:srgbClr val="595959"/>
                </a:solidFill>
                <a:ea typeface="微软雅黑" panose="020B0503020204020204" pitchFamily="34" charset="-122"/>
              </a:rPr>
              <a:t>和因变量</a:t>
            </a:r>
            <a:r>
              <a:rPr kumimoji="1" lang="en-US" altLang="zh-CN" b="1" dirty="0">
                <a:solidFill>
                  <a:srgbClr val="595959"/>
                </a:solidFill>
                <a:ea typeface="微软雅黑" panose="020B0503020204020204" pitchFamily="34" charset="-122"/>
              </a:rPr>
              <a:t>y</a:t>
            </a:r>
            <a:r>
              <a:rPr kumimoji="1" lang="zh-CN" altLang="zh-CN" dirty="0">
                <a:solidFill>
                  <a:srgbClr val="595959"/>
                </a:solidFill>
                <a:ea typeface="微软雅黑" panose="020B0503020204020204" pitchFamily="34" charset="-122"/>
              </a:rPr>
              <a:t>，示例代码如下：</a:t>
            </a:r>
          </a:p>
          <a:p>
            <a:r>
              <a:rPr kumimoji="1" lang="en-US" altLang="zh-CN" dirty="0">
                <a:solidFill>
                  <a:srgbClr val="595959"/>
                </a:solidFill>
                <a:ea typeface="微软雅黑" panose="020B0503020204020204" pitchFamily="34" charset="-122"/>
              </a:rPr>
              <a:t>import pandas as </a:t>
            </a:r>
            <a:r>
              <a:rPr kumimoji="1" lang="en-US" altLang="zh-CN" dirty="0" err="1">
                <a:solidFill>
                  <a:srgbClr val="595959"/>
                </a:solidFill>
                <a:ea typeface="微软雅黑" panose="020B0503020204020204" pitchFamily="34" charset="-122"/>
              </a:rPr>
              <a:t>pd</a:t>
            </a:r>
            <a:endParaRPr kumimoji="1" lang="zh-CN" altLang="zh-CN" dirty="0">
              <a:solidFill>
                <a:srgbClr val="595959"/>
              </a:solidFill>
              <a:ea typeface="微软雅黑" panose="020B0503020204020204" pitchFamily="34" charset="-122"/>
            </a:endParaRPr>
          </a:p>
          <a:p>
            <a:r>
              <a:rPr kumimoji="1" lang="en-US" altLang="zh-CN" dirty="0">
                <a:solidFill>
                  <a:srgbClr val="595959"/>
                </a:solidFill>
                <a:ea typeface="微软雅黑" panose="020B0503020204020204" pitchFamily="34" charset="-122"/>
              </a:rPr>
              <a:t>data = </a:t>
            </a:r>
            <a:r>
              <a:rPr kumimoji="1" lang="en-US" altLang="zh-CN" dirty="0" err="1">
                <a:solidFill>
                  <a:srgbClr val="595959"/>
                </a:solidFill>
                <a:ea typeface="微软雅黑" panose="020B0503020204020204" pitchFamily="34" charset="-122"/>
              </a:rPr>
              <a:t>pd.read_excel</a:t>
            </a:r>
            <a:r>
              <a:rPr kumimoji="1" lang="en-US" altLang="zh-CN" dirty="0">
                <a:solidFill>
                  <a:srgbClr val="595959"/>
                </a:solidFill>
                <a:ea typeface="微软雅黑" panose="020B0503020204020204" pitchFamily="34" charset="-122"/>
              </a:rPr>
              <a:t>('</a:t>
            </a:r>
            <a:r>
              <a:rPr kumimoji="1" lang="zh-CN" altLang="zh-CN" dirty="0">
                <a:solidFill>
                  <a:srgbClr val="595959"/>
                </a:solidFill>
                <a:ea typeface="微软雅黑" panose="020B0503020204020204" pitchFamily="34" charset="-122"/>
              </a:rPr>
              <a:t>发电场数据</a:t>
            </a:r>
            <a:r>
              <a:rPr kumimoji="1" lang="en-US" altLang="zh-CN" dirty="0">
                <a:solidFill>
                  <a:srgbClr val="595959"/>
                </a:solidFill>
                <a:ea typeface="微软雅黑" panose="020B0503020204020204" pitchFamily="34" charset="-122"/>
              </a:rPr>
              <a:t>.</a:t>
            </a:r>
            <a:r>
              <a:rPr kumimoji="1" lang="en-US" altLang="zh-CN" dirty="0" err="1">
                <a:solidFill>
                  <a:srgbClr val="595959"/>
                </a:solidFill>
                <a:ea typeface="微软雅黑" panose="020B0503020204020204" pitchFamily="34" charset="-122"/>
              </a:rPr>
              <a:t>xlsx</a:t>
            </a:r>
            <a:r>
              <a:rPr kumimoji="1" lang="en-US" altLang="zh-CN" dirty="0">
                <a:solidFill>
                  <a:srgbClr val="595959"/>
                </a:solidFill>
                <a:ea typeface="微软雅黑" panose="020B0503020204020204" pitchFamily="34" charset="-122"/>
              </a:rPr>
              <a:t>')</a:t>
            </a:r>
            <a:endParaRPr kumimoji="1" lang="zh-CN" altLang="zh-CN" dirty="0">
              <a:solidFill>
                <a:srgbClr val="595959"/>
              </a:solidFill>
              <a:ea typeface="微软雅黑" panose="020B0503020204020204" pitchFamily="34" charset="-122"/>
            </a:endParaRPr>
          </a:p>
          <a:p>
            <a:r>
              <a:rPr kumimoji="1" lang="en-US" altLang="zh-CN" dirty="0">
                <a:solidFill>
                  <a:srgbClr val="595959"/>
                </a:solidFill>
                <a:ea typeface="微软雅黑" panose="020B0503020204020204" pitchFamily="34" charset="-122"/>
              </a:rPr>
              <a:t>x = </a:t>
            </a:r>
            <a:r>
              <a:rPr kumimoji="1" lang="en-US" altLang="zh-CN" dirty="0" err="1">
                <a:solidFill>
                  <a:srgbClr val="595959"/>
                </a:solidFill>
                <a:ea typeface="微软雅黑" panose="020B0503020204020204" pitchFamily="34" charset="-122"/>
              </a:rPr>
              <a:t>data.iloc</a:t>
            </a:r>
            <a:r>
              <a:rPr kumimoji="1" lang="en-US" altLang="zh-CN" dirty="0">
                <a:solidFill>
                  <a:srgbClr val="595959"/>
                </a:solidFill>
                <a:ea typeface="微软雅黑" panose="020B0503020204020204" pitchFamily="34" charset="-122"/>
              </a:rPr>
              <a:t>[:,0:4].</a:t>
            </a:r>
            <a:r>
              <a:rPr kumimoji="1" lang="en-US" altLang="zh-CN" dirty="0" err="1">
                <a:solidFill>
                  <a:srgbClr val="595959"/>
                </a:solidFill>
                <a:ea typeface="微软雅黑" panose="020B0503020204020204" pitchFamily="34" charset="-122"/>
              </a:rPr>
              <a:t>as_matrix</a:t>
            </a:r>
            <a:r>
              <a:rPr kumimoji="1" lang="en-US" altLang="zh-CN" dirty="0">
                <a:solidFill>
                  <a:srgbClr val="595959"/>
                </a:solidFill>
                <a:ea typeface="微软雅黑" panose="020B0503020204020204" pitchFamily="34" charset="-122"/>
              </a:rPr>
              <a:t>()</a:t>
            </a:r>
            <a:endParaRPr kumimoji="1" lang="zh-CN" altLang="zh-CN" dirty="0">
              <a:solidFill>
                <a:srgbClr val="595959"/>
              </a:solidFill>
              <a:ea typeface="微软雅黑" panose="020B0503020204020204" pitchFamily="34" charset="-122"/>
            </a:endParaRPr>
          </a:p>
          <a:p>
            <a:r>
              <a:rPr kumimoji="1" lang="en-US" altLang="zh-CN" dirty="0">
                <a:solidFill>
                  <a:srgbClr val="595959"/>
                </a:solidFill>
                <a:ea typeface="微软雅黑" panose="020B0503020204020204" pitchFamily="34" charset="-122"/>
              </a:rPr>
              <a:t>y = </a:t>
            </a:r>
            <a:r>
              <a:rPr kumimoji="1" lang="en-US" altLang="zh-CN" dirty="0" err="1">
                <a:solidFill>
                  <a:srgbClr val="595959"/>
                </a:solidFill>
                <a:ea typeface="微软雅黑" panose="020B0503020204020204" pitchFamily="34" charset="-122"/>
              </a:rPr>
              <a:t>data.iloc</a:t>
            </a:r>
            <a:r>
              <a:rPr kumimoji="1" lang="en-US" altLang="zh-CN" dirty="0">
                <a:solidFill>
                  <a:srgbClr val="595959"/>
                </a:solidFill>
                <a:ea typeface="微软雅黑" panose="020B0503020204020204" pitchFamily="34" charset="-122"/>
              </a:rPr>
              <a:t>[:,4].</a:t>
            </a:r>
            <a:r>
              <a:rPr kumimoji="1" lang="en-US" altLang="zh-CN" dirty="0" err="1">
                <a:solidFill>
                  <a:srgbClr val="595959"/>
                </a:solidFill>
                <a:ea typeface="微软雅黑" panose="020B0503020204020204" pitchFamily="34" charset="-122"/>
              </a:rPr>
              <a:t>as_matrix</a:t>
            </a:r>
            <a:r>
              <a:rPr kumimoji="1" lang="en-US" altLang="zh-CN" dirty="0">
                <a:solidFill>
                  <a:srgbClr val="595959"/>
                </a:solidFill>
                <a:ea typeface="微软雅黑" panose="020B0503020204020204" pitchFamily="34" charset="-122"/>
              </a:rPr>
              <a:t>()</a:t>
            </a:r>
            <a:endParaRPr kumimoji="1" lang="zh-CN" altLang="zh-CN" dirty="0">
              <a:solidFill>
                <a:srgbClr val="595959"/>
              </a:solidFill>
              <a:ea typeface="微软雅黑" panose="020B0503020204020204" pitchFamily="34" charset="-122"/>
            </a:endParaRPr>
          </a:p>
          <a:p>
            <a:r>
              <a:rPr kumimoji="1" lang="zh-CN" altLang="zh-CN" dirty="0">
                <a:solidFill>
                  <a:srgbClr val="595959"/>
                </a:solidFill>
                <a:ea typeface="微软雅黑" panose="020B0503020204020204" pitchFamily="34" charset="-122"/>
              </a:rPr>
              <a:t>执行结果（部分）如图</a:t>
            </a:r>
            <a:r>
              <a:rPr kumimoji="1" lang="en-US" altLang="zh-CN" dirty="0">
                <a:solidFill>
                  <a:srgbClr val="595959"/>
                </a:solidFill>
                <a:ea typeface="微软雅黑" panose="020B0503020204020204" pitchFamily="34" charset="-122"/>
              </a:rPr>
              <a:t>5-14</a:t>
            </a:r>
            <a:r>
              <a:rPr kumimoji="1" lang="zh-CN" altLang="zh-CN" dirty="0">
                <a:solidFill>
                  <a:srgbClr val="595959"/>
                </a:solidFill>
                <a:ea typeface="微软雅黑" panose="020B0503020204020204" pitchFamily="34" charset="-122"/>
              </a:rPr>
              <a:t>所示。</a:t>
            </a:r>
          </a:p>
        </p:txBody>
      </p:sp>
      <p:pic>
        <p:nvPicPr>
          <p:cNvPr id="8" name="图片 7"/>
          <p:cNvPicPr/>
          <p:nvPr/>
        </p:nvPicPr>
        <p:blipFill>
          <a:blip r:embed="rId3" cstate="print"/>
          <a:stretch>
            <a:fillRect/>
          </a:stretch>
        </p:blipFill>
        <p:spPr>
          <a:xfrm>
            <a:off x="105482" y="3860505"/>
            <a:ext cx="5416835" cy="2808312"/>
          </a:xfrm>
          <a:prstGeom prst="rect">
            <a:avLst/>
          </a:prstGeom>
        </p:spPr>
      </p:pic>
      <p:sp>
        <p:nvSpPr>
          <p:cNvPr id="4" name="TextBox 3"/>
          <p:cNvSpPr txBox="1"/>
          <p:nvPr/>
        </p:nvSpPr>
        <p:spPr>
          <a:xfrm>
            <a:off x="1330765" y="3489989"/>
            <a:ext cx="3240360" cy="369332"/>
          </a:xfrm>
          <a:prstGeom prst="rect">
            <a:avLst/>
          </a:prstGeom>
          <a:noFill/>
        </p:spPr>
        <p:txBody>
          <a:bodyPr wrap="square" rtlCol="0">
            <a:spAutoFit/>
          </a:bodyPr>
          <a:lstStyle/>
          <a:p>
            <a:pPr algn="ctr"/>
            <a:r>
              <a:rPr lang="zh-CN" altLang="en-US" dirty="0" smtClean="0"/>
              <a:t>图</a:t>
            </a:r>
            <a:r>
              <a:rPr lang="en-US" altLang="zh-CN" dirty="0" smtClean="0"/>
              <a:t>5-14</a:t>
            </a:r>
            <a:endParaRPr lang="zh-CN" altLang="en-US" dirty="0"/>
          </a:p>
        </p:txBody>
      </p:sp>
      <p:sp>
        <p:nvSpPr>
          <p:cNvPr id="5" name="TextBox 4"/>
          <p:cNvSpPr txBox="1"/>
          <p:nvPr/>
        </p:nvSpPr>
        <p:spPr>
          <a:xfrm>
            <a:off x="211731" y="758573"/>
            <a:ext cx="4176464" cy="461665"/>
          </a:xfrm>
          <a:prstGeom prst="rect">
            <a:avLst/>
          </a:prstGeom>
          <a:noFill/>
        </p:spPr>
        <p:txBody>
          <a:bodyPr wrap="square" rtlCol="0">
            <a:spAutoFit/>
          </a:bodyPr>
          <a:lstStyle/>
          <a:p>
            <a:r>
              <a:rPr kumimoji="1" lang="zh-CN" altLang="en-US" sz="2400" b="1" dirty="0">
                <a:solidFill>
                  <a:srgbClr val="595959"/>
                </a:solidFill>
                <a:ea typeface="微软雅黑" panose="020B0503020204020204" pitchFamily="34" charset="-122"/>
              </a:rPr>
              <a:t>其计算思路及流程如下：</a:t>
            </a:r>
          </a:p>
        </p:txBody>
      </p:sp>
      <p:sp>
        <p:nvSpPr>
          <p:cNvPr id="6" name="TextBox 5"/>
          <p:cNvSpPr txBox="1"/>
          <p:nvPr/>
        </p:nvSpPr>
        <p:spPr>
          <a:xfrm>
            <a:off x="5809344" y="544845"/>
            <a:ext cx="6242190" cy="3662541"/>
          </a:xfrm>
          <a:prstGeom prst="rect">
            <a:avLst/>
          </a:prstGeom>
          <a:noFill/>
        </p:spPr>
        <p:txBody>
          <a:bodyPr wrap="square" rtlCol="0">
            <a:spAutoFit/>
          </a:bodyPr>
          <a:lstStyle/>
          <a:p>
            <a:r>
              <a:rPr kumimoji="1" lang="en-US" altLang="zh-CN" sz="1600" b="1" dirty="0">
                <a:solidFill>
                  <a:srgbClr val="595959"/>
                </a:solidFill>
                <a:ea typeface="微软雅黑" panose="020B0503020204020204" pitchFamily="34" charset="-122"/>
              </a:rPr>
              <a:t>2. </a:t>
            </a:r>
            <a:r>
              <a:rPr kumimoji="1" lang="zh-CN" altLang="en-US" sz="1600" b="1" dirty="0">
                <a:solidFill>
                  <a:srgbClr val="595959"/>
                </a:solidFill>
                <a:ea typeface="微软雅黑" panose="020B0503020204020204" pitchFamily="34" charset="-122"/>
              </a:rPr>
              <a:t>线性回归分析，其基本步骤如下：</a:t>
            </a:r>
          </a:p>
          <a:p>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1</a:t>
            </a:r>
            <a:r>
              <a:rPr kumimoji="1" lang="zh-CN" altLang="en-US" sz="1600" dirty="0">
                <a:solidFill>
                  <a:srgbClr val="595959"/>
                </a:solidFill>
                <a:ea typeface="微软雅黑" panose="020B0503020204020204" pitchFamily="34" charset="-122"/>
              </a:rPr>
              <a:t>）导入线性回归模块，简称为</a:t>
            </a:r>
            <a:r>
              <a:rPr kumimoji="1" lang="en-US" altLang="zh-CN" sz="1600" dirty="0">
                <a:solidFill>
                  <a:srgbClr val="595959"/>
                </a:solidFill>
                <a:ea typeface="微软雅黑" panose="020B0503020204020204" pitchFamily="34" charset="-122"/>
              </a:rPr>
              <a:t>LR</a:t>
            </a:r>
          </a:p>
          <a:p>
            <a:r>
              <a:rPr kumimoji="1" lang="en-US" altLang="zh-CN" sz="1600" dirty="0">
                <a:solidFill>
                  <a:srgbClr val="595959"/>
                </a:solidFill>
                <a:ea typeface="微软雅黑" panose="020B0503020204020204" pitchFamily="34" charset="-122"/>
              </a:rPr>
              <a:t>from </a:t>
            </a:r>
            <a:r>
              <a:rPr kumimoji="1" lang="en-US" altLang="zh-CN" sz="1600" dirty="0" err="1">
                <a:solidFill>
                  <a:srgbClr val="595959"/>
                </a:solidFill>
                <a:ea typeface="微软雅黑" panose="020B0503020204020204" pitchFamily="34" charset="-122"/>
              </a:rPr>
              <a:t>sklearn.linear_model</a:t>
            </a:r>
            <a:r>
              <a:rPr kumimoji="1" lang="en-US" altLang="zh-CN" sz="1600" dirty="0">
                <a:solidFill>
                  <a:srgbClr val="595959"/>
                </a:solidFill>
                <a:ea typeface="微软雅黑" panose="020B0503020204020204" pitchFamily="34" charset="-122"/>
              </a:rPr>
              <a:t> import </a:t>
            </a:r>
            <a:r>
              <a:rPr kumimoji="1" lang="en-US" altLang="zh-CN" sz="1600" dirty="0" err="1">
                <a:solidFill>
                  <a:srgbClr val="595959"/>
                </a:solidFill>
                <a:ea typeface="微软雅黑" panose="020B0503020204020204" pitchFamily="34" charset="-122"/>
              </a:rPr>
              <a:t>LinearRegression</a:t>
            </a:r>
            <a:r>
              <a:rPr kumimoji="1" lang="en-US" altLang="zh-CN" sz="1600" dirty="0">
                <a:solidFill>
                  <a:srgbClr val="595959"/>
                </a:solidFill>
                <a:ea typeface="微软雅黑" panose="020B0503020204020204" pitchFamily="34" charset="-122"/>
              </a:rPr>
              <a:t> as LR</a:t>
            </a:r>
          </a:p>
          <a:p>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2</a:t>
            </a:r>
            <a:r>
              <a:rPr kumimoji="1" lang="zh-CN" altLang="en-US" sz="1600" dirty="0">
                <a:solidFill>
                  <a:srgbClr val="595959"/>
                </a:solidFill>
                <a:ea typeface="微软雅黑" panose="020B0503020204020204" pitchFamily="34" charset="-122"/>
              </a:rPr>
              <a:t>）利用</a:t>
            </a:r>
            <a:r>
              <a:rPr kumimoji="1" lang="en-US" altLang="zh-CN" sz="1600" dirty="0">
                <a:solidFill>
                  <a:srgbClr val="595959"/>
                </a:solidFill>
                <a:ea typeface="微软雅黑" panose="020B0503020204020204" pitchFamily="34" charset="-122"/>
              </a:rPr>
              <a:t>LR</a:t>
            </a:r>
            <a:r>
              <a:rPr kumimoji="1" lang="zh-CN" altLang="en-US" sz="1600" dirty="0">
                <a:solidFill>
                  <a:srgbClr val="595959"/>
                </a:solidFill>
                <a:ea typeface="微软雅黑" panose="020B0503020204020204" pitchFamily="34" charset="-122"/>
              </a:rPr>
              <a:t>创建线性回归对象</a:t>
            </a:r>
            <a:r>
              <a:rPr kumimoji="1" lang="en-US" altLang="zh-CN" sz="1600" dirty="0" err="1">
                <a:solidFill>
                  <a:srgbClr val="595959"/>
                </a:solidFill>
                <a:ea typeface="微软雅黑" panose="020B0503020204020204" pitchFamily="34" charset="-122"/>
              </a:rPr>
              <a:t>lr</a:t>
            </a:r>
            <a:endParaRPr kumimoji="1" lang="en-US" altLang="zh-CN" sz="1600" dirty="0">
              <a:solidFill>
                <a:srgbClr val="595959"/>
              </a:solidFill>
              <a:ea typeface="微软雅黑" panose="020B0503020204020204" pitchFamily="34" charset="-122"/>
            </a:endParaRPr>
          </a:p>
          <a:p>
            <a:r>
              <a:rPr kumimoji="1" lang="en-US" altLang="zh-CN" sz="1600" dirty="0" err="1">
                <a:solidFill>
                  <a:srgbClr val="595959"/>
                </a:solidFill>
                <a:ea typeface="微软雅黑" panose="020B0503020204020204" pitchFamily="34" charset="-122"/>
              </a:rPr>
              <a:t>lr</a:t>
            </a:r>
            <a:r>
              <a:rPr kumimoji="1" lang="en-US" altLang="zh-CN" sz="1600" dirty="0">
                <a:solidFill>
                  <a:srgbClr val="595959"/>
                </a:solidFill>
                <a:ea typeface="微软雅黑" panose="020B0503020204020204" pitchFamily="34" charset="-122"/>
              </a:rPr>
              <a:t> = LR()    </a:t>
            </a:r>
          </a:p>
          <a:p>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3</a:t>
            </a:r>
            <a:r>
              <a:rPr kumimoji="1" lang="zh-CN" altLang="en-US" sz="1600" dirty="0">
                <a:solidFill>
                  <a:srgbClr val="595959"/>
                </a:solidFill>
                <a:ea typeface="微软雅黑" panose="020B0503020204020204" pitchFamily="34" charset="-122"/>
              </a:rPr>
              <a:t>）调用</a:t>
            </a:r>
            <a:r>
              <a:rPr kumimoji="1" lang="en-US" altLang="zh-CN" sz="1600" dirty="0" err="1">
                <a:solidFill>
                  <a:srgbClr val="595959"/>
                </a:solidFill>
                <a:ea typeface="微软雅黑" panose="020B0503020204020204" pitchFamily="34" charset="-122"/>
              </a:rPr>
              <a:t>lr</a:t>
            </a:r>
            <a:r>
              <a:rPr kumimoji="1" lang="zh-CN" altLang="en-US" sz="1600" dirty="0">
                <a:solidFill>
                  <a:srgbClr val="595959"/>
                </a:solidFill>
                <a:ea typeface="微软雅黑" panose="020B0503020204020204" pitchFamily="34" charset="-122"/>
              </a:rPr>
              <a:t>对象中的</a:t>
            </a:r>
            <a:r>
              <a:rPr kumimoji="1" lang="en-US" altLang="zh-CN" sz="1600" dirty="0">
                <a:solidFill>
                  <a:srgbClr val="595959"/>
                </a:solidFill>
                <a:ea typeface="微软雅黑" panose="020B0503020204020204" pitchFamily="34" charset="-122"/>
              </a:rPr>
              <a:t>fit()</a:t>
            </a:r>
            <a:r>
              <a:rPr kumimoji="1" lang="zh-CN" altLang="en-US" sz="1600" dirty="0">
                <a:solidFill>
                  <a:srgbClr val="595959"/>
                </a:solidFill>
                <a:ea typeface="微软雅黑" panose="020B0503020204020204" pitchFamily="34" charset="-122"/>
              </a:rPr>
              <a:t>方法，对数据进行拟合训练</a:t>
            </a:r>
          </a:p>
          <a:p>
            <a:r>
              <a:rPr kumimoji="1" lang="en-US" altLang="zh-CN" sz="1600" dirty="0" err="1">
                <a:solidFill>
                  <a:srgbClr val="595959"/>
                </a:solidFill>
                <a:ea typeface="微软雅黑" panose="020B0503020204020204" pitchFamily="34" charset="-122"/>
              </a:rPr>
              <a:t>lr.fit</a:t>
            </a:r>
            <a:r>
              <a:rPr kumimoji="1" lang="en-US" altLang="zh-CN" sz="1600" dirty="0">
                <a:solidFill>
                  <a:srgbClr val="595959"/>
                </a:solidFill>
                <a:ea typeface="微软雅黑" panose="020B0503020204020204" pitchFamily="34" charset="-122"/>
              </a:rPr>
              <a:t>(x, y) </a:t>
            </a:r>
          </a:p>
          <a:p>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4</a:t>
            </a:r>
            <a:r>
              <a:rPr kumimoji="1" lang="zh-CN" altLang="en-US" sz="1600" dirty="0">
                <a:solidFill>
                  <a:srgbClr val="595959"/>
                </a:solidFill>
                <a:ea typeface="微软雅黑" panose="020B0503020204020204" pitchFamily="34" charset="-122"/>
              </a:rPr>
              <a:t>）调用</a:t>
            </a:r>
            <a:r>
              <a:rPr kumimoji="1" lang="en-US" altLang="zh-CN" sz="1600" dirty="0" err="1">
                <a:solidFill>
                  <a:srgbClr val="595959"/>
                </a:solidFill>
                <a:ea typeface="微软雅黑" panose="020B0503020204020204" pitchFamily="34" charset="-122"/>
              </a:rPr>
              <a:t>lr</a:t>
            </a:r>
            <a:r>
              <a:rPr kumimoji="1" lang="zh-CN" altLang="en-US" sz="1600" dirty="0">
                <a:solidFill>
                  <a:srgbClr val="595959"/>
                </a:solidFill>
                <a:ea typeface="微软雅黑" panose="020B0503020204020204" pitchFamily="34" charset="-122"/>
              </a:rPr>
              <a:t>对象中的</a:t>
            </a:r>
            <a:r>
              <a:rPr kumimoji="1" lang="en-US" altLang="zh-CN" sz="1600" dirty="0">
                <a:solidFill>
                  <a:srgbClr val="595959"/>
                </a:solidFill>
                <a:ea typeface="微软雅黑" panose="020B0503020204020204" pitchFamily="34" charset="-122"/>
              </a:rPr>
              <a:t>score()</a:t>
            </a:r>
            <a:r>
              <a:rPr kumimoji="1" lang="zh-CN" altLang="en-US" sz="1600" dirty="0">
                <a:solidFill>
                  <a:srgbClr val="595959"/>
                </a:solidFill>
                <a:ea typeface="微软雅黑" panose="020B0503020204020204" pitchFamily="34" charset="-122"/>
              </a:rPr>
              <a:t>方法，返回其拟合优度（判定系数），观察线性关系是否显著</a:t>
            </a:r>
          </a:p>
          <a:p>
            <a:r>
              <a:rPr kumimoji="1" lang="en-US" altLang="zh-CN" sz="1600" dirty="0" err="1">
                <a:solidFill>
                  <a:srgbClr val="595959"/>
                </a:solidFill>
                <a:ea typeface="微软雅黑" panose="020B0503020204020204" pitchFamily="34" charset="-122"/>
              </a:rPr>
              <a:t>Slr</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lr.score</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x,y</a:t>
            </a:r>
            <a:r>
              <a:rPr kumimoji="1" lang="en-US" altLang="zh-CN" sz="1600" dirty="0">
                <a:solidFill>
                  <a:srgbClr val="595959"/>
                </a:solidFill>
                <a:ea typeface="微软雅黑" panose="020B0503020204020204" pitchFamily="34" charset="-122"/>
              </a:rPr>
              <a:t>)   # </a:t>
            </a:r>
            <a:r>
              <a:rPr kumimoji="1" lang="zh-CN" altLang="en-US" sz="1600" dirty="0">
                <a:solidFill>
                  <a:srgbClr val="595959"/>
                </a:solidFill>
                <a:ea typeface="微软雅黑" panose="020B0503020204020204" pitchFamily="34" charset="-122"/>
              </a:rPr>
              <a:t>判定系数 </a:t>
            </a:r>
            <a:r>
              <a:rPr kumimoji="1" lang="en-US" altLang="zh-CN" sz="1600" dirty="0">
                <a:solidFill>
                  <a:srgbClr val="595959"/>
                </a:solidFill>
                <a:ea typeface="微软雅黑" panose="020B0503020204020204" pitchFamily="34" charset="-122"/>
              </a:rPr>
              <a:t>R^2</a:t>
            </a:r>
          </a:p>
          <a:p>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5</a:t>
            </a:r>
            <a:r>
              <a:rPr kumimoji="1" lang="zh-CN" altLang="en-US" sz="1600" dirty="0">
                <a:solidFill>
                  <a:srgbClr val="595959"/>
                </a:solidFill>
                <a:ea typeface="微软雅黑" panose="020B0503020204020204" pitchFamily="34" charset="-122"/>
              </a:rPr>
              <a:t>）取</a:t>
            </a:r>
            <a:r>
              <a:rPr kumimoji="1" lang="en-US" altLang="zh-CN" sz="1600" dirty="0" err="1">
                <a:solidFill>
                  <a:srgbClr val="595959"/>
                </a:solidFill>
                <a:ea typeface="微软雅黑" panose="020B0503020204020204" pitchFamily="34" charset="-122"/>
              </a:rPr>
              <a:t>lr</a:t>
            </a:r>
            <a:r>
              <a:rPr kumimoji="1" lang="zh-CN" altLang="en-US" sz="1600" dirty="0">
                <a:solidFill>
                  <a:srgbClr val="595959"/>
                </a:solidFill>
                <a:ea typeface="微软雅黑" panose="020B0503020204020204" pitchFamily="34" charset="-122"/>
              </a:rPr>
              <a:t>对象中的</a:t>
            </a:r>
            <a:r>
              <a:rPr kumimoji="1" lang="en-US" altLang="zh-CN" sz="1600" dirty="0" err="1">
                <a:solidFill>
                  <a:srgbClr val="595959"/>
                </a:solidFill>
                <a:ea typeface="微软雅黑" panose="020B0503020204020204" pitchFamily="34" charset="-122"/>
              </a:rPr>
              <a:t>coef</a:t>
            </a:r>
            <a:r>
              <a:rPr kumimoji="1" lang="en-US" altLang="zh-CN" sz="1600" dirty="0">
                <a:solidFill>
                  <a:srgbClr val="595959"/>
                </a:solidFill>
                <a:ea typeface="微软雅黑" panose="020B0503020204020204" pitchFamily="34" charset="-122"/>
              </a:rPr>
              <a:t>_</a:t>
            </a:r>
            <a:r>
              <a:rPr kumimoji="1" lang="zh-CN" altLang="en-US"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intercept_</a:t>
            </a:r>
            <a:r>
              <a:rPr kumimoji="1" lang="zh-CN" altLang="en-US" sz="1600" dirty="0">
                <a:solidFill>
                  <a:srgbClr val="595959"/>
                </a:solidFill>
                <a:ea typeface="微软雅黑" panose="020B0503020204020204" pitchFamily="34" charset="-122"/>
              </a:rPr>
              <a:t>属性，返回</a:t>
            </a:r>
            <a:r>
              <a:rPr kumimoji="1" lang="en-US" altLang="zh-CN" sz="1600" dirty="0">
                <a:solidFill>
                  <a:srgbClr val="595959"/>
                </a:solidFill>
                <a:ea typeface="微软雅黑" panose="020B0503020204020204" pitchFamily="34" charset="-122"/>
              </a:rPr>
              <a:t>x</a:t>
            </a:r>
            <a:r>
              <a:rPr kumimoji="1" lang="zh-CN" altLang="en-US" sz="1600" dirty="0">
                <a:solidFill>
                  <a:srgbClr val="595959"/>
                </a:solidFill>
                <a:ea typeface="微软雅黑" panose="020B0503020204020204" pitchFamily="34" charset="-122"/>
              </a:rPr>
              <a:t>对应的回归系数和回归系数常数项</a:t>
            </a:r>
          </a:p>
          <a:p>
            <a:r>
              <a:rPr kumimoji="1" lang="en-US" altLang="zh-CN" sz="1600" dirty="0" err="1">
                <a:solidFill>
                  <a:srgbClr val="595959"/>
                </a:solidFill>
                <a:ea typeface="微软雅黑" panose="020B0503020204020204" pitchFamily="34" charset="-122"/>
              </a:rPr>
              <a:t>c_x</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lr.coef</a:t>
            </a:r>
            <a:r>
              <a:rPr kumimoji="1" lang="en-US" altLang="zh-CN" sz="1600" dirty="0">
                <a:solidFill>
                  <a:srgbClr val="595959"/>
                </a:solidFill>
                <a:ea typeface="微软雅黑" panose="020B0503020204020204" pitchFamily="34" charset="-122"/>
              </a:rPr>
              <a:t>_        # x</a:t>
            </a:r>
            <a:r>
              <a:rPr kumimoji="1" lang="zh-CN" altLang="en-US" sz="1600" dirty="0">
                <a:solidFill>
                  <a:srgbClr val="595959"/>
                </a:solidFill>
                <a:ea typeface="微软雅黑" panose="020B0503020204020204" pitchFamily="34" charset="-122"/>
              </a:rPr>
              <a:t>对应的回归系数</a:t>
            </a:r>
          </a:p>
          <a:p>
            <a:r>
              <a:rPr kumimoji="1" lang="en-US" altLang="zh-CN" sz="1600" dirty="0" err="1">
                <a:solidFill>
                  <a:srgbClr val="595959"/>
                </a:solidFill>
                <a:ea typeface="微软雅黑" panose="020B0503020204020204" pitchFamily="34" charset="-122"/>
              </a:rPr>
              <a:t>c_b</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lr.intercept</a:t>
            </a:r>
            <a:r>
              <a:rPr kumimoji="1" lang="en-US" altLang="zh-CN" sz="1600" dirty="0">
                <a:solidFill>
                  <a:srgbClr val="595959"/>
                </a:solidFill>
                <a:ea typeface="微软雅黑" panose="020B0503020204020204" pitchFamily="34" charset="-122"/>
              </a:rPr>
              <a:t>_    # </a:t>
            </a:r>
            <a:r>
              <a:rPr kumimoji="1" lang="zh-CN" altLang="en-US" sz="1600" dirty="0">
                <a:solidFill>
                  <a:srgbClr val="595959"/>
                </a:solidFill>
                <a:ea typeface="微软雅黑" panose="020B0503020204020204" pitchFamily="34" charset="-122"/>
              </a:rPr>
              <a:t>回归系数常数项</a:t>
            </a:r>
          </a:p>
        </p:txBody>
      </p:sp>
      <p:sp>
        <p:nvSpPr>
          <p:cNvPr id="7" name="TextBox 6"/>
          <p:cNvSpPr txBox="1"/>
          <p:nvPr/>
        </p:nvSpPr>
        <p:spPr>
          <a:xfrm>
            <a:off x="5794187" y="4068065"/>
            <a:ext cx="6242190" cy="261610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1600" b="1" dirty="0"/>
              <a:t>3. </a:t>
            </a:r>
            <a:r>
              <a:rPr lang="zh-CN" altLang="en-US" sz="1600" b="1" dirty="0"/>
              <a:t>利用线性回归模型进行预测</a:t>
            </a:r>
          </a:p>
          <a:p>
            <a:r>
              <a:rPr lang="zh-CN" altLang="en-US" sz="1600" dirty="0"/>
              <a:t>（</a:t>
            </a:r>
            <a:r>
              <a:rPr lang="en-US" altLang="zh-CN" sz="1600" dirty="0"/>
              <a:t>1</a:t>
            </a:r>
            <a:r>
              <a:rPr lang="zh-CN" altLang="en-US" sz="1600" dirty="0"/>
              <a:t>）可以利用</a:t>
            </a:r>
            <a:r>
              <a:rPr lang="en-US" altLang="zh-CN" sz="1600" dirty="0" err="1"/>
              <a:t>lr</a:t>
            </a:r>
            <a:r>
              <a:rPr lang="zh-CN" altLang="en-US" sz="1600" dirty="0"/>
              <a:t>对象中的</a:t>
            </a:r>
            <a:r>
              <a:rPr lang="en-US" altLang="zh-CN" sz="1600" dirty="0"/>
              <a:t>predict()</a:t>
            </a:r>
            <a:r>
              <a:rPr lang="zh-CN" altLang="en-US" sz="1600" dirty="0"/>
              <a:t>方法进行预测，比如</a:t>
            </a:r>
          </a:p>
          <a:p>
            <a:r>
              <a:rPr lang="en-US" altLang="zh-CN" sz="1600" dirty="0"/>
              <a:t>import </a:t>
            </a:r>
            <a:r>
              <a:rPr lang="en-US" altLang="zh-CN" sz="1600" dirty="0" err="1"/>
              <a:t>numpy</a:t>
            </a:r>
            <a:r>
              <a:rPr lang="en-US" altLang="zh-CN" sz="1600" dirty="0"/>
              <a:t> as </a:t>
            </a:r>
            <a:r>
              <a:rPr lang="en-US" altLang="zh-CN" sz="1600" dirty="0" err="1"/>
              <a:t>np</a:t>
            </a:r>
            <a:endParaRPr lang="en-US" altLang="zh-CN" sz="1600" dirty="0"/>
          </a:p>
          <a:p>
            <a:r>
              <a:rPr lang="en-US" altLang="zh-CN" sz="1600" dirty="0"/>
              <a:t>x1=</a:t>
            </a:r>
            <a:r>
              <a:rPr lang="en-US" altLang="zh-CN" sz="1600" dirty="0" err="1"/>
              <a:t>np.array</a:t>
            </a:r>
            <a:r>
              <a:rPr lang="en-US" altLang="zh-CN" sz="1600" dirty="0"/>
              <a:t>([28.4,50.6,1011.9,80.54])</a:t>
            </a:r>
          </a:p>
          <a:p>
            <a:r>
              <a:rPr lang="en-US" altLang="zh-CN" sz="1600" dirty="0"/>
              <a:t>x1=x1.reshape(1,4)</a:t>
            </a:r>
          </a:p>
          <a:p>
            <a:r>
              <a:rPr lang="en-US" altLang="zh-CN" sz="1600" dirty="0"/>
              <a:t>R1=</a:t>
            </a:r>
            <a:r>
              <a:rPr lang="en-US" altLang="zh-CN" sz="1600" dirty="0" err="1"/>
              <a:t>lr.predict</a:t>
            </a:r>
            <a:r>
              <a:rPr lang="en-US" altLang="zh-CN" sz="1600" dirty="0"/>
              <a:t>(x1)   </a:t>
            </a:r>
          </a:p>
          <a:p>
            <a:r>
              <a:rPr lang="zh-CN" altLang="en-US" sz="1600" dirty="0"/>
              <a:t>（</a:t>
            </a:r>
            <a:r>
              <a:rPr lang="en-US" altLang="zh-CN" sz="1600" dirty="0"/>
              <a:t>2</a:t>
            </a:r>
            <a:r>
              <a:rPr lang="zh-CN" altLang="en-US" sz="1600" dirty="0"/>
              <a:t>）也可以利用线性回归方程式进行预测，这个方法需要自行计算，比如：</a:t>
            </a:r>
          </a:p>
          <a:p>
            <a:r>
              <a:rPr lang="en-US" altLang="zh-CN" sz="1600" dirty="0"/>
              <a:t>r1=x1*</a:t>
            </a:r>
            <a:r>
              <a:rPr lang="en-US" altLang="zh-CN" sz="1600" dirty="0" err="1"/>
              <a:t>c_x</a:t>
            </a:r>
            <a:endParaRPr lang="en-US" altLang="zh-CN" sz="1600" dirty="0"/>
          </a:p>
          <a:p>
            <a:r>
              <a:rPr lang="en-US" altLang="zh-CN" sz="1600" dirty="0"/>
              <a:t>R2=r1.sum()+</a:t>
            </a:r>
            <a:r>
              <a:rPr lang="en-US" altLang="zh-CN" sz="1600" dirty="0" err="1"/>
              <a:t>c_b</a:t>
            </a:r>
            <a:r>
              <a:rPr lang="en-US" altLang="zh-CN" sz="1600" dirty="0"/>
              <a:t>    #</a:t>
            </a:r>
            <a:r>
              <a:rPr lang="zh-CN" altLang="en-US" sz="1600" dirty="0"/>
              <a:t>计算其预测值</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5.3.3 Python</a:t>
            </a:r>
            <a:r>
              <a:rPr lang="zh-CN" altLang="en-US" sz="2800" dirty="0">
                <a:solidFill>
                  <a:schemeClr val="accent2"/>
                </a:solidFill>
                <a:latin typeface="微软雅黑" panose="020B0503020204020204" pitchFamily="34" charset="-122"/>
                <a:ea typeface="微软雅黑" panose="020B0503020204020204" pitchFamily="34" charset="-122"/>
              </a:rPr>
              <a:t>线性回归应用举例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31" name="流程图: 文档 30"/>
          <p:cNvSpPr/>
          <p:nvPr/>
        </p:nvSpPr>
        <p:spPr bwMode="auto">
          <a:xfrm>
            <a:off x="171788" y="1191072"/>
            <a:ext cx="3312368" cy="2232248"/>
          </a:xfrm>
          <a:prstGeom prst="flowChartDocumen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en-US" altLang="zh-CN" b="1" dirty="0">
                <a:solidFill>
                  <a:schemeClr val="tx1"/>
                </a:solidFill>
                <a:latin typeface="Arial" panose="020B0604020202020204" pitchFamily="34" charset="0"/>
                <a:ea typeface="宋体" panose="02010600030101010101" pitchFamily="2" charset="-122"/>
              </a:rPr>
              <a:t># 1.</a:t>
            </a:r>
            <a:r>
              <a:rPr lang="zh-CN" altLang="en-US" b="1" dirty="0">
                <a:solidFill>
                  <a:schemeClr val="tx1"/>
                </a:solidFill>
                <a:latin typeface="Arial" panose="020B0604020202020204" pitchFamily="34" charset="0"/>
                <a:ea typeface="宋体" panose="02010600030101010101" pitchFamily="2" charset="-122"/>
              </a:rPr>
              <a:t>数据获取</a:t>
            </a:r>
          </a:p>
          <a:p>
            <a:r>
              <a:rPr lang="en-US" altLang="zh-CN" dirty="0">
                <a:solidFill>
                  <a:schemeClr val="tx1"/>
                </a:solidFill>
                <a:latin typeface="Arial" panose="020B0604020202020204" pitchFamily="34" charset="0"/>
                <a:ea typeface="宋体" panose="02010600030101010101" pitchFamily="2" charset="-122"/>
              </a:rPr>
              <a:t>import pandas as </a:t>
            </a:r>
            <a:r>
              <a:rPr lang="en-US" altLang="zh-CN" dirty="0" err="1">
                <a:solidFill>
                  <a:schemeClr val="tx1"/>
                </a:solidFill>
                <a:latin typeface="Arial" panose="020B0604020202020204" pitchFamily="34" charset="0"/>
                <a:ea typeface="宋体" panose="02010600030101010101" pitchFamily="2" charset="-122"/>
              </a:rPr>
              <a:t>pd</a:t>
            </a:r>
            <a:endParaRPr lang="en-US" altLang="zh-CN" dirty="0">
              <a:solidFill>
                <a:schemeClr val="tx1"/>
              </a:solidFill>
              <a:latin typeface="Arial" panose="020B0604020202020204" pitchFamily="34" charset="0"/>
              <a:ea typeface="宋体" panose="02010600030101010101" pitchFamily="2" charset="-122"/>
            </a:endParaRPr>
          </a:p>
          <a:p>
            <a:r>
              <a:rPr lang="en-US" altLang="zh-CN" dirty="0">
                <a:solidFill>
                  <a:schemeClr val="tx1"/>
                </a:solidFill>
                <a:latin typeface="Arial" panose="020B0604020202020204" pitchFamily="34" charset="0"/>
                <a:ea typeface="宋体" panose="02010600030101010101" pitchFamily="2" charset="-122"/>
              </a:rPr>
              <a:t>data = </a:t>
            </a:r>
            <a:r>
              <a:rPr lang="en-US" altLang="zh-CN" dirty="0" err="1">
                <a:solidFill>
                  <a:schemeClr val="tx1"/>
                </a:solidFill>
                <a:latin typeface="Arial" panose="020B0604020202020204" pitchFamily="34" charset="0"/>
                <a:ea typeface="宋体" panose="02010600030101010101" pitchFamily="2" charset="-122"/>
              </a:rPr>
              <a:t>pd.read_excel</a:t>
            </a:r>
            <a:r>
              <a:rPr lang="en-US" altLang="zh-CN" dirty="0">
                <a:solidFill>
                  <a:schemeClr val="tx1"/>
                </a:solidFill>
                <a:latin typeface="Arial" panose="020B0604020202020204" pitchFamily="34" charset="0"/>
                <a:ea typeface="宋体" panose="02010600030101010101" pitchFamily="2" charset="-122"/>
              </a:rPr>
              <a:t>('</a:t>
            </a:r>
            <a:r>
              <a:rPr lang="zh-CN" altLang="en-US" dirty="0">
                <a:solidFill>
                  <a:schemeClr val="tx1"/>
                </a:solidFill>
                <a:latin typeface="Arial" panose="020B0604020202020204" pitchFamily="34" charset="0"/>
                <a:ea typeface="宋体" panose="02010600030101010101" pitchFamily="2" charset="-122"/>
              </a:rPr>
              <a:t>发电场数据</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xlsx</a:t>
            </a:r>
            <a:r>
              <a:rPr lang="en-US" altLang="zh-CN" dirty="0">
                <a:solidFill>
                  <a:schemeClr val="tx1"/>
                </a:solidFill>
                <a:latin typeface="Arial" panose="020B0604020202020204" pitchFamily="34" charset="0"/>
                <a:ea typeface="宋体" panose="02010600030101010101" pitchFamily="2" charset="-122"/>
              </a:rPr>
              <a:t>')</a:t>
            </a:r>
          </a:p>
          <a:p>
            <a:r>
              <a:rPr lang="en-US" altLang="zh-CN" dirty="0">
                <a:solidFill>
                  <a:schemeClr val="tx1"/>
                </a:solidFill>
                <a:latin typeface="Arial" panose="020B0604020202020204" pitchFamily="34" charset="0"/>
                <a:ea typeface="宋体" panose="02010600030101010101" pitchFamily="2" charset="-122"/>
              </a:rPr>
              <a:t>x = </a:t>
            </a:r>
            <a:r>
              <a:rPr lang="en-US" altLang="zh-CN" dirty="0" err="1">
                <a:solidFill>
                  <a:schemeClr val="tx1"/>
                </a:solidFill>
                <a:latin typeface="Arial" panose="020B0604020202020204" pitchFamily="34" charset="0"/>
                <a:ea typeface="宋体" panose="02010600030101010101" pitchFamily="2" charset="-122"/>
              </a:rPr>
              <a:t>data.iloc</a:t>
            </a:r>
            <a:r>
              <a:rPr lang="en-US" altLang="zh-CN" dirty="0">
                <a:solidFill>
                  <a:schemeClr val="tx1"/>
                </a:solidFill>
                <a:latin typeface="Arial" panose="020B0604020202020204" pitchFamily="34" charset="0"/>
                <a:ea typeface="宋体" panose="02010600030101010101" pitchFamily="2" charset="-122"/>
              </a:rPr>
              <a:t>[:,0:4].</a:t>
            </a:r>
            <a:r>
              <a:rPr lang="en-US" altLang="zh-CN" dirty="0" err="1">
                <a:solidFill>
                  <a:schemeClr val="tx1"/>
                </a:solidFill>
                <a:latin typeface="Arial" panose="020B0604020202020204" pitchFamily="34" charset="0"/>
                <a:ea typeface="宋体" panose="02010600030101010101" pitchFamily="2" charset="-122"/>
              </a:rPr>
              <a:t>as_matrix</a:t>
            </a:r>
            <a:r>
              <a:rPr lang="en-US" altLang="zh-CN" dirty="0">
                <a:solidFill>
                  <a:schemeClr val="tx1"/>
                </a:solidFill>
                <a:latin typeface="Arial" panose="020B0604020202020204" pitchFamily="34" charset="0"/>
                <a:ea typeface="宋体" panose="02010600030101010101" pitchFamily="2" charset="-122"/>
              </a:rPr>
              <a:t>()</a:t>
            </a:r>
          </a:p>
          <a:p>
            <a:r>
              <a:rPr lang="en-US" altLang="zh-CN" dirty="0">
                <a:solidFill>
                  <a:schemeClr val="tx1"/>
                </a:solidFill>
                <a:latin typeface="Arial" panose="020B0604020202020204" pitchFamily="34" charset="0"/>
                <a:ea typeface="宋体" panose="02010600030101010101" pitchFamily="2" charset="-122"/>
              </a:rPr>
              <a:t>y = </a:t>
            </a:r>
            <a:r>
              <a:rPr lang="en-US" altLang="zh-CN" dirty="0" err="1">
                <a:solidFill>
                  <a:schemeClr val="tx1"/>
                </a:solidFill>
                <a:latin typeface="Arial" panose="020B0604020202020204" pitchFamily="34" charset="0"/>
                <a:ea typeface="宋体" panose="02010600030101010101" pitchFamily="2" charset="-122"/>
              </a:rPr>
              <a:t>data.iloc</a:t>
            </a:r>
            <a:r>
              <a:rPr lang="en-US" altLang="zh-CN" dirty="0">
                <a:solidFill>
                  <a:schemeClr val="tx1"/>
                </a:solidFill>
                <a:latin typeface="Arial" panose="020B0604020202020204" pitchFamily="34" charset="0"/>
                <a:ea typeface="宋体" panose="02010600030101010101" pitchFamily="2" charset="-122"/>
              </a:rPr>
              <a:t>[:,4].</a:t>
            </a:r>
            <a:r>
              <a:rPr lang="en-US" altLang="zh-CN" dirty="0" err="1">
                <a:solidFill>
                  <a:schemeClr val="tx1"/>
                </a:solidFill>
                <a:latin typeface="Arial" panose="020B0604020202020204" pitchFamily="34" charset="0"/>
                <a:ea typeface="宋体" panose="02010600030101010101" pitchFamily="2" charset="-122"/>
              </a:rPr>
              <a:t>as_matrix</a:t>
            </a:r>
            <a:r>
              <a:rPr lang="en-US" altLang="zh-CN" dirty="0">
                <a:solidFill>
                  <a:schemeClr val="tx1"/>
                </a:solidFill>
                <a:latin typeface="Arial" panose="020B0604020202020204" pitchFamily="34" charset="0"/>
                <a:ea typeface="宋体" panose="02010600030101010101" pitchFamily="2" charset="-122"/>
              </a:rPr>
              <a:t>()</a:t>
            </a:r>
          </a:p>
        </p:txBody>
      </p:sp>
      <p:sp>
        <p:nvSpPr>
          <p:cNvPr id="35" name="流程图: 文档 34"/>
          <p:cNvSpPr/>
          <p:nvPr/>
        </p:nvSpPr>
        <p:spPr bwMode="auto">
          <a:xfrm>
            <a:off x="3485793" y="1628800"/>
            <a:ext cx="3312368" cy="4608512"/>
          </a:xfrm>
          <a:prstGeom prst="flowChartDocumen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en-US" altLang="zh-CN" dirty="0">
                <a:solidFill>
                  <a:schemeClr val="tx1"/>
                </a:solidFill>
                <a:latin typeface="Arial" panose="020B0604020202020204" pitchFamily="34" charset="0"/>
                <a:ea typeface="宋体" panose="02010600030101010101" pitchFamily="2" charset="-122"/>
              </a:rPr>
              <a:t># </a:t>
            </a:r>
            <a:r>
              <a:rPr lang="en-US" altLang="zh-CN" b="1" dirty="0">
                <a:solidFill>
                  <a:schemeClr val="tx1"/>
                </a:solidFill>
                <a:latin typeface="Arial" panose="020B0604020202020204" pitchFamily="34" charset="0"/>
                <a:ea typeface="宋体" panose="02010600030101010101" pitchFamily="2" charset="-122"/>
              </a:rPr>
              <a:t>2.</a:t>
            </a:r>
            <a:r>
              <a:rPr lang="zh-CN" altLang="en-US" b="1" dirty="0">
                <a:solidFill>
                  <a:schemeClr val="tx1"/>
                </a:solidFill>
                <a:latin typeface="Arial" panose="020B0604020202020204" pitchFamily="34" charset="0"/>
                <a:ea typeface="宋体" panose="02010600030101010101" pitchFamily="2" charset="-122"/>
              </a:rPr>
              <a:t>导入线性回归模块，简称为</a:t>
            </a:r>
            <a:r>
              <a:rPr lang="en-US" altLang="zh-CN" b="1" dirty="0">
                <a:solidFill>
                  <a:schemeClr val="tx1"/>
                </a:solidFill>
                <a:latin typeface="Arial" panose="020B0604020202020204" pitchFamily="34" charset="0"/>
                <a:ea typeface="宋体" panose="02010600030101010101" pitchFamily="2" charset="-122"/>
              </a:rPr>
              <a:t>LR</a:t>
            </a:r>
          </a:p>
          <a:p>
            <a:r>
              <a:rPr lang="en-US" altLang="zh-CN" dirty="0">
                <a:solidFill>
                  <a:schemeClr val="tx1"/>
                </a:solidFill>
                <a:latin typeface="Arial" panose="020B0604020202020204" pitchFamily="34" charset="0"/>
                <a:ea typeface="宋体" panose="02010600030101010101" pitchFamily="2" charset="-122"/>
              </a:rPr>
              <a:t>from </a:t>
            </a:r>
            <a:r>
              <a:rPr lang="en-US" altLang="zh-CN" dirty="0" err="1">
                <a:solidFill>
                  <a:schemeClr val="tx1"/>
                </a:solidFill>
                <a:latin typeface="Arial" panose="020B0604020202020204" pitchFamily="34" charset="0"/>
                <a:ea typeface="宋体" panose="02010600030101010101" pitchFamily="2" charset="-122"/>
              </a:rPr>
              <a:t>sklearn.linear_model</a:t>
            </a:r>
            <a:r>
              <a:rPr lang="en-US" altLang="zh-CN" dirty="0">
                <a:solidFill>
                  <a:schemeClr val="tx1"/>
                </a:solidFill>
                <a:latin typeface="Arial" panose="020B0604020202020204" pitchFamily="34" charset="0"/>
                <a:ea typeface="宋体" panose="02010600030101010101" pitchFamily="2" charset="-122"/>
              </a:rPr>
              <a:t> import </a:t>
            </a:r>
            <a:r>
              <a:rPr lang="en-US" altLang="zh-CN" dirty="0" err="1">
                <a:solidFill>
                  <a:schemeClr val="tx1"/>
                </a:solidFill>
                <a:latin typeface="Arial" panose="020B0604020202020204" pitchFamily="34" charset="0"/>
                <a:ea typeface="宋体" panose="02010600030101010101" pitchFamily="2" charset="-122"/>
              </a:rPr>
              <a:t>LinearRegression</a:t>
            </a:r>
            <a:r>
              <a:rPr lang="en-US" altLang="zh-CN" dirty="0">
                <a:solidFill>
                  <a:schemeClr val="tx1"/>
                </a:solidFill>
                <a:latin typeface="Arial" panose="020B0604020202020204" pitchFamily="34" charset="0"/>
                <a:ea typeface="宋体" panose="02010600030101010101" pitchFamily="2" charset="-122"/>
              </a:rPr>
              <a:t> as LR</a:t>
            </a:r>
          </a:p>
          <a:p>
            <a:r>
              <a:rPr lang="en-US" altLang="zh-CN" dirty="0" err="1">
                <a:solidFill>
                  <a:schemeClr val="tx1"/>
                </a:solidFill>
                <a:latin typeface="Arial" panose="020B0604020202020204" pitchFamily="34" charset="0"/>
                <a:ea typeface="宋体" panose="02010600030101010101" pitchFamily="2" charset="-122"/>
              </a:rPr>
              <a:t>lr</a:t>
            </a:r>
            <a:r>
              <a:rPr lang="en-US" altLang="zh-CN" dirty="0">
                <a:solidFill>
                  <a:schemeClr val="tx1"/>
                </a:solidFill>
                <a:latin typeface="Arial" panose="020B0604020202020204" pitchFamily="34" charset="0"/>
                <a:ea typeface="宋体" panose="02010600030101010101" pitchFamily="2" charset="-122"/>
              </a:rPr>
              <a:t> = LR()    #</a:t>
            </a:r>
            <a:r>
              <a:rPr lang="zh-CN" altLang="en-US" dirty="0">
                <a:solidFill>
                  <a:schemeClr val="tx1"/>
                </a:solidFill>
                <a:latin typeface="Arial" panose="020B0604020202020204" pitchFamily="34" charset="0"/>
                <a:ea typeface="宋体" panose="02010600030101010101" pitchFamily="2" charset="-122"/>
              </a:rPr>
              <a:t>创建线性回归模型类</a:t>
            </a:r>
          </a:p>
          <a:p>
            <a:r>
              <a:rPr lang="en-US" altLang="zh-CN" dirty="0" err="1">
                <a:solidFill>
                  <a:schemeClr val="tx1"/>
                </a:solidFill>
                <a:latin typeface="Arial" panose="020B0604020202020204" pitchFamily="34" charset="0"/>
                <a:ea typeface="宋体" panose="02010600030101010101" pitchFamily="2" charset="-122"/>
              </a:rPr>
              <a:t>lr.fit</a:t>
            </a:r>
            <a:r>
              <a:rPr lang="en-US" altLang="zh-CN" dirty="0">
                <a:solidFill>
                  <a:schemeClr val="tx1"/>
                </a:solidFill>
                <a:latin typeface="Arial" panose="020B0604020202020204" pitchFamily="34" charset="0"/>
                <a:ea typeface="宋体" panose="02010600030101010101" pitchFamily="2" charset="-122"/>
              </a:rPr>
              <a:t>(x, y) #</a:t>
            </a:r>
            <a:r>
              <a:rPr lang="zh-CN" altLang="en-US" dirty="0">
                <a:solidFill>
                  <a:schemeClr val="tx1"/>
                </a:solidFill>
                <a:latin typeface="Arial" panose="020B0604020202020204" pitchFamily="34" charset="0"/>
                <a:ea typeface="宋体" panose="02010600030101010101" pitchFamily="2" charset="-122"/>
              </a:rPr>
              <a:t>拟合</a:t>
            </a:r>
          </a:p>
          <a:p>
            <a:r>
              <a:rPr lang="en-US" altLang="zh-CN" dirty="0" err="1">
                <a:solidFill>
                  <a:schemeClr val="tx1"/>
                </a:solidFill>
                <a:latin typeface="Arial" panose="020B0604020202020204" pitchFamily="34" charset="0"/>
                <a:ea typeface="宋体" panose="02010600030101010101" pitchFamily="2" charset="-122"/>
              </a:rPr>
              <a:t>Slr</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lr.score</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x,y</a:t>
            </a:r>
            <a:r>
              <a:rPr lang="en-US" altLang="zh-CN" dirty="0">
                <a:solidFill>
                  <a:schemeClr val="tx1"/>
                </a:solidFill>
                <a:latin typeface="Arial" panose="020B0604020202020204" pitchFamily="34" charset="0"/>
                <a:ea typeface="宋体" panose="02010600030101010101" pitchFamily="2" charset="-122"/>
              </a:rPr>
              <a:t>)   # </a:t>
            </a:r>
            <a:r>
              <a:rPr lang="zh-CN" altLang="en-US" dirty="0">
                <a:solidFill>
                  <a:schemeClr val="tx1"/>
                </a:solidFill>
                <a:latin typeface="Arial" panose="020B0604020202020204" pitchFamily="34" charset="0"/>
                <a:ea typeface="宋体" panose="02010600030101010101" pitchFamily="2" charset="-122"/>
              </a:rPr>
              <a:t>判定系数 </a:t>
            </a:r>
            <a:r>
              <a:rPr lang="en-US" altLang="zh-CN" dirty="0">
                <a:solidFill>
                  <a:schemeClr val="tx1"/>
                </a:solidFill>
                <a:latin typeface="Arial" panose="020B0604020202020204" pitchFamily="34" charset="0"/>
                <a:ea typeface="宋体" panose="02010600030101010101" pitchFamily="2" charset="-122"/>
              </a:rPr>
              <a:t>R^2</a:t>
            </a:r>
          </a:p>
          <a:p>
            <a:r>
              <a:rPr lang="en-US" altLang="zh-CN" dirty="0" err="1">
                <a:solidFill>
                  <a:schemeClr val="tx1"/>
                </a:solidFill>
                <a:latin typeface="Arial" panose="020B0604020202020204" pitchFamily="34" charset="0"/>
                <a:ea typeface="宋体" panose="02010600030101010101" pitchFamily="2" charset="-122"/>
              </a:rPr>
              <a:t>c_x</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lr.coef</a:t>
            </a:r>
            <a:r>
              <a:rPr lang="en-US" altLang="zh-CN" dirty="0">
                <a:solidFill>
                  <a:schemeClr val="tx1"/>
                </a:solidFill>
                <a:latin typeface="Arial" panose="020B0604020202020204" pitchFamily="34" charset="0"/>
                <a:ea typeface="宋体" panose="02010600030101010101" pitchFamily="2" charset="-122"/>
              </a:rPr>
              <a:t>_        # x</a:t>
            </a:r>
            <a:r>
              <a:rPr lang="zh-CN" altLang="en-US" dirty="0">
                <a:solidFill>
                  <a:schemeClr val="tx1"/>
                </a:solidFill>
                <a:latin typeface="Arial" panose="020B0604020202020204" pitchFamily="34" charset="0"/>
                <a:ea typeface="宋体" panose="02010600030101010101" pitchFamily="2" charset="-122"/>
              </a:rPr>
              <a:t>对应的回归系数</a:t>
            </a:r>
          </a:p>
          <a:p>
            <a:r>
              <a:rPr lang="en-US" altLang="zh-CN" dirty="0" err="1">
                <a:solidFill>
                  <a:schemeClr val="tx1"/>
                </a:solidFill>
                <a:latin typeface="Arial" panose="020B0604020202020204" pitchFamily="34" charset="0"/>
                <a:ea typeface="宋体" panose="02010600030101010101" pitchFamily="2" charset="-122"/>
              </a:rPr>
              <a:t>c_b</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lr.intercept</a:t>
            </a:r>
            <a:r>
              <a:rPr lang="en-US" altLang="zh-CN" dirty="0">
                <a:solidFill>
                  <a:schemeClr val="tx1"/>
                </a:solidFill>
                <a:latin typeface="Arial" panose="020B0604020202020204" pitchFamily="34" charset="0"/>
                <a:ea typeface="宋体" panose="02010600030101010101" pitchFamily="2" charset="-122"/>
              </a:rPr>
              <a:t>_   # </a:t>
            </a:r>
            <a:r>
              <a:rPr lang="zh-CN" altLang="en-US" dirty="0">
                <a:solidFill>
                  <a:schemeClr val="tx1"/>
                </a:solidFill>
                <a:latin typeface="Arial" panose="020B0604020202020204" pitchFamily="34" charset="0"/>
                <a:ea typeface="宋体" panose="02010600030101010101" pitchFamily="2" charset="-122"/>
              </a:rPr>
              <a:t>回归系数常数项</a:t>
            </a:r>
          </a:p>
        </p:txBody>
      </p:sp>
      <p:sp>
        <p:nvSpPr>
          <p:cNvPr id="36" name="流程图: 文档 35"/>
          <p:cNvSpPr/>
          <p:nvPr/>
        </p:nvSpPr>
        <p:spPr bwMode="auto">
          <a:xfrm>
            <a:off x="6798161" y="1198802"/>
            <a:ext cx="3312368" cy="4822485"/>
          </a:xfrm>
          <a:prstGeom prst="flowChartDocumen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en-US" altLang="zh-CN" b="1" dirty="0">
                <a:solidFill>
                  <a:schemeClr val="tx1"/>
                </a:solidFill>
                <a:latin typeface="Arial" panose="020B0604020202020204" pitchFamily="34" charset="0"/>
                <a:ea typeface="宋体" panose="02010600030101010101" pitchFamily="2" charset="-122"/>
              </a:rPr>
              <a:t># 3.</a:t>
            </a:r>
            <a:r>
              <a:rPr lang="zh-CN" altLang="en-US" b="1" dirty="0">
                <a:solidFill>
                  <a:schemeClr val="tx1"/>
                </a:solidFill>
                <a:latin typeface="Arial" panose="020B0604020202020204" pitchFamily="34" charset="0"/>
                <a:ea typeface="宋体" panose="02010600030101010101" pitchFamily="2" charset="-122"/>
              </a:rPr>
              <a:t>预测</a:t>
            </a:r>
          </a:p>
          <a:p>
            <a:r>
              <a:rPr lang="en-US" altLang="zh-CN" dirty="0">
                <a:solidFill>
                  <a:schemeClr val="tx1"/>
                </a:solidFill>
                <a:latin typeface="Arial" panose="020B0604020202020204" pitchFamily="34" charset="0"/>
                <a:ea typeface="宋体" panose="02010600030101010101" pitchFamily="2" charset="-122"/>
              </a:rPr>
              <a:t>import </a:t>
            </a:r>
            <a:r>
              <a:rPr lang="en-US" altLang="zh-CN" dirty="0" err="1">
                <a:solidFill>
                  <a:schemeClr val="tx1"/>
                </a:solidFill>
                <a:latin typeface="Arial" panose="020B0604020202020204" pitchFamily="34" charset="0"/>
                <a:ea typeface="宋体" panose="02010600030101010101" pitchFamily="2" charset="-122"/>
              </a:rPr>
              <a:t>numpy</a:t>
            </a:r>
            <a:r>
              <a:rPr lang="en-US" altLang="zh-CN" dirty="0">
                <a:solidFill>
                  <a:schemeClr val="tx1"/>
                </a:solidFill>
                <a:latin typeface="Arial" panose="020B0604020202020204" pitchFamily="34" charset="0"/>
                <a:ea typeface="宋体" panose="02010600030101010101" pitchFamily="2" charset="-122"/>
              </a:rPr>
              <a:t> as </a:t>
            </a:r>
            <a:r>
              <a:rPr lang="en-US" altLang="zh-CN" dirty="0" err="1">
                <a:solidFill>
                  <a:schemeClr val="tx1"/>
                </a:solidFill>
                <a:latin typeface="Arial" panose="020B0604020202020204" pitchFamily="34" charset="0"/>
                <a:ea typeface="宋体" panose="02010600030101010101" pitchFamily="2" charset="-122"/>
              </a:rPr>
              <a:t>np</a:t>
            </a:r>
            <a:endParaRPr lang="en-US" altLang="zh-CN" dirty="0">
              <a:solidFill>
                <a:schemeClr val="tx1"/>
              </a:solidFill>
              <a:latin typeface="Arial" panose="020B0604020202020204" pitchFamily="34" charset="0"/>
              <a:ea typeface="宋体" panose="02010600030101010101" pitchFamily="2" charset="-122"/>
            </a:endParaRPr>
          </a:p>
          <a:p>
            <a:r>
              <a:rPr lang="en-US" altLang="zh-CN" dirty="0">
                <a:solidFill>
                  <a:schemeClr val="tx1"/>
                </a:solidFill>
                <a:latin typeface="Arial" panose="020B0604020202020204" pitchFamily="34" charset="0"/>
                <a:ea typeface="宋体" panose="02010600030101010101" pitchFamily="2" charset="-122"/>
              </a:rPr>
              <a:t>x1=</a:t>
            </a:r>
            <a:r>
              <a:rPr lang="en-US" altLang="zh-CN" dirty="0" err="1">
                <a:solidFill>
                  <a:schemeClr val="tx1"/>
                </a:solidFill>
                <a:latin typeface="Arial" panose="020B0604020202020204" pitchFamily="34" charset="0"/>
                <a:ea typeface="宋体" panose="02010600030101010101" pitchFamily="2" charset="-122"/>
              </a:rPr>
              <a:t>np.array</a:t>
            </a:r>
            <a:r>
              <a:rPr lang="en-US" altLang="zh-CN" dirty="0">
                <a:solidFill>
                  <a:schemeClr val="tx1"/>
                </a:solidFill>
                <a:latin typeface="Arial" panose="020B0604020202020204" pitchFamily="34" charset="0"/>
                <a:ea typeface="宋体" panose="02010600030101010101" pitchFamily="2" charset="-122"/>
              </a:rPr>
              <a:t>([28.4,50.6,1011.9,80.54])</a:t>
            </a:r>
          </a:p>
          <a:p>
            <a:r>
              <a:rPr lang="en-US" altLang="zh-CN" dirty="0">
                <a:solidFill>
                  <a:schemeClr val="tx1"/>
                </a:solidFill>
                <a:latin typeface="Arial" panose="020B0604020202020204" pitchFamily="34" charset="0"/>
                <a:ea typeface="宋体" panose="02010600030101010101" pitchFamily="2" charset="-122"/>
              </a:rPr>
              <a:t>x1=x1.reshape(1,4)</a:t>
            </a:r>
          </a:p>
          <a:p>
            <a:r>
              <a:rPr lang="en-US" altLang="zh-CN" dirty="0">
                <a:solidFill>
                  <a:schemeClr val="tx1"/>
                </a:solidFill>
                <a:latin typeface="Arial" panose="020B0604020202020204" pitchFamily="34" charset="0"/>
                <a:ea typeface="宋体" panose="02010600030101010101" pitchFamily="2" charset="-122"/>
              </a:rPr>
              <a:t>R1=</a:t>
            </a:r>
            <a:r>
              <a:rPr lang="en-US" altLang="zh-CN" dirty="0" err="1">
                <a:solidFill>
                  <a:schemeClr val="tx1"/>
                </a:solidFill>
                <a:latin typeface="Arial" panose="020B0604020202020204" pitchFamily="34" charset="0"/>
                <a:ea typeface="宋体" panose="02010600030101010101" pitchFamily="2" charset="-122"/>
              </a:rPr>
              <a:t>lr.predict</a:t>
            </a:r>
            <a:r>
              <a:rPr lang="en-US" altLang="zh-CN" dirty="0">
                <a:solidFill>
                  <a:schemeClr val="tx1"/>
                </a:solidFill>
                <a:latin typeface="Arial" panose="020B0604020202020204" pitchFamily="34" charset="0"/>
                <a:ea typeface="宋体" panose="02010600030101010101" pitchFamily="2" charset="-122"/>
              </a:rPr>
              <a:t>(x1)   #</a:t>
            </a:r>
            <a:r>
              <a:rPr lang="zh-CN" altLang="en-US" dirty="0">
                <a:solidFill>
                  <a:schemeClr val="tx1"/>
                </a:solidFill>
                <a:latin typeface="Arial" panose="020B0604020202020204" pitchFamily="34" charset="0"/>
                <a:ea typeface="宋体" panose="02010600030101010101" pitchFamily="2" charset="-122"/>
              </a:rPr>
              <a:t>采用自带函数预测</a:t>
            </a:r>
          </a:p>
          <a:p>
            <a:r>
              <a:rPr lang="en-US" altLang="zh-CN" dirty="0">
                <a:solidFill>
                  <a:schemeClr val="tx1"/>
                </a:solidFill>
                <a:latin typeface="Arial" panose="020B0604020202020204" pitchFamily="34" charset="0"/>
                <a:ea typeface="宋体" panose="02010600030101010101" pitchFamily="2" charset="-122"/>
              </a:rPr>
              <a:t>r1=x1*</a:t>
            </a:r>
            <a:r>
              <a:rPr lang="en-US" altLang="zh-CN" dirty="0" err="1">
                <a:solidFill>
                  <a:schemeClr val="tx1"/>
                </a:solidFill>
                <a:latin typeface="Arial" panose="020B0604020202020204" pitchFamily="34" charset="0"/>
                <a:ea typeface="宋体" panose="02010600030101010101" pitchFamily="2" charset="-122"/>
              </a:rPr>
              <a:t>c_x</a:t>
            </a:r>
            <a:endParaRPr lang="en-US" altLang="zh-CN" dirty="0">
              <a:solidFill>
                <a:schemeClr val="tx1"/>
              </a:solidFill>
              <a:latin typeface="Arial" panose="020B0604020202020204" pitchFamily="34" charset="0"/>
              <a:ea typeface="宋体" panose="02010600030101010101" pitchFamily="2" charset="-122"/>
            </a:endParaRPr>
          </a:p>
          <a:p>
            <a:r>
              <a:rPr lang="en-US" altLang="zh-CN" dirty="0">
                <a:solidFill>
                  <a:schemeClr val="tx1"/>
                </a:solidFill>
                <a:latin typeface="Arial" panose="020B0604020202020204" pitchFamily="34" charset="0"/>
                <a:ea typeface="宋体" panose="02010600030101010101" pitchFamily="2" charset="-122"/>
              </a:rPr>
              <a:t>R2=r1.sum()+</a:t>
            </a:r>
            <a:r>
              <a:rPr lang="en-US" altLang="zh-CN" dirty="0" err="1">
                <a:solidFill>
                  <a:schemeClr val="tx1"/>
                </a:solidFill>
                <a:latin typeface="Arial" panose="020B0604020202020204" pitchFamily="34" charset="0"/>
                <a:ea typeface="宋体" panose="02010600030101010101" pitchFamily="2" charset="-122"/>
              </a:rPr>
              <a:t>c_b</a:t>
            </a:r>
            <a:r>
              <a:rPr lang="en-US" altLang="zh-CN" dirty="0">
                <a:solidFill>
                  <a:schemeClr val="tx1"/>
                </a:solidFill>
                <a:latin typeface="Arial" panose="020B0604020202020204" pitchFamily="34" charset="0"/>
                <a:ea typeface="宋体" panose="02010600030101010101" pitchFamily="2" charset="-122"/>
              </a:rPr>
              <a:t>    #</a:t>
            </a:r>
            <a:r>
              <a:rPr lang="zh-CN" altLang="en-US" dirty="0">
                <a:solidFill>
                  <a:schemeClr val="tx1"/>
                </a:solidFill>
                <a:latin typeface="Arial" panose="020B0604020202020204" pitchFamily="34" charset="0"/>
                <a:ea typeface="宋体" panose="02010600030101010101" pitchFamily="2" charset="-122"/>
              </a:rPr>
              <a:t>计算其预测值</a:t>
            </a:r>
          </a:p>
          <a:p>
            <a:r>
              <a:rPr lang="en-US" altLang="zh-CN" dirty="0">
                <a:solidFill>
                  <a:schemeClr val="tx1"/>
                </a:solidFill>
                <a:latin typeface="Arial" panose="020B0604020202020204" pitchFamily="34" charset="0"/>
                <a:ea typeface="宋体" panose="02010600030101010101" pitchFamily="2" charset="-122"/>
              </a:rPr>
              <a:t>print('x</a:t>
            </a:r>
            <a:r>
              <a:rPr lang="zh-CN" altLang="en-US" dirty="0">
                <a:solidFill>
                  <a:schemeClr val="tx1"/>
                </a:solidFill>
                <a:latin typeface="Arial" panose="020B0604020202020204" pitchFamily="34" charset="0"/>
                <a:ea typeface="宋体" panose="02010600030101010101" pitchFamily="2" charset="-122"/>
              </a:rPr>
              <a:t>回归系数为：</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c_x</a:t>
            </a:r>
            <a:r>
              <a:rPr lang="en-US" altLang="zh-CN" dirty="0">
                <a:solidFill>
                  <a:schemeClr val="tx1"/>
                </a:solidFill>
                <a:latin typeface="Arial" panose="020B0604020202020204" pitchFamily="34" charset="0"/>
                <a:ea typeface="宋体" panose="02010600030101010101" pitchFamily="2" charset="-122"/>
              </a:rPr>
              <a:t>)</a:t>
            </a:r>
          </a:p>
          <a:p>
            <a:r>
              <a:rPr lang="en-US" altLang="zh-CN" dirty="0">
                <a:solidFill>
                  <a:schemeClr val="tx1"/>
                </a:solidFill>
                <a:latin typeface="Arial" panose="020B0604020202020204" pitchFamily="34" charset="0"/>
                <a:ea typeface="宋体" panose="02010600030101010101" pitchFamily="2" charset="-122"/>
              </a:rPr>
              <a:t>print('</a:t>
            </a:r>
            <a:r>
              <a:rPr lang="zh-CN" altLang="en-US" dirty="0">
                <a:solidFill>
                  <a:schemeClr val="tx1"/>
                </a:solidFill>
                <a:latin typeface="Arial" panose="020B0604020202020204" pitchFamily="34" charset="0"/>
                <a:ea typeface="宋体" panose="02010600030101010101" pitchFamily="2" charset="-122"/>
              </a:rPr>
              <a:t>回归系数常数项为：</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c_b</a:t>
            </a:r>
            <a:r>
              <a:rPr lang="en-US" altLang="zh-CN" dirty="0">
                <a:solidFill>
                  <a:schemeClr val="tx1"/>
                </a:solidFill>
                <a:latin typeface="Arial" panose="020B0604020202020204" pitchFamily="34" charset="0"/>
                <a:ea typeface="宋体" panose="02010600030101010101" pitchFamily="2" charset="-122"/>
              </a:rPr>
              <a:t>)</a:t>
            </a:r>
          </a:p>
          <a:p>
            <a:r>
              <a:rPr lang="en-US" altLang="zh-CN" dirty="0">
                <a:solidFill>
                  <a:schemeClr val="tx1"/>
                </a:solidFill>
                <a:latin typeface="Arial" panose="020B0604020202020204" pitchFamily="34" charset="0"/>
                <a:ea typeface="宋体" panose="02010600030101010101" pitchFamily="2" charset="-122"/>
              </a:rPr>
              <a:t>print('</a:t>
            </a:r>
            <a:r>
              <a:rPr lang="zh-CN" altLang="en-US" dirty="0">
                <a:solidFill>
                  <a:schemeClr val="tx1"/>
                </a:solidFill>
                <a:latin typeface="Arial" panose="020B0604020202020204" pitchFamily="34" charset="0"/>
                <a:ea typeface="宋体" panose="02010600030101010101" pitchFamily="2" charset="-122"/>
              </a:rPr>
              <a:t>判定系数为：</a:t>
            </a:r>
            <a:r>
              <a:rPr lang="en-US" altLang="zh-CN" dirty="0">
                <a:solidFill>
                  <a:schemeClr val="tx1"/>
                </a:solidFill>
                <a:latin typeface="Arial" panose="020B0604020202020204" pitchFamily="34" charset="0"/>
                <a:ea typeface="宋体" panose="02010600030101010101" pitchFamily="2" charset="-122"/>
              </a:rPr>
              <a:t>',</a:t>
            </a:r>
            <a:r>
              <a:rPr lang="en-US" altLang="zh-CN" dirty="0" err="1">
                <a:solidFill>
                  <a:schemeClr val="tx1"/>
                </a:solidFill>
                <a:latin typeface="Arial" panose="020B0604020202020204" pitchFamily="34" charset="0"/>
                <a:ea typeface="宋体" panose="02010600030101010101" pitchFamily="2" charset="-122"/>
              </a:rPr>
              <a:t>Slr</a:t>
            </a:r>
            <a:r>
              <a:rPr lang="en-US" altLang="zh-CN" dirty="0">
                <a:solidFill>
                  <a:schemeClr val="tx1"/>
                </a:solidFill>
                <a:latin typeface="Arial" panose="020B0604020202020204" pitchFamily="34" charset="0"/>
                <a:ea typeface="宋体" panose="02010600030101010101" pitchFamily="2" charset="-122"/>
              </a:rPr>
              <a:t>)</a:t>
            </a:r>
          </a:p>
          <a:p>
            <a:r>
              <a:rPr lang="en-US" altLang="zh-CN" dirty="0">
                <a:solidFill>
                  <a:schemeClr val="tx1"/>
                </a:solidFill>
                <a:latin typeface="Arial" panose="020B0604020202020204" pitchFamily="34" charset="0"/>
                <a:ea typeface="宋体" panose="02010600030101010101" pitchFamily="2" charset="-122"/>
              </a:rPr>
              <a:t>print('</a:t>
            </a:r>
            <a:r>
              <a:rPr lang="zh-CN" altLang="en-US" dirty="0">
                <a:solidFill>
                  <a:schemeClr val="tx1"/>
                </a:solidFill>
                <a:latin typeface="Arial" panose="020B0604020202020204" pitchFamily="34" charset="0"/>
                <a:ea typeface="宋体" panose="02010600030101010101" pitchFamily="2" charset="-122"/>
              </a:rPr>
              <a:t>样本预测值为：</a:t>
            </a:r>
            <a:r>
              <a:rPr lang="en-US" altLang="zh-CN" dirty="0">
                <a:solidFill>
                  <a:schemeClr val="tx1"/>
                </a:solidFill>
                <a:latin typeface="Arial" panose="020B0604020202020204" pitchFamily="34" charset="0"/>
                <a:ea typeface="宋体" panose="02010600030101010101" pitchFamily="2" charset="-122"/>
              </a:rPr>
              <a:t>',R1)</a:t>
            </a:r>
          </a:p>
        </p:txBody>
      </p:sp>
      <p:sp>
        <p:nvSpPr>
          <p:cNvPr id="37" name="流程图: 文档 36"/>
          <p:cNvSpPr/>
          <p:nvPr/>
        </p:nvSpPr>
        <p:spPr bwMode="auto">
          <a:xfrm>
            <a:off x="10089137" y="2307196"/>
            <a:ext cx="2107626" cy="3930116"/>
          </a:xfrm>
          <a:prstGeom prst="flowChartDocumen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zh-CN" altLang="en-US" b="1" dirty="0">
                <a:solidFill>
                  <a:schemeClr val="tx1"/>
                </a:solidFill>
                <a:latin typeface="Arial" panose="020B0604020202020204" pitchFamily="34" charset="0"/>
                <a:ea typeface="宋体" panose="02010600030101010101" pitchFamily="2" charset="-122"/>
              </a:rPr>
              <a:t>执行结果为：</a:t>
            </a:r>
          </a:p>
          <a:p>
            <a:r>
              <a:rPr lang="en-US" altLang="zh-CN" dirty="0">
                <a:solidFill>
                  <a:schemeClr val="tx1"/>
                </a:solidFill>
                <a:latin typeface="Arial" panose="020B0604020202020204" pitchFamily="34" charset="0"/>
                <a:ea typeface="宋体" panose="02010600030101010101" pitchFamily="2" charset="-122"/>
              </a:rPr>
              <a:t>x</a:t>
            </a:r>
            <a:r>
              <a:rPr lang="zh-CN" altLang="en-US" dirty="0">
                <a:solidFill>
                  <a:schemeClr val="tx1"/>
                </a:solidFill>
                <a:latin typeface="Arial" panose="020B0604020202020204" pitchFamily="34" charset="0"/>
                <a:ea typeface="宋体" panose="02010600030101010101" pitchFamily="2" charset="-122"/>
              </a:rPr>
              <a:t>回归系数为： </a:t>
            </a:r>
            <a:r>
              <a:rPr lang="en-US" altLang="zh-CN" dirty="0">
                <a:solidFill>
                  <a:schemeClr val="tx1"/>
                </a:solidFill>
                <a:latin typeface="Arial" panose="020B0604020202020204" pitchFamily="34" charset="0"/>
                <a:ea typeface="宋体" panose="02010600030101010101" pitchFamily="2" charset="-122"/>
              </a:rPr>
              <a:t>[-1.97751311 -0.23391642  0.06208294 -0.1580541 ]</a:t>
            </a:r>
          </a:p>
          <a:p>
            <a:r>
              <a:rPr lang="zh-CN" altLang="en-US" dirty="0">
                <a:solidFill>
                  <a:schemeClr val="tx1"/>
                </a:solidFill>
                <a:latin typeface="Arial" panose="020B0604020202020204" pitchFamily="34" charset="0"/>
                <a:ea typeface="宋体" panose="02010600030101010101" pitchFamily="2" charset="-122"/>
              </a:rPr>
              <a:t>回归系数常数项为： </a:t>
            </a:r>
            <a:r>
              <a:rPr lang="en-US" altLang="zh-CN" dirty="0">
                <a:solidFill>
                  <a:schemeClr val="tx1"/>
                </a:solidFill>
                <a:latin typeface="Arial" panose="020B0604020202020204" pitchFamily="34" charset="0"/>
                <a:ea typeface="宋体" panose="02010600030101010101" pitchFamily="2" charset="-122"/>
              </a:rPr>
              <a:t>454.609274315</a:t>
            </a:r>
          </a:p>
          <a:p>
            <a:r>
              <a:rPr lang="zh-CN" altLang="en-US" dirty="0">
                <a:solidFill>
                  <a:schemeClr val="tx1"/>
                </a:solidFill>
                <a:latin typeface="Arial" panose="020B0604020202020204" pitchFamily="34" charset="0"/>
                <a:ea typeface="宋体" panose="02010600030101010101" pitchFamily="2" charset="-122"/>
              </a:rPr>
              <a:t>判定系数为： </a:t>
            </a:r>
            <a:r>
              <a:rPr lang="en-US" altLang="zh-CN" dirty="0">
                <a:solidFill>
                  <a:schemeClr val="tx1"/>
                </a:solidFill>
                <a:latin typeface="Arial" panose="020B0604020202020204" pitchFamily="34" charset="0"/>
                <a:ea typeface="宋体" panose="02010600030101010101" pitchFamily="2" charset="-122"/>
              </a:rPr>
              <a:t>0.928696089812</a:t>
            </a:r>
          </a:p>
          <a:p>
            <a:r>
              <a:rPr lang="zh-CN" altLang="en-US" dirty="0">
                <a:solidFill>
                  <a:schemeClr val="tx1"/>
                </a:solidFill>
                <a:latin typeface="Arial" panose="020B0604020202020204" pitchFamily="34" charset="0"/>
                <a:ea typeface="宋体" panose="02010600030101010101" pitchFamily="2" charset="-122"/>
              </a:rPr>
              <a:t>样本预测值为： </a:t>
            </a:r>
            <a:r>
              <a:rPr lang="en-US" altLang="zh-CN" dirty="0">
                <a:solidFill>
                  <a:schemeClr val="tx1"/>
                </a:solidFill>
                <a:latin typeface="Arial" panose="020B0604020202020204" pitchFamily="34" charset="0"/>
                <a:ea typeface="宋体" panose="02010600030101010101" pitchFamily="2" charset="-122"/>
              </a:rPr>
              <a:t>[ 436.70378447]</a:t>
            </a:r>
          </a:p>
        </p:txBody>
      </p:sp>
      <p:sp>
        <p:nvSpPr>
          <p:cNvPr id="33" name="TextBox 32"/>
          <p:cNvSpPr txBox="1"/>
          <p:nvPr/>
        </p:nvSpPr>
        <p:spPr>
          <a:xfrm>
            <a:off x="211301" y="567839"/>
            <a:ext cx="5112568" cy="461665"/>
          </a:xfrm>
          <a:prstGeom prst="rect">
            <a:avLst/>
          </a:prstGeom>
          <a:noFill/>
        </p:spPr>
        <p:txBody>
          <a:bodyPr wrap="square" rtlCol="0">
            <a:spAutoFit/>
          </a:bodyPr>
          <a:lstStyle/>
          <a:p>
            <a:r>
              <a:rPr lang="zh-CN" altLang="zh-CN" sz="2400" b="1" dirty="0"/>
              <a:t>线性回归完整示例代码如下：</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5.4.1 </a:t>
            </a:r>
            <a:r>
              <a:rPr lang="zh-CN" altLang="en-US" sz="2800" dirty="0">
                <a:solidFill>
                  <a:schemeClr val="accent2"/>
                </a:solidFill>
                <a:latin typeface="微软雅黑" panose="020B0503020204020204" pitchFamily="34" charset="-122"/>
                <a:ea typeface="微软雅黑" panose="020B0503020204020204" pitchFamily="34" charset="-122"/>
              </a:rPr>
              <a:t>逻辑回归模型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18" name="TextBox 17"/>
          <p:cNvSpPr txBox="1"/>
          <p:nvPr/>
        </p:nvSpPr>
        <p:spPr>
          <a:xfrm>
            <a:off x="220826" y="836712"/>
            <a:ext cx="11665296" cy="1938992"/>
          </a:xfrm>
          <a:prstGeom prst="rect">
            <a:avLst/>
          </a:prstGeom>
          <a:noFill/>
        </p:spPr>
        <p:txBody>
          <a:bodyPr wrap="square" rtlCol="0">
            <a:spAutoFit/>
          </a:bodyPr>
          <a:lstStyle/>
          <a:p>
            <a:r>
              <a:rPr lang="zh-CN" altLang="zh-CN" sz="2400" dirty="0"/>
              <a:t>逻辑回归模型是使用一个函数来归一化</a:t>
            </a:r>
            <a:r>
              <a:rPr lang="en-US" altLang="zh-CN" sz="2400" dirty="0"/>
              <a:t>y</a:t>
            </a:r>
            <a:r>
              <a:rPr lang="zh-CN" altLang="zh-CN" sz="2400" dirty="0"/>
              <a:t>值，使</a:t>
            </a:r>
            <a:r>
              <a:rPr lang="en-US" altLang="zh-CN" sz="2400" dirty="0"/>
              <a:t>y</a:t>
            </a:r>
            <a:r>
              <a:rPr lang="zh-CN" altLang="zh-CN" sz="2400" dirty="0"/>
              <a:t>的取值在区间</a:t>
            </a:r>
            <a:r>
              <a:rPr lang="en-US" altLang="zh-CN" sz="2400" dirty="0"/>
              <a:t>(0,1)</a:t>
            </a:r>
            <a:r>
              <a:rPr lang="zh-CN" altLang="zh-CN" sz="2400" dirty="0"/>
              <a:t>内，这个函数称为</a:t>
            </a:r>
            <a:r>
              <a:rPr lang="en-US" altLang="zh-CN" sz="2400" dirty="0"/>
              <a:t>Logistic</a:t>
            </a:r>
            <a:r>
              <a:rPr lang="zh-CN" altLang="zh-CN" sz="2400" dirty="0"/>
              <a:t>函数</a:t>
            </a:r>
            <a:r>
              <a:rPr lang="zh-CN" altLang="zh-CN" sz="2400" dirty="0" smtClean="0"/>
              <a:t>：</a:t>
            </a:r>
            <a:endParaRPr lang="en-US" altLang="zh-CN" sz="2400" dirty="0" smtClean="0"/>
          </a:p>
          <a:p>
            <a:endParaRPr lang="zh-CN" altLang="zh-CN" sz="2400" dirty="0"/>
          </a:p>
          <a:p>
            <a:r>
              <a:rPr lang="zh-CN" altLang="zh-CN" sz="2400" dirty="0"/>
              <a:t>其中</a:t>
            </a:r>
            <a:r>
              <a:rPr lang="en-US" altLang="zh-CN" sz="2400" dirty="0"/>
              <a:t> </a:t>
            </a:r>
            <a:r>
              <a:rPr lang="en-US" altLang="zh-CN" sz="2400" dirty="0" smtClean="0"/>
              <a:t>                                                       </a:t>
            </a:r>
            <a:r>
              <a:rPr lang="zh-CN" altLang="zh-CN" sz="2400" dirty="0" smtClean="0"/>
              <a:t>，</a:t>
            </a:r>
            <a:r>
              <a:rPr lang="zh-CN" altLang="zh-CN" sz="2400" dirty="0"/>
              <a:t>这样就将预测问题转化为一个概率问题。</a:t>
            </a:r>
          </a:p>
          <a:p>
            <a:r>
              <a:rPr lang="zh-CN" altLang="zh-CN" sz="2400" dirty="0"/>
              <a:t>一般以</a:t>
            </a:r>
            <a:r>
              <a:rPr lang="en-US" altLang="zh-CN" sz="2400" dirty="0"/>
              <a:t>0.5</a:t>
            </a:r>
            <a:r>
              <a:rPr lang="zh-CN" altLang="zh-CN" sz="2400" dirty="0"/>
              <a:t>为界，如果预测值大于</a:t>
            </a:r>
            <a:r>
              <a:rPr lang="en-US" altLang="zh-CN" sz="2400" dirty="0"/>
              <a:t>0.5</a:t>
            </a:r>
            <a:r>
              <a:rPr lang="zh-CN" altLang="zh-CN" sz="2400" dirty="0"/>
              <a:t>时，我们判断此时</a:t>
            </a:r>
            <a:r>
              <a:rPr lang="en-US" altLang="zh-CN" sz="2400" dirty="0"/>
              <a:t>y</a:t>
            </a:r>
            <a:r>
              <a:rPr lang="zh-CN" altLang="zh-CN" sz="2400" dirty="0"/>
              <a:t>更可能为</a:t>
            </a:r>
            <a:r>
              <a:rPr lang="en-US" altLang="zh-CN" sz="2400" dirty="0"/>
              <a:t>1</a:t>
            </a:r>
            <a:r>
              <a:rPr lang="zh-CN" altLang="zh-CN" sz="2400" dirty="0"/>
              <a:t>，否则认为</a:t>
            </a:r>
            <a:r>
              <a:rPr lang="en-US" altLang="zh-CN" sz="2400" dirty="0"/>
              <a:t>y=0</a:t>
            </a:r>
            <a:r>
              <a:rPr lang="zh-CN" altLang="zh-CN" sz="2400" dirty="0" smtClean="0"/>
              <a:t>。</a:t>
            </a:r>
            <a:endParaRPr kumimoji="1" lang="zh-CN" altLang="zh-CN" sz="2400" dirty="0">
              <a:solidFill>
                <a:srgbClr val="595959"/>
              </a:solidFill>
              <a:ea typeface="微软雅黑" panose="020B0503020204020204" pitchFamily="34" charset="-122"/>
            </a:endParaRPr>
          </a:p>
        </p:txBody>
      </p:sp>
      <p:pic>
        <p:nvPicPr>
          <p:cNvPr id="820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973" y="1168033"/>
            <a:ext cx="1872208" cy="748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821" y="1948573"/>
            <a:ext cx="4464496"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4" y="44625"/>
            <a:ext cx="8531529"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5.4.2 Python</a:t>
            </a:r>
            <a:r>
              <a:rPr lang="zh-CN" altLang="en-US" sz="2800" dirty="0">
                <a:solidFill>
                  <a:schemeClr val="accent2"/>
                </a:solidFill>
                <a:latin typeface="微软雅黑" panose="020B0503020204020204" pitchFamily="34" charset="-122"/>
                <a:ea typeface="微软雅黑" panose="020B0503020204020204" pitchFamily="34" charset="-122"/>
              </a:rPr>
              <a:t>逻辑回归模型应用举例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3" name="TextBox 2"/>
          <p:cNvSpPr txBox="1"/>
          <p:nvPr/>
        </p:nvSpPr>
        <p:spPr>
          <a:xfrm>
            <a:off x="140263" y="692696"/>
            <a:ext cx="11934782" cy="799193"/>
          </a:xfrm>
          <a:prstGeom prst="rect">
            <a:avLst/>
          </a:prstGeom>
          <a:noFill/>
        </p:spPr>
        <p:txBody>
          <a:bodyPr wrap="square" rtlCol="0">
            <a:spAutoFit/>
          </a:bodyPr>
          <a:lstStyle/>
          <a:p>
            <a:pPr marL="285750" indent="-285750">
              <a:lnSpc>
                <a:spcPct val="120000"/>
              </a:lnSpc>
              <a:spcBef>
                <a:spcPts val="1000"/>
              </a:spcBef>
              <a:buFont typeface="Arial" panose="020B0604020202020204" pitchFamily="34" charset="0"/>
              <a:buChar char="•"/>
            </a:pPr>
            <a:r>
              <a:rPr kumimoji="1" lang="zh-CN" altLang="en-US" sz="2000" dirty="0">
                <a:solidFill>
                  <a:srgbClr val="595959"/>
                </a:solidFill>
                <a:ea typeface="微软雅黑" panose="020B0503020204020204" pitchFamily="34" charset="-122"/>
              </a:rPr>
              <a:t>取</a:t>
            </a:r>
            <a:r>
              <a:rPr kumimoji="1" lang="en-US" altLang="zh-CN" sz="2000" dirty="0">
                <a:solidFill>
                  <a:srgbClr val="595959"/>
                </a:solidFill>
                <a:ea typeface="微软雅黑" panose="020B0503020204020204" pitchFamily="34" charset="-122"/>
              </a:rPr>
              <a:t>UCI</a:t>
            </a:r>
            <a:r>
              <a:rPr kumimoji="1" lang="zh-CN" altLang="en-US" sz="2000" dirty="0">
                <a:solidFill>
                  <a:srgbClr val="595959"/>
                </a:solidFill>
                <a:ea typeface="微软雅黑" panose="020B0503020204020204" pitchFamily="34" charset="-122"/>
              </a:rPr>
              <a:t>公共测试数据库中的澳大利亚信贷批准数据集作为本例的数据集，该数据集共有</a:t>
            </a:r>
            <a:r>
              <a:rPr kumimoji="1" lang="en-US" altLang="zh-CN" sz="2000" dirty="0">
                <a:solidFill>
                  <a:srgbClr val="595959"/>
                </a:solidFill>
                <a:ea typeface="微软雅黑" panose="020B0503020204020204" pitchFamily="34" charset="-122"/>
              </a:rPr>
              <a:t>14</a:t>
            </a:r>
            <a:r>
              <a:rPr kumimoji="1" lang="zh-CN" altLang="en-US" sz="2000" dirty="0">
                <a:solidFill>
                  <a:srgbClr val="595959"/>
                </a:solidFill>
                <a:ea typeface="微软雅黑" panose="020B0503020204020204" pitchFamily="34" charset="-122"/>
              </a:rPr>
              <a:t>个特征数据，</a:t>
            </a:r>
            <a:r>
              <a:rPr kumimoji="1" lang="en-US" altLang="zh-CN" sz="2000" dirty="0">
                <a:solidFill>
                  <a:srgbClr val="595959"/>
                </a:solidFill>
                <a:ea typeface="微软雅黑" panose="020B0503020204020204" pitchFamily="34" charset="-122"/>
              </a:rPr>
              <a:t>1</a:t>
            </a:r>
            <a:r>
              <a:rPr kumimoji="1" lang="zh-CN" altLang="en-US" sz="2000" dirty="0">
                <a:solidFill>
                  <a:srgbClr val="595959"/>
                </a:solidFill>
                <a:ea typeface="微软雅黑" panose="020B0503020204020204" pitchFamily="34" charset="-122"/>
              </a:rPr>
              <a:t>个分类标签</a:t>
            </a:r>
            <a:r>
              <a:rPr kumimoji="1" lang="en-US" altLang="zh-CN" sz="2000" dirty="0">
                <a:solidFill>
                  <a:srgbClr val="595959"/>
                </a:solidFill>
                <a:ea typeface="微软雅黑" panose="020B0503020204020204" pitchFamily="34" charset="-122"/>
              </a:rPr>
              <a:t>y</a:t>
            </a:r>
            <a:r>
              <a:rPr kumimoji="1" lang="zh-CN" altLang="en-US" sz="2000" dirty="0">
                <a:solidFill>
                  <a:srgbClr val="595959"/>
                </a:solidFill>
                <a:ea typeface="微软雅黑" panose="020B0503020204020204" pitchFamily="34" charset="-122"/>
              </a:rPr>
              <a:t>（</a:t>
            </a:r>
            <a:r>
              <a:rPr kumimoji="1" lang="en-US" altLang="zh-CN" sz="2000" dirty="0">
                <a:solidFill>
                  <a:srgbClr val="595959"/>
                </a:solidFill>
                <a:ea typeface="微软雅黑" panose="020B0503020204020204" pitchFamily="34" charset="-122"/>
              </a:rPr>
              <a:t>1-</a:t>
            </a:r>
            <a:r>
              <a:rPr kumimoji="1" lang="zh-CN" altLang="en-US" sz="2000" dirty="0">
                <a:solidFill>
                  <a:srgbClr val="595959"/>
                </a:solidFill>
                <a:ea typeface="微软雅黑" panose="020B0503020204020204" pitchFamily="34" charset="-122"/>
              </a:rPr>
              <a:t>同意贷款，</a:t>
            </a:r>
            <a:r>
              <a:rPr kumimoji="1" lang="en-US" altLang="zh-CN" sz="2000" dirty="0">
                <a:solidFill>
                  <a:srgbClr val="595959"/>
                </a:solidFill>
                <a:ea typeface="微软雅黑" panose="020B0503020204020204" pitchFamily="34" charset="-122"/>
              </a:rPr>
              <a:t>0-</a:t>
            </a:r>
            <a:r>
              <a:rPr kumimoji="1" lang="zh-CN" altLang="en-US" sz="2000" dirty="0">
                <a:solidFill>
                  <a:srgbClr val="595959"/>
                </a:solidFill>
                <a:ea typeface="微软雅黑" panose="020B0503020204020204" pitchFamily="34" charset="-122"/>
              </a:rPr>
              <a:t>不同意贷款），共</a:t>
            </a:r>
            <a:r>
              <a:rPr kumimoji="1" lang="en-US" altLang="zh-CN" sz="2000" dirty="0">
                <a:solidFill>
                  <a:srgbClr val="595959"/>
                </a:solidFill>
                <a:ea typeface="微软雅黑" panose="020B0503020204020204" pitchFamily="34" charset="-122"/>
              </a:rPr>
              <a:t>690</a:t>
            </a:r>
            <a:r>
              <a:rPr kumimoji="1" lang="zh-CN" altLang="en-US" sz="2000" dirty="0">
                <a:solidFill>
                  <a:srgbClr val="595959"/>
                </a:solidFill>
                <a:ea typeface="微软雅黑" panose="020B0503020204020204" pitchFamily="34" charset="-122"/>
              </a:rPr>
              <a:t>个申请者记录，部分数据如表</a:t>
            </a:r>
            <a:r>
              <a:rPr kumimoji="1" lang="en-US" altLang="zh-CN" sz="2000" dirty="0">
                <a:solidFill>
                  <a:srgbClr val="595959"/>
                </a:solidFill>
                <a:ea typeface="微软雅黑" panose="020B0503020204020204" pitchFamily="34" charset="-122"/>
              </a:rPr>
              <a:t>5-3</a:t>
            </a:r>
            <a:r>
              <a:rPr kumimoji="1" lang="zh-CN" altLang="en-US" sz="2000" dirty="0">
                <a:solidFill>
                  <a:srgbClr val="595959"/>
                </a:solidFill>
                <a:ea typeface="微软雅黑" panose="020B0503020204020204" pitchFamily="34" charset="-122"/>
              </a:rPr>
              <a:t>所示。</a:t>
            </a:r>
            <a:endParaRPr kumimoji="1" lang="zh-CN" altLang="zh-CN" sz="2000" dirty="0">
              <a:solidFill>
                <a:srgbClr val="595959"/>
              </a:solidFill>
              <a:ea typeface="微软雅黑" panose="020B0503020204020204" pitchFamily="34" charset="-122"/>
            </a:endParaRPr>
          </a:p>
        </p:txBody>
      </p:sp>
      <p:sp>
        <p:nvSpPr>
          <p:cNvPr id="9" name="TextBox 8"/>
          <p:cNvSpPr txBox="1"/>
          <p:nvPr/>
        </p:nvSpPr>
        <p:spPr>
          <a:xfrm>
            <a:off x="2342198" y="1451456"/>
            <a:ext cx="2160240" cy="369332"/>
          </a:xfrm>
          <a:prstGeom prst="rect">
            <a:avLst/>
          </a:prstGeom>
          <a:noFill/>
        </p:spPr>
        <p:txBody>
          <a:bodyPr wrap="square" rtlCol="0">
            <a:spAutoFit/>
          </a:bodyPr>
          <a:lstStyle/>
          <a:p>
            <a:pPr algn="ctr"/>
            <a:r>
              <a:rPr lang="zh-CN" altLang="en-US" dirty="0" smtClean="0"/>
              <a:t>表</a:t>
            </a:r>
            <a:r>
              <a:rPr lang="en-US" altLang="zh-CN" dirty="0" smtClean="0"/>
              <a:t>5-3</a:t>
            </a:r>
            <a:endParaRPr lang="zh-CN" altLang="en-US" dirty="0"/>
          </a:p>
        </p:txBody>
      </p:sp>
      <p:sp>
        <p:nvSpPr>
          <p:cNvPr id="12" name="椭圆形标注 11"/>
          <p:cNvSpPr/>
          <p:nvPr/>
        </p:nvSpPr>
        <p:spPr bwMode="auto">
          <a:xfrm>
            <a:off x="9297101" y="3717032"/>
            <a:ext cx="2736300" cy="2669096"/>
          </a:xfrm>
          <a:prstGeom prst="wedgeEllipseCallou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zh-CN" altLang="en-US" dirty="0">
                <a:solidFill>
                  <a:schemeClr val="tx1"/>
                </a:solidFill>
                <a:latin typeface="Arial" panose="020B0604020202020204" pitchFamily="34" charset="0"/>
                <a:ea typeface="宋体" panose="02010600030101010101" pitchFamily="2" charset="-122"/>
              </a:rPr>
              <a:t>注：数据下载地址为：</a:t>
            </a:r>
          </a:p>
          <a:p>
            <a:r>
              <a:rPr lang="en-US" altLang="zh-CN" dirty="0">
                <a:solidFill>
                  <a:schemeClr val="tx1"/>
                </a:solidFill>
                <a:latin typeface="Arial" panose="020B0604020202020204" pitchFamily="34" charset="0"/>
                <a:ea typeface="宋体" panose="02010600030101010101" pitchFamily="2" charset="-122"/>
              </a:rPr>
              <a:t>http://archive.ics.uci.edu/ml/machine-learning-databases/statlog/australian/</a:t>
            </a:r>
          </a:p>
        </p:txBody>
      </p:sp>
      <p:graphicFrame>
        <p:nvGraphicFramePr>
          <p:cNvPr id="2" name="表格 1"/>
          <p:cNvGraphicFramePr>
            <a:graphicFrameLocks noGrp="1"/>
          </p:cNvGraphicFramePr>
          <p:nvPr/>
        </p:nvGraphicFramePr>
        <p:xfrm>
          <a:off x="157091" y="1844824"/>
          <a:ext cx="9181654" cy="4896540"/>
        </p:xfrm>
        <a:graphic>
          <a:graphicData uri="http://schemas.openxmlformats.org/drawingml/2006/table">
            <a:tbl>
              <a:tblPr firstRow="1" firstCol="1" bandRow="1">
                <a:tableStyleId>{D27102A9-8310-4765-A935-A1911B00CA55}</a:tableStyleId>
              </a:tblPr>
              <a:tblGrid>
                <a:gridCol w="494588"/>
                <a:gridCol w="868935"/>
                <a:gridCol w="868935"/>
                <a:gridCol w="494588"/>
                <a:gridCol w="494588"/>
                <a:gridCol w="494588"/>
                <a:gridCol w="856916"/>
                <a:gridCol w="506607"/>
                <a:gridCol w="494588"/>
                <a:gridCol w="619370"/>
                <a:gridCol w="619370"/>
                <a:gridCol w="619370"/>
                <a:gridCol w="635253"/>
                <a:gridCol w="744152"/>
                <a:gridCol w="369806"/>
              </a:tblGrid>
              <a:tr h="489654">
                <a:tc>
                  <a:txBody>
                    <a:bodyPr/>
                    <a:lstStyle/>
                    <a:p>
                      <a:pPr algn="l">
                        <a:spcAft>
                          <a:spcPts val="0"/>
                        </a:spcAft>
                      </a:pPr>
                      <a:r>
                        <a:rPr lang="en-US" sz="1100" kern="0" dirty="0">
                          <a:effectLst/>
                        </a:rPr>
                        <a:t>x1</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x10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x11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x12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x13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x14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y</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22.08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11.46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1.585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1213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22.67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0.165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160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29.58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1.75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1.25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1</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280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21.67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11.5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20.17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8.17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1.96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159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15.83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0.585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17.42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0.125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101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58.67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4.46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8</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3.04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43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561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r>
              <a:tr h="489654">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 </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tc>
                <a:tc>
                  <a:txBody>
                    <a:bodyPr/>
                    <a:lstStyle/>
                    <a:p>
                      <a:pPr algn="l">
                        <a:spcAft>
                          <a:spcPts val="0"/>
                        </a:spcAft>
                      </a:pPr>
                      <a:r>
                        <a:rPr lang="en-US" sz="1100" kern="0" dirty="0">
                          <a:effectLst/>
                        </a:rPr>
                        <a:t> </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tc>
              </a:tr>
            </a:tbl>
          </a:graphicData>
        </a:graphic>
      </p:graphicFrame>
      <p:sp>
        <p:nvSpPr>
          <p:cNvPr id="4" name="流程图: 可选过程 3"/>
          <p:cNvSpPr/>
          <p:nvPr/>
        </p:nvSpPr>
        <p:spPr bwMode="auto">
          <a:xfrm>
            <a:off x="9410749" y="1636122"/>
            <a:ext cx="2664296" cy="1864886"/>
          </a:xfrm>
          <a:prstGeom prst="flowChartAlternateProcess">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lstStyle/>
          <a:p>
            <a:r>
              <a:rPr lang="zh-CN" altLang="en-US" dirty="0">
                <a:solidFill>
                  <a:schemeClr val="tx1"/>
                </a:solidFill>
                <a:latin typeface="Arial" panose="020B0604020202020204" pitchFamily="34" charset="0"/>
                <a:ea typeface="宋体" panose="02010600030101010101" pitchFamily="2" charset="-122"/>
              </a:rPr>
              <a:t>以前面</a:t>
            </a:r>
            <a:r>
              <a:rPr lang="en-US" altLang="zh-CN" dirty="0">
                <a:solidFill>
                  <a:schemeClr val="tx1"/>
                </a:solidFill>
                <a:latin typeface="Arial" panose="020B0604020202020204" pitchFamily="34" charset="0"/>
                <a:ea typeface="宋体" panose="02010600030101010101" pitchFamily="2" charset="-122"/>
              </a:rPr>
              <a:t>600</a:t>
            </a:r>
            <a:r>
              <a:rPr lang="zh-CN" altLang="en-US" dirty="0">
                <a:solidFill>
                  <a:schemeClr val="tx1"/>
                </a:solidFill>
                <a:latin typeface="Arial" panose="020B0604020202020204" pitchFamily="34" charset="0"/>
                <a:ea typeface="宋体" panose="02010600030101010101" pitchFamily="2" charset="-122"/>
              </a:rPr>
              <a:t>个申请者作为训练数据，后</a:t>
            </a:r>
            <a:r>
              <a:rPr lang="en-US" altLang="zh-CN" dirty="0">
                <a:solidFill>
                  <a:schemeClr val="tx1"/>
                </a:solidFill>
                <a:latin typeface="Arial" panose="020B0604020202020204" pitchFamily="34" charset="0"/>
                <a:ea typeface="宋体" panose="02010600030101010101" pitchFamily="2" charset="-122"/>
              </a:rPr>
              <a:t>90</a:t>
            </a:r>
            <a:r>
              <a:rPr lang="zh-CN" altLang="en-US" dirty="0">
                <a:solidFill>
                  <a:schemeClr val="tx1"/>
                </a:solidFill>
                <a:latin typeface="Arial" panose="020B0604020202020204" pitchFamily="34" charset="0"/>
                <a:ea typeface="宋体" panose="02010600030101010101" pitchFamily="2" charset="-122"/>
              </a:rPr>
              <a:t>个申请者作为测试数据，利用逻辑回归模型预测其准确率。</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5.4.2 Python</a:t>
            </a:r>
            <a:r>
              <a:rPr lang="zh-CN" altLang="en-US" sz="2800" dirty="0">
                <a:solidFill>
                  <a:schemeClr val="accent2"/>
                </a:solidFill>
                <a:latin typeface="微软雅黑" panose="020B0503020204020204" pitchFamily="34" charset="-122"/>
                <a:ea typeface="微软雅黑" panose="020B0503020204020204" pitchFamily="34" charset="-122"/>
              </a:rPr>
              <a:t>逻辑回归模型应用举例</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2" name="TextBox 1"/>
          <p:cNvSpPr txBox="1"/>
          <p:nvPr/>
        </p:nvSpPr>
        <p:spPr>
          <a:xfrm>
            <a:off x="123227" y="997375"/>
            <a:ext cx="5272467" cy="86177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zh-CN" sz="1600" dirty="0" smtClean="0">
                <a:solidFill>
                  <a:srgbClr val="595959"/>
                </a:solidFill>
                <a:ea typeface="微软雅黑" panose="020B0503020204020204" pitchFamily="34" charset="-122"/>
              </a:rPr>
              <a:t>1</a:t>
            </a:r>
            <a:r>
              <a:rPr kumimoji="1" lang="en-US" altLang="zh-CN" sz="1600" dirty="0">
                <a:solidFill>
                  <a:srgbClr val="595959"/>
                </a:solidFill>
                <a:ea typeface="微软雅黑" panose="020B0503020204020204" pitchFamily="34" charset="-122"/>
              </a:rPr>
              <a:t>. </a:t>
            </a:r>
            <a:r>
              <a:rPr kumimoji="1" lang="zh-CN" altLang="zh-CN" sz="1600" dirty="0">
                <a:solidFill>
                  <a:srgbClr val="595959"/>
                </a:solidFill>
                <a:ea typeface="微软雅黑" panose="020B0503020204020204" pitchFamily="34" charset="-122"/>
              </a:rPr>
              <a:t>数据获取</a:t>
            </a:r>
          </a:p>
          <a:p>
            <a:r>
              <a:rPr kumimoji="1" lang="en-US" altLang="zh-CN" sz="1600" dirty="0">
                <a:solidFill>
                  <a:srgbClr val="595959"/>
                </a:solidFill>
                <a:ea typeface="微软雅黑" panose="020B0503020204020204" pitchFamily="34" charset="-122"/>
              </a:rPr>
              <a:t>import pandas as </a:t>
            </a:r>
            <a:r>
              <a:rPr kumimoji="1" lang="en-US" altLang="zh-CN" sz="1600" dirty="0" err="1">
                <a:solidFill>
                  <a:srgbClr val="595959"/>
                </a:solidFill>
                <a:ea typeface="微软雅黑" panose="020B0503020204020204" pitchFamily="34" charset="-122"/>
              </a:rPr>
              <a:t>pd</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data = </a:t>
            </a:r>
            <a:r>
              <a:rPr kumimoji="1" lang="en-US" altLang="zh-CN" sz="1600" dirty="0" err="1">
                <a:solidFill>
                  <a:srgbClr val="595959"/>
                </a:solidFill>
                <a:ea typeface="微软雅黑" panose="020B0503020204020204" pitchFamily="34" charset="-122"/>
              </a:rPr>
              <a:t>pd.read_excel</a:t>
            </a:r>
            <a:r>
              <a:rPr kumimoji="1" lang="en-US" altLang="zh-CN" sz="1600" dirty="0">
                <a:solidFill>
                  <a:srgbClr val="595959"/>
                </a:solidFill>
                <a:ea typeface="微软雅黑" panose="020B0503020204020204" pitchFamily="34" charset="-122"/>
              </a:rPr>
              <a:t>('credit.xlsx')</a:t>
            </a:r>
            <a:endParaRPr kumimoji="1" lang="zh-CN" altLang="zh-CN" sz="1600" dirty="0">
              <a:solidFill>
                <a:srgbClr val="595959"/>
              </a:solidFill>
              <a:ea typeface="微软雅黑" panose="020B0503020204020204" pitchFamily="34" charset="-122"/>
            </a:endParaRPr>
          </a:p>
        </p:txBody>
      </p:sp>
      <p:sp>
        <p:nvSpPr>
          <p:cNvPr id="3" name="TextBox 2"/>
          <p:cNvSpPr txBox="1"/>
          <p:nvPr/>
        </p:nvSpPr>
        <p:spPr>
          <a:xfrm>
            <a:off x="123227" y="1856925"/>
            <a:ext cx="5256584" cy="160043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1200" dirty="0"/>
              <a:t>2. </a:t>
            </a:r>
            <a:r>
              <a:rPr kumimoji="1" lang="zh-CN" altLang="zh-CN" sz="1600" dirty="0">
                <a:solidFill>
                  <a:srgbClr val="595959"/>
                </a:solidFill>
                <a:ea typeface="微软雅黑" panose="020B0503020204020204" pitchFamily="34" charset="-122"/>
              </a:rPr>
              <a:t>训练样本与测试样本划分，其中训练用的特征数据用</a:t>
            </a:r>
            <a:r>
              <a:rPr kumimoji="1" lang="en-US" altLang="zh-CN" sz="1600" dirty="0">
                <a:solidFill>
                  <a:srgbClr val="595959"/>
                </a:solidFill>
                <a:ea typeface="微软雅黑" panose="020B0503020204020204" pitchFamily="34" charset="-122"/>
              </a:rPr>
              <a:t>x</a:t>
            </a:r>
            <a:r>
              <a:rPr kumimoji="1" lang="zh-CN" altLang="zh-CN" sz="1600" dirty="0">
                <a:solidFill>
                  <a:srgbClr val="595959"/>
                </a:solidFill>
                <a:ea typeface="微软雅黑" panose="020B0503020204020204" pitchFamily="34" charset="-122"/>
              </a:rPr>
              <a:t>表示，预测变量用</a:t>
            </a:r>
            <a:r>
              <a:rPr kumimoji="1" lang="en-US" altLang="zh-CN" sz="1600" dirty="0">
                <a:solidFill>
                  <a:srgbClr val="595959"/>
                </a:solidFill>
                <a:ea typeface="微软雅黑" panose="020B0503020204020204" pitchFamily="34" charset="-122"/>
              </a:rPr>
              <a:t>y</a:t>
            </a:r>
            <a:r>
              <a:rPr kumimoji="1" lang="zh-CN" altLang="zh-CN" sz="1600" dirty="0">
                <a:solidFill>
                  <a:srgbClr val="595959"/>
                </a:solidFill>
                <a:ea typeface="微软雅黑" panose="020B0503020204020204" pitchFamily="34" charset="-122"/>
              </a:rPr>
              <a:t>表示，测试样本则分别记为</a:t>
            </a:r>
            <a:r>
              <a:rPr kumimoji="1" lang="en-US" altLang="zh-CN" sz="1600" dirty="0">
                <a:solidFill>
                  <a:srgbClr val="595959"/>
                </a:solidFill>
                <a:ea typeface="微软雅黑" panose="020B0503020204020204" pitchFamily="34" charset="-122"/>
              </a:rPr>
              <a:t>x1</a:t>
            </a:r>
            <a:r>
              <a:rPr kumimoji="1" lang="zh-CN" altLang="zh-CN" sz="1600" dirty="0">
                <a:solidFill>
                  <a:srgbClr val="595959"/>
                </a:solidFill>
                <a:ea typeface="微软雅黑" panose="020B0503020204020204" pitchFamily="34" charset="-122"/>
              </a:rPr>
              <a:t>和</a:t>
            </a:r>
            <a:r>
              <a:rPr kumimoji="1" lang="en-US" altLang="zh-CN" sz="1600" dirty="0">
                <a:solidFill>
                  <a:srgbClr val="595959"/>
                </a:solidFill>
                <a:ea typeface="微软雅黑" panose="020B0503020204020204" pitchFamily="34" charset="-122"/>
              </a:rPr>
              <a:t>y1</a:t>
            </a:r>
            <a:r>
              <a:rPr kumimoji="1" lang="zh-CN" altLang="zh-CN" sz="1600" dirty="0">
                <a:solidFill>
                  <a:srgbClr val="595959"/>
                </a:solidFill>
                <a:ea typeface="微软雅黑" panose="020B0503020204020204" pitchFamily="34" charset="-122"/>
              </a:rPr>
              <a:t>。</a:t>
            </a:r>
          </a:p>
          <a:p>
            <a:r>
              <a:rPr kumimoji="1" lang="en-US" altLang="zh-CN" sz="1600" dirty="0">
                <a:solidFill>
                  <a:srgbClr val="595959"/>
                </a:solidFill>
                <a:ea typeface="微软雅黑" panose="020B0503020204020204" pitchFamily="34" charset="-122"/>
              </a:rPr>
              <a:t>x =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  </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y =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x1=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y1=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p:txBody>
      </p:sp>
      <p:sp>
        <p:nvSpPr>
          <p:cNvPr id="4" name="TextBox 3"/>
          <p:cNvSpPr txBox="1"/>
          <p:nvPr/>
        </p:nvSpPr>
        <p:spPr>
          <a:xfrm>
            <a:off x="90621" y="3455377"/>
            <a:ext cx="5305073" cy="3293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zh-CN" sz="1600" dirty="0">
                <a:solidFill>
                  <a:srgbClr val="595959"/>
                </a:solidFill>
                <a:ea typeface="微软雅黑" panose="020B0503020204020204" pitchFamily="34" charset="-122"/>
              </a:rPr>
              <a:t>3. </a:t>
            </a:r>
            <a:r>
              <a:rPr kumimoji="1" lang="zh-CN" altLang="zh-CN" sz="1600" dirty="0">
                <a:solidFill>
                  <a:srgbClr val="595959"/>
                </a:solidFill>
                <a:ea typeface="微软雅黑" panose="020B0503020204020204" pitchFamily="34" charset="-122"/>
              </a:rPr>
              <a:t>逻辑回归分析，其基本步骤如下：</a:t>
            </a:r>
          </a:p>
          <a:p>
            <a:r>
              <a:rPr kumimoji="1" lang="zh-CN" altLang="zh-CN"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1</a:t>
            </a:r>
            <a:r>
              <a:rPr kumimoji="1" lang="zh-CN" altLang="zh-CN" sz="1600" dirty="0">
                <a:solidFill>
                  <a:srgbClr val="595959"/>
                </a:solidFill>
                <a:ea typeface="微软雅黑" panose="020B0503020204020204" pitchFamily="34" charset="-122"/>
              </a:rPr>
              <a:t>）导入逻辑回归模块，简称为</a:t>
            </a:r>
            <a:r>
              <a:rPr kumimoji="1" lang="en-US" altLang="zh-CN" sz="1600" dirty="0">
                <a:solidFill>
                  <a:srgbClr val="595959"/>
                </a:solidFill>
                <a:ea typeface="微软雅黑" panose="020B0503020204020204" pitchFamily="34" charset="-122"/>
              </a:rPr>
              <a:t>LR</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from </a:t>
            </a:r>
            <a:r>
              <a:rPr kumimoji="1" lang="en-US" altLang="zh-CN" sz="1600" dirty="0" err="1">
                <a:solidFill>
                  <a:srgbClr val="595959"/>
                </a:solidFill>
                <a:ea typeface="微软雅黑" panose="020B0503020204020204" pitchFamily="34" charset="-122"/>
              </a:rPr>
              <a:t>sklearn.linear_model</a:t>
            </a:r>
            <a:r>
              <a:rPr kumimoji="1" lang="en-US" altLang="zh-CN" sz="1600" dirty="0">
                <a:solidFill>
                  <a:srgbClr val="595959"/>
                </a:solidFill>
                <a:ea typeface="微软雅黑" panose="020B0503020204020204" pitchFamily="34" charset="-122"/>
              </a:rPr>
              <a:t> import </a:t>
            </a:r>
            <a:r>
              <a:rPr kumimoji="1" lang="en-US" altLang="zh-CN" sz="1600" dirty="0" err="1">
                <a:solidFill>
                  <a:srgbClr val="595959"/>
                </a:solidFill>
                <a:ea typeface="微软雅黑" panose="020B0503020204020204" pitchFamily="34" charset="-122"/>
              </a:rPr>
              <a:t>LogisticRegression</a:t>
            </a:r>
            <a:r>
              <a:rPr kumimoji="1" lang="en-US" altLang="zh-CN" sz="1600" dirty="0">
                <a:solidFill>
                  <a:srgbClr val="595959"/>
                </a:solidFill>
                <a:ea typeface="微软雅黑" panose="020B0503020204020204" pitchFamily="34" charset="-122"/>
              </a:rPr>
              <a:t> as LR</a:t>
            </a:r>
            <a:endParaRPr kumimoji="1" lang="zh-CN" altLang="zh-CN" sz="1600" dirty="0">
              <a:solidFill>
                <a:srgbClr val="595959"/>
              </a:solidFill>
              <a:ea typeface="微软雅黑" panose="020B0503020204020204" pitchFamily="34" charset="-122"/>
            </a:endParaRPr>
          </a:p>
          <a:p>
            <a:r>
              <a:rPr kumimoji="1" lang="zh-CN" altLang="zh-CN"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2</a:t>
            </a:r>
            <a:r>
              <a:rPr kumimoji="1" lang="zh-CN" altLang="zh-CN" sz="1600" dirty="0">
                <a:solidFill>
                  <a:srgbClr val="595959"/>
                </a:solidFill>
                <a:ea typeface="微软雅黑" panose="020B0503020204020204" pitchFamily="34" charset="-122"/>
              </a:rPr>
              <a:t>）利用</a:t>
            </a:r>
            <a:r>
              <a:rPr kumimoji="1" lang="en-US" altLang="zh-CN" sz="1600" dirty="0">
                <a:solidFill>
                  <a:srgbClr val="595959"/>
                </a:solidFill>
                <a:ea typeface="微软雅黑" panose="020B0503020204020204" pitchFamily="34" charset="-122"/>
              </a:rPr>
              <a:t>LR</a:t>
            </a:r>
            <a:r>
              <a:rPr kumimoji="1" lang="zh-CN" altLang="zh-CN" sz="1600" dirty="0">
                <a:solidFill>
                  <a:srgbClr val="595959"/>
                </a:solidFill>
                <a:ea typeface="微软雅黑" panose="020B0503020204020204" pitchFamily="34" charset="-122"/>
              </a:rPr>
              <a:t>创建逻辑回归类</a:t>
            </a:r>
            <a:r>
              <a:rPr kumimoji="1" lang="en-US" altLang="zh-CN" sz="1600" dirty="0" err="1">
                <a:solidFill>
                  <a:srgbClr val="595959"/>
                </a:solidFill>
                <a:ea typeface="微软雅黑" panose="020B0503020204020204" pitchFamily="34" charset="-122"/>
              </a:rPr>
              <a:t>lr</a:t>
            </a:r>
            <a:endParaRPr kumimoji="1" lang="zh-CN" altLang="zh-CN" sz="1600" dirty="0">
              <a:solidFill>
                <a:srgbClr val="595959"/>
              </a:solidFill>
              <a:ea typeface="微软雅黑" panose="020B0503020204020204" pitchFamily="34" charset="-122"/>
            </a:endParaRPr>
          </a:p>
          <a:p>
            <a:r>
              <a:rPr kumimoji="1" lang="en-US" altLang="zh-CN" sz="1600" dirty="0" err="1">
                <a:solidFill>
                  <a:srgbClr val="595959"/>
                </a:solidFill>
                <a:ea typeface="微软雅黑" panose="020B0503020204020204" pitchFamily="34" charset="-122"/>
              </a:rPr>
              <a:t>lr</a:t>
            </a:r>
            <a:r>
              <a:rPr kumimoji="1" lang="en-US" altLang="zh-CN" sz="1600" dirty="0">
                <a:solidFill>
                  <a:srgbClr val="595959"/>
                </a:solidFill>
                <a:ea typeface="微软雅黑" panose="020B0503020204020204" pitchFamily="34" charset="-122"/>
              </a:rPr>
              <a:t> = LR() </a:t>
            </a:r>
            <a:endParaRPr kumimoji="1" lang="zh-CN" altLang="zh-CN" sz="1600" dirty="0">
              <a:solidFill>
                <a:srgbClr val="595959"/>
              </a:solidFill>
              <a:ea typeface="微软雅黑" panose="020B0503020204020204" pitchFamily="34" charset="-122"/>
            </a:endParaRPr>
          </a:p>
          <a:p>
            <a:r>
              <a:rPr kumimoji="1" lang="zh-CN" altLang="zh-CN"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3</a:t>
            </a:r>
            <a:r>
              <a:rPr kumimoji="1" lang="zh-CN" altLang="zh-CN" sz="1600" dirty="0">
                <a:solidFill>
                  <a:srgbClr val="595959"/>
                </a:solidFill>
                <a:ea typeface="微软雅黑" panose="020B0503020204020204" pitchFamily="34" charset="-122"/>
              </a:rPr>
              <a:t>）调用</a:t>
            </a:r>
            <a:r>
              <a:rPr kumimoji="1" lang="en-US" altLang="zh-CN" sz="1600" dirty="0" err="1">
                <a:solidFill>
                  <a:srgbClr val="595959"/>
                </a:solidFill>
                <a:ea typeface="微软雅黑" panose="020B0503020204020204" pitchFamily="34" charset="-122"/>
              </a:rPr>
              <a:t>lr</a:t>
            </a:r>
            <a:r>
              <a:rPr kumimoji="1" lang="zh-CN" altLang="zh-CN" sz="1600" dirty="0">
                <a:solidFill>
                  <a:srgbClr val="595959"/>
                </a:solidFill>
                <a:ea typeface="微软雅黑" panose="020B0503020204020204" pitchFamily="34" charset="-122"/>
              </a:rPr>
              <a:t>中的</a:t>
            </a:r>
            <a:r>
              <a:rPr kumimoji="1" lang="en-US" altLang="zh-CN" sz="1600" dirty="0">
                <a:solidFill>
                  <a:srgbClr val="595959"/>
                </a:solidFill>
                <a:ea typeface="微软雅黑" panose="020B0503020204020204" pitchFamily="34" charset="-122"/>
              </a:rPr>
              <a:t>fit()</a:t>
            </a:r>
            <a:r>
              <a:rPr kumimoji="1" lang="zh-CN" altLang="zh-CN" sz="1600" dirty="0">
                <a:solidFill>
                  <a:srgbClr val="595959"/>
                </a:solidFill>
                <a:ea typeface="微软雅黑" panose="020B0503020204020204" pitchFamily="34" charset="-122"/>
              </a:rPr>
              <a:t>方法进行训练</a:t>
            </a:r>
          </a:p>
          <a:p>
            <a:r>
              <a:rPr kumimoji="1" lang="en-US" altLang="zh-CN" sz="1600" dirty="0" err="1">
                <a:solidFill>
                  <a:srgbClr val="595959"/>
                </a:solidFill>
                <a:ea typeface="微软雅黑" panose="020B0503020204020204" pitchFamily="34" charset="-122"/>
              </a:rPr>
              <a:t>lr.fit</a:t>
            </a:r>
            <a:r>
              <a:rPr kumimoji="1" lang="en-US" altLang="zh-CN" sz="1600" dirty="0">
                <a:solidFill>
                  <a:srgbClr val="595959"/>
                </a:solidFill>
                <a:ea typeface="微软雅黑" panose="020B0503020204020204" pitchFamily="34" charset="-122"/>
              </a:rPr>
              <a:t>(x, y) </a:t>
            </a:r>
            <a:endParaRPr kumimoji="1" lang="zh-CN" altLang="zh-CN" sz="1600" dirty="0">
              <a:solidFill>
                <a:srgbClr val="595959"/>
              </a:solidFill>
              <a:ea typeface="微软雅黑" panose="020B0503020204020204" pitchFamily="34" charset="-122"/>
            </a:endParaRPr>
          </a:p>
          <a:p>
            <a:r>
              <a:rPr kumimoji="1" lang="zh-CN" altLang="zh-CN"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4</a:t>
            </a:r>
            <a:r>
              <a:rPr kumimoji="1" lang="zh-CN" altLang="zh-CN" sz="1600" dirty="0">
                <a:solidFill>
                  <a:srgbClr val="595959"/>
                </a:solidFill>
                <a:ea typeface="微软雅黑" panose="020B0503020204020204" pitchFamily="34" charset="-122"/>
              </a:rPr>
              <a:t>）调用</a:t>
            </a:r>
            <a:r>
              <a:rPr kumimoji="1" lang="en-US" altLang="zh-CN" sz="1600" dirty="0" err="1">
                <a:solidFill>
                  <a:srgbClr val="595959"/>
                </a:solidFill>
                <a:ea typeface="微软雅黑" panose="020B0503020204020204" pitchFamily="34" charset="-122"/>
              </a:rPr>
              <a:t>lr</a:t>
            </a:r>
            <a:r>
              <a:rPr kumimoji="1" lang="zh-CN" altLang="zh-CN" sz="1600" dirty="0">
                <a:solidFill>
                  <a:srgbClr val="595959"/>
                </a:solidFill>
                <a:ea typeface="微软雅黑" panose="020B0503020204020204" pitchFamily="34" charset="-122"/>
              </a:rPr>
              <a:t>中的</a:t>
            </a:r>
            <a:r>
              <a:rPr kumimoji="1" lang="en-US" altLang="zh-CN" sz="1600" dirty="0">
                <a:solidFill>
                  <a:srgbClr val="595959"/>
                </a:solidFill>
                <a:ea typeface="微软雅黑" panose="020B0503020204020204" pitchFamily="34" charset="-122"/>
              </a:rPr>
              <a:t>score()</a:t>
            </a:r>
            <a:r>
              <a:rPr kumimoji="1" lang="zh-CN" altLang="zh-CN" sz="1600" dirty="0">
                <a:solidFill>
                  <a:srgbClr val="595959"/>
                </a:solidFill>
                <a:ea typeface="微软雅黑" panose="020B0503020204020204" pitchFamily="34" charset="-122"/>
              </a:rPr>
              <a:t>方法，返回其模型准确率</a:t>
            </a:r>
          </a:p>
          <a:p>
            <a:r>
              <a:rPr kumimoji="1" lang="en-US" altLang="zh-CN" sz="1600" dirty="0">
                <a:solidFill>
                  <a:srgbClr val="595959"/>
                </a:solidFill>
                <a:ea typeface="微软雅黑" panose="020B0503020204020204" pitchFamily="34" charset="-122"/>
              </a:rPr>
              <a:t>r=</a:t>
            </a:r>
            <a:r>
              <a:rPr kumimoji="1" lang="en-US" altLang="zh-CN" sz="1600" dirty="0" err="1">
                <a:solidFill>
                  <a:srgbClr val="595959"/>
                </a:solidFill>
                <a:ea typeface="微软雅黑" panose="020B0503020204020204" pitchFamily="34" charset="-122"/>
              </a:rPr>
              <a:t>lr.score</a:t>
            </a:r>
            <a:r>
              <a:rPr kumimoji="1" lang="en-US" altLang="zh-CN" sz="1600" dirty="0">
                <a:solidFill>
                  <a:srgbClr val="595959"/>
                </a:solidFill>
                <a:ea typeface="微软雅黑" panose="020B0503020204020204" pitchFamily="34" charset="-122"/>
              </a:rPr>
              <a:t>(x, y); # </a:t>
            </a:r>
            <a:r>
              <a:rPr kumimoji="1" lang="zh-CN" altLang="zh-CN" sz="1600" dirty="0">
                <a:solidFill>
                  <a:srgbClr val="595959"/>
                </a:solidFill>
                <a:ea typeface="微软雅黑" panose="020B0503020204020204" pitchFamily="34" charset="-122"/>
              </a:rPr>
              <a:t>模型准确率（针对训练数据）</a:t>
            </a:r>
          </a:p>
          <a:p>
            <a:r>
              <a:rPr kumimoji="1" lang="zh-CN" altLang="zh-CN" sz="1600" dirty="0">
                <a:solidFill>
                  <a:srgbClr val="595959"/>
                </a:solidFill>
                <a:ea typeface="微软雅黑" panose="020B0503020204020204" pitchFamily="34" charset="-122"/>
              </a:rPr>
              <a:t>（</a:t>
            </a:r>
            <a:r>
              <a:rPr kumimoji="1" lang="en-US" altLang="zh-CN" sz="1600" dirty="0">
                <a:solidFill>
                  <a:srgbClr val="595959"/>
                </a:solidFill>
                <a:ea typeface="微软雅黑" panose="020B0503020204020204" pitchFamily="34" charset="-122"/>
              </a:rPr>
              <a:t>5</a:t>
            </a:r>
            <a:r>
              <a:rPr kumimoji="1" lang="zh-CN" altLang="zh-CN" sz="1600" dirty="0">
                <a:solidFill>
                  <a:srgbClr val="595959"/>
                </a:solidFill>
                <a:ea typeface="微软雅黑" panose="020B0503020204020204" pitchFamily="34" charset="-122"/>
              </a:rPr>
              <a:t>）调用</a:t>
            </a:r>
            <a:r>
              <a:rPr kumimoji="1" lang="en-US" altLang="zh-CN" sz="1600" dirty="0" err="1">
                <a:solidFill>
                  <a:srgbClr val="595959"/>
                </a:solidFill>
                <a:ea typeface="微软雅黑" panose="020B0503020204020204" pitchFamily="34" charset="-122"/>
              </a:rPr>
              <a:t>lr</a:t>
            </a:r>
            <a:r>
              <a:rPr kumimoji="1" lang="zh-CN" altLang="zh-CN" sz="1600" dirty="0">
                <a:solidFill>
                  <a:srgbClr val="595959"/>
                </a:solidFill>
                <a:ea typeface="微软雅黑" panose="020B0503020204020204" pitchFamily="34" charset="-122"/>
              </a:rPr>
              <a:t>中的</a:t>
            </a:r>
            <a:r>
              <a:rPr kumimoji="1" lang="en-US" altLang="zh-CN" sz="1600" dirty="0">
                <a:solidFill>
                  <a:srgbClr val="595959"/>
                </a:solidFill>
                <a:ea typeface="微软雅黑" panose="020B0503020204020204" pitchFamily="34" charset="-122"/>
              </a:rPr>
              <a:t>predict()</a:t>
            </a:r>
            <a:r>
              <a:rPr kumimoji="1" lang="zh-CN" altLang="zh-CN" sz="1600" dirty="0">
                <a:solidFill>
                  <a:srgbClr val="595959"/>
                </a:solidFill>
                <a:ea typeface="微软雅黑" panose="020B0503020204020204" pitchFamily="34" charset="-122"/>
              </a:rPr>
              <a:t>方法，对测试样本进行预测，获得其预测结果</a:t>
            </a:r>
          </a:p>
          <a:p>
            <a:r>
              <a:rPr kumimoji="1" lang="en-US" altLang="zh-CN" sz="1600" dirty="0">
                <a:solidFill>
                  <a:srgbClr val="595959"/>
                </a:solidFill>
                <a:ea typeface="微软雅黑" panose="020B0503020204020204" pitchFamily="34" charset="-122"/>
              </a:rPr>
              <a:t>R =</a:t>
            </a:r>
            <a:r>
              <a:rPr kumimoji="1" lang="en-US" altLang="zh-CN" sz="1600" dirty="0" err="1">
                <a:solidFill>
                  <a:srgbClr val="595959"/>
                </a:solidFill>
                <a:ea typeface="微软雅黑" panose="020B0503020204020204" pitchFamily="34" charset="-122"/>
              </a:rPr>
              <a:t>lr.predict</a:t>
            </a:r>
            <a:r>
              <a:rPr kumimoji="1" lang="en-US" altLang="zh-CN" sz="1600" dirty="0">
                <a:solidFill>
                  <a:srgbClr val="595959"/>
                </a:solidFill>
                <a:ea typeface="微软雅黑" panose="020B0503020204020204" pitchFamily="34" charset="-122"/>
              </a:rPr>
              <a:t>(x1)</a:t>
            </a:r>
            <a:endParaRPr kumimoji="1" lang="zh-CN" altLang="zh-CN" sz="1600" dirty="0">
              <a:solidFill>
                <a:srgbClr val="595959"/>
              </a:solidFill>
              <a:ea typeface="微软雅黑" panose="020B0503020204020204" pitchFamily="34" charset="-122"/>
            </a:endParaRPr>
          </a:p>
        </p:txBody>
      </p:sp>
      <p:sp>
        <p:nvSpPr>
          <p:cNvPr id="5" name="TextBox 4"/>
          <p:cNvSpPr txBox="1"/>
          <p:nvPr/>
        </p:nvSpPr>
        <p:spPr>
          <a:xfrm>
            <a:off x="138692" y="597265"/>
            <a:ext cx="5392597" cy="400110"/>
          </a:xfrm>
          <a:prstGeom prst="rect">
            <a:avLst/>
          </a:prstGeom>
          <a:noFill/>
        </p:spPr>
        <p:txBody>
          <a:bodyPr wrap="square" rtlCol="0">
            <a:spAutoFit/>
          </a:bodyPr>
          <a:lstStyle/>
          <a:p>
            <a:r>
              <a:rPr kumimoji="1" lang="zh-CN" altLang="en-US" sz="2000" b="1" dirty="0">
                <a:solidFill>
                  <a:srgbClr val="595959"/>
                </a:solidFill>
                <a:ea typeface="微软雅黑" panose="020B0503020204020204" pitchFamily="34" charset="-122"/>
              </a:rPr>
              <a:t>具体实现思路及流程如下：</a:t>
            </a:r>
          </a:p>
        </p:txBody>
      </p:sp>
      <p:sp>
        <p:nvSpPr>
          <p:cNvPr id="11" name="TextBox 10"/>
          <p:cNvSpPr txBox="1"/>
          <p:nvPr/>
        </p:nvSpPr>
        <p:spPr>
          <a:xfrm>
            <a:off x="5762103" y="1015024"/>
            <a:ext cx="6386414" cy="378565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en-US" altLang="zh-CN" sz="1600" dirty="0" smtClean="0">
                <a:solidFill>
                  <a:srgbClr val="595959"/>
                </a:solidFill>
                <a:ea typeface="微软雅黑" panose="020B0503020204020204" pitchFamily="34" charset="-122"/>
              </a:rPr>
              <a:t>import </a:t>
            </a:r>
            <a:r>
              <a:rPr kumimoji="1" lang="en-US" altLang="zh-CN" sz="1600" dirty="0">
                <a:solidFill>
                  <a:srgbClr val="595959"/>
                </a:solidFill>
                <a:ea typeface="微软雅黑" panose="020B0503020204020204" pitchFamily="34" charset="-122"/>
              </a:rPr>
              <a:t>pandas as </a:t>
            </a:r>
            <a:r>
              <a:rPr kumimoji="1" lang="en-US" altLang="zh-CN" sz="1600" dirty="0" err="1">
                <a:solidFill>
                  <a:srgbClr val="595959"/>
                </a:solidFill>
                <a:ea typeface="微软雅黑" panose="020B0503020204020204" pitchFamily="34" charset="-122"/>
              </a:rPr>
              <a:t>pd</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data = </a:t>
            </a:r>
            <a:r>
              <a:rPr kumimoji="1" lang="en-US" altLang="zh-CN" sz="1600" dirty="0" err="1">
                <a:solidFill>
                  <a:srgbClr val="595959"/>
                </a:solidFill>
                <a:ea typeface="微软雅黑" panose="020B0503020204020204" pitchFamily="34" charset="-122"/>
              </a:rPr>
              <a:t>pd.read_excel</a:t>
            </a:r>
            <a:r>
              <a:rPr kumimoji="1" lang="en-US" altLang="zh-CN" sz="1600" dirty="0">
                <a:solidFill>
                  <a:srgbClr val="595959"/>
                </a:solidFill>
                <a:ea typeface="微软雅黑" panose="020B0503020204020204" pitchFamily="34" charset="-122"/>
              </a:rPr>
              <a:t>('credit.xlsx')</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x =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y =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x1=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y1= </a:t>
            </a:r>
            <a:r>
              <a:rPr kumimoji="1" lang="en-US" altLang="zh-CN" sz="1600" dirty="0" err="1">
                <a:solidFill>
                  <a:srgbClr val="595959"/>
                </a:solidFill>
                <a:ea typeface="微软雅黑" panose="020B0503020204020204" pitchFamily="34" charset="-122"/>
              </a:rPr>
              <a:t>data.iloc</a:t>
            </a:r>
            <a:r>
              <a:rPr kumimoji="1" lang="en-US" altLang="zh-CN" sz="1600" dirty="0">
                <a:solidFill>
                  <a:srgbClr val="595959"/>
                </a:solidFill>
                <a:ea typeface="微软雅黑" panose="020B0503020204020204" pitchFamily="34" charset="-122"/>
              </a:rPr>
              <a:t>[600:,14].</a:t>
            </a:r>
            <a:r>
              <a:rPr kumimoji="1" lang="en-US" altLang="zh-CN" sz="1600" dirty="0" err="1">
                <a:solidFill>
                  <a:srgbClr val="595959"/>
                </a:solidFill>
                <a:ea typeface="微软雅黑" panose="020B0503020204020204" pitchFamily="34" charset="-122"/>
              </a:rPr>
              <a:t>as_matrix</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from </a:t>
            </a:r>
            <a:r>
              <a:rPr kumimoji="1" lang="en-US" altLang="zh-CN" sz="1600" dirty="0" err="1">
                <a:solidFill>
                  <a:srgbClr val="595959"/>
                </a:solidFill>
                <a:ea typeface="微软雅黑" panose="020B0503020204020204" pitchFamily="34" charset="-122"/>
              </a:rPr>
              <a:t>sklearn.linear_model</a:t>
            </a:r>
            <a:r>
              <a:rPr kumimoji="1" lang="en-US" altLang="zh-CN" sz="1600" dirty="0">
                <a:solidFill>
                  <a:srgbClr val="595959"/>
                </a:solidFill>
                <a:ea typeface="微软雅黑" panose="020B0503020204020204" pitchFamily="34" charset="-122"/>
              </a:rPr>
              <a:t> import </a:t>
            </a:r>
            <a:r>
              <a:rPr kumimoji="1" lang="en-US" altLang="zh-CN" sz="1600" dirty="0" err="1">
                <a:solidFill>
                  <a:srgbClr val="595959"/>
                </a:solidFill>
                <a:ea typeface="微软雅黑" panose="020B0503020204020204" pitchFamily="34" charset="-122"/>
              </a:rPr>
              <a:t>LogisticRegression</a:t>
            </a:r>
            <a:r>
              <a:rPr kumimoji="1" lang="en-US" altLang="zh-CN" sz="1600" dirty="0">
                <a:solidFill>
                  <a:srgbClr val="595959"/>
                </a:solidFill>
                <a:ea typeface="微软雅黑" panose="020B0503020204020204" pitchFamily="34" charset="-122"/>
              </a:rPr>
              <a:t> as LR</a:t>
            </a:r>
            <a:endParaRPr kumimoji="1" lang="zh-CN" altLang="zh-CN" sz="1600" dirty="0">
              <a:solidFill>
                <a:srgbClr val="595959"/>
              </a:solidFill>
              <a:ea typeface="微软雅黑" panose="020B0503020204020204" pitchFamily="34" charset="-122"/>
            </a:endParaRPr>
          </a:p>
          <a:p>
            <a:r>
              <a:rPr kumimoji="1" lang="en-US" altLang="zh-CN" sz="1600" dirty="0" err="1">
                <a:solidFill>
                  <a:srgbClr val="595959"/>
                </a:solidFill>
                <a:ea typeface="微软雅黑" panose="020B0503020204020204" pitchFamily="34" charset="-122"/>
              </a:rPr>
              <a:t>lr</a:t>
            </a:r>
            <a:r>
              <a:rPr kumimoji="1" lang="en-US" altLang="zh-CN" sz="1600" dirty="0">
                <a:solidFill>
                  <a:srgbClr val="595959"/>
                </a:solidFill>
                <a:ea typeface="微软雅黑" panose="020B0503020204020204" pitchFamily="34" charset="-122"/>
              </a:rPr>
              <a:t> = LR()   #</a:t>
            </a:r>
            <a:r>
              <a:rPr kumimoji="1" lang="zh-CN" altLang="zh-CN" sz="1600" dirty="0">
                <a:solidFill>
                  <a:srgbClr val="595959"/>
                </a:solidFill>
                <a:ea typeface="微软雅黑" panose="020B0503020204020204" pitchFamily="34" charset="-122"/>
              </a:rPr>
              <a:t>创建逻辑回归模型类</a:t>
            </a:r>
          </a:p>
          <a:p>
            <a:r>
              <a:rPr kumimoji="1" lang="en-US" altLang="zh-CN" sz="1600" dirty="0" err="1">
                <a:solidFill>
                  <a:srgbClr val="595959"/>
                </a:solidFill>
                <a:ea typeface="微软雅黑" panose="020B0503020204020204" pitchFamily="34" charset="-122"/>
              </a:rPr>
              <a:t>lr.fit</a:t>
            </a:r>
            <a:r>
              <a:rPr kumimoji="1" lang="en-US" altLang="zh-CN" sz="1600" dirty="0">
                <a:solidFill>
                  <a:srgbClr val="595959"/>
                </a:solidFill>
                <a:ea typeface="微软雅黑" panose="020B0503020204020204" pitchFamily="34" charset="-122"/>
              </a:rPr>
              <a:t>(x, y) #</a:t>
            </a:r>
            <a:r>
              <a:rPr kumimoji="1" lang="zh-CN" altLang="zh-CN" sz="1600" dirty="0">
                <a:solidFill>
                  <a:srgbClr val="595959"/>
                </a:solidFill>
                <a:ea typeface="微软雅黑" panose="020B0503020204020204" pitchFamily="34" charset="-122"/>
              </a:rPr>
              <a:t>训练数据</a:t>
            </a:r>
          </a:p>
          <a:p>
            <a:r>
              <a:rPr kumimoji="1" lang="en-US" altLang="zh-CN" sz="1600" dirty="0">
                <a:solidFill>
                  <a:srgbClr val="595959"/>
                </a:solidFill>
                <a:ea typeface="微软雅黑" panose="020B0503020204020204" pitchFamily="34" charset="-122"/>
              </a:rPr>
              <a:t>r=</a:t>
            </a:r>
            <a:r>
              <a:rPr kumimoji="1" lang="en-US" altLang="zh-CN" sz="1600" dirty="0" err="1">
                <a:solidFill>
                  <a:srgbClr val="595959"/>
                </a:solidFill>
                <a:ea typeface="微软雅黑" panose="020B0503020204020204" pitchFamily="34" charset="-122"/>
              </a:rPr>
              <a:t>lr.score</a:t>
            </a:r>
            <a:r>
              <a:rPr kumimoji="1" lang="en-US" altLang="zh-CN" sz="1600" dirty="0">
                <a:solidFill>
                  <a:srgbClr val="595959"/>
                </a:solidFill>
                <a:ea typeface="微软雅黑" panose="020B0503020204020204" pitchFamily="34" charset="-122"/>
              </a:rPr>
              <a:t>(x, y); # </a:t>
            </a:r>
            <a:r>
              <a:rPr kumimoji="1" lang="zh-CN" altLang="zh-CN" sz="1600" dirty="0">
                <a:solidFill>
                  <a:srgbClr val="595959"/>
                </a:solidFill>
                <a:ea typeface="微软雅黑" panose="020B0503020204020204" pitchFamily="34" charset="-122"/>
              </a:rPr>
              <a:t>模型准确率（针对训练数据）</a:t>
            </a:r>
          </a:p>
          <a:p>
            <a:r>
              <a:rPr kumimoji="1" lang="en-US" altLang="zh-CN" sz="1600" dirty="0">
                <a:solidFill>
                  <a:srgbClr val="595959"/>
                </a:solidFill>
                <a:ea typeface="微软雅黑" panose="020B0503020204020204" pitchFamily="34" charset="-122"/>
              </a:rPr>
              <a:t>R=</a:t>
            </a:r>
            <a:r>
              <a:rPr kumimoji="1" lang="en-US" altLang="zh-CN" sz="1600" dirty="0" err="1">
                <a:solidFill>
                  <a:srgbClr val="595959"/>
                </a:solidFill>
                <a:ea typeface="微软雅黑" panose="020B0503020204020204" pitchFamily="34" charset="-122"/>
              </a:rPr>
              <a:t>lr.predict</a:t>
            </a:r>
            <a:r>
              <a:rPr kumimoji="1" lang="en-US" altLang="zh-CN" sz="1600" dirty="0">
                <a:solidFill>
                  <a:srgbClr val="595959"/>
                </a:solidFill>
                <a:ea typeface="微软雅黑" panose="020B0503020204020204" pitchFamily="34" charset="-122"/>
              </a:rPr>
              <a:t>(x1)</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Z=R-y1</a:t>
            </a:r>
            <a:endParaRPr kumimoji="1" lang="zh-CN" altLang="zh-CN" sz="1600" dirty="0">
              <a:solidFill>
                <a:srgbClr val="595959"/>
              </a:solidFill>
              <a:ea typeface="微软雅黑" panose="020B0503020204020204" pitchFamily="34" charset="-122"/>
            </a:endParaRPr>
          </a:p>
          <a:p>
            <a:r>
              <a:rPr kumimoji="1" lang="en-US" altLang="zh-CN" sz="1600" dirty="0" err="1">
                <a:solidFill>
                  <a:srgbClr val="595959"/>
                </a:solidFill>
                <a:ea typeface="微软雅黑" panose="020B0503020204020204" pitchFamily="34" charset="-122"/>
              </a:rPr>
              <a:t>Rs</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len</a:t>
            </a:r>
            <a:r>
              <a:rPr kumimoji="1" lang="en-US" altLang="zh-CN" sz="1600" dirty="0">
                <a:solidFill>
                  <a:srgbClr val="595959"/>
                </a:solidFill>
                <a:ea typeface="微软雅黑" panose="020B0503020204020204" pitchFamily="34" charset="-122"/>
              </a:rPr>
              <a:t>(Z[Z==0])/</a:t>
            </a:r>
            <a:r>
              <a:rPr kumimoji="1" lang="en-US" altLang="zh-CN" sz="1600" dirty="0" err="1">
                <a:solidFill>
                  <a:srgbClr val="595959"/>
                </a:solidFill>
                <a:ea typeface="微软雅黑" panose="020B0503020204020204" pitchFamily="34" charset="-122"/>
              </a:rPr>
              <a:t>len</a:t>
            </a:r>
            <a:r>
              <a:rPr kumimoji="1" lang="en-US" altLang="zh-CN" sz="1600" dirty="0">
                <a:solidFill>
                  <a:srgbClr val="595959"/>
                </a:solidFill>
                <a:ea typeface="微软雅黑" panose="020B0503020204020204" pitchFamily="34" charset="-122"/>
              </a:rPr>
              <a:t>(Z)</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print('</a:t>
            </a:r>
            <a:r>
              <a:rPr kumimoji="1" lang="zh-CN" altLang="zh-CN" sz="1600" dirty="0">
                <a:solidFill>
                  <a:srgbClr val="595959"/>
                </a:solidFill>
                <a:ea typeface="微软雅黑" panose="020B0503020204020204" pitchFamily="34" charset="-122"/>
              </a:rPr>
              <a:t>预测结果为：</a:t>
            </a:r>
            <a:r>
              <a:rPr kumimoji="1" lang="en-US" altLang="zh-CN" sz="1600" dirty="0">
                <a:solidFill>
                  <a:srgbClr val="595959"/>
                </a:solidFill>
                <a:ea typeface="微软雅黑" panose="020B0503020204020204" pitchFamily="34" charset="-122"/>
              </a:rPr>
              <a:t>',R)</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print('</a:t>
            </a:r>
            <a:r>
              <a:rPr kumimoji="1" lang="zh-CN" altLang="zh-CN" sz="1600" dirty="0">
                <a:solidFill>
                  <a:srgbClr val="595959"/>
                </a:solidFill>
                <a:ea typeface="微软雅黑" panose="020B0503020204020204" pitchFamily="34" charset="-122"/>
              </a:rPr>
              <a:t>预测准确率为：</a:t>
            </a:r>
            <a:r>
              <a:rPr kumimoji="1" lang="en-US" altLang="zh-CN" sz="1600" dirty="0">
                <a:solidFill>
                  <a:srgbClr val="595959"/>
                </a:solidFill>
                <a:ea typeface="微软雅黑" panose="020B0503020204020204" pitchFamily="34" charset="-122"/>
              </a:rPr>
              <a:t>',</a:t>
            </a:r>
            <a:r>
              <a:rPr kumimoji="1" lang="en-US" altLang="zh-CN" sz="1600" dirty="0" err="1">
                <a:solidFill>
                  <a:srgbClr val="595959"/>
                </a:solidFill>
                <a:ea typeface="微软雅黑" panose="020B0503020204020204" pitchFamily="34" charset="-122"/>
              </a:rPr>
              <a:t>Rs</a:t>
            </a:r>
            <a:r>
              <a:rPr kumimoji="1" lang="en-US" altLang="zh-CN" sz="1600" dirty="0">
                <a:solidFill>
                  <a:srgbClr val="595959"/>
                </a:solidFill>
                <a:ea typeface="微软雅黑" panose="020B0503020204020204" pitchFamily="34" charset="-122"/>
              </a:rPr>
              <a:t>)</a:t>
            </a:r>
            <a:endParaRPr kumimoji="1" lang="zh-CN" altLang="zh-CN" sz="1600" dirty="0">
              <a:solidFill>
                <a:srgbClr val="595959"/>
              </a:solidFill>
              <a:ea typeface="微软雅黑" panose="020B0503020204020204" pitchFamily="34" charset="-122"/>
            </a:endParaRPr>
          </a:p>
        </p:txBody>
      </p:sp>
      <p:sp>
        <p:nvSpPr>
          <p:cNvPr id="6" name="TextBox 5"/>
          <p:cNvSpPr txBox="1"/>
          <p:nvPr/>
        </p:nvSpPr>
        <p:spPr>
          <a:xfrm>
            <a:off x="5795026" y="614914"/>
            <a:ext cx="5408144" cy="400110"/>
          </a:xfrm>
          <a:prstGeom prst="rect">
            <a:avLst/>
          </a:prstGeom>
          <a:noFill/>
        </p:spPr>
        <p:txBody>
          <a:bodyPr wrap="square" rtlCol="0">
            <a:spAutoFit/>
          </a:bodyPr>
          <a:lstStyle/>
          <a:p>
            <a:r>
              <a:rPr kumimoji="1" lang="zh-CN" altLang="zh-CN" sz="2000" b="1" dirty="0">
                <a:solidFill>
                  <a:srgbClr val="595959"/>
                </a:solidFill>
                <a:ea typeface="微软雅黑" panose="020B0503020204020204" pitchFamily="34" charset="-122"/>
              </a:rPr>
              <a:t>逻辑回归分析完整示例代码如下：</a:t>
            </a:r>
          </a:p>
        </p:txBody>
      </p:sp>
      <p:sp>
        <p:nvSpPr>
          <p:cNvPr id="13" name="TextBox 12"/>
          <p:cNvSpPr txBox="1"/>
          <p:nvPr/>
        </p:nvSpPr>
        <p:spPr>
          <a:xfrm>
            <a:off x="5762103" y="4800676"/>
            <a:ext cx="6386414" cy="1846659"/>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zh-CN" altLang="zh-CN" sz="1600" dirty="0">
                <a:solidFill>
                  <a:srgbClr val="595959"/>
                </a:solidFill>
                <a:ea typeface="微软雅黑" panose="020B0503020204020204" pitchFamily="34" charset="-122"/>
              </a:rPr>
              <a:t>执行结果为：</a:t>
            </a:r>
          </a:p>
          <a:p>
            <a:r>
              <a:rPr kumimoji="1" lang="zh-CN" altLang="zh-CN" sz="1600" dirty="0">
                <a:solidFill>
                  <a:srgbClr val="595959"/>
                </a:solidFill>
                <a:ea typeface="微软雅黑" panose="020B0503020204020204" pitchFamily="34" charset="-122"/>
              </a:rPr>
              <a:t>预测结果为：</a:t>
            </a:r>
            <a:r>
              <a:rPr kumimoji="1" lang="en-US" altLang="zh-CN" sz="1600" dirty="0">
                <a:solidFill>
                  <a:srgbClr val="595959"/>
                </a:solidFill>
                <a:ea typeface="微软雅黑" panose="020B0503020204020204" pitchFamily="34" charset="-122"/>
              </a:rPr>
              <a:t> [0 1 1 1 1 0 0 1 0 1 1 0 0 0 1 1 0 0 0 1 0 1 1 0 1 1 1 0 1 0 0 0 1 0 0 1 0</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 0 0 1 0 1 1 0 1 0 1 0 1 1 1 0 0 1 0 0 1 0 0 0 1 0 1 1 0 0 0 1 0 0 1 1 0 1</a:t>
            </a:r>
            <a:endParaRPr kumimoji="1" lang="zh-CN" altLang="zh-CN" sz="1600" dirty="0">
              <a:solidFill>
                <a:srgbClr val="595959"/>
              </a:solidFill>
              <a:ea typeface="微软雅黑" panose="020B0503020204020204" pitchFamily="34" charset="-122"/>
            </a:endParaRPr>
          </a:p>
          <a:p>
            <a:r>
              <a:rPr kumimoji="1" lang="en-US" altLang="zh-CN" sz="1600" dirty="0">
                <a:solidFill>
                  <a:srgbClr val="595959"/>
                </a:solidFill>
                <a:ea typeface="微软雅黑" panose="020B0503020204020204" pitchFamily="34" charset="-122"/>
              </a:rPr>
              <a:t> 0 0 0 1 0 1 0 1 1 0 1 1 0 1 1 0]</a:t>
            </a:r>
            <a:endParaRPr kumimoji="1" lang="zh-CN" altLang="zh-CN" sz="1600" dirty="0">
              <a:solidFill>
                <a:srgbClr val="595959"/>
              </a:solidFill>
              <a:ea typeface="微软雅黑" panose="020B0503020204020204" pitchFamily="34" charset="-122"/>
            </a:endParaRPr>
          </a:p>
          <a:p>
            <a:r>
              <a:rPr kumimoji="1" lang="zh-CN" altLang="zh-CN" sz="1600" dirty="0">
                <a:solidFill>
                  <a:srgbClr val="595959"/>
                </a:solidFill>
                <a:ea typeface="微软雅黑" panose="020B0503020204020204" pitchFamily="34" charset="-122"/>
              </a:rPr>
              <a:t>预测准确率为：</a:t>
            </a:r>
            <a:r>
              <a:rPr kumimoji="1" lang="en-US" altLang="zh-CN" sz="1600" dirty="0">
                <a:solidFill>
                  <a:srgbClr val="595959"/>
                </a:solidFill>
                <a:ea typeface="微软雅黑" panose="020B0503020204020204" pitchFamily="34" charset="-122"/>
              </a:rPr>
              <a:t> 0.8333333333333334</a:t>
            </a:r>
            <a:endParaRPr kumimoji="1" lang="zh-CN" altLang="zh-CN" sz="1600" dirty="0">
              <a:solidFill>
                <a:srgbClr val="595959"/>
              </a:solidFill>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2295</Words>
  <Application>Microsoft Office PowerPoint</Application>
  <PresentationFormat>自定义</PresentationFormat>
  <Paragraphs>467</Paragraphs>
  <Slides>11</Slides>
  <Notes>11</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lenovo</cp:lastModifiedBy>
  <cp:revision>1606</cp:revision>
  <dcterms:created xsi:type="dcterms:W3CDTF">2013-01-25T01:44:00Z</dcterms:created>
  <dcterms:modified xsi:type="dcterms:W3CDTF">2020-01-12T03:39:22Z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