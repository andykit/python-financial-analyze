
<file path=[Content_Types].xml><?xml version="1.0" encoding="utf-8"?>
<Types xmlns="http://schemas.openxmlformats.org/package/2006/content-types">
  <Default Extension="jpeg" ContentType="image/jpe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780" r:id="rId3"/>
    <p:sldId id="914" r:id="rId5"/>
    <p:sldId id="952" r:id="rId6"/>
    <p:sldId id="933" r:id="rId7"/>
    <p:sldId id="855" r:id="rId8"/>
    <p:sldId id="953" r:id="rId9"/>
  </p:sldIdLst>
  <p:sldSz cx="12196445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张 尚佳" initials="张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8F8F8"/>
    <a:srgbClr val="17DCF1"/>
    <a:srgbClr val="0DC2D5"/>
    <a:srgbClr val="006BBC"/>
    <a:srgbClr val="00AAA2"/>
    <a:srgbClr val="EFEFEF"/>
    <a:srgbClr val="FFFFFF"/>
    <a:srgbClr val="F0F0F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9044" autoAdjust="0"/>
    <p:restoredTop sz="94270" autoAdjust="0"/>
  </p:normalViewPr>
  <p:slideViewPr>
    <p:cSldViewPr snapToObjects="1">
      <p:cViewPr varScale="1">
        <p:scale>
          <a:sx n="89" d="100"/>
          <a:sy n="89" d="100"/>
        </p:scale>
        <p:origin x="-222" y="-108"/>
      </p:cViewPr>
      <p:guideLst>
        <p:guide orient="horz" pos="2143"/>
        <p:guide pos="38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Objects="1">
      <p:cViewPr varScale="1">
        <p:scale>
          <a:sx n="67" d="100"/>
          <a:sy n="67" d="100"/>
        </p:scale>
        <p:origin x="-2323" y="-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commentAuthors" Target="commentAuthors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610686-844B-4A1B-87C8-BB90DB4BAB8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200"/>
            </a:lvl1pPr>
          </a:lstStyle>
          <a:p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200"/>
            </a:lvl1pPr>
          </a:lstStyle>
          <a:p>
            <a:fld id="{B9EEDA17-7CE7-49CA-897E-A1888A19DA62}" type="datetimeFigureOut">
              <a:rPr lang="zh-CN" altLang="en-US"/>
            </a:fld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sz="1200"/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sz="1200"/>
            </a:lvl1pPr>
          </a:lstStyle>
          <a:p>
            <a:fld id="{CE1689F0-D8FB-450F-A36F-553F26501FEE}" type="slidenum">
              <a:rPr lang="zh-CN" alt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参考：</a:t>
            </a:r>
            <a:r>
              <a:rPr lang="en-US" altLang="zh-CN" dirty="0"/>
              <a:t>https://www.knime.com/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4" Type="http://schemas.openxmlformats.org/officeDocument/2006/relationships/image" Target="../media/image15.png"/><Relationship Id="rId13" Type="http://schemas.openxmlformats.org/officeDocument/2006/relationships/image" Target="../media/image14.png"/><Relationship Id="rId12" Type="http://schemas.openxmlformats.org/officeDocument/2006/relationships/image" Target="../media/image13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6170389" y="134946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素材下载：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图表下载：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优秀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Word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www.1ppt.com/word/              Excel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www.1ppt.com/excel/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资料下载：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www.1ppt.com/ziliao/     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课件下载：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www.1ppt.com/kejian/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范文下载：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www.1ppt.com/fanwen/   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试卷下载：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www.1ppt.com/shiti/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教案下载：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www.1ppt.com/jiaoan/  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endParaRPr lang="zh-CN" altLang="en-US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5625" y="908051"/>
            <a:ext cx="10601349" cy="635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5625" y="1600201"/>
            <a:ext cx="10601349" cy="45259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8" name="Freeform 5"/>
          <p:cNvSpPr/>
          <p:nvPr userDrawn="1"/>
        </p:nvSpPr>
        <p:spPr bwMode="auto">
          <a:xfrm>
            <a:off x="63836" y="73173"/>
            <a:ext cx="1227153" cy="486467"/>
          </a:xfrm>
          <a:custGeom>
            <a:avLst/>
            <a:gdLst>
              <a:gd name="T0" fmla="*/ 0 w 1600"/>
              <a:gd name="T1" fmla="*/ 0 h 617"/>
              <a:gd name="T2" fmla="*/ 1429 w 1600"/>
              <a:gd name="T3" fmla="*/ 0 h 617"/>
              <a:gd name="T4" fmla="*/ 1600 w 1600"/>
              <a:gd name="T5" fmla="*/ 308 h 617"/>
              <a:gd name="T6" fmla="*/ 1429 w 1600"/>
              <a:gd name="T7" fmla="*/ 617 h 617"/>
              <a:gd name="T8" fmla="*/ 0 w 1600"/>
              <a:gd name="T9" fmla="*/ 617 h 617"/>
              <a:gd name="T10" fmla="*/ 0 w 1600"/>
              <a:gd name="T11" fmla="*/ 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00" h="617">
                <a:moveTo>
                  <a:pt x="0" y="0"/>
                </a:moveTo>
                <a:lnTo>
                  <a:pt x="1429" y="0"/>
                </a:lnTo>
                <a:lnTo>
                  <a:pt x="1600" y="308"/>
                </a:lnTo>
                <a:lnTo>
                  <a:pt x="1429" y="617"/>
                </a:lnTo>
                <a:lnTo>
                  <a:pt x="0" y="617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 userDrawn="1"/>
        </p:nvSpPr>
        <p:spPr bwMode="auto">
          <a:xfrm>
            <a:off x="1196835" y="73173"/>
            <a:ext cx="10215809" cy="486467"/>
          </a:xfrm>
          <a:custGeom>
            <a:avLst/>
            <a:gdLst>
              <a:gd name="T0" fmla="*/ 0 w 13327"/>
              <a:gd name="T1" fmla="*/ 0 h 617"/>
              <a:gd name="T2" fmla="*/ 13155 w 13327"/>
              <a:gd name="T3" fmla="*/ 0 h 617"/>
              <a:gd name="T4" fmla="*/ 13327 w 13327"/>
              <a:gd name="T5" fmla="*/ 308 h 617"/>
              <a:gd name="T6" fmla="*/ 13155 w 13327"/>
              <a:gd name="T7" fmla="*/ 617 h 617"/>
              <a:gd name="T8" fmla="*/ 0 w 13327"/>
              <a:gd name="T9" fmla="*/ 617 h 617"/>
              <a:gd name="T10" fmla="*/ 171 w 13327"/>
              <a:gd name="T11" fmla="*/ 308 h 617"/>
              <a:gd name="T12" fmla="*/ 0 w 13327"/>
              <a:gd name="T13" fmla="*/ 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27" h="617">
                <a:moveTo>
                  <a:pt x="0" y="0"/>
                </a:moveTo>
                <a:lnTo>
                  <a:pt x="13155" y="0"/>
                </a:lnTo>
                <a:lnTo>
                  <a:pt x="13327" y="308"/>
                </a:lnTo>
                <a:lnTo>
                  <a:pt x="13155" y="617"/>
                </a:lnTo>
                <a:lnTo>
                  <a:pt x="0" y="617"/>
                </a:lnTo>
                <a:lnTo>
                  <a:pt x="171" y="3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 userDrawn="1"/>
        </p:nvSpPr>
        <p:spPr bwMode="auto">
          <a:xfrm>
            <a:off x="11320057" y="73173"/>
            <a:ext cx="812871" cy="486467"/>
          </a:xfrm>
          <a:custGeom>
            <a:avLst/>
            <a:gdLst>
              <a:gd name="T0" fmla="*/ 0 w 1060"/>
              <a:gd name="T1" fmla="*/ 0 h 617"/>
              <a:gd name="T2" fmla="*/ 1060 w 1060"/>
              <a:gd name="T3" fmla="*/ 0 h 617"/>
              <a:gd name="T4" fmla="*/ 1060 w 1060"/>
              <a:gd name="T5" fmla="*/ 617 h 617"/>
              <a:gd name="T6" fmla="*/ 0 w 1060"/>
              <a:gd name="T7" fmla="*/ 617 h 617"/>
              <a:gd name="T8" fmla="*/ 172 w 1060"/>
              <a:gd name="T9" fmla="*/ 308 h 617"/>
              <a:gd name="T10" fmla="*/ 0 w 1060"/>
              <a:gd name="T11" fmla="*/ 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60" h="617">
                <a:moveTo>
                  <a:pt x="0" y="0"/>
                </a:moveTo>
                <a:lnTo>
                  <a:pt x="1060" y="0"/>
                </a:lnTo>
                <a:lnTo>
                  <a:pt x="1060" y="617"/>
                </a:lnTo>
                <a:lnTo>
                  <a:pt x="0" y="617"/>
                </a:lnTo>
                <a:lnTo>
                  <a:pt x="172" y="3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1537052" y="116633"/>
            <a:ext cx="474797" cy="353937"/>
          </a:xfrm>
          <a:prstGeom prst="rect">
            <a:avLst/>
          </a:prstGeom>
          <a:noFill/>
        </p:spPr>
        <p:txBody>
          <a:bodyPr wrap="none" lIns="91434" tIns="45717" rIns="91434" bIns="45717" rtlCol="0">
            <a:spAutoFit/>
          </a:bodyPr>
          <a:lstStyle/>
          <a:p>
            <a:pPr algn="ctr"/>
            <a:fld id="{B879B013-EF15-44F9-9A4C-93BE492C244C}" type="slidenum">
              <a:rPr lang="zh-CN" altLang="en-US" sz="1700" smtClean="0">
                <a:solidFill>
                  <a:schemeClr val="accent2"/>
                </a:solidFill>
                <a:latin typeface="+mn-ea"/>
                <a:ea typeface="+mn-ea"/>
              </a:rPr>
            </a:fld>
            <a:endParaRPr lang="zh-CN" altLang="en-US" sz="1700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afterEffect" p14:presetBounceEnd="33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3000">
                                          <p:cBhvr additive="base">
                                            <p:cTn id="7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3000">
                                          <p:cBhvr additive="base">
                                            <p:cTn id="8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3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" presetClass="entr" presetSubtype="2" fill="hold" grpId="0" nodeType="afterEffect" p14:presetBounceEnd="33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3000">
                                          <p:cBhvr additive="base">
                                            <p:cTn id="16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3000">
                                          <p:cBhvr additive="base">
                                            <p:cTn id="17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9" grpId="0" animBg="1"/>
          <p:bldP spid="10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3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9" grpId="0" animBg="1"/>
          <p:bldP spid="10" grpId="0" animBg="1"/>
        </p:bldLst>
      </p:timing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4" y="4406901"/>
            <a:ext cx="10366375" cy="1362075"/>
          </a:xfrm>
        </p:spPr>
        <p:txBody>
          <a:bodyPr anchor="t"/>
          <a:lstStyle>
            <a:lvl1pPr algn="l">
              <a:defRPr sz="4000" b="1" cap="all">
                <a:solidFill>
                  <a:srgbClr val="F8F8F8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4" y="2906713"/>
            <a:ext cx="1036637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F8F8F8"/>
                </a:solidFill>
              </a:defRPr>
            </a:lvl1pPr>
            <a:lvl2pPr marL="457200" indent="0">
              <a:buNone/>
              <a:defRPr sz="1700"/>
            </a:lvl2pPr>
            <a:lvl3pPr marL="914400" indent="0">
              <a:buNone/>
              <a:defRPr sz="1600"/>
            </a:lvl3pPr>
            <a:lvl4pPr marL="1371600" indent="0">
              <a:buNone/>
              <a:defRPr sz="1300"/>
            </a:lvl4pPr>
            <a:lvl5pPr marL="1828800" indent="0">
              <a:buNone/>
              <a:defRPr sz="1300"/>
            </a:lvl5pPr>
            <a:lvl6pPr marL="2286000" indent="0">
              <a:buNone/>
              <a:defRPr sz="1300"/>
            </a:lvl6pPr>
            <a:lvl7pPr marL="2743200" indent="0">
              <a:buNone/>
              <a:defRPr sz="1300"/>
            </a:lvl7pPr>
            <a:lvl8pPr marL="3200400" indent="0">
              <a:buNone/>
              <a:defRPr sz="1300"/>
            </a:lvl8pPr>
            <a:lvl9pPr marL="3657600" indent="0">
              <a:buNone/>
              <a:defRPr sz="13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99" y="1600201"/>
            <a:ext cx="541178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3788" y="1600201"/>
            <a:ext cx="541337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5" name="图片 13" descr="泰迪logo无底色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40" y="6309320"/>
            <a:ext cx="918092" cy="242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4637"/>
            <a:ext cx="10977563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1" y="1535113"/>
            <a:ext cx="538956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7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1" y="2174875"/>
            <a:ext cx="538956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6013" y="1535113"/>
            <a:ext cx="5391151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7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6013" y="2174875"/>
            <a:ext cx="539115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49"/>
            <a:ext cx="4013201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8850" y="273052"/>
            <a:ext cx="681831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2"/>
            <a:ext cx="4013201" cy="4691063"/>
          </a:xfrm>
        </p:spPr>
        <p:txBody>
          <a:bodyPr/>
          <a:lstStyle>
            <a:lvl1pPr marL="0" indent="0"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0775" y="4800600"/>
            <a:ext cx="7318375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90775" y="612775"/>
            <a:ext cx="731837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775" y="5367338"/>
            <a:ext cx="7318375" cy="804863"/>
          </a:xfrm>
        </p:spPr>
        <p:txBody>
          <a:bodyPr/>
          <a:lstStyle>
            <a:lvl1pPr marL="0" indent="0"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3963" y="908052"/>
            <a:ext cx="2743201" cy="52181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908052"/>
            <a:ext cx="8081963" cy="52181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ECLOGO-eff-0-1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4146915" y="2886610"/>
            <a:ext cx="1060349" cy="798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PPECLOGO-eff-0-2"/>
          <p:cNvPicPr>
            <a:picLocks noChangeAspect="1" noChangeArrowheads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8430462" y="2758265"/>
            <a:ext cx="1096814" cy="838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PECLOGO-eff-0-3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40451" y="1447780"/>
            <a:ext cx="3013732" cy="2376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5" descr="PPECLOGO-eff-0-1"/>
          <p:cNvPicPr>
            <a:picLocks noChangeAspect="1" noChangeArrowheads="1"/>
          </p:cNvPicPr>
          <p:nvPr userDrawn="1"/>
        </p:nvPicPr>
        <p:blipFill>
          <a:blip r:embed="rId5" cstate="screen"/>
          <a:srcRect/>
          <a:stretch>
            <a:fillRect/>
          </a:stretch>
        </p:blipFill>
        <p:spPr bwMode="auto">
          <a:xfrm>
            <a:off x="4467437" y="3771071"/>
            <a:ext cx="524127" cy="395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PPECLOGO-eff-0-1"/>
          <p:cNvPicPr>
            <a:picLocks noChangeAspect="1" noChangeArrowheads="1"/>
          </p:cNvPicPr>
          <p:nvPr userDrawn="1"/>
        </p:nvPicPr>
        <p:blipFill>
          <a:blip r:embed="rId6" cstate="screen"/>
          <a:srcRect/>
          <a:stretch>
            <a:fillRect/>
          </a:stretch>
        </p:blipFill>
        <p:spPr bwMode="auto">
          <a:xfrm>
            <a:off x="7376341" y="2904247"/>
            <a:ext cx="401158" cy="30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PPECLOGO-eff-0-2"/>
          <p:cNvPicPr>
            <a:picLocks noChangeAspect="1" noChangeArrowheads="1"/>
          </p:cNvPicPr>
          <p:nvPr userDrawn="1"/>
        </p:nvPicPr>
        <p:blipFill>
          <a:blip r:embed="rId7" cstate="screen"/>
          <a:srcRect/>
          <a:stretch>
            <a:fillRect/>
          </a:stretch>
        </p:blipFill>
        <p:spPr bwMode="auto">
          <a:xfrm>
            <a:off x="5277818" y="2574150"/>
            <a:ext cx="981731" cy="750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PPECLOGO-eff-5-4"/>
          <p:cNvPicPr>
            <a:picLocks noChangeAspect="1" noChangeArrowheads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261942" y="3206629"/>
            <a:ext cx="1477636" cy="1123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PPECLOGO-eff-5-2"/>
          <p:cNvPicPr>
            <a:picLocks noChangeAspect="1" noChangeArrowheads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352404" y="3446015"/>
            <a:ext cx="1834444" cy="1436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PPECLOGO-eff-5-4"/>
          <p:cNvPicPr>
            <a:picLocks noChangeAspect="1" noChangeArrowheads="1"/>
          </p:cNvPicPr>
          <p:nvPr userDrawn="1"/>
        </p:nvPicPr>
        <p:blipFill>
          <a:blip r:embed="rId10" cstate="screen"/>
          <a:srcRect/>
          <a:stretch>
            <a:fillRect/>
          </a:stretch>
        </p:blipFill>
        <p:spPr bwMode="auto">
          <a:xfrm>
            <a:off x="9886102" y="2725339"/>
            <a:ext cx="1116793" cy="851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PPECLOGO-eff-0-1"/>
          <p:cNvPicPr>
            <a:picLocks noChangeAspect="1" noChangeArrowheads="1"/>
          </p:cNvPicPr>
          <p:nvPr userDrawn="1"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7942801" y="3624922"/>
            <a:ext cx="522112" cy="39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PPECLOGO-eff-0-1"/>
          <p:cNvPicPr>
            <a:picLocks noChangeAspect="1" noChangeArrowheads="1"/>
          </p:cNvPicPr>
          <p:nvPr userDrawn="1"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11254879" y="2365002"/>
            <a:ext cx="522111" cy="39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PPECLOGO-eff2-1-2"/>
          <p:cNvPicPr>
            <a:picLocks noChangeAspect="1" noChangeArrowheads="1"/>
          </p:cNvPicPr>
          <p:nvPr userDrawn="1"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2054437" y="2795895"/>
            <a:ext cx="1697366" cy="1428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PPECLOGO-eff2-1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983627" y="2785815"/>
            <a:ext cx="437445" cy="36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 descr="PPECLOGO-eff2-1-4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519341" y="3325061"/>
            <a:ext cx="703540" cy="587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PPECLOGO-eff2-1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9239009" y="2909286"/>
            <a:ext cx="360841" cy="30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PPECLOGO-eff2-1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9744990" y="3446014"/>
            <a:ext cx="282222" cy="236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rAng="0" ptsTypes="">
                                      <p:cBhvr>
                                        <p:cTn id="39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33333E-6 L -0.31632 3.33333E-6 " pathEditMode="relative" rAng="0" ptsTypes="AA">
                                      <p:cBhvr>
                                        <p:cTn id="41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816" y="0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04 -1.85185E-6 L -0.46684 -1.85185E-6 " pathEditMode="relative" rAng="0" ptsTypes="AA">
                                      <p:cBhvr>
                                        <p:cTn id="43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594" y="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1.11111E-6 L -0.19531 1.11111E-6 " pathEditMode="relative" rAng="0" ptsTypes="AA">
                                      <p:cBhvr>
                                        <p:cTn id="45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774" y="0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59259E-6 L -0.43594 2.59259E-6 " pathEditMode="relative" rAng="0" ptsTypes="AA">
                                      <p:cBhvr>
                                        <p:cTn id="47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806" y="0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1.85185E-6 L -0.33577 -1.85185E-6 " pathEditMode="relative" rAng="0" ptsTypes="AA">
                                      <p:cBhvr>
                                        <p:cTn id="49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788" y="0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85185E-6 L -0.57188 -1.85185E-6 " pathEditMode="relative" rAng="0" ptsTypes="AA">
                                      <p:cBhvr>
                                        <p:cTn id="51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594" y="0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85185E-6 L -0.57188 -1.85185E-6 " pathEditMode="relative" rAng="0" ptsTypes="AA">
                                      <p:cBhvr>
                                        <p:cTn id="53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594" y="0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59259E-6 L 0.43906 2.59259E-6 " pathEditMode="relative" rAng="0" ptsTypes="AA">
                                      <p:cBhvr>
                                        <p:cTn id="55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944" y="0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2.96296E-6 L 0.62813 2.96296E-6 " pathEditMode="relative" rAng="0" ptsTypes="AA">
                                      <p:cBhvr>
                                        <p:cTn id="57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406" y="0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2.96296E-6 L 0.42465 -2.96296E-6 " pathEditMode="relative" rAng="0" ptsTypes="AA">
                                      <p:cBhvr>
                                        <p:cTn id="59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33" y="0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3" presetClass="exit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9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53" presetClass="exit" presetSubtype="16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53" presetClass="exit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53" presetClass="exit" presetSubtype="16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4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53" presetClass="exit" presetSubtype="16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9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6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1" y="908051"/>
            <a:ext cx="10977563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ctr" anchorCtr="0" compatLnSpc="1"/>
          <a:lstStyle/>
          <a:p>
            <a:pPr lvl="0"/>
            <a:r>
              <a:rPr lang="zh-CN" dirty="0"/>
              <a:t>单击此处编辑母版标题样式</a:t>
            </a:r>
            <a:endParaRPr lang="zh-CN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1" y="1600201"/>
            <a:ext cx="10977563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t" anchorCtr="0" compatLnSpc="1"/>
          <a:lstStyle/>
          <a:p>
            <a:pPr lvl="0"/>
            <a:r>
              <a:rPr lang="zh-CN" dirty="0"/>
              <a:t>单击此处编辑母版文本样式</a:t>
            </a:r>
            <a:endParaRPr lang="zh-CN" dirty="0"/>
          </a:p>
          <a:p>
            <a:pPr lvl="1"/>
            <a:r>
              <a:rPr lang="zh-CN" dirty="0"/>
              <a:t>第二级</a:t>
            </a:r>
            <a:endParaRPr 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xStyles>
    <p:titleStyle>
      <a:lvl1pPr algn="l" rtl="0" fontAlgn="base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accent1"/>
          </a:solidFill>
          <a:latin typeface="+mn-lt"/>
          <a:ea typeface="仿宋_GB2312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jpeg"/><Relationship Id="rId1" Type="http://schemas.openxmlformats.org/officeDocument/2006/relationships/image" Target="../media/image17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microsoft.com/office/2007/relationships/hdphoto" Target="../media/image20.wdp"/><Relationship Id="rId1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0" y="0"/>
            <a:ext cx="12196800" cy="2060848"/>
          </a:xfrm>
          <a:prstGeom prst="rect">
            <a:avLst/>
          </a:prstGeom>
        </p:spPr>
      </p:pic>
      <p:sp>
        <p:nvSpPr>
          <p:cNvPr id="49" name="Rectangle 3"/>
          <p:cNvSpPr txBox="1">
            <a:spLocks noChangeArrowheads="1"/>
          </p:cNvSpPr>
          <p:nvPr/>
        </p:nvSpPr>
        <p:spPr bwMode="auto">
          <a:xfrm>
            <a:off x="265733" y="198153"/>
            <a:ext cx="11092068" cy="2510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/>
            <a:r>
              <a:rPr lang="en-US" altLang="zh-CN" sz="4000" b="1" dirty="0" smtClean="0">
                <a:latin typeface="+mn-ea"/>
                <a:ea typeface="+mn-ea"/>
              </a:rPr>
              <a:t>7.6  </a:t>
            </a:r>
            <a:r>
              <a:rPr lang="zh-CN" altLang="en-US" sz="4000" b="1" dirty="0" smtClean="0">
                <a:latin typeface="+mn-ea"/>
                <a:ea typeface="+mn-ea"/>
              </a:rPr>
              <a:t>沪</a:t>
            </a:r>
            <a:r>
              <a:rPr lang="zh-CN" altLang="en-US" sz="4000" b="1" dirty="0">
                <a:latin typeface="+mn-ea"/>
                <a:ea typeface="+mn-ea"/>
              </a:rPr>
              <a:t>深</a:t>
            </a:r>
            <a:r>
              <a:rPr lang="en-US" altLang="zh-CN" sz="4000" b="1" dirty="0">
                <a:latin typeface="+mn-ea"/>
                <a:ea typeface="+mn-ea"/>
              </a:rPr>
              <a:t>300</a:t>
            </a:r>
            <a:r>
              <a:rPr lang="zh-CN" altLang="en-US" sz="4000" b="1" dirty="0">
                <a:latin typeface="+mn-ea"/>
                <a:ea typeface="+mn-ea"/>
              </a:rPr>
              <a:t>指数走势</a:t>
            </a:r>
            <a:r>
              <a:rPr lang="zh-CN" altLang="en-US" sz="4000" b="1" dirty="0" smtClean="0">
                <a:latin typeface="+mn-ea"/>
                <a:ea typeface="+mn-ea"/>
              </a:rPr>
              <a:t>预测</a:t>
            </a:r>
            <a:endParaRPr lang="en-US" altLang="zh-CN" sz="4000" b="1" dirty="0" smtClean="0">
              <a:latin typeface="+mn-ea"/>
              <a:ea typeface="+mn-ea"/>
            </a:endParaRPr>
          </a:p>
          <a:p>
            <a:pPr algn="ctr"/>
            <a:endParaRPr lang="zh-CN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-12541" y="2060848"/>
            <a:ext cx="7145630" cy="815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7120546" y="2060848"/>
            <a:ext cx="1266711" cy="8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8387259" y="2060848"/>
            <a:ext cx="1265143" cy="81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9652403" y="2060848"/>
            <a:ext cx="1266711" cy="815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0919115" y="2060848"/>
            <a:ext cx="1265143" cy="8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500590" y="2420888"/>
            <a:ext cx="11092068" cy="2798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沪深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300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指数作为中国股票价格指数的代表，也是中国股指期货的标的指数，对其走势预测具有积极的现实意义与应用价值。本案例通过计算交易特征指标和涨跌决策变量，其中涨用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+1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表示，否则为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-1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，最终把问题转化为分类问题，并利用支持向量机、神经网络和逻辑回归进行涨跌趋势预测。这里介绍了如何将实际问题转化为分类问题，并利用分类模型进行预测，这种技能在实际数据挖掘中尤为重要。</a:t>
            </a:r>
            <a:endParaRPr lang="zh-CN" altLang="en-US" sz="2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9437"/>
    </mc:Choice>
    <mc:Fallback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6" y="44625"/>
            <a:ext cx="5042228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</a:t>
            </a:r>
            <a:r>
              <a:rPr lang="zh-CN" alt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介绍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dirty="0">
                <a:solidFill>
                  <a:schemeClr val="accent2"/>
                </a:solidFill>
              </a:rPr>
              <a:t>7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0845" y="836712"/>
            <a:ext cx="10192072" cy="450334"/>
          </a:xfrm>
        </p:spPr>
        <p:txBody>
          <a:bodyPr/>
          <a:lstStyle/>
          <a:p>
            <a:r>
              <a:rPr lang="zh-CN" altLang="zh-CN" sz="2000" kern="12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今有沪深</a:t>
            </a:r>
            <a:r>
              <a:rPr lang="en-US" altLang="zh-CN" sz="2000" kern="12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300</a:t>
            </a:r>
            <a:r>
              <a:rPr lang="zh-CN" altLang="zh-CN" sz="2000" kern="12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指数</a:t>
            </a:r>
            <a:r>
              <a:rPr lang="en-US" altLang="zh-CN" sz="2000" kern="12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2014</a:t>
            </a:r>
            <a:r>
              <a:rPr lang="zh-CN" altLang="zh-CN" sz="2000" kern="12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年的交易数据，其数据结构如表</a:t>
            </a:r>
            <a:r>
              <a:rPr lang="en-US" altLang="zh-CN" sz="2000" kern="12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7-9</a:t>
            </a:r>
            <a:r>
              <a:rPr lang="zh-CN" altLang="zh-CN" sz="2000" kern="12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所示</a:t>
            </a:r>
            <a:r>
              <a: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。</a:t>
            </a:r>
            <a:endParaRPr lang="zh-CN" altLang="en-US" sz="2000" kern="12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410977" y="1890951"/>
          <a:ext cx="8352927" cy="3291840"/>
        </p:xfrm>
        <a:graphic>
          <a:graphicData uri="http://schemas.openxmlformats.org/drawingml/2006/table">
            <a:tbl>
              <a:tblPr firstRow="1" firstCol="1" bandRow="1"/>
              <a:tblGrid>
                <a:gridCol w="1068319"/>
                <a:gridCol w="1408848"/>
                <a:gridCol w="1175152"/>
                <a:gridCol w="1175152"/>
                <a:gridCol w="1175152"/>
                <a:gridCol w="1175152"/>
                <a:gridCol w="1175152"/>
              </a:tblGrid>
              <a:tr h="1708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 err="1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Indexcd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 smtClea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Idxtrd01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Idxtrd02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Idxtrd03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Idxtrd04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Idxtrd05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Idxtrd06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395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000300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2014-01-02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2323.43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2325.99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2310.65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2321.98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451942.9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0395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000300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2014-01-03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2311.97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2314.84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2280.89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2290.78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597826.5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395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000300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2014-01-06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2286.37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2286.37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2229.33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2238.64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663004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395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000300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2014-01-07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2222.31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2246.79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2218.65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2238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437531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395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000300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2014-01-08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2240.64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2262.58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2228.42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2241.91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513488.5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395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000300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2014-01-09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2236.97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2258.89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2220.8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2222.22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559870.4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395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000300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2014-01-10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2216.52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2224.49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2200.22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2204.85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541692.9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395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000300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2014-01-13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2207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2222.07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2183.6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2193.68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501227.7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395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000300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2014-01-14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2192.84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2214.12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2179.91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2212.85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540499.5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395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000300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2014-01-15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2210.02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2215.9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2193.8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2208.94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/>
                        </a:rPr>
                        <a:t>489624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395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Arial" panose="020B0604020202020204"/>
                        </a:rPr>
                        <a:t>……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Arial" panose="020B0604020202020204"/>
                        </a:rPr>
                        <a:t>……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Arial" panose="020B0604020202020204"/>
                        </a:rPr>
                        <a:t>……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Arial" panose="020B0604020202020204"/>
                        </a:rPr>
                        <a:t>……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Arial" panose="020B0604020202020204"/>
                        </a:rPr>
                        <a:t>……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Arial" panose="020B0604020202020204"/>
                        </a:rPr>
                        <a:t>……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Arial" panose="020B0604020202020204"/>
                        </a:rPr>
                        <a:t>……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414646" y="5182791"/>
            <a:ext cx="59180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注：</a:t>
            </a:r>
            <a:r>
              <a:rPr lang="zh-CN" altLang="zh-CN" dirty="0"/>
              <a:t>所有分析数据均来源于国泰安</a:t>
            </a:r>
            <a:r>
              <a:rPr lang="en-US" altLang="zh-CN" dirty="0"/>
              <a:t>CSMAR</a:t>
            </a:r>
            <a:r>
              <a:rPr lang="zh-CN" altLang="zh-CN" dirty="0" smtClean="0"/>
              <a:t>数据库</a:t>
            </a:r>
            <a:r>
              <a:rPr lang="zh-CN" altLang="en-US" dirty="0"/>
              <a:t>。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2353965" y="1471508"/>
            <a:ext cx="5328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                   表</a:t>
            </a:r>
            <a:r>
              <a:rPr lang="en-US" altLang="zh-CN" dirty="0"/>
              <a:t>7-9  </a:t>
            </a:r>
            <a:r>
              <a:rPr lang="zh-CN" altLang="en-US" dirty="0"/>
              <a:t>沪深</a:t>
            </a:r>
            <a:r>
              <a:rPr lang="en-US" altLang="zh-CN" dirty="0"/>
              <a:t>300</a:t>
            </a:r>
            <a:r>
              <a:rPr lang="zh-CN" altLang="en-US" dirty="0"/>
              <a:t>指数</a:t>
            </a:r>
            <a:r>
              <a:rPr lang="en-US" altLang="zh-CN" dirty="0"/>
              <a:t>2014</a:t>
            </a:r>
            <a:r>
              <a:rPr lang="zh-CN" altLang="en-US" dirty="0"/>
              <a:t>年交易数据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9437">
        <p:fade/>
      </p:transition>
    </mc:Choice>
    <mc:Fallback>
      <p:transition spd="med" advTm="943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63265" y="44625"/>
            <a:ext cx="5042228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7.6.1 </a:t>
            </a:r>
            <a:r>
              <a:rPr lang="zh-CN" alt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案例指标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dirty="0">
                <a:solidFill>
                  <a:schemeClr val="accent2"/>
                </a:solidFill>
              </a:rPr>
              <a:t>7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25625" y="1353985"/>
            <a:ext cx="10079407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19635" y="1657706"/>
            <a:ext cx="4319305" cy="3643502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600" dirty="0" smtClean="0"/>
              <a:t>最终</a:t>
            </a:r>
            <a:r>
              <a:rPr lang="zh-CN" altLang="en-US" sz="1600" dirty="0"/>
              <a:t>得到以下标准的数据结构形式：</a:t>
            </a:r>
            <a:endParaRPr lang="zh-CN" altLang="en-US" sz="1600" dirty="0"/>
          </a:p>
          <a:p>
            <a:pPr marL="0" indent="0">
              <a:buNone/>
            </a:pPr>
            <a:r>
              <a:rPr lang="en-US" altLang="zh-CN" sz="1600" dirty="0"/>
              <a:t>ID   </a:t>
            </a:r>
            <a:r>
              <a:rPr lang="en-US" altLang="zh-CN" sz="1600" dirty="0" smtClean="0"/>
              <a:t>A1   A2    A3   A4   A5   </a:t>
            </a:r>
            <a:r>
              <a:rPr lang="en-US" altLang="zh-CN" sz="1600" dirty="0"/>
              <a:t>A6   </a:t>
            </a:r>
            <a:r>
              <a:rPr lang="en-US" altLang="zh-CN" sz="1600" dirty="0" smtClean="0"/>
              <a:t>A7   Y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/>
              <a:t>1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/>
              <a:t>2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/>
              <a:t>3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/>
              <a:t>4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 smtClean="0"/>
              <a:t>5</a:t>
            </a:r>
            <a:endParaRPr lang="en-US" altLang="zh-CN" sz="1600" dirty="0" smtClean="0"/>
          </a:p>
          <a:p>
            <a:pPr marL="0" indent="0">
              <a:buNone/>
            </a:pPr>
            <a:r>
              <a:rPr lang="en-US" altLang="zh-CN" sz="1600" dirty="0"/>
              <a:t>6</a:t>
            </a:r>
            <a:endParaRPr lang="zh-CN" altLang="zh-CN" sz="1600" dirty="0"/>
          </a:p>
          <a:p>
            <a:pPr marL="0" indent="0">
              <a:buNone/>
            </a:pPr>
            <a:r>
              <a:rPr lang="zh-CN" altLang="zh-CN" sz="1600" dirty="0"/>
              <a:t>……</a:t>
            </a:r>
            <a:endParaRPr lang="zh-CN" altLang="zh-CN" sz="1600" dirty="0"/>
          </a:p>
          <a:p>
            <a:pPr marL="0" indent="0">
              <a:buNone/>
            </a:pPr>
            <a:r>
              <a:rPr lang="zh-CN" altLang="zh-CN" sz="1600" dirty="0"/>
              <a:t>取后</a:t>
            </a:r>
            <a:r>
              <a:rPr lang="en-US" altLang="zh-CN" sz="1600" dirty="0"/>
              <a:t>30</a:t>
            </a:r>
            <a:r>
              <a:rPr lang="zh-CN" altLang="zh-CN" sz="1600" dirty="0"/>
              <a:t>行数据作为测试样本，剩下数据的作为训练样本，分别利用神经网络、支持向量机、逻辑回归模型进行训练及测试，分别获得对应模型的准确率和预测准确率。</a:t>
            </a:r>
            <a:endParaRPr lang="zh-CN" altLang="zh-CN" sz="1600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48976" y="1209969"/>
            <a:ext cx="10459193" cy="288031"/>
          </a:xfrm>
        </p:spPr>
        <p:txBody>
          <a:bodyPr/>
          <a:lstStyle/>
          <a:p>
            <a:r>
              <a:rPr lang="zh-CN" altLang="en-US" sz="1700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字段依次表示指数代码、交易日期、开盘价、最高价、最低价、收盘价、成交量</a:t>
            </a:r>
            <a:r>
              <a:rPr lang="zh-CN" altLang="en-US" sz="17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。请计算如下指标：</a:t>
            </a:r>
            <a:br>
              <a:rPr lang="zh-CN" altLang="en-US" sz="1700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</a:br>
            <a:endParaRPr lang="zh-CN" altLang="en-US" sz="1700" kern="120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981769" y="1657706"/>
          <a:ext cx="4888871" cy="31324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493233"/>
                <a:gridCol w="3395638"/>
              </a:tblGrid>
              <a:tr h="43749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kern="1200" dirty="0" smtClean="0"/>
                        <a:t>A1</a:t>
                      </a:r>
                      <a:r>
                        <a:rPr lang="zh-CN" altLang="en-US" sz="1200" kern="1200" dirty="0" smtClean="0"/>
                        <a:t>（收盘价 </a:t>
                      </a:r>
                      <a:r>
                        <a:rPr lang="en-US" altLang="zh-CN" sz="1200" kern="1200" dirty="0" smtClean="0"/>
                        <a:t>/ </a:t>
                      </a:r>
                      <a:r>
                        <a:rPr lang="zh-CN" altLang="en-US" sz="1200" kern="1200" dirty="0" smtClean="0"/>
                        <a:t>均价）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200" kern="1200" dirty="0" smtClean="0"/>
                        <a:t>收盘价 </a:t>
                      </a:r>
                      <a:r>
                        <a:rPr lang="en-US" altLang="zh-CN" sz="1200" kern="1200" dirty="0" smtClean="0"/>
                        <a:t>/ </a:t>
                      </a:r>
                      <a:r>
                        <a:rPr lang="zh-CN" altLang="en-US" sz="1200" kern="1200" dirty="0" smtClean="0"/>
                        <a:t>过去 </a:t>
                      </a:r>
                      <a:r>
                        <a:rPr lang="en-US" altLang="zh-CN" sz="1200" kern="1200" dirty="0" smtClean="0"/>
                        <a:t>10 </a:t>
                      </a:r>
                      <a:r>
                        <a:rPr lang="zh-CN" altLang="en-US" sz="1200" kern="1200" dirty="0" smtClean="0"/>
                        <a:t>个交易日的移动平均收盘价</a:t>
                      </a:r>
                      <a:endParaRPr lang="zh-CN" altLang="en-US" sz="1200" kern="1200" dirty="0" smtClean="0"/>
                    </a:p>
                  </a:txBody>
                  <a:tcPr anchor="ctr"/>
                </a:tc>
              </a:tr>
              <a:tr h="437498"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A2</a:t>
                      </a:r>
                      <a:r>
                        <a:rPr lang="zh-CN" altLang="en-US" sz="1200" dirty="0" smtClean="0"/>
                        <a:t>（现量 </a:t>
                      </a:r>
                      <a:r>
                        <a:rPr lang="en-US" altLang="zh-CN" sz="1200" dirty="0" smtClean="0"/>
                        <a:t>/ </a:t>
                      </a:r>
                      <a:r>
                        <a:rPr lang="zh-CN" altLang="en-US" sz="1200" dirty="0" smtClean="0"/>
                        <a:t>均量）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 smtClean="0"/>
                        <a:t>成交量 </a:t>
                      </a:r>
                      <a:r>
                        <a:rPr lang="en-US" altLang="zh-CN" sz="1200" dirty="0" smtClean="0"/>
                        <a:t>/ </a:t>
                      </a:r>
                      <a:r>
                        <a:rPr lang="zh-CN" altLang="en-US" sz="1200" dirty="0" smtClean="0"/>
                        <a:t>过去 </a:t>
                      </a:r>
                      <a:r>
                        <a:rPr lang="en-US" altLang="zh-CN" sz="1200" dirty="0" smtClean="0"/>
                        <a:t>10 </a:t>
                      </a:r>
                      <a:r>
                        <a:rPr lang="zh-CN" altLang="en-US" sz="1200" dirty="0" smtClean="0"/>
                        <a:t>个交易日的移动平均成交量</a:t>
                      </a:r>
                      <a:endParaRPr lang="zh-CN" altLang="en-US" sz="1200" dirty="0" smtClean="0"/>
                    </a:p>
                  </a:txBody>
                  <a:tcPr anchor="ctr"/>
                </a:tc>
              </a:tr>
              <a:tr h="437498"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即</a:t>
                      </a:r>
                      <a:r>
                        <a:rPr lang="en-US" altLang="zh-CN" sz="1200" dirty="0" smtClean="0"/>
                        <a:t>A3</a:t>
                      </a:r>
                      <a:r>
                        <a:rPr lang="zh-CN" altLang="en-US" sz="1200" dirty="0" smtClean="0"/>
                        <a:t>（收益率）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 smtClean="0"/>
                        <a:t>( </a:t>
                      </a:r>
                      <a:r>
                        <a:rPr lang="zh-CN" altLang="en-US" sz="1200" dirty="0" smtClean="0"/>
                        <a:t>当日收盘价 </a:t>
                      </a:r>
                      <a:r>
                        <a:rPr lang="en-US" altLang="zh-CN" sz="1200" dirty="0" smtClean="0"/>
                        <a:t>- </a:t>
                      </a:r>
                      <a:r>
                        <a:rPr lang="zh-CN" altLang="en-US" sz="1200" dirty="0" smtClean="0"/>
                        <a:t>前日收盘价 </a:t>
                      </a:r>
                      <a:r>
                        <a:rPr lang="en-US" altLang="zh-CN" sz="1200" dirty="0" smtClean="0"/>
                        <a:t>)/ </a:t>
                      </a:r>
                      <a:r>
                        <a:rPr lang="zh-CN" altLang="en-US" sz="1200" dirty="0" smtClean="0"/>
                        <a:t>前日收盘价</a:t>
                      </a:r>
                      <a:endParaRPr lang="zh-CN" altLang="en-US" sz="1200" dirty="0" smtClean="0"/>
                    </a:p>
                  </a:txBody>
                  <a:tcPr anchor="ctr"/>
                </a:tc>
              </a:tr>
              <a:tr h="472491">
                <a:tc>
                  <a:txBody>
                    <a:bodyPr/>
                    <a:lstStyle/>
                    <a:p>
                      <a:r>
                        <a:rPr lang="pt-BR" altLang="zh-CN" sz="1200" dirty="0" smtClean="0"/>
                        <a:t>A4</a:t>
                      </a:r>
                      <a:r>
                        <a:rPr lang="zh-CN" altLang="pt-BR" sz="1200" dirty="0" smtClean="0"/>
                        <a:t>（最高价 </a:t>
                      </a:r>
                      <a:r>
                        <a:rPr lang="pt-BR" altLang="zh-CN" sz="1200" dirty="0" smtClean="0"/>
                        <a:t>/ </a:t>
                      </a:r>
                      <a:r>
                        <a:rPr lang="zh-CN" altLang="pt-BR" sz="1200" dirty="0" smtClean="0"/>
                        <a:t>均价）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dirty="0" smtClean="0"/>
                        <a:t>最高价 </a:t>
                      </a:r>
                      <a:r>
                        <a:rPr lang="en-US" altLang="zh-CN" sz="1200" dirty="0" smtClean="0"/>
                        <a:t>/ </a:t>
                      </a:r>
                      <a:r>
                        <a:rPr lang="zh-CN" altLang="en-US" sz="1200" dirty="0" smtClean="0"/>
                        <a:t>过去 </a:t>
                      </a:r>
                      <a:r>
                        <a:rPr lang="en-US" altLang="zh-CN" sz="1200" dirty="0" smtClean="0"/>
                        <a:t>10 </a:t>
                      </a:r>
                      <a:r>
                        <a:rPr lang="zh-CN" altLang="en-US" sz="1200" dirty="0" smtClean="0"/>
                        <a:t>个交易日的移动均平均收盘价</a:t>
                      </a:r>
                      <a:endParaRPr lang="zh-CN" altLang="en-US" sz="1200" dirty="0" smtClean="0"/>
                    </a:p>
                  </a:txBody>
                  <a:tcPr anchor="ctr"/>
                </a:tc>
              </a:tr>
              <a:tr h="437498">
                <a:tc>
                  <a:txBody>
                    <a:bodyPr/>
                    <a:lstStyle/>
                    <a:p>
                      <a:r>
                        <a:rPr lang="pt-BR" altLang="zh-CN" sz="1200" dirty="0" smtClean="0"/>
                        <a:t>A5</a:t>
                      </a:r>
                      <a:r>
                        <a:rPr lang="zh-CN" altLang="pt-BR" sz="1200" dirty="0" smtClean="0"/>
                        <a:t>（最低价 </a:t>
                      </a:r>
                      <a:r>
                        <a:rPr lang="pt-BR" altLang="zh-CN" sz="1200" dirty="0" smtClean="0"/>
                        <a:t>/ </a:t>
                      </a:r>
                      <a:r>
                        <a:rPr lang="zh-CN" altLang="pt-BR" sz="1200" dirty="0" smtClean="0"/>
                        <a:t>均价）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dirty="0" smtClean="0"/>
                        <a:t>最低价 </a:t>
                      </a:r>
                      <a:r>
                        <a:rPr lang="en-US" altLang="zh-CN" sz="1200" dirty="0" smtClean="0"/>
                        <a:t>/ </a:t>
                      </a:r>
                      <a:r>
                        <a:rPr lang="zh-CN" altLang="en-US" sz="1200" dirty="0" smtClean="0"/>
                        <a:t>过去 </a:t>
                      </a:r>
                      <a:r>
                        <a:rPr lang="en-US" altLang="zh-CN" sz="1200" dirty="0" smtClean="0"/>
                        <a:t>10 </a:t>
                      </a:r>
                      <a:r>
                        <a:rPr lang="zh-CN" altLang="en-US" sz="1200" dirty="0" smtClean="0"/>
                        <a:t>个交易日的移动平均收盘价</a:t>
                      </a:r>
                      <a:endParaRPr lang="zh-CN" altLang="en-US" sz="1200" dirty="0" smtClean="0"/>
                    </a:p>
                  </a:txBody>
                  <a:tcPr anchor="ctr"/>
                </a:tc>
              </a:tr>
              <a:tr h="437498"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A6</a:t>
                      </a:r>
                      <a:r>
                        <a:rPr lang="zh-CN" altLang="en-US" sz="1200" dirty="0" smtClean="0"/>
                        <a:t>（极差）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dirty="0" smtClean="0"/>
                        <a:t>最高价 </a:t>
                      </a:r>
                      <a:r>
                        <a:rPr lang="en-US" altLang="zh-CN" sz="1200" dirty="0" smtClean="0"/>
                        <a:t>- </a:t>
                      </a:r>
                      <a:r>
                        <a:rPr lang="zh-CN" altLang="en-US" sz="1200" dirty="0" smtClean="0"/>
                        <a:t>最低价（衡量波动性）</a:t>
                      </a:r>
                      <a:endParaRPr lang="zh-CN" altLang="en-US" sz="1200" dirty="0" smtClean="0"/>
                    </a:p>
                  </a:txBody>
                  <a:tcPr anchor="ctr"/>
                </a:tc>
              </a:tr>
              <a:tr h="472491"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A7</a:t>
                      </a:r>
                      <a:r>
                        <a:rPr lang="zh-CN" altLang="en-US" sz="1200" dirty="0" smtClean="0"/>
                        <a:t>（瞬时收益）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dirty="0" smtClean="0"/>
                        <a:t>收盘价 </a:t>
                      </a:r>
                      <a:r>
                        <a:rPr lang="en-US" altLang="zh-CN" sz="1200" dirty="0" smtClean="0"/>
                        <a:t>- </a:t>
                      </a:r>
                      <a:r>
                        <a:rPr lang="zh-CN" altLang="en-US" sz="1200" dirty="0" smtClean="0"/>
                        <a:t>开盘价</a:t>
                      </a:r>
                      <a:endParaRPr lang="zh-CN" altLang="en-US" sz="1200" dirty="0" smtClean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800228" y="5085184"/>
            <a:ext cx="542090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Y</a:t>
            </a:r>
            <a:r>
              <a:rPr lang="zh-CN" altLang="en-US" sz="1400" dirty="0"/>
              <a:t>（决策变量）：后交易日收盘价 </a:t>
            </a:r>
            <a:r>
              <a:rPr lang="en-US" altLang="zh-CN" sz="1400" dirty="0"/>
              <a:t>- </a:t>
            </a:r>
            <a:r>
              <a:rPr lang="zh-CN" altLang="en-US" sz="1400" dirty="0"/>
              <a:t>当前交易日收盘价，如果大于 </a:t>
            </a:r>
            <a:r>
              <a:rPr lang="en-US" altLang="zh-CN" sz="1400" dirty="0"/>
              <a:t>0</a:t>
            </a:r>
            <a:r>
              <a:rPr lang="zh-CN" altLang="en-US" sz="1400" dirty="0"/>
              <a:t>，记为 </a:t>
            </a:r>
            <a:r>
              <a:rPr lang="en-US" altLang="zh-CN" sz="1400" dirty="0"/>
              <a:t>1</a:t>
            </a:r>
            <a:r>
              <a:rPr lang="zh-CN" altLang="en-US" sz="1400" dirty="0"/>
              <a:t>；如果小于等于 </a:t>
            </a:r>
            <a:r>
              <a:rPr lang="en-US" altLang="zh-CN" sz="1400" dirty="0"/>
              <a:t>0</a:t>
            </a:r>
            <a:r>
              <a:rPr lang="zh-CN" altLang="en-US" sz="1400" dirty="0"/>
              <a:t>，记为 </a:t>
            </a:r>
            <a:r>
              <a:rPr lang="en-US" altLang="zh-CN" sz="1400" dirty="0"/>
              <a:t>-1</a:t>
            </a:r>
            <a:r>
              <a:rPr lang="zh-CN" altLang="en-US" sz="1400" dirty="0"/>
              <a:t>。</a:t>
            </a:r>
            <a:endParaRPr lang="zh-CN" altLang="en-US" sz="1400" dirty="0"/>
          </a:p>
          <a:p>
            <a:r>
              <a:rPr lang="zh-CN" altLang="en-US" sz="1400" dirty="0"/>
              <a:t>同时对指标</a:t>
            </a:r>
            <a:r>
              <a:rPr lang="en-US" altLang="zh-CN" sz="1400" dirty="0"/>
              <a:t>A1~A7</a:t>
            </a:r>
            <a:r>
              <a:rPr lang="zh-CN" altLang="en-US" sz="1400" dirty="0"/>
              <a:t>作标准化处理：</a:t>
            </a:r>
            <a:r>
              <a:rPr lang="en-US" altLang="zh-CN" sz="1400" dirty="0"/>
              <a:t>( </a:t>
            </a:r>
            <a:r>
              <a:rPr lang="zh-CN" altLang="en-US" sz="1400" dirty="0"/>
              <a:t>当前值 </a:t>
            </a:r>
            <a:r>
              <a:rPr lang="en-US" altLang="zh-CN" sz="1400" dirty="0"/>
              <a:t>- </a:t>
            </a:r>
            <a:r>
              <a:rPr lang="zh-CN" altLang="en-US" sz="1400" dirty="0"/>
              <a:t>均值 </a:t>
            </a:r>
            <a:r>
              <a:rPr lang="en-US" altLang="zh-CN" sz="1400" dirty="0"/>
              <a:t>)/ </a:t>
            </a:r>
            <a:r>
              <a:rPr lang="zh-CN" altLang="en-US" sz="1400" dirty="0"/>
              <a:t>标准差</a:t>
            </a:r>
            <a:endParaRPr lang="zh-CN" altLang="en-US" sz="1400" dirty="0"/>
          </a:p>
        </p:txBody>
      </p:sp>
      <p:sp>
        <p:nvSpPr>
          <p:cNvPr id="15" name="右箭头 14"/>
          <p:cNvSpPr/>
          <p:nvPr/>
        </p:nvSpPr>
        <p:spPr bwMode="auto">
          <a:xfrm>
            <a:off x="6026373" y="2996952"/>
            <a:ext cx="720080" cy="360040"/>
          </a:xfrm>
          <a:prstGeom prst="rightArrow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tx1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9437">
        <p:fade/>
      </p:transition>
    </mc:Choice>
    <mc:Fallback>
      <p:transition spd="med" advTm="943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3" grpId="0" uiExpand="1"/>
      <p:bldP spid="13" grpId="0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7719943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7.6.2 </a:t>
            </a:r>
            <a:r>
              <a:rPr lang="zh-CN" alt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指标计算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dirty="0">
                <a:solidFill>
                  <a:schemeClr val="accent2"/>
                </a:solidFill>
              </a:rPr>
              <a:t>7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 contrast="-40000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04" t="11113"/>
          <a:stretch>
            <a:fillRect/>
          </a:stretch>
        </p:blipFill>
        <p:spPr bwMode="auto">
          <a:xfrm>
            <a:off x="7527001" y="1479542"/>
            <a:ext cx="4504261" cy="3240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标题 17"/>
          <p:cNvSpPr>
            <a:spLocks noGrp="1"/>
          </p:cNvSpPr>
          <p:nvPr>
            <p:ph type="title"/>
          </p:nvPr>
        </p:nvSpPr>
        <p:spPr>
          <a:xfrm>
            <a:off x="672393" y="603107"/>
            <a:ext cx="10601349" cy="635000"/>
          </a:xfrm>
        </p:spPr>
        <p:txBody>
          <a:bodyPr/>
          <a:lstStyle/>
          <a:p>
            <a:r>
              <a:rPr lang="en-US" altLang="zh-CN" sz="1600" dirty="0"/>
              <a:t>1. </a:t>
            </a:r>
            <a:r>
              <a:rPr lang="zh-CN" altLang="en-US" sz="1600" dirty="0"/>
              <a:t>计算特征指标</a:t>
            </a:r>
            <a:r>
              <a:rPr lang="en-US" altLang="zh-CN" sz="1600" dirty="0"/>
              <a:t>X</a:t>
            </a:r>
            <a:r>
              <a:rPr lang="zh-CN" altLang="en-US" sz="1600" dirty="0"/>
              <a:t>，即</a:t>
            </a:r>
            <a:r>
              <a:rPr lang="en-US" altLang="zh-CN" sz="1600" dirty="0"/>
              <a:t>A1~A7</a:t>
            </a:r>
            <a:r>
              <a:rPr lang="zh-CN" altLang="en-US" sz="1600" dirty="0"/>
              <a:t>。示例代码如下：</a:t>
            </a:r>
            <a:endParaRPr lang="zh-CN" altLang="en-US" sz="1600" dirty="0"/>
          </a:p>
        </p:txBody>
      </p:sp>
      <p:graphicFrame>
        <p:nvGraphicFramePr>
          <p:cNvPr id="20" name="内容占位符 19"/>
          <p:cNvGraphicFramePr>
            <a:graphicFrameLocks noGrp="1"/>
          </p:cNvGraphicFramePr>
          <p:nvPr>
            <p:ph idx="1"/>
          </p:nvPr>
        </p:nvGraphicFramePr>
        <p:xfrm>
          <a:off x="841796" y="1124745"/>
          <a:ext cx="5067193" cy="2880318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5067193"/>
              </a:tblGrid>
              <a:tr h="20691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import pandas as </a:t>
                      </a:r>
                      <a:r>
                        <a:rPr lang="en-US" sz="1200" kern="100" dirty="0" err="1">
                          <a:effectLst/>
                        </a:rPr>
                        <a:t>pd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</a:tr>
              <a:tr h="23774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td=</a:t>
                      </a:r>
                      <a:r>
                        <a:rPr lang="en-US" sz="1200" kern="100" dirty="0" err="1">
                          <a:effectLst/>
                        </a:rPr>
                        <a:t>pd.read_excel</a:t>
                      </a:r>
                      <a:r>
                        <a:rPr lang="en-US" sz="1200" kern="100" dirty="0">
                          <a:effectLst/>
                        </a:rPr>
                        <a:t>('index300.xlsx')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</a:tr>
              <a:tr h="23774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A1=td['Idxtrd05'].values/</a:t>
                      </a:r>
                      <a:r>
                        <a:rPr lang="en-US" sz="1200" kern="100" dirty="0" err="1">
                          <a:effectLst/>
                        </a:rPr>
                        <a:t>pd.rolling_mean</a:t>
                      </a:r>
                      <a:r>
                        <a:rPr lang="en-US" sz="1200" kern="100" dirty="0">
                          <a:effectLst/>
                        </a:rPr>
                        <a:t>(td['Idxtrd05'].values,10)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</a:tr>
              <a:tr h="23774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A2=td['Idxtrd06'].values/</a:t>
                      </a:r>
                      <a:r>
                        <a:rPr lang="en-US" sz="1200" kern="100" dirty="0" err="1">
                          <a:effectLst/>
                        </a:rPr>
                        <a:t>pd.rolling_mean</a:t>
                      </a:r>
                      <a:r>
                        <a:rPr lang="en-US" sz="1200" kern="100" dirty="0">
                          <a:effectLst/>
                        </a:rPr>
                        <a:t>(td['Idxtrd06'].values,10)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</a:tr>
              <a:tr h="23774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A3=td['Idxtrd08'].values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</a:tr>
              <a:tr h="23774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A4=td['Idxtrd03'].values/</a:t>
                      </a:r>
                      <a:r>
                        <a:rPr lang="en-US" sz="1200" kern="100" dirty="0" err="1">
                          <a:effectLst/>
                        </a:rPr>
                        <a:t>pd.rolling_mean</a:t>
                      </a:r>
                      <a:r>
                        <a:rPr lang="en-US" sz="1200" kern="100" dirty="0">
                          <a:effectLst/>
                        </a:rPr>
                        <a:t>(td['Idxtrd05'].values,10)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</a:tr>
              <a:tr h="23774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A5=td['Idxtrd04'].values/</a:t>
                      </a:r>
                      <a:r>
                        <a:rPr lang="en-US" sz="1200" kern="100" dirty="0" err="1">
                          <a:effectLst/>
                        </a:rPr>
                        <a:t>pd.rolling_mean</a:t>
                      </a:r>
                      <a:r>
                        <a:rPr lang="en-US" sz="1200" kern="100" dirty="0">
                          <a:effectLst/>
                        </a:rPr>
                        <a:t>(td['Idxtrd05'].values,10)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</a:tr>
              <a:tr h="23774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A6=td['Idxtrd03'].values-td['Idxtrd04'].values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</a:tr>
              <a:tr h="23774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A7=td['Idxtrd05'].values-td['Idxtrd02'].values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</a:tr>
              <a:tr h="23774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X={'A1':A1,'A2':A2,'A3':A3,'A4':A4,'A5':A5,'A6':A6,'A7':A7}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</a:tr>
              <a:tr h="23774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X=</a:t>
                      </a:r>
                      <a:r>
                        <a:rPr lang="en-US" sz="1200" kern="100" dirty="0" err="1">
                          <a:effectLst/>
                        </a:rPr>
                        <a:t>pd.DataFrame</a:t>
                      </a:r>
                      <a:r>
                        <a:rPr lang="en-US" sz="1200" kern="100" dirty="0">
                          <a:effectLst/>
                        </a:rPr>
                        <a:t>(X)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</a:tr>
              <a:tr h="29596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X=</a:t>
                      </a:r>
                      <a:r>
                        <a:rPr lang="en-US" sz="1200" kern="100" dirty="0" err="1">
                          <a:effectLst/>
                        </a:rPr>
                        <a:t>X.iloc</a:t>
                      </a:r>
                      <a:r>
                        <a:rPr lang="en-US" sz="1200" kern="100" dirty="0">
                          <a:effectLst/>
                        </a:rPr>
                        <a:t>[9:-1,] #</a:t>
                      </a:r>
                      <a:r>
                        <a:rPr lang="zh-CN" sz="1200" kern="100" dirty="0">
                          <a:effectLst/>
                        </a:rPr>
                        <a:t>注意</a:t>
                      </a:r>
                      <a:r>
                        <a:rPr lang="en-US" sz="1200" kern="100" dirty="0">
                          <a:effectLst/>
                        </a:rPr>
                        <a:t>X</a:t>
                      </a:r>
                      <a:r>
                        <a:rPr lang="zh-CN" sz="1200" kern="100" dirty="0">
                          <a:effectLst/>
                        </a:rPr>
                        <a:t>从第</a:t>
                      </a:r>
                      <a:r>
                        <a:rPr lang="en-US" sz="1200" kern="100" dirty="0">
                          <a:effectLst/>
                        </a:rPr>
                        <a:t>10</a:t>
                      </a:r>
                      <a:r>
                        <a:rPr lang="zh-CN" sz="1200" kern="100" dirty="0">
                          <a:effectLst/>
                        </a:rPr>
                        <a:t>行数据开始，至倒数第</a:t>
                      </a:r>
                      <a:r>
                        <a:rPr lang="en-US" sz="1200" kern="100" dirty="0">
                          <a:effectLst/>
                        </a:rPr>
                        <a:t>1</a:t>
                      </a:r>
                      <a:r>
                        <a:rPr lang="zh-CN" sz="1200" kern="100" dirty="0">
                          <a:effectLst/>
                        </a:rPr>
                        <a:t>行。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22" name="虚尾箭头 21"/>
          <p:cNvSpPr/>
          <p:nvPr/>
        </p:nvSpPr>
        <p:spPr bwMode="auto">
          <a:xfrm>
            <a:off x="5810349" y="2900663"/>
            <a:ext cx="1440159" cy="534112"/>
          </a:xfrm>
          <a:prstGeom prst="stripedRightArrow">
            <a:avLst/>
          </a:prstGeom>
          <a:solidFill>
            <a:schemeClr val="bg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zh-CN" sz="1100" kern="100" dirty="0" smtClean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执行</a:t>
            </a:r>
            <a:r>
              <a:rPr lang="zh-CN" altLang="zh-CN" sz="1100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结果（部分</a:t>
            </a:r>
            <a:r>
              <a:rPr lang="zh-CN" altLang="zh-CN" sz="1100" kern="100" dirty="0" smtClean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）</a:t>
            </a:r>
            <a:r>
              <a:rPr lang="en-US" altLang="zh-CN" sz="1100" kern="100" dirty="0" smtClean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  </a:t>
            </a:r>
            <a:endParaRPr kumimoji="0" lang="zh-CN" altLang="en-US" sz="1100" b="0" i="0" u="none" strike="noStrike" cap="none" normalizeH="0" baseline="0" dirty="0" smtClean="0">
              <a:ln>
                <a:solidFill>
                  <a:schemeClr val="tx1"/>
                </a:solidFill>
                <a:prstDash val="sysDot"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554765" y="4819110"/>
            <a:ext cx="922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图</a:t>
            </a: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7-18</a:t>
            </a:r>
            <a:endParaRPr lang="zh-CN" altLang="en-US" dirty="0"/>
          </a:p>
        </p:txBody>
      </p:sp>
      <p:graphicFrame>
        <p:nvGraphicFramePr>
          <p:cNvPr id="27" name="表格 26"/>
          <p:cNvGraphicFramePr>
            <a:graphicFrameLocks noGrp="1"/>
          </p:cNvGraphicFramePr>
          <p:nvPr/>
        </p:nvGraphicFramePr>
        <p:xfrm>
          <a:off x="841795" y="4417598"/>
          <a:ext cx="5067193" cy="210775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5067193"/>
              </a:tblGrid>
              <a:tr h="21077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#</a:t>
                      </a:r>
                      <a:r>
                        <a:rPr lang="zh-CN" sz="1200" kern="100" dirty="0">
                          <a:effectLst/>
                        </a:rPr>
                        <a:t>错位相减，获得指数的涨跌额，</a:t>
                      </a:r>
                      <a:r>
                        <a:rPr lang="en-US" sz="1200" kern="100" dirty="0">
                          <a:effectLst/>
                        </a:rPr>
                        <a:t>2 to end</a:t>
                      </a:r>
                      <a:r>
                        <a:rPr lang="zh-CN" sz="1200" kern="100" dirty="0">
                          <a:effectLst/>
                        </a:rPr>
                        <a:t>，减去</a:t>
                      </a:r>
                      <a:r>
                        <a:rPr lang="en-US" sz="1200" kern="100" dirty="0">
                          <a:effectLst/>
                        </a:rPr>
                        <a:t>1 to </a:t>
                      </a:r>
                      <a:r>
                        <a:rPr lang="en-US" sz="1200" kern="100" dirty="0" smtClean="0">
                          <a:effectLst/>
                        </a:rPr>
                        <a:t>end-1</a:t>
                      </a:r>
                      <a:endParaRPr lang="en-US" sz="1200" kern="100" dirty="0" smtClean="0">
                        <a:effectLst/>
                      </a:endParaRPr>
                    </a:p>
                  </a:txBody>
                  <a:tcPr marL="68580" marR="68580" marT="0" marB="0"/>
                </a:tc>
              </a:tr>
              <a:tr h="21077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Y=td['Idxtrd05'].values[1:]-td['Idxtrd05'].values[:-1]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</a:tr>
              <a:tr h="21077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#Y</a:t>
                      </a:r>
                      <a:r>
                        <a:rPr lang="zh-CN" sz="1200" kern="100" dirty="0">
                          <a:effectLst/>
                        </a:rPr>
                        <a:t>与</a:t>
                      </a:r>
                      <a:r>
                        <a:rPr lang="en-US" sz="1200" kern="100" dirty="0">
                          <a:effectLst/>
                        </a:rPr>
                        <a:t>X</a:t>
                      </a:r>
                      <a:r>
                        <a:rPr lang="zh-CN" sz="1200" kern="100" dirty="0">
                          <a:effectLst/>
                        </a:rPr>
                        <a:t>的下一个交易日对应，故</a:t>
                      </a:r>
                      <a:r>
                        <a:rPr lang="en-US" sz="1200" kern="100" dirty="0">
                          <a:effectLst/>
                        </a:rPr>
                        <a:t>Y</a:t>
                      </a:r>
                      <a:r>
                        <a:rPr lang="zh-CN" sz="1200" kern="100" dirty="0">
                          <a:effectLst/>
                        </a:rPr>
                        <a:t>的值从第</a:t>
                      </a:r>
                      <a:r>
                        <a:rPr lang="en-US" sz="1200" kern="100" dirty="0">
                          <a:effectLst/>
                        </a:rPr>
                        <a:t>11</a:t>
                      </a:r>
                      <a:r>
                        <a:rPr lang="zh-CN" sz="1200" kern="100" dirty="0">
                          <a:effectLst/>
                        </a:rPr>
                        <a:t>行数据开始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</a:tr>
              <a:tr h="21077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#</a:t>
                      </a:r>
                      <a:r>
                        <a:rPr lang="zh-CN" sz="1200" kern="100" dirty="0">
                          <a:effectLst/>
                        </a:rPr>
                        <a:t>由于错位相减的时候是从第</a:t>
                      </a:r>
                      <a:r>
                        <a:rPr lang="en-US" sz="1200" kern="100" dirty="0">
                          <a:effectLst/>
                        </a:rPr>
                        <a:t>2</a:t>
                      </a:r>
                      <a:r>
                        <a:rPr lang="zh-CN" sz="1200" kern="100" dirty="0">
                          <a:effectLst/>
                        </a:rPr>
                        <a:t>行开始，故指标从第</a:t>
                      </a:r>
                      <a:r>
                        <a:rPr lang="en-US" sz="1200" kern="100" dirty="0">
                          <a:effectLst/>
                        </a:rPr>
                        <a:t>10</a:t>
                      </a:r>
                      <a:r>
                        <a:rPr lang="zh-CN" sz="1200" kern="100" dirty="0">
                          <a:effectLst/>
                        </a:rPr>
                        <a:t>行开始取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</a:tr>
              <a:tr h="21077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Y=Y[9:] 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</a:tr>
              <a:tr h="21077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#</a:t>
                      </a:r>
                      <a:r>
                        <a:rPr lang="zh-CN" sz="1200" kern="100" dirty="0">
                          <a:effectLst/>
                        </a:rPr>
                        <a:t>走势标识设置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</a:tr>
              <a:tr h="21077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Y[Y&gt;0]=1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</a:tr>
              <a:tr h="21077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Y[Y&lt;=0]=-1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</a:tr>
              <a:tr h="21077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#</a:t>
                      </a:r>
                      <a:r>
                        <a:rPr lang="zh-CN" sz="1200" kern="100" dirty="0">
                          <a:effectLst/>
                        </a:rPr>
                        <a:t>对</a:t>
                      </a:r>
                      <a:r>
                        <a:rPr lang="en-US" sz="1200" kern="100" dirty="0">
                          <a:effectLst/>
                        </a:rPr>
                        <a:t>Y</a:t>
                      </a:r>
                      <a:r>
                        <a:rPr lang="zh-CN" sz="1200" kern="100" dirty="0">
                          <a:effectLst/>
                        </a:rPr>
                        <a:t>值的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</a:tr>
              <a:tr h="21077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Y=</a:t>
                      </a:r>
                      <a:r>
                        <a:rPr lang="en-US" sz="1200" kern="100" dirty="0" err="1">
                          <a:effectLst/>
                        </a:rPr>
                        <a:t>Y.reshape</a:t>
                      </a:r>
                      <a:r>
                        <a:rPr lang="en-US" sz="1200" kern="100" dirty="0">
                          <a:effectLst/>
                        </a:rPr>
                        <a:t>(</a:t>
                      </a:r>
                      <a:r>
                        <a:rPr lang="en-US" sz="1200" kern="100" dirty="0" err="1">
                          <a:effectLst/>
                        </a:rPr>
                        <a:t>len</a:t>
                      </a:r>
                      <a:r>
                        <a:rPr lang="en-US" sz="1200" kern="100" dirty="0">
                          <a:effectLst/>
                        </a:rPr>
                        <a:t>(Y),1)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683541" y="4036125"/>
            <a:ext cx="3888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2. </a:t>
            </a:r>
            <a:r>
              <a:rPr lang="zh-CN" altLang="en-US" dirty="0"/>
              <a:t>计算决策变量</a:t>
            </a:r>
            <a:r>
              <a:rPr lang="en-US" altLang="zh-CN" dirty="0"/>
              <a:t>Y</a:t>
            </a:r>
            <a:r>
              <a:rPr lang="zh-CN" altLang="en-US" dirty="0"/>
              <a:t>。示例代码如下：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9437">
        <p:fade/>
      </p:transition>
    </mc:Choice>
    <mc:Fallback>
      <p:transition spd="med" advTm="943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5" grpId="0"/>
      <p:bldP spid="2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6855848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7.6.3 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模型求解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7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5" name="矩形 10"/>
          <p:cNvSpPr>
            <a:spLocks noChangeArrowheads="1"/>
          </p:cNvSpPr>
          <p:nvPr/>
        </p:nvSpPr>
        <p:spPr bwMode="auto">
          <a:xfrm>
            <a:off x="1330764" y="908720"/>
            <a:ext cx="3903521" cy="715924"/>
          </a:xfrm>
          <a:prstGeom prst="rect">
            <a:avLst/>
          </a:prstGeom>
          <a:solidFill>
            <a:schemeClr val="accent1">
              <a:lumMod val="60000"/>
              <a:lumOff val="40000"/>
              <a:alpha val="74117"/>
            </a:schemeClr>
          </a:solidFill>
          <a:ln w="9525">
            <a:solidFill>
              <a:schemeClr val="tx1">
                <a:lumMod val="20000"/>
                <a:lumOff val="80000"/>
              </a:schemeClr>
            </a:solidFill>
            <a:round/>
          </a:ln>
        </p:spPr>
        <p:txBody>
          <a:bodyPr lIns="117221" tIns="58610" rIns="117221" bIns="58610" anchor="ctr"/>
          <a:lstStyle>
            <a:lvl1pPr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en-US" altLang="zh-CN" sz="1800" b="1" dirty="0">
                <a:solidFill>
                  <a:schemeClr val="accent2"/>
                </a:solidFill>
                <a:latin typeface="微软雅黑" panose="020B0503020204020204" pitchFamily="34" charset="-122"/>
              </a:rPr>
              <a:t>1. </a:t>
            </a:r>
            <a:r>
              <a:rPr kumimoji="0" lang="zh-CN" altLang="en-US" sz="1800" b="1" dirty="0">
                <a:solidFill>
                  <a:schemeClr val="accent2"/>
                </a:solidFill>
                <a:latin typeface="微软雅黑" panose="020B0503020204020204" pitchFamily="34" charset="-122"/>
              </a:rPr>
              <a:t>训练样本与测试样本的</a:t>
            </a:r>
            <a:r>
              <a:rPr kumimoji="0" lang="zh-CN" altLang="en-US" sz="1800" b="1" dirty="0" smtClean="0">
                <a:solidFill>
                  <a:schemeClr val="accent2"/>
                </a:solidFill>
                <a:latin typeface="微软雅黑" panose="020B0503020204020204" pitchFamily="34" charset="-122"/>
              </a:rPr>
              <a:t>划分</a:t>
            </a:r>
            <a:r>
              <a:rPr kumimoji="0" lang="zh-CN" altLang="en-US" sz="1800" b="1" dirty="0">
                <a:solidFill>
                  <a:schemeClr val="accent2"/>
                </a:solidFill>
                <a:latin typeface="微软雅黑" panose="020B0503020204020204" pitchFamily="34" charset="-122"/>
              </a:rPr>
              <a:t>：</a:t>
            </a:r>
            <a:endParaRPr kumimoji="0" lang="zh-CN" altLang="en-US" sz="1800" b="1" dirty="0">
              <a:solidFill>
                <a:schemeClr val="accent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7" name="文本框 7"/>
          <p:cNvSpPr txBox="1">
            <a:spLocks noChangeArrowheads="1"/>
          </p:cNvSpPr>
          <p:nvPr/>
        </p:nvSpPr>
        <p:spPr bwMode="auto">
          <a:xfrm>
            <a:off x="1546788" y="1755559"/>
            <a:ext cx="361548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es-E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x_train=X.iloc[:len(X)-30,:]</a:t>
            </a:r>
            <a:endParaRPr kumimoji="0" lang="es-ES" altLang="zh-CN" sz="12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es-E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Y_train=Y[:len(Y)-30]</a:t>
            </a:r>
            <a:endParaRPr kumimoji="0" lang="es-ES" altLang="zh-CN" sz="12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es-E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x_test=X.iloc[len(X)-30:,:]</a:t>
            </a:r>
            <a:endParaRPr kumimoji="0" lang="es-ES" altLang="zh-CN" sz="12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es-E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Y_test=Y[len(Y)-30:]</a:t>
            </a:r>
            <a:endParaRPr kumimoji="0" lang="es-ES" altLang="zh-CN" sz="12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8" name="矩形 10"/>
          <p:cNvSpPr>
            <a:spLocks noChangeArrowheads="1"/>
          </p:cNvSpPr>
          <p:nvPr/>
        </p:nvSpPr>
        <p:spPr bwMode="auto">
          <a:xfrm>
            <a:off x="5988081" y="908721"/>
            <a:ext cx="3710699" cy="715923"/>
          </a:xfrm>
          <a:prstGeom prst="rect">
            <a:avLst/>
          </a:prstGeom>
          <a:solidFill>
            <a:schemeClr val="accent1">
              <a:lumMod val="60000"/>
              <a:lumOff val="40000"/>
              <a:alpha val="74117"/>
            </a:schemeClr>
          </a:solidFill>
          <a:ln w="9525">
            <a:solidFill>
              <a:schemeClr val="accent1">
                <a:lumMod val="40000"/>
                <a:lumOff val="60000"/>
              </a:schemeClr>
            </a:solidFill>
            <a:round/>
          </a:ln>
        </p:spPr>
        <p:txBody>
          <a:bodyPr lIns="117221" tIns="58610" rIns="117221" bIns="58610" anchor="ctr"/>
          <a:lstStyle>
            <a:lvl1pPr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en-US" altLang="zh-CN" sz="2100" b="1" dirty="0" smtClean="0">
                <a:solidFill>
                  <a:schemeClr val="accent2"/>
                </a:solidFill>
                <a:latin typeface="微软雅黑" panose="020B0503020204020204" pitchFamily="34" charset="-122"/>
              </a:rPr>
              <a:t>3.</a:t>
            </a:r>
            <a:r>
              <a:rPr kumimoji="0" lang="zh-CN" altLang="en-US" sz="2100" b="1" dirty="0" smtClean="0">
                <a:solidFill>
                  <a:schemeClr val="accent2"/>
                </a:solidFill>
                <a:latin typeface="微软雅黑" panose="020B0503020204020204" pitchFamily="34" charset="-122"/>
              </a:rPr>
              <a:t>逻辑模型：</a:t>
            </a:r>
            <a:endParaRPr kumimoji="0" lang="zh-CN" altLang="en-US" sz="2100" b="1" dirty="0">
              <a:solidFill>
                <a:schemeClr val="accent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9" name="文本框 7"/>
          <p:cNvSpPr txBox="1">
            <a:spLocks noChangeArrowheads="1"/>
          </p:cNvSpPr>
          <p:nvPr/>
        </p:nvSpPr>
        <p:spPr bwMode="auto">
          <a:xfrm>
            <a:off x="5985632" y="1743537"/>
            <a:ext cx="4104456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en-US" altLang="zh-CN" sz="1200" dirty="0" smtClean="0">
                <a:solidFill>
                  <a:schemeClr val="tx1"/>
                </a:solidFill>
                <a:ea typeface="宋体" panose="02010600030101010101" pitchFamily="2" charset="-122"/>
              </a:rPr>
              <a:t>from </a:t>
            </a:r>
            <a:r>
              <a:rPr kumimoji="0" lang="en-US" altLang="zh-CN" sz="1200" dirty="0" err="1">
                <a:solidFill>
                  <a:schemeClr val="tx1"/>
                </a:solidFill>
                <a:ea typeface="宋体" panose="02010600030101010101" pitchFamily="2" charset="-122"/>
              </a:rPr>
              <a:t>sklearn.linear_model</a:t>
            </a: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 import </a:t>
            </a:r>
            <a:r>
              <a:rPr kumimoji="0" lang="en-US" altLang="zh-CN" sz="1200" dirty="0" err="1">
                <a:solidFill>
                  <a:schemeClr val="tx1"/>
                </a:solidFill>
                <a:ea typeface="宋体" panose="02010600030101010101" pitchFamily="2" charset="-122"/>
              </a:rPr>
              <a:t>LogisticRegression</a:t>
            </a: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 as LR</a:t>
            </a:r>
            <a:endParaRPr kumimoji="0" lang="en-US" altLang="zh-CN" sz="12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en-US" altLang="zh-CN" sz="1200" dirty="0" err="1">
                <a:solidFill>
                  <a:schemeClr val="tx1"/>
                </a:solidFill>
                <a:ea typeface="宋体" panose="02010600030101010101" pitchFamily="2" charset="-122"/>
              </a:rPr>
              <a:t>lr</a:t>
            </a: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 = LR()   #</a:t>
            </a:r>
            <a:r>
              <a:rPr kumimoji="0" lang="zh-CN" altLang="en-US" sz="1200" dirty="0">
                <a:solidFill>
                  <a:schemeClr val="tx1"/>
                </a:solidFill>
                <a:ea typeface="宋体" panose="02010600030101010101" pitchFamily="2" charset="-122"/>
              </a:rPr>
              <a:t>创建逻辑回归模型类</a:t>
            </a:r>
            <a:endParaRPr kumimoji="0" lang="zh-CN" altLang="en-US" sz="12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en-US" altLang="zh-CN" sz="1200" dirty="0" err="1">
                <a:solidFill>
                  <a:schemeClr val="tx1"/>
                </a:solidFill>
                <a:ea typeface="宋体" panose="02010600030101010101" pitchFamily="2" charset="-122"/>
              </a:rPr>
              <a:t>lr.fit</a:t>
            </a: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kumimoji="0" lang="en-US" altLang="zh-CN" sz="1200" dirty="0" err="1">
                <a:solidFill>
                  <a:schemeClr val="tx1"/>
                </a:solidFill>
                <a:ea typeface="宋体" panose="02010600030101010101" pitchFamily="2" charset="-122"/>
              </a:rPr>
              <a:t>x_train</a:t>
            </a: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kumimoji="0" lang="en-US" altLang="zh-CN" sz="1200" dirty="0" err="1">
                <a:solidFill>
                  <a:schemeClr val="tx1"/>
                </a:solidFill>
                <a:ea typeface="宋体" panose="02010600030101010101" pitchFamily="2" charset="-122"/>
              </a:rPr>
              <a:t>Y_train</a:t>
            </a: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) #</a:t>
            </a:r>
            <a:r>
              <a:rPr kumimoji="0" lang="zh-CN" altLang="en-US" sz="1200" dirty="0">
                <a:solidFill>
                  <a:schemeClr val="tx1"/>
                </a:solidFill>
                <a:ea typeface="宋体" panose="02010600030101010101" pitchFamily="2" charset="-122"/>
              </a:rPr>
              <a:t>训练数据</a:t>
            </a:r>
            <a:endParaRPr kumimoji="0" lang="zh-CN" altLang="en-US" sz="12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rv2=</a:t>
            </a:r>
            <a:r>
              <a:rPr kumimoji="0" lang="en-US" altLang="zh-CN" sz="1200" dirty="0" err="1">
                <a:solidFill>
                  <a:schemeClr val="tx1"/>
                </a:solidFill>
                <a:ea typeface="宋体" panose="02010600030101010101" pitchFamily="2" charset="-122"/>
              </a:rPr>
              <a:t>lr.score</a:t>
            </a: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kumimoji="0" lang="en-US" altLang="zh-CN" sz="1200" dirty="0" err="1">
                <a:solidFill>
                  <a:schemeClr val="tx1"/>
                </a:solidFill>
                <a:ea typeface="宋体" panose="02010600030101010101" pitchFamily="2" charset="-122"/>
              </a:rPr>
              <a:t>x_train</a:t>
            </a: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kumimoji="0" lang="en-US" altLang="zh-CN" sz="1200" dirty="0" err="1">
                <a:solidFill>
                  <a:schemeClr val="tx1"/>
                </a:solidFill>
                <a:ea typeface="宋体" panose="02010600030101010101" pitchFamily="2" charset="-122"/>
              </a:rPr>
              <a:t>Y_train</a:t>
            </a: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); # </a:t>
            </a:r>
            <a:r>
              <a:rPr kumimoji="0" lang="zh-CN" altLang="en-US" sz="1200" dirty="0">
                <a:solidFill>
                  <a:schemeClr val="tx1"/>
                </a:solidFill>
                <a:ea typeface="宋体" panose="02010600030101010101" pitchFamily="2" charset="-122"/>
              </a:rPr>
              <a:t>模型准确率（针对训练数据）</a:t>
            </a:r>
            <a:endParaRPr kumimoji="0" lang="zh-CN" altLang="en-US" sz="12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R=</a:t>
            </a:r>
            <a:r>
              <a:rPr kumimoji="0" lang="en-US" altLang="zh-CN" sz="1200" dirty="0" err="1">
                <a:solidFill>
                  <a:schemeClr val="tx1"/>
                </a:solidFill>
                <a:ea typeface="宋体" panose="02010600030101010101" pitchFamily="2" charset="-122"/>
              </a:rPr>
              <a:t>lr.predict</a:t>
            </a: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kumimoji="0" lang="en-US" altLang="zh-CN" sz="1200" dirty="0" err="1">
                <a:solidFill>
                  <a:schemeClr val="tx1"/>
                </a:solidFill>
                <a:ea typeface="宋体" panose="02010600030101010101" pitchFamily="2" charset="-122"/>
              </a:rPr>
              <a:t>x_test</a:t>
            </a: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endParaRPr kumimoji="0" lang="en-US" altLang="zh-CN" sz="12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R=</a:t>
            </a:r>
            <a:r>
              <a:rPr kumimoji="0" lang="en-US" altLang="zh-CN" sz="1200" dirty="0" err="1">
                <a:solidFill>
                  <a:schemeClr val="tx1"/>
                </a:solidFill>
                <a:ea typeface="宋体" panose="02010600030101010101" pitchFamily="2" charset="-122"/>
              </a:rPr>
              <a:t>R.reshape</a:t>
            </a: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kumimoji="0" lang="en-US" altLang="zh-CN" sz="1200" dirty="0" err="1">
                <a:solidFill>
                  <a:schemeClr val="tx1"/>
                </a:solidFill>
                <a:ea typeface="宋体" panose="02010600030101010101" pitchFamily="2" charset="-122"/>
              </a:rPr>
              <a:t>len</a:t>
            </a: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(R),1)</a:t>
            </a:r>
            <a:endParaRPr kumimoji="0" lang="en-US" altLang="zh-CN" sz="12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Z=R-</a:t>
            </a:r>
            <a:r>
              <a:rPr kumimoji="0" lang="en-US" altLang="zh-CN" sz="1200" dirty="0" err="1">
                <a:solidFill>
                  <a:schemeClr val="tx1"/>
                </a:solidFill>
                <a:ea typeface="宋体" panose="02010600030101010101" pitchFamily="2" charset="-122"/>
              </a:rPr>
              <a:t>Y_test</a:t>
            </a:r>
            <a:endParaRPr kumimoji="0" lang="en-US" altLang="zh-CN" sz="12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Rs2=</a:t>
            </a:r>
            <a:r>
              <a:rPr kumimoji="0" lang="en-US" altLang="zh-CN" sz="1200" dirty="0" err="1">
                <a:solidFill>
                  <a:schemeClr val="tx1"/>
                </a:solidFill>
                <a:ea typeface="宋体" panose="02010600030101010101" pitchFamily="2" charset="-122"/>
              </a:rPr>
              <a:t>len</a:t>
            </a: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(Z[Z==0])/</a:t>
            </a:r>
            <a:r>
              <a:rPr kumimoji="0" lang="en-US" altLang="zh-CN" sz="1200" dirty="0" err="1">
                <a:solidFill>
                  <a:schemeClr val="tx1"/>
                </a:solidFill>
                <a:ea typeface="宋体" panose="02010600030101010101" pitchFamily="2" charset="-122"/>
              </a:rPr>
              <a:t>len</a:t>
            </a: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(Z)</a:t>
            </a:r>
            <a:endParaRPr kumimoji="0" lang="en-US" altLang="zh-CN" sz="12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0" name="矩形 10"/>
          <p:cNvSpPr>
            <a:spLocks noChangeArrowheads="1"/>
          </p:cNvSpPr>
          <p:nvPr/>
        </p:nvSpPr>
        <p:spPr bwMode="auto">
          <a:xfrm>
            <a:off x="1359848" y="2985496"/>
            <a:ext cx="4047536" cy="715924"/>
          </a:xfrm>
          <a:prstGeom prst="rect">
            <a:avLst/>
          </a:prstGeom>
          <a:solidFill>
            <a:schemeClr val="accent1">
              <a:lumMod val="60000"/>
              <a:lumOff val="40000"/>
              <a:alpha val="74117"/>
            </a:schemeClr>
          </a:solidFill>
          <a:ln w="9525">
            <a:solidFill>
              <a:schemeClr val="accent2"/>
            </a:solidFill>
            <a:round/>
          </a:ln>
        </p:spPr>
        <p:txBody>
          <a:bodyPr lIns="117221" tIns="58610" rIns="117221" bIns="58610" anchor="ctr"/>
          <a:lstStyle>
            <a:lvl1pPr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en-US" altLang="zh-CN" sz="1800" b="1" dirty="0">
                <a:solidFill>
                  <a:schemeClr val="accent2"/>
                </a:solidFill>
                <a:latin typeface="微软雅黑" panose="020B0503020204020204" pitchFamily="34" charset="-122"/>
              </a:rPr>
              <a:t>2. </a:t>
            </a:r>
            <a:r>
              <a:rPr kumimoji="0" lang="zh-CN" altLang="en-US" sz="1800" b="1" dirty="0">
                <a:solidFill>
                  <a:schemeClr val="accent2"/>
                </a:solidFill>
                <a:latin typeface="微软雅黑" panose="020B0503020204020204" pitchFamily="34" charset="-122"/>
              </a:rPr>
              <a:t>模型训练与</a:t>
            </a:r>
            <a:r>
              <a:rPr kumimoji="0" lang="zh-CN" altLang="en-US" sz="1800" b="1" dirty="0" smtClean="0">
                <a:solidFill>
                  <a:schemeClr val="accent2"/>
                </a:solidFill>
                <a:latin typeface="微软雅黑" panose="020B0503020204020204" pitchFamily="34" charset="-122"/>
              </a:rPr>
              <a:t>求解</a:t>
            </a:r>
            <a:r>
              <a:rPr kumimoji="0" lang="en-US" altLang="zh-CN" sz="1800" b="1" dirty="0" smtClean="0">
                <a:solidFill>
                  <a:schemeClr val="accent2"/>
                </a:solidFill>
                <a:latin typeface="微软雅黑" panose="020B0503020204020204" pitchFamily="34" charset="-122"/>
              </a:rPr>
              <a:t>:</a:t>
            </a:r>
            <a:endParaRPr kumimoji="0" lang="zh-CN" altLang="en-US" sz="1800" b="1" dirty="0">
              <a:solidFill>
                <a:schemeClr val="accent2"/>
              </a:solidFill>
              <a:latin typeface="微软雅黑" panose="020B0503020204020204" pitchFamily="34" charset="-122"/>
            </a:endParaRPr>
          </a:p>
        </p:txBody>
      </p:sp>
      <p:sp>
        <p:nvSpPr>
          <p:cNvPr id="31" name="文本框 7"/>
          <p:cNvSpPr txBox="1">
            <a:spLocks noChangeArrowheads="1"/>
          </p:cNvSpPr>
          <p:nvPr/>
        </p:nvSpPr>
        <p:spPr bwMode="auto">
          <a:xfrm>
            <a:off x="1447886" y="3631957"/>
            <a:ext cx="3989368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#</a:t>
            </a:r>
            <a:r>
              <a:rPr kumimoji="0" lang="zh-CN" altLang="en-US" sz="1200" dirty="0">
                <a:solidFill>
                  <a:schemeClr val="tx1"/>
                </a:solidFill>
                <a:ea typeface="宋体" panose="02010600030101010101" pitchFamily="2" charset="-122"/>
              </a:rPr>
              <a:t>支持向量机模型</a:t>
            </a:r>
            <a:endParaRPr kumimoji="0" lang="zh-CN" altLang="en-US" sz="12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from </a:t>
            </a:r>
            <a:r>
              <a:rPr kumimoji="0" lang="en-US" altLang="zh-CN" sz="1200" dirty="0" err="1">
                <a:solidFill>
                  <a:schemeClr val="tx1"/>
                </a:solidFill>
                <a:ea typeface="宋体" panose="02010600030101010101" pitchFamily="2" charset="-122"/>
              </a:rPr>
              <a:t>sklearn</a:t>
            </a: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 import </a:t>
            </a:r>
            <a:r>
              <a:rPr kumimoji="0" lang="en-US" altLang="zh-CN" sz="1200" dirty="0" err="1">
                <a:solidFill>
                  <a:schemeClr val="tx1"/>
                </a:solidFill>
                <a:ea typeface="宋体" panose="02010600030101010101" pitchFamily="2" charset="-122"/>
              </a:rPr>
              <a:t>svm</a:t>
            </a:r>
            <a:endParaRPr kumimoji="0" lang="en-US" altLang="zh-CN" sz="12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en-US" altLang="zh-CN" sz="1200" dirty="0" err="1">
                <a:solidFill>
                  <a:schemeClr val="tx1"/>
                </a:solidFill>
                <a:ea typeface="宋体" panose="02010600030101010101" pitchFamily="2" charset="-122"/>
              </a:rPr>
              <a:t>clf</a:t>
            </a: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 = </a:t>
            </a:r>
            <a:r>
              <a:rPr kumimoji="0" lang="en-US" altLang="zh-CN" sz="1200" dirty="0" err="1">
                <a:solidFill>
                  <a:schemeClr val="tx1"/>
                </a:solidFill>
                <a:ea typeface="宋体" panose="02010600030101010101" pitchFamily="2" charset="-122"/>
              </a:rPr>
              <a:t>svm.SVC</a:t>
            </a: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(kernel='</a:t>
            </a:r>
            <a:r>
              <a:rPr kumimoji="0" lang="en-US" altLang="zh-CN" sz="1200" dirty="0" err="1">
                <a:solidFill>
                  <a:schemeClr val="tx1"/>
                </a:solidFill>
                <a:ea typeface="宋体" panose="02010600030101010101" pitchFamily="2" charset="-122"/>
              </a:rPr>
              <a:t>rbf</a:t>
            </a: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')  </a:t>
            </a:r>
            <a:endParaRPr kumimoji="0" lang="en-US" altLang="zh-CN" sz="12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en-US" altLang="zh-CN" sz="1200" dirty="0" err="1">
                <a:solidFill>
                  <a:schemeClr val="tx1"/>
                </a:solidFill>
                <a:ea typeface="宋体" panose="02010600030101010101" pitchFamily="2" charset="-122"/>
              </a:rPr>
              <a:t>clf.fit</a:t>
            </a: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kumimoji="0" lang="en-US" altLang="zh-CN" sz="1200" dirty="0" err="1">
                <a:solidFill>
                  <a:schemeClr val="tx1"/>
                </a:solidFill>
                <a:ea typeface="宋体" panose="02010600030101010101" pitchFamily="2" charset="-122"/>
              </a:rPr>
              <a:t>x_train</a:t>
            </a: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kumimoji="0" lang="en-US" altLang="zh-CN" sz="1200" dirty="0" err="1">
                <a:solidFill>
                  <a:schemeClr val="tx1"/>
                </a:solidFill>
                <a:ea typeface="宋体" panose="02010600030101010101" pitchFamily="2" charset="-122"/>
              </a:rPr>
              <a:t>Y_train</a:t>
            </a: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) </a:t>
            </a:r>
            <a:endParaRPr kumimoji="0" lang="en-US" altLang="zh-CN" sz="12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rv1=</a:t>
            </a:r>
            <a:r>
              <a:rPr kumimoji="0" lang="en-US" altLang="zh-CN" sz="1200" dirty="0" err="1">
                <a:solidFill>
                  <a:schemeClr val="tx1"/>
                </a:solidFill>
                <a:ea typeface="宋体" panose="02010600030101010101" pitchFamily="2" charset="-122"/>
              </a:rPr>
              <a:t>clf.score</a:t>
            </a: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kumimoji="0" lang="en-US" altLang="zh-CN" sz="1200" dirty="0" err="1">
                <a:solidFill>
                  <a:schemeClr val="tx1"/>
                </a:solidFill>
                <a:ea typeface="宋体" panose="02010600030101010101" pitchFamily="2" charset="-122"/>
              </a:rPr>
              <a:t>x_train</a:t>
            </a: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kumimoji="0" lang="en-US" altLang="zh-CN" sz="1200" dirty="0" err="1">
                <a:solidFill>
                  <a:schemeClr val="tx1"/>
                </a:solidFill>
                <a:ea typeface="宋体" panose="02010600030101010101" pitchFamily="2" charset="-122"/>
              </a:rPr>
              <a:t>Y_train</a:t>
            </a: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);</a:t>
            </a:r>
            <a:endParaRPr kumimoji="0" lang="en-US" altLang="zh-CN" sz="12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R=</a:t>
            </a:r>
            <a:r>
              <a:rPr kumimoji="0" lang="en-US" altLang="zh-CN" sz="1200" dirty="0" err="1">
                <a:solidFill>
                  <a:schemeClr val="tx1"/>
                </a:solidFill>
                <a:ea typeface="宋体" panose="02010600030101010101" pitchFamily="2" charset="-122"/>
              </a:rPr>
              <a:t>clf.predict</a:t>
            </a: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kumimoji="0" lang="en-US" altLang="zh-CN" sz="1200" dirty="0" err="1">
                <a:solidFill>
                  <a:schemeClr val="tx1"/>
                </a:solidFill>
                <a:ea typeface="宋体" panose="02010600030101010101" pitchFamily="2" charset="-122"/>
              </a:rPr>
              <a:t>x_test</a:t>
            </a: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endParaRPr kumimoji="0" lang="en-US" altLang="zh-CN" sz="12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R=</a:t>
            </a:r>
            <a:r>
              <a:rPr kumimoji="0" lang="en-US" altLang="zh-CN" sz="1200" dirty="0" err="1">
                <a:solidFill>
                  <a:schemeClr val="tx1"/>
                </a:solidFill>
                <a:ea typeface="宋体" panose="02010600030101010101" pitchFamily="2" charset="-122"/>
              </a:rPr>
              <a:t>R.reshape</a:t>
            </a: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kumimoji="0" lang="en-US" altLang="zh-CN" sz="1200" dirty="0" err="1">
                <a:solidFill>
                  <a:schemeClr val="tx1"/>
                </a:solidFill>
                <a:ea typeface="宋体" panose="02010600030101010101" pitchFamily="2" charset="-122"/>
              </a:rPr>
              <a:t>len</a:t>
            </a: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(R),1)</a:t>
            </a:r>
            <a:endParaRPr kumimoji="0" lang="en-US" altLang="zh-CN" sz="12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Z=R-</a:t>
            </a:r>
            <a:r>
              <a:rPr kumimoji="0" lang="en-US" altLang="zh-CN" sz="1200" dirty="0" err="1">
                <a:solidFill>
                  <a:schemeClr val="tx1"/>
                </a:solidFill>
                <a:ea typeface="宋体" panose="02010600030101010101" pitchFamily="2" charset="-122"/>
              </a:rPr>
              <a:t>Y_test</a:t>
            </a:r>
            <a:endParaRPr kumimoji="0" lang="en-US" altLang="zh-CN" sz="12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Rs1=</a:t>
            </a:r>
            <a:r>
              <a:rPr kumimoji="0" lang="en-US" altLang="zh-CN" sz="1200" dirty="0" err="1">
                <a:solidFill>
                  <a:schemeClr val="tx1"/>
                </a:solidFill>
                <a:ea typeface="宋体" panose="02010600030101010101" pitchFamily="2" charset="-122"/>
              </a:rPr>
              <a:t>len</a:t>
            </a: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(Z[Z==0])/</a:t>
            </a:r>
            <a:r>
              <a:rPr kumimoji="0" lang="en-US" altLang="zh-CN" sz="1200" dirty="0" err="1">
                <a:solidFill>
                  <a:schemeClr val="tx1"/>
                </a:solidFill>
                <a:ea typeface="宋体" panose="02010600030101010101" pitchFamily="2" charset="-122"/>
              </a:rPr>
              <a:t>len</a:t>
            </a: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(Z</a:t>
            </a:r>
            <a:endParaRPr kumimoji="0" lang="en-US" altLang="zh-CN" sz="12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4" name="矩形 10"/>
          <p:cNvSpPr>
            <a:spLocks noChangeArrowheads="1"/>
          </p:cNvSpPr>
          <p:nvPr/>
        </p:nvSpPr>
        <p:spPr bwMode="auto">
          <a:xfrm>
            <a:off x="6012594" y="3723569"/>
            <a:ext cx="3686185" cy="713544"/>
          </a:xfrm>
          <a:prstGeom prst="rect">
            <a:avLst/>
          </a:prstGeom>
          <a:solidFill>
            <a:schemeClr val="accent1">
              <a:lumMod val="60000"/>
              <a:lumOff val="40000"/>
              <a:alpha val="74117"/>
            </a:schemeClr>
          </a:solidFill>
          <a:ln w="9525">
            <a:solidFill>
              <a:schemeClr val="accent1">
                <a:lumMod val="60000"/>
                <a:lumOff val="40000"/>
              </a:schemeClr>
            </a:solidFill>
            <a:round/>
          </a:ln>
        </p:spPr>
        <p:txBody>
          <a:bodyPr lIns="117221" tIns="58610" rIns="117221" bIns="58610" anchor="ctr"/>
          <a:lstStyle>
            <a:lvl1pPr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en-US" altLang="zh-CN" sz="2100" b="1" dirty="0" smtClean="0">
                <a:solidFill>
                  <a:schemeClr val="accent2"/>
                </a:solidFill>
                <a:latin typeface="微软雅黑" panose="020B0503020204020204" pitchFamily="34" charset="-122"/>
              </a:rPr>
              <a:t>4.</a:t>
            </a:r>
            <a:r>
              <a:rPr kumimoji="0" lang="zh-CN" altLang="en-US" sz="2100" b="1" dirty="0" smtClean="0">
                <a:solidFill>
                  <a:schemeClr val="accent2"/>
                </a:solidFill>
                <a:latin typeface="微软雅黑" panose="020B0503020204020204" pitchFamily="34" charset="-122"/>
              </a:rPr>
              <a:t>神经网络模型：</a:t>
            </a:r>
            <a:endParaRPr kumimoji="0" lang="zh-CN" altLang="en-US" sz="2100" b="1" dirty="0">
              <a:solidFill>
                <a:schemeClr val="accent2"/>
              </a:solidFill>
              <a:latin typeface="微软雅黑" panose="020B0503020204020204" pitchFamily="34" charset="-122"/>
            </a:endParaRPr>
          </a:p>
        </p:txBody>
      </p:sp>
      <p:sp>
        <p:nvSpPr>
          <p:cNvPr id="35" name="文本框 7"/>
          <p:cNvSpPr txBox="1">
            <a:spLocks noChangeArrowheads="1"/>
          </p:cNvSpPr>
          <p:nvPr/>
        </p:nvSpPr>
        <p:spPr bwMode="auto">
          <a:xfrm>
            <a:off x="6012595" y="4509120"/>
            <a:ext cx="4099788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en-US" altLang="zh-CN" sz="1200" dirty="0" smtClean="0">
                <a:solidFill>
                  <a:schemeClr val="tx1"/>
                </a:solidFill>
                <a:ea typeface="宋体" panose="02010600030101010101" pitchFamily="2" charset="-122"/>
              </a:rPr>
              <a:t>from </a:t>
            </a:r>
            <a:r>
              <a:rPr kumimoji="0" lang="en-US" altLang="zh-CN" sz="1200" dirty="0" err="1">
                <a:solidFill>
                  <a:schemeClr val="tx1"/>
                </a:solidFill>
                <a:ea typeface="宋体" panose="02010600030101010101" pitchFamily="2" charset="-122"/>
              </a:rPr>
              <a:t>sklearn.neural_network</a:t>
            </a: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 import </a:t>
            </a:r>
            <a:r>
              <a:rPr kumimoji="0" lang="en-US" altLang="zh-CN" sz="1200" dirty="0" err="1">
                <a:solidFill>
                  <a:schemeClr val="tx1"/>
                </a:solidFill>
                <a:ea typeface="宋体" panose="02010600030101010101" pitchFamily="2" charset="-122"/>
              </a:rPr>
              <a:t>MLPClassifier</a:t>
            </a:r>
            <a:endParaRPr kumimoji="0" lang="en-US" altLang="zh-CN" sz="12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en-US" altLang="zh-CN" sz="1200" dirty="0" err="1">
                <a:solidFill>
                  <a:schemeClr val="tx1"/>
                </a:solidFill>
                <a:ea typeface="宋体" panose="02010600030101010101" pitchFamily="2" charset="-122"/>
              </a:rPr>
              <a:t>clf</a:t>
            </a: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 = </a:t>
            </a:r>
            <a:r>
              <a:rPr kumimoji="0" lang="en-US" altLang="zh-CN" sz="1200" dirty="0" err="1">
                <a:solidFill>
                  <a:schemeClr val="tx1"/>
                </a:solidFill>
                <a:ea typeface="宋体" panose="02010600030101010101" pitchFamily="2" charset="-122"/>
              </a:rPr>
              <a:t>MLPClassifier</a:t>
            </a: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(solver='</a:t>
            </a:r>
            <a:r>
              <a:rPr kumimoji="0" lang="en-US" altLang="zh-CN" sz="1200" dirty="0" err="1">
                <a:solidFill>
                  <a:schemeClr val="tx1"/>
                </a:solidFill>
                <a:ea typeface="宋体" panose="02010600030101010101" pitchFamily="2" charset="-122"/>
              </a:rPr>
              <a:t>lbfgs</a:t>
            </a: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', alpha=1e-5,hidden_layer_sizes=(5,2), </a:t>
            </a:r>
            <a:r>
              <a:rPr kumimoji="0" lang="en-US" altLang="zh-CN" sz="1200" dirty="0" err="1">
                <a:solidFill>
                  <a:schemeClr val="tx1"/>
                </a:solidFill>
                <a:ea typeface="宋体" panose="02010600030101010101" pitchFamily="2" charset="-122"/>
              </a:rPr>
              <a:t>random_state</a:t>
            </a: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=1)</a:t>
            </a:r>
            <a:endParaRPr kumimoji="0" lang="en-US" altLang="zh-CN" sz="12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en-US" altLang="zh-CN" sz="1200" dirty="0" err="1">
                <a:solidFill>
                  <a:schemeClr val="tx1"/>
                </a:solidFill>
                <a:ea typeface="宋体" panose="02010600030101010101" pitchFamily="2" charset="-122"/>
              </a:rPr>
              <a:t>clf.fit</a:t>
            </a: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kumimoji="0" lang="en-US" altLang="zh-CN" sz="1200" dirty="0" err="1">
                <a:solidFill>
                  <a:schemeClr val="tx1"/>
                </a:solidFill>
                <a:ea typeface="宋体" panose="02010600030101010101" pitchFamily="2" charset="-122"/>
              </a:rPr>
              <a:t>x_train</a:t>
            </a: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kumimoji="0" lang="en-US" altLang="zh-CN" sz="1200" dirty="0" err="1">
                <a:solidFill>
                  <a:schemeClr val="tx1"/>
                </a:solidFill>
                <a:ea typeface="宋体" panose="02010600030101010101" pitchFamily="2" charset="-122"/>
              </a:rPr>
              <a:t>Y_train</a:t>
            </a: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);</a:t>
            </a:r>
            <a:endParaRPr kumimoji="0" lang="en-US" altLang="zh-CN" sz="12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rv3=</a:t>
            </a:r>
            <a:r>
              <a:rPr kumimoji="0" lang="en-US" altLang="zh-CN" sz="1200" dirty="0" err="1">
                <a:solidFill>
                  <a:schemeClr val="tx1"/>
                </a:solidFill>
                <a:ea typeface="宋体" panose="02010600030101010101" pitchFamily="2" charset="-122"/>
              </a:rPr>
              <a:t>clf.score</a:t>
            </a: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kumimoji="0" lang="en-US" altLang="zh-CN" sz="1200" dirty="0" err="1">
                <a:solidFill>
                  <a:schemeClr val="tx1"/>
                </a:solidFill>
                <a:ea typeface="宋体" panose="02010600030101010101" pitchFamily="2" charset="-122"/>
              </a:rPr>
              <a:t>x_train</a:t>
            </a: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kumimoji="0" lang="en-US" altLang="zh-CN" sz="1200" dirty="0" err="1">
                <a:solidFill>
                  <a:schemeClr val="tx1"/>
                </a:solidFill>
                <a:ea typeface="宋体" panose="02010600030101010101" pitchFamily="2" charset="-122"/>
              </a:rPr>
              <a:t>Y_train</a:t>
            </a: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endParaRPr kumimoji="0" lang="en-US" altLang="zh-CN" sz="12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R=</a:t>
            </a:r>
            <a:r>
              <a:rPr kumimoji="0" lang="en-US" altLang="zh-CN" sz="1200" dirty="0" err="1">
                <a:solidFill>
                  <a:schemeClr val="tx1"/>
                </a:solidFill>
                <a:ea typeface="宋体" panose="02010600030101010101" pitchFamily="2" charset="-122"/>
              </a:rPr>
              <a:t>clf.predict</a:t>
            </a: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kumimoji="0" lang="en-US" altLang="zh-CN" sz="1200" dirty="0" err="1">
                <a:solidFill>
                  <a:schemeClr val="tx1"/>
                </a:solidFill>
                <a:ea typeface="宋体" panose="02010600030101010101" pitchFamily="2" charset="-122"/>
              </a:rPr>
              <a:t>x_test</a:t>
            </a: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endParaRPr kumimoji="0" lang="en-US" altLang="zh-CN" sz="12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R=</a:t>
            </a:r>
            <a:r>
              <a:rPr kumimoji="0" lang="en-US" altLang="zh-CN" sz="1200" dirty="0" err="1">
                <a:solidFill>
                  <a:schemeClr val="tx1"/>
                </a:solidFill>
                <a:ea typeface="宋体" panose="02010600030101010101" pitchFamily="2" charset="-122"/>
              </a:rPr>
              <a:t>R.reshape</a:t>
            </a: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kumimoji="0" lang="en-US" altLang="zh-CN" sz="1200" dirty="0" err="1">
                <a:solidFill>
                  <a:schemeClr val="tx1"/>
                </a:solidFill>
                <a:ea typeface="宋体" panose="02010600030101010101" pitchFamily="2" charset="-122"/>
              </a:rPr>
              <a:t>len</a:t>
            </a: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(R),1)</a:t>
            </a:r>
            <a:endParaRPr kumimoji="0" lang="en-US" altLang="zh-CN" sz="12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Z=R-</a:t>
            </a:r>
            <a:r>
              <a:rPr kumimoji="0" lang="en-US" altLang="zh-CN" sz="1200" dirty="0" err="1">
                <a:solidFill>
                  <a:schemeClr val="tx1"/>
                </a:solidFill>
                <a:ea typeface="宋体" panose="02010600030101010101" pitchFamily="2" charset="-122"/>
              </a:rPr>
              <a:t>Y_test</a:t>
            </a:r>
            <a:endParaRPr kumimoji="0" lang="en-US" altLang="zh-CN" sz="12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Rs3=</a:t>
            </a:r>
            <a:r>
              <a:rPr kumimoji="0" lang="en-US" altLang="zh-CN" sz="1200" dirty="0" err="1">
                <a:solidFill>
                  <a:schemeClr val="tx1"/>
                </a:solidFill>
                <a:ea typeface="宋体" panose="02010600030101010101" pitchFamily="2" charset="-122"/>
              </a:rPr>
              <a:t>len</a:t>
            </a: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(Z[Z==0])/</a:t>
            </a:r>
            <a:r>
              <a:rPr kumimoji="0" lang="en-US" altLang="zh-CN" sz="1200" dirty="0" err="1">
                <a:solidFill>
                  <a:schemeClr val="tx1"/>
                </a:solidFill>
                <a:ea typeface="宋体" panose="02010600030101010101" pitchFamily="2" charset="-122"/>
              </a:rPr>
              <a:t>len</a:t>
            </a:r>
            <a:r>
              <a:rPr kumimoji="0"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(Z)</a:t>
            </a:r>
            <a:endParaRPr kumimoji="0" lang="en-US" altLang="zh-CN" sz="12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9437">
        <p:fade/>
      </p:transition>
    </mc:Choice>
    <mc:Fallback>
      <p:transition spd="med" advTm="943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7" grpId="0"/>
      <p:bldP spid="28" grpId="0" animBg="1"/>
      <p:bldP spid="29" grpId="0"/>
      <p:bldP spid="30" grpId="0" animBg="1"/>
      <p:bldP spid="31" grpId="0"/>
      <p:bldP spid="34" grpId="0" animBg="1"/>
      <p:bldP spid="3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6855848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7.6.3 </a:t>
            </a:r>
            <a:r>
              <a:rPr lang="zh-CN" altLang="en-US" sz="2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模型求解</a:t>
            </a:r>
            <a:endParaRPr lang="zh-CN" altLang="en-US" sz="2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rgbClr val="FFFFFF"/>
                </a:solidFill>
              </a:rPr>
              <a:t>Part</a:t>
            </a:r>
            <a:r>
              <a:rPr lang="en-US" altLang="zh-CN" dirty="0">
                <a:solidFill>
                  <a:srgbClr val="FFFFFF"/>
                </a:solidFill>
              </a:rPr>
              <a:t> </a:t>
            </a:r>
            <a:r>
              <a:rPr lang="en-US" altLang="zh-CN" dirty="0" smtClean="0">
                <a:solidFill>
                  <a:srgbClr val="FFFFFF"/>
                </a:solidFill>
              </a:rPr>
              <a:t>7</a:t>
            </a: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25" name="矩形 10"/>
          <p:cNvSpPr>
            <a:spLocks noChangeArrowheads="1"/>
          </p:cNvSpPr>
          <p:nvPr/>
        </p:nvSpPr>
        <p:spPr bwMode="auto">
          <a:xfrm>
            <a:off x="1330763" y="1078914"/>
            <a:ext cx="3903521" cy="715924"/>
          </a:xfrm>
          <a:prstGeom prst="rect">
            <a:avLst/>
          </a:prstGeom>
          <a:solidFill>
            <a:schemeClr val="accent1">
              <a:lumMod val="60000"/>
              <a:lumOff val="40000"/>
              <a:alpha val="74117"/>
            </a:schemeClr>
          </a:solidFill>
          <a:ln w="9525">
            <a:solidFill>
              <a:schemeClr val="tx1">
                <a:lumMod val="20000"/>
                <a:lumOff val="80000"/>
              </a:schemeClr>
            </a:solidFill>
            <a:round/>
          </a:ln>
        </p:spPr>
        <p:txBody>
          <a:bodyPr lIns="117221" tIns="58610" rIns="117221" bIns="58610" anchor="ctr"/>
          <a:lstStyle>
            <a:lvl1pPr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1800" b="1" dirty="0" smtClean="0">
                <a:solidFill>
                  <a:srgbClr val="FFFFFF"/>
                </a:solidFill>
                <a:latin typeface="微软雅黑" panose="020B0503020204020204" pitchFamily="34" charset="-122"/>
              </a:rPr>
              <a:t>5.</a:t>
            </a:r>
            <a:r>
              <a:rPr kumimoji="0" lang="zh-CN" altLang="en-US" sz="1800" b="1" dirty="0" smtClean="0">
                <a:solidFill>
                  <a:srgbClr val="FFFFFF"/>
                </a:solidFill>
                <a:latin typeface="微软雅黑" panose="020B0503020204020204" pitchFamily="34" charset="-122"/>
              </a:rPr>
              <a:t>输出：</a:t>
            </a:r>
            <a:endParaRPr kumimoji="0" lang="zh-CN" altLang="en-US" sz="1800" b="1" dirty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7" name="文本框 7"/>
          <p:cNvSpPr txBox="1">
            <a:spLocks noChangeArrowheads="1"/>
          </p:cNvSpPr>
          <p:nvPr/>
        </p:nvSpPr>
        <p:spPr bwMode="auto">
          <a:xfrm>
            <a:off x="1330765" y="2143309"/>
            <a:ext cx="3615488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es-ES" altLang="zh-CN" sz="1600" dirty="0">
                <a:solidFill>
                  <a:srgbClr val="294A5A"/>
                </a:solidFill>
                <a:ea typeface="宋体" panose="02010600030101010101" pitchFamily="2" charset="-122"/>
              </a:rPr>
              <a:t>print('</a:t>
            </a:r>
            <a:r>
              <a:rPr kumimoji="0" lang="zh-CN" altLang="en-US" sz="1600" dirty="0">
                <a:solidFill>
                  <a:srgbClr val="294A5A"/>
                </a:solidFill>
                <a:ea typeface="宋体" panose="02010600030101010101" pitchFamily="2" charset="-122"/>
              </a:rPr>
              <a:t>支持向量机模型准确率：</a:t>
            </a:r>
            <a:r>
              <a:rPr kumimoji="0" lang="en-US" altLang="zh-CN" sz="1600" dirty="0">
                <a:solidFill>
                  <a:srgbClr val="294A5A"/>
                </a:solidFill>
                <a:ea typeface="宋体" panose="02010600030101010101" pitchFamily="2" charset="-122"/>
              </a:rPr>
              <a:t>',</a:t>
            </a:r>
            <a:r>
              <a:rPr kumimoji="0" lang="es-ES" altLang="zh-CN" sz="1600" dirty="0">
                <a:solidFill>
                  <a:srgbClr val="294A5A"/>
                </a:solidFill>
                <a:ea typeface="宋体" panose="02010600030101010101" pitchFamily="2" charset="-122"/>
              </a:rPr>
              <a:t>rv1)</a:t>
            </a:r>
            <a:endParaRPr kumimoji="0" lang="es-ES" altLang="zh-CN" sz="1600" dirty="0">
              <a:solidFill>
                <a:srgbClr val="294A5A"/>
              </a:solidFill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es-ES" altLang="zh-CN" sz="1600" dirty="0">
                <a:solidFill>
                  <a:srgbClr val="294A5A"/>
                </a:solidFill>
                <a:ea typeface="宋体" panose="02010600030101010101" pitchFamily="2" charset="-122"/>
              </a:rPr>
              <a:t>print('</a:t>
            </a:r>
            <a:r>
              <a:rPr kumimoji="0" lang="zh-CN" altLang="en-US" sz="1600" dirty="0">
                <a:solidFill>
                  <a:srgbClr val="294A5A"/>
                </a:solidFill>
                <a:ea typeface="宋体" panose="02010600030101010101" pitchFamily="2" charset="-122"/>
              </a:rPr>
              <a:t>逻辑模型准确率：</a:t>
            </a:r>
            <a:r>
              <a:rPr kumimoji="0" lang="en-US" altLang="zh-CN" sz="1600" dirty="0">
                <a:solidFill>
                  <a:srgbClr val="294A5A"/>
                </a:solidFill>
                <a:ea typeface="宋体" panose="02010600030101010101" pitchFamily="2" charset="-122"/>
              </a:rPr>
              <a:t>',</a:t>
            </a:r>
            <a:r>
              <a:rPr kumimoji="0" lang="es-ES" altLang="zh-CN" sz="1600" dirty="0">
                <a:solidFill>
                  <a:srgbClr val="294A5A"/>
                </a:solidFill>
                <a:ea typeface="宋体" panose="02010600030101010101" pitchFamily="2" charset="-122"/>
              </a:rPr>
              <a:t>rv2)</a:t>
            </a:r>
            <a:endParaRPr kumimoji="0" lang="es-ES" altLang="zh-CN" sz="1600" dirty="0">
              <a:solidFill>
                <a:srgbClr val="294A5A"/>
              </a:solidFill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es-ES" altLang="zh-CN" sz="1600" dirty="0">
                <a:solidFill>
                  <a:srgbClr val="294A5A"/>
                </a:solidFill>
                <a:ea typeface="宋体" panose="02010600030101010101" pitchFamily="2" charset="-122"/>
              </a:rPr>
              <a:t>print('</a:t>
            </a:r>
            <a:r>
              <a:rPr kumimoji="0" lang="zh-CN" altLang="en-US" sz="1600" dirty="0">
                <a:solidFill>
                  <a:srgbClr val="294A5A"/>
                </a:solidFill>
                <a:ea typeface="宋体" panose="02010600030101010101" pitchFamily="2" charset="-122"/>
              </a:rPr>
              <a:t>神经网络模型准确率：</a:t>
            </a:r>
            <a:r>
              <a:rPr kumimoji="0" lang="en-US" altLang="zh-CN" sz="1600" dirty="0">
                <a:solidFill>
                  <a:srgbClr val="294A5A"/>
                </a:solidFill>
                <a:ea typeface="宋体" panose="02010600030101010101" pitchFamily="2" charset="-122"/>
              </a:rPr>
              <a:t>',</a:t>
            </a:r>
            <a:r>
              <a:rPr kumimoji="0" lang="es-ES" altLang="zh-CN" sz="1600" dirty="0">
                <a:solidFill>
                  <a:srgbClr val="294A5A"/>
                </a:solidFill>
                <a:ea typeface="宋体" panose="02010600030101010101" pitchFamily="2" charset="-122"/>
              </a:rPr>
              <a:t>rv3)</a:t>
            </a:r>
            <a:endParaRPr kumimoji="0" lang="es-ES" altLang="zh-CN" sz="1600" dirty="0">
              <a:solidFill>
                <a:srgbClr val="294A5A"/>
              </a:solidFill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es-ES" altLang="zh-CN" sz="1600" dirty="0">
                <a:solidFill>
                  <a:srgbClr val="294A5A"/>
                </a:solidFill>
                <a:ea typeface="宋体" panose="02010600030101010101" pitchFamily="2" charset="-122"/>
              </a:rPr>
              <a:t>print('---------------------------------------------')</a:t>
            </a:r>
            <a:endParaRPr kumimoji="0" lang="es-ES" altLang="zh-CN" sz="1600" dirty="0">
              <a:solidFill>
                <a:srgbClr val="294A5A"/>
              </a:solidFill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es-ES" altLang="zh-CN" sz="1600" dirty="0">
                <a:solidFill>
                  <a:srgbClr val="294A5A"/>
                </a:solidFill>
                <a:ea typeface="宋体" panose="02010600030101010101" pitchFamily="2" charset="-122"/>
              </a:rPr>
              <a:t>print('</a:t>
            </a:r>
            <a:r>
              <a:rPr kumimoji="0" lang="zh-CN" altLang="en-US" sz="1600" dirty="0">
                <a:solidFill>
                  <a:srgbClr val="294A5A"/>
                </a:solidFill>
                <a:ea typeface="宋体" panose="02010600030101010101" pitchFamily="2" charset="-122"/>
              </a:rPr>
              <a:t>支持向量机模型预测准确率：</a:t>
            </a:r>
            <a:r>
              <a:rPr kumimoji="0" lang="en-US" altLang="zh-CN" sz="1600" dirty="0">
                <a:solidFill>
                  <a:srgbClr val="294A5A"/>
                </a:solidFill>
                <a:ea typeface="宋体" panose="02010600030101010101" pitchFamily="2" charset="-122"/>
              </a:rPr>
              <a:t>',</a:t>
            </a:r>
            <a:r>
              <a:rPr kumimoji="0" lang="es-ES" altLang="zh-CN" sz="1600" dirty="0">
                <a:solidFill>
                  <a:srgbClr val="294A5A"/>
                </a:solidFill>
                <a:ea typeface="宋体" panose="02010600030101010101" pitchFamily="2" charset="-122"/>
              </a:rPr>
              <a:t>Rs1)</a:t>
            </a:r>
            <a:endParaRPr kumimoji="0" lang="es-ES" altLang="zh-CN" sz="1600" dirty="0">
              <a:solidFill>
                <a:srgbClr val="294A5A"/>
              </a:solidFill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es-ES" altLang="zh-CN" sz="1600" dirty="0">
                <a:solidFill>
                  <a:srgbClr val="294A5A"/>
                </a:solidFill>
                <a:ea typeface="宋体" panose="02010600030101010101" pitchFamily="2" charset="-122"/>
              </a:rPr>
              <a:t>print('</a:t>
            </a:r>
            <a:r>
              <a:rPr kumimoji="0" lang="zh-CN" altLang="en-US" sz="1600" dirty="0">
                <a:solidFill>
                  <a:srgbClr val="294A5A"/>
                </a:solidFill>
                <a:ea typeface="宋体" panose="02010600030101010101" pitchFamily="2" charset="-122"/>
              </a:rPr>
              <a:t>逻辑模型预测准确率：</a:t>
            </a:r>
            <a:r>
              <a:rPr kumimoji="0" lang="en-US" altLang="zh-CN" sz="1600" dirty="0">
                <a:solidFill>
                  <a:srgbClr val="294A5A"/>
                </a:solidFill>
                <a:ea typeface="宋体" panose="02010600030101010101" pitchFamily="2" charset="-122"/>
              </a:rPr>
              <a:t>',</a:t>
            </a:r>
            <a:r>
              <a:rPr kumimoji="0" lang="es-ES" altLang="zh-CN" sz="1600" dirty="0">
                <a:solidFill>
                  <a:srgbClr val="294A5A"/>
                </a:solidFill>
                <a:ea typeface="宋体" panose="02010600030101010101" pitchFamily="2" charset="-122"/>
              </a:rPr>
              <a:t>Rs2)</a:t>
            </a:r>
            <a:endParaRPr kumimoji="0" lang="es-ES" altLang="zh-CN" sz="1600" dirty="0">
              <a:solidFill>
                <a:srgbClr val="294A5A"/>
              </a:solidFill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es-ES" altLang="zh-CN" sz="1600" dirty="0">
                <a:solidFill>
                  <a:srgbClr val="294A5A"/>
                </a:solidFill>
                <a:ea typeface="宋体" panose="02010600030101010101" pitchFamily="2" charset="-122"/>
              </a:rPr>
              <a:t>print('</a:t>
            </a:r>
            <a:r>
              <a:rPr kumimoji="0" lang="zh-CN" altLang="en-US" sz="1600" dirty="0">
                <a:solidFill>
                  <a:srgbClr val="294A5A"/>
                </a:solidFill>
                <a:ea typeface="宋体" panose="02010600030101010101" pitchFamily="2" charset="-122"/>
              </a:rPr>
              <a:t>神经网络模型预测准确率：</a:t>
            </a:r>
            <a:r>
              <a:rPr kumimoji="0" lang="en-US" altLang="zh-CN" sz="1600" dirty="0">
                <a:solidFill>
                  <a:srgbClr val="294A5A"/>
                </a:solidFill>
                <a:ea typeface="宋体" panose="02010600030101010101" pitchFamily="2" charset="-122"/>
              </a:rPr>
              <a:t>',</a:t>
            </a:r>
            <a:r>
              <a:rPr kumimoji="0" lang="es-ES" altLang="zh-CN" sz="1600" dirty="0">
                <a:solidFill>
                  <a:srgbClr val="294A5A"/>
                </a:solidFill>
                <a:ea typeface="宋体" panose="02010600030101010101" pitchFamily="2" charset="-122"/>
              </a:rPr>
              <a:t>Rs3)</a:t>
            </a:r>
            <a:endParaRPr kumimoji="0" lang="es-ES" altLang="zh-CN" sz="1600" dirty="0">
              <a:solidFill>
                <a:srgbClr val="294A5A"/>
              </a:solidFill>
              <a:ea typeface="宋体" panose="02010600030101010101" pitchFamily="2" charset="-122"/>
            </a:endParaRPr>
          </a:p>
        </p:txBody>
      </p:sp>
      <p:sp>
        <p:nvSpPr>
          <p:cNvPr id="28" name="矩形 10"/>
          <p:cNvSpPr>
            <a:spLocks noChangeArrowheads="1"/>
          </p:cNvSpPr>
          <p:nvPr/>
        </p:nvSpPr>
        <p:spPr bwMode="auto">
          <a:xfrm>
            <a:off x="5972470" y="1078914"/>
            <a:ext cx="3898678" cy="715924"/>
          </a:xfrm>
          <a:prstGeom prst="rect">
            <a:avLst/>
          </a:prstGeom>
          <a:solidFill>
            <a:schemeClr val="accent1">
              <a:lumMod val="60000"/>
              <a:lumOff val="40000"/>
              <a:alpha val="74117"/>
            </a:schemeClr>
          </a:solidFill>
          <a:ln w="9525">
            <a:solidFill>
              <a:schemeClr val="accent1">
                <a:lumMod val="40000"/>
                <a:lumOff val="60000"/>
              </a:schemeClr>
            </a:solidFill>
            <a:round/>
          </a:ln>
        </p:spPr>
        <p:txBody>
          <a:bodyPr lIns="117221" tIns="58610" rIns="117221" bIns="58610" anchor="ctr"/>
          <a:lstStyle>
            <a:lvl1pPr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en-US" altLang="zh-CN" sz="1800" b="1" dirty="0" smtClean="0">
                <a:solidFill>
                  <a:srgbClr val="FFFFFF"/>
                </a:solidFill>
                <a:latin typeface="微软雅黑" panose="020B0503020204020204" pitchFamily="34" charset="-122"/>
              </a:rPr>
              <a:t>6.</a:t>
            </a:r>
            <a:r>
              <a:rPr kumimoji="0" lang="zh-CN" altLang="en-US" sz="1800" b="1" dirty="0" smtClean="0">
                <a:solidFill>
                  <a:srgbClr val="FFFFFF"/>
                </a:solidFill>
                <a:latin typeface="微软雅黑" panose="020B0503020204020204" pitchFamily="34" charset="-122"/>
              </a:rPr>
              <a:t>执行结果：</a:t>
            </a:r>
            <a:endParaRPr kumimoji="0" lang="zh-CN" altLang="en-US" sz="1800" b="1" dirty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9" name="文本框 7"/>
          <p:cNvSpPr txBox="1">
            <a:spLocks noChangeArrowheads="1"/>
          </p:cNvSpPr>
          <p:nvPr/>
        </p:nvSpPr>
        <p:spPr bwMode="auto">
          <a:xfrm>
            <a:off x="5972470" y="2143309"/>
            <a:ext cx="4104456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zh-CN" altLang="en-US" sz="1600" dirty="0">
                <a:solidFill>
                  <a:srgbClr val="294A5A"/>
                </a:solidFill>
                <a:ea typeface="宋体" panose="02010600030101010101" pitchFamily="2" charset="-122"/>
              </a:rPr>
              <a:t>支持向量机模型准确率： </a:t>
            </a:r>
            <a:r>
              <a:rPr kumimoji="0" lang="en-US" altLang="zh-CN" sz="1600" dirty="0">
                <a:solidFill>
                  <a:srgbClr val="294A5A"/>
                </a:solidFill>
                <a:ea typeface="宋体" panose="02010600030101010101" pitchFamily="2" charset="-122"/>
              </a:rPr>
              <a:t>0.848780487805</a:t>
            </a:r>
            <a:endParaRPr kumimoji="0" lang="en-US" altLang="zh-CN" sz="1600" dirty="0">
              <a:solidFill>
                <a:srgbClr val="294A5A"/>
              </a:solidFill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zh-CN" altLang="en-US" sz="1600" dirty="0">
                <a:solidFill>
                  <a:srgbClr val="294A5A"/>
                </a:solidFill>
                <a:ea typeface="宋体" panose="02010600030101010101" pitchFamily="2" charset="-122"/>
              </a:rPr>
              <a:t>逻辑模型准确率： </a:t>
            </a:r>
            <a:r>
              <a:rPr kumimoji="0" lang="en-US" altLang="zh-CN" sz="1600" dirty="0">
                <a:solidFill>
                  <a:srgbClr val="294A5A"/>
                </a:solidFill>
                <a:ea typeface="宋体" panose="02010600030101010101" pitchFamily="2" charset="-122"/>
              </a:rPr>
              <a:t>0.570731707317</a:t>
            </a:r>
            <a:endParaRPr kumimoji="0" lang="en-US" altLang="zh-CN" sz="1600" dirty="0">
              <a:solidFill>
                <a:srgbClr val="294A5A"/>
              </a:solidFill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zh-CN" altLang="en-US" sz="1600" dirty="0">
                <a:solidFill>
                  <a:srgbClr val="294A5A"/>
                </a:solidFill>
                <a:ea typeface="宋体" panose="02010600030101010101" pitchFamily="2" charset="-122"/>
              </a:rPr>
              <a:t>神经网络模型准确率： </a:t>
            </a:r>
            <a:r>
              <a:rPr kumimoji="0" lang="en-US" altLang="zh-CN" sz="1600" dirty="0">
                <a:solidFill>
                  <a:srgbClr val="294A5A"/>
                </a:solidFill>
                <a:ea typeface="宋体" panose="02010600030101010101" pitchFamily="2" charset="-122"/>
              </a:rPr>
              <a:t>0.507317073171</a:t>
            </a:r>
            <a:endParaRPr kumimoji="0" lang="en-US" altLang="zh-CN" sz="1600" dirty="0">
              <a:solidFill>
                <a:srgbClr val="294A5A"/>
              </a:solidFill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en-US" altLang="zh-CN" sz="1600" dirty="0">
                <a:solidFill>
                  <a:srgbClr val="294A5A"/>
                </a:solidFill>
                <a:ea typeface="宋体" panose="02010600030101010101" pitchFamily="2" charset="-122"/>
              </a:rPr>
              <a:t>---------------------------------------------</a:t>
            </a:r>
            <a:endParaRPr kumimoji="0" lang="en-US" altLang="zh-CN" sz="1600" dirty="0">
              <a:solidFill>
                <a:srgbClr val="294A5A"/>
              </a:solidFill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zh-CN" altLang="en-US" sz="1600" dirty="0">
                <a:solidFill>
                  <a:srgbClr val="294A5A"/>
                </a:solidFill>
                <a:ea typeface="宋体" panose="02010600030101010101" pitchFamily="2" charset="-122"/>
              </a:rPr>
              <a:t>支持向量机模型预测准确率： </a:t>
            </a:r>
            <a:r>
              <a:rPr kumimoji="0" lang="en-US" altLang="zh-CN" sz="1600" dirty="0">
                <a:solidFill>
                  <a:srgbClr val="294A5A"/>
                </a:solidFill>
                <a:ea typeface="宋体" panose="02010600030101010101" pitchFamily="2" charset="-122"/>
              </a:rPr>
              <a:t>0.7666666666666667</a:t>
            </a:r>
            <a:endParaRPr kumimoji="0" lang="en-US" altLang="zh-CN" sz="1600" dirty="0">
              <a:solidFill>
                <a:srgbClr val="294A5A"/>
              </a:solidFill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zh-CN" altLang="en-US" sz="1600" dirty="0">
                <a:solidFill>
                  <a:srgbClr val="294A5A"/>
                </a:solidFill>
                <a:ea typeface="宋体" panose="02010600030101010101" pitchFamily="2" charset="-122"/>
              </a:rPr>
              <a:t>逻辑模型预测准确率： </a:t>
            </a:r>
            <a:r>
              <a:rPr kumimoji="0" lang="en-US" altLang="zh-CN" sz="1600" dirty="0">
                <a:solidFill>
                  <a:srgbClr val="294A5A"/>
                </a:solidFill>
                <a:ea typeface="宋体" panose="02010600030101010101" pitchFamily="2" charset="-122"/>
              </a:rPr>
              <a:t>0.7666666666666667</a:t>
            </a:r>
            <a:endParaRPr kumimoji="0" lang="en-US" altLang="zh-CN" sz="1600" dirty="0">
              <a:solidFill>
                <a:srgbClr val="294A5A"/>
              </a:solidFill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zh-CN" altLang="en-US" sz="1600" dirty="0">
                <a:solidFill>
                  <a:srgbClr val="294A5A"/>
                </a:solidFill>
                <a:ea typeface="宋体" panose="02010600030101010101" pitchFamily="2" charset="-122"/>
              </a:rPr>
              <a:t>神经网络模型预测准确率： </a:t>
            </a:r>
            <a:r>
              <a:rPr kumimoji="0" lang="en-US" altLang="zh-CN" sz="1600" dirty="0">
                <a:solidFill>
                  <a:srgbClr val="294A5A"/>
                </a:solidFill>
                <a:ea typeface="宋体" panose="02010600030101010101" pitchFamily="2" charset="-122"/>
              </a:rPr>
              <a:t>0.8</a:t>
            </a:r>
            <a:endParaRPr kumimoji="0" lang="en-US" altLang="zh-CN" sz="1600" dirty="0">
              <a:solidFill>
                <a:srgbClr val="294A5A"/>
              </a:solidFill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kumimoji="0" lang="en-US" altLang="zh-CN" sz="1600" dirty="0">
              <a:solidFill>
                <a:srgbClr val="294A5A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9437">
        <p:fade/>
      </p:transition>
    </mc:Choice>
    <mc:Fallback>
      <p:transition spd="med" advTm="943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7" grpId="0"/>
      <p:bldP spid="28" grpId="0" animBg="1"/>
      <p:bldP spid="29" grpId="0"/>
    </p:bldLst>
  </p:timing>
</p:sld>
</file>

<file path=ppt/theme/theme1.xml><?xml version="1.0" encoding="utf-8"?>
<a:theme xmlns:a="http://schemas.openxmlformats.org/drawingml/2006/main" name="第一PPT，www.1ppt.com">
  <a:themeElements>
    <a:clrScheme name="155">
      <a:dk1>
        <a:srgbClr val="294A5A"/>
      </a:dk1>
      <a:lt1>
        <a:srgbClr val="99CC39"/>
      </a:lt1>
      <a:dk2>
        <a:srgbClr val="F9C900"/>
      </a:dk2>
      <a:lt2>
        <a:srgbClr val="ED5A00"/>
      </a:lt2>
      <a:accent1>
        <a:srgbClr val="484849"/>
      </a:accent1>
      <a:accent2>
        <a:srgbClr val="FFFFFF"/>
      </a:accent2>
      <a:accent3>
        <a:srgbClr val="969696"/>
      </a:accent3>
      <a:accent4>
        <a:srgbClr val="00AAA2"/>
      </a:accent4>
      <a:accent5>
        <a:srgbClr val="99CC39"/>
      </a:accent5>
      <a:accent6>
        <a:srgbClr val="F9C900"/>
      </a:accent6>
      <a:hlink>
        <a:srgbClr val="ED5A00"/>
      </a:hlink>
      <a:folHlink>
        <a:srgbClr val="484849"/>
      </a:folHlink>
    </a:clrScheme>
    <a:fontScheme name="默认设计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>
            <a:lumMod val="20000"/>
            <a:lumOff val="80000"/>
          </a:schemeClr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rtlCol="0" anchor="t" anchorCtr="0" compatLnSpc="1"/>
      <a:lstStyle>
        <a:defPPr>
          <a:defRPr sz="1100" kern="100" dirty="0" smtClean="0">
            <a:latin typeface="Calibri" panose="020F0502020204030204"/>
            <a:ea typeface="宋体" panose="02010600030101010101" pitchFamily="2" charset="-122"/>
            <a:cs typeface="Times New Roman" panose="02020603050405020304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D9"/>
        </a:lt1>
        <a:dk2>
          <a:srgbClr val="2B2E30"/>
        </a:dk2>
        <a:lt2>
          <a:srgbClr val="777777"/>
        </a:lt2>
        <a:accent1>
          <a:srgbClr val="7FBA00"/>
        </a:accent1>
        <a:accent2>
          <a:srgbClr val="FCDB00"/>
        </a:accent2>
        <a:accent3>
          <a:srgbClr val="FFFFE9"/>
        </a:accent3>
        <a:accent4>
          <a:srgbClr val="000000"/>
        </a:accent4>
        <a:accent5>
          <a:srgbClr val="C0D9AA"/>
        </a:accent5>
        <a:accent6>
          <a:srgbClr val="E4C600"/>
        </a:accent6>
        <a:hlink>
          <a:srgbClr val="21A3D0"/>
        </a:hlink>
        <a:folHlink>
          <a:srgbClr val="DA25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3474</Words>
  <Application>WPS 演示</Application>
  <PresentationFormat>自定义</PresentationFormat>
  <Paragraphs>360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9" baseType="lpstr">
      <vt:lpstr>Arial</vt:lpstr>
      <vt:lpstr>宋体</vt:lpstr>
      <vt:lpstr>Wingdings</vt:lpstr>
      <vt:lpstr>Calibri</vt:lpstr>
      <vt:lpstr>Times New Roman</vt:lpstr>
      <vt:lpstr>微软雅黑</vt:lpstr>
      <vt:lpstr>仿宋_GB2312</vt:lpstr>
      <vt:lpstr>Calibri</vt:lpstr>
      <vt:lpstr>方正卡通简体</vt:lpstr>
      <vt:lpstr>Arial</vt:lpstr>
      <vt:lpstr>Arial Unicode MS</vt:lpstr>
      <vt:lpstr>仿宋</vt:lpstr>
      <vt:lpstr>第一PPT，www.1ppt.com</vt:lpstr>
      <vt:lpstr>PowerPoint 演示文稿</vt:lpstr>
      <vt:lpstr>今有沪深300指数2014年的交易数据，其数据结构如表7-9所示。</vt:lpstr>
      <vt:lpstr>字段依次表示指数代码、交易日期、开盘价、最高价、最低价、收盘价、成交量。请计算如下指标： </vt:lpstr>
      <vt:lpstr>1. 计算特征指标X，即A1~A7。示例代码如下：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商业融资计划书</dc:title>
  <dc:creator>第一PPT</dc:creator>
  <cp:keywords>www.1ppt.com</cp:keywords>
  <cp:lastModifiedBy>Administrator</cp:lastModifiedBy>
  <cp:revision>1601</cp:revision>
  <dcterms:created xsi:type="dcterms:W3CDTF">2013-01-25T01:44:00Z</dcterms:created>
  <dcterms:modified xsi:type="dcterms:W3CDTF">2020-01-12T13:04:30Z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2052-11.1.0.9339</vt:lpwstr>
  </property>
</Properties>
</file>