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826" r:id="rId3"/>
    <p:sldId id="828" r:id="rId5"/>
    <p:sldId id="914" r:id="rId6"/>
    <p:sldId id="955" r:id="rId7"/>
    <p:sldId id="954" r:id="rId8"/>
    <p:sldId id="957" r:id="rId9"/>
    <p:sldId id="959" r:id="rId10"/>
    <p:sldId id="960" r:id="rId11"/>
    <p:sldId id="961" r:id="rId12"/>
    <p:sldId id="962" r:id="rId13"/>
    <p:sldId id="963" r:id="rId14"/>
    <p:sldId id="965" r:id="rId15"/>
    <p:sldId id="966" r:id="rId16"/>
    <p:sldId id="967" r:id="rId17"/>
    <p:sldId id="968" r:id="rId18"/>
    <p:sldId id="969" r:id="rId19"/>
    <p:sldId id="971" r:id="rId20"/>
    <p:sldId id="970" r:id="rId21"/>
    <p:sldId id="972" r:id="rId22"/>
    <p:sldId id="978" r:id="rId23"/>
    <p:sldId id="973" r:id="rId24"/>
    <p:sldId id="975" r:id="rId25"/>
    <p:sldId id="974" r:id="rId26"/>
    <p:sldId id="976" r:id="rId27"/>
    <p:sldId id="933" r:id="rId28"/>
    <p:sldId id="977" r:id="rId29"/>
  </p:sldIdLst>
  <p:sldSz cx="12196445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8F8F8"/>
    <a:srgbClr val="17DCF1"/>
    <a:srgbClr val="0DC2D5"/>
    <a:srgbClr val="006BBC"/>
    <a:srgbClr val="00AAA2"/>
    <a:srgbClr val="EFEFEF"/>
    <a:srgbClr val="FFFFF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044" autoAdjust="0"/>
    <p:restoredTop sz="94270" autoAdjust="0"/>
  </p:normalViewPr>
  <p:slideViewPr>
    <p:cSldViewPr snapToObjects="1">
      <p:cViewPr varScale="1">
        <p:scale>
          <a:sx n="68" d="100"/>
          <a:sy n="68" d="100"/>
        </p:scale>
        <p:origin x="-56" y="-92"/>
      </p:cViewPr>
      <p:guideLst>
        <p:guide orient="horz" pos="2143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6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  <a:endParaRPr lang="zh-CN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  <a:endParaRPr lang="zh-CN" dirty="0"/>
          </a:p>
          <a:p>
            <a:pPr lvl="1"/>
            <a:r>
              <a:rPr lang="zh-CN" dirty="0"/>
              <a:t>第二级</a:t>
            </a:r>
            <a:endParaRPr 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0" y="2454498"/>
            <a:ext cx="12196800" cy="4403503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4947443" y="980728"/>
            <a:ext cx="2301875" cy="2308227"/>
            <a:chOff x="6609209" y="790981"/>
            <a:chExt cx="2301875" cy="2308226"/>
          </a:xfrm>
        </p:grpSpPr>
        <p:sp>
          <p:nvSpPr>
            <p:cNvPr id="9" name="Oval 5"/>
            <p:cNvSpPr>
              <a:spLocks noChangeArrowheads="1"/>
            </p:cNvSpPr>
            <p:nvPr/>
          </p:nvSpPr>
          <p:spPr bwMode="auto">
            <a:xfrm>
              <a:off x="6609209" y="790981"/>
              <a:ext cx="2301875" cy="23082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6"/>
            <p:cNvSpPr>
              <a:spLocks noEditPoints="1"/>
            </p:cNvSpPr>
            <p:nvPr/>
          </p:nvSpPr>
          <p:spPr bwMode="auto">
            <a:xfrm>
              <a:off x="6733034" y="914806"/>
              <a:ext cx="2054225" cy="2058988"/>
            </a:xfrm>
            <a:custGeom>
              <a:avLst/>
              <a:gdLst>
                <a:gd name="T0" fmla="*/ 1653 w 3306"/>
                <a:gd name="T1" fmla="*/ 0 h 3306"/>
                <a:gd name="T2" fmla="*/ 3306 w 3306"/>
                <a:gd name="T3" fmla="*/ 1653 h 3306"/>
                <a:gd name="T4" fmla="*/ 1653 w 3306"/>
                <a:gd name="T5" fmla="*/ 3306 h 3306"/>
                <a:gd name="T6" fmla="*/ 0 w 3306"/>
                <a:gd name="T7" fmla="*/ 1653 h 3306"/>
                <a:gd name="T8" fmla="*/ 1653 w 3306"/>
                <a:gd name="T9" fmla="*/ 0 h 3306"/>
                <a:gd name="T10" fmla="*/ 1653 w 3306"/>
                <a:gd name="T11" fmla="*/ 112 h 3306"/>
                <a:gd name="T12" fmla="*/ 3193 w 3306"/>
                <a:gd name="T13" fmla="*/ 1653 h 3306"/>
                <a:gd name="T14" fmla="*/ 1653 w 3306"/>
                <a:gd name="T15" fmla="*/ 3193 h 3306"/>
                <a:gd name="T16" fmla="*/ 112 w 3306"/>
                <a:gd name="T17" fmla="*/ 1653 h 3306"/>
                <a:gd name="T18" fmla="*/ 1653 w 3306"/>
                <a:gd name="T19" fmla="*/ 112 h 3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06" h="3306">
                  <a:moveTo>
                    <a:pt x="1653" y="0"/>
                  </a:moveTo>
                  <a:cubicBezTo>
                    <a:pt x="2565" y="0"/>
                    <a:pt x="3306" y="740"/>
                    <a:pt x="3306" y="1653"/>
                  </a:cubicBezTo>
                  <a:cubicBezTo>
                    <a:pt x="3306" y="2565"/>
                    <a:pt x="2565" y="3306"/>
                    <a:pt x="1653" y="3306"/>
                  </a:cubicBezTo>
                  <a:cubicBezTo>
                    <a:pt x="740" y="3306"/>
                    <a:pt x="0" y="2565"/>
                    <a:pt x="0" y="1653"/>
                  </a:cubicBezTo>
                  <a:cubicBezTo>
                    <a:pt x="0" y="740"/>
                    <a:pt x="740" y="0"/>
                    <a:pt x="1653" y="0"/>
                  </a:cubicBezTo>
                  <a:close/>
                  <a:moveTo>
                    <a:pt x="1653" y="112"/>
                  </a:moveTo>
                  <a:cubicBezTo>
                    <a:pt x="2503" y="112"/>
                    <a:pt x="3193" y="802"/>
                    <a:pt x="3193" y="1653"/>
                  </a:cubicBezTo>
                  <a:cubicBezTo>
                    <a:pt x="3193" y="2503"/>
                    <a:pt x="2503" y="3193"/>
                    <a:pt x="1653" y="3193"/>
                  </a:cubicBezTo>
                  <a:cubicBezTo>
                    <a:pt x="802" y="3193"/>
                    <a:pt x="112" y="2503"/>
                    <a:pt x="112" y="1653"/>
                  </a:cubicBezTo>
                  <a:cubicBezTo>
                    <a:pt x="112" y="802"/>
                    <a:pt x="802" y="112"/>
                    <a:pt x="1653" y="11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641998" y="3093059"/>
            <a:ext cx="6257970" cy="1938986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6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</a:t>
            </a:r>
            <a:r>
              <a:rPr lang="zh-CN" altLang="en-US" sz="48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dirty="0" smtClean="0">
                <a:solidFill>
                  <a:schemeClr val="accent2"/>
                </a:solidFill>
                <a:latin typeface="+mn-ea"/>
                <a:ea typeface="+mn-ea"/>
              </a:rPr>
              <a:t>  </a:t>
            </a:r>
            <a:r>
              <a:rPr lang="en-US" altLang="zh-CN" sz="3200" dirty="0" err="1">
                <a:solidFill>
                  <a:schemeClr val="accent2"/>
                </a:solidFill>
                <a:latin typeface="+mn-ea"/>
                <a:ea typeface="+mn-ea"/>
              </a:rPr>
              <a:t>Matplotlib</a:t>
            </a:r>
            <a:r>
              <a:rPr lang="zh-CN" altLang="zh-CN" sz="3200" dirty="0">
                <a:solidFill>
                  <a:schemeClr val="accent2"/>
                </a:solidFill>
                <a:latin typeface="+mn-ea"/>
                <a:ea typeface="+mn-ea"/>
              </a:rPr>
              <a:t>常用图</a:t>
            </a:r>
            <a:r>
              <a:rPr lang="zh-CN" altLang="zh-CN" sz="3200" dirty="0" smtClean="0">
                <a:solidFill>
                  <a:schemeClr val="accent2"/>
                </a:solidFill>
                <a:latin typeface="+mn-ea"/>
                <a:ea typeface="+mn-ea"/>
              </a:rPr>
              <a:t>形制</a:t>
            </a:r>
            <a:endParaRPr lang="zh-CN" altLang="zh-CN" sz="2800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ctr"/>
            <a:r>
              <a:rPr lang="zh-CN" altLang="en-US" sz="48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</a:t>
            </a:r>
            <a:endParaRPr lang="zh-CN" altLang="en-US" sz="4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2642016" y="4293096"/>
            <a:ext cx="691276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Freeform 12"/>
          <p:cNvSpPr>
            <a:spLocks noEditPoints="1"/>
          </p:cNvSpPr>
          <p:nvPr/>
        </p:nvSpPr>
        <p:spPr bwMode="auto">
          <a:xfrm>
            <a:off x="5517801" y="1904686"/>
            <a:ext cx="1161161" cy="1156273"/>
          </a:xfrm>
          <a:custGeom>
            <a:avLst/>
            <a:gdLst>
              <a:gd name="T0" fmla="*/ 862 w 954"/>
              <a:gd name="T1" fmla="*/ 813 h 944"/>
              <a:gd name="T2" fmla="*/ 763 w 954"/>
              <a:gd name="T3" fmla="*/ 813 h 944"/>
              <a:gd name="T4" fmla="*/ 625 w 954"/>
              <a:gd name="T5" fmla="*/ 549 h 944"/>
              <a:gd name="T6" fmla="*/ 611 w 954"/>
              <a:gd name="T7" fmla="*/ 601 h 944"/>
              <a:gd name="T8" fmla="*/ 535 w 954"/>
              <a:gd name="T9" fmla="*/ 658 h 944"/>
              <a:gd name="T10" fmla="*/ 782 w 954"/>
              <a:gd name="T11" fmla="*/ 932 h 944"/>
              <a:gd name="T12" fmla="*/ 941 w 954"/>
              <a:gd name="T13" fmla="*/ 826 h 944"/>
              <a:gd name="T14" fmla="*/ 824 w 954"/>
              <a:gd name="T15" fmla="*/ 704 h 944"/>
              <a:gd name="T16" fmla="*/ 650 w 954"/>
              <a:gd name="T17" fmla="*/ 561 h 944"/>
              <a:gd name="T18" fmla="*/ 345 w 954"/>
              <a:gd name="T19" fmla="*/ 335 h 944"/>
              <a:gd name="T20" fmla="*/ 397 w 954"/>
              <a:gd name="T21" fmla="*/ 321 h 944"/>
              <a:gd name="T22" fmla="*/ 411 w 954"/>
              <a:gd name="T23" fmla="*/ 269 h 944"/>
              <a:gd name="T24" fmla="*/ 423 w 954"/>
              <a:gd name="T25" fmla="*/ 221 h 944"/>
              <a:gd name="T26" fmla="*/ 184 w 954"/>
              <a:gd name="T27" fmla="*/ 21 h 944"/>
              <a:gd name="T28" fmla="*/ 151 w 954"/>
              <a:gd name="T29" fmla="*/ 267 h 944"/>
              <a:gd name="T30" fmla="*/ 1 w 954"/>
              <a:gd name="T31" fmla="*/ 204 h 944"/>
              <a:gd name="T32" fmla="*/ 284 w 954"/>
              <a:gd name="T33" fmla="*/ 406 h 944"/>
              <a:gd name="T34" fmla="*/ 320 w 954"/>
              <a:gd name="T35" fmla="*/ 360 h 944"/>
              <a:gd name="T36" fmla="*/ 920 w 954"/>
              <a:gd name="T37" fmla="*/ 91 h 944"/>
              <a:gd name="T38" fmla="*/ 791 w 954"/>
              <a:gd name="T39" fmla="*/ 0 h 944"/>
              <a:gd name="T40" fmla="*/ 448 w 954"/>
              <a:gd name="T41" fmla="*/ 306 h 944"/>
              <a:gd name="T42" fmla="*/ 399 w 954"/>
              <a:gd name="T43" fmla="*/ 376 h 944"/>
              <a:gd name="T44" fmla="*/ 357 w 954"/>
              <a:gd name="T45" fmla="*/ 397 h 944"/>
              <a:gd name="T46" fmla="*/ 362 w 954"/>
              <a:gd name="T47" fmla="*/ 527 h 944"/>
              <a:gd name="T48" fmla="*/ 85 w 954"/>
              <a:gd name="T49" fmla="*/ 768 h 944"/>
              <a:gd name="T50" fmla="*/ 55 w 954"/>
              <a:gd name="T51" fmla="*/ 944 h 944"/>
              <a:gd name="T52" fmla="*/ 198 w 954"/>
              <a:gd name="T53" fmla="*/ 800 h 944"/>
              <a:gd name="T54" fmla="*/ 423 w 954"/>
              <a:gd name="T55" fmla="*/ 588 h 944"/>
              <a:gd name="T56" fmla="*/ 549 w 954"/>
              <a:gd name="T57" fmla="*/ 588 h 944"/>
              <a:gd name="T58" fmla="*/ 585 w 954"/>
              <a:gd name="T59" fmla="*/ 509 h 944"/>
              <a:gd name="T60" fmla="*/ 639 w 954"/>
              <a:gd name="T61" fmla="*/ 498 h 944"/>
              <a:gd name="T62" fmla="*/ 920 w 954"/>
              <a:gd name="T63" fmla="*/ 91 h 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54" h="944">
                <a:moveTo>
                  <a:pt x="813" y="764"/>
                </a:moveTo>
                <a:cubicBezTo>
                  <a:pt x="840" y="764"/>
                  <a:pt x="862" y="786"/>
                  <a:pt x="862" y="813"/>
                </a:cubicBezTo>
                <a:cubicBezTo>
                  <a:pt x="862" y="841"/>
                  <a:pt x="840" y="863"/>
                  <a:pt x="813" y="863"/>
                </a:cubicBezTo>
                <a:cubicBezTo>
                  <a:pt x="786" y="863"/>
                  <a:pt x="763" y="841"/>
                  <a:pt x="763" y="813"/>
                </a:cubicBezTo>
                <a:cubicBezTo>
                  <a:pt x="763" y="786"/>
                  <a:pt x="786" y="764"/>
                  <a:pt x="813" y="764"/>
                </a:cubicBezTo>
                <a:close/>
                <a:moveTo>
                  <a:pt x="625" y="549"/>
                </a:moveTo>
                <a:lnTo>
                  <a:pt x="637" y="574"/>
                </a:lnTo>
                <a:lnTo>
                  <a:pt x="611" y="601"/>
                </a:lnTo>
                <a:lnTo>
                  <a:pt x="586" y="625"/>
                </a:lnTo>
                <a:cubicBezTo>
                  <a:pt x="571" y="640"/>
                  <a:pt x="554" y="651"/>
                  <a:pt x="535" y="658"/>
                </a:cubicBezTo>
                <a:lnTo>
                  <a:pt x="703" y="826"/>
                </a:lnTo>
                <a:lnTo>
                  <a:pt x="782" y="932"/>
                </a:lnTo>
                <a:lnTo>
                  <a:pt x="824" y="943"/>
                </a:lnTo>
                <a:lnTo>
                  <a:pt x="941" y="826"/>
                </a:lnTo>
                <a:lnTo>
                  <a:pt x="930" y="783"/>
                </a:lnTo>
                <a:lnTo>
                  <a:pt x="824" y="704"/>
                </a:lnTo>
                <a:lnTo>
                  <a:pt x="666" y="546"/>
                </a:lnTo>
                <a:lnTo>
                  <a:pt x="650" y="561"/>
                </a:lnTo>
                <a:lnTo>
                  <a:pt x="625" y="549"/>
                </a:lnTo>
                <a:close/>
                <a:moveTo>
                  <a:pt x="345" y="335"/>
                </a:moveTo>
                <a:lnTo>
                  <a:pt x="372" y="308"/>
                </a:lnTo>
                <a:lnTo>
                  <a:pt x="397" y="321"/>
                </a:lnTo>
                <a:lnTo>
                  <a:pt x="384" y="296"/>
                </a:lnTo>
                <a:lnTo>
                  <a:pt x="411" y="269"/>
                </a:lnTo>
                <a:lnTo>
                  <a:pt x="414" y="266"/>
                </a:lnTo>
                <a:cubicBezTo>
                  <a:pt x="420" y="251"/>
                  <a:pt x="423" y="235"/>
                  <a:pt x="423" y="221"/>
                </a:cubicBezTo>
                <a:cubicBezTo>
                  <a:pt x="423" y="108"/>
                  <a:pt x="316" y="0"/>
                  <a:pt x="204" y="1"/>
                </a:cubicBezTo>
                <a:cubicBezTo>
                  <a:pt x="203" y="1"/>
                  <a:pt x="191" y="14"/>
                  <a:pt x="184" y="21"/>
                </a:cubicBezTo>
                <a:cubicBezTo>
                  <a:pt x="274" y="111"/>
                  <a:pt x="266" y="96"/>
                  <a:pt x="266" y="151"/>
                </a:cubicBezTo>
                <a:cubicBezTo>
                  <a:pt x="266" y="196"/>
                  <a:pt x="195" y="267"/>
                  <a:pt x="151" y="267"/>
                </a:cubicBezTo>
                <a:cubicBezTo>
                  <a:pt x="94" y="267"/>
                  <a:pt x="112" y="276"/>
                  <a:pt x="20" y="184"/>
                </a:cubicBezTo>
                <a:cubicBezTo>
                  <a:pt x="13" y="191"/>
                  <a:pt x="1" y="204"/>
                  <a:pt x="1" y="204"/>
                </a:cubicBezTo>
                <a:cubicBezTo>
                  <a:pt x="2" y="316"/>
                  <a:pt x="108" y="424"/>
                  <a:pt x="220" y="424"/>
                </a:cubicBezTo>
                <a:cubicBezTo>
                  <a:pt x="240" y="424"/>
                  <a:pt x="262" y="417"/>
                  <a:pt x="284" y="406"/>
                </a:cubicBezTo>
                <a:lnTo>
                  <a:pt x="288" y="411"/>
                </a:lnTo>
                <a:cubicBezTo>
                  <a:pt x="295" y="392"/>
                  <a:pt x="305" y="375"/>
                  <a:pt x="320" y="360"/>
                </a:cubicBezTo>
                <a:lnTo>
                  <a:pt x="345" y="335"/>
                </a:lnTo>
                <a:close/>
                <a:moveTo>
                  <a:pt x="920" y="91"/>
                </a:moveTo>
                <a:lnTo>
                  <a:pt x="854" y="26"/>
                </a:lnTo>
                <a:cubicBezTo>
                  <a:pt x="837" y="9"/>
                  <a:pt x="814" y="0"/>
                  <a:pt x="791" y="0"/>
                </a:cubicBezTo>
                <a:cubicBezTo>
                  <a:pt x="768" y="0"/>
                  <a:pt x="746" y="9"/>
                  <a:pt x="728" y="26"/>
                </a:cubicBezTo>
                <a:lnTo>
                  <a:pt x="448" y="306"/>
                </a:lnTo>
                <a:cubicBezTo>
                  <a:pt x="457" y="323"/>
                  <a:pt x="450" y="348"/>
                  <a:pt x="437" y="361"/>
                </a:cubicBezTo>
                <a:cubicBezTo>
                  <a:pt x="428" y="370"/>
                  <a:pt x="413" y="376"/>
                  <a:pt x="399" y="376"/>
                </a:cubicBezTo>
                <a:cubicBezTo>
                  <a:pt x="393" y="376"/>
                  <a:pt x="387" y="375"/>
                  <a:pt x="382" y="372"/>
                </a:cubicBezTo>
                <a:lnTo>
                  <a:pt x="357" y="397"/>
                </a:lnTo>
                <a:cubicBezTo>
                  <a:pt x="323" y="432"/>
                  <a:pt x="323" y="488"/>
                  <a:pt x="357" y="523"/>
                </a:cubicBezTo>
                <a:lnTo>
                  <a:pt x="362" y="527"/>
                </a:lnTo>
                <a:lnTo>
                  <a:pt x="143" y="746"/>
                </a:lnTo>
                <a:lnTo>
                  <a:pt x="85" y="768"/>
                </a:lnTo>
                <a:lnTo>
                  <a:pt x="0" y="889"/>
                </a:lnTo>
                <a:lnTo>
                  <a:pt x="55" y="944"/>
                </a:lnTo>
                <a:lnTo>
                  <a:pt x="176" y="859"/>
                </a:lnTo>
                <a:lnTo>
                  <a:pt x="198" y="800"/>
                </a:lnTo>
                <a:lnTo>
                  <a:pt x="416" y="582"/>
                </a:lnTo>
                <a:lnTo>
                  <a:pt x="423" y="588"/>
                </a:lnTo>
                <a:cubicBezTo>
                  <a:pt x="440" y="606"/>
                  <a:pt x="463" y="614"/>
                  <a:pt x="486" y="614"/>
                </a:cubicBezTo>
                <a:cubicBezTo>
                  <a:pt x="509" y="614"/>
                  <a:pt x="531" y="606"/>
                  <a:pt x="549" y="588"/>
                </a:cubicBezTo>
                <a:lnTo>
                  <a:pt x="574" y="564"/>
                </a:lnTo>
                <a:cubicBezTo>
                  <a:pt x="565" y="547"/>
                  <a:pt x="572" y="522"/>
                  <a:pt x="585" y="509"/>
                </a:cubicBezTo>
                <a:cubicBezTo>
                  <a:pt x="594" y="500"/>
                  <a:pt x="609" y="494"/>
                  <a:pt x="622" y="494"/>
                </a:cubicBezTo>
                <a:cubicBezTo>
                  <a:pt x="629" y="494"/>
                  <a:pt x="634" y="495"/>
                  <a:pt x="639" y="498"/>
                </a:cubicBezTo>
                <a:lnTo>
                  <a:pt x="920" y="217"/>
                </a:lnTo>
                <a:cubicBezTo>
                  <a:pt x="954" y="183"/>
                  <a:pt x="954" y="126"/>
                  <a:pt x="920" y="9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6" name="Oval 39"/>
          <p:cNvSpPr>
            <a:spLocks noChangeAspect="1" noChangeArrowheads="1"/>
          </p:cNvSpPr>
          <p:nvPr/>
        </p:nvSpPr>
        <p:spPr bwMode="auto">
          <a:xfrm>
            <a:off x="3841074" y="4855189"/>
            <a:ext cx="216000" cy="217227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19" name="Oval 42"/>
          <p:cNvSpPr>
            <a:spLocks noChangeAspect="1" noChangeArrowheads="1"/>
          </p:cNvSpPr>
          <p:nvPr/>
        </p:nvSpPr>
        <p:spPr bwMode="auto">
          <a:xfrm>
            <a:off x="6494612" y="4855189"/>
            <a:ext cx="216000" cy="217227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04292" y="4763746"/>
            <a:ext cx="2264888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r>
              <a:rPr lang="zh-CN" altLang="en-US" sz="2000" dirty="0" smtClean="0">
                <a:solidFill>
                  <a:schemeClr val="accent2"/>
                </a:solidFill>
                <a:latin typeface="+mn-ea"/>
                <a:ea typeface="+mn-ea"/>
              </a:rPr>
              <a:t>实现各种图表</a:t>
            </a:r>
            <a:endParaRPr lang="zh-CN" altLang="en-US" sz="20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24109" y="4678673"/>
            <a:ext cx="2946680" cy="499618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z="2000" dirty="0" smtClean="0">
                <a:solidFill>
                  <a:schemeClr val="accent2"/>
                </a:solidFill>
              </a:rPr>
              <a:t>图表</a:t>
            </a:r>
            <a:r>
              <a:rPr lang="zh-CN" altLang="en-US" sz="2000" dirty="0" smtClean="0">
                <a:solidFill>
                  <a:schemeClr val="accent2"/>
                </a:solidFill>
              </a:rPr>
              <a:t>内涵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en-US" altLang="zh-CN" sz="28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Matplotlib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常用图形绘制背景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4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7821" y="836712"/>
            <a:ext cx="9145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en-US" altLang="zh-CN" sz="2400" dirty="0" err="1"/>
              <a:t>Matplotlib</a:t>
            </a:r>
            <a:r>
              <a:rPr lang="zh-CN" altLang="zh-CN" sz="2400" dirty="0"/>
              <a:t>绘制的常用图形包括散点图、线性图、柱状图、直方图、饼图、箱线图和子图。本节中绘图使用的数据文件为：车次上车人数统计表</a:t>
            </a:r>
            <a:r>
              <a:rPr lang="en-US" altLang="zh-CN" sz="2400" dirty="0"/>
              <a:t>.</a:t>
            </a:r>
            <a:r>
              <a:rPr lang="en-US" altLang="zh-CN" sz="2400" dirty="0" err="1"/>
              <a:t>xls</a:t>
            </a:r>
            <a:r>
              <a:rPr lang="zh-CN" altLang="zh-CN" sz="2400" dirty="0"/>
              <a:t>，其表结构如表</a:t>
            </a:r>
            <a:r>
              <a:rPr lang="en-US" altLang="zh-CN" sz="2400" dirty="0"/>
              <a:t>4-2</a:t>
            </a:r>
            <a:r>
              <a:rPr lang="zh-CN" altLang="zh-CN" sz="2400" dirty="0"/>
              <a:t>所示。</a:t>
            </a:r>
            <a:endParaRPr lang="zh-CN" altLang="zh-CN" sz="2400" dirty="0"/>
          </a:p>
        </p:txBody>
      </p:sp>
      <p:sp>
        <p:nvSpPr>
          <p:cNvPr id="8" name="矩形 7"/>
          <p:cNvSpPr/>
          <p:nvPr/>
        </p:nvSpPr>
        <p:spPr>
          <a:xfrm>
            <a:off x="3290099" y="2096832"/>
            <a:ext cx="3082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 </a:t>
            </a:r>
            <a:r>
              <a:rPr lang="zh-CN" altLang="zh-CN" dirty="0"/>
              <a:t>表</a:t>
            </a:r>
            <a:r>
              <a:rPr lang="en-US" altLang="zh-CN" dirty="0"/>
              <a:t>4-2   </a:t>
            </a:r>
            <a:r>
              <a:rPr lang="zh-CN" altLang="zh-CN" dirty="0"/>
              <a:t>车次上车人数统计表</a:t>
            </a:r>
            <a:endParaRPr lang="zh-CN" altLang="en-US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566807" y="2564904"/>
          <a:ext cx="7416822" cy="3312564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085981"/>
                <a:gridCol w="2483311"/>
                <a:gridCol w="2847530"/>
              </a:tblGrid>
              <a:tr h="2760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车次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日期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上车人数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760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D02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20150101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2143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760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D02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20150102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856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760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D02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20150106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860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760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D02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20150104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1011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760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D02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20150105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807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760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D02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20150103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761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760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D02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20150107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803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760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D02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20150108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732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760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D02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20150109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753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760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D03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20150110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888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760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1705893" y="6033400"/>
            <a:ext cx="74832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dirty="0"/>
              <a:t>表中一共有</a:t>
            </a:r>
            <a:r>
              <a:rPr lang="en-US" altLang="zh-CN" dirty="0"/>
              <a:t>D02~D06</a:t>
            </a:r>
            <a:r>
              <a:rPr lang="zh-CN" altLang="zh-CN" dirty="0"/>
              <a:t>车次</a:t>
            </a:r>
            <a:r>
              <a:rPr lang="en-US" altLang="zh-CN" dirty="0"/>
              <a:t>20150101~20150124</a:t>
            </a:r>
            <a:r>
              <a:rPr lang="zh-CN" altLang="zh-CN" dirty="0"/>
              <a:t>日的上车人数统计数据。</a:t>
            </a:r>
            <a:endParaRPr lang="zh-CN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4.2.1 </a:t>
            </a:r>
            <a:r>
              <a:rPr lang="zh-CN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散点图</a:t>
            </a:r>
            <a:endParaRPr lang="zh-CN" altLang="zh-CN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涵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895121" y="764704"/>
            <a:ext cx="1031582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indent="457200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散点图又称为散点分布图，是以利用坐标点（散点）的分布形态反映特征间的相关关系的一种图形。散点图的绘图函数为：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scatter(x, y, [</a:t>
            </a:r>
            <a:r>
              <a:rPr kumimoji="0"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可选项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])</a:t>
            </a:r>
            <a:r>
              <a:rPr kumimoji="0"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。其中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表示横轴坐标数据列，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kumimoji="0"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表示纵轴坐标数据列，可选项包含颜色、透明度等。使用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scatter</a:t>
            </a:r>
            <a:r>
              <a:rPr kumimoji="0"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函数绘制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D02</a:t>
            </a:r>
            <a:r>
              <a:rPr kumimoji="0"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车次每日上车人数散点图示例代码如下：</a:t>
            </a:r>
            <a:endParaRPr kumimoji="0"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69753" y="2099291"/>
            <a:ext cx="1007940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2" name="矩形 1"/>
          <p:cNvSpPr/>
          <p:nvPr/>
        </p:nvSpPr>
        <p:spPr>
          <a:xfrm>
            <a:off x="985813" y="2276872"/>
            <a:ext cx="731686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import pandas as </a:t>
            </a:r>
            <a:r>
              <a:rPr lang="en-US" altLang="zh-CN" sz="1600" dirty="0" err="1"/>
              <a:t>pd</a:t>
            </a:r>
            <a:endParaRPr lang="zh-CN" altLang="zh-CN" sz="1600" dirty="0"/>
          </a:p>
          <a:p>
            <a:r>
              <a:rPr lang="en-US" altLang="zh-CN" sz="1600" dirty="0"/>
              <a:t>import </a:t>
            </a:r>
            <a:r>
              <a:rPr lang="en-US" altLang="zh-CN" sz="1600" dirty="0" err="1"/>
              <a:t>numpy</a:t>
            </a:r>
            <a:r>
              <a:rPr lang="en-US" altLang="zh-CN" sz="1600" dirty="0"/>
              <a:t> as </a:t>
            </a:r>
            <a:r>
              <a:rPr lang="en-US" altLang="zh-CN" sz="1600" dirty="0" err="1"/>
              <a:t>np</a:t>
            </a:r>
            <a:endParaRPr lang="zh-CN" altLang="zh-CN" sz="1600" dirty="0"/>
          </a:p>
          <a:p>
            <a:r>
              <a:rPr lang="en-US" altLang="zh-CN" sz="1600" dirty="0"/>
              <a:t>import </a:t>
            </a:r>
            <a:r>
              <a:rPr lang="en-US" altLang="zh-CN" sz="1600" dirty="0" err="1"/>
              <a:t>matplotlib.pyplot</a:t>
            </a:r>
            <a:r>
              <a:rPr lang="en-US" altLang="zh-CN" sz="1600" dirty="0"/>
              <a:t> as </a:t>
            </a:r>
            <a:r>
              <a:rPr lang="en-US" altLang="zh-CN" sz="1600" dirty="0" err="1"/>
              <a:t>plt</a:t>
            </a:r>
            <a:endParaRPr lang="zh-CN" altLang="zh-CN" sz="1600" dirty="0"/>
          </a:p>
          <a:p>
            <a:r>
              <a:rPr lang="en-US" altLang="zh-CN" sz="1600" dirty="0"/>
              <a:t>path='</a:t>
            </a:r>
            <a:r>
              <a:rPr lang="zh-CN" altLang="zh-CN" sz="1600" dirty="0"/>
              <a:t>一、车次上车人数统计表</a:t>
            </a:r>
            <a:r>
              <a:rPr lang="en-US" altLang="zh-CN" sz="1600" dirty="0"/>
              <a:t>.</a:t>
            </a:r>
            <a:r>
              <a:rPr lang="en-US" altLang="zh-CN" sz="1600" dirty="0" err="1"/>
              <a:t>xlsx</a:t>
            </a:r>
            <a:r>
              <a:rPr lang="en-US" altLang="zh-CN" sz="1600" dirty="0"/>
              <a:t>';</a:t>
            </a:r>
            <a:endParaRPr lang="zh-CN" altLang="zh-CN" sz="1600" dirty="0"/>
          </a:p>
          <a:p>
            <a:r>
              <a:rPr lang="en-US" altLang="zh-CN" sz="1600" dirty="0"/>
              <a:t>data=</a:t>
            </a:r>
            <a:r>
              <a:rPr lang="en-US" altLang="zh-CN" sz="1600" dirty="0" err="1"/>
              <a:t>pd.read_excel</a:t>
            </a:r>
            <a:r>
              <a:rPr lang="en-US" altLang="zh-CN" sz="1600" dirty="0"/>
              <a:t>(path);</a:t>
            </a:r>
            <a:endParaRPr lang="zh-CN" altLang="zh-CN" sz="1600" dirty="0"/>
          </a:p>
          <a:p>
            <a:r>
              <a:rPr lang="en-US" altLang="zh-CN" sz="1600" dirty="0" err="1"/>
              <a:t>tb</a:t>
            </a:r>
            <a:r>
              <a:rPr lang="en-US" altLang="zh-CN" sz="1600" dirty="0"/>
              <a:t>=</a:t>
            </a:r>
            <a:r>
              <a:rPr lang="en-US" altLang="zh-CN" sz="1600" dirty="0" err="1"/>
              <a:t>data.loc</a:t>
            </a:r>
            <a:r>
              <a:rPr lang="en-US" altLang="zh-CN" sz="1600" dirty="0"/>
              <a:t>[data['</a:t>
            </a:r>
            <a:r>
              <a:rPr lang="zh-CN" altLang="zh-CN" sz="1600" dirty="0"/>
              <a:t>车次</a:t>
            </a:r>
            <a:r>
              <a:rPr lang="en-US" altLang="zh-CN" sz="1600" dirty="0"/>
              <a:t>'] == 'D02',['</a:t>
            </a:r>
            <a:r>
              <a:rPr lang="zh-CN" altLang="zh-CN" sz="1600" dirty="0"/>
              <a:t>日期</a:t>
            </a:r>
            <a:r>
              <a:rPr lang="en-US" altLang="zh-CN" sz="1600" dirty="0"/>
              <a:t>','</a:t>
            </a:r>
            <a:r>
              <a:rPr lang="zh-CN" altLang="zh-CN" sz="1600" dirty="0"/>
              <a:t>上车人数</a:t>
            </a:r>
            <a:r>
              <a:rPr lang="en-US" altLang="zh-CN" sz="1600" dirty="0"/>
              <a:t>']].</a:t>
            </a:r>
            <a:r>
              <a:rPr lang="en-US" altLang="zh-CN" sz="1600" dirty="0" err="1"/>
              <a:t>sort_values</a:t>
            </a:r>
            <a:r>
              <a:rPr lang="en-US" altLang="zh-CN" sz="1600" dirty="0"/>
              <a:t>('</a:t>
            </a:r>
            <a:r>
              <a:rPr lang="zh-CN" altLang="zh-CN" sz="1600" dirty="0"/>
              <a:t>日期</a:t>
            </a:r>
            <a:r>
              <a:rPr lang="en-US" altLang="zh-CN" sz="1600" dirty="0"/>
              <a:t>');</a:t>
            </a:r>
            <a:endParaRPr lang="zh-CN" altLang="zh-CN" sz="1600" dirty="0"/>
          </a:p>
          <a:p>
            <a:r>
              <a:rPr lang="en-US" altLang="zh-CN" sz="1600" dirty="0"/>
              <a:t>x=</a:t>
            </a:r>
            <a:r>
              <a:rPr lang="en-US" altLang="zh-CN" sz="1600" dirty="0" err="1"/>
              <a:t>np.arange</a:t>
            </a:r>
            <a:r>
              <a:rPr lang="en-US" altLang="zh-CN" sz="1600" dirty="0"/>
              <a:t>(1,len(</a:t>
            </a:r>
            <a:r>
              <a:rPr lang="en-US" altLang="zh-CN" sz="1600" dirty="0" err="1"/>
              <a:t>tb.iloc</a:t>
            </a:r>
            <a:r>
              <a:rPr lang="en-US" altLang="zh-CN" sz="1600" dirty="0"/>
              <a:t>[:,0])+1)</a:t>
            </a:r>
            <a:endParaRPr lang="zh-CN" altLang="zh-CN" sz="1600" dirty="0"/>
          </a:p>
          <a:p>
            <a:r>
              <a:rPr lang="en-US" altLang="zh-CN" sz="1600" dirty="0"/>
              <a:t>y1=</a:t>
            </a:r>
            <a:r>
              <a:rPr lang="en-US" altLang="zh-CN" sz="1600" dirty="0" err="1"/>
              <a:t>tb.iloc</a:t>
            </a:r>
            <a:r>
              <a:rPr lang="en-US" altLang="zh-CN" sz="1600" dirty="0"/>
              <a:t>[:,1]</a:t>
            </a:r>
            <a:endParaRPr lang="zh-CN" altLang="zh-CN" sz="1600" dirty="0"/>
          </a:p>
          <a:p>
            <a:r>
              <a:rPr lang="en-US" altLang="zh-CN" sz="1600" dirty="0" err="1"/>
              <a:t>plt.rcParams</a:t>
            </a:r>
            <a:r>
              <a:rPr lang="en-US" altLang="zh-CN" sz="1600" dirty="0"/>
              <a:t>['</a:t>
            </a:r>
            <a:r>
              <a:rPr lang="en-US" altLang="zh-CN" sz="1600" dirty="0" err="1"/>
              <a:t>font.sans</a:t>
            </a:r>
            <a:r>
              <a:rPr lang="en-US" altLang="zh-CN" sz="1600" dirty="0"/>
              <a:t>-serif'] = '</a:t>
            </a:r>
            <a:r>
              <a:rPr lang="en-US" altLang="zh-CN" sz="1600" dirty="0" err="1"/>
              <a:t>SimHei</a:t>
            </a:r>
            <a:r>
              <a:rPr lang="en-US" altLang="zh-CN" sz="1600" dirty="0"/>
              <a:t>'     # </a:t>
            </a:r>
            <a:r>
              <a:rPr lang="zh-CN" altLang="zh-CN" sz="1600" dirty="0"/>
              <a:t>设置字体为</a:t>
            </a:r>
            <a:r>
              <a:rPr lang="en-US" altLang="zh-CN" sz="1600" dirty="0" err="1"/>
              <a:t>SimHei</a:t>
            </a:r>
            <a:endParaRPr lang="zh-CN" altLang="zh-CN" sz="1600" dirty="0"/>
          </a:p>
          <a:p>
            <a:r>
              <a:rPr lang="en-US" altLang="zh-CN" sz="1600" dirty="0" err="1"/>
              <a:t>plt.scatter</a:t>
            </a:r>
            <a:r>
              <a:rPr lang="en-US" altLang="zh-CN" sz="1600" dirty="0"/>
              <a:t>(x,y1)</a:t>
            </a:r>
            <a:endParaRPr lang="zh-CN" altLang="zh-CN" sz="1600" dirty="0"/>
          </a:p>
          <a:p>
            <a:r>
              <a:rPr lang="en-US" altLang="zh-CN" sz="1600" dirty="0" err="1"/>
              <a:t>plt.xlabel</a:t>
            </a:r>
            <a:r>
              <a:rPr lang="en-US" altLang="zh-CN" sz="1600" dirty="0"/>
              <a:t>('</a:t>
            </a:r>
            <a:r>
              <a:rPr lang="zh-CN" altLang="zh-CN" sz="1600" dirty="0"/>
              <a:t>日期</a:t>
            </a:r>
            <a:r>
              <a:rPr lang="en-US" altLang="zh-CN" sz="1600" dirty="0"/>
              <a:t>')</a:t>
            </a:r>
            <a:endParaRPr lang="zh-CN" altLang="zh-CN" sz="1600" dirty="0"/>
          </a:p>
          <a:p>
            <a:r>
              <a:rPr lang="en-US" altLang="zh-CN" sz="1600" dirty="0" err="1"/>
              <a:t>plt.ylabel</a:t>
            </a:r>
            <a:r>
              <a:rPr lang="en-US" altLang="zh-CN" sz="1600" dirty="0"/>
              <a:t>('</a:t>
            </a:r>
            <a:r>
              <a:rPr lang="zh-CN" altLang="zh-CN" sz="1600" dirty="0"/>
              <a:t>上车人数</a:t>
            </a:r>
            <a:r>
              <a:rPr lang="en-US" altLang="zh-CN" sz="1600" dirty="0"/>
              <a:t>')</a:t>
            </a:r>
            <a:endParaRPr lang="zh-CN" altLang="zh-CN" sz="1600" dirty="0"/>
          </a:p>
          <a:p>
            <a:r>
              <a:rPr lang="en-US" altLang="zh-CN" sz="1600" dirty="0" err="1"/>
              <a:t>plt.xticks</a:t>
            </a:r>
            <a:r>
              <a:rPr lang="en-US" altLang="zh-CN" sz="1600" dirty="0"/>
              <a:t>([1,5,10,15,20,24], </a:t>
            </a:r>
            <a:r>
              <a:rPr lang="en-US" altLang="zh-CN" sz="1600" dirty="0" err="1"/>
              <a:t>tb</a:t>
            </a:r>
            <a:r>
              <a:rPr lang="en-US" altLang="zh-CN" sz="1600" dirty="0"/>
              <a:t>['</a:t>
            </a:r>
            <a:r>
              <a:rPr lang="zh-CN" altLang="zh-CN" sz="1600" dirty="0"/>
              <a:t>日期</a:t>
            </a:r>
            <a:r>
              <a:rPr lang="en-US" altLang="zh-CN" sz="1600" dirty="0"/>
              <a:t>'].values[[0,4,9,14,19,23]], rotation = 45)</a:t>
            </a:r>
            <a:endParaRPr lang="zh-CN" altLang="zh-CN" sz="1600" dirty="0"/>
          </a:p>
          <a:p>
            <a:r>
              <a:rPr lang="en-US" altLang="zh-CN" sz="1600" dirty="0" err="1"/>
              <a:t>plt.title</a:t>
            </a:r>
            <a:r>
              <a:rPr lang="en-US" altLang="zh-CN" sz="1600" dirty="0"/>
              <a:t>('D02</a:t>
            </a:r>
            <a:r>
              <a:rPr lang="zh-CN" altLang="zh-CN" sz="1600" dirty="0"/>
              <a:t>车次上车人数散点图</a:t>
            </a:r>
            <a:r>
              <a:rPr lang="en-US" altLang="zh-CN" sz="1600" dirty="0" smtClean="0"/>
              <a:t>')</a:t>
            </a:r>
            <a:endParaRPr lang="en-US" altLang="zh-CN" sz="1600" dirty="0" smtClean="0"/>
          </a:p>
          <a:p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4.2.1 </a:t>
            </a:r>
            <a:r>
              <a:rPr lang="zh-CN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散点图</a:t>
            </a:r>
            <a:endParaRPr lang="zh-CN" altLang="zh-CN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涵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895121" y="764704"/>
            <a:ext cx="1031582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indent="457200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执行结果如图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4-8</a:t>
            </a:r>
            <a:r>
              <a:rPr kumimoji="0"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所</a:t>
            </a:r>
            <a:r>
              <a:rPr kumimoji="0" lang="zh-CN" altLang="en-US" sz="2000" dirty="0" smtClean="0">
                <a:solidFill>
                  <a:schemeClr val="tx1"/>
                </a:solidFill>
                <a:ea typeface="宋体" panose="02010600030101010101" pitchFamily="2" charset="-122"/>
              </a:rPr>
              <a:t>示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kumimoji="0" lang="zh-CN" altLang="zh-CN" sz="2000" dirty="0" smtClean="0">
                <a:solidFill>
                  <a:schemeClr val="tx1"/>
                </a:solidFill>
                <a:ea typeface="宋体" panose="02010600030101010101" pitchFamily="2" charset="-122"/>
              </a:rPr>
              <a:t>显示</a:t>
            </a:r>
            <a:r>
              <a:rPr kumimoji="0"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了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D02</a:t>
            </a:r>
            <a:r>
              <a:rPr kumimoji="0"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车次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2015</a:t>
            </a:r>
            <a:r>
              <a:rPr kumimoji="0"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年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kumimoji="0"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月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kumimoji="0"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日至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kumimoji="0"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月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24</a:t>
            </a:r>
            <a:r>
              <a:rPr kumimoji="0"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日的每日上车人数散点图，其中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kumimoji="0"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月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kumimoji="0" lang="zh-CN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日上车人数最多，主要原因是当天为元旦。本例中没有创建画布的命令，在绘图中系统默认创建</a:t>
            </a:r>
            <a:r>
              <a:rPr kumimoji="0" lang="zh-CN" altLang="zh-CN" sz="2000" dirty="0" smtClean="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  <a:endParaRPr kumimoji="0" lang="zh-CN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69753" y="1916832"/>
            <a:ext cx="1007940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1710320" y="2132856"/>
            <a:ext cx="7128792" cy="3528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30228" y="5764614"/>
            <a:ext cx="1179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dirty="0"/>
              <a:t>图</a:t>
            </a:r>
            <a:r>
              <a:rPr lang="en-US" altLang="zh-CN" dirty="0"/>
              <a:t>4-8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4.2.2 </a:t>
            </a:r>
            <a:r>
              <a:rPr lang="zh-CN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线性图</a:t>
            </a:r>
            <a:endParaRPr lang="zh-CN" altLang="zh-CN" sz="2800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904750" y="764704"/>
            <a:ext cx="1031582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indent="457200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线性图的绘图函数为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plot(X,Y,[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可选项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])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，其中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表示横轴坐标数据列，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表示纵轴坐标数据列，可选项为绘图设置，包括图形类型：散点图、虚线图、实线图等；线条颜色：红、黄、蓝、绿等；数据点形状：星型、圆圈、三角形等。可选项一些示例说明如下：</a:t>
            </a:r>
            <a:endParaRPr kumimoji="0"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69789" y="2489727"/>
            <a:ext cx="1007940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4" name="矩形 3"/>
          <p:cNvSpPr/>
          <p:nvPr/>
        </p:nvSpPr>
        <p:spPr>
          <a:xfrm>
            <a:off x="1204523" y="2924944"/>
            <a:ext cx="950237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r*--    </a:t>
            </a:r>
            <a:r>
              <a:rPr lang="en-US" altLang="zh-CN" sz="2400" dirty="0" smtClean="0"/>
              <a:t>  </a:t>
            </a:r>
            <a:r>
              <a:rPr lang="zh-CN" altLang="zh-CN" sz="2400" dirty="0" smtClean="0"/>
              <a:t>表示</a:t>
            </a:r>
            <a:r>
              <a:rPr lang="zh-CN" altLang="zh-CN" sz="2400" dirty="0"/>
              <a:t>数据点为星型，图形类型为虚线图，线条颜色为红色</a:t>
            </a:r>
            <a:endParaRPr lang="zh-CN" altLang="zh-CN" sz="2400" dirty="0"/>
          </a:p>
          <a:p>
            <a:r>
              <a:rPr lang="en-US" altLang="zh-CN" sz="2400" dirty="0"/>
              <a:t>b*--    </a:t>
            </a:r>
            <a:r>
              <a:rPr lang="en-US" altLang="zh-CN" sz="2400" dirty="0" smtClean="0"/>
              <a:t>  </a:t>
            </a:r>
            <a:r>
              <a:rPr lang="zh-CN" altLang="zh-CN" sz="2400" dirty="0" smtClean="0"/>
              <a:t>表示</a:t>
            </a:r>
            <a:r>
              <a:rPr lang="zh-CN" altLang="zh-CN" sz="2400" dirty="0"/>
              <a:t>数据点为星型，图形类型为虚线图，线条颜色为蓝色</a:t>
            </a:r>
            <a:endParaRPr lang="zh-CN" altLang="zh-CN" sz="2400" dirty="0"/>
          </a:p>
          <a:p>
            <a:r>
              <a:rPr lang="en-US" altLang="zh-CN" sz="2400" dirty="0" err="1"/>
              <a:t>bo</a:t>
            </a:r>
            <a:r>
              <a:rPr lang="en-US" altLang="zh-CN" sz="2400" dirty="0"/>
              <a:t>     </a:t>
            </a:r>
            <a:r>
              <a:rPr lang="en-US" altLang="zh-CN" sz="2400" dirty="0" smtClean="0"/>
              <a:t>   </a:t>
            </a:r>
            <a:r>
              <a:rPr lang="zh-CN" altLang="zh-CN" sz="2400" dirty="0" smtClean="0"/>
              <a:t>表示</a:t>
            </a:r>
            <a:r>
              <a:rPr lang="zh-CN" altLang="zh-CN" sz="2400" dirty="0"/>
              <a:t>数据点为圆圈，图形类型为实线图（默认），</a:t>
            </a:r>
            <a:r>
              <a:rPr lang="zh-CN" altLang="zh-CN" sz="2400" dirty="0" smtClean="0"/>
              <a:t>线</a:t>
            </a:r>
            <a:r>
              <a:rPr lang="en-US" altLang="zh-CN" sz="2400" dirty="0" smtClean="0"/>
              <a:t>    </a:t>
            </a:r>
            <a:r>
              <a:rPr lang="zh-CN" altLang="zh-CN" sz="2400" dirty="0" smtClean="0"/>
              <a:t>条</a:t>
            </a:r>
            <a:r>
              <a:rPr lang="zh-CN" altLang="zh-CN" sz="2400" dirty="0"/>
              <a:t>颜色为蓝色</a:t>
            </a:r>
            <a:endParaRPr lang="zh-CN" altLang="zh-CN" sz="2400" dirty="0"/>
          </a:p>
          <a:p>
            <a:r>
              <a:rPr lang="en-US" altLang="zh-CN" sz="2400" dirty="0"/>
              <a:t>.       </a:t>
            </a:r>
            <a:r>
              <a:rPr lang="en-US" altLang="zh-CN" sz="2400" dirty="0" smtClean="0"/>
              <a:t>    </a:t>
            </a:r>
            <a:r>
              <a:rPr lang="zh-CN" altLang="zh-CN" sz="2400" dirty="0" smtClean="0"/>
              <a:t>表示</a:t>
            </a:r>
            <a:r>
              <a:rPr lang="zh-CN" altLang="zh-CN" sz="2400" dirty="0"/>
              <a:t>散点图</a:t>
            </a:r>
            <a:endParaRPr lang="zh-CN" altLang="zh-CN" sz="2400" dirty="0"/>
          </a:p>
          <a:p>
            <a:r>
              <a:rPr lang="zh-CN" altLang="zh-CN" sz="2400" dirty="0"/>
              <a:t>更多的设置说明及</a:t>
            </a:r>
            <a:r>
              <a:rPr lang="en-US" altLang="zh-CN" sz="2400" dirty="0"/>
              <a:t>plot</a:t>
            </a:r>
            <a:r>
              <a:rPr lang="zh-CN" altLang="zh-CN" sz="2400" dirty="0"/>
              <a:t>函数的使用方法，可以通过</a:t>
            </a:r>
            <a:r>
              <a:rPr lang="en-US" altLang="zh-CN" sz="2400" dirty="0"/>
              <a:t>help()</a:t>
            </a:r>
            <a:r>
              <a:rPr lang="zh-CN" altLang="zh-CN" sz="2400" dirty="0"/>
              <a:t>函数查看系统帮助，如图</a:t>
            </a:r>
            <a:r>
              <a:rPr lang="en-US" altLang="zh-CN" sz="2400" dirty="0"/>
              <a:t>4-9</a:t>
            </a:r>
            <a:r>
              <a:rPr lang="zh-CN" altLang="zh-CN" sz="2400" dirty="0"/>
              <a:t>所示。</a:t>
            </a:r>
            <a:endParaRPr lang="zh-CN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4.2.2 </a:t>
            </a:r>
            <a:r>
              <a:rPr lang="zh-CN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线性图</a:t>
            </a:r>
            <a:endParaRPr lang="zh-CN" altLang="zh-CN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895121" y="764704"/>
            <a:ext cx="1031582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indent="457200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图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4-9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显示了先执行导入</a:t>
            </a:r>
            <a:r>
              <a:rPr kumimoji="0"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pyplot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包命令：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import </a:t>
            </a:r>
            <a:r>
              <a:rPr kumimoji="0"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matplotlib.pyplot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 as </a:t>
            </a:r>
            <a:r>
              <a:rPr kumimoji="0"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plt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，接着以待查询函数</a:t>
            </a:r>
            <a:r>
              <a:rPr kumimoji="0"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plt.plot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为参数，调用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help()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函数，按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Enter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键即可获得</a:t>
            </a:r>
            <a:r>
              <a:rPr kumimoji="0"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plt.plot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()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函数的详细使用方法</a:t>
            </a:r>
            <a:r>
              <a:rPr kumimoji="0" lang="zh-CN" altLang="zh-CN" dirty="0" smtClean="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  <a:endParaRPr kumimoji="0" lang="zh-CN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69753" y="1916832"/>
            <a:ext cx="1007940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4" name="TextBox 3"/>
          <p:cNvSpPr txBox="1"/>
          <p:nvPr/>
        </p:nvSpPr>
        <p:spPr>
          <a:xfrm>
            <a:off x="4730228" y="5764614"/>
            <a:ext cx="1179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dirty="0"/>
              <a:t>图</a:t>
            </a:r>
            <a:r>
              <a:rPr lang="en-US" altLang="zh-CN" dirty="0" smtClean="0"/>
              <a:t>4-9</a:t>
            </a:r>
            <a:endParaRPr lang="zh-CN" altLang="en-US" dirty="0"/>
          </a:p>
        </p:txBody>
      </p:sp>
      <p:pic>
        <p:nvPicPr>
          <p:cNvPr id="9" name="图片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33885" y="2367280"/>
            <a:ext cx="8280920" cy="3397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4.2.2 </a:t>
            </a:r>
            <a:r>
              <a:rPr lang="zh-CN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线性图</a:t>
            </a:r>
            <a:endParaRPr lang="zh-CN" altLang="zh-CN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7651" y="1484784"/>
            <a:ext cx="550094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import pandas as 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pd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import 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numpy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 as 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np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import 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matplotlib.pyplot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 as 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plt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 #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导入绘图库中的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pyplot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模块，并且简称为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plt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。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#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读取数据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path='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一、车次上车人数统计表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.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xlsx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';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data=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pd.read_excel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(path);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#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筛选数据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tb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=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data.loc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[data['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车次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'] == 'D02',['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日期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','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上车人数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']];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tb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=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tb.sort_values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('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日期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');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tb1=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data.loc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[data['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车次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'] == 'D03',['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日期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','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上车人数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']];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tb1=tb1.sort_values('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日期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');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#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构造绘图所需的横轴数据列和纵轴数据列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x=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np.arange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(1,len(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tb.iloc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[:,0])+1)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y1=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tb.iloc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[:,1]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y2=tb1.iloc[:,1]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999516" y="1484784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# 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定义绘图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figure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界面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plt.figure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(1)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#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在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figure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界面上绘制两个线性图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plt.rcParams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['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font.sans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-serif'] = '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SimHei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'    # 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设置字体为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SimHei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plt.plot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(x,y1,'r*--')  #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红色“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*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”号连续图，绘制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D02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车次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plt.plot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(x,y2,'b*--')  #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蓝色“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*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”号连续图，绘制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D03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车次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# 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对横轴和纵轴打上中文标签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plt.xlabel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('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日期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')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plt.ylabel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('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上车人数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')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#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定义图像的标题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plt.title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('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上车人数走势图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')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#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定义两个连续图的区别标签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plt.legend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(['D02','D03'])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plt.xticks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([1,5,10,15,20,24], </a:t>
            </a: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tb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['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日期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'].values[[0,4,9,14,19,23]], rotation = 45) 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#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保存图片，命名为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myfigure1</a:t>
            </a:r>
            <a:r>
              <a:rPr lang="zh-CN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。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plt.savefig</a:t>
            </a:r>
            <a:r>
              <a:rPr lang="en-US" altLang="zh-CN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('myfigure1')</a:t>
            </a:r>
            <a:endParaRPr lang="zh-CN" altLang="zh-CN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659011"/>
            <a:ext cx="55146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D02</a:t>
            </a:r>
            <a:r>
              <a:rPr lang="zh-CN" altLang="zh-CN" sz="2000" b="1" dirty="0"/>
              <a:t>、</a:t>
            </a:r>
            <a:r>
              <a:rPr lang="en-US" altLang="zh-CN" sz="2000" b="1" dirty="0"/>
              <a:t>D03</a:t>
            </a:r>
            <a:r>
              <a:rPr lang="zh-CN" altLang="zh-CN" sz="2000" b="1" dirty="0"/>
              <a:t>车次上车人数线性图示例代码如下：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4.2.2 </a:t>
            </a:r>
            <a:r>
              <a:rPr lang="zh-CN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线性图</a:t>
            </a:r>
            <a:endParaRPr lang="zh-CN" altLang="zh-CN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1777901" y="1340768"/>
            <a:ext cx="8145536" cy="4104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49689" y="5701898"/>
            <a:ext cx="1179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dirty="0"/>
              <a:t>图</a:t>
            </a:r>
            <a:r>
              <a:rPr lang="en-US" altLang="zh-CN" dirty="0" smtClean="0"/>
              <a:t>4-10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0626" y="735908"/>
            <a:ext cx="2520279" cy="369326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zh-CN" altLang="zh-CN" dirty="0"/>
              <a:t>执行结果如图</a:t>
            </a:r>
            <a:r>
              <a:rPr lang="en-US" altLang="zh-CN" dirty="0"/>
              <a:t>4-10</a:t>
            </a:r>
            <a:r>
              <a:rPr lang="zh-CN" altLang="zh-CN" dirty="0"/>
              <a:t>所</a:t>
            </a:r>
            <a:r>
              <a:rPr lang="zh-CN" altLang="zh-CN" dirty="0" smtClean="0"/>
              <a:t>示</a:t>
            </a:r>
            <a:r>
              <a:rPr lang="en-US" altLang="zh-CN" dirty="0" smtClean="0"/>
              <a:t>: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4.2.2 </a:t>
            </a:r>
            <a:r>
              <a:rPr lang="zh-CN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线性图</a:t>
            </a:r>
            <a:endParaRPr lang="zh-CN" altLang="zh-CN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" name="文本框 7"/>
          <p:cNvSpPr txBox="1">
            <a:spLocks noChangeArrowheads="1"/>
          </p:cNvSpPr>
          <p:nvPr/>
        </p:nvSpPr>
        <p:spPr bwMode="auto">
          <a:xfrm>
            <a:off x="628018" y="1412776"/>
            <a:ext cx="10538556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indent="457200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zh-CN" sz="2800" dirty="0" smtClean="0">
                <a:solidFill>
                  <a:schemeClr val="tx1"/>
                </a:solidFill>
                <a:ea typeface="宋体" panose="02010600030101010101" pitchFamily="2" charset="-122"/>
              </a:rPr>
              <a:t>通过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图</a:t>
            </a:r>
            <a:r>
              <a:rPr kumimoji="0"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4-10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可以看到</a:t>
            </a:r>
            <a:r>
              <a:rPr kumimoji="0" lang="zh-CN" altLang="zh-CN" sz="2800" dirty="0" smtClean="0">
                <a:solidFill>
                  <a:schemeClr val="tx1"/>
                </a:solidFill>
                <a:ea typeface="宋体" panose="02010600030101010101" pitchFamily="2" charset="-122"/>
              </a:rPr>
              <a:t>，标题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为“上车人数走势图”，可以通过</a:t>
            </a:r>
            <a:r>
              <a:rPr kumimoji="0" lang="en-US" altLang="zh-CN" sz="2800" dirty="0" err="1">
                <a:solidFill>
                  <a:schemeClr val="tx1"/>
                </a:solidFill>
                <a:ea typeface="宋体" panose="02010600030101010101" pitchFamily="2" charset="-122"/>
              </a:rPr>
              <a:t>pyplot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包中的</a:t>
            </a:r>
            <a:r>
              <a:rPr kumimoji="0"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title()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函数来设置。横轴和</a:t>
            </a:r>
            <a:r>
              <a:rPr kumimoji="0" lang="zh-CN" altLang="zh-CN" sz="2800" dirty="0" smtClean="0">
                <a:solidFill>
                  <a:schemeClr val="tx1"/>
                </a:solidFill>
                <a:ea typeface="宋体" panose="02010600030101010101" pitchFamily="2" charset="-122"/>
              </a:rPr>
              <a:t>纵轴标签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分别</a:t>
            </a:r>
            <a:r>
              <a:rPr kumimoji="0" lang="zh-CN" altLang="zh-CN" sz="2800" dirty="0" smtClean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kumimoji="0" lang="en-US" altLang="zh-CN" sz="2800" dirty="0" smtClean="0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  <a:r>
              <a:rPr kumimoji="0" lang="zh-CN" altLang="zh-CN" sz="2800" dirty="0" smtClean="0">
                <a:solidFill>
                  <a:schemeClr val="tx1"/>
                </a:solidFill>
                <a:ea typeface="宋体" panose="02010600030101010101" pitchFamily="2" charset="-122"/>
              </a:rPr>
              <a:t>日期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和上车</a:t>
            </a:r>
            <a:r>
              <a:rPr kumimoji="0" lang="zh-CN" altLang="zh-CN" sz="2800" dirty="0" smtClean="0">
                <a:solidFill>
                  <a:schemeClr val="tx1"/>
                </a:solidFill>
                <a:ea typeface="宋体" panose="02010600030101010101" pitchFamily="2" charset="-122"/>
              </a:rPr>
              <a:t>人数</a:t>
            </a:r>
            <a:r>
              <a:rPr kumimoji="0" lang="en-US" altLang="zh-CN" sz="2800" dirty="0" smtClean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kumimoji="0" lang="zh-CN" altLang="zh-CN" sz="2800" dirty="0" smtClean="0">
                <a:solidFill>
                  <a:schemeClr val="tx1"/>
                </a:solidFill>
                <a:ea typeface="宋体" panose="02010600030101010101" pitchFamily="2" charset="-122"/>
              </a:rPr>
              <a:t>可以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通过</a:t>
            </a:r>
            <a:r>
              <a:rPr kumimoji="0" lang="en-US" altLang="zh-CN" sz="2800" dirty="0" err="1">
                <a:solidFill>
                  <a:schemeClr val="tx1"/>
                </a:solidFill>
                <a:ea typeface="宋体" panose="02010600030101010101" pitchFamily="2" charset="-122"/>
              </a:rPr>
              <a:t>pyplot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包</a:t>
            </a:r>
            <a:r>
              <a:rPr kumimoji="0" lang="zh-CN" altLang="zh-CN" sz="2800" dirty="0" smtClean="0">
                <a:solidFill>
                  <a:schemeClr val="tx1"/>
                </a:solidFill>
                <a:ea typeface="宋体" panose="02010600030101010101" pitchFamily="2" charset="-122"/>
              </a:rPr>
              <a:t>中</a:t>
            </a:r>
            <a:r>
              <a:rPr kumimoji="0" lang="en-US" altLang="zh-CN" sz="2800" dirty="0" err="1" smtClean="0">
                <a:solidFill>
                  <a:schemeClr val="tx1"/>
                </a:solidFill>
                <a:ea typeface="宋体" panose="02010600030101010101" pitchFamily="2" charset="-122"/>
              </a:rPr>
              <a:t>xlabel</a:t>
            </a:r>
            <a:r>
              <a:rPr kumimoji="0"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()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和</a:t>
            </a:r>
            <a:r>
              <a:rPr kumimoji="0" lang="en-US" altLang="zh-CN" sz="2800" dirty="0" err="1">
                <a:solidFill>
                  <a:schemeClr val="tx1"/>
                </a:solidFill>
                <a:ea typeface="宋体" panose="02010600030101010101" pitchFamily="2" charset="-122"/>
              </a:rPr>
              <a:t>ylabel</a:t>
            </a:r>
            <a:r>
              <a:rPr kumimoji="0"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()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函数来设置。图中有两条线性图，其图例可以通过</a:t>
            </a:r>
            <a:r>
              <a:rPr kumimoji="0" lang="en-US" altLang="zh-CN" sz="2800" dirty="0" err="1">
                <a:solidFill>
                  <a:schemeClr val="tx1"/>
                </a:solidFill>
                <a:ea typeface="宋体" panose="02010600030101010101" pitchFamily="2" charset="-122"/>
              </a:rPr>
              <a:t>pyplot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包中的</a:t>
            </a:r>
            <a:r>
              <a:rPr kumimoji="0"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legend()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函数来设置。最后是关于图像的保存，可以通过</a:t>
            </a:r>
            <a:r>
              <a:rPr kumimoji="0" lang="en-US" altLang="zh-CN" sz="2800" dirty="0" err="1">
                <a:solidFill>
                  <a:schemeClr val="tx1"/>
                </a:solidFill>
                <a:ea typeface="宋体" panose="02010600030101010101" pitchFamily="2" charset="-122"/>
              </a:rPr>
              <a:t>pyplot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包中的</a:t>
            </a:r>
            <a:r>
              <a:rPr kumimoji="0" lang="en-US" altLang="zh-CN" sz="2800" dirty="0" err="1">
                <a:solidFill>
                  <a:schemeClr val="tx1"/>
                </a:solidFill>
                <a:ea typeface="宋体" panose="02010600030101010101" pitchFamily="2" charset="-122"/>
              </a:rPr>
              <a:t>savefig</a:t>
            </a:r>
            <a:r>
              <a:rPr kumimoji="0"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()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函数来实现。值得注意的是，在绘图之前需要先定义一个绘图界面，可以通过</a:t>
            </a:r>
            <a:r>
              <a:rPr kumimoji="0" lang="en-US" altLang="zh-CN" sz="2800" dirty="0" err="1">
                <a:solidFill>
                  <a:schemeClr val="tx1"/>
                </a:solidFill>
                <a:ea typeface="宋体" panose="02010600030101010101" pitchFamily="2" charset="-122"/>
              </a:rPr>
              <a:t>pyplot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包中的</a:t>
            </a:r>
            <a:r>
              <a:rPr kumimoji="0"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figure()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函数来定义，中文字符的显示及横轴坐标的刻度可以通过</a:t>
            </a:r>
            <a:r>
              <a:rPr kumimoji="0" lang="en-US" altLang="zh-CN" sz="2800" dirty="0" err="1">
                <a:solidFill>
                  <a:schemeClr val="tx1"/>
                </a:solidFill>
                <a:ea typeface="宋体" panose="02010600030101010101" pitchFamily="2" charset="-122"/>
              </a:rPr>
              <a:t>rcParams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参数和</a:t>
            </a:r>
            <a:r>
              <a:rPr kumimoji="0" lang="en-US" altLang="zh-CN" sz="2800" dirty="0" err="1">
                <a:solidFill>
                  <a:schemeClr val="tx1"/>
                </a:solidFill>
                <a:ea typeface="宋体" panose="02010600030101010101" pitchFamily="2" charset="-122"/>
              </a:rPr>
              <a:t>xticks</a:t>
            </a:r>
            <a:r>
              <a:rPr kumimoji="0"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()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函数来设置。这些函数的简单使用方法可以参考以上示例代码，更多的使用详情可以参考图</a:t>
            </a:r>
            <a:r>
              <a:rPr kumimoji="0"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4-9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通过</a:t>
            </a:r>
            <a:r>
              <a:rPr kumimoji="0"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help(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函数名</a:t>
            </a:r>
            <a:r>
              <a:rPr kumimoji="0"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kumimoji="0" lang="zh-CN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进行查询。</a:t>
            </a:r>
            <a:endParaRPr kumimoji="0" lang="zh-CN" altLang="zh-CN" sz="2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4.2.3</a:t>
            </a:r>
            <a:r>
              <a:rPr lang="zh-CN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柱状</a:t>
            </a:r>
            <a:r>
              <a:rPr lang="zh-CN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zh-CN" sz="2800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895121" y="1085835"/>
            <a:ext cx="1031582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indent="457200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与</a:t>
            </a:r>
            <a:r>
              <a:rPr kumimoji="0"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Matlab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类似，柱状图的绘图函数为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bar(</a:t>
            </a:r>
            <a:r>
              <a:rPr kumimoji="0"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x,y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,[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可选项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])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，其中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表示横轴坐标数据列，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表示纵轴坐标数据列，可选项为绘图设置。绘图设置详细使用方法可以参考图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4-9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通过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help(</a:t>
            </a:r>
            <a:r>
              <a:rPr kumimoji="0"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plt.bar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进行查询，一般情况下我们采用默认设置即可（缺省方式，具体见示例代码）</a:t>
            </a:r>
            <a:r>
              <a:rPr kumimoji="0" lang="zh-CN" altLang="zh-CN" dirty="0" smtClean="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  <a:endParaRPr kumimoji="0" lang="en-US" altLang="zh-CN" dirty="0" smtClean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zh-CN" dirty="0" smtClean="0">
                <a:solidFill>
                  <a:schemeClr val="tx1"/>
                </a:solidFill>
                <a:ea typeface="宋体" panose="02010600030101010101" pitchFamily="2" charset="-122"/>
              </a:rPr>
              <a:t>绘制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D02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车次柱状图示例代码如下：</a:t>
            </a:r>
            <a:endParaRPr kumimoji="0"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7251" y="3075855"/>
            <a:ext cx="1007940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2" name="矩形 1"/>
          <p:cNvSpPr/>
          <p:nvPr/>
        </p:nvSpPr>
        <p:spPr>
          <a:xfrm>
            <a:off x="1057821" y="3356992"/>
            <a:ext cx="86854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/>
              <a:t>plt.figure</a:t>
            </a:r>
            <a:r>
              <a:rPr lang="en-US" altLang="zh-CN" sz="2000" dirty="0"/>
              <a:t>(2)</a:t>
            </a:r>
            <a:endParaRPr lang="zh-CN" altLang="zh-CN" sz="2000" dirty="0"/>
          </a:p>
          <a:p>
            <a:r>
              <a:rPr lang="en-US" altLang="zh-CN" sz="2000" dirty="0" err="1"/>
              <a:t>plt.bar</a:t>
            </a:r>
            <a:r>
              <a:rPr lang="en-US" altLang="zh-CN" sz="2000" dirty="0"/>
              <a:t>(x,y1)</a:t>
            </a:r>
            <a:endParaRPr lang="zh-CN" altLang="zh-CN" sz="2000" dirty="0"/>
          </a:p>
          <a:p>
            <a:r>
              <a:rPr lang="en-US" altLang="zh-CN" sz="2000" dirty="0" err="1"/>
              <a:t>plt.xlabel</a:t>
            </a:r>
            <a:r>
              <a:rPr lang="en-US" altLang="zh-CN" sz="2000" dirty="0"/>
              <a:t>('</a:t>
            </a:r>
            <a:r>
              <a:rPr lang="zh-CN" altLang="zh-CN" sz="2000" dirty="0"/>
              <a:t>日期</a:t>
            </a:r>
            <a:r>
              <a:rPr lang="en-US" altLang="zh-CN" sz="2000" dirty="0"/>
              <a:t>')</a:t>
            </a:r>
            <a:endParaRPr lang="zh-CN" altLang="zh-CN" sz="2000" dirty="0"/>
          </a:p>
          <a:p>
            <a:r>
              <a:rPr lang="en-US" altLang="zh-CN" sz="2000" dirty="0" err="1"/>
              <a:t>plt.ylabel</a:t>
            </a:r>
            <a:r>
              <a:rPr lang="en-US" altLang="zh-CN" sz="2000" dirty="0"/>
              <a:t>('</a:t>
            </a:r>
            <a:r>
              <a:rPr lang="zh-CN" altLang="zh-CN" sz="2000" dirty="0"/>
              <a:t>上车人数</a:t>
            </a:r>
            <a:r>
              <a:rPr lang="en-US" altLang="zh-CN" sz="2000" dirty="0"/>
              <a:t>')</a:t>
            </a:r>
            <a:endParaRPr lang="zh-CN" altLang="zh-CN" sz="2000" dirty="0"/>
          </a:p>
          <a:p>
            <a:r>
              <a:rPr lang="en-US" altLang="zh-CN" sz="2000" dirty="0" err="1"/>
              <a:t>plt.title</a:t>
            </a:r>
            <a:r>
              <a:rPr lang="en-US" altLang="zh-CN" sz="2000" dirty="0"/>
              <a:t>('D02</a:t>
            </a:r>
            <a:r>
              <a:rPr lang="zh-CN" altLang="zh-CN" sz="2000" dirty="0"/>
              <a:t>车次上车人数柱状图</a:t>
            </a:r>
            <a:r>
              <a:rPr lang="en-US" altLang="zh-CN" sz="2000" dirty="0"/>
              <a:t>')</a:t>
            </a:r>
            <a:endParaRPr lang="zh-CN" altLang="zh-CN" sz="2000" dirty="0"/>
          </a:p>
          <a:p>
            <a:r>
              <a:rPr lang="en-US" altLang="zh-CN" sz="2000" dirty="0" err="1"/>
              <a:t>plt.xticks</a:t>
            </a:r>
            <a:r>
              <a:rPr lang="en-US" altLang="zh-CN" sz="2000" dirty="0"/>
              <a:t>([1,5,10,15,20,24], </a:t>
            </a:r>
            <a:r>
              <a:rPr lang="en-US" altLang="zh-CN" sz="2000" dirty="0" err="1"/>
              <a:t>tb</a:t>
            </a:r>
            <a:r>
              <a:rPr lang="en-US" altLang="zh-CN" sz="2000" dirty="0"/>
              <a:t>['</a:t>
            </a:r>
            <a:r>
              <a:rPr lang="zh-CN" altLang="zh-CN" sz="2000" dirty="0"/>
              <a:t>日期</a:t>
            </a:r>
            <a:r>
              <a:rPr lang="en-US" altLang="zh-CN" sz="2000" dirty="0"/>
              <a:t>'].values[[0,4,9,14,19,23]], rotation = 45) </a:t>
            </a:r>
            <a:endParaRPr lang="zh-CN" altLang="zh-CN" sz="2000" dirty="0"/>
          </a:p>
          <a:p>
            <a:r>
              <a:rPr lang="en-US" altLang="zh-CN" sz="2000" dirty="0" err="1"/>
              <a:t>plt.savefig</a:t>
            </a:r>
            <a:r>
              <a:rPr lang="en-US" altLang="zh-CN" sz="2000" dirty="0"/>
              <a:t>('myfigure2')</a:t>
            </a:r>
            <a:endParaRPr lang="zh-CN" altLang="zh-CN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4.2.3</a:t>
            </a:r>
            <a:r>
              <a:rPr lang="zh-CN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</a:t>
            </a:r>
            <a:r>
              <a:rPr lang="zh-CN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</a:t>
            </a:r>
            <a:r>
              <a:rPr lang="zh-CN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zh-CN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75598" y="4386590"/>
            <a:ext cx="1179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600" dirty="0"/>
              <a:t>图</a:t>
            </a:r>
            <a:r>
              <a:rPr lang="en-US" altLang="zh-CN" sz="1600" dirty="0" smtClean="0"/>
              <a:t>4-11</a:t>
            </a:r>
            <a:endParaRPr lang="zh-CN" alt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94506" y="581285"/>
            <a:ext cx="2735718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zh-CN" altLang="zh-CN" sz="2000" dirty="0"/>
              <a:t>执行结果如图</a:t>
            </a:r>
            <a:r>
              <a:rPr lang="en-US" altLang="zh-CN" sz="2000" dirty="0"/>
              <a:t>4-10</a:t>
            </a:r>
            <a:r>
              <a:rPr lang="zh-CN" altLang="zh-CN" sz="2000" dirty="0"/>
              <a:t>所</a:t>
            </a:r>
            <a:r>
              <a:rPr lang="zh-CN" altLang="zh-CN" sz="2000" dirty="0" smtClean="0"/>
              <a:t>示</a:t>
            </a:r>
            <a:r>
              <a:rPr lang="en-US" altLang="zh-CN" sz="2000" dirty="0" smtClean="0"/>
              <a:t>: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897355" y="998725"/>
            <a:ext cx="6217250" cy="338786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330766" y="4725144"/>
            <a:ext cx="851203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zh-CN" sz="2000" dirty="0"/>
              <a:t>图</a:t>
            </a:r>
            <a:r>
              <a:rPr lang="en-US" altLang="zh-CN" sz="2000" dirty="0"/>
              <a:t>4-11</a:t>
            </a:r>
            <a:r>
              <a:rPr lang="zh-CN" altLang="zh-CN" sz="2000" dirty="0"/>
              <a:t>显示了绘制</a:t>
            </a:r>
            <a:r>
              <a:rPr lang="en-US" altLang="zh-CN" sz="2000" dirty="0"/>
              <a:t>D02</a:t>
            </a:r>
            <a:r>
              <a:rPr lang="zh-CN" altLang="zh-CN" sz="2000" dirty="0"/>
              <a:t>车次上车人数的简单柱状图。需要说明的是，绘制柱状图的示例代码是在</a:t>
            </a:r>
            <a:r>
              <a:rPr lang="en-US" altLang="zh-CN" sz="2000" dirty="0"/>
              <a:t>4.2.2</a:t>
            </a:r>
            <a:r>
              <a:rPr lang="zh-CN" altLang="zh-CN" sz="2000" dirty="0"/>
              <a:t>绘制线性图示例代码之后，为了避免后面的柱状图界面覆盖前面的线性图界面，因此需要重新定义一个与之不同的绘图界面，即通过</a:t>
            </a:r>
            <a:r>
              <a:rPr lang="en-US" altLang="zh-CN" sz="2000" dirty="0" err="1"/>
              <a:t>plt.figure</a:t>
            </a:r>
            <a:r>
              <a:rPr lang="en-US" altLang="zh-CN" sz="2000" dirty="0"/>
              <a:t>(2)</a:t>
            </a:r>
            <a:r>
              <a:rPr lang="zh-CN" altLang="zh-CN" sz="2000" dirty="0"/>
              <a:t>来实现。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4.2.4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直方</a:t>
            </a:r>
            <a:r>
              <a:rPr lang="zh-CN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zh-CN" sz="2800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895121" y="1085835"/>
            <a:ext cx="1031582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indent="457200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与</a:t>
            </a:r>
            <a:r>
              <a:rPr kumimoji="0"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Matlab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类似，直方图的绘图函数为</a:t>
            </a:r>
            <a:r>
              <a:rPr kumimoji="0"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hist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(X,[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可选项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])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，其中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表示横轴坐标数据列，可选项为绘图设置。绘图设置详细使用方法可以参考图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4-9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通过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help(</a:t>
            </a:r>
            <a:r>
              <a:rPr kumimoji="0"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plt.hist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进行查询，一般情况下我们采用默认设置即可（缺省方式，具体见示例代码）。需要注意的是，直方图中的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轴往往表示对应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的统计频数。绘制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D02</a:t>
            </a:r>
            <a:r>
              <a:rPr kumimoji="0" lang="zh-CN" altLang="zh-CN" dirty="0">
                <a:solidFill>
                  <a:schemeClr val="tx1"/>
                </a:solidFill>
                <a:ea typeface="宋体" panose="02010600030101010101" pitchFamily="2" charset="-122"/>
              </a:rPr>
              <a:t>车次直方图示例程序如下：</a:t>
            </a:r>
            <a:endParaRPr kumimoji="0"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69789" y="3140968"/>
            <a:ext cx="1007940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2" name="矩形 1"/>
          <p:cNvSpPr/>
          <p:nvPr/>
        </p:nvSpPr>
        <p:spPr>
          <a:xfrm>
            <a:off x="917304" y="357301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dirty="0" err="1"/>
              <a:t>plt.figure</a:t>
            </a:r>
            <a:r>
              <a:rPr lang="en-US" altLang="zh-CN" sz="2400" dirty="0"/>
              <a:t>(3)</a:t>
            </a:r>
            <a:endParaRPr lang="zh-CN" altLang="zh-CN" sz="2400" dirty="0"/>
          </a:p>
          <a:p>
            <a:r>
              <a:rPr lang="en-US" altLang="zh-CN" sz="2400" dirty="0" err="1"/>
              <a:t>plt.hist</a:t>
            </a:r>
            <a:r>
              <a:rPr lang="en-US" altLang="zh-CN" sz="2400" dirty="0"/>
              <a:t>(y1)</a:t>
            </a:r>
            <a:endParaRPr lang="zh-CN" altLang="zh-CN" sz="2400" dirty="0"/>
          </a:p>
          <a:p>
            <a:r>
              <a:rPr lang="en-US" altLang="zh-CN" sz="2400" dirty="0" err="1"/>
              <a:t>plt.xlabel</a:t>
            </a:r>
            <a:r>
              <a:rPr lang="en-US" altLang="zh-CN" sz="2400" dirty="0"/>
              <a:t>('</a:t>
            </a:r>
            <a:r>
              <a:rPr lang="zh-CN" altLang="zh-CN" sz="2400" dirty="0"/>
              <a:t>上车人数</a:t>
            </a:r>
            <a:r>
              <a:rPr lang="en-US" altLang="zh-CN" sz="2400" dirty="0"/>
              <a:t>')</a:t>
            </a:r>
            <a:endParaRPr lang="zh-CN" altLang="zh-CN" sz="2400" dirty="0"/>
          </a:p>
          <a:p>
            <a:r>
              <a:rPr lang="en-US" altLang="zh-CN" sz="2400" dirty="0" err="1"/>
              <a:t>plt.ylabel</a:t>
            </a:r>
            <a:r>
              <a:rPr lang="en-US" altLang="zh-CN" sz="2400" dirty="0"/>
              <a:t>('</a:t>
            </a:r>
            <a:r>
              <a:rPr lang="zh-CN" altLang="zh-CN" sz="2400" dirty="0"/>
              <a:t>频数</a:t>
            </a:r>
            <a:r>
              <a:rPr lang="en-US" altLang="zh-CN" sz="2400" dirty="0"/>
              <a:t>')</a:t>
            </a:r>
            <a:endParaRPr lang="zh-CN" altLang="zh-CN" sz="2400" dirty="0"/>
          </a:p>
          <a:p>
            <a:r>
              <a:rPr lang="en-US" altLang="zh-CN" sz="2400" dirty="0" err="1"/>
              <a:t>plt.title</a:t>
            </a:r>
            <a:r>
              <a:rPr lang="en-US" altLang="zh-CN" sz="2400" dirty="0"/>
              <a:t>('D02</a:t>
            </a:r>
            <a:r>
              <a:rPr lang="zh-CN" altLang="zh-CN" sz="2400" dirty="0"/>
              <a:t>车次上车人数直方图</a:t>
            </a:r>
            <a:r>
              <a:rPr lang="en-US" altLang="zh-CN" sz="2400" dirty="0"/>
              <a:t>')</a:t>
            </a:r>
            <a:endParaRPr lang="zh-CN" altLang="zh-CN" sz="2400" dirty="0"/>
          </a:p>
          <a:p>
            <a:r>
              <a:rPr lang="en-US" altLang="zh-CN" sz="2400" dirty="0" err="1"/>
              <a:t>plt.savefig</a:t>
            </a:r>
            <a:r>
              <a:rPr lang="en-US" altLang="zh-CN" sz="2400" dirty="0"/>
              <a:t>('myfigure3')</a:t>
            </a:r>
            <a:endParaRPr lang="zh-CN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4.2.4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直方</a:t>
            </a:r>
            <a:r>
              <a:rPr lang="zh-CN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zh-CN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75598" y="4386590"/>
            <a:ext cx="1179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600" dirty="0"/>
              <a:t>图</a:t>
            </a:r>
            <a:r>
              <a:rPr lang="en-US" altLang="zh-CN" sz="1600" dirty="0" smtClean="0"/>
              <a:t>4-12</a:t>
            </a:r>
            <a:endParaRPr lang="zh-CN" alt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94506" y="581285"/>
            <a:ext cx="2735718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zh-CN" altLang="zh-CN" sz="2000" dirty="0"/>
              <a:t>执行结果如图</a:t>
            </a:r>
            <a:r>
              <a:rPr lang="en-US" altLang="zh-CN" sz="2000" dirty="0" smtClean="0"/>
              <a:t>4-12</a:t>
            </a:r>
            <a:r>
              <a:rPr lang="zh-CN" altLang="zh-CN" sz="2000" dirty="0" smtClean="0"/>
              <a:t>所示</a:t>
            </a:r>
            <a:r>
              <a:rPr lang="en-US" altLang="zh-CN" sz="2000" dirty="0" smtClean="0"/>
              <a:t>: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30766" y="5085184"/>
            <a:ext cx="85120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zh-CN" sz="2000" dirty="0"/>
              <a:t>与图</a:t>
            </a:r>
            <a:r>
              <a:rPr lang="en-US" altLang="zh-CN" sz="2000" dirty="0"/>
              <a:t>4-11</a:t>
            </a:r>
            <a:r>
              <a:rPr lang="zh-CN" altLang="zh-CN" sz="2000" dirty="0"/>
              <a:t>类似，绘制直方图的示例代码也是在</a:t>
            </a:r>
            <a:r>
              <a:rPr lang="en-US" altLang="zh-CN" sz="2000" dirty="0"/>
              <a:t>4.2.3</a:t>
            </a:r>
            <a:r>
              <a:rPr lang="zh-CN" altLang="zh-CN" sz="2000" dirty="0"/>
              <a:t>绘制柱状图示例代码之后，为了避免后面的直方图界面覆盖前面的柱状图界面，通过</a:t>
            </a:r>
            <a:r>
              <a:rPr lang="en-US" altLang="zh-CN" sz="2000" dirty="0" err="1"/>
              <a:t>plt.figure</a:t>
            </a:r>
            <a:r>
              <a:rPr lang="en-US" altLang="zh-CN" sz="2000" dirty="0"/>
              <a:t>(3)</a:t>
            </a:r>
            <a:r>
              <a:rPr lang="zh-CN" altLang="zh-CN" sz="2000" dirty="0"/>
              <a:t>重新定义一个绘图界面。</a:t>
            </a:r>
            <a:endParaRPr lang="zh-CN" altLang="en-US" sz="2000" dirty="0"/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1462365" y="1268760"/>
            <a:ext cx="7012279" cy="29270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4.2.5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饼</a:t>
            </a:r>
            <a:r>
              <a:rPr lang="zh-CN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zh-CN" sz="2800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895121" y="1085835"/>
            <a:ext cx="1031582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indent="457200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与</a:t>
            </a:r>
            <a:r>
              <a:rPr kumimoji="0"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Matlab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类似，饼图的绘制函数为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pie(X,Y,[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可选项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])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，其中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表示待绘制的数据序列，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表示对应的标签，可选项表示绘图设置。这里常用的绘图设置为百分比的小数位，可以通过</a:t>
            </a:r>
            <a:r>
              <a:rPr kumimoji="0"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autopct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属性类设置。这里先计算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D02~D06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共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5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个车次同期的上车人数，然后绘制其饼图展示出来，示例代码如下：</a:t>
            </a:r>
            <a:endParaRPr kumimoji="0"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64062" y="2665452"/>
            <a:ext cx="1007940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2" name="矩形 1"/>
          <p:cNvSpPr/>
          <p:nvPr/>
        </p:nvSpPr>
        <p:spPr>
          <a:xfrm>
            <a:off x="895121" y="2852935"/>
            <a:ext cx="9422476" cy="4206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/>
              <a:t>plt.figure</a:t>
            </a:r>
            <a:r>
              <a:rPr lang="en-US" altLang="zh-CN" sz="2000" dirty="0"/>
              <a:t>(4)  </a:t>
            </a:r>
            <a:endParaRPr lang="zh-CN" altLang="zh-CN" sz="2000" dirty="0"/>
          </a:p>
          <a:p>
            <a:r>
              <a:rPr lang="en-US" altLang="zh-CN" sz="2000" dirty="0"/>
              <a:t># 1.</a:t>
            </a:r>
            <a:r>
              <a:rPr lang="zh-CN" altLang="zh-CN" sz="2000" dirty="0"/>
              <a:t>计算</a:t>
            </a:r>
            <a:r>
              <a:rPr lang="en-US" altLang="zh-CN" sz="2000" dirty="0"/>
              <a:t>D02~D06</a:t>
            </a:r>
            <a:r>
              <a:rPr lang="zh-CN" altLang="zh-CN" sz="2000" dirty="0"/>
              <a:t>车次同期的上车人数总和，并用</a:t>
            </a:r>
            <a:r>
              <a:rPr lang="en-US" altLang="zh-CN" sz="2000" dirty="0"/>
              <a:t>list1</a:t>
            </a:r>
            <a:r>
              <a:rPr lang="zh-CN" altLang="zh-CN" sz="2000" dirty="0"/>
              <a:t>来保存其结果</a:t>
            </a:r>
            <a:endParaRPr lang="zh-CN" altLang="zh-CN" sz="2000" dirty="0"/>
          </a:p>
          <a:p>
            <a:r>
              <a:rPr lang="en-US" altLang="zh-CN" sz="2000" dirty="0"/>
              <a:t>D=</a:t>
            </a:r>
            <a:r>
              <a:rPr lang="en-US" altLang="zh-CN" sz="2000" dirty="0" err="1"/>
              <a:t>data.iloc</a:t>
            </a:r>
            <a:r>
              <a:rPr lang="en-US" altLang="zh-CN" sz="2000" dirty="0"/>
              <a:t>[:,0]</a:t>
            </a:r>
            <a:endParaRPr lang="zh-CN" altLang="zh-CN" sz="2000" dirty="0"/>
          </a:p>
          <a:p>
            <a:r>
              <a:rPr lang="en-US" altLang="zh-CN" sz="2000" dirty="0"/>
              <a:t>D=list(</a:t>
            </a:r>
            <a:r>
              <a:rPr lang="en-US" altLang="zh-CN" sz="2000" dirty="0" err="1"/>
              <a:t>D.unique</a:t>
            </a:r>
            <a:r>
              <a:rPr lang="en-US" altLang="zh-CN" sz="2000" dirty="0"/>
              <a:t>())  #</a:t>
            </a:r>
            <a:r>
              <a:rPr lang="zh-CN" altLang="zh-CN" sz="2000" dirty="0"/>
              <a:t>车次号</a:t>
            </a:r>
            <a:r>
              <a:rPr lang="en-US" altLang="zh-CN" sz="2000" dirty="0"/>
              <a:t>D02~D06</a:t>
            </a:r>
            <a:endParaRPr lang="zh-CN" altLang="zh-CN" sz="2000" dirty="0"/>
          </a:p>
          <a:p>
            <a:r>
              <a:rPr lang="en-US" altLang="zh-CN" sz="2000" dirty="0"/>
              <a:t>list1=[]    #</a:t>
            </a:r>
            <a:r>
              <a:rPr lang="zh-CN" altLang="zh-CN" sz="2000" dirty="0"/>
              <a:t>预定义每个车次的上车人数列表</a:t>
            </a:r>
            <a:endParaRPr lang="zh-CN" altLang="zh-CN" sz="2000" dirty="0"/>
          </a:p>
          <a:p>
            <a:r>
              <a:rPr lang="en-US" altLang="zh-CN" sz="2000" dirty="0"/>
              <a:t>for d in D:</a:t>
            </a:r>
            <a:endParaRPr lang="zh-CN" altLang="zh-CN" sz="2000" dirty="0"/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dt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data.loc</a:t>
            </a:r>
            <a:r>
              <a:rPr lang="en-US" altLang="zh-CN" sz="2000" dirty="0"/>
              <a:t>[data['</a:t>
            </a:r>
            <a:r>
              <a:rPr lang="zh-CN" altLang="zh-CN" sz="2000" dirty="0"/>
              <a:t>车次</a:t>
            </a:r>
            <a:r>
              <a:rPr lang="en-US" altLang="zh-CN" sz="2000" dirty="0"/>
              <a:t>'] == d,['</a:t>
            </a:r>
            <a:r>
              <a:rPr lang="zh-CN" altLang="zh-CN" sz="2000" dirty="0"/>
              <a:t>上车人数</a:t>
            </a:r>
            <a:r>
              <a:rPr lang="en-US" altLang="zh-CN" sz="2000" dirty="0"/>
              <a:t>']]</a:t>
            </a:r>
            <a:endParaRPr lang="zh-CN" altLang="zh-CN" sz="2000" dirty="0"/>
          </a:p>
          <a:p>
            <a:r>
              <a:rPr lang="en-US" altLang="zh-CN" sz="2000" dirty="0"/>
              <a:t>    s=</a:t>
            </a:r>
            <a:r>
              <a:rPr lang="en-US" altLang="zh-CN" sz="2000" dirty="0" err="1"/>
              <a:t>dt.sum</a:t>
            </a:r>
            <a:r>
              <a:rPr lang="en-US" altLang="zh-CN" sz="2000" dirty="0"/>
              <a:t>()</a:t>
            </a:r>
            <a:endParaRPr lang="zh-CN" altLang="zh-CN" sz="2000" dirty="0"/>
          </a:p>
          <a:p>
            <a:r>
              <a:rPr lang="en-US" altLang="zh-CN" sz="2000" dirty="0"/>
              <a:t>    list1.append(s['</a:t>
            </a:r>
            <a:r>
              <a:rPr lang="zh-CN" altLang="zh-CN" sz="2000" dirty="0"/>
              <a:t>上车人数</a:t>
            </a:r>
            <a:r>
              <a:rPr lang="en-US" altLang="zh-CN" sz="2000" dirty="0"/>
              <a:t>']) #</a:t>
            </a:r>
            <a:r>
              <a:rPr lang="zh-CN" altLang="zh-CN" sz="2000" dirty="0"/>
              <a:t>或者</a:t>
            </a:r>
            <a:r>
              <a:rPr lang="en-US" altLang="zh-CN" sz="2000" dirty="0"/>
              <a:t>s[0]</a:t>
            </a:r>
            <a:endParaRPr lang="zh-CN" altLang="zh-CN" sz="2000" dirty="0"/>
          </a:p>
          <a:p>
            <a:r>
              <a:rPr lang="en-US" altLang="zh-CN" sz="2000" dirty="0"/>
              <a:t># 2.</a:t>
            </a:r>
            <a:r>
              <a:rPr lang="zh-CN" altLang="zh-CN" sz="2000" dirty="0"/>
              <a:t>绘制饼图</a:t>
            </a:r>
            <a:endParaRPr lang="zh-CN" altLang="zh-CN" sz="2000" dirty="0"/>
          </a:p>
          <a:p>
            <a:r>
              <a:rPr lang="en-US" altLang="zh-CN" sz="2000" dirty="0" err="1"/>
              <a:t>plt.pie</a:t>
            </a:r>
            <a:r>
              <a:rPr lang="en-US" altLang="zh-CN" sz="2000" dirty="0"/>
              <a:t>(list1,labels=</a:t>
            </a:r>
            <a:r>
              <a:rPr lang="en-US" altLang="zh-CN" sz="2000" dirty="0" err="1"/>
              <a:t>D,autopct</a:t>
            </a:r>
            <a:r>
              <a:rPr lang="en-US" altLang="zh-CN" sz="2000" dirty="0"/>
              <a:t>='%1.2f%%') #</a:t>
            </a:r>
            <a:r>
              <a:rPr lang="zh-CN" altLang="zh-CN" sz="2000" dirty="0"/>
              <a:t>绘制饼图，百分比保留小数点后两位</a:t>
            </a:r>
            <a:endParaRPr lang="zh-CN" altLang="zh-CN" sz="2000" dirty="0"/>
          </a:p>
          <a:p>
            <a:r>
              <a:rPr lang="en-US" altLang="zh-CN" sz="2000" dirty="0" err="1"/>
              <a:t>plt.title</a:t>
            </a:r>
            <a:r>
              <a:rPr lang="en-US" altLang="zh-CN" sz="2000" dirty="0"/>
              <a:t>('</a:t>
            </a:r>
            <a:r>
              <a:rPr lang="zh-CN" altLang="zh-CN" sz="2000" dirty="0"/>
              <a:t>各车次上车人数百分比饼图</a:t>
            </a:r>
            <a:r>
              <a:rPr lang="en-US" altLang="zh-CN" sz="2000" dirty="0"/>
              <a:t>')</a:t>
            </a:r>
            <a:endParaRPr lang="zh-CN" altLang="zh-CN" sz="2000" dirty="0"/>
          </a:p>
          <a:p>
            <a:r>
              <a:rPr lang="en-US" altLang="zh-CN" sz="2000" dirty="0" err="1"/>
              <a:t>plt.savefig</a:t>
            </a:r>
            <a:r>
              <a:rPr lang="en-US" altLang="zh-CN" sz="2000" dirty="0"/>
              <a:t>('myfigure4')</a:t>
            </a:r>
            <a:endParaRPr lang="zh-CN" altLang="zh-CN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4.2.5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饼图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14205" y="4626231"/>
            <a:ext cx="1179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600" dirty="0"/>
              <a:t>图</a:t>
            </a:r>
            <a:r>
              <a:rPr lang="en-US" altLang="zh-CN" sz="1600" dirty="0" smtClean="0"/>
              <a:t>4-13</a:t>
            </a:r>
            <a:endParaRPr lang="zh-CN" alt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94506" y="581285"/>
            <a:ext cx="2735718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zh-CN" altLang="zh-CN" sz="2000" dirty="0"/>
              <a:t>执行结果如图</a:t>
            </a:r>
            <a:r>
              <a:rPr lang="en-US" altLang="zh-CN" sz="2000" dirty="0" smtClean="0"/>
              <a:t>4-13</a:t>
            </a:r>
            <a:r>
              <a:rPr lang="zh-CN" altLang="zh-CN" sz="2000" dirty="0" smtClean="0"/>
              <a:t>所示</a:t>
            </a:r>
            <a:r>
              <a:rPr lang="en-US" altLang="zh-CN" sz="2000" dirty="0" smtClean="0"/>
              <a:t>: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30766" y="5085184"/>
            <a:ext cx="93761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zh-CN" sz="2000" dirty="0"/>
              <a:t>与图</a:t>
            </a:r>
            <a:r>
              <a:rPr lang="en-US" altLang="zh-CN" sz="2000" dirty="0"/>
              <a:t>4-12</a:t>
            </a:r>
            <a:r>
              <a:rPr lang="zh-CN" altLang="zh-CN" sz="2000" dirty="0"/>
              <a:t>类似，绘制饼图的示例代码也是在</a:t>
            </a:r>
            <a:r>
              <a:rPr lang="en-US" altLang="zh-CN" sz="2000" dirty="0"/>
              <a:t>4.2.4</a:t>
            </a:r>
            <a:r>
              <a:rPr lang="zh-CN" altLang="zh-CN" sz="2000" dirty="0"/>
              <a:t>绘制直方图示例代码之后，为了避免后面的饼图界面覆盖前面的直方图界面，通过</a:t>
            </a:r>
            <a:r>
              <a:rPr lang="en-US" altLang="zh-CN" sz="2000" dirty="0" err="1"/>
              <a:t>plt.figure</a:t>
            </a:r>
            <a:r>
              <a:rPr lang="en-US" altLang="zh-CN" sz="2000" dirty="0"/>
              <a:t>(4)</a:t>
            </a:r>
            <a:r>
              <a:rPr lang="zh-CN" altLang="zh-CN" sz="2000" dirty="0"/>
              <a:t>重新定义一个绘图界面。</a:t>
            </a:r>
            <a:endParaRPr lang="zh-CN" altLang="en-US" sz="2000" dirty="0"/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2281957" y="1166224"/>
            <a:ext cx="5904656" cy="3290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4.2.6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箱线</a:t>
            </a:r>
            <a:r>
              <a:rPr lang="zh-CN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zh-CN" sz="2800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895121" y="1085835"/>
            <a:ext cx="1031582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indent="457200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箱线图是利用数据中的最小值、上分位数、中位数、下四分位数与最大值这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5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个统计量来描述连续型特征变量的一种方法。它也可以粗略地看出数据是否具有对称性，分布的分散程度等信息，特别可以用于对几个样本的比较。箱线图的构成与含义如图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4-14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所示。</a:t>
            </a:r>
            <a:endParaRPr kumimoji="0"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64062" y="2665452"/>
            <a:ext cx="1007940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2569989" y="2735665"/>
            <a:ext cx="6192688" cy="35269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38175" y="6339649"/>
            <a:ext cx="16563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600" dirty="0"/>
              <a:t>图</a:t>
            </a:r>
            <a:r>
              <a:rPr lang="en-US" altLang="zh-CN" sz="1600" dirty="0" smtClean="0"/>
              <a:t>4-14 </a:t>
            </a:r>
            <a:r>
              <a:rPr lang="zh-CN" altLang="en-US" sz="1600" dirty="0" smtClean="0"/>
              <a:t>箱线图</a:t>
            </a:r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4.2.6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箱线</a:t>
            </a:r>
            <a:r>
              <a:rPr lang="zh-CN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zh-CN" sz="2800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895121" y="1085835"/>
            <a:ext cx="1031582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indent="457200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箱线图的上边缘为最大值，下边缘为最小值，但范围不超过盒型各端加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1.5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倍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IQR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（四分位距，即上四分位数与下四分位数的极差）的距离。超出上下边缘的值即视为异常值。箱线图的绘图函数为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boxplot(x,[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可选项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])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，其中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为待绘图的数据数组列表。绘制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D02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D03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车次上车人数箱线图示例代码如下：</a:t>
            </a:r>
            <a:endParaRPr kumimoji="0"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47662" y="3035548"/>
            <a:ext cx="1007940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3" name="矩形 2"/>
          <p:cNvSpPr/>
          <p:nvPr/>
        </p:nvSpPr>
        <p:spPr>
          <a:xfrm>
            <a:off x="985813" y="3403992"/>
            <a:ext cx="828092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/>
              <a:t>plt.figure</a:t>
            </a:r>
            <a:r>
              <a:rPr lang="en-US" altLang="zh-CN" sz="2400" dirty="0"/>
              <a:t>(5)  </a:t>
            </a:r>
            <a:endParaRPr lang="en-US" altLang="zh-CN" sz="2400" dirty="0"/>
          </a:p>
          <a:p>
            <a:r>
              <a:rPr lang="en-US" altLang="zh-CN" sz="2400" dirty="0" err="1"/>
              <a:t>plt.boxplot</a:t>
            </a:r>
            <a:r>
              <a:rPr lang="en-US" altLang="zh-CN" sz="2400" dirty="0"/>
              <a:t>([y1.values,y2.values])</a:t>
            </a:r>
            <a:endParaRPr lang="en-US" altLang="zh-CN" sz="2400" dirty="0"/>
          </a:p>
          <a:p>
            <a:r>
              <a:rPr lang="en-US" altLang="zh-CN" sz="2400" dirty="0" err="1"/>
              <a:t>plt.xticks</a:t>
            </a:r>
            <a:r>
              <a:rPr lang="en-US" altLang="zh-CN" sz="2400" dirty="0"/>
              <a:t>([1,2], ['D02','D03'], rotation = 0) </a:t>
            </a:r>
            <a:endParaRPr lang="en-US" altLang="zh-CN" sz="2400" dirty="0"/>
          </a:p>
          <a:p>
            <a:r>
              <a:rPr lang="en-US" altLang="zh-CN" sz="2400" dirty="0" err="1"/>
              <a:t>plt.title</a:t>
            </a:r>
            <a:r>
              <a:rPr lang="en-US" altLang="zh-CN" sz="2400" dirty="0"/>
              <a:t>('D02</a:t>
            </a:r>
            <a:r>
              <a:rPr lang="zh-CN" altLang="en-US" sz="2400" dirty="0"/>
              <a:t>、</a:t>
            </a:r>
            <a:r>
              <a:rPr lang="en-US" altLang="zh-CN" sz="2400" dirty="0"/>
              <a:t>D03</a:t>
            </a:r>
            <a:r>
              <a:rPr lang="zh-CN" altLang="en-US" sz="2400" dirty="0"/>
              <a:t>车次上车人数箱线图</a:t>
            </a:r>
            <a:r>
              <a:rPr lang="en-US" altLang="zh-CN" sz="2400" dirty="0"/>
              <a:t>')</a:t>
            </a:r>
            <a:endParaRPr lang="en-US" altLang="zh-CN" sz="2400" dirty="0"/>
          </a:p>
          <a:p>
            <a:r>
              <a:rPr lang="en-US" altLang="zh-CN" sz="2400" dirty="0" err="1"/>
              <a:t>plt.ylabel</a:t>
            </a:r>
            <a:r>
              <a:rPr lang="en-US" altLang="zh-CN" sz="2400" dirty="0"/>
              <a:t>('</a:t>
            </a:r>
            <a:r>
              <a:rPr lang="zh-CN" altLang="en-US" sz="2400" dirty="0"/>
              <a:t>上车人数</a:t>
            </a:r>
            <a:r>
              <a:rPr lang="en-US" altLang="zh-CN" sz="2400" dirty="0"/>
              <a:t>')</a:t>
            </a:r>
            <a:endParaRPr lang="en-US" altLang="zh-CN" sz="2400" dirty="0"/>
          </a:p>
          <a:p>
            <a:r>
              <a:rPr lang="en-US" altLang="zh-CN" sz="2400" dirty="0" err="1"/>
              <a:t>plt.xlabel</a:t>
            </a:r>
            <a:r>
              <a:rPr lang="en-US" altLang="zh-CN" sz="2400" dirty="0"/>
              <a:t>('</a:t>
            </a:r>
            <a:r>
              <a:rPr lang="zh-CN" altLang="en-US" sz="2400" dirty="0"/>
              <a:t>车次</a:t>
            </a:r>
            <a:r>
              <a:rPr lang="en-US" altLang="zh-CN" sz="2400" dirty="0"/>
              <a:t>')</a:t>
            </a:r>
            <a:endParaRPr lang="en-US" altLang="zh-CN" sz="2400" dirty="0"/>
          </a:p>
          <a:p>
            <a:r>
              <a:rPr lang="en-US" altLang="zh-CN" sz="2400" dirty="0" err="1"/>
              <a:t>plt.savefig</a:t>
            </a:r>
            <a:r>
              <a:rPr lang="en-US" altLang="zh-CN" sz="2400" dirty="0"/>
              <a:t>('myfigure5</a:t>
            </a:r>
            <a:r>
              <a:rPr lang="en-US" altLang="zh-CN" sz="2400" dirty="0" smtClean="0"/>
              <a:t>')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4.2.6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箱线图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79352" y="5017874"/>
            <a:ext cx="1179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600" dirty="0"/>
              <a:t>图</a:t>
            </a:r>
            <a:r>
              <a:rPr lang="en-US" altLang="zh-CN" sz="1600" dirty="0" smtClean="0"/>
              <a:t>4-14</a:t>
            </a:r>
            <a:endParaRPr lang="zh-CN" alt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94506" y="581285"/>
            <a:ext cx="2735718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zh-CN" altLang="zh-CN" sz="2000" dirty="0"/>
              <a:t>执行结果如图</a:t>
            </a:r>
            <a:r>
              <a:rPr lang="en-US" altLang="zh-CN" sz="2000" dirty="0" smtClean="0"/>
              <a:t>4-14</a:t>
            </a:r>
            <a:r>
              <a:rPr lang="zh-CN" altLang="zh-CN" sz="2000" dirty="0" smtClean="0"/>
              <a:t>所示</a:t>
            </a:r>
            <a:r>
              <a:rPr lang="en-US" altLang="zh-CN" sz="2000" dirty="0" smtClean="0"/>
              <a:t>: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30766" y="5356428"/>
            <a:ext cx="937612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zh-CN" sz="2000" dirty="0"/>
              <a:t>从图</a:t>
            </a:r>
            <a:r>
              <a:rPr lang="en-US" altLang="zh-CN" sz="2000" dirty="0" smtClean="0"/>
              <a:t>4-14</a:t>
            </a:r>
            <a:r>
              <a:rPr lang="zh-CN" altLang="zh-CN" sz="2000" dirty="0" smtClean="0"/>
              <a:t>可以</a:t>
            </a:r>
            <a:r>
              <a:rPr lang="zh-CN" altLang="zh-CN" sz="2000" dirty="0"/>
              <a:t>看出，这两个车次的上车人数有两个异常值，这些异常值主要是由于节假日出行人数突然增多造成的。</a:t>
            </a:r>
            <a:endParaRPr lang="zh-CN" altLang="en-US" dirty="0"/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1633885" y="1268760"/>
            <a:ext cx="7128792" cy="3672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4.2.7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zh-CN" sz="2800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626629" y="836712"/>
            <a:ext cx="10315828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indent="457200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子图是指在同一个绘图界面上，绘制不同类型的图像。通过子图，可以在同一个界面上实现多种不同类型图像之间的比较，进而提高了数据可读性和可视化效果。在</a:t>
            </a:r>
            <a:r>
              <a:rPr kumimoji="0"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Matplotlib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绘图基本流程中已经简单介绍了子图的命令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subplot()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，本节进一步地对其进行详细介绍，并给出具体的实现例子</a:t>
            </a:r>
            <a:r>
              <a:rPr kumimoji="0" lang="zh-CN" altLang="en-US" dirty="0" smtClean="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  <a:endParaRPr kumimoji="0" lang="en-US" altLang="zh-CN" dirty="0" smtClean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indent="457200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dirty="0" smtClean="0">
                <a:solidFill>
                  <a:schemeClr val="tx1"/>
                </a:solidFill>
                <a:ea typeface="宋体" panose="02010600030101010101" pitchFamily="2" charset="-122"/>
              </a:rPr>
              <a:t>subplot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()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函数使用方法如下：</a:t>
            </a:r>
            <a:endParaRPr kumimoji="0"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indent="457200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subplot(</a:t>
            </a:r>
            <a:r>
              <a:rPr kumimoji="0" lang="en-US" altLang="zh-CN" dirty="0" err="1">
                <a:solidFill>
                  <a:schemeClr val="tx1"/>
                </a:solidFill>
                <a:ea typeface="宋体" panose="02010600030101010101" pitchFamily="2" charset="-122"/>
              </a:rPr>
              <a:t>a,b,c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kumimoji="0"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indent="457200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其调用形式为将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figure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画布分成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行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列矩阵形式的方格图形，并在第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个方格图形（按行顺序数）上绘制图像。这里我们将前面介绍的散点图、线性图、柱状图、直方图、饼图、箱线图六种不同的图形在一个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3*2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的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figure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画布中绘制</a:t>
            </a:r>
            <a:r>
              <a:rPr kumimoji="0" lang="zh-CN" altLang="en-US" dirty="0" smtClean="0">
                <a:solidFill>
                  <a:schemeClr val="tx1"/>
                </a:solidFill>
                <a:ea typeface="宋体" panose="02010600030101010101" pitchFamily="2" charset="-122"/>
              </a:rPr>
              <a:t>出来。</a:t>
            </a:r>
            <a:endParaRPr kumimoji="0"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4.2.7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zh-CN" sz="2800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5873" y="2132856"/>
            <a:ext cx="496855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import pandas as </a:t>
            </a:r>
            <a:r>
              <a:rPr lang="en-US" altLang="zh-CN" sz="2000" dirty="0" err="1"/>
              <a:t>pd</a:t>
            </a:r>
            <a:endParaRPr lang="zh-CN" altLang="zh-CN" sz="2000" dirty="0"/>
          </a:p>
          <a:p>
            <a:r>
              <a:rPr lang="en-US" altLang="zh-CN" sz="2000" dirty="0"/>
              <a:t>import </a:t>
            </a:r>
            <a:r>
              <a:rPr lang="en-US" altLang="zh-CN" sz="2000" dirty="0" err="1"/>
              <a:t>numpy</a:t>
            </a:r>
            <a:r>
              <a:rPr lang="en-US" altLang="zh-CN" sz="2000" dirty="0"/>
              <a:t> as </a:t>
            </a:r>
            <a:r>
              <a:rPr lang="en-US" altLang="zh-CN" sz="2000" dirty="0" err="1"/>
              <a:t>np</a:t>
            </a:r>
            <a:endParaRPr lang="zh-CN" altLang="zh-CN" sz="2000" dirty="0"/>
          </a:p>
          <a:p>
            <a:r>
              <a:rPr lang="en-US" altLang="zh-CN" sz="2000" dirty="0"/>
              <a:t>import </a:t>
            </a:r>
            <a:r>
              <a:rPr lang="en-US" altLang="zh-CN" sz="2000" dirty="0" err="1"/>
              <a:t>matplotlib.pyplot</a:t>
            </a:r>
            <a:r>
              <a:rPr lang="en-US" altLang="zh-CN" sz="2000" dirty="0"/>
              <a:t> as </a:t>
            </a:r>
            <a:r>
              <a:rPr lang="en-US" altLang="zh-CN" sz="2000" dirty="0" err="1"/>
              <a:t>plt</a:t>
            </a:r>
            <a:r>
              <a:rPr lang="en-US" altLang="zh-CN" sz="2000" dirty="0"/>
              <a:t>  #</a:t>
            </a:r>
            <a:r>
              <a:rPr lang="zh-CN" altLang="zh-CN" sz="2000" dirty="0"/>
              <a:t>导入绘图库中的</a:t>
            </a:r>
            <a:r>
              <a:rPr lang="en-US" altLang="zh-CN" sz="2000" dirty="0" err="1"/>
              <a:t>pyplot</a:t>
            </a:r>
            <a:r>
              <a:rPr lang="zh-CN" altLang="zh-CN" sz="2000" dirty="0"/>
              <a:t>模块，并且简称为</a:t>
            </a:r>
            <a:r>
              <a:rPr lang="en-US" altLang="zh-CN" sz="2000" dirty="0" err="1"/>
              <a:t>plt</a:t>
            </a:r>
            <a:r>
              <a:rPr lang="zh-CN" altLang="zh-CN" sz="2000" dirty="0"/>
              <a:t>。</a:t>
            </a:r>
            <a:endParaRPr lang="zh-CN" altLang="zh-CN" sz="2000" dirty="0"/>
          </a:p>
          <a:p>
            <a:r>
              <a:rPr lang="en-US" altLang="zh-CN" sz="2000" dirty="0"/>
              <a:t>#</a:t>
            </a:r>
            <a:r>
              <a:rPr lang="zh-CN" altLang="zh-CN" sz="2000" dirty="0"/>
              <a:t>读取数据</a:t>
            </a:r>
            <a:endParaRPr lang="zh-CN" altLang="zh-CN" sz="2000" dirty="0"/>
          </a:p>
          <a:p>
            <a:r>
              <a:rPr lang="en-US" altLang="zh-CN" sz="2000" dirty="0"/>
              <a:t>path='</a:t>
            </a:r>
            <a:r>
              <a:rPr lang="zh-CN" altLang="zh-CN" sz="2000" dirty="0"/>
              <a:t>一、车次上车人数统计表</a:t>
            </a:r>
            <a:r>
              <a:rPr lang="en-US" altLang="zh-CN" sz="2000" dirty="0"/>
              <a:t>.</a:t>
            </a:r>
            <a:r>
              <a:rPr lang="en-US" altLang="zh-CN" sz="2000" dirty="0" err="1"/>
              <a:t>xlsx</a:t>
            </a:r>
            <a:r>
              <a:rPr lang="en-US" altLang="zh-CN" sz="2000" dirty="0"/>
              <a:t>';</a:t>
            </a:r>
            <a:endParaRPr lang="zh-CN" altLang="zh-CN" sz="2000" dirty="0"/>
          </a:p>
          <a:p>
            <a:r>
              <a:rPr lang="en-US" altLang="zh-CN" sz="2000" dirty="0"/>
              <a:t>data=</a:t>
            </a:r>
            <a:r>
              <a:rPr lang="en-US" altLang="zh-CN" sz="2000" dirty="0" err="1"/>
              <a:t>pd.read_excel</a:t>
            </a:r>
            <a:r>
              <a:rPr lang="en-US" altLang="zh-CN" sz="2000" dirty="0"/>
              <a:t>(path);</a:t>
            </a:r>
            <a:endParaRPr lang="zh-CN" altLang="zh-CN" sz="2000" dirty="0"/>
          </a:p>
          <a:p>
            <a:r>
              <a:rPr lang="en-US" altLang="zh-CN" sz="2000" dirty="0"/>
              <a:t>#</a:t>
            </a:r>
            <a:r>
              <a:rPr lang="zh-CN" altLang="zh-CN" sz="2000" dirty="0"/>
              <a:t>筛选数据</a:t>
            </a:r>
            <a:endParaRPr lang="zh-CN" altLang="zh-CN" sz="2000" dirty="0"/>
          </a:p>
          <a:p>
            <a:r>
              <a:rPr lang="en-US" altLang="zh-CN" sz="2000" dirty="0" err="1"/>
              <a:t>tb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data.loc</a:t>
            </a:r>
            <a:r>
              <a:rPr lang="en-US" altLang="zh-CN" sz="2000" dirty="0"/>
              <a:t>[data['</a:t>
            </a:r>
            <a:r>
              <a:rPr lang="zh-CN" altLang="zh-CN" sz="2000" dirty="0"/>
              <a:t>车次</a:t>
            </a:r>
            <a:r>
              <a:rPr lang="en-US" altLang="zh-CN" sz="2000" dirty="0"/>
              <a:t>'] == 'D02',['</a:t>
            </a:r>
            <a:r>
              <a:rPr lang="zh-CN" altLang="zh-CN" sz="2000" dirty="0"/>
              <a:t>日期</a:t>
            </a:r>
            <a:r>
              <a:rPr lang="en-US" altLang="zh-CN" sz="2000" dirty="0"/>
              <a:t>','</a:t>
            </a:r>
            <a:r>
              <a:rPr lang="zh-CN" altLang="zh-CN" sz="2000" dirty="0"/>
              <a:t>上车人数</a:t>
            </a:r>
            <a:r>
              <a:rPr lang="en-US" altLang="zh-CN" sz="2000" dirty="0"/>
              <a:t>']];</a:t>
            </a:r>
            <a:endParaRPr lang="zh-CN" altLang="zh-CN" sz="2000" dirty="0"/>
          </a:p>
        </p:txBody>
      </p:sp>
      <p:sp>
        <p:nvSpPr>
          <p:cNvPr id="5" name="矩形 4"/>
          <p:cNvSpPr/>
          <p:nvPr/>
        </p:nvSpPr>
        <p:spPr>
          <a:xfrm>
            <a:off x="5384425" y="2132856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 err="1"/>
              <a:t>tb</a:t>
            </a:r>
            <a:r>
              <a:rPr lang="en-US" altLang="zh-CN" sz="2000" dirty="0"/>
              <a:t>=</a:t>
            </a:r>
            <a:r>
              <a:rPr lang="en-US" altLang="zh-CN" sz="2000" dirty="0" err="1"/>
              <a:t>tb.sort_values</a:t>
            </a:r>
            <a:r>
              <a:rPr lang="en-US" altLang="zh-CN" sz="2000" dirty="0"/>
              <a:t>('</a:t>
            </a:r>
            <a:r>
              <a:rPr lang="zh-CN" altLang="zh-CN" sz="2000" dirty="0"/>
              <a:t>日期</a:t>
            </a:r>
            <a:r>
              <a:rPr lang="en-US" altLang="zh-CN" sz="2000" dirty="0"/>
              <a:t>');</a:t>
            </a:r>
            <a:endParaRPr lang="zh-CN" altLang="zh-CN" sz="2000" dirty="0"/>
          </a:p>
          <a:p>
            <a:r>
              <a:rPr lang="en-US" altLang="zh-CN" sz="2000" dirty="0"/>
              <a:t>tb1=</a:t>
            </a:r>
            <a:r>
              <a:rPr lang="en-US" altLang="zh-CN" sz="2000" dirty="0" err="1"/>
              <a:t>data.loc</a:t>
            </a:r>
            <a:r>
              <a:rPr lang="en-US" altLang="zh-CN" sz="2000" dirty="0"/>
              <a:t>[data['</a:t>
            </a:r>
            <a:r>
              <a:rPr lang="zh-CN" altLang="zh-CN" sz="2000" dirty="0"/>
              <a:t>车次</a:t>
            </a:r>
            <a:r>
              <a:rPr lang="en-US" altLang="zh-CN" sz="2000" dirty="0"/>
              <a:t>'] == 'D03',['</a:t>
            </a:r>
            <a:r>
              <a:rPr lang="zh-CN" altLang="zh-CN" sz="2000" dirty="0"/>
              <a:t>日期</a:t>
            </a:r>
            <a:r>
              <a:rPr lang="en-US" altLang="zh-CN" sz="2000" dirty="0"/>
              <a:t>','</a:t>
            </a:r>
            <a:r>
              <a:rPr lang="zh-CN" altLang="zh-CN" sz="2000" dirty="0"/>
              <a:t>上车人数</a:t>
            </a:r>
            <a:r>
              <a:rPr lang="en-US" altLang="zh-CN" sz="2000" dirty="0"/>
              <a:t>']];</a:t>
            </a:r>
            <a:endParaRPr lang="zh-CN" altLang="zh-CN" sz="2000" dirty="0"/>
          </a:p>
          <a:p>
            <a:r>
              <a:rPr lang="en-US" altLang="zh-CN" sz="2000" dirty="0"/>
              <a:t>tb1=tb1.sort_values('</a:t>
            </a:r>
            <a:r>
              <a:rPr lang="zh-CN" altLang="zh-CN" sz="2000" dirty="0"/>
              <a:t>日期</a:t>
            </a:r>
            <a:r>
              <a:rPr lang="en-US" altLang="zh-CN" sz="2000" dirty="0"/>
              <a:t>');</a:t>
            </a:r>
            <a:endParaRPr lang="zh-CN" altLang="zh-CN" sz="2000" dirty="0"/>
          </a:p>
          <a:p>
            <a:r>
              <a:rPr lang="en-US" altLang="zh-CN" sz="2000" dirty="0"/>
              <a:t>#</a:t>
            </a:r>
            <a:r>
              <a:rPr lang="zh-CN" altLang="zh-CN" sz="2000" dirty="0"/>
              <a:t>构造绘图所需的横轴数据列和纵轴数据列</a:t>
            </a:r>
            <a:endParaRPr lang="zh-CN" altLang="zh-CN" sz="2000" dirty="0"/>
          </a:p>
          <a:p>
            <a:r>
              <a:rPr lang="en-US" altLang="zh-CN" sz="2000" dirty="0"/>
              <a:t>x=</a:t>
            </a:r>
            <a:r>
              <a:rPr lang="en-US" altLang="zh-CN" sz="2000" dirty="0" err="1"/>
              <a:t>np.arange</a:t>
            </a:r>
            <a:r>
              <a:rPr lang="en-US" altLang="zh-CN" sz="2000" dirty="0"/>
              <a:t>(1,len(</a:t>
            </a:r>
            <a:r>
              <a:rPr lang="en-US" altLang="zh-CN" sz="2000" dirty="0" err="1"/>
              <a:t>tb.iloc</a:t>
            </a:r>
            <a:r>
              <a:rPr lang="en-US" altLang="zh-CN" sz="2000" dirty="0"/>
              <a:t>[:,0])+1)</a:t>
            </a:r>
            <a:endParaRPr lang="zh-CN" altLang="zh-CN" sz="2000" dirty="0"/>
          </a:p>
          <a:p>
            <a:r>
              <a:rPr lang="en-US" altLang="zh-CN" sz="2000" dirty="0"/>
              <a:t>y1=</a:t>
            </a:r>
            <a:r>
              <a:rPr lang="en-US" altLang="zh-CN" sz="2000" dirty="0" err="1"/>
              <a:t>tb.iloc</a:t>
            </a:r>
            <a:r>
              <a:rPr lang="en-US" altLang="zh-CN" sz="2000" dirty="0"/>
              <a:t>[:,1]</a:t>
            </a:r>
            <a:endParaRPr lang="zh-CN" altLang="zh-CN" sz="2000" dirty="0"/>
          </a:p>
          <a:p>
            <a:r>
              <a:rPr lang="en-US" altLang="zh-CN" sz="2000" dirty="0"/>
              <a:t>y2=tb1.iloc[:,1]</a:t>
            </a:r>
            <a:endParaRPr lang="zh-CN" altLang="zh-CN" sz="2000" dirty="0"/>
          </a:p>
          <a:p>
            <a:r>
              <a:rPr lang="en-US" altLang="zh-CN" sz="2000" dirty="0" err="1"/>
              <a:t>plt.rcParams</a:t>
            </a:r>
            <a:r>
              <a:rPr lang="en-US" altLang="zh-CN" sz="2000" dirty="0" smtClean="0"/>
              <a:t>[‘</a:t>
            </a:r>
            <a:r>
              <a:rPr lang="en-US" altLang="zh-CN" sz="2000" dirty="0" err="1" smtClean="0"/>
              <a:t>font.sans</a:t>
            </a:r>
            <a:r>
              <a:rPr lang="en-US" altLang="zh-CN" sz="2000" dirty="0" smtClean="0"/>
              <a:t>-serif’] </a:t>
            </a:r>
            <a:r>
              <a:rPr lang="en-US" altLang="zh-CN" sz="2000" dirty="0"/>
              <a:t>= </a:t>
            </a:r>
            <a:r>
              <a:rPr lang="en-US" altLang="zh-CN" sz="2000" dirty="0" smtClean="0"/>
              <a:t>‘</a:t>
            </a:r>
            <a:r>
              <a:rPr lang="en-US" altLang="zh-CN" sz="2000" dirty="0" err="1" smtClean="0"/>
              <a:t>SimHei</a:t>
            </a:r>
            <a:r>
              <a:rPr lang="en-US" altLang="zh-CN" sz="2000" dirty="0" smtClean="0"/>
              <a:t>’   </a:t>
            </a:r>
            <a:r>
              <a:rPr lang="en-US" altLang="zh-CN" dirty="0" smtClean="0"/>
              <a:t># </a:t>
            </a:r>
            <a:r>
              <a:rPr lang="zh-CN" altLang="zh-CN" dirty="0"/>
              <a:t>设置</a:t>
            </a:r>
            <a:r>
              <a:rPr lang="zh-CN" altLang="zh-CN" dirty="0" smtClean="0"/>
              <a:t>字</a:t>
            </a:r>
            <a:r>
              <a:rPr lang="en-US" altLang="zh-CN" dirty="0" err="1" smtClean="0"/>
              <a:t>SimHei</a:t>
            </a:r>
            <a:endParaRPr lang="zh-CN" altLang="zh-CN" dirty="0"/>
          </a:p>
          <a:p>
            <a:r>
              <a:rPr lang="en-US" altLang="zh-CN" sz="2000" dirty="0" err="1" smtClean="0"/>
              <a:t>plt.figure</a:t>
            </a:r>
            <a:r>
              <a:rPr lang="en-US" altLang="zh-CN" sz="2000" dirty="0"/>
              <a:t>('</a:t>
            </a:r>
            <a:r>
              <a:rPr lang="zh-CN" altLang="zh-CN" sz="2000" dirty="0"/>
              <a:t>子图</a:t>
            </a:r>
            <a:r>
              <a:rPr lang="en-US" altLang="zh-CN" sz="2000" dirty="0"/>
              <a:t>')</a:t>
            </a:r>
            <a:endParaRPr lang="zh-CN" altLang="zh-CN" sz="2000" dirty="0"/>
          </a:p>
          <a:p>
            <a:r>
              <a:rPr lang="en-US" altLang="zh-CN" sz="2000" dirty="0" err="1"/>
              <a:t>plt.figure</a:t>
            </a:r>
            <a:r>
              <a:rPr lang="en-US" altLang="zh-CN" sz="2000" dirty="0"/>
              <a:t>(</a:t>
            </a:r>
            <a:r>
              <a:rPr lang="en-US" altLang="zh-CN" sz="2000" dirty="0" err="1"/>
              <a:t>figsize</a:t>
            </a:r>
            <a:r>
              <a:rPr lang="en-US" altLang="zh-CN" sz="2000" dirty="0"/>
              <a:t>=(10,8))</a:t>
            </a:r>
            <a:endParaRPr lang="zh-CN" altLang="zh-CN" sz="2000" dirty="0"/>
          </a:p>
        </p:txBody>
      </p:sp>
      <p:sp>
        <p:nvSpPr>
          <p:cNvPr id="3" name="矩形 2"/>
          <p:cNvSpPr/>
          <p:nvPr/>
        </p:nvSpPr>
        <p:spPr>
          <a:xfrm>
            <a:off x="430519" y="998726"/>
            <a:ext cx="30755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示例代码如下：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4.2.7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zh-CN" sz="2800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71745" y="1213009"/>
            <a:ext cx="44259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plt.subplot</a:t>
            </a:r>
            <a:r>
              <a:rPr lang="en-US" altLang="zh-CN" dirty="0"/>
              <a:t>(3,2,1)</a:t>
            </a:r>
            <a:endParaRPr lang="zh-CN" altLang="zh-CN" dirty="0"/>
          </a:p>
          <a:p>
            <a:r>
              <a:rPr lang="en-US" altLang="zh-CN" dirty="0" err="1"/>
              <a:t>plt.scatter</a:t>
            </a:r>
            <a:r>
              <a:rPr lang="en-US" altLang="zh-CN" dirty="0"/>
              <a:t>(x,y1)</a:t>
            </a:r>
            <a:endParaRPr lang="zh-CN" altLang="zh-CN" dirty="0"/>
          </a:p>
          <a:p>
            <a:r>
              <a:rPr lang="en-US" altLang="zh-CN" dirty="0" err="1"/>
              <a:t>plt.xlabel</a:t>
            </a:r>
            <a:r>
              <a:rPr lang="en-US" altLang="zh-CN" dirty="0"/>
              <a:t>('</a:t>
            </a:r>
            <a:r>
              <a:rPr lang="zh-CN" altLang="zh-CN" dirty="0"/>
              <a:t>日期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 err="1"/>
              <a:t>plt.ylabel</a:t>
            </a:r>
            <a:r>
              <a:rPr lang="en-US" altLang="zh-CN" dirty="0"/>
              <a:t>('</a:t>
            </a:r>
            <a:r>
              <a:rPr lang="zh-CN" altLang="zh-CN" dirty="0"/>
              <a:t>上车人数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 err="1"/>
              <a:t>plt.xticks</a:t>
            </a:r>
            <a:r>
              <a:rPr lang="en-US" altLang="zh-CN" dirty="0"/>
              <a:t>([1,5,10,15,20,24], </a:t>
            </a:r>
            <a:r>
              <a:rPr lang="en-US" altLang="zh-CN" dirty="0" err="1"/>
              <a:t>tb</a:t>
            </a:r>
            <a:r>
              <a:rPr lang="en-US" altLang="zh-CN" dirty="0"/>
              <a:t>['</a:t>
            </a:r>
            <a:r>
              <a:rPr lang="zh-CN" altLang="zh-CN" dirty="0"/>
              <a:t>日期</a:t>
            </a:r>
            <a:r>
              <a:rPr lang="en-US" altLang="zh-CN" dirty="0"/>
              <a:t>'].values[[0,4,9,14,19,23]], rotation = 45) </a:t>
            </a:r>
            <a:endParaRPr lang="zh-CN" altLang="zh-CN" dirty="0"/>
          </a:p>
          <a:p>
            <a:r>
              <a:rPr lang="en-US" altLang="zh-CN" dirty="0" err="1"/>
              <a:t>plt.title</a:t>
            </a:r>
            <a:r>
              <a:rPr lang="en-US" altLang="zh-CN" dirty="0"/>
              <a:t>('D02</a:t>
            </a:r>
            <a:r>
              <a:rPr lang="zh-CN" altLang="zh-CN" dirty="0"/>
              <a:t>车次上车人数散点图</a:t>
            </a:r>
            <a:r>
              <a:rPr lang="en-US" altLang="zh-CN" dirty="0"/>
              <a:t>')</a:t>
            </a:r>
            <a:endParaRPr lang="zh-CN" altLang="zh-CN" dirty="0"/>
          </a:p>
        </p:txBody>
      </p:sp>
      <p:sp>
        <p:nvSpPr>
          <p:cNvPr id="3" name="矩形 2"/>
          <p:cNvSpPr/>
          <p:nvPr/>
        </p:nvSpPr>
        <p:spPr>
          <a:xfrm>
            <a:off x="743838" y="3710066"/>
            <a:ext cx="430510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plt.subplot</a:t>
            </a:r>
            <a:r>
              <a:rPr lang="en-US" altLang="zh-CN" dirty="0"/>
              <a:t>(3,2,2)</a:t>
            </a:r>
            <a:endParaRPr lang="zh-CN" altLang="zh-CN" dirty="0"/>
          </a:p>
          <a:p>
            <a:r>
              <a:rPr lang="en-US" altLang="zh-CN" dirty="0" err="1"/>
              <a:t>plt.plot</a:t>
            </a:r>
            <a:r>
              <a:rPr lang="en-US" altLang="zh-CN" dirty="0"/>
              <a:t>(x,y1,'r*--')  </a:t>
            </a:r>
            <a:endParaRPr lang="zh-CN" altLang="zh-CN" dirty="0"/>
          </a:p>
          <a:p>
            <a:r>
              <a:rPr lang="en-US" altLang="zh-CN" dirty="0" err="1"/>
              <a:t>plt.plot</a:t>
            </a:r>
            <a:r>
              <a:rPr lang="en-US" altLang="zh-CN" dirty="0"/>
              <a:t>(x,y2,'b*--')  </a:t>
            </a:r>
            <a:endParaRPr lang="zh-CN" altLang="zh-CN" dirty="0"/>
          </a:p>
          <a:p>
            <a:r>
              <a:rPr lang="en-US" altLang="zh-CN" dirty="0" err="1"/>
              <a:t>plt.xlabel</a:t>
            </a:r>
            <a:r>
              <a:rPr lang="en-US" altLang="zh-CN" dirty="0"/>
              <a:t>('</a:t>
            </a:r>
            <a:r>
              <a:rPr lang="zh-CN" altLang="zh-CN" dirty="0"/>
              <a:t>日期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 err="1"/>
              <a:t>plt.ylabel</a:t>
            </a:r>
            <a:r>
              <a:rPr lang="en-US" altLang="zh-CN" dirty="0"/>
              <a:t>('</a:t>
            </a:r>
            <a:r>
              <a:rPr lang="zh-CN" altLang="zh-CN" dirty="0"/>
              <a:t>上车人数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 err="1"/>
              <a:t>plt.title</a:t>
            </a:r>
            <a:r>
              <a:rPr lang="en-US" altLang="zh-CN" dirty="0"/>
              <a:t>('</a:t>
            </a:r>
            <a:r>
              <a:rPr lang="zh-CN" altLang="zh-CN" dirty="0"/>
              <a:t>上车人数走势图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 err="1"/>
              <a:t>plt.legend</a:t>
            </a:r>
            <a:r>
              <a:rPr lang="en-US" altLang="zh-CN" dirty="0"/>
              <a:t>(['D02','D03'])</a:t>
            </a:r>
            <a:endParaRPr lang="zh-CN" altLang="zh-CN" dirty="0"/>
          </a:p>
          <a:p>
            <a:r>
              <a:rPr lang="en-US" altLang="zh-CN" dirty="0" err="1"/>
              <a:t>plt.xticks</a:t>
            </a:r>
            <a:r>
              <a:rPr lang="en-US" altLang="zh-CN" dirty="0"/>
              <a:t>([1,5,10,15,20,24], </a:t>
            </a:r>
            <a:r>
              <a:rPr lang="en-US" altLang="zh-CN" dirty="0" err="1"/>
              <a:t>tb</a:t>
            </a:r>
            <a:r>
              <a:rPr lang="en-US" altLang="zh-CN" dirty="0"/>
              <a:t>['</a:t>
            </a:r>
            <a:r>
              <a:rPr lang="zh-CN" altLang="zh-CN" dirty="0"/>
              <a:t>日期</a:t>
            </a:r>
            <a:r>
              <a:rPr lang="en-US" altLang="zh-CN" dirty="0"/>
              <a:t>'].values[[0,4,9,14,19,23]], rotation = 45)</a:t>
            </a:r>
            <a:endParaRPr lang="zh-CN" altLang="zh-CN" dirty="0"/>
          </a:p>
        </p:txBody>
      </p:sp>
      <p:sp>
        <p:nvSpPr>
          <p:cNvPr id="4" name="矩形 3"/>
          <p:cNvSpPr/>
          <p:nvPr/>
        </p:nvSpPr>
        <p:spPr>
          <a:xfrm>
            <a:off x="6037113" y="1352806"/>
            <a:ext cx="450441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plt.subplot</a:t>
            </a:r>
            <a:r>
              <a:rPr lang="en-US" altLang="zh-CN" dirty="0"/>
              <a:t>(3,2,3)</a:t>
            </a:r>
            <a:endParaRPr lang="zh-CN" altLang="zh-CN" dirty="0"/>
          </a:p>
          <a:p>
            <a:r>
              <a:rPr lang="en-US" altLang="zh-CN" dirty="0" err="1"/>
              <a:t>plt.bar</a:t>
            </a:r>
            <a:r>
              <a:rPr lang="en-US" altLang="zh-CN" dirty="0"/>
              <a:t>(x,y1)</a:t>
            </a:r>
            <a:endParaRPr lang="zh-CN" altLang="zh-CN" dirty="0"/>
          </a:p>
          <a:p>
            <a:r>
              <a:rPr lang="en-US" altLang="zh-CN" dirty="0" err="1"/>
              <a:t>plt.xlabel</a:t>
            </a:r>
            <a:r>
              <a:rPr lang="en-US" altLang="zh-CN" dirty="0"/>
              <a:t>('</a:t>
            </a:r>
            <a:r>
              <a:rPr lang="zh-CN" altLang="zh-CN" dirty="0"/>
              <a:t>日期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 err="1"/>
              <a:t>plt.ylabel</a:t>
            </a:r>
            <a:r>
              <a:rPr lang="en-US" altLang="zh-CN" dirty="0"/>
              <a:t>('</a:t>
            </a:r>
            <a:r>
              <a:rPr lang="zh-CN" altLang="zh-CN" dirty="0"/>
              <a:t>上车人数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 err="1"/>
              <a:t>plt.title</a:t>
            </a:r>
            <a:r>
              <a:rPr lang="en-US" altLang="zh-CN" dirty="0"/>
              <a:t>('D02</a:t>
            </a:r>
            <a:r>
              <a:rPr lang="zh-CN" altLang="zh-CN" dirty="0"/>
              <a:t>车次上车人数柱状图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 err="1"/>
              <a:t>plt.xticks</a:t>
            </a:r>
            <a:r>
              <a:rPr lang="en-US" altLang="zh-CN" dirty="0"/>
              <a:t>([1,5,10,15,20,24], </a:t>
            </a:r>
            <a:r>
              <a:rPr lang="en-US" altLang="zh-CN" dirty="0" err="1"/>
              <a:t>tb</a:t>
            </a:r>
            <a:r>
              <a:rPr lang="en-US" altLang="zh-CN" dirty="0"/>
              <a:t>['</a:t>
            </a:r>
            <a:r>
              <a:rPr lang="zh-CN" altLang="zh-CN" dirty="0"/>
              <a:t>日期</a:t>
            </a:r>
            <a:r>
              <a:rPr lang="en-US" altLang="zh-CN" dirty="0"/>
              <a:t>'].values[[0,4,9,14,19,23]], rotation = 45)</a:t>
            </a:r>
            <a:endParaRPr lang="zh-CN" altLang="zh-CN" dirty="0"/>
          </a:p>
        </p:txBody>
      </p:sp>
      <p:sp>
        <p:nvSpPr>
          <p:cNvPr id="5" name="矩形 4"/>
          <p:cNvSpPr/>
          <p:nvPr/>
        </p:nvSpPr>
        <p:spPr>
          <a:xfrm>
            <a:off x="6098381" y="4149080"/>
            <a:ext cx="438187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plt.subplot</a:t>
            </a:r>
            <a:r>
              <a:rPr lang="en-US" altLang="zh-CN" dirty="0"/>
              <a:t>(3,2,4)</a:t>
            </a:r>
            <a:endParaRPr lang="zh-CN" altLang="zh-CN" dirty="0"/>
          </a:p>
          <a:p>
            <a:r>
              <a:rPr lang="en-US" altLang="zh-CN" dirty="0" err="1"/>
              <a:t>plt.hist</a:t>
            </a:r>
            <a:r>
              <a:rPr lang="en-US" altLang="zh-CN" dirty="0"/>
              <a:t>(y1)</a:t>
            </a:r>
            <a:endParaRPr lang="zh-CN" altLang="zh-CN" dirty="0"/>
          </a:p>
          <a:p>
            <a:r>
              <a:rPr lang="en-US" altLang="zh-CN" dirty="0" err="1"/>
              <a:t>plt.xlabel</a:t>
            </a:r>
            <a:r>
              <a:rPr lang="en-US" altLang="zh-CN" dirty="0"/>
              <a:t>('</a:t>
            </a:r>
            <a:r>
              <a:rPr lang="zh-CN" altLang="zh-CN" dirty="0"/>
              <a:t>上车人数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 err="1"/>
              <a:t>plt.ylabel</a:t>
            </a:r>
            <a:r>
              <a:rPr lang="en-US" altLang="zh-CN" dirty="0"/>
              <a:t>('</a:t>
            </a:r>
            <a:r>
              <a:rPr lang="zh-CN" altLang="zh-CN" dirty="0"/>
              <a:t>频数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 err="1"/>
              <a:t>plt.title</a:t>
            </a:r>
            <a:r>
              <a:rPr lang="en-US" altLang="zh-CN" dirty="0"/>
              <a:t>('D02</a:t>
            </a:r>
            <a:r>
              <a:rPr lang="zh-CN" altLang="zh-CN" dirty="0"/>
              <a:t>车次上车人数直方图</a:t>
            </a:r>
            <a:r>
              <a:rPr lang="en-US" altLang="zh-CN" dirty="0"/>
              <a:t>')</a:t>
            </a:r>
            <a:endParaRPr lang="zh-CN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4.2.7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zh-CN" sz="2800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7364" y="1926458"/>
            <a:ext cx="5332219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/>
              <a:t>plt.subplot</a:t>
            </a:r>
            <a:r>
              <a:rPr lang="en-US" altLang="zh-CN" sz="2000" dirty="0"/>
              <a:t>(3,2,5)</a:t>
            </a:r>
            <a:endParaRPr lang="zh-CN" altLang="zh-CN" sz="2000" dirty="0"/>
          </a:p>
          <a:p>
            <a:r>
              <a:rPr lang="en-US" altLang="zh-CN" sz="2000" dirty="0"/>
              <a:t>D=</a:t>
            </a:r>
            <a:r>
              <a:rPr lang="en-US" altLang="zh-CN" sz="2000" dirty="0" err="1"/>
              <a:t>data.iloc</a:t>
            </a:r>
            <a:r>
              <a:rPr lang="en-US" altLang="zh-CN" sz="2000" dirty="0"/>
              <a:t>[:,0]</a:t>
            </a:r>
            <a:endParaRPr lang="zh-CN" altLang="zh-CN" sz="2000" dirty="0"/>
          </a:p>
          <a:p>
            <a:r>
              <a:rPr lang="en-US" altLang="zh-CN" sz="2000" dirty="0"/>
              <a:t>D=list(</a:t>
            </a:r>
            <a:r>
              <a:rPr lang="en-US" altLang="zh-CN" sz="2000" dirty="0" err="1"/>
              <a:t>D.unique</a:t>
            </a:r>
            <a:r>
              <a:rPr lang="en-US" altLang="zh-CN" sz="2000" dirty="0"/>
              <a:t>())  #</a:t>
            </a:r>
            <a:r>
              <a:rPr lang="zh-CN" altLang="zh-CN" sz="2000" dirty="0"/>
              <a:t>车次号</a:t>
            </a:r>
            <a:r>
              <a:rPr lang="en-US" altLang="zh-CN" sz="2000" dirty="0"/>
              <a:t>D02~D06</a:t>
            </a:r>
            <a:endParaRPr lang="zh-CN" altLang="zh-CN" sz="2000" dirty="0"/>
          </a:p>
          <a:p>
            <a:r>
              <a:rPr lang="en-US" altLang="zh-CN" sz="2000" dirty="0"/>
              <a:t>list1=[]    #</a:t>
            </a:r>
            <a:r>
              <a:rPr lang="zh-CN" altLang="zh-CN" sz="2000" dirty="0"/>
              <a:t>预定义每个车次的上车人数列表</a:t>
            </a:r>
            <a:endParaRPr lang="zh-CN" altLang="zh-CN" sz="2000" dirty="0"/>
          </a:p>
          <a:p>
            <a:r>
              <a:rPr lang="en-US" altLang="zh-CN" sz="2000" dirty="0"/>
              <a:t>for d in D:</a:t>
            </a:r>
            <a:endParaRPr lang="zh-CN" altLang="zh-CN" sz="2000" dirty="0"/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dt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data.loc</a:t>
            </a:r>
            <a:r>
              <a:rPr lang="en-US" altLang="zh-CN" sz="2000" dirty="0"/>
              <a:t>[data['</a:t>
            </a:r>
            <a:r>
              <a:rPr lang="zh-CN" altLang="zh-CN" sz="2000" dirty="0"/>
              <a:t>车次</a:t>
            </a:r>
            <a:r>
              <a:rPr lang="en-US" altLang="zh-CN" sz="2000" dirty="0"/>
              <a:t>'] == d,['</a:t>
            </a:r>
            <a:r>
              <a:rPr lang="zh-CN" altLang="zh-CN" sz="2000" dirty="0"/>
              <a:t>上车人数</a:t>
            </a:r>
            <a:r>
              <a:rPr lang="en-US" altLang="zh-CN" sz="2000" dirty="0"/>
              <a:t>']]</a:t>
            </a:r>
            <a:endParaRPr lang="zh-CN" altLang="zh-CN" sz="2000" dirty="0"/>
          </a:p>
          <a:p>
            <a:r>
              <a:rPr lang="en-US" altLang="zh-CN" sz="2000" dirty="0"/>
              <a:t>    s=</a:t>
            </a:r>
            <a:r>
              <a:rPr lang="en-US" altLang="zh-CN" sz="2000" dirty="0" err="1"/>
              <a:t>dt.sum</a:t>
            </a:r>
            <a:r>
              <a:rPr lang="en-US" altLang="zh-CN" sz="2000" dirty="0"/>
              <a:t>()</a:t>
            </a:r>
            <a:endParaRPr lang="zh-CN" altLang="zh-CN" sz="2000" dirty="0"/>
          </a:p>
          <a:p>
            <a:r>
              <a:rPr lang="en-US" altLang="zh-CN" sz="2000" dirty="0"/>
              <a:t>    list1.append(s['</a:t>
            </a:r>
            <a:r>
              <a:rPr lang="zh-CN" altLang="zh-CN" sz="2000" dirty="0"/>
              <a:t>上车人数</a:t>
            </a:r>
            <a:r>
              <a:rPr lang="en-US" altLang="zh-CN" sz="2000" dirty="0"/>
              <a:t>']) #</a:t>
            </a:r>
            <a:r>
              <a:rPr lang="zh-CN" altLang="zh-CN" sz="2000" dirty="0"/>
              <a:t>或者</a:t>
            </a:r>
            <a:r>
              <a:rPr lang="en-US" altLang="zh-CN" sz="2000" dirty="0"/>
              <a:t>s[0]</a:t>
            </a:r>
            <a:endParaRPr lang="zh-CN" altLang="zh-CN" sz="2000" dirty="0"/>
          </a:p>
          <a:p>
            <a:r>
              <a:rPr lang="en-US" altLang="zh-CN" sz="2000" dirty="0" err="1"/>
              <a:t>plt.pie</a:t>
            </a:r>
            <a:r>
              <a:rPr lang="en-US" altLang="zh-CN" sz="2000" dirty="0"/>
              <a:t>(list1,labels=</a:t>
            </a:r>
            <a:r>
              <a:rPr lang="en-US" altLang="zh-CN" sz="2000" dirty="0" err="1"/>
              <a:t>D,autopct</a:t>
            </a:r>
            <a:r>
              <a:rPr lang="en-US" altLang="zh-CN" sz="2000" dirty="0"/>
              <a:t>='%1.2f%%') #</a:t>
            </a:r>
            <a:r>
              <a:rPr lang="zh-CN" altLang="zh-CN" sz="2000" dirty="0"/>
              <a:t>绘制饼图，百分比保留小数点后两位</a:t>
            </a:r>
            <a:endParaRPr lang="zh-CN" altLang="zh-CN" sz="2000" dirty="0"/>
          </a:p>
          <a:p>
            <a:r>
              <a:rPr lang="en-US" altLang="zh-CN" sz="2000" dirty="0" err="1"/>
              <a:t>plt.title</a:t>
            </a:r>
            <a:r>
              <a:rPr lang="en-US" altLang="zh-CN" sz="2000" dirty="0"/>
              <a:t>('</a:t>
            </a:r>
            <a:r>
              <a:rPr lang="zh-CN" altLang="zh-CN" sz="2000" dirty="0"/>
              <a:t>各车次上车人数百分比饼图</a:t>
            </a:r>
            <a:r>
              <a:rPr lang="en-US" altLang="zh-CN" sz="2000" dirty="0"/>
              <a:t>')</a:t>
            </a:r>
            <a:endParaRPr lang="zh-CN" altLang="zh-CN" sz="2000" dirty="0"/>
          </a:p>
        </p:txBody>
      </p:sp>
      <p:sp>
        <p:nvSpPr>
          <p:cNvPr id="3" name="矩形 2"/>
          <p:cNvSpPr/>
          <p:nvPr/>
        </p:nvSpPr>
        <p:spPr>
          <a:xfrm>
            <a:off x="6324108" y="2274838"/>
            <a:ext cx="511256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/>
              <a:t>plt.subplot</a:t>
            </a:r>
            <a:r>
              <a:rPr lang="en-US" altLang="zh-CN" sz="2000" dirty="0"/>
              <a:t>(3,2,6)</a:t>
            </a:r>
            <a:endParaRPr lang="zh-CN" altLang="zh-CN" sz="2000" dirty="0"/>
          </a:p>
          <a:p>
            <a:r>
              <a:rPr lang="en-US" altLang="zh-CN" sz="2000" dirty="0" err="1"/>
              <a:t>plt.boxplot</a:t>
            </a:r>
            <a:r>
              <a:rPr lang="en-US" altLang="zh-CN" sz="2000" dirty="0"/>
              <a:t>([y1.values,y2.values])</a:t>
            </a:r>
            <a:endParaRPr lang="zh-CN" altLang="zh-CN" sz="2000" dirty="0"/>
          </a:p>
          <a:p>
            <a:r>
              <a:rPr lang="en-US" altLang="zh-CN" sz="2000" dirty="0" err="1"/>
              <a:t>plt.xticks</a:t>
            </a:r>
            <a:r>
              <a:rPr lang="en-US" altLang="zh-CN" sz="2000" dirty="0"/>
              <a:t>([1,2], ['D02','D03'], rotation = 0) </a:t>
            </a:r>
            <a:endParaRPr lang="zh-CN" altLang="zh-CN" sz="2000" dirty="0"/>
          </a:p>
          <a:p>
            <a:r>
              <a:rPr lang="en-US" altLang="zh-CN" sz="2000" dirty="0" err="1"/>
              <a:t>plt.title</a:t>
            </a:r>
            <a:r>
              <a:rPr lang="en-US" altLang="zh-CN" sz="2000" dirty="0"/>
              <a:t>('D02</a:t>
            </a:r>
            <a:r>
              <a:rPr lang="zh-CN" altLang="zh-CN" sz="2000" dirty="0"/>
              <a:t>、</a:t>
            </a:r>
            <a:r>
              <a:rPr lang="en-US" altLang="zh-CN" sz="2000" dirty="0"/>
              <a:t>D03</a:t>
            </a:r>
            <a:r>
              <a:rPr lang="zh-CN" altLang="zh-CN" sz="2000" dirty="0"/>
              <a:t>车次上车人数箱线图</a:t>
            </a:r>
            <a:r>
              <a:rPr lang="en-US" altLang="zh-CN" sz="2000" dirty="0"/>
              <a:t>')</a:t>
            </a:r>
            <a:endParaRPr lang="zh-CN" altLang="zh-CN" sz="2000" dirty="0"/>
          </a:p>
          <a:p>
            <a:r>
              <a:rPr lang="en-US" altLang="zh-CN" sz="2000" dirty="0" err="1"/>
              <a:t>plt.ylabel</a:t>
            </a:r>
            <a:r>
              <a:rPr lang="en-US" altLang="zh-CN" sz="2000" dirty="0"/>
              <a:t>('</a:t>
            </a:r>
            <a:r>
              <a:rPr lang="zh-CN" altLang="zh-CN" sz="2000" dirty="0"/>
              <a:t>上车人数</a:t>
            </a:r>
            <a:r>
              <a:rPr lang="en-US" altLang="zh-CN" sz="2000" dirty="0"/>
              <a:t>')</a:t>
            </a:r>
            <a:endParaRPr lang="zh-CN" altLang="zh-CN" sz="2000" dirty="0"/>
          </a:p>
          <a:p>
            <a:r>
              <a:rPr lang="en-US" altLang="zh-CN" sz="2000" dirty="0" err="1"/>
              <a:t>plt.xlabel</a:t>
            </a:r>
            <a:r>
              <a:rPr lang="en-US" altLang="zh-CN" sz="2000" dirty="0"/>
              <a:t>('</a:t>
            </a:r>
            <a:r>
              <a:rPr lang="zh-CN" altLang="zh-CN" sz="2000" dirty="0"/>
              <a:t>车次</a:t>
            </a:r>
            <a:r>
              <a:rPr lang="en-US" altLang="zh-CN" sz="2000" dirty="0"/>
              <a:t>')</a:t>
            </a:r>
            <a:endParaRPr lang="zh-CN" altLang="zh-CN" sz="2000" dirty="0"/>
          </a:p>
          <a:p>
            <a:r>
              <a:rPr lang="en-US" altLang="zh-CN" sz="2000" dirty="0" err="1"/>
              <a:t>plt.tight_layout</a:t>
            </a:r>
            <a:r>
              <a:rPr lang="en-US" altLang="zh-CN" sz="2000" dirty="0"/>
              <a:t>()</a:t>
            </a:r>
            <a:endParaRPr lang="zh-CN" altLang="zh-CN" sz="2000" dirty="0"/>
          </a:p>
          <a:p>
            <a:r>
              <a:rPr lang="en-US" altLang="zh-CN" sz="2000" dirty="0" err="1"/>
              <a:t>plt.savefig</a:t>
            </a:r>
            <a:r>
              <a:rPr lang="en-US" altLang="zh-CN" sz="2000" dirty="0"/>
              <a:t>('</a:t>
            </a:r>
            <a:r>
              <a:rPr lang="zh-CN" altLang="zh-CN" sz="2000" dirty="0"/>
              <a:t>子图</a:t>
            </a:r>
            <a:r>
              <a:rPr lang="en-US" altLang="zh-CN" sz="2000" dirty="0"/>
              <a:t>')</a:t>
            </a:r>
            <a:endParaRPr lang="zh-CN" altLang="zh-CN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4.2.7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zh-CN" sz="2800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0263" y="814060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 smtClean="0"/>
              <a:t>执行</a:t>
            </a:r>
            <a:r>
              <a:rPr lang="zh-CN" altLang="en-US" dirty="0" smtClean="0"/>
              <a:t>子图</a:t>
            </a:r>
            <a:r>
              <a:rPr lang="zh-CN" altLang="zh-CN" dirty="0" smtClean="0"/>
              <a:t>结果</a:t>
            </a:r>
            <a:r>
              <a:rPr lang="zh-CN" altLang="zh-CN" dirty="0"/>
              <a:t>如图</a:t>
            </a:r>
            <a:r>
              <a:rPr lang="en-US" altLang="zh-CN" dirty="0" smtClean="0"/>
              <a:t>4-16</a:t>
            </a:r>
            <a:r>
              <a:rPr lang="zh-CN" altLang="en-US" dirty="0" smtClean="0"/>
              <a:t>：</a:t>
            </a:r>
            <a:endParaRPr lang="zh-CN" altLang="zh-C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909" y="1325563"/>
            <a:ext cx="7920880" cy="4623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112723" y="6165304"/>
            <a:ext cx="1179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600" dirty="0"/>
              <a:t>图</a:t>
            </a:r>
            <a:r>
              <a:rPr lang="en-US" altLang="zh-CN" sz="1600" dirty="0" smtClean="0"/>
              <a:t>4-16</a:t>
            </a:r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4.2.7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zh-CN" sz="2800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04523" y="2132856"/>
            <a:ext cx="932080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zh-CN" sz="2800" dirty="0"/>
              <a:t>图</a:t>
            </a:r>
            <a:r>
              <a:rPr lang="en-US" altLang="zh-CN" sz="2800" dirty="0"/>
              <a:t>4-16</a:t>
            </a:r>
            <a:r>
              <a:rPr lang="zh-CN" altLang="zh-CN" sz="2800" dirty="0"/>
              <a:t>显示了将散点图、线性图、柱状图、直方图、饼图和箱线图六种不同图形在一个</a:t>
            </a:r>
            <a:r>
              <a:rPr lang="en-US" altLang="zh-CN" sz="2800" dirty="0"/>
              <a:t>figure</a:t>
            </a:r>
            <a:r>
              <a:rPr lang="zh-CN" altLang="zh-CN" sz="2800" dirty="0"/>
              <a:t>画布中采用子图的形式展现出来。在绘制子图过程中需要注意是</a:t>
            </a:r>
            <a:r>
              <a:rPr lang="en-US" altLang="zh-CN" sz="2800" dirty="0"/>
              <a:t>figure</a:t>
            </a:r>
            <a:r>
              <a:rPr lang="zh-CN" altLang="zh-CN" sz="2800" dirty="0"/>
              <a:t>画布尺寸设置不能太小，可以通过</a:t>
            </a:r>
            <a:r>
              <a:rPr lang="en-US" altLang="zh-CN" sz="2800" dirty="0" err="1"/>
              <a:t>plt.figure</a:t>
            </a:r>
            <a:r>
              <a:rPr lang="en-US" altLang="zh-CN" sz="2800" dirty="0"/>
              <a:t>(</a:t>
            </a:r>
            <a:r>
              <a:rPr lang="en-US" altLang="zh-CN" sz="2800" dirty="0" err="1"/>
              <a:t>figsize</a:t>
            </a:r>
            <a:r>
              <a:rPr lang="en-US" altLang="zh-CN" sz="2800" dirty="0"/>
              <a:t>=xxx)</a:t>
            </a:r>
            <a:r>
              <a:rPr lang="zh-CN" altLang="zh-CN" sz="2800" dirty="0"/>
              <a:t>命令来设置大小。同时不同子图之间可能存在重叠现象，可以通过</a:t>
            </a:r>
            <a:r>
              <a:rPr lang="en-US" altLang="zh-CN" sz="2800" dirty="0" err="1"/>
              <a:t>plt.tight_layout</a:t>
            </a:r>
            <a:r>
              <a:rPr lang="en-US" altLang="zh-CN" sz="2800" dirty="0"/>
              <a:t>()</a:t>
            </a:r>
            <a:r>
              <a:rPr lang="zh-CN" altLang="zh-CN" sz="2800" dirty="0"/>
              <a:t>命令来布局。</a:t>
            </a:r>
            <a:endParaRPr lang="zh-CN" altLang="zh-CN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71994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3805" y="2136338"/>
            <a:ext cx="1008112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zh-CN" sz="2800" dirty="0"/>
              <a:t>绘图是数据分析实现数据可视化的一个非常重要的手段。本章介绍了</a:t>
            </a:r>
            <a:r>
              <a:rPr lang="en-US" altLang="zh-CN" sz="2800" dirty="0"/>
              <a:t>Python</a:t>
            </a:r>
            <a:r>
              <a:rPr lang="zh-CN" altLang="zh-CN" sz="2800" dirty="0"/>
              <a:t>绘图包</a:t>
            </a:r>
            <a:r>
              <a:rPr lang="en-US" altLang="zh-CN" sz="2800" dirty="0" err="1"/>
              <a:t>Matplotlib</a:t>
            </a:r>
            <a:r>
              <a:rPr lang="zh-CN" altLang="zh-CN" sz="2800" dirty="0"/>
              <a:t>中的</a:t>
            </a:r>
            <a:r>
              <a:rPr lang="en-US" altLang="zh-CN" sz="2800" dirty="0" err="1"/>
              <a:t>pyplot</a:t>
            </a:r>
            <a:r>
              <a:rPr lang="zh-CN" altLang="zh-CN" sz="2800" dirty="0"/>
              <a:t>模块，包括如何导入</a:t>
            </a:r>
            <a:r>
              <a:rPr lang="en-US" altLang="zh-CN" sz="2800" dirty="0"/>
              <a:t>Python</a:t>
            </a:r>
            <a:r>
              <a:rPr lang="zh-CN" altLang="zh-CN" sz="2800" dirty="0"/>
              <a:t>以及常用图像的绘制，包括散点图、线性图、柱状图、直方图、饼图、箱线图和子图的绘制。特别是子图，能够将几种不同类型的图像在一个</a:t>
            </a:r>
            <a:r>
              <a:rPr lang="en-US" altLang="zh-CN" sz="2800" dirty="0"/>
              <a:t>figure</a:t>
            </a:r>
            <a:r>
              <a:rPr lang="zh-CN" altLang="zh-CN" sz="2800" dirty="0"/>
              <a:t>界面中展示，方便图像之间的对比，这在金融数据挖掘分析任务中尤为重要。需要特别注意的是，</a:t>
            </a:r>
            <a:r>
              <a:rPr lang="en-US" altLang="zh-CN" sz="2800" dirty="0" err="1"/>
              <a:t>pyplot</a:t>
            </a:r>
            <a:r>
              <a:rPr lang="zh-CN" altLang="zh-CN" sz="2800" dirty="0"/>
              <a:t>模块的绘图命令与</a:t>
            </a:r>
            <a:r>
              <a:rPr lang="en-US" altLang="zh-CN" sz="2800" dirty="0" err="1"/>
              <a:t>Matlab</a:t>
            </a:r>
            <a:r>
              <a:rPr lang="zh-CN" altLang="zh-CN" sz="2800" dirty="0"/>
              <a:t>非常相似，如果读者具备一定的</a:t>
            </a:r>
            <a:r>
              <a:rPr lang="en-US" altLang="zh-CN" sz="2800" dirty="0" err="1"/>
              <a:t>Matlab</a:t>
            </a:r>
            <a:r>
              <a:rPr lang="zh-CN" altLang="zh-CN" sz="2800" dirty="0"/>
              <a:t>基础，学习起来将非常简单。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71994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本章练习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62298" y="629239"/>
            <a:ext cx="102971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创建一个</a:t>
            </a:r>
            <a:r>
              <a:rPr lang="en-US" altLang="zh-CN" dirty="0"/>
              <a:t>Python</a:t>
            </a:r>
            <a:r>
              <a:rPr lang="zh-CN" altLang="zh-CN" dirty="0"/>
              <a:t>脚本，命名为</a:t>
            </a:r>
            <a:r>
              <a:rPr lang="en-US" altLang="zh-CN" dirty="0"/>
              <a:t>test1.py</a:t>
            </a:r>
            <a:r>
              <a:rPr lang="zh-CN" altLang="zh-CN" dirty="0"/>
              <a:t>，完成以下功能：</a:t>
            </a:r>
            <a:endParaRPr lang="zh-CN" altLang="zh-CN" dirty="0"/>
          </a:p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）今有</a:t>
            </a:r>
            <a:r>
              <a:rPr lang="en-US" altLang="zh-CN" dirty="0"/>
              <a:t>2018</a:t>
            </a:r>
            <a:r>
              <a:rPr lang="zh-CN" altLang="zh-CN" dirty="0"/>
              <a:t>年</a:t>
            </a:r>
            <a:r>
              <a:rPr lang="en-US" altLang="zh-CN" dirty="0"/>
              <a:t>1</a:t>
            </a:r>
            <a:r>
              <a:rPr lang="zh-CN" altLang="zh-CN" dirty="0"/>
              <a:t>月前半个月的猪肉价格和牛肉价格数据，他们存在于一个</a:t>
            </a:r>
            <a:r>
              <a:rPr lang="en-US" altLang="zh-CN" dirty="0"/>
              <a:t>Excel</a:t>
            </a:r>
            <a:r>
              <a:rPr lang="zh-CN" altLang="zh-CN" dirty="0"/>
              <a:t>表格中，如下表所示。将其读入</a:t>
            </a:r>
            <a:r>
              <a:rPr lang="en-US" altLang="zh-CN" dirty="0"/>
              <a:t>Python</a:t>
            </a:r>
            <a:r>
              <a:rPr lang="zh-CN" altLang="zh-CN" dirty="0"/>
              <a:t>中并用一个数据框变量</a:t>
            </a:r>
            <a:r>
              <a:rPr lang="en-US" altLang="zh-CN" dirty="0" err="1"/>
              <a:t>df</a:t>
            </a:r>
            <a:r>
              <a:rPr lang="zh-CN" altLang="zh-CN" dirty="0"/>
              <a:t>来保存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indent="457200"/>
            <a:r>
              <a:rPr lang="zh-CN" altLang="zh-CN" dirty="0" smtClean="0"/>
              <a:t>分别</a:t>
            </a:r>
            <a:r>
              <a:rPr lang="zh-CN" altLang="zh-CN" dirty="0"/>
              <a:t>绘制前</a:t>
            </a:r>
            <a:r>
              <a:rPr lang="en-US" altLang="zh-CN" dirty="0"/>
              <a:t>10</a:t>
            </a:r>
            <a:r>
              <a:rPr lang="zh-CN" altLang="zh-CN" dirty="0"/>
              <a:t>天的猪肉价格和牛肉价格走势图</a:t>
            </a:r>
            <a:endParaRPr lang="zh-CN" altLang="zh-CN" dirty="0"/>
          </a:p>
          <a:p>
            <a:r>
              <a:rPr lang="zh-CN" altLang="zh-CN" dirty="0"/>
              <a:t>在同一个</a:t>
            </a:r>
            <a:r>
              <a:rPr lang="en-US" altLang="zh-CN" dirty="0"/>
              <a:t>figure</a:t>
            </a:r>
            <a:r>
              <a:rPr lang="zh-CN" altLang="zh-CN" dirty="0"/>
              <a:t>中，用一个</a:t>
            </a:r>
            <a:r>
              <a:rPr lang="en-US" altLang="zh-CN" dirty="0"/>
              <a:t>2*1</a:t>
            </a:r>
            <a:r>
              <a:rPr lang="zh-CN" altLang="zh-CN" dirty="0"/>
              <a:t>的子图分别绘制</a:t>
            </a:r>
            <a:r>
              <a:rPr lang="en-US" altLang="zh-CN" dirty="0"/>
              <a:t>2018</a:t>
            </a:r>
            <a:r>
              <a:rPr lang="zh-CN" altLang="zh-CN" dirty="0"/>
              <a:t>年</a:t>
            </a:r>
            <a:r>
              <a:rPr lang="en-US" altLang="zh-CN" dirty="0"/>
              <a:t>1</a:t>
            </a:r>
            <a:r>
              <a:rPr lang="zh-CN" altLang="zh-CN" dirty="0"/>
              <a:t>月前半个月的猪肉价格和牛肉价格走势图。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09749" y="2060848"/>
            <a:ext cx="1007940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82324" y="2276872"/>
          <a:ext cx="7416824" cy="399288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672815"/>
                <a:gridCol w="2069277"/>
                <a:gridCol w="2674732"/>
              </a:tblGrid>
              <a:tr h="178553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zh-CN" sz="1200" kern="0" dirty="0">
                          <a:effectLst/>
                        </a:rPr>
                        <a:t>日期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猪肉价格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牛肉价格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</a:tr>
              <a:tr h="218522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2018/1/1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11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38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</a:tr>
              <a:tr h="218522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2018/1/2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12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39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</a:tr>
              <a:tr h="218522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2018/1/3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11.5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41.3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</a:tr>
              <a:tr h="218522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2018/1/4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12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40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</a:tr>
              <a:tr h="218522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2018/1/5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12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43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</a:tr>
              <a:tr h="218522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2018/1/6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11.2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44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</a:tr>
              <a:tr h="218522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2018/1/7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13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47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</a:tr>
              <a:tr h="218522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2018/1/8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12.6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43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</a:tr>
              <a:tr h="218522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2018/1/9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13.5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42.3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</a:tr>
              <a:tr h="218522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2018/1/10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13.9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42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</a:tr>
              <a:tr h="218522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2018/1/11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13.8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43.1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</a:tr>
              <a:tr h="218522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2018/1/12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14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42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</a:tr>
              <a:tr h="218522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2018/1/13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13.5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39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</a:tr>
              <a:tr h="218522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2018/1/14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14.5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38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</a:tr>
              <a:tr h="218522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2018/1/15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14.8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37.5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7752</Words>
  <Application>WPS 演示</Application>
  <PresentationFormat>自定义</PresentationFormat>
  <Paragraphs>541</Paragraphs>
  <Slides>26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仿宋_GB2312</vt:lpstr>
      <vt:lpstr>Calibri</vt:lpstr>
      <vt:lpstr>Calibri</vt:lpstr>
      <vt:lpstr>方正卡通简体</vt:lpstr>
      <vt:lpstr>Times New Roman</vt:lpstr>
      <vt:lpstr>Arial Unicode MS</vt:lpstr>
      <vt:lpstr>仿宋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Administrator</cp:lastModifiedBy>
  <cp:revision>1593</cp:revision>
  <dcterms:created xsi:type="dcterms:W3CDTF">2013-01-25T01:44:00Z</dcterms:created>
  <dcterms:modified xsi:type="dcterms:W3CDTF">2020-01-10T02:54:54Z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