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
  </p:handoutMasterIdLst>
  <p:sldIdLst>
    <p:sldId id="828" r:id="rId3"/>
    <p:sldId id="914" r:id="rId5"/>
    <p:sldId id="933" r:id="rId6"/>
    <p:sldId id="855" r:id="rId7"/>
    <p:sldId id="928" r:id="rId8"/>
    <p:sldId id="922" r:id="rId9"/>
    <p:sldId id="924" r:id="rId10"/>
    <p:sldId id="934" r:id="rId11"/>
    <p:sldId id="935" r:id="rId12"/>
    <p:sldId id="936" r:id="rId13"/>
    <p:sldId id="937" r:id="rId14"/>
    <p:sldId id="938" r:id="rId15"/>
    <p:sldId id="939" r:id="rId16"/>
  </p:sldIdLst>
  <p:sldSz cx="12196445"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尚佳"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8F8"/>
    <a:srgbClr val="17DCF1"/>
    <a:srgbClr val="0DC2D5"/>
    <a:srgbClr val="006BBC"/>
    <a:srgbClr val="00AAA2"/>
    <a:srgbClr val="EFEFEF"/>
    <a:srgbClr val="FFFFFF"/>
    <a:srgbClr val="F0F0F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8" autoAdjust="0"/>
    <p:restoredTop sz="94270" autoAdjust="0"/>
  </p:normalViewPr>
  <p:slideViewPr>
    <p:cSldViewPr snapToObjects="1">
      <p:cViewPr varScale="1">
        <p:scale>
          <a:sx n="108" d="100"/>
          <a:sy n="108" d="100"/>
        </p:scale>
        <p:origin x="-96" y="-132"/>
      </p:cViewPr>
      <p:guideLst>
        <p:guide orient="horz" pos="2143"/>
        <p:guide pos="3842"/>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notesViewPr>
    <p:cSldViewPr snapToObjects="1">
      <p:cViewPr varScale="1">
        <p:scale>
          <a:sx n="69" d="100"/>
          <a:sy n="69" d="100"/>
        </p:scale>
        <p:origin x="-28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B517205-86B9-4F61-8F91-12AC750A6E0A}" type="doc">
      <dgm:prSet loTypeId="urn:microsoft.com/office/officeart/2005/8/layout/process1" loCatId="process" qsTypeId="urn:microsoft.com/office/officeart/2005/8/quickstyle/simple3" qsCatId="simple" csTypeId="urn:microsoft.com/office/officeart/2005/8/colors/accent1_2" csCatId="accent1" phldr="1"/>
      <dgm:spPr/>
    </dgm:pt>
    <dgm:pt modelId="{740C25D0-78A6-47D2-AC78-635DEF697F36}">
      <dgm:prSet phldrT="[文本]"/>
      <dgm:spPr/>
      <dgm:t>
        <a:bodyPr/>
        <a:lstStyle/>
        <a:p>
          <a:r>
            <a:rPr lang="zh-CN" altLang="en-US" dirty="0" smtClean="0"/>
            <a:t>数据处理</a:t>
          </a:r>
          <a:endParaRPr lang="zh-CN" altLang="en-US" dirty="0"/>
        </a:p>
      </dgm:t>
    </dgm:pt>
    <dgm:pt modelId="{E91BFF49-4245-46D5-8B61-FED5A49F1DFF}" cxnId="{F8E67897-D855-4713-A2D5-483AE767928D}" type="parTrans">
      <dgm:prSet/>
      <dgm:spPr/>
      <dgm:t>
        <a:bodyPr/>
        <a:lstStyle/>
        <a:p>
          <a:endParaRPr lang="zh-CN" altLang="en-US"/>
        </a:p>
      </dgm:t>
    </dgm:pt>
    <dgm:pt modelId="{B6B751E8-BE71-4AD5-B791-8E997F238274}" cxnId="{F8E67897-D855-4713-A2D5-483AE767928D}" type="sibTrans">
      <dgm:prSet/>
      <dgm:spPr/>
      <dgm:t>
        <a:bodyPr/>
        <a:lstStyle/>
        <a:p>
          <a:endParaRPr lang="zh-CN" altLang="en-US"/>
        </a:p>
      </dgm:t>
    </dgm:pt>
    <dgm:pt modelId="{B2C5534D-B0F6-4D0D-8760-4BE00CC009BE}">
      <dgm:prSet phldrT="[文本]"/>
      <dgm:spPr/>
      <dgm:t>
        <a:bodyPr/>
        <a:lstStyle/>
        <a:p>
          <a:r>
            <a:rPr lang="zh-CN" altLang="en-US" dirty="0" smtClean="0"/>
            <a:t>主成分分析</a:t>
          </a:r>
          <a:endParaRPr lang="zh-CN" altLang="en-US" dirty="0"/>
        </a:p>
      </dgm:t>
    </dgm:pt>
    <dgm:pt modelId="{4A5AD44F-B4AA-4D3C-B500-762E2C41C224}" cxnId="{1EC64FE1-D7AD-4E29-8E12-2574EF639F32}" type="parTrans">
      <dgm:prSet/>
      <dgm:spPr/>
      <dgm:t>
        <a:bodyPr/>
        <a:lstStyle/>
        <a:p>
          <a:endParaRPr lang="zh-CN" altLang="en-US"/>
        </a:p>
      </dgm:t>
    </dgm:pt>
    <dgm:pt modelId="{9FFE446A-244C-47F1-A01B-12F2D56DBBA7}" cxnId="{1EC64FE1-D7AD-4E29-8E12-2574EF639F32}" type="sibTrans">
      <dgm:prSet/>
      <dgm:spPr/>
      <dgm:t>
        <a:bodyPr/>
        <a:lstStyle/>
        <a:p>
          <a:endParaRPr lang="zh-CN" altLang="en-US"/>
        </a:p>
      </dgm:t>
    </dgm:pt>
    <dgm:pt modelId="{D1CF9086-2E99-458F-9F0A-FACE3BDE8B5F}">
      <dgm:prSet/>
      <dgm:spPr/>
      <dgm:t>
        <a:bodyPr/>
        <a:lstStyle/>
        <a:p>
          <a:r>
            <a:rPr lang="zh-CN" altLang="en-US" dirty="0" smtClean="0"/>
            <a:t>指标选择</a:t>
          </a:r>
          <a:endParaRPr lang="zh-CN" altLang="en-US" dirty="0"/>
        </a:p>
      </dgm:t>
    </dgm:pt>
    <dgm:pt modelId="{0920C928-C895-4C12-9E46-04E5D3051E9C}" cxnId="{83C88A53-9585-442A-A3D4-A809E162ED24}" type="parTrans">
      <dgm:prSet/>
      <dgm:spPr/>
      <dgm:t>
        <a:bodyPr/>
        <a:lstStyle/>
        <a:p>
          <a:endParaRPr lang="zh-CN" altLang="en-US"/>
        </a:p>
      </dgm:t>
    </dgm:pt>
    <dgm:pt modelId="{B4B86D64-22C7-4607-B651-E2FF8CFF6516}" cxnId="{83C88A53-9585-442A-A3D4-A809E162ED24}" type="sibTrans">
      <dgm:prSet/>
      <dgm:spPr/>
      <dgm:t>
        <a:bodyPr/>
        <a:lstStyle/>
        <a:p>
          <a:endParaRPr lang="zh-CN" altLang="en-US"/>
        </a:p>
      </dgm:t>
    </dgm:pt>
    <dgm:pt modelId="{36724727-A33D-4E68-A354-A731A788D00E}">
      <dgm:prSet phldrT="[文本]"/>
      <dgm:spPr/>
      <dgm:t>
        <a:bodyPr/>
        <a:lstStyle/>
        <a:p>
          <a:r>
            <a:rPr lang="zh-CN" altLang="en-US" dirty="0" smtClean="0"/>
            <a:t>综合排名</a:t>
          </a:r>
          <a:endParaRPr lang="zh-CN" altLang="en-US" dirty="0"/>
        </a:p>
      </dgm:t>
    </dgm:pt>
    <dgm:pt modelId="{321C736A-2DC0-43E5-9481-DB4982C8A2B4}" cxnId="{07710378-6C38-422F-8C9C-0D6FC929D1D0}" type="parTrans">
      <dgm:prSet/>
      <dgm:spPr/>
      <dgm:t>
        <a:bodyPr/>
        <a:lstStyle/>
        <a:p>
          <a:endParaRPr lang="zh-CN" altLang="en-US"/>
        </a:p>
      </dgm:t>
    </dgm:pt>
    <dgm:pt modelId="{8E314007-7FB8-431C-B873-342F776EA6A8}" cxnId="{07710378-6C38-422F-8C9C-0D6FC929D1D0}" type="sibTrans">
      <dgm:prSet/>
      <dgm:spPr/>
      <dgm:t>
        <a:bodyPr/>
        <a:lstStyle/>
        <a:p>
          <a:endParaRPr lang="zh-CN" altLang="en-US"/>
        </a:p>
      </dgm:t>
    </dgm:pt>
    <dgm:pt modelId="{CEFA5BC3-9D4B-4EB0-B2D6-A5A84C13E2F6}">
      <dgm:prSet phldrT="[文本]"/>
      <dgm:spPr/>
      <dgm:t>
        <a:bodyPr/>
        <a:lstStyle/>
        <a:p>
          <a:r>
            <a:rPr lang="zh-CN" altLang="en-US" dirty="0" smtClean="0"/>
            <a:t>收益率计算</a:t>
          </a:r>
          <a:endParaRPr lang="zh-CN" altLang="en-US" dirty="0"/>
        </a:p>
      </dgm:t>
    </dgm:pt>
    <dgm:pt modelId="{8B661A22-666D-4CE4-9622-A075198DE706}" cxnId="{F776E0E7-32A9-4B18-BF4D-710EFEFD8064}" type="parTrans">
      <dgm:prSet/>
      <dgm:spPr/>
      <dgm:t>
        <a:bodyPr/>
        <a:lstStyle/>
        <a:p>
          <a:endParaRPr lang="zh-CN" altLang="en-US"/>
        </a:p>
      </dgm:t>
    </dgm:pt>
    <dgm:pt modelId="{CD7083D1-98B7-43F9-AF9D-7779CDBD708E}" cxnId="{F776E0E7-32A9-4B18-BF4D-710EFEFD8064}" type="sibTrans">
      <dgm:prSet/>
      <dgm:spPr/>
      <dgm:t>
        <a:bodyPr/>
        <a:lstStyle/>
        <a:p>
          <a:endParaRPr lang="zh-CN" altLang="en-US"/>
        </a:p>
      </dgm:t>
    </dgm:pt>
    <dgm:pt modelId="{560EA6DB-DA97-4F1F-81B2-A07991DDEE6F}">
      <dgm:prSet phldrT="[文本]"/>
      <dgm:spPr/>
      <dgm:t>
        <a:bodyPr/>
        <a:lstStyle/>
        <a:p>
          <a:r>
            <a:rPr lang="zh-CN" smtClean="0"/>
            <a:t>量化投资策略设计与分析</a:t>
          </a:r>
          <a:endParaRPr lang="zh-CN" altLang="en-US" dirty="0"/>
        </a:p>
      </dgm:t>
    </dgm:pt>
    <dgm:pt modelId="{520171DF-3295-493B-BA70-578C40E7B250}" cxnId="{EEE39CD1-D1B0-46D1-8027-635D97F57A61}" type="parTrans">
      <dgm:prSet/>
      <dgm:spPr/>
      <dgm:t>
        <a:bodyPr/>
        <a:lstStyle/>
        <a:p>
          <a:endParaRPr lang="zh-CN" altLang="en-US"/>
        </a:p>
      </dgm:t>
    </dgm:pt>
    <dgm:pt modelId="{1B248611-E0A1-43FA-9116-D3F3D8A72066}" cxnId="{EEE39CD1-D1B0-46D1-8027-635D97F57A61}" type="sibTrans">
      <dgm:prSet/>
      <dgm:spPr/>
      <dgm:t>
        <a:bodyPr/>
        <a:lstStyle/>
        <a:p>
          <a:endParaRPr lang="zh-CN" altLang="en-US"/>
        </a:p>
      </dgm:t>
    </dgm:pt>
    <dgm:pt modelId="{27934EAF-0427-4DEB-9AF1-B64AC2CDBA05}" type="pres">
      <dgm:prSet presAssocID="{EB517205-86B9-4F61-8F91-12AC750A6E0A}" presName="Name0" presStyleCnt="0">
        <dgm:presLayoutVars>
          <dgm:dir/>
          <dgm:resizeHandles val="exact"/>
        </dgm:presLayoutVars>
      </dgm:prSet>
      <dgm:spPr/>
    </dgm:pt>
    <dgm:pt modelId="{84763D1C-C857-488D-AFD1-AB802C6EB2C6}" type="pres">
      <dgm:prSet presAssocID="{D1CF9086-2E99-458F-9F0A-FACE3BDE8B5F}" presName="node" presStyleLbl="node1" presStyleIdx="0" presStyleCnt="6">
        <dgm:presLayoutVars>
          <dgm:bulletEnabled val="1"/>
        </dgm:presLayoutVars>
      </dgm:prSet>
      <dgm:spPr/>
      <dgm:t>
        <a:bodyPr/>
        <a:lstStyle/>
        <a:p>
          <a:endParaRPr lang="zh-CN" altLang="en-US"/>
        </a:p>
      </dgm:t>
    </dgm:pt>
    <dgm:pt modelId="{C9F7B2E0-9086-4D9A-B683-B5281240DB28}" type="pres">
      <dgm:prSet presAssocID="{B4B86D64-22C7-4607-B651-E2FF8CFF6516}" presName="sibTrans" presStyleLbl="sibTrans2D1" presStyleIdx="0" presStyleCnt="5"/>
      <dgm:spPr/>
      <dgm:t>
        <a:bodyPr/>
        <a:lstStyle/>
        <a:p>
          <a:endParaRPr lang="zh-CN" altLang="en-US"/>
        </a:p>
      </dgm:t>
    </dgm:pt>
    <dgm:pt modelId="{05217039-ABF4-4B26-B5AB-1CF767B715C6}" type="pres">
      <dgm:prSet presAssocID="{B4B86D64-22C7-4607-B651-E2FF8CFF6516}" presName="connectorText" presStyleLbl="sibTrans2D1" presStyleIdx="0" presStyleCnt="5"/>
      <dgm:spPr/>
      <dgm:t>
        <a:bodyPr/>
        <a:lstStyle/>
        <a:p>
          <a:endParaRPr lang="zh-CN" altLang="en-US"/>
        </a:p>
      </dgm:t>
    </dgm:pt>
    <dgm:pt modelId="{85A6444C-55E3-4259-BFA7-F92FAE97EEEA}" type="pres">
      <dgm:prSet presAssocID="{740C25D0-78A6-47D2-AC78-635DEF697F36}" presName="node" presStyleLbl="node1" presStyleIdx="1" presStyleCnt="6">
        <dgm:presLayoutVars>
          <dgm:bulletEnabled val="1"/>
        </dgm:presLayoutVars>
      </dgm:prSet>
      <dgm:spPr/>
      <dgm:t>
        <a:bodyPr/>
        <a:lstStyle/>
        <a:p>
          <a:endParaRPr lang="zh-CN" altLang="en-US"/>
        </a:p>
      </dgm:t>
    </dgm:pt>
    <dgm:pt modelId="{D80F7F66-3F47-49EF-A965-87FB8733DF44}" type="pres">
      <dgm:prSet presAssocID="{B6B751E8-BE71-4AD5-B791-8E997F238274}" presName="sibTrans" presStyleLbl="sibTrans2D1" presStyleIdx="1" presStyleCnt="5"/>
      <dgm:spPr/>
      <dgm:t>
        <a:bodyPr/>
        <a:lstStyle/>
        <a:p>
          <a:endParaRPr lang="zh-CN" altLang="en-US"/>
        </a:p>
      </dgm:t>
    </dgm:pt>
    <dgm:pt modelId="{47AE1608-B10D-4D24-BF82-AAEBAD550ECB}" type="pres">
      <dgm:prSet presAssocID="{B6B751E8-BE71-4AD5-B791-8E997F238274}" presName="connectorText" presStyleLbl="sibTrans2D1" presStyleIdx="1" presStyleCnt="5"/>
      <dgm:spPr/>
      <dgm:t>
        <a:bodyPr/>
        <a:lstStyle/>
        <a:p>
          <a:endParaRPr lang="zh-CN" altLang="en-US"/>
        </a:p>
      </dgm:t>
    </dgm:pt>
    <dgm:pt modelId="{38A7E1F1-7A58-41AA-8229-544735F225ED}" type="pres">
      <dgm:prSet presAssocID="{B2C5534D-B0F6-4D0D-8760-4BE00CC009BE}" presName="node" presStyleLbl="node1" presStyleIdx="2" presStyleCnt="6">
        <dgm:presLayoutVars>
          <dgm:bulletEnabled val="1"/>
        </dgm:presLayoutVars>
      </dgm:prSet>
      <dgm:spPr/>
      <dgm:t>
        <a:bodyPr/>
        <a:lstStyle/>
        <a:p>
          <a:endParaRPr lang="zh-CN" altLang="en-US"/>
        </a:p>
      </dgm:t>
    </dgm:pt>
    <dgm:pt modelId="{D973D827-058B-47CB-9D4A-D6FC11A5EB80}" type="pres">
      <dgm:prSet presAssocID="{9FFE446A-244C-47F1-A01B-12F2D56DBBA7}" presName="sibTrans" presStyleLbl="sibTrans2D1" presStyleIdx="2" presStyleCnt="5"/>
      <dgm:spPr/>
      <dgm:t>
        <a:bodyPr/>
        <a:lstStyle/>
        <a:p>
          <a:endParaRPr lang="zh-CN" altLang="en-US"/>
        </a:p>
      </dgm:t>
    </dgm:pt>
    <dgm:pt modelId="{C557058A-7F42-44F5-930C-CECEAB8BCFFE}" type="pres">
      <dgm:prSet presAssocID="{9FFE446A-244C-47F1-A01B-12F2D56DBBA7}" presName="connectorText" presStyleLbl="sibTrans2D1" presStyleIdx="2" presStyleCnt="5"/>
      <dgm:spPr/>
      <dgm:t>
        <a:bodyPr/>
        <a:lstStyle/>
        <a:p>
          <a:endParaRPr lang="zh-CN" altLang="en-US"/>
        </a:p>
      </dgm:t>
    </dgm:pt>
    <dgm:pt modelId="{A5171DB6-0785-4FDB-89A1-79922A372E48}" type="pres">
      <dgm:prSet presAssocID="{36724727-A33D-4E68-A354-A731A788D00E}" presName="node" presStyleLbl="node1" presStyleIdx="3" presStyleCnt="6">
        <dgm:presLayoutVars>
          <dgm:bulletEnabled val="1"/>
        </dgm:presLayoutVars>
      </dgm:prSet>
      <dgm:spPr/>
      <dgm:t>
        <a:bodyPr/>
        <a:lstStyle/>
        <a:p>
          <a:endParaRPr lang="zh-CN" altLang="en-US"/>
        </a:p>
      </dgm:t>
    </dgm:pt>
    <dgm:pt modelId="{B3C98AD5-2819-41F7-8618-DE64928DFE4C}" type="pres">
      <dgm:prSet presAssocID="{8E314007-7FB8-431C-B873-342F776EA6A8}" presName="sibTrans" presStyleLbl="sibTrans2D1" presStyleIdx="3" presStyleCnt="5"/>
      <dgm:spPr/>
      <dgm:t>
        <a:bodyPr/>
        <a:lstStyle/>
        <a:p>
          <a:endParaRPr lang="zh-CN" altLang="en-US"/>
        </a:p>
      </dgm:t>
    </dgm:pt>
    <dgm:pt modelId="{D9150393-62D2-4A70-B5E3-3FBD945D591D}" type="pres">
      <dgm:prSet presAssocID="{8E314007-7FB8-431C-B873-342F776EA6A8}" presName="connectorText" presStyleLbl="sibTrans2D1" presStyleIdx="3" presStyleCnt="5"/>
      <dgm:spPr/>
      <dgm:t>
        <a:bodyPr/>
        <a:lstStyle/>
        <a:p>
          <a:endParaRPr lang="zh-CN" altLang="en-US"/>
        </a:p>
      </dgm:t>
    </dgm:pt>
    <dgm:pt modelId="{247AD5E9-03D6-4D77-B2C5-070407B4C3FA}" type="pres">
      <dgm:prSet presAssocID="{CEFA5BC3-9D4B-4EB0-B2D6-A5A84C13E2F6}" presName="node" presStyleLbl="node1" presStyleIdx="4" presStyleCnt="6">
        <dgm:presLayoutVars>
          <dgm:bulletEnabled val="1"/>
        </dgm:presLayoutVars>
      </dgm:prSet>
      <dgm:spPr/>
      <dgm:t>
        <a:bodyPr/>
        <a:lstStyle/>
        <a:p>
          <a:endParaRPr lang="zh-CN" altLang="en-US"/>
        </a:p>
      </dgm:t>
    </dgm:pt>
    <dgm:pt modelId="{3E73836A-A382-4025-81D4-4F59C625838F}" type="pres">
      <dgm:prSet presAssocID="{CD7083D1-98B7-43F9-AF9D-7779CDBD708E}" presName="sibTrans" presStyleLbl="sibTrans2D1" presStyleIdx="4" presStyleCnt="5"/>
      <dgm:spPr/>
      <dgm:t>
        <a:bodyPr/>
        <a:lstStyle/>
        <a:p>
          <a:endParaRPr lang="zh-CN" altLang="en-US"/>
        </a:p>
      </dgm:t>
    </dgm:pt>
    <dgm:pt modelId="{945976AF-2698-468C-9077-7DAEB9E255C1}" type="pres">
      <dgm:prSet presAssocID="{CD7083D1-98B7-43F9-AF9D-7779CDBD708E}" presName="connectorText" presStyleLbl="sibTrans2D1" presStyleIdx="4" presStyleCnt="5"/>
      <dgm:spPr/>
      <dgm:t>
        <a:bodyPr/>
        <a:lstStyle/>
        <a:p>
          <a:endParaRPr lang="zh-CN" altLang="en-US"/>
        </a:p>
      </dgm:t>
    </dgm:pt>
    <dgm:pt modelId="{42B467B3-3C18-405B-A377-7935CCFBAB57}" type="pres">
      <dgm:prSet presAssocID="{560EA6DB-DA97-4F1F-81B2-A07991DDEE6F}" presName="node" presStyleLbl="node1" presStyleIdx="5" presStyleCnt="6">
        <dgm:presLayoutVars>
          <dgm:bulletEnabled val="1"/>
        </dgm:presLayoutVars>
      </dgm:prSet>
      <dgm:spPr/>
      <dgm:t>
        <a:bodyPr/>
        <a:lstStyle/>
        <a:p>
          <a:endParaRPr lang="zh-CN" altLang="en-US"/>
        </a:p>
      </dgm:t>
    </dgm:pt>
  </dgm:ptLst>
  <dgm:cxnLst>
    <dgm:cxn modelId="{F8E67897-D855-4713-A2D5-483AE767928D}" srcId="{EB517205-86B9-4F61-8F91-12AC750A6E0A}" destId="{740C25D0-78A6-47D2-AC78-635DEF697F36}" srcOrd="1" destOrd="0" parTransId="{E91BFF49-4245-46D5-8B61-FED5A49F1DFF}" sibTransId="{B6B751E8-BE71-4AD5-B791-8E997F238274}"/>
    <dgm:cxn modelId="{9BA6B889-77CC-41A1-AD80-0BCDF2B23250}" type="presOf" srcId="{CD7083D1-98B7-43F9-AF9D-7779CDBD708E}" destId="{945976AF-2698-468C-9077-7DAEB9E255C1}" srcOrd="1" destOrd="0" presId="urn:microsoft.com/office/officeart/2005/8/layout/process1"/>
    <dgm:cxn modelId="{98DC3DD7-1858-4392-84FA-C8F07E43527F}" type="presOf" srcId="{CD7083D1-98B7-43F9-AF9D-7779CDBD708E}" destId="{3E73836A-A382-4025-81D4-4F59C625838F}" srcOrd="0" destOrd="0" presId="urn:microsoft.com/office/officeart/2005/8/layout/process1"/>
    <dgm:cxn modelId="{1EC64FE1-D7AD-4E29-8E12-2574EF639F32}" srcId="{EB517205-86B9-4F61-8F91-12AC750A6E0A}" destId="{B2C5534D-B0F6-4D0D-8760-4BE00CC009BE}" srcOrd="2" destOrd="0" parTransId="{4A5AD44F-B4AA-4D3C-B500-762E2C41C224}" sibTransId="{9FFE446A-244C-47F1-A01B-12F2D56DBBA7}"/>
    <dgm:cxn modelId="{40ED5637-8B21-464F-A972-79801A2F9629}" type="presOf" srcId="{9FFE446A-244C-47F1-A01B-12F2D56DBBA7}" destId="{C557058A-7F42-44F5-930C-CECEAB8BCFFE}" srcOrd="1" destOrd="0" presId="urn:microsoft.com/office/officeart/2005/8/layout/process1"/>
    <dgm:cxn modelId="{EEE39CD1-D1B0-46D1-8027-635D97F57A61}" srcId="{EB517205-86B9-4F61-8F91-12AC750A6E0A}" destId="{560EA6DB-DA97-4F1F-81B2-A07991DDEE6F}" srcOrd="5" destOrd="0" parTransId="{520171DF-3295-493B-BA70-578C40E7B250}" sibTransId="{1B248611-E0A1-43FA-9116-D3F3D8A72066}"/>
    <dgm:cxn modelId="{6F11A283-BC39-48FD-AF40-3135A82BF426}" type="presOf" srcId="{B6B751E8-BE71-4AD5-B791-8E997F238274}" destId="{D80F7F66-3F47-49EF-A965-87FB8733DF44}" srcOrd="0" destOrd="0" presId="urn:microsoft.com/office/officeart/2005/8/layout/process1"/>
    <dgm:cxn modelId="{E27E7510-DAA8-4607-B1C0-2CBB2AF18DA5}" type="presOf" srcId="{B4B86D64-22C7-4607-B651-E2FF8CFF6516}" destId="{05217039-ABF4-4B26-B5AB-1CF767B715C6}" srcOrd="1" destOrd="0" presId="urn:microsoft.com/office/officeart/2005/8/layout/process1"/>
    <dgm:cxn modelId="{F762A027-75E1-467A-9489-FC1ACB99451D}" type="presOf" srcId="{36724727-A33D-4E68-A354-A731A788D00E}" destId="{A5171DB6-0785-4FDB-89A1-79922A372E48}" srcOrd="0" destOrd="0" presId="urn:microsoft.com/office/officeart/2005/8/layout/process1"/>
    <dgm:cxn modelId="{7FFF1269-1974-490D-A879-B74A8A3BF4EE}" type="presOf" srcId="{EB517205-86B9-4F61-8F91-12AC750A6E0A}" destId="{27934EAF-0427-4DEB-9AF1-B64AC2CDBA05}" srcOrd="0" destOrd="0" presId="urn:microsoft.com/office/officeart/2005/8/layout/process1"/>
    <dgm:cxn modelId="{A3289D47-C3A1-4606-B9E5-E6A81D86F026}" type="presOf" srcId="{B2C5534D-B0F6-4D0D-8760-4BE00CC009BE}" destId="{38A7E1F1-7A58-41AA-8229-544735F225ED}" srcOrd="0" destOrd="0" presId="urn:microsoft.com/office/officeart/2005/8/layout/process1"/>
    <dgm:cxn modelId="{83C88A53-9585-442A-A3D4-A809E162ED24}" srcId="{EB517205-86B9-4F61-8F91-12AC750A6E0A}" destId="{D1CF9086-2E99-458F-9F0A-FACE3BDE8B5F}" srcOrd="0" destOrd="0" parTransId="{0920C928-C895-4C12-9E46-04E5D3051E9C}" sibTransId="{B4B86D64-22C7-4607-B651-E2FF8CFF6516}"/>
    <dgm:cxn modelId="{FB255CE5-904C-41AC-B83F-E82315990ED1}" type="presOf" srcId="{9FFE446A-244C-47F1-A01B-12F2D56DBBA7}" destId="{D973D827-058B-47CB-9D4A-D6FC11A5EB80}" srcOrd="0" destOrd="0" presId="urn:microsoft.com/office/officeart/2005/8/layout/process1"/>
    <dgm:cxn modelId="{EC037321-B2E2-4690-8C3A-6D60D4449FE0}" type="presOf" srcId="{B4B86D64-22C7-4607-B651-E2FF8CFF6516}" destId="{C9F7B2E0-9086-4D9A-B683-B5281240DB28}" srcOrd="0" destOrd="0" presId="urn:microsoft.com/office/officeart/2005/8/layout/process1"/>
    <dgm:cxn modelId="{BA29FC0E-46C2-4124-94B1-17E26751F617}" type="presOf" srcId="{8E314007-7FB8-431C-B873-342F776EA6A8}" destId="{B3C98AD5-2819-41F7-8618-DE64928DFE4C}" srcOrd="0" destOrd="0" presId="urn:microsoft.com/office/officeart/2005/8/layout/process1"/>
    <dgm:cxn modelId="{31DD44C4-DA02-45F3-AF5F-5BA19B1255E0}" type="presOf" srcId="{B6B751E8-BE71-4AD5-B791-8E997F238274}" destId="{47AE1608-B10D-4D24-BF82-AAEBAD550ECB}" srcOrd="1" destOrd="0" presId="urn:microsoft.com/office/officeart/2005/8/layout/process1"/>
    <dgm:cxn modelId="{07710378-6C38-422F-8C9C-0D6FC929D1D0}" srcId="{EB517205-86B9-4F61-8F91-12AC750A6E0A}" destId="{36724727-A33D-4E68-A354-A731A788D00E}" srcOrd="3" destOrd="0" parTransId="{321C736A-2DC0-43E5-9481-DB4982C8A2B4}" sibTransId="{8E314007-7FB8-431C-B873-342F776EA6A8}"/>
    <dgm:cxn modelId="{49B23692-E55B-4A82-91BF-3994E9FE1656}" type="presOf" srcId="{D1CF9086-2E99-458F-9F0A-FACE3BDE8B5F}" destId="{84763D1C-C857-488D-AFD1-AB802C6EB2C6}" srcOrd="0" destOrd="0" presId="urn:microsoft.com/office/officeart/2005/8/layout/process1"/>
    <dgm:cxn modelId="{EF4CE01D-A80F-429C-813A-60C2CE05289E}" type="presOf" srcId="{560EA6DB-DA97-4F1F-81B2-A07991DDEE6F}" destId="{42B467B3-3C18-405B-A377-7935CCFBAB57}" srcOrd="0" destOrd="0" presId="urn:microsoft.com/office/officeart/2005/8/layout/process1"/>
    <dgm:cxn modelId="{73BBE8F6-2E82-45E5-9448-81D6FC1295D8}" type="presOf" srcId="{8E314007-7FB8-431C-B873-342F776EA6A8}" destId="{D9150393-62D2-4A70-B5E3-3FBD945D591D}" srcOrd="1" destOrd="0" presId="urn:microsoft.com/office/officeart/2005/8/layout/process1"/>
    <dgm:cxn modelId="{18A62C01-C025-488B-816E-96930ED265F1}" type="presOf" srcId="{CEFA5BC3-9D4B-4EB0-B2D6-A5A84C13E2F6}" destId="{247AD5E9-03D6-4D77-B2C5-070407B4C3FA}" srcOrd="0" destOrd="0" presId="urn:microsoft.com/office/officeart/2005/8/layout/process1"/>
    <dgm:cxn modelId="{F776E0E7-32A9-4B18-BF4D-710EFEFD8064}" srcId="{EB517205-86B9-4F61-8F91-12AC750A6E0A}" destId="{CEFA5BC3-9D4B-4EB0-B2D6-A5A84C13E2F6}" srcOrd="4" destOrd="0" parTransId="{8B661A22-666D-4CE4-9622-A075198DE706}" sibTransId="{CD7083D1-98B7-43F9-AF9D-7779CDBD708E}"/>
    <dgm:cxn modelId="{35417662-04B1-4671-8B59-C818DCFE1664}" type="presOf" srcId="{740C25D0-78A6-47D2-AC78-635DEF697F36}" destId="{85A6444C-55E3-4259-BFA7-F92FAE97EEEA}" srcOrd="0" destOrd="0" presId="urn:microsoft.com/office/officeart/2005/8/layout/process1"/>
    <dgm:cxn modelId="{6E27C6FC-966E-4B3B-BF27-7CE13CF6E8AA}" type="presParOf" srcId="{27934EAF-0427-4DEB-9AF1-B64AC2CDBA05}" destId="{84763D1C-C857-488D-AFD1-AB802C6EB2C6}" srcOrd="0" destOrd="0" presId="urn:microsoft.com/office/officeart/2005/8/layout/process1"/>
    <dgm:cxn modelId="{CED6765D-637F-4931-8906-2DE31307AB8E}" type="presParOf" srcId="{27934EAF-0427-4DEB-9AF1-B64AC2CDBA05}" destId="{C9F7B2E0-9086-4D9A-B683-B5281240DB28}" srcOrd="1" destOrd="0" presId="urn:microsoft.com/office/officeart/2005/8/layout/process1"/>
    <dgm:cxn modelId="{CBEEB91B-87C6-4471-B36E-988FA9058752}" type="presParOf" srcId="{C9F7B2E0-9086-4D9A-B683-B5281240DB28}" destId="{05217039-ABF4-4B26-B5AB-1CF767B715C6}" srcOrd="0" destOrd="0" presId="urn:microsoft.com/office/officeart/2005/8/layout/process1"/>
    <dgm:cxn modelId="{7905AD80-C3CF-4B56-B55D-A7A6315B8F76}" type="presParOf" srcId="{27934EAF-0427-4DEB-9AF1-B64AC2CDBA05}" destId="{85A6444C-55E3-4259-BFA7-F92FAE97EEEA}" srcOrd="2" destOrd="0" presId="urn:microsoft.com/office/officeart/2005/8/layout/process1"/>
    <dgm:cxn modelId="{2F0D8CDA-6A55-42C9-A236-98DDBF47C9C5}" type="presParOf" srcId="{27934EAF-0427-4DEB-9AF1-B64AC2CDBA05}" destId="{D80F7F66-3F47-49EF-A965-87FB8733DF44}" srcOrd="3" destOrd="0" presId="urn:microsoft.com/office/officeart/2005/8/layout/process1"/>
    <dgm:cxn modelId="{1C2BFE5C-3ED0-4C26-B2E8-4F46D5B35642}" type="presParOf" srcId="{D80F7F66-3F47-49EF-A965-87FB8733DF44}" destId="{47AE1608-B10D-4D24-BF82-AAEBAD550ECB}" srcOrd="0" destOrd="0" presId="urn:microsoft.com/office/officeart/2005/8/layout/process1"/>
    <dgm:cxn modelId="{C8436CD5-E52D-4997-B3EA-89681C71F97F}" type="presParOf" srcId="{27934EAF-0427-4DEB-9AF1-B64AC2CDBA05}" destId="{38A7E1F1-7A58-41AA-8229-544735F225ED}" srcOrd="4" destOrd="0" presId="urn:microsoft.com/office/officeart/2005/8/layout/process1"/>
    <dgm:cxn modelId="{99CD0EC9-F5F5-4A90-AEDF-69F754290D6F}" type="presParOf" srcId="{27934EAF-0427-4DEB-9AF1-B64AC2CDBA05}" destId="{D973D827-058B-47CB-9D4A-D6FC11A5EB80}" srcOrd="5" destOrd="0" presId="urn:microsoft.com/office/officeart/2005/8/layout/process1"/>
    <dgm:cxn modelId="{6E81A07A-F995-445C-AA65-5FC208ECAFAE}" type="presParOf" srcId="{D973D827-058B-47CB-9D4A-D6FC11A5EB80}" destId="{C557058A-7F42-44F5-930C-CECEAB8BCFFE}" srcOrd="0" destOrd="0" presId="urn:microsoft.com/office/officeart/2005/8/layout/process1"/>
    <dgm:cxn modelId="{A6A81C39-65A4-46C9-A43B-768F8924AA0E}" type="presParOf" srcId="{27934EAF-0427-4DEB-9AF1-B64AC2CDBA05}" destId="{A5171DB6-0785-4FDB-89A1-79922A372E48}" srcOrd="6" destOrd="0" presId="urn:microsoft.com/office/officeart/2005/8/layout/process1"/>
    <dgm:cxn modelId="{A07759A1-DA63-4E68-8FC0-C7C3A720A829}" type="presParOf" srcId="{27934EAF-0427-4DEB-9AF1-B64AC2CDBA05}" destId="{B3C98AD5-2819-41F7-8618-DE64928DFE4C}" srcOrd="7" destOrd="0" presId="urn:microsoft.com/office/officeart/2005/8/layout/process1"/>
    <dgm:cxn modelId="{BAB50853-6899-4E75-873D-3284514902E4}" type="presParOf" srcId="{B3C98AD5-2819-41F7-8618-DE64928DFE4C}" destId="{D9150393-62D2-4A70-B5E3-3FBD945D591D}" srcOrd="0" destOrd="0" presId="urn:microsoft.com/office/officeart/2005/8/layout/process1"/>
    <dgm:cxn modelId="{A89F7066-3277-43C1-B595-6B68866408D8}" type="presParOf" srcId="{27934EAF-0427-4DEB-9AF1-B64AC2CDBA05}" destId="{247AD5E9-03D6-4D77-B2C5-070407B4C3FA}" srcOrd="8" destOrd="0" presId="urn:microsoft.com/office/officeart/2005/8/layout/process1"/>
    <dgm:cxn modelId="{CA53BE9B-7C39-4A68-87E7-5EED02D2C07B}" type="presParOf" srcId="{27934EAF-0427-4DEB-9AF1-B64AC2CDBA05}" destId="{3E73836A-A382-4025-81D4-4F59C625838F}" srcOrd="9" destOrd="0" presId="urn:microsoft.com/office/officeart/2005/8/layout/process1"/>
    <dgm:cxn modelId="{5A17E48C-4BB8-42C4-A9A5-C43819CFFB7E}" type="presParOf" srcId="{3E73836A-A382-4025-81D4-4F59C625838F}" destId="{945976AF-2698-468C-9077-7DAEB9E255C1}" srcOrd="0" destOrd="0" presId="urn:microsoft.com/office/officeart/2005/8/layout/process1"/>
    <dgm:cxn modelId="{84864ACA-D5CD-4172-B948-D0618F34D3A3}" type="presParOf" srcId="{27934EAF-0427-4DEB-9AF1-B64AC2CDBA05}" destId="{42B467B3-3C18-405B-A377-7935CCFBAB57}" srcOrd="10"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2EBF49-84E6-4EEA-AC98-D5F939DB56E4}" type="doc">
      <dgm:prSet loTypeId="urn:microsoft.com/office/officeart/2005/8/layout/hProcess4" loCatId="process" qsTypeId="urn:microsoft.com/office/officeart/2005/8/quickstyle/simple2" qsCatId="simple" csTypeId="urn:microsoft.com/office/officeart/2005/8/colors/accent0_1" csCatId="mainScheme" phldr="1"/>
      <dgm:spPr/>
      <dgm:t>
        <a:bodyPr/>
        <a:lstStyle/>
        <a:p>
          <a:endParaRPr lang="zh-CN" altLang="en-US"/>
        </a:p>
      </dgm:t>
    </dgm:pt>
    <dgm:pt modelId="{7977E29C-15F2-4343-A451-B23A5CB69AE2}">
      <dgm:prSet phldrT="[文本]"/>
      <dgm:spPr/>
      <dgm:t>
        <a:bodyPr/>
        <a:lstStyle/>
        <a:p>
          <a:r>
            <a:rPr lang="zh-CN" altLang="en-US" dirty="0" smtClean="0"/>
            <a:t>综合排名函数定义</a:t>
          </a:r>
          <a:endParaRPr lang="zh-CN" altLang="en-US" dirty="0"/>
        </a:p>
      </dgm:t>
    </dgm:pt>
    <dgm:pt modelId="{D3015DCC-0C4C-4EBD-9489-024664A8384D}" cxnId="{5DF66E80-61CC-4331-B681-B40CCC28544B}" type="parTrans">
      <dgm:prSet/>
      <dgm:spPr/>
      <dgm:t>
        <a:bodyPr/>
        <a:lstStyle/>
        <a:p>
          <a:endParaRPr lang="zh-CN" altLang="en-US"/>
        </a:p>
      </dgm:t>
    </dgm:pt>
    <dgm:pt modelId="{4AC049ED-1AA8-43CC-872F-D3505A28B87E}" cxnId="{5DF66E80-61CC-4331-B681-B40CCC28544B}" type="sibTrans">
      <dgm:prSet/>
      <dgm:spPr/>
      <dgm:t>
        <a:bodyPr/>
        <a:lstStyle/>
        <a:p>
          <a:endParaRPr lang="zh-CN" altLang="en-US"/>
        </a:p>
      </dgm:t>
    </dgm:pt>
    <dgm:pt modelId="{D4AFD689-E55A-4819-88A1-E010E1C738FE}">
      <dgm:prSet phldrT="[文本]" custT="1"/>
      <dgm:spPr/>
      <dgm:t>
        <a:bodyPr/>
        <a:lstStyle/>
        <a:p>
          <a:r>
            <a:rPr lang="zh-CN" altLang="en-US" sz="1050" dirty="0" smtClean="0"/>
            <a:t>为了将基于成长与价值指标的综合评价方法推广到其他年份及量化投资策略的使用，我们将</a:t>
          </a:r>
          <a:r>
            <a:rPr lang="en-US" altLang="en-US" sz="1050" dirty="0" smtClean="0"/>
            <a:t>8.4.1</a:t>
          </a:r>
          <a:r>
            <a:rPr lang="zh-CN" altLang="en-US" sz="1050" dirty="0" smtClean="0"/>
            <a:t>至</a:t>
          </a:r>
          <a:r>
            <a:rPr lang="en-US" altLang="en-US" sz="1050" dirty="0" smtClean="0"/>
            <a:t>8.4.4</a:t>
          </a:r>
          <a:r>
            <a:rPr lang="zh-CN" altLang="en-US" sz="1050" dirty="0" smtClean="0"/>
            <a:t>关于获得综合排名的程序脚本定义为函数的形式，该函数我们记为</a:t>
          </a:r>
          <a:r>
            <a:rPr lang="en-US" altLang="en-US" sz="1050" dirty="0" smtClean="0"/>
            <a:t>Fr2</a:t>
          </a:r>
          <a:r>
            <a:rPr lang="zh-CN" altLang="en-US" sz="1050" dirty="0" smtClean="0"/>
            <a:t>，存在于</a:t>
          </a:r>
          <a:r>
            <a:rPr lang="en-US" altLang="en-US" sz="1050" dirty="0" smtClean="0">
              <a:hlinkClick xmlns:r="http://schemas.openxmlformats.org/officeDocument/2006/relationships" r:id="rId1" action="ppaction://hlinksldjump"/>
            </a:rPr>
            <a:t>ffun.p</a:t>
          </a:r>
          <a:r>
            <a:rPr lang="en-US" altLang="en-US" sz="1050" dirty="0" smtClean="0"/>
            <a:t>y</a:t>
          </a:r>
          <a:r>
            <a:rPr lang="zh-CN" altLang="en-US" sz="1050" dirty="0" smtClean="0"/>
            <a:t>文件中</a:t>
          </a:r>
          <a:endParaRPr lang="zh-CN" altLang="en-US" sz="1050" dirty="0"/>
        </a:p>
      </dgm:t>
    </dgm:pt>
    <dgm:pt modelId="{BAC769EF-4B44-4751-8B7D-77B0244F22AE}" cxnId="{D3B2E2ED-C190-4158-9E47-DD7A1230AB1E}" type="parTrans">
      <dgm:prSet/>
      <dgm:spPr/>
      <dgm:t>
        <a:bodyPr/>
        <a:lstStyle/>
        <a:p>
          <a:endParaRPr lang="zh-CN" altLang="en-US"/>
        </a:p>
      </dgm:t>
    </dgm:pt>
    <dgm:pt modelId="{47C21F21-1DDA-4FF7-9F69-16A38746F339}" cxnId="{D3B2E2ED-C190-4158-9E47-DD7A1230AB1E}" type="sibTrans">
      <dgm:prSet/>
      <dgm:spPr/>
      <dgm:t>
        <a:bodyPr/>
        <a:lstStyle/>
        <a:p>
          <a:endParaRPr lang="zh-CN" altLang="en-US"/>
        </a:p>
      </dgm:t>
    </dgm:pt>
    <dgm:pt modelId="{399FC8AB-023F-461C-8650-4FE7A7533E49}">
      <dgm:prSet phldrT="[文本]"/>
      <dgm:spPr/>
      <dgm:t>
        <a:bodyPr/>
        <a:lstStyle/>
        <a:p>
          <a:r>
            <a:rPr lang="zh-CN" altLang="en-US" dirty="0" smtClean="0"/>
            <a:t>函数使用方法</a:t>
          </a:r>
          <a:endParaRPr lang="zh-CN" altLang="en-US" dirty="0"/>
        </a:p>
      </dgm:t>
    </dgm:pt>
    <dgm:pt modelId="{4997C9EA-C599-4477-9368-EBB7EB7A94F7}" cxnId="{63C18EC4-91B3-49DD-99D9-0AC00984F35E}" type="parTrans">
      <dgm:prSet/>
      <dgm:spPr/>
      <dgm:t>
        <a:bodyPr/>
        <a:lstStyle/>
        <a:p>
          <a:endParaRPr lang="zh-CN" altLang="en-US"/>
        </a:p>
      </dgm:t>
    </dgm:pt>
    <dgm:pt modelId="{631DF3E9-958A-4D38-B424-F5F1780F4F2F}" cxnId="{63C18EC4-91B3-49DD-99D9-0AC00984F35E}" type="sibTrans">
      <dgm:prSet/>
      <dgm:spPr/>
      <dgm:t>
        <a:bodyPr/>
        <a:lstStyle/>
        <a:p>
          <a:endParaRPr lang="zh-CN" altLang="en-US"/>
        </a:p>
      </dgm:t>
    </dgm:pt>
    <dgm:pt modelId="{E0281384-ECC0-4CC4-B6A3-2635B5D3F63E}">
      <dgm:prSet phldrT="[文本]" custT="1"/>
      <dgm:spPr/>
      <dgm:t>
        <a:bodyPr/>
        <a:lstStyle/>
        <a:p>
          <a:r>
            <a:rPr lang="zh-CN" altLang="en-US" sz="1050" dirty="0" smtClean="0"/>
            <a:t>以</a:t>
          </a:r>
          <a:r>
            <a:rPr lang="en-US" altLang="en-US" sz="1050" dirty="0" smtClean="0"/>
            <a:t>8.4.1~8.4.5</a:t>
          </a:r>
          <a:r>
            <a:rPr lang="zh-CN" altLang="en-US" sz="1050" dirty="0" smtClean="0"/>
            <a:t>的计算例子为例，即以</a:t>
          </a:r>
          <a:r>
            <a:rPr lang="en-US" altLang="en-US" sz="1050" dirty="0" smtClean="0"/>
            <a:t>2014</a:t>
          </a:r>
          <a:r>
            <a:rPr lang="zh-CN" altLang="en-US" sz="1050" dirty="0" smtClean="0"/>
            <a:t>年的财务数据指标进行排名，获取其排名结果前</a:t>
          </a:r>
          <a:r>
            <a:rPr lang="en-US" altLang="en-US" sz="1050" dirty="0" smtClean="0"/>
            <a:t>20</a:t>
          </a:r>
          <a:r>
            <a:rPr lang="zh-CN" altLang="en-US" sz="1050" dirty="0" smtClean="0"/>
            <a:t>的股票代码构建投资组合，计算持有期为</a:t>
          </a:r>
          <a:r>
            <a:rPr lang="en-US" altLang="en-US" sz="1050" dirty="0" smtClean="0"/>
            <a:t>2015-05-01</a:t>
          </a:r>
          <a:r>
            <a:rPr lang="zh-CN" altLang="en-US" sz="1050" dirty="0" smtClean="0"/>
            <a:t>至</a:t>
          </a:r>
          <a:r>
            <a:rPr lang="en-US" altLang="en-US" sz="1050" dirty="0" smtClean="0"/>
            <a:t>2015-12-31</a:t>
          </a:r>
          <a:r>
            <a:rPr lang="zh-CN" altLang="en-US" sz="1050" dirty="0" smtClean="0"/>
            <a:t>日的投资组合收益率</a:t>
          </a:r>
          <a:r>
            <a:rPr lang="en-US" altLang="en-US" sz="1050" dirty="0" smtClean="0"/>
            <a:t>.</a:t>
          </a:r>
          <a:r>
            <a:rPr lang="zh-CN" altLang="en-US" sz="1050" dirty="0" smtClean="0"/>
            <a:t>（注意这里收益率的计算函数仍然使用</a:t>
          </a:r>
          <a:r>
            <a:rPr lang="en-US" altLang="en-US" sz="1050" dirty="0" smtClean="0"/>
            <a:t>8.3.6.2</a:t>
          </a:r>
          <a:r>
            <a:rPr lang="zh-CN" altLang="en-US" sz="1050" dirty="0" smtClean="0"/>
            <a:t>定义的</a:t>
          </a:r>
          <a:r>
            <a:rPr lang="en-US" altLang="en-US" sz="1050" dirty="0" smtClean="0">
              <a:hlinkClick xmlns:r="http://schemas.openxmlformats.org/officeDocument/2006/relationships" r:id="rId2" action="ppaction://hlinksldjump"/>
            </a:rPr>
            <a:t>Re</a:t>
          </a:r>
          <a:r>
            <a:rPr lang="zh-CN" altLang="en-US" sz="1050" dirty="0" smtClean="0">
              <a:hlinkClick xmlns:r="http://schemas.openxmlformats.org/officeDocument/2006/relationships" r:id="rId2" action="ppaction://hlinksldjump"/>
            </a:rPr>
            <a:t>函数</a:t>
          </a:r>
          <a:r>
            <a:rPr lang="zh-CN" altLang="en-US" sz="1050" dirty="0" smtClean="0"/>
            <a:t>）：</a:t>
          </a:r>
          <a:endParaRPr lang="zh-CN" altLang="en-US" sz="1050" dirty="0"/>
        </a:p>
      </dgm:t>
    </dgm:pt>
    <dgm:pt modelId="{5620AA5A-885A-4FBD-AA94-829225ADB319}" cxnId="{76D11D0E-7318-4679-BC84-69490E3EE910}" type="parTrans">
      <dgm:prSet/>
      <dgm:spPr/>
      <dgm:t>
        <a:bodyPr/>
        <a:lstStyle/>
        <a:p>
          <a:endParaRPr lang="zh-CN" altLang="en-US"/>
        </a:p>
      </dgm:t>
    </dgm:pt>
    <dgm:pt modelId="{F7A0E1C3-F826-4FB1-8301-CA1ADB5C2768}" cxnId="{76D11D0E-7318-4679-BC84-69490E3EE910}" type="sibTrans">
      <dgm:prSet/>
      <dgm:spPr/>
      <dgm:t>
        <a:bodyPr/>
        <a:lstStyle/>
        <a:p>
          <a:endParaRPr lang="zh-CN" altLang="en-US"/>
        </a:p>
      </dgm:t>
    </dgm:pt>
    <dgm:pt modelId="{B9177DF0-391E-4A1C-B4A0-74FD1E6C2D60}">
      <dgm:prSet phldrT="[文本]"/>
      <dgm:spPr/>
      <dgm:t>
        <a:bodyPr/>
        <a:lstStyle/>
        <a:p>
          <a:r>
            <a:rPr lang="zh-CN" altLang="en-US" dirty="0" smtClean="0"/>
            <a:t>量化投资策略设计</a:t>
          </a:r>
          <a:endParaRPr lang="zh-CN" altLang="en-US" dirty="0"/>
        </a:p>
      </dgm:t>
    </dgm:pt>
    <dgm:pt modelId="{B2D977EA-53F8-4920-9A75-DC5CF01DD8C7}" cxnId="{9A6D1AF3-3321-4A67-BEC8-E80C3ABDE369}" type="parTrans">
      <dgm:prSet/>
      <dgm:spPr/>
      <dgm:t>
        <a:bodyPr/>
        <a:lstStyle/>
        <a:p>
          <a:endParaRPr lang="zh-CN" altLang="en-US"/>
        </a:p>
      </dgm:t>
    </dgm:pt>
    <dgm:pt modelId="{46AFAD75-413E-4501-8B79-9DE7DC4DF013}" cxnId="{9A6D1AF3-3321-4A67-BEC8-E80C3ABDE369}" type="sibTrans">
      <dgm:prSet/>
      <dgm:spPr/>
      <dgm:t>
        <a:bodyPr/>
        <a:lstStyle/>
        <a:p>
          <a:endParaRPr lang="zh-CN" altLang="en-US"/>
        </a:p>
      </dgm:t>
    </dgm:pt>
    <dgm:pt modelId="{9F174445-BEBA-4FCA-8516-495BCDD5906F}">
      <dgm:prSet phldrT="[文本]" custT="1"/>
      <dgm:spPr/>
      <dgm:t>
        <a:bodyPr/>
        <a:lstStyle/>
        <a:p>
          <a:r>
            <a:rPr lang="zh-CN" altLang="en-US" sz="900" dirty="0" smtClean="0"/>
            <a:t>进一步地我们设计一个量化投资策略：以</a:t>
          </a:r>
          <a:r>
            <a:rPr lang="en-US" altLang="en-US" sz="900" dirty="0" smtClean="0"/>
            <a:t>2013</a:t>
          </a:r>
          <a:r>
            <a:rPr lang="zh-CN" altLang="en-US" sz="900" dirty="0" smtClean="0"/>
            <a:t>年</a:t>
          </a:r>
          <a:r>
            <a:rPr lang="en-US" altLang="en-US" sz="900" dirty="0" smtClean="0"/>
            <a:t>~2016</a:t>
          </a:r>
          <a:r>
            <a:rPr lang="zh-CN" altLang="en-US" sz="900" dirty="0" smtClean="0"/>
            <a:t>年的财务指标数据为基础计算其综合排名，并取排名前</a:t>
          </a:r>
          <a:r>
            <a:rPr lang="en-US" altLang="en-US" sz="900" dirty="0" smtClean="0"/>
            <a:t>20</a:t>
          </a:r>
          <a:r>
            <a:rPr lang="zh-CN" altLang="en-US" sz="900" dirty="0" smtClean="0"/>
            <a:t>、</a:t>
          </a:r>
          <a:r>
            <a:rPr lang="en-US" altLang="en-US" sz="900" dirty="0" smtClean="0"/>
            <a:t>40</a:t>
          </a:r>
          <a:r>
            <a:rPr lang="zh-CN" altLang="en-US" sz="900" dirty="0" smtClean="0"/>
            <a:t>的股票构建投资组合，以下一个年度</a:t>
          </a:r>
          <a:r>
            <a:rPr lang="en-US" altLang="en-US" sz="900" dirty="0" smtClean="0"/>
            <a:t>05-01~06-30</a:t>
          </a:r>
          <a:r>
            <a:rPr lang="zh-CN" altLang="en-US" sz="900" dirty="0" smtClean="0"/>
            <a:t>、</a:t>
          </a:r>
          <a:r>
            <a:rPr lang="en-US" altLang="en-US" sz="900" dirty="0" smtClean="0"/>
            <a:t>05-01~09-30</a:t>
          </a:r>
          <a:r>
            <a:rPr lang="zh-CN" altLang="en-US" sz="900" dirty="0" smtClean="0"/>
            <a:t>、</a:t>
          </a:r>
          <a:r>
            <a:rPr lang="en-US" altLang="en-US" sz="900" dirty="0" smtClean="0"/>
            <a:t>05-01~12-31</a:t>
          </a:r>
          <a:r>
            <a:rPr lang="zh-CN" altLang="en-US" sz="900" dirty="0" smtClean="0"/>
            <a:t>作为持有期，分别计算其投资组合的总收益率，并与同期的沪深</a:t>
          </a:r>
          <a:r>
            <a:rPr lang="en-US" altLang="en-US" sz="900" dirty="0" smtClean="0"/>
            <a:t>300</a:t>
          </a:r>
          <a:r>
            <a:rPr lang="zh-CN" altLang="en-US" sz="900" dirty="0" smtClean="0"/>
            <a:t>指数收益率进行对比。沪深</a:t>
          </a:r>
          <a:r>
            <a:rPr lang="en-US" altLang="en-US" sz="900" dirty="0" smtClean="0"/>
            <a:t>300</a:t>
          </a:r>
          <a:r>
            <a:rPr lang="zh-CN" altLang="en-US" sz="900" dirty="0" smtClean="0"/>
            <a:t>指数日交易数据文件（</a:t>
          </a:r>
          <a:r>
            <a:rPr lang="en-US" altLang="en-US" sz="900" dirty="0" smtClean="0">
              <a:hlinkClick xmlns:r="http://schemas.openxmlformats.org/officeDocument/2006/relationships" r:id="rId2" action="ppaction://hlinksldjump"/>
            </a:rPr>
            <a:t>index300.xlsx</a:t>
          </a:r>
          <a:r>
            <a:rPr lang="zh-CN" altLang="en-US" sz="900" dirty="0" smtClean="0"/>
            <a:t>）和持有期内的指数收益率计算</a:t>
          </a:r>
          <a:r>
            <a:rPr lang="zh-CN" altLang="en-US" sz="1050" dirty="0" smtClean="0"/>
            <a:t>公式同</a:t>
          </a:r>
          <a:r>
            <a:rPr lang="en-US" altLang="en-US" sz="1050" dirty="0" smtClean="0"/>
            <a:t>8.3.6.4</a:t>
          </a:r>
          <a:endParaRPr lang="zh-CN" altLang="en-US" sz="1050" dirty="0"/>
        </a:p>
      </dgm:t>
    </dgm:pt>
    <dgm:pt modelId="{6AA52184-E7DC-4752-9F58-5275FEB76276}" cxnId="{4C79AD83-75A4-4775-95FF-C6CBE33B310B}" type="parTrans">
      <dgm:prSet/>
      <dgm:spPr/>
      <dgm:t>
        <a:bodyPr/>
        <a:lstStyle/>
        <a:p>
          <a:endParaRPr lang="zh-CN" altLang="en-US"/>
        </a:p>
      </dgm:t>
    </dgm:pt>
    <dgm:pt modelId="{B6AB457D-EAA8-4B9C-8AD6-792B4E45AE87}" cxnId="{4C79AD83-75A4-4775-95FF-C6CBE33B310B}" type="sibTrans">
      <dgm:prSet/>
      <dgm:spPr/>
      <dgm:t>
        <a:bodyPr/>
        <a:lstStyle/>
        <a:p>
          <a:endParaRPr lang="zh-CN" altLang="en-US"/>
        </a:p>
      </dgm:t>
    </dgm:pt>
    <dgm:pt modelId="{D1967B91-E179-4C8D-9544-9D691B9BF50B}" type="pres">
      <dgm:prSet presAssocID="{8C2EBF49-84E6-4EEA-AC98-D5F939DB56E4}" presName="Name0" presStyleCnt="0">
        <dgm:presLayoutVars>
          <dgm:dir/>
          <dgm:animLvl val="lvl"/>
          <dgm:resizeHandles val="exact"/>
        </dgm:presLayoutVars>
      </dgm:prSet>
      <dgm:spPr/>
    </dgm:pt>
    <dgm:pt modelId="{E46E4B59-45CB-4EA3-AF57-44336ACA697A}" type="pres">
      <dgm:prSet presAssocID="{8C2EBF49-84E6-4EEA-AC98-D5F939DB56E4}" presName="tSp" presStyleCnt="0"/>
      <dgm:spPr/>
    </dgm:pt>
    <dgm:pt modelId="{3C2E3CAD-F56B-4843-A364-E899A6F00274}" type="pres">
      <dgm:prSet presAssocID="{8C2EBF49-84E6-4EEA-AC98-D5F939DB56E4}" presName="bSp" presStyleCnt="0"/>
      <dgm:spPr/>
    </dgm:pt>
    <dgm:pt modelId="{28E42218-198E-4F7E-B541-6DA5F0E9C6E3}" type="pres">
      <dgm:prSet presAssocID="{8C2EBF49-84E6-4EEA-AC98-D5F939DB56E4}" presName="process" presStyleCnt="0"/>
      <dgm:spPr/>
    </dgm:pt>
    <dgm:pt modelId="{D0A44923-7865-489C-ADDF-1DAA32A64799}" type="pres">
      <dgm:prSet presAssocID="{7977E29C-15F2-4343-A451-B23A5CB69AE2}" presName="composite1" presStyleCnt="0"/>
      <dgm:spPr/>
    </dgm:pt>
    <dgm:pt modelId="{EABAEEE0-7237-4C7A-AE50-51A516329071}" type="pres">
      <dgm:prSet presAssocID="{7977E29C-15F2-4343-A451-B23A5CB69AE2}" presName="dummyNode1" presStyleLbl="node1" presStyleIdx="0" presStyleCnt="3"/>
      <dgm:spPr/>
    </dgm:pt>
    <dgm:pt modelId="{A2A352B7-B14C-4BBD-B2C7-D67A3F38893A}" type="pres">
      <dgm:prSet presAssocID="{7977E29C-15F2-4343-A451-B23A5CB69AE2}" presName="childNode1" presStyleLbl="bgAcc1" presStyleIdx="0" presStyleCnt="3" custLinFactNeighborX="-6" custLinFactNeighborY="-2518">
        <dgm:presLayoutVars>
          <dgm:bulletEnabled val="1"/>
        </dgm:presLayoutVars>
      </dgm:prSet>
      <dgm:spPr/>
      <dgm:t>
        <a:bodyPr/>
        <a:lstStyle/>
        <a:p>
          <a:endParaRPr lang="zh-CN" altLang="en-US"/>
        </a:p>
      </dgm:t>
    </dgm:pt>
    <dgm:pt modelId="{978DD98F-739C-442B-81EC-DDD91D246BCC}" type="pres">
      <dgm:prSet presAssocID="{7977E29C-15F2-4343-A451-B23A5CB69AE2}" presName="childNode1tx" presStyleLbl="bgAcc1" presStyleIdx="0" presStyleCnt="3">
        <dgm:presLayoutVars>
          <dgm:bulletEnabled val="1"/>
        </dgm:presLayoutVars>
      </dgm:prSet>
      <dgm:spPr/>
      <dgm:t>
        <a:bodyPr/>
        <a:lstStyle/>
        <a:p>
          <a:endParaRPr lang="zh-CN" altLang="en-US"/>
        </a:p>
      </dgm:t>
    </dgm:pt>
    <dgm:pt modelId="{B9AF4D16-83EA-431C-BEC1-D790BDBE0366}" type="pres">
      <dgm:prSet presAssocID="{7977E29C-15F2-4343-A451-B23A5CB69AE2}" presName="parentNode1" presStyleLbl="node1" presStyleIdx="0" presStyleCnt="3">
        <dgm:presLayoutVars>
          <dgm:chMax val="1"/>
          <dgm:bulletEnabled val="1"/>
        </dgm:presLayoutVars>
      </dgm:prSet>
      <dgm:spPr/>
      <dgm:t>
        <a:bodyPr/>
        <a:lstStyle/>
        <a:p>
          <a:endParaRPr lang="zh-CN" altLang="en-US"/>
        </a:p>
      </dgm:t>
    </dgm:pt>
    <dgm:pt modelId="{F0029954-6D2E-463B-AB38-B5A5F24B1393}" type="pres">
      <dgm:prSet presAssocID="{7977E29C-15F2-4343-A451-B23A5CB69AE2}" presName="connSite1" presStyleCnt="0"/>
      <dgm:spPr/>
    </dgm:pt>
    <dgm:pt modelId="{4E13105E-9382-4D16-832C-4897BA3EAA74}" type="pres">
      <dgm:prSet presAssocID="{4AC049ED-1AA8-43CC-872F-D3505A28B87E}" presName="Name9" presStyleLbl="sibTrans2D1" presStyleIdx="0" presStyleCnt="2"/>
      <dgm:spPr/>
    </dgm:pt>
    <dgm:pt modelId="{BDB6C134-DF97-4DF9-B69E-A6C0FDA30DBF}" type="pres">
      <dgm:prSet presAssocID="{399FC8AB-023F-461C-8650-4FE7A7533E49}" presName="composite2" presStyleCnt="0"/>
      <dgm:spPr/>
    </dgm:pt>
    <dgm:pt modelId="{2380DF36-6442-4A58-BD53-DAA6A816C526}" type="pres">
      <dgm:prSet presAssocID="{399FC8AB-023F-461C-8650-4FE7A7533E49}" presName="dummyNode2" presStyleLbl="node1" presStyleIdx="0" presStyleCnt="3"/>
      <dgm:spPr/>
    </dgm:pt>
    <dgm:pt modelId="{56E5A599-34BB-4344-9B60-46C790F9F1A6}" type="pres">
      <dgm:prSet presAssocID="{399FC8AB-023F-461C-8650-4FE7A7533E49}" presName="childNode2" presStyleLbl="bgAcc1" presStyleIdx="1" presStyleCnt="3">
        <dgm:presLayoutVars>
          <dgm:bulletEnabled val="1"/>
        </dgm:presLayoutVars>
      </dgm:prSet>
      <dgm:spPr/>
      <dgm:t>
        <a:bodyPr/>
        <a:lstStyle/>
        <a:p>
          <a:endParaRPr lang="zh-CN" altLang="en-US"/>
        </a:p>
      </dgm:t>
    </dgm:pt>
    <dgm:pt modelId="{A77AAE56-5F05-4869-A810-5BDE7CFB8E1C}" type="pres">
      <dgm:prSet presAssocID="{399FC8AB-023F-461C-8650-4FE7A7533E49}" presName="childNode2tx" presStyleLbl="bgAcc1" presStyleIdx="1" presStyleCnt="3">
        <dgm:presLayoutVars>
          <dgm:bulletEnabled val="1"/>
        </dgm:presLayoutVars>
      </dgm:prSet>
      <dgm:spPr/>
      <dgm:t>
        <a:bodyPr/>
        <a:lstStyle/>
        <a:p>
          <a:endParaRPr lang="zh-CN" altLang="en-US"/>
        </a:p>
      </dgm:t>
    </dgm:pt>
    <dgm:pt modelId="{95AF069A-9F27-41AD-B7A6-5F5742693936}" type="pres">
      <dgm:prSet presAssocID="{399FC8AB-023F-461C-8650-4FE7A7533E49}" presName="parentNode2" presStyleLbl="node1" presStyleIdx="1" presStyleCnt="3">
        <dgm:presLayoutVars>
          <dgm:chMax val="0"/>
          <dgm:bulletEnabled val="1"/>
        </dgm:presLayoutVars>
      </dgm:prSet>
      <dgm:spPr/>
      <dgm:t>
        <a:bodyPr/>
        <a:lstStyle/>
        <a:p>
          <a:endParaRPr lang="zh-CN" altLang="en-US"/>
        </a:p>
      </dgm:t>
    </dgm:pt>
    <dgm:pt modelId="{57C40F8E-6664-485A-BE5D-E70F85D84C2A}" type="pres">
      <dgm:prSet presAssocID="{399FC8AB-023F-461C-8650-4FE7A7533E49}" presName="connSite2" presStyleCnt="0"/>
      <dgm:spPr/>
    </dgm:pt>
    <dgm:pt modelId="{78C925EA-3D5E-4395-A7A9-D2629C545BDB}" type="pres">
      <dgm:prSet presAssocID="{631DF3E9-958A-4D38-B424-F5F1780F4F2F}" presName="Name18" presStyleLbl="sibTrans2D1" presStyleIdx="1" presStyleCnt="2"/>
      <dgm:spPr/>
    </dgm:pt>
    <dgm:pt modelId="{73ED7EBB-4F80-409E-9B84-2593DAAC9DA1}" type="pres">
      <dgm:prSet presAssocID="{B9177DF0-391E-4A1C-B4A0-74FD1E6C2D60}" presName="composite1" presStyleCnt="0"/>
      <dgm:spPr/>
    </dgm:pt>
    <dgm:pt modelId="{95CDC11C-1DCF-4DB5-BDAD-6735767DB6C5}" type="pres">
      <dgm:prSet presAssocID="{B9177DF0-391E-4A1C-B4A0-74FD1E6C2D60}" presName="dummyNode1" presStyleLbl="node1" presStyleIdx="1" presStyleCnt="3"/>
      <dgm:spPr/>
    </dgm:pt>
    <dgm:pt modelId="{83B2B45C-5133-4F91-B57F-36469194BF8A}" type="pres">
      <dgm:prSet presAssocID="{B9177DF0-391E-4A1C-B4A0-74FD1E6C2D60}" presName="childNode1" presStyleLbl="bgAcc1" presStyleIdx="2" presStyleCnt="3">
        <dgm:presLayoutVars>
          <dgm:bulletEnabled val="1"/>
        </dgm:presLayoutVars>
      </dgm:prSet>
      <dgm:spPr/>
      <dgm:t>
        <a:bodyPr/>
        <a:lstStyle/>
        <a:p>
          <a:endParaRPr lang="zh-CN" altLang="en-US"/>
        </a:p>
      </dgm:t>
    </dgm:pt>
    <dgm:pt modelId="{60CE4148-4CEE-4C58-8B88-9A5A2E087FCA}" type="pres">
      <dgm:prSet presAssocID="{B9177DF0-391E-4A1C-B4A0-74FD1E6C2D60}" presName="childNode1tx" presStyleLbl="bgAcc1" presStyleIdx="2" presStyleCnt="3">
        <dgm:presLayoutVars>
          <dgm:bulletEnabled val="1"/>
        </dgm:presLayoutVars>
      </dgm:prSet>
      <dgm:spPr/>
      <dgm:t>
        <a:bodyPr/>
        <a:lstStyle/>
        <a:p>
          <a:endParaRPr lang="zh-CN" altLang="en-US"/>
        </a:p>
      </dgm:t>
    </dgm:pt>
    <dgm:pt modelId="{4915E01A-A6B9-4BFD-849A-66C7664FBFF6}" type="pres">
      <dgm:prSet presAssocID="{B9177DF0-391E-4A1C-B4A0-74FD1E6C2D60}" presName="parentNode1" presStyleLbl="node1" presStyleIdx="2" presStyleCnt="3">
        <dgm:presLayoutVars>
          <dgm:chMax val="1"/>
          <dgm:bulletEnabled val="1"/>
        </dgm:presLayoutVars>
      </dgm:prSet>
      <dgm:spPr/>
      <dgm:t>
        <a:bodyPr/>
        <a:lstStyle/>
        <a:p>
          <a:endParaRPr lang="zh-CN" altLang="en-US"/>
        </a:p>
      </dgm:t>
    </dgm:pt>
    <dgm:pt modelId="{E172BC68-C912-411D-911C-1A3745460F33}" type="pres">
      <dgm:prSet presAssocID="{B9177DF0-391E-4A1C-B4A0-74FD1E6C2D60}" presName="connSite1" presStyleCnt="0"/>
      <dgm:spPr/>
    </dgm:pt>
  </dgm:ptLst>
  <dgm:cxnLst>
    <dgm:cxn modelId="{533B3E08-B382-4204-B9BF-AA07531CBCF8}" type="presOf" srcId="{9F174445-BEBA-4FCA-8516-495BCDD5906F}" destId="{60CE4148-4CEE-4C58-8B88-9A5A2E087FCA}" srcOrd="1" destOrd="0" presId="urn:microsoft.com/office/officeart/2005/8/layout/hProcess4"/>
    <dgm:cxn modelId="{65B43E62-205C-4A59-9E17-B3099C8A60ED}" type="presOf" srcId="{7977E29C-15F2-4343-A451-B23A5CB69AE2}" destId="{B9AF4D16-83EA-431C-BEC1-D790BDBE0366}" srcOrd="0" destOrd="0" presId="urn:microsoft.com/office/officeart/2005/8/layout/hProcess4"/>
    <dgm:cxn modelId="{F4C2C757-CE26-4D96-B97A-7D3CDB2C09B5}" type="presOf" srcId="{E0281384-ECC0-4CC4-B6A3-2635B5D3F63E}" destId="{56E5A599-34BB-4344-9B60-46C790F9F1A6}" srcOrd="0" destOrd="0" presId="urn:microsoft.com/office/officeart/2005/8/layout/hProcess4"/>
    <dgm:cxn modelId="{D781EA38-5D39-4EB2-B317-C684C82EFAED}" type="presOf" srcId="{4AC049ED-1AA8-43CC-872F-D3505A28B87E}" destId="{4E13105E-9382-4D16-832C-4897BA3EAA74}" srcOrd="0" destOrd="0" presId="urn:microsoft.com/office/officeart/2005/8/layout/hProcess4"/>
    <dgm:cxn modelId="{A984E251-4779-4D71-A959-C78EF7243AC9}" type="presOf" srcId="{D4AFD689-E55A-4819-88A1-E010E1C738FE}" destId="{978DD98F-739C-442B-81EC-DDD91D246BCC}" srcOrd="1" destOrd="0" presId="urn:microsoft.com/office/officeart/2005/8/layout/hProcess4"/>
    <dgm:cxn modelId="{F26EA7E0-D568-4876-96C8-9370F3016C03}" type="presOf" srcId="{E0281384-ECC0-4CC4-B6A3-2635B5D3F63E}" destId="{A77AAE56-5F05-4869-A810-5BDE7CFB8E1C}" srcOrd="1" destOrd="0" presId="urn:microsoft.com/office/officeart/2005/8/layout/hProcess4"/>
    <dgm:cxn modelId="{D9DBA3DC-BA16-4D18-8002-905E7892C7F1}" type="presOf" srcId="{D4AFD689-E55A-4819-88A1-E010E1C738FE}" destId="{A2A352B7-B14C-4BBD-B2C7-D67A3F38893A}" srcOrd="0" destOrd="0" presId="urn:microsoft.com/office/officeart/2005/8/layout/hProcess4"/>
    <dgm:cxn modelId="{F8AB88EA-B596-4695-9B14-8A41D8651996}" type="presOf" srcId="{399FC8AB-023F-461C-8650-4FE7A7533E49}" destId="{95AF069A-9F27-41AD-B7A6-5F5742693936}" srcOrd="0" destOrd="0" presId="urn:microsoft.com/office/officeart/2005/8/layout/hProcess4"/>
    <dgm:cxn modelId="{5DF66E80-61CC-4331-B681-B40CCC28544B}" srcId="{8C2EBF49-84E6-4EEA-AC98-D5F939DB56E4}" destId="{7977E29C-15F2-4343-A451-B23A5CB69AE2}" srcOrd="0" destOrd="0" parTransId="{D3015DCC-0C4C-4EBD-9489-024664A8384D}" sibTransId="{4AC049ED-1AA8-43CC-872F-D3505A28B87E}"/>
    <dgm:cxn modelId="{9A6D1AF3-3321-4A67-BEC8-E80C3ABDE369}" srcId="{8C2EBF49-84E6-4EEA-AC98-D5F939DB56E4}" destId="{B9177DF0-391E-4A1C-B4A0-74FD1E6C2D60}" srcOrd="2" destOrd="0" parTransId="{B2D977EA-53F8-4920-9A75-DC5CF01DD8C7}" sibTransId="{46AFAD75-413E-4501-8B79-9DE7DC4DF013}"/>
    <dgm:cxn modelId="{4C79AD83-75A4-4775-95FF-C6CBE33B310B}" srcId="{B9177DF0-391E-4A1C-B4A0-74FD1E6C2D60}" destId="{9F174445-BEBA-4FCA-8516-495BCDD5906F}" srcOrd="0" destOrd="0" parTransId="{6AA52184-E7DC-4752-9F58-5275FEB76276}" sibTransId="{B6AB457D-EAA8-4B9C-8AD6-792B4E45AE87}"/>
    <dgm:cxn modelId="{C606B274-205C-4378-A210-AEC996EC84B3}" type="presOf" srcId="{8C2EBF49-84E6-4EEA-AC98-D5F939DB56E4}" destId="{D1967B91-E179-4C8D-9544-9D691B9BF50B}" srcOrd="0" destOrd="0" presId="urn:microsoft.com/office/officeart/2005/8/layout/hProcess4"/>
    <dgm:cxn modelId="{76D11D0E-7318-4679-BC84-69490E3EE910}" srcId="{399FC8AB-023F-461C-8650-4FE7A7533E49}" destId="{E0281384-ECC0-4CC4-B6A3-2635B5D3F63E}" srcOrd="0" destOrd="0" parTransId="{5620AA5A-885A-4FBD-AA94-829225ADB319}" sibTransId="{F7A0E1C3-F826-4FB1-8301-CA1ADB5C2768}"/>
    <dgm:cxn modelId="{240381E4-87C9-415C-B7E2-007F5482FE2F}" type="presOf" srcId="{9F174445-BEBA-4FCA-8516-495BCDD5906F}" destId="{83B2B45C-5133-4F91-B57F-36469194BF8A}" srcOrd="0" destOrd="0" presId="urn:microsoft.com/office/officeart/2005/8/layout/hProcess4"/>
    <dgm:cxn modelId="{63C18EC4-91B3-49DD-99D9-0AC00984F35E}" srcId="{8C2EBF49-84E6-4EEA-AC98-D5F939DB56E4}" destId="{399FC8AB-023F-461C-8650-4FE7A7533E49}" srcOrd="1" destOrd="0" parTransId="{4997C9EA-C599-4477-9368-EBB7EB7A94F7}" sibTransId="{631DF3E9-958A-4D38-B424-F5F1780F4F2F}"/>
    <dgm:cxn modelId="{322F836A-2011-4E8C-9D1D-B4B485D347FC}" type="presOf" srcId="{631DF3E9-958A-4D38-B424-F5F1780F4F2F}" destId="{78C925EA-3D5E-4395-A7A9-D2629C545BDB}" srcOrd="0" destOrd="0" presId="urn:microsoft.com/office/officeart/2005/8/layout/hProcess4"/>
    <dgm:cxn modelId="{D3B2E2ED-C190-4158-9E47-DD7A1230AB1E}" srcId="{7977E29C-15F2-4343-A451-B23A5CB69AE2}" destId="{D4AFD689-E55A-4819-88A1-E010E1C738FE}" srcOrd="0" destOrd="0" parTransId="{BAC769EF-4B44-4751-8B7D-77B0244F22AE}" sibTransId="{47C21F21-1DDA-4FF7-9F69-16A38746F339}"/>
    <dgm:cxn modelId="{01A739A7-2E4F-4B2E-8A7A-F6DC2CFBCE8C}" type="presOf" srcId="{B9177DF0-391E-4A1C-B4A0-74FD1E6C2D60}" destId="{4915E01A-A6B9-4BFD-849A-66C7664FBFF6}" srcOrd="0" destOrd="0" presId="urn:microsoft.com/office/officeart/2005/8/layout/hProcess4"/>
    <dgm:cxn modelId="{D25CBB09-1F34-446A-B2DC-6CC9F1A3EA6D}" type="presParOf" srcId="{D1967B91-E179-4C8D-9544-9D691B9BF50B}" destId="{E46E4B59-45CB-4EA3-AF57-44336ACA697A}" srcOrd="0" destOrd="0" presId="urn:microsoft.com/office/officeart/2005/8/layout/hProcess4"/>
    <dgm:cxn modelId="{4C072826-915F-4211-BCEE-A7624CC7A11A}" type="presParOf" srcId="{D1967B91-E179-4C8D-9544-9D691B9BF50B}" destId="{3C2E3CAD-F56B-4843-A364-E899A6F00274}" srcOrd="1" destOrd="0" presId="urn:microsoft.com/office/officeart/2005/8/layout/hProcess4"/>
    <dgm:cxn modelId="{FA3CC10D-B9F0-4B33-B1B2-9C0F45003584}" type="presParOf" srcId="{D1967B91-E179-4C8D-9544-9D691B9BF50B}" destId="{28E42218-198E-4F7E-B541-6DA5F0E9C6E3}" srcOrd="2" destOrd="0" presId="urn:microsoft.com/office/officeart/2005/8/layout/hProcess4"/>
    <dgm:cxn modelId="{51B192B6-0699-4DE7-A00A-0DDB3D0C1B44}" type="presParOf" srcId="{28E42218-198E-4F7E-B541-6DA5F0E9C6E3}" destId="{D0A44923-7865-489C-ADDF-1DAA32A64799}" srcOrd="0" destOrd="0" presId="urn:microsoft.com/office/officeart/2005/8/layout/hProcess4"/>
    <dgm:cxn modelId="{FDBA34D4-652F-4A83-A66E-AFD9C4477162}" type="presParOf" srcId="{D0A44923-7865-489C-ADDF-1DAA32A64799}" destId="{EABAEEE0-7237-4C7A-AE50-51A516329071}" srcOrd="0" destOrd="0" presId="urn:microsoft.com/office/officeart/2005/8/layout/hProcess4"/>
    <dgm:cxn modelId="{27DD1E4B-8379-40DD-8041-98A9DFA52E4B}" type="presParOf" srcId="{D0A44923-7865-489C-ADDF-1DAA32A64799}" destId="{A2A352B7-B14C-4BBD-B2C7-D67A3F38893A}" srcOrd="1" destOrd="0" presId="urn:microsoft.com/office/officeart/2005/8/layout/hProcess4"/>
    <dgm:cxn modelId="{52AA7E5B-BAD4-4DAE-8194-2171EAB2C269}" type="presParOf" srcId="{D0A44923-7865-489C-ADDF-1DAA32A64799}" destId="{978DD98F-739C-442B-81EC-DDD91D246BCC}" srcOrd="2" destOrd="0" presId="urn:microsoft.com/office/officeart/2005/8/layout/hProcess4"/>
    <dgm:cxn modelId="{E94C7459-0235-49B8-911D-985656E31B94}" type="presParOf" srcId="{D0A44923-7865-489C-ADDF-1DAA32A64799}" destId="{B9AF4D16-83EA-431C-BEC1-D790BDBE0366}" srcOrd="3" destOrd="0" presId="urn:microsoft.com/office/officeart/2005/8/layout/hProcess4"/>
    <dgm:cxn modelId="{FF50F6D6-58BD-42BA-AEDE-FB8C54900A69}" type="presParOf" srcId="{D0A44923-7865-489C-ADDF-1DAA32A64799}" destId="{F0029954-6D2E-463B-AB38-B5A5F24B1393}" srcOrd="4" destOrd="0" presId="urn:microsoft.com/office/officeart/2005/8/layout/hProcess4"/>
    <dgm:cxn modelId="{72ED85A1-C955-4243-8A34-FC013F251EE3}" type="presParOf" srcId="{28E42218-198E-4F7E-B541-6DA5F0E9C6E3}" destId="{4E13105E-9382-4D16-832C-4897BA3EAA74}" srcOrd="1" destOrd="0" presId="urn:microsoft.com/office/officeart/2005/8/layout/hProcess4"/>
    <dgm:cxn modelId="{1198E78E-C908-4F6C-A17D-F9166F34C7A1}" type="presParOf" srcId="{28E42218-198E-4F7E-B541-6DA5F0E9C6E3}" destId="{BDB6C134-DF97-4DF9-B69E-A6C0FDA30DBF}" srcOrd="2" destOrd="0" presId="urn:microsoft.com/office/officeart/2005/8/layout/hProcess4"/>
    <dgm:cxn modelId="{2CAC8B28-0923-4E3D-A666-9B1233EF7524}" type="presParOf" srcId="{BDB6C134-DF97-4DF9-B69E-A6C0FDA30DBF}" destId="{2380DF36-6442-4A58-BD53-DAA6A816C526}" srcOrd="0" destOrd="0" presId="urn:microsoft.com/office/officeart/2005/8/layout/hProcess4"/>
    <dgm:cxn modelId="{783A4AB2-1B4E-48A1-9406-EA3F73AF3294}" type="presParOf" srcId="{BDB6C134-DF97-4DF9-B69E-A6C0FDA30DBF}" destId="{56E5A599-34BB-4344-9B60-46C790F9F1A6}" srcOrd="1" destOrd="0" presId="urn:microsoft.com/office/officeart/2005/8/layout/hProcess4"/>
    <dgm:cxn modelId="{E13D130D-053D-4EC1-8418-1054614BBE78}" type="presParOf" srcId="{BDB6C134-DF97-4DF9-B69E-A6C0FDA30DBF}" destId="{A77AAE56-5F05-4869-A810-5BDE7CFB8E1C}" srcOrd="2" destOrd="0" presId="urn:microsoft.com/office/officeart/2005/8/layout/hProcess4"/>
    <dgm:cxn modelId="{528BF283-A273-4751-8F41-AD2BB0598D98}" type="presParOf" srcId="{BDB6C134-DF97-4DF9-B69E-A6C0FDA30DBF}" destId="{95AF069A-9F27-41AD-B7A6-5F5742693936}" srcOrd="3" destOrd="0" presId="urn:microsoft.com/office/officeart/2005/8/layout/hProcess4"/>
    <dgm:cxn modelId="{FF657D08-4CE7-4A81-894D-02E4A95BF18A}" type="presParOf" srcId="{BDB6C134-DF97-4DF9-B69E-A6C0FDA30DBF}" destId="{57C40F8E-6664-485A-BE5D-E70F85D84C2A}" srcOrd="4" destOrd="0" presId="urn:microsoft.com/office/officeart/2005/8/layout/hProcess4"/>
    <dgm:cxn modelId="{080721BF-FF7F-47EF-BD49-209A3CF65DCD}" type="presParOf" srcId="{28E42218-198E-4F7E-B541-6DA5F0E9C6E3}" destId="{78C925EA-3D5E-4395-A7A9-D2629C545BDB}" srcOrd="3" destOrd="0" presId="urn:microsoft.com/office/officeart/2005/8/layout/hProcess4"/>
    <dgm:cxn modelId="{94BEAAC8-59B2-4549-9FD1-DF05A70F105A}" type="presParOf" srcId="{28E42218-198E-4F7E-B541-6DA5F0E9C6E3}" destId="{73ED7EBB-4F80-409E-9B84-2593DAAC9DA1}" srcOrd="4" destOrd="0" presId="urn:microsoft.com/office/officeart/2005/8/layout/hProcess4"/>
    <dgm:cxn modelId="{2BCA419A-39C4-4302-9D4B-169BF41F1B7B}" type="presParOf" srcId="{73ED7EBB-4F80-409E-9B84-2593DAAC9DA1}" destId="{95CDC11C-1DCF-4DB5-BDAD-6735767DB6C5}" srcOrd="0" destOrd="0" presId="urn:microsoft.com/office/officeart/2005/8/layout/hProcess4"/>
    <dgm:cxn modelId="{AB37F561-09BE-4154-8F97-4DD22D5D5E79}" type="presParOf" srcId="{73ED7EBB-4F80-409E-9B84-2593DAAC9DA1}" destId="{83B2B45C-5133-4F91-B57F-36469194BF8A}" srcOrd="1" destOrd="0" presId="urn:microsoft.com/office/officeart/2005/8/layout/hProcess4"/>
    <dgm:cxn modelId="{86C96BED-6DC0-471D-9B98-37CFDA1C725E}" type="presParOf" srcId="{73ED7EBB-4F80-409E-9B84-2593DAAC9DA1}" destId="{60CE4148-4CEE-4C58-8B88-9A5A2E087FCA}" srcOrd="2" destOrd="0" presId="urn:microsoft.com/office/officeart/2005/8/layout/hProcess4"/>
    <dgm:cxn modelId="{FEA5D30A-6F4E-46F0-93FA-C5D02BDD67E1}" type="presParOf" srcId="{73ED7EBB-4F80-409E-9B84-2593DAAC9DA1}" destId="{4915E01A-A6B9-4BFD-849A-66C7664FBFF6}" srcOrd="3" destOrd="0" presId="urn:microsoft.com/office/officeart/2005/8/layout/hProcess4"/>
    <dgm:cxn modelId="{25F457BB-7C61-44F0-B53A-BAA93BBE3311}" type="presParOf" srcId="{73ED7EBB-4F80-409E-9B84-2593DAAC9DA1}" destId="{E172BC68-C912-411D-911C-1A3745460F33}" srcOrd="4" destOrd="0" presId="urn:microsoft.com/office/officeart/2005/8/layout/h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763D1C-C857-488D-AFD1-AB802C6EB2C6}">
      <dsp:nvSpPr>
        <dsp:cNvPr id="0" name=""/>
        <dsp:cNvSpPr/>
      </dsp:nvSpPr>
      <dsp:spPr>
        <a:xfrm>
          <a:off x="0" y="281359"/>
          <a:ext cx="1165271" cy="1283576"/>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指标选择</a:t>
          </a:r>
          <a:endParaRPr lang="zh-CN" altLang="en-US" sz="1800" kern="1200" dirty="0"/>
        </a:p>
      </dsp:txBody>
      <dsp:txXfrm>
        <a:off x="34130" y="315489"/>
        <a:ext cx="1097011" cy="1215316"/>
      </dsp:txXfrm>
    </dsp:sp>
    <dsp:sp modelId="{C9F7B2E0-9086-4D9A-B683-B5281240DB28}">
      <dsp:nvSpPr>
        <dsp:cNvPr id="0" name=""/>
        <dsp:cNvSpPr/>
      </dsp:nvSpPr>
      <dsp:spPr>
        <a:xfrm>
          <a:off x="1281798" y="778654"/>
          <a:ext cx="247037" cy="288987"/>
        </a:xfrm>
        <a:prstGeom prst="rightArrow">
          <a:avLst>
            <a:gd name="adj1" fmla="val 60000"/>
            <a:gd name="adj2" fmla="val 50000"/>
          </a:avLst>
        </a:prstGeom>
        <a:gradFill rotWithShape="0">
          <a:gsLst>
            <a:gs pos="0">
              <a:schemeClr val="accent1">
                <a:tint val="60000"/>
                <a:hueOff val="0"/>
                <a:satOff val="0"/>
                <a:lumOff val="0"/>
                <a:alphaOff val="0"/>
                <a:tint val="50000"/>
                <a:satMod val="300000"/>
              </a:schemeClr>
            </a:gs>
            <a:gs pos="35000">
              <a:schemeClr val="accent1">
                <a:tint val="60000"/>
                <a:hueOff val="0"/>
                <a:satOff val="0"/>
                <a:lumOff val="0"/>
                <a:alphaOff val="0"/>
                <a:tint val="37000"/>
                <a:satMod val="300000"/>
              </a:schemeClr>
            </a:gs>
            <a:gs pos="100000">
              <a:schemeClr val="accent1">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1281798" y="836451"/>
        <a:ext cx="172926" cy="173393"/>
      </dsp:txXfrm>
    </dsp:sp>
    <dsp:sp modelId="{85A6444C-55E3-4259-BFA7-F92FAE97EEEA}">
      <dsp:nvSpPr>
        <dsp:cNvPr id="0" name=""/>
        <dsp:cNvSpPr/>
      </dsp:nvSpPr>
      <dsp:spPr>
        <a:xfrm>
          <a:off x="1631380" y="281359"/>
          <a:ext cx="1165271" cy="1283576"/>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数据处理</a:t>
          </a:r>
          <a:endParaRPr lang="zh-CN" altLang="en-US" sz="1800" kern="1200" dirty="0"/>
        </a:p>
      </dsp:txBody>
      <dsp:txXfrm>
        <a:off x="1665510" y="315489"/>
        <a:ext cx="1097011" cy="1215316"/>
      </dsp:txXfrm>
    </dsp:sp>
    <dsp:sp modelId="{D80F7F66-3F47-49EF-A965-87FB8733DF44}">
      <dsp:nvSpPr>
        <dsp:cNvPr id="0" name=""/>
        <dsp:cNvSpPr/>
      </dsp:nvSpPr>
      <dsp:spPr>
        <a:xfrm>
          <a:off x="2913178" y="778654"/>
          <a:ext cx="247037" cy="288987"/>
        </a:xfrm>
        <a:prstGeom prst="rightArrow">
          <a:avLst>
            <a:gd name="adj1" fmla="val 60000"/>
            <a:gd name="adj2" fmla="val 50000"/>
          </a:avLst>
        </a:prstGeom>
        <a:gradFill rotWithShape="0">
          <a:gsLst>
            <a:gs pos="0">
              <a:schemeClr val="accent1">
                <a:tint val="60000"/>
                <a:hueOff val="0"/>
                <a:satOff val="0"/>
                <a:lumOff val="0"/>
                <a:alphaOff val="0"/>
                <a:tint val="50000"/>
                <a:satMod val="300000"/>
              </a:schemeClr>
            </a:gs>
            <a:gs pos="35000">
              <a:schemeClr val="accent1">
                <a:tint val="60000"/>
                <a:hueOff val="0"/>
                <a:satOff val="0"/>
                <a:lumOff val="0"/>
                <a:alphaOff val="0"/>
                <a:tint val="37000"/>
                <a:satMod val="300000"/>
              </a:schemeClr>
            </a:gs>
            <a:gs pos="100000">
              <a:schemeClr val="accent1">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2913178" y="836451"/>
        <a:ext cx="172926" cy="173393"/>
      </dsp:txXfrm>
    </dsp:sp>
    <dsp:sp modelId="{38A7E1F1-7A58-41AA-8229-544735F225ED}">
      <dsp:nvSpPr>
        <dsp:cNvPr id="0" name=""/>
        <dsp:cNvSpPr/>
      </dsp:nvSpPr>
      <dsp:spPr>
        <a:xfrm>
          <a:off x="3262760" y="281359"/>
          <a:ext cx="1165271" cy="1283576"/>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主成分分析</a:t>
          </a:r>
          <a:endParaRPr lang="zh-CN" altLang="en-US" sz="1800" kern="1200" dirty="0"/>
        </a:p>
      </dsp:txBody>
      <dsp:txXfrm>
        <a:off x="3296890" y="315489"/>
        <a:ext cx="1097011" cy="1215316"/>
      </dsp:txXfrm>
    </dsp:sp>
    <dsp:sp modelId="{D973D827-058B-47CB-9D4A-D6FC11A5EB80}">
      <dsp:nvSpPr>
        <dsp:cNvPr id="0" name=""/>
        <dsp:cNvSpPr/>
      </dsp:nvSpPr>
      <dsp:spPr>
        <a:xfrm>
          <a:off x="4544558" y="778654"/>
          <a:ext cx="247037" cy="288987"/>
        </a:xfrm>
        <a:prstGeom prst="rightArrow">
          <a:avLst>
            <a:gd name="adj1" fmla="val 60000"/>
            <a:gd name="adj2" fmla="val 50000"/>
          </a:avLst>
        </a:prstGeom>
        <a:gradFill rotWithShape="0">
          <a:gsLst>
            <a:gs pos="0">
              <a:schemeClr val="accent1">
                <a:tint val="60000"/>
                <a:hueOff val="0"/>
                <a:satOff val="0"/>
                <a:lumOff val="0"/>
                <a:alphaOff val="0"/>
                <a:tint val="50000"/>
                <a:satMod val="300000"/>
              </a:schemeClr>
            </a:gs>
            <a:gs pos="35000">
              <a:schemeClr val="accent1">
                <a:tint val="60000"/>
                <a:hueOff val="0"/>
                <a:satOff val="0"/>
                <a:lumOff val="0"/>
                <a:alphaOff val="0"/>
                <a:tint val="37000"/>
                <a:satMod val="300000"/>
              </a:schemeClr>
            </a:gs>
            <a:gs pos="100000">
              <a:schemeClr val="accent1">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4544558" y="836451"/>
        <a:ext cx="172926" cy="173393"/>
      </dsp:txXfrm>
    </dsp:sp>
    <dsp:sp modelId="{A5171DB6-0785-4FDB-89A1-79922A372E48}">
      <dsp:nvSpPr>
        <dsp:cNvPr id="0" name=""/>
        <dsp:cNvSpPr/>
      </dsp:nvSpPr>
      <dsp:spPr>
        <a:xfrm>
          <a:off x="4894140" y="281359"/>
          <a:ext cx="1165271" cy="1283576"/>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综合排名</a:t>
          </a:r>
          <a:endParaRPr lang="zh-CN" altLang="en-US" sz="1800" kern="1200" dirty="0"/>
        </a:p>
      </dsp:txBody>
      <dsp:txXfrm>
        <a:off x="4928270" y="315489"/>
        <a:ext cx="1097011" cy="1215316"/>
      </dsp:txXfrm>
    </dsp:sp>
    <dsp:sp modelId="{B3C98AD5-2819-41F7-8618-DE64928DFE4C}">
      <dsp:nvSpPr>
        <dsp:cNvPr id="0" name=""/>
        <dsp:cNvSpPr/>
      </dsp:nvSpPr>
      <dsp:spPr>
        <a:xfrm>
          <a:off x="6175938" y="778654"/>
          <a:ext cx="247037" cy="288987"/>
        </a:xfrm>
        <a:prstGeom prst="rightArrow">
          <a:avLst>
            <a:gd name="adj1" fmla="val 60000"/>
            <a:gd name="adj2" fmla="val 50000"/>
          </a:avLst>
        </a:prstGeom>
        <a:gradFill rotWithShape="0">
          <a:gsLst>
            <a:gs pos="0">
              <a:schemeClr val="accent1">
                <a:tint val="60000"/>
                <a:hueOff val="0"/>
                <a:satOff val="0"/>
                <a:lumOff val="0"/>
                <a:alphaOff val="0"/>
                <a:tint val="50000"/>
                <a:satMod val="300000"/>
              </a:schemeClr>
            </a:gs>
            <a:gs pos="35000">
              <a:schemeClr val="accent1">
                <a:tint val="60000"/>
                <a:hueOff val="0"/>
                <a:satOff val="0"/>
                <a:lumOff val="0"/>
                <a:alphaOff val="0"/>
                <a:tint val="37000"/>
                <a:satMod val="300000"/>
              </a:schemeClr>
            </a:gs>
            <a:gs pos="100000">
              <a:schemeClr val="accent1">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6175938" y="836451"/>
        <a:ext cx="172926" cy="173393"/>
      </dsp:txXfrm>
    </dsp:sp>
    <dsp:sp modelId="{247AD5E9-03D6-4D77-B2C5-070407B4C3FA}">
      <dsp:nvSpPr>
        <dsp:cNvPr id="0" name=""/>
        <dsp:cNvSpPr/>
      </dsp:nvSpPr>
      <dsp:spPr>
        <a:xfrm>
          <a:off x="6525520" y="281359"/>
          <a:ext cx="1165271" cy="1283576"/>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altLang="en-US" sz="1800" kern="1200" dirty="0" smtClean="0"/>
            <a:t>收益率计算</a:t>
          </a:r>
          <a:endParaRPr lang="zh-CN" altLang="en-US" sz="1800" kern="1200" dirty="0"/>
        </a:p>
      </dsp:txBody>
      <dsp:txXfrm>
        <a:off x="6559650" y="315489"/>
        <a:ext cx="1097011" cy="1215316"/>
      </dsp:txXfrm>
    </dsp:sp>
    <dsp:sp modelId="{3E73836A-A382-4025-81D4-4F59C625838F}">
      <dsp:nvSpPr>
        <dsp:cNvPr id="0" name=""/>
        <dsp:cNvSpPr/>
      </dsp:nvSpPr>
      <dsp:spPr>
        <a:xfrm>
          <a:off x="7807319" y="778654"/>
          <a:ext cx="247037" cy="288987"/>
        </a:xfrm>
        <a:prstGeom prst="rightArrow">
          <a:avLst>
            <a:gd name="adj1" fmla="val 60000"/>
            <a:gd name="adj2" fmla="val 50000"/>
          </a:avLst>
        </a:prstGeom>
        <a:gradFill rotWithShape="0">
          <a:gsLst>
            <a:gs pos="0">
              <a:schemeClr val="accent1">
                <a:tint val="60000"/>
                <a:hueOff val="0"/>
                <a:satOff val="0"/>
                <a:lumOff val="0"/>
                <a:alphaOff val="0"/>
                <a:tint val="50000"/>
                <a:satMod val="300000"/>
              </a:schemeClr>
            </a:gs>
            <a:gs pos="35000">
              <a:schemeClr val="accent1">
                <a:tint val="60000"/>
                <a:hueOff val="0"/>
                <a:satOff val="0"/>
                <a:lumOff val="0"/>
                <a:alphaOff val="0"/>
                <a:tint val="37000"/>
                <a:satMod val="300000"/>
              </a:schemeClr>
            </a:gs>
            <a:gs pos="100000">
              <a:schemeClr val="accent1">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7807319" y="836451"/>
        <a:ext cx="172926" cy="173393"/>
      </dsp:txXfrm>
    </dsp:sp>
    <dsp:sp modelId="{42B467B3-3C18-405B-A377-7935CCFBAB57}">
      <dsp:nvSpPr>
        <dsp:cNvPr id="0" name=""/>
        <dsp:cNvSpPr/>
      </dsp:nvSpPr>
      <dsp:spPr>
        <a:xfrm>
          <a:off x="8156900" y="281359"/>
          <a:ext cx="1165271" cy="1283576"/>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sz="1800" kern="1200" smtClean="0"/>
            <a:t>量化投资策略设计与分析</a:t>
          </a:r>
          <a:endParaRPr lang="zh-CN" altLang="en-US" sz="1800" kern="1200" dirty="0"/>
        </a:p>
      </dsp:txBody>
      <dsp:txXfrm>
        <a:off x="8191030" y="315489"/>
        <a:ext cx="1097011" cy="12153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A352B7-B14C-4BBD-B2C7-D67A3F38893A}">
      <dsp:nvSpPr>
        <dsp:cNvPr id="0" name=""/>
        <dsp:cNvSpPr/>
      </dsp:nvSpPr>
      <dsp:spPr>
        <a:xfrm>
          <a:off x="109330" y="1100836"/>
          <a:ext cx="2695091" cy="2222886"/>
        </a:xfrm>
        <a:prstGeom prst="roundRect">
          <a:avLst>
            <a:gd name="adj" fmla="val 10000"/>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66725">
            <a:lnSpc>
              <a:spcPct val="90000"/>
            </a:lnSpc>
            <a:spcBef>
              <a:spcPct val="0"/>
            </a:spcBef>
            <a:spcAft>
              <a:spcPct val="15000"/>
            </a:spcAft>
            <a:buChar char="••"/>
          </a:pPr>
          <a:r>
            <a:rPr lang="zh-CN" altLang="en-US" sz="1050" kern="1200" dirty="0" smtClean="0"/>
            <a:t>为了将基于成长与价值指标的综合评价方法推广到其他年份及量化投资策略的使用，我们将</a:t>
          </a:r>
          <a:r>
            <a:rPr lang="en-US" altLang="en-US" sz="1050" kern="1200" dirty="0" smtClean="0"/>
            <a:t>8.4.1</a:t>
          </a:r>
          <a:r>
            <a:rPr lang="zh-CN" altLang="en-US" sz="1050" kern="1200" dirty="0" smtClean="0"/>
            <a:t>至</a:t>
          </a:r>
          <a:r>
            <a:rPr lang="en-US" altLang="en-US" sz="1050" kern="1200" dirty="0" smtClean="0"/>
            <a:t>8.4.4</a:t>
          </a:r>
          <a:r>
            <a:rPr lang="zh-CN" altLang="en-US" sz="1050" kern="1200" dirty="0" smtClean="0"/>
            <a:t>关于获得综合排名的程序脚本定义为函数的形式，该函数我们记为</a:t>
          </a:r>
          <a:r>
            <a:rPr lang="en-US" altLang="en-US" sz="1050" kern="1200" dirty="0" smtClean="0"/>
            <a:t>Fr2</a:t>
          </a:r>
          <a:r>
            <a:rPr lang="zh-CN" altLang="en-US" sz="1050" kern="1200" dirty="0" smtClean="0"/>
            <a:t>，存在于</a:t>
          </a:r>
          <a:r>
            <a:rPr lang="en-US" altLang="en-US" sz="1050" kern="1200" dirty="0" smtClean="0">
              <a:hlinkClick xmlns:r="http://schemas.openxmlformats.org/officeDocument/2006/relationships" r:id="" action="ppaction://hlinksldjump"/>
            </a:rPr>
            <a:t>ffun.p</a:t>
          </a:r>
          <a:r>
            <a:rPr lang="en-US" altLang="en-US" sz="1050" kern="1200" dirty="0" smtClean="0"/>
            <a:t>y</a:t>
          </a:r>
          <a:r>
            <a:rPr lang="zh-CN" altLang="en-US" sz="1050" kern="1200" dirty="0" smtClean="0"/>
            <a:t>文件中</a:t>
          </a:r>
          <a:endParaRPr lang="zh-CN" altLang="en-US" sz="1050" kern="1200" dirty="0"/>
        </a:p>
      </dsp:txBody>
      <dsp:txXfrm>
        <a:off x="160485" y="1151991"/>
        <a:ext cx="2592781" cy="1644244"/>
      </dsp:txXfrm>
    </dsp:sp>
    <dsp:sp modelId="{4E13105E-9382-4D16-832C-4897BA3EAA74}">
      <dsp:nvSpPr>
        <dsp:cNvPr id="0" name=""/>
        <dsp:cNvSpPr/>
      </dsp:nvSpPr>
      <dsp:spPr>
        <a:xfrm>
          <a:off x="1604457" y="1615816"/>
          <a:ext cx="3076209" cy="3076209"/>
        </a:xfrm>
        <a:prstGeom prst="leftCircularArrow">
          <a:avLst>
            <a:gd name="adj1" fmla="val 3490"/>
            <a:gd name="adj2" fmla="val 432944"/>
            <a:gd name="adj3" fmla="val 2208455"/>
            <a:gd name="adj4" fmla="val 9024489"/>
            <a:gd name="adj5" fmla="val 4072"/>
          </a:avLst>
        </a:prstGeom>
        <a:solidFill>
          <a:schemeClr val="dk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B9AF4D16-83EA-431C-BEC1-D790BDBE0366}">
      <dsp:nvSpPr>
        <dsp:cNvPr id="0" name=""/>
        <dsp:cNvSpPr/>
      </dsp:nvSpPr>
      <dsp:spPr>
        <a:xfrm>
          <a:off x="708401" y="2903362"/>
          <a:ext cx="2395637" cy="952665"/>
        </a:xfrm>
        <a:prstGeom prst="roundRect">
          <a:avLst>
            <a:gd name="adj" fmla="val 10000"/>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zh-CN" altLang="en-US" sz="2200" kern="1200" dirty="0" smtClean="0"/>
            <a:t>综合排名函数定义</a:t>
          </a:r>
          <a:endParaRPr lang="zh-CN" altLang="en-US" sz="2200" kern="1200" dirty="0"/>
        </a:p>
      </dsp:txBody>
      <dsp:txXfrm>
        <a:off x="736304" y="2931265"/>
        <a:ext cx="2339831" cy="896859"/>
      </dsp:txXfrm>
    </dsp:sp>
    <dsp:sp modelId="{56E5A599-34BB-4344-9B60-46C790F9F1A6}">
      <dsp:nvSpPr>
        <dsp:cNvPr id="0" name=""/>
        <dsp:cNvSpPr/>
      </dsp:nvSpPr>
      <dsp:spPr>
        <a:xfrm>
          <a:off x="3615294" y="1156808"/>
          <a:ext cx="2695091" cy="2222886"/>
        </a:xfrm>
        <a:prstGeom prst="roundRect">
          <a:avLst>
            <a:gd name="adj" fmla="val 10000"/>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66725">
            <a:lnSpc>
              <a:spcPct val="90000"/>
            </a:lnSpc>
            <a:spcBef>
              <a:spcPct val="0"/>
            </a:spcBef>
            <a:spcAft>
              <a:spcPct val="15000"/>
            </a:spcAft>
            <a:buChar char="••"/>
          </a:pPr>
          <a:r>
            <a:rPr lang="zh-CN" altLang="en-US" sz="1050" kern="1200" dirty="0" smtClean="0"/>
            <a:t>以</a:t>
          </a:r>
          <a:r>
            <a:rPr lang="en-US" altLang="en-US" sz="1050" kern="1200" dirty="0" smtClean="0"/>
            <a:t>8.4.1~8.4.5</a:t>
          </a:r>
          <a:r>
            <a:rPr lang="zh-CN" altLang="en-US" sz="1050" kern="1200" dirty="0" smtClean="0"/>
            <a:t>的计算例子为例，即以</a:t>
          </a:r>
          <a:r>
            <a:rPr lang="en-US" altLang="en-US" sz="1050" kern="1200" dirty="0" smtClean="0"/>
            <a:t>2014</a:t>
          </a:r>
          <a:r>
            <a:rPr lang="zh-CN" altLang="en-US" sz="1050" kern="1200" dirty="0" smtClean="0"/>
            <a:t>年的财务数据指标进行排名，获取其排名结果前</a:t>
          </a:r>
          <a:r>
            <a:rPr lang="en-US" altLang="en-US" sz="1050" kern="1200" dirty="0" smtClean="0"/>
            <a:t>20</a:t>
          </a:r>
          <a:r>
            <a:rPr lang="zh-CN" altLang="en-US" sz="1050" kern="1200" dirty="0" smtClean="0"/>
            <a:t>的股票代码构建投资组合，计算持有期为</a:t>
          </a:r>
          <a:r>
            <a:rPr lang="en-US" altLang="en-US" sz="1050" kern="1200" dirty="0" smtClean="0"/>
            <a:t>2015-05-01</a:t>
          </a:r>
          <a:r>
            <a:rPr lang="zh-CN" altLang="en-US" sz="1050" kern="1200" dirty="0" smtClean="0"/>
            <a:t>至</a:t>
          </a:r>
          <a:r>
            <a:rPr lang="en-US" altLang="en-US" sz="1050" kern="1200" dirty="0" smtClean="0"/>
            <a:t>2015-12-31</a:t>
          </a:r>
          <a:r>
            <a:rPr lang="zh-CN" altLang="en-US" sz="1050" kern="1200" dirty="0" smtClean="0"/>
            <a:t>日的投资组合收益率</a:t>
          </a:r>
          <a:r>
            <a:rPr lang="en-US" altLang="en-US" sz="1050" kern="1200" dirty="0" smtClean="0"/>
            <a:t>.</a:t>
          </a:r>
          <a:r>
            <a:rPr lang="zh-CN" altLang="en-US" sz="1050" kern="1200" dirty="0" smtClean="0"/>
            <a:t>（注意这里收益率的计算函数仍然使用</a:t>
          </a:r>
          <a:r>
            <a:rPr lang="en-US" altLang="en-US" sz="1050" kern="1200" dirty="0" smtClean="0"/>
            <a:t>8.3.6.2</a:t>
          </a:r>
          <a:r>
            <a:rPr lang="zh-CN" altLang="en-US" sz="1050" kern="1200" dirty="0" smtClean="0"/>
            <a:t>定义的</a:t>
          </a:r>
          <a:r>
            <a:rPr lang="en-US" altLang="en-US" sz="1050" kern="1200" dirty="0" smtClean="0">
              <a:hlinkClick xmlns:r="http://schemas.openxmlformats.org/officeDocument/2006/relationships" r:id="" action="ppaction://hlinksldjump"/>
            </a:rPr>
            <a:t>Re</a:t>
          </a:r>
          <a:r>
            <a:rPr lang="zh-CN" altLang="en-US" sz="1050" kern="1200" dirty="0" smtClean="0">
              <a:hlinkClick xmlns:r="http://schemas.openxmlformats.org/officeDocument/2006/relationships" r:id="" action="ppaction://hlinksldjump"/>
            </a:rPr>
            <a:t>函数</a:t>
          </a:r>
          <a:r>
            <a:rPr lang="zh-CN" altLang="en-US" sz="1050" kern="1200" dirty="0" smtClean="0"/>
            <a:t>）：</a:t>
          </a:r>
          <a:endParaRPr lang="zh-CN" altLang="en-US" sz="1050" kern="1200" dirty="0"/>
        </a:p>
      </dsp:txBody>
      <dsp:txXfrm>
        <a:off x="3666449" y="1684296"/>
        <a:ext cx="2592781" cy="1644244"/>
      </dsp:txXfrm>
    </dsp:sp>
    <dsp:sp modelId="{78C925EA-3D5E-4395-A7A9-D2629C545BDB}">
      <dsp:nvSpPr>
        <dsp:cNvPr id="0" name=""/>
        <dsp:cNvSpPr/>
      </dsp:nvSpPr>
      <dsp:spPr>
        <a:xfrm>
          <a:off x="5087801" y="-242679"/>
          <a:ext cx="3420581" cy="3420581"/>
        </a:xfrm>
        <a:prstGeom prst="circularArrow">
          <a:avLst>
            <a:gd name="adj1" fmla="val 3139"/>
            <a:gd name="adj2" fmla="val 386124"/>
            <a:gd name="adj3" fmla="val 19438366"/>
            <a:gd name="adj4" fmla="val 12575511"/>
            <a:gd name="adj5" fmla="val 3662"/>
          </a:avLst>
        </a:prstGeom>
        <a:solidFill>
          <a:schemeClr val="dk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95AF069A-9F27-41AD-B7A6-5F5742693936}">
      <dsp:nvSpPr>
        <dsp:cNvPr id="0" name=""/>
        <dsp:cNvSpPr/>
      </dsp:nvSpPr>
      <dsp:spPr>
        <a:xfrm>
          <a:off x="4214204" y="680475"/>
          <a:ext cx="2395637" cy="952665"/>
        </a:xfrm>
        <a:prstGeom prst="roundRect">
          <a:avLst>
            <a:gd name="adj" fmla="val 10000"/>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zh-CN" altLang="en-US" sz="2200" kern="1200" dirty="0" smtClean="0"/>
            <a:t>函数使用方法</a:t>
          </a:r>
          <a:endParaRPr lang="zh-CN" altLang="en-US" sz="2200" kern="1200" dirty="0"/>
        </a:p>
      </dsp:txBody>
      <dsp:txXfrm>
        <a:off x="4242107" y="708378"/>
        <a:ext cx="2339831" cy="896859"/>
      </dsp:txXfrm>
    </dsp:sp>
    <dsp:sp modelId="{83B2B45C-5133-4F91-B57F-36469194BF8A}">
      <dsp:nvSpPr>
        <dsp:cNvPr id="0" name=""/>
        <dsp:cNvSpPr/>
      </dsp:nvSpPr>
      <dsp:spPr>
        <a:xfrm>
          <a:off x="7121097" y="1156808"/>
          <a:ext cx="2695091" cy="2222886"/>
        </a:xfrm>
        <a:prstGeom prst="roundRect">
          <a:avLst>
            <a:gd name="adj" fmla="val 10000"/>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00050">
            <a:lnSpc>
              <a:spcPct val="90000"/>
            </a:lnSpc>
            <a:spcBef>
              <a:spcPct val="0"/>
            </a:spcBef>
            <a:spcAft>
              <a:spcPct val="15000"/>
            </a:spcAft>
            <a:buChar char="••"/>
          </a:pPr>
          <a:r>
            <a:rPr lang="zh-CN" altLang="en-US" sz="900" kern="1200" dirty="0" smtClean="0"/>
            <a:t>进一步地我们设计一个量化投资策略：以</a:t>
          </a:r>
          <a:r>
            <a:rPr lang="en-US" altLang="en-US" sz="900" kern="1200" dirty="0" smtClean="0"/>
            <a:t>2013</a:t>
          </a:r>
          <a:r>
            <a:rPr lang="zh-CN" altLang="en-US" sz="900" kern="1200" dirty="0" smtClean="0"/>
            <a:t>年</a:t>
          </a:r>
          <a:r>
            <a:rPr lang="en-US" altLang="en-US" sz="900" kern="1200" dirty="0" smtClean="0"/>
            <a:t>~2016</a:t>
          </a:r>
          <a:r>
            <a:rPr lang="zh-CN" altLang="en-US" sz="900" kern="1200" dirty="0" smtClean="0"/>
            <a:t>年的财务指标数据为基础计算其综合排名，并取排名前</a:t>
          </a:r>
          <a:r>
            <a:rPr lang="en-US" altLang="en-US" sz="900" kern="1200" dirty="0" smtClean="0"/>
            <a:t>20</a:t>
          </a:r>
          <a:r>
            <a:rPr lang="zh-CN" altLang="en-US" sz="900" kern="1200" dirty="0" smtClean="0"/>
            <a:t>、</a:t>
          </a:r>
          <a:r>
            <a:rPr lang="en-US" altLang="en-US" sz="900" kern="1200" dirty="0" smtClean="0"/>
            <a:t>40</a:t>
          </a:r>
          <a:r>
            <a:rPr lang="zh-CN" altLang="en-US" sz="900" kern="1200" dirty="0" smtClean="0"/>
            <a:t>的股票构建投资组合，以下一个年度</a:t>
          </a:r>
          <a:r>
            <a:rPr lang="en-US" altLang="en-US" sz="900" kern="1200" dirty="0" smtClean="0"/>
            <a:t>05-01~06-30</a:t>
          </a:r>
          <a:r>
            <a:rPr lang="zh-CN" altLang="en-US" sz="900" kern="1200" dirty="0" smtClean="0"/>
            <a:t>、</a:t>
          </a:r>
          <a:r>
            <a:rPr lang="en-US" altLang="en-US" sz="900" kern="1200" dirty="0" smtClean="0"/>
            <a:t>05-01~09-30</a:t>
          </a:r>
          <a:r>
            <a:rPr lang="zh-CN" altLang="en-US" sz="900" kern="1200" dirty="0" smtClean="0"/>
            <a:t>、</a:t>
          </a:r>
          <a:r>
            <a:rPr lang="en-US" altLang="en-US" sz="900" kern="1200" dirty="0" smtClean="0"/>
            <a:t>05-01~12-31</a:t>
          </a:r>
          <a:r>
            <a:rPr lang="zh-CN" altLang="en-US" sz="900" kern="1200" dirty="0" smtClean="0"/>
            <a:t>作为持有期，分别计算其投资组合的总收益率，并与同期的沪深</a:t>
          </a:r>
          <a:r>
            <a:rPr lang="en-US" altLang="en-US" sz="900" kern="1200" dirty="0" smtClean="0"/>
            <a:t>300</a:t>
          </a:r>
          <a:r>
            <a:rPr lang="zh-CN" altLang="en-US" sz="900" kern="1200" dirty="0" smtClean="0"/>
            <a:t>指数收益率进行对比。沪深</a:t>
          </a:r>
          <a:r>
            <a:rPr lang="en-US" altLang="en-US" sz="900" kern="1200" dirty="0" smtClean="0"/>
            <a:t>300</a:t>
          </a:r>
          <a:r>
            <a:rPr lang="zh-CN" altLang="en-US" sz="900" kern="1200" dirty="0" smtClean="0"/>
            <a:t>指数日交易数据文件（</a:t>
          </a:r>
          <a:r>
            <a:rPr lang="en-US" altLang="en-US" sz="900" kern="1200" dirty="0" smtClean="0">
              <a:hlinkClick xmlns:r="http://schemas.openxmlformats.org/officeDocument/2006/relationships" r:id="" action="ppaction://hlinksldjump"/>
            </a:rPr>
            <a:t>index300.xlsx</a:t>
          </a:r>
          <a:r>
            <a:rPr lang="zh-CN" altLang="en-US" sz="900" kern="1200" dirty="0" smtClean="0"/>
            <a:t>）和持有期内的指数收益率计算</a:t>
          </a:r>
          <a:r>
            <a:rPr lang="zh-CN" altLang="en-US" sz="1050" kern="1200" dirty="0" smtClean="0"/>
            <a:t>公式同</a:t>
          </a:r>
          <a:r>
            <a:rPr lang="en-US" altLang="en-US" sz="1050" kern="1200" dirty="0" smtClean="0"/>
            <a:t>8.3.6.4</a:t>
          </a:r>
          <a:endParaRPr lang="zh-CN" altLang="en-US" sz="1050" kern="1200" dirty="0"/>
        </a:p>
      </dsp:txBody>
      <dsp:txXfrm>
        <a:off x="7172252" y="1207963"/>
        <a:ext cx="2592781" cy="1644244"/>
      </dsp:txXfrm>
    </dsp:sp>
    <dsp:sp modelId="{4915E01A-A6B9-4BFD-849A-66C7664FBFF6}">
      <dsp:nvSpPr>
        <dsp:cNvPr id="0" name=""/>
        <dsp:cNvSpPr/>
      </dsp:nvSpPr>
      <dsp:spPr>
        <a:xfrm>
          <a:off x="7720007" y="2903362"/>
          <a:ext cx="2395637" cy="952665"/>
        </a:xfrm>
        <a:prstGeom prst="roundRect">
          <a:avLst>
            <a:gd name="adj" fmla="val 10000"/>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zh-CN" altLang="en-US" sz="2200" kern="1200" dirty="0" smtClean="0"/>
            <a:t>量化投资策略设计</a:t>
          </a:r>
          <a:endParaRPr lang="zh-CN" altLang="en-US" sz="2200" kern="1200" dirty="0"/>
        </a:p>
      </dsp:txBody>
      <dsp:txXfrm>
        <a:off x="7747910" y="2931265"/>
        <a:ext cx="2339831" cy="89685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srcNode" val="parentNode1"/>
              <dgm:param type="dstNode" val="connSite2"/>
              <dgm:param type="connRout" val="curve"/>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srcNode" val="parentNode2"/>
                <dgm:param type="dstNode" val="connSite1"/>
                <dgm:param type="connRout" val="curve"/>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610686-844B-4A1B-87C8-BB90DB4BAB8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fld>
            <a:endParaRPr lang="en-US"/>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fld>
            <a:endParaRPr lang="zh-CN" altLang="en-US" sz="17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6.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endParaRPr lang="zh-CN" dirty="0"/>
          </a:p>
          <a:p>
            <a:pPr lvl="1"/>
            <a:r>
              <a:rPr lang="zh-CN" dirty="0"/>
              <a:t>第二级</a:t>
            </a:r>
            <a:endParaRPr 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10" advTm="9437"/>
    </mc:Choice>
    <mc:Fallback>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960" y="44450"/>
            <a:ext cx="6580505"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8.4</a:t>
            </a:r>
            <a:r>
              <a:rPr lang="zh-CN" altLang="en-US" sz="2800" dirty="0" smtClean="0">
                <a:solidFill>
                  <a:schemeClr val="accent2"/>
                </a:solidFill>
                <a:latin typeface="微软雅黑" panose="020B0503020204020204" pitchFamily="34" charset="-122"/>
                <a:ea typeface="微软雅黑" panose="020B0503020204020204" pitchFamily="34" charset="-122"/>
              </a:rPr>
              <a:t>基于</a:t>
            </a:r>
            <a:r>
              <a:rPr lang="zh-CN" altLang="en-US" sz="2800" dirty="0">
                <a:solidFill>
                  <a:schemeClr val="accent2"/>
                </a:solidFill>
                <a:latin typeface="微软雅黑" panose="020B0503020204020204" pitchFamily="34" charset="-122"/>
                <a:ea typeface="微软雅黑" panose="020B0503020204020204" pitchFamily="34" charset="-122"/>
              </a:rPr>
              <a:t>成长与价值指标的综合评价</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8</a:t>
            </a:r>
            <a:r>
              <a:rPr lang="en-US" altLang="zh-CN" dirty="0" smtClean="0">
                <a:solidFill>
                  <a:schemeClr val="accent2"/>
                </a:solidFill>
              </a:rPr>
              <a:t> </a:t>
            </a:r>
            <a:endParaRPr lang="zh-CN" altLang="en-US" dirty="0">
              <a:solidFill>
                <a:schemeClr val="accent2"/>
              </a:solidFill>
            </a:endParaRPr>
          </a:p>
        </p:txBody>
      </p:sp>
      <p:graphicFrame>
        <p:nvGraphicFramePr>
          <p:cNvPr id="2" name="图示 1"/>
          <p:cNvGraphicFramePr/>
          <p:nvPr/>
        </p:nvGraphicFramePr>
        <p:xfrm>
          <a:off x="841798" y="3284984"/>
          <a:ext cx="9322172" cy="18462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矩形 2"/>
          <p:cNvSpPr/>
          <p:nvPr/>
        </p:nvSpPr>
        <p:spPr>
          <a:xfrm>
            <a:off x="849950" y="1011214"/>
            <a:ext cx="9577063" cy="2031325"/>
          </a:xfrm>
          <a:prstGeom prst="rect">
            <a:avLst/>
          </a:prstGeom>
        </p:spPr>
        <p:txBody>
          <a:bodyPr wrap="square">
            <a:spAutoFit/>
          </a:bodyPr>
          <a:lstStyle/>
          <a:p>
            <a:r>
              <a:rPr lang="zh-CN" altLang="en-US" dirty="0"/>
              <a:t>价值策略和成长策略是投资者熟知的两种选股策略，两种策略的结合便是价值成长投资策略</a:t>
            </a:r>
            <a:r>
              <a:rPr lang="en-US" altLang="zh-CN" dirty="0"/>
              <a:t>—— GARP</a:t>
            </a:r>
            <a:r>
              <a:rPr lang="zh-CN" altLang="en-US" dirty="0"/>
              <a:t>（</a:t>
            </a:r>
            <a:r>
              <a:rPr lang="en-US" altLang="zh-CN" dirty="0"/>
              <a:t>Growth at a Reasonable Price</a:t>
            </a:r>
            <a:r>
              <a:rPr lang="zh-CN" altLang="en-US" dirty="0"/>
              <a:t>）。与价值策略和成长策略更加注重基本面分析相比，</a:t>
            </a:r>
            <a:r>
              <a:rPr lang="en-US" altLang="zh-CN" dirty="0"/>
              <a:t>GARP</a:t>
            </a:r>
            <a:r>
              <a:rPr lang="zh-CN" altLang="en-US" dirty="0"/>
              <a:t>投资策略更加侧重数量化分析。</a:t>
            </a:r>
            <a:r>
              <a:rPr lang="en-US" altLang="zh-CN" dirty="0"/>
              <a:t>GARP</a:t>
            </a:r>
            <a:r>
              <a:rPr lang="zh-CN" altLang="en-US" dirty="0"/>
              <a:t>投资策略由于选股时兼顾价值和成长，风险相对适中，可以获得较高的风险调整后收益，因此深受数量化基金的青睐。这里主要研究</a:t>
            </a:r>
            <a:r>
              <a:rPr lang="en-US" altLang="zh-CN" dirty="0"/>
              <a:t>GARP</a:t>
            </a:r>
            <a:r>
              <a:rPr lang="zh-CN" altLang="en-US" dirty="0"/>
              <a:t>投资策略在我国</a:t>
            </a:r>
            <a:r>
              <a:rPr lang="en-US" altLang="zh-CN" dirty="0"/>
              <a:t>A</a:t>
            </a:r>
            <a:r>
              <a:rPr lang="zh-CN" altLang="en-US" dirty="0"/>
              <a:t>股市场上的应用。通过选取价值型与成长型指标，利用主成分分析模型提取综合主成分并进行综合排名，选取排名前</a:t>
            </a:r>
            <a:r>
              <a:rPr lang="en-US" altLang="zh-CN" dirty="0"/>
              <a:t>20</a:t>
            </a:r>
            <a:r>
              <a:rPr lang="zh-CN" altLang="en-US" dirty="0"/>
              <a:t>、</a:t>
            </a:r>
            <a:r>
              <a:rPr lang="en-US" altLang="zh-CN" dirty="0"/>
              <a:t>40</a:t>
            </a:r>
            <a:r>
              <a:rPr lang="zh-CN" altLang="en-US" dirty="0"/>
              <a:t>只股票构建投资组合并计算一定持有期的收益率，同时与沪深</a:t>
            </a:r>
            <a:r>
              <a:rPr lang="en-US" altLang="zh-CN" dirty="0"/>
              <a:t>300</a:t>
            </a:r>
            <a:r>
              <a:rPr lang="zh-CN" altLang="en-US" dirty="0"/>
              <a:t>指数同期收益率进行比较，从而获得其评价绩效。</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8.4.1</a:t>
            </a:r>
            <a:r>
              <a:rPr lang="zh-CN" altLang="en-US" sz="2800" dirty="0" smtClean="0">
                <a:solidFill>
                  <a:schemeClr val="accent2"/>
                </a:solidFill>
                <a:latin typeface="微软雅黑" panose="020B0503020204020204" pitchFamily="34" charset="-122"/>
                <a:ea typeface="微软雅黑" panose="020B0503020204020204" pitchFamily="34" charset="-122"/>
              </a:rPr>
              <a:t>指标</a:t>
            </a:r>
            <a:r>
              <a:rPr lang="zh-CN" altLang="en-US" sz="2800" dirty="0">
                <a:solidFill>
                  <a:schemeClr val="accent2"/>
                </a:solidFill>
                <a:latin typeface="微软雅黑" panose="020B0503020204020204" pitchFamily="34" charset="-122"/>
                <a:ea typeface="微软雅黑" panose="020B0503020204020204" pitchFamily="34" charset="-122"/>
              </a:rPr>
              <a:t>选择</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8</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803879" y="908720"/>
            <a:ext cx="10191045" cy="646331"/>
          </a:xfrm>
          <a:prstGeom prst="rect">
            <a:avLst/>
          </a:prstGeom>
        </p:spPr>
        <p:txBody>
          <a:bodyPr wrap="square">
            <a:spAutoFit/>
          </a:bodyPr>
          <a:lstStyle/>
          <a:p>
            <a:r>
              <a:rPr lang="zh-CN" altLang="en-US" dirty="0"/>
              <a:t>选取的价值指标包括市盈率、市现率、市净率、市盈率增长率，选取的成长指标包括净利润增长率、营业收入增长率、营业利润率、净资产收益率。具体信息如表</a:t>
            </a:r>
            <a:r>
              <a:rPr lang="en-US" altLang="zh-CN" dirty="0"/>
              <a:t>8-8</a:t>
            </a:r>
            <a:r>
              <a:rPr lang="zh-CN" altLang="en-US" dirty="0"/>
              <a:t>所示。</a:t>
            </a:r>
            <a:endParaRPr lang="zh-CN" altLang="en-US" dirty="0"/>
          </a:p>
        </p:txBody>
      </p:sp>
      <p:graphicFrame>
        <p:nvGraphicFramePr>
          <p:cNvPr id="3" name="表格 2"/>
          <p:cNvGraphicFramePr>
            <a:graphicFrameLocks noGrp="1"/>
          </p:cNvGraphicFramePr>
          <p:nvPr/>
        </p:nvGraphicFramePr>
        <p:xfrm>
          <a:off x="985814" y="2092759"/>
          <a:ext cx="9430361" cy="4097399"/>
        </p:xfrm>
        <a:graphic>
          <a:graphicData uri="http://schemas.openxmlformats.org/drawingml/2006/table">
            <a:tbl>
              <a:tblPr firstRow="1" firstCol="1" bandRow="1"/>
              <a:tblGrid>
                <a:gridCol w="1531520"/>
                <a:gridCol w="1725175"/>
                <a:gridCol w="6173666"/>
              </a:tblGrid>
              <a:tr h="359049">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字段名称</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字段中文名称</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字段说明</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9049">
                <a:tc>
                  <a:txBody>
                    <a:bodyPr/>
                    <a:lstStyle/>
                    <a:p>
                      <a:pPr algn="just">
                        <a:spcAft>
                          <a:spcPts val="0"/>
                        </a:spcAft>
                      </a:pPr>
                      <a:r>
                        <a:rPr lang="en-US" sz="1600" kern="100">
                          <a:effectLst/>
                          <a:latin typeface="Calibri" panose="020F0502020204030204"/>
                          <a:ea typeface="宋体" panose="02010600030101010101" pitchFamily="2" charset="-122"/>
                          <a:cs typeface="Times New Roman" panose="02020603050405020304"/>
                        </a:rPr>
                        <a:t>F100101B</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市盈率</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今收盘价当期值</a:t>
                      </a:r>
                      <a:r>
                        <a:rPr lang="en-US" sz="1600" kern="100">
                          <a:effectLst/>
                          <a:latin typeface="Calibri" panose="020F0502020204030204"/>
                          <a:ea typeface="宋体" panose="02010600030101010101" pitchFamily="2" charset="-122"/>
                          <a:cs typeface="Times New Roman" panose="02020603050405020304"/>
                        </a:rPr>
                        <a:t> /</a:t>
                      </a:r>
                      <a:r>
                        <a:rPr lang="zh-CN" sz="1600" kern="100">
                          <a:effectLst/>
                          <a:latin typeface="Calibri" panose="020F0502020204030204"/>
                          <a:ea typeface="宋体" panose="02010600030101010101" pitchFamily="2" charset="-122"/>
                          <a:cs typeface="Times New Roman" panose="02020603050405020304"/>
                        </a:rPr>
                        <a:t>（净利润上年报值</a:t>
                      </a:r>
                      <a:r>
                        <a:rPr lang="en-US" sz="1600" kern="100">
                          <a:effectLst/>
                          <a:latin typeface="Calibri" panose="020F0502020204030204"/>
                          <a:ea typeface="宋体" panose="02010600030101010101" pitchFamily="2" charset="-122"/>
                          <a:cs typeface="Times New Roman" panose="02020603050405020304"/>
                        </a:rPr>
                        <a:t> / </a:t>
                      </a:r>
                      <a:r>
                        <a:rPr lang="zh-CN" sz="1600" kern="100">
                          <a:effectLst/>
                          <a:latin typeface="Calibri" panose="020F0502020204030204"/>
                          <a:ea typeface="宋体" panose="02010600030101010101" pitchFamily="2" charset="-122"/>
                          <a:cs typeface="Times New Roman" panose="02020603050405020304"/>
                        </a:rPr>
                        <a:t>实收资本期末值）</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r>
              <a:tr h="467632">
                <a:tc>
                  <a:txBody>
                    <a:bodyPr/>
                    <a:lstStyle/>
                    <a:p>
                      <a:pPr algn="just">
                        <a:spcAft>
                          <a:spcPts val="0"/>
                        </a:spcAft>
                      </a:pPr>
                      <a:r>
                        <a:rPr lang="en-US" sz="1600" kern="100">
                          <a:effectLst/>
                          <a:latin typeface="Calibri" panose="020F0502020204030204"/>
                          <a:ea typeface="宋体" panose="02010600030101010101" pitchFamily="2" charset="-122"/>
                          <a:cs typeface="Times New Roman" panose="02020603050405020304"/>
                        </a:rPr>
                        <a:t>F100301B</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市现率</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今收盘价当期值</a:t>
                      </a:r>
                      <a:r>
                        <a:rPr lang="en-US" sz="1600" kern="100">
                          <a:effectLst/>
                          <a:latin typeface="Calibri" panose="020F0502020204030204"/>
                          <a:ea typeface="宋体" panose="02010600030101010101" pitchFamily="2" charset="-122"/>
                          <a:cs typeface="Times New Roman" panose="02020603050405020304"/>
                        </a:rPr>
                        <a:t> /</a:t>
                      </a:r>
                      <a:r>
                        <a:rPr lang="zh-CN" sz="1600" kern="100">
                          <a:effectLst/>
                          <a:latin typeface="Calibri" panose="020F0502020204030204"/>
                          <a:ea typeface="宋体" panose="02010600030101010101" pitchFamily="2" charset="-122"/>
                          <a:cs typeface="Times New Roman" panose="02020603050405020304"/>
                        </a:rPr>
                        <a:t>（经营活动产生的现金流量净额上年报值</a:t>
                      </a:r>
                      <a:r>
                        <a:rPr lang="en-US" sz="1600" kern="100">
                          <a:effectLst/>
                          <a:latin typeface="Calibri" panose="020F0502020204030204"/>
                          <a:ea typeface="宋体" panose="02010600030101010101" pitchFamily="2" charset="-122"/>
                          <a:cs typeface="Times New Roman" panose="02020603050405020304"/>
                        </a:rPr>
                        <a:t> / </a:t>
                      </a:r>
                      <a:r>
                        <a:rPr lang="zh-CN" sz="1600" kern="100">
                          <a:effectLst/>
                          <a:latin typeface="Calibri" panose="020F0502020204030204"/>
                          <a:ea typeface="宋体" panose="02010600030101010101" pitchFamily="2" charset="-122"/>
                          <a:cs typeface="Times New Roman" panose="02020603050405020304"/>
                        </a:rPr>
                        <a:t>实收资本期末值）</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r>
              <a:tr h="359049">
                <a:tc>
                  <a:txBody>
                    <a:bodyPr/>
                    <a:lstStyle/>
                    <a:p>
                      <a:pPr algn="just">
                        <a:spcAft>
                          <a:spcPts val="0"/>
                        </a:spcAft>
                      </a:pPr>
                      <a:r>
                        <a:rPr lang="en-US" sz="1600" kern="100">
                          <a:effectLst/>
                          <a:latin typeface="Calibri" panose="020F0502020204030204"/>
                          <a:ea typeface="宋体" panose="02010600030101010101" pitchFamily="2" charset="-122"/>
                          <a:cs typeface="Times New Roman" panose="02020603050405020304"/>
                        </a:rPr>
                        <a:t>F100401A</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市净率</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今收盘价当期值</a:t>
                      </a:r>
                      <a:r>
                        <a:rPr lang="en-US" sz="1600" kern="100">
                          <a:effectLst/>
                          <a:latin typeface="Calibri" panose="020F0502020204030204"/>
                          <a:ea typeface="宋体" panose="02010600030101010101" pitchFamily="2" charset="-122"/>
                          <a:cs typeface="Times New Roman" panose="02020603050405020304"/>
                        </a:rPr>
                        <a:t> /</a:t>
                      </a:r>
                      <a:r>
                        <a:rPr lang="zh-CN" sz="1600" kern="100">
                          <a:effectLst/>
                          <a:latin typeface="Calibri" panose="020F0502020204030204"/>
                          <a:ea typeface="宋体" panose="02010600030101010101" pitchFamily="2" charset="-122"/>
                          <a:cs typeface="Times New Roman" panose="02020603050405020304"/>
                        </a:rPr>
                        <a:t>（所有者权益合计期末值</a:t>
                      </a:r>
                      <a:r>
                        <a:rPr lang="en-US" sz="1600" kern="100">
                          <a:effectLst/>
                          <a:latin typeface="Calibri" panose="020F0502020204030204"/>
                          <a:ea typeface="宋体" panose="02010600030101010101" pitchFamily="2" charset="-122"/>
                          <a:cs typeface="Times New Roman" panose="02020603050405020304"/>
                        </a:rPr>
                        <a:t> /</a:t>
                      </a:r>
                      <a:r>
                        <a:rPr lang="zh-CN" sz="1600" kern="100">
                          <a:effectLst/>
                          <a:latin typeface="Calibri" panose="020F0502020204030204"/>
                          <a:ea typeface="宋体" panose="02010600030101010101" pitchFamily="2" charset="-122"/>
                          <a:cs typeface="Times New Roman" panose="02020603050405020304"/>
                        </a:rPr>
                        <a:t>实收资本期末值）</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r>
              <a:tr h="467632">
                <a:tc>
                  <a:txBody>
                    <a:bodyPr/>
                    <a:lstStyle/>
                    <a:p>
                      <a:pPr algn="just">
                        <a:spcAft>
                          <a:spcPts val="0"/>
                        </a:spcAft>
                      </a:pPr>
                      <a:r>
                        <a:rPr lang="en-US" sz="1600" kern="100">
                          <a:effectLst/>
                          <a:latin typeface="Calibri" panose="020F0502020204030204"/>
                          <a:ea typeface="宋体" panose="02010600030101010101" pitchFamily="2" charset="-122"/>
                          <a:cs typeface="Times New Roman" panose="02020603050405020304"/>
                        </a:rPr>
                        <a:t>F081001B</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净利润增长率</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marL="66675" indent="-66675" algn="just">
                        <a:spcAft>
                          <a:spcPts val="0"/>
                        </a:spcAft>
                      </a:pPr>
                      <a:r>
                        <a:rPr lang="zh-CN" sz="1600" kern="100">
                          <a:effectLst/>
                          <a:latin typeface="Calibri" panose="020F0502020204030204"/>
                          <a:ea typeface="宋体" panose="02010600030101010101" pitchFamily="2" charset="-122"/>
                          <a:cs typeface="Times New Roman" panose="02020603050405020304"/>
                        </a:rPr>
                        <a:t>（净利润本年期单季度金额</a:t>
                      </a:r>
                      <a:r>
                        <a:rPr lang="en-US" sz="1600" kern="100">
                          <a:effectLst/>
                          <a:latin typeface="Calibri" panose="020F0502020204030204"/>
                          <a:ea typeface="宋体" panose="02010600030101010101" pitchFamily="2" charset="-122"/>
                          <a:cs typeface="Times New Roman" panose="02020603050405020304"/>
                        </a:rPr>
                        <a:t>-</a:t>
                      </a:r>
                      <a:r>
                        <a:rPr lang="zh-CN" sz="1600" kern="100">
                          <a:effectLst/>
                          <a:latin typeface="Calibri" panose="020F0502020204030204"/>
                          <a:ea typeface="宋体" panose="02010600030101010101" pitchFamily="2" charset="-122"/>
                          <a:cs typeface="Times New Roman" panose="02020603050405020304"/>
                        </a:rPr>
                        <a:t>净利润上一个单季度金额）</a:t>
                      </a:r>
                      <a:r>
                        <a:rPr lang="en-US" sz="1600" kern="100">
                          <a:effectLst/>
                          <a:latin typeface="Calibri" panose="020F0502020204030204"/>
                          <a:ea typeface="宋体" panose="02010600030101010101" pitchFamily="2" charset="-122"/>
                          <a:cs typeface="Times New Roman" panose="02020603050405020304"/>
                        </a:rPr>
                        <a:t>/</a:t>
                      </a:r>
                      <a:r>
                        <a:rPr lang="zh-CN" sz="1600" kern="100">
                          <a:effectLst/>
                          <a:latin typeface="Calibri" panose="020F0502020204030204"/>
                          <a:ea typeface="宋体" panose="02010600030101010101" pitchFamily="2" charset="-122"/>
                          <a:cs typeface="Times New Roman" panose="02020603050405020304"/>
                        </a:rPr>
                        <a:t>净利润上一个单季度金额</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r>
              <a:tr h="718096">
                <a:tc>
                  <a:txBody>
                    <a:bodyPr/>
                    <a:lstStyle/>
                    <a:p>
                      <a:pPr algn="just">
                        <a:spcAft>
                          <a:spcPts val="0"/>
                        </a:spcAft>
                      </a:pPr>
                      <a:r>
                        <a:rPr lang="en-US" sz="1600" kern="100">
                          <a:effectLst/>
                          <a:latin typeface="Calibri" panose="020F0502020204030204"/>
                          <a:ea typeface="宋体" panose="02010600030101010101" pitchFamily="2" charset="-122"/>
                          <a:cs typeface="Times New Roman" panose="02020603050405020304"/>
                        </a:rPr>
                        <a:t>F081601B</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营业收入增长率</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dirty="0">
                          <a:effectLst/>
                          <a:latin typeface="Calibri" panose="020F0502020204030204"/>
                          <a:ea typeface="宋体" panose="02010600030101010101" pitchFamily="2" charset="-122"/>
                          <a:cs typeface="Times New Roman" panose="02020603050405020304"/>
                        </a:rPr>
                        <a:t>（营业收入本年期单季度金额</a:t>
                      </a:r>
                      <a:r>
                        <a:rPr lang="en-US" sz="1600" kern="100" dirty="0">
                          <a:effectLst/>
                          <a:latin typeface="Calibri" panose="020F0502020204030204"/>
                          <a:ea typeface="宋体" panose="02010600030101010101" pitchFamily="2" charset="-122"/>
                          <a:cs typeface="Times New Roman" panose="02020603050405020304"/>
                        </a:rPr>
                        <a:t>-</a:t>
                      </a:r>
                      <a:r>
                        <a:rPr lang="zh-CN" sz="1600" kern="100" dirty="0">
                          <a:effectLst/>
                          <a:latin typeface="Calibri" panose="020F0502020204030204"/>
                          <a:ea typeface="宋体" panose="02010600030101010101" pitchFamily="2" charset="-122"/>
                          <a:cs typeface="Times New Roman" panose="02020603050405020304"/>
                        </a:rPr>
                        <a:t>营业收入上一个单季度金额）</a:t>
                      </a:r>
                      <a:r>
                        <a:rPr lang="en-US" sz="1600" kern="100" dirty="0">
                          <a:effectLst/>
                          <a:latin typeface="Calibri" panose="020F0502020204030204"/>
                          <a:ea typeface="宋体" panose="02010600030101010101" pitchFamily="2" charset="-122"/>
                          <a:cs typeface="Times New Roman" panose="02020603050405020304"/>
                        </a:rPr>
                        <a:t>/</a:t>
                      </a:r>
                      <a:r>
                        <a:rPr lang="zh-CN" sz="1600" kern="100" dirty="0">
                          <a:effectLst/>
                          <a:latin typeface="Calibri" panose="020F0502020204030204"/>
                          <a:ea typeface="宋体" panose="02010600030101010101" pitchFamily="2" charset="-122"/>
                          <a:cs typeface="Times New Roman" panose="02020603050405020304"/>
                        </a:rPr>
                        <a:t>营业收入上一个单季度金额</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r>
              <a:tr h="359049">
                <a:tc>
                  <a:txBody>
                    <a:bodyPr/>
                    <a:lstStyle/>
                    <a:p>
                      <a:pPr algn="just">
                        <a:spcAft>
                          <a:spcPts val="0"/>
                        </a:spcAft>
                      </a:pPr>
                      <a:r>
                        <a:rPr lang="en-US" sz="1600" kern="100">
                          <a:effectLst/>
                          <a:latin typeface="Calibri" panose="020F0502020204030204"/>
                          <a:ea typeface="宋体" panose="02010600030101010101" pitchFamily="2" charset="-122"/>
                          <a:cs typeface="Times New Roman" panose="02020603050405020304"/>
                        </a:rPr>
                        <a:t>F051501B</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营业净利率</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净利润</a:t>
                      </a:r>
                      <a:r>
                        <a:rPr lang="en-US" sz="1600" kern="100">
                          <a:effectLst/>
                          <a:latin typeface="Calibri" panose="020F0502020204030204"/>
                          <a:ea typeface="宋体" panose="02010600030101010101" pitchFamily="2" charset="-122"/>
                          <a:cs typeface="Times New Roman" panose="02020603050405020304"/>
                        </a:rPr>
                        <a:t>/</a:t>
                      </a:r>
                      <a:r>
                        <a:rPr lang="zh-CN" sz="1600" kern="100">
                          <a:effectLst/>
                          <a:latin typeface="Calibri" panose="020F0502020204030204"/>
                          <a:ea typeface="宋体" panose="02010600030101010101" pitchFamily="2" charset="-122"/>
                          <a:cs typeface="Times New Roman" panose="02020603050405020304"/>
                        </a:rPr>
                        <a:t>营业收入</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r>
              <a:tr h="608698">
                <a:tc>
                  <a:txBody>
                    <a:bodyPr/>
                    <a:lstStyle/>
                    <a:p>
                      <a:pPr algn="just">
                        <a:spcAft>
                          <a:spcPts val="0"/>
                        </a:spcAft>
                      </a:pPr>
                      <a:r>
                        <a:rPr lang="en-US" sz="1600" kern="100">
                          <a:effectLst/>
                          <a:latin typeface="Calibri" panose="020F0502020204030204"/>
                          <a:ea typeface="宋体" panose="02010600030101010101" pitchFamily="2" charset="-122"/>
                          <a:cs typeface="Times New Roman" panose="02020603050405020304"/>
                        </a:rPr>
                        <a:t>F050501B</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dirty="0">
                          <a:effectLst/>
                          <a:latin typeface="Calibri" panose="020F0502020204030204"/>
                          <a:ea typeface="宋体" panose="02010600030101010101" pitchFamily="2" charset="-122"/>
                          <a:cs typeface="Times New Roman" panose="02020603050405020304"/>
                        </a:rPr>
                        <a:t>净资产收益率</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净利润</a:t>
                      </a:r>
                      <a:r>
                        <a:rPr lang="en-US" sz="1600" kern="100">
                          <a:effectLst/>
                          <a:latin typeface="Calibri" panose="020F0502020204030204"/>
                          <a:ea typeface="宋体" panose="02010600030101010101" pitchFamily="2" charset="-122"/>
                          <a:cs typeface="Times New Roman" panose="02020603050405020304"/>
                        </a:rPr>
                        <a:t>/</a:t>
                      </a:r>
                      <a:r>
                        <a:rPr lang="zh-CN" sz="1600" kern="100">
                          <a:effectLst/>
                          <a:latin typeface="Calibri" panose="020F0502020204030204"/>
                          <a:ea typeface="宋体" panose="02010600030101010101" pitchFamily="2" charset="-122"/>
                          <a:cs typeface="Times New Roman" panose="02020603050405020304"/>
                        </a:rPr>
                        <a:t>股东权益余额</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r>
              <a:tr h="359049">
                <a:tc>
                  <a:txBody>
                    <a:bodyPr/>
                    <a:lstStyle/>
                    <a:p>
                      <a:pPr algn="just">
                        <a:spcAft>
                          <a:spcPts val="0"/>
                        </a:spcAft>
                      </a:pPr>
                      <a:r>
                        <a:rPr lang="en-US" sz="1600" kern="100">
                          <a:effectLst/>
                          <a:latin typeface="Calibri" panose="020F0502020204030204"/>
                          <a:ea typeface="宋体" panose="02010600030101010101" pitchFamily="2" charset="-122"/>
                          <a:cs typeface="Times New Roman" panose="02020603050405020304"/>
                        </a:rPr>
                        <a:t>PEG</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effectLst/>
                          <a:latin typeface="Calibri" panose="020F0502020204030204"/>
                          <a:ea typeface="宋体" panose="02010600030101010101" pitchFamily="2" charset="-122"/>
                          <a:cs typeface="Times New Roman" panose="02020603050405020304"/>
                        </a:rPr>
                        <a:t>市盈率增长率</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effectLst/>
                          <a:latin typeface="Calibri" panose="020F0502020204030204"/>
                          <a:ea typeface="宋体" panose="02010600030101010101" pitchFamily="2" charset="-122"/>
                          <a:cs typeface="Times New Roman" panose="02020603050405020304"/>
                        </a:rPr>
                        <a:t>（当前市盈率</a:t>
                      </a:r>
                      <a:r>
                        <a:rPr lang="en-US" sz="1600" kern="100" dirty="0">
                          <a:effectLst/>
                          <a:latin typeface="Calibri" panose="020F0502020204030204"/>
                          <a:ea typeface="宋体" panose="02010600030101010101" pitchFamily="2" charset="-122"/>
                          <a:cs typeface="Times New Roman" panose="02020603050405020304"/>
                        </a:rPr>
                        <a:t>-</a:t>
                      </a:r>
                      <a:r>
                        <a:rPr lang="zh-CN" sz="1600" kern="100" dirty="0">
                          <a:effectLst/>
                          <a:latin typeface="Calibri" panose="020F0502020204030204"/>
                          <a:ea typeface="宋体" panose="02010600030101010101" pitchFamily="2" charset="-122"/>
                          <a:cs typeface="Times New Roman" panose="02020603050405020304"/>
                        </a:rPr>
                        <a:t>上期市盈率）</a:t>
                      </a:r>
                      <a:r>
                        <a:rPr lang="en-US" sz="1600" kern="100" dirty="0">
                          <a:effectLst/>
                          <a:latin typeface="Calibri" panose="020F0502020204030204"/>
                          <a:ea typeface="宋体" panose="02010600030101010101" pitchFamily="2" charset="-122"/>
                          <a:cs typeface="Times New Roman" panose="02020603050405020304"/>
                        </a:rPr>
                        <a:t>/</a:t>
                      </a:r>
                      <a:r>
                        <a:rPr lang="zh-CN" sz="1600" kern="100" dirty="0">
                          <a:effectLst/>
                          <a:latin typeface="Calibri" panose="020F0502020204030204"/>
                          <a:ea typeface="宋体" panose="02010600030101010101" pitchFamily="2" charset="-122"/>
                          <a:cs typeface="Times New Roman" panose="02020603050405020304"/>
                        </a:rPr>
                        <a:t>上期市盈率</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4" name="矩形 3"/>
          <p:cNvSpPr/>
          <p:nvPr/>
        </p:nvSpPr>
        <p:spPr>
          <a:xfrm>
            <a:off x="3506093" y="1585538"/>
            <a:ext cx="3416320" cy="369332"/>
          </a:xfrm>
          <a:prstGeom prst="rect">
            <a:avLst/>
          </a:prstGeom>
        </p:spPr>
        <p:txBody>
          <a:bodyPr wrap="none">
            <a:spAutoFit/>
          </a:bodyPr>
          <a:lstStyle/>
          <a:p>
            <a:r>
              <a:rPr lang="zh-CN" altLang="en-US" dirty="0"/>
              <a:t>表</a:t>
            </a:r>
            <a:r>
              <a:rPr lang="en-US" altLang="zh-CN" dirty="0"/>
              <a:t>8-8  </a:t>
            </a:r>
            <a:r>
              <a:rPr lang="zh-CN" altLang="en-US" dirty="0"/>
              <a:t>上市公司成长与价值指标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8.4.2 </a:t>
            </a:r>
            <a:r>
              <a:rPr lang="zh-CN" altLang="en-US" sz="2800" dirty="0">
                <a:solidFill>
                  <a:schemeClr val="accent2"/>
                </a:solidFill>
                <a:latin typeface="微软雅黑" panose="020B0503020204020204" pitchFamily="34" charset="-122"/>
                <a:ea typeface="微软雅黑" panose="020B0503020204020204" pitchFamily="34" charset="-122"/>
              </a:rPr>
              <a:t>数据处理</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8</a:t>
            </a:r>
            <a:r>
              <a:rPr lang="en-US" altLang="zh-CN" dirty="0" smtClean="0">
                <a:solidFill>
                  <a:schemeClr val="accent2"/>
                </a:solidFill>
              </a:rPr>
              <a:t> </a:t>
            </a:r>
            <a:endParaRPr lang="zh-CN" altLang="en-US" dirty="0">
              <a:solidFill>
                <a:schemeClr val="accent2"/>
              </a:solidFill>
            </a:endParaRPr>
          </a:p>
        </p:txBody>
      </p:sp>
      <p:sp>
        <p:nvSpPr>
          <p:cNvPr id="3" name="矩形 2"/>
          <p:cNvSpPr/>
          <p:nvPr/>
        </p:nvSpPr>
        <p:spPr>
          <a:xfrm>
            <a:off x="140263" y="764704"/>
            <a:ext cx="3493264" cy="369332"/>
          </a:xfrm>
          <a:prstGeom prst="rect">
            <a:avLst/>
          </a:prstGeom>
        </p:spPr>
        <p:txBody>
          <a:bodyPr wrap="none">
            <a:spAutoFit/>
          </a:bodyPr>
          <a:lstStyle/>
          <a:p>
            <a:r>
              <a:rPr lang="en-US" altLang="zh-CN" b="1" dirty="0"/>
              <a:t>1. </a:t>
            </a:r>
            <a:r>
              <a:rPr lang="zh-CN" altLang="en-US" b="1" dirty="0"/>
              <a:t>读取</a:t>
            </a:r>
            <a:r>
              <a:rPr lang="en-US" altLang="zh-CN" b="1" dirty="0"/>
              <a:t>2014</a:t>
            </a:r>
            <a:r>
              <a:rPr lang="zh-CN" altLang="en-US" b="1" dirty="0"/>
              <a:t>年度的财务指标数据</a:t>
            </a:r>
            <a:endParaRPr lang="zh-CN" altLang="en-US" b="1" dirty="0"/>
          </a:p>
        </p:txBody>
      </p:sp>
      <p:sp>
        <p:nvSpPr>
          <p:cNvPr id="4" name="矩形 3"/>
          <p:cNvSpPr/>
          <p:nvPr/>
        </p:nvSpPr>
        <p:spPr>
          <a:xfrm>
            <a:off x="265733" y="1163215"/>
            <a:ext cx="11377264" cy="1754326"/>
          </a:xfrm>
          <a:prstGeom prst="rect">
            <a:avLst/>
          </a:prstGeom>
        </p:spPr>
        <p:txBody>
          <a:bodyPr wrap="square">
            <a:spAutoFit/>
          </a:bodyPr>
          <a:lstStyle/>
          <a:p>
            <a:r>
              <a:rPr lang="zh-CN" altLang="en-US" dirty="0"/>
              <a:t>读取</a:t>
            </a:r>
            <a:r>
              <a:rPr lang="en-US" altLang="zh-CN" dirty="0"/>
              <a:t>2014</a:t>
            </a:r>
            <a:r>
              <a:rPr lang="zh-CN" altLang="en-US" dirty="0"/>
              <a:t>年度的财务指标数据，其中第</a:t>
            </a:r>
            <a:r>
              <a:rPr lang="en-US" altLang="zh-CN" dirty="0"/>
              <a:t>0</a:t>
            </a:r>
            <a:r>
              <a:rPr lang="zh-CN" altLang="en-US" dirty="0"/>
              <a:t>列为标识列（股票代码）</a:t>
            </a:r>
            <a:r>
              <a:rPr lang="en-US" altLang="zh-CN" dirty="0"/>
              <a:t>,</a:t>
            </a:r>
            <a:r>
              <a:rPr lang="zh-CN" altLang="en-US" dirty="0"/>
              <a:t>同时将数据转换为</a:t>
            </a:r>
            <a:r>
              <a:rPr lang="en-US" altLang="zh-CN" dirty="0" err="1"/>
              <a:t>Numpy</a:t>
            </a:r>
            <a:r>
              <a:rPr lang="zh-CN" altLang="en-US" dirty="0"/>
              <a:t>数组的形式。示例代码如下：</a:t>
            </a:r>
            <a:endParaRPr lang="zh-CN" altLang="en-US" dirty="0"/>
          </a:p>
          <a:p>
            <a:r>
              <a:rPr lang="en-US" altLang="zh-CN" dirty="0"/>
              <a:t>import pandas as </a:t>
            </a:r>
            <a:r>
              <a:rPr lang="en-US" altLang="zh-CN" dirty="0" err="1"/>
              <a:t>pd</a:t>
            </a:r>
            <a:endParaRPr lang="en-US" altLang="zh-CN" dirty="0"/>
          </a:p>
          <a:p>
            <a:r>
              <a:rPr lang="en-US" altLang="zh-CN" dirty="0"/>
              <a:t>data=</a:t>
            </a:r>
            <a:r>
              <a:rPr lang="en-US" altLang="zh-CN" dirty="0" err="1"/>
              <a:t>pd.read_excel</a:t>
            </a:r>
            <a:r>
              <a:rPr lang="en-US" altLang="zh-CN" dirty="0"/>
              <a:t>('data1.xlsx')</a:t>
            </a:r>
            <a:endParaRPr lang="en-US" altLang="zh-CN" dirty="0"/>
          </a:p>
          <a:p>
            <a:r>
              <a:rPr lang="en-US" altLang="zh-CN" dirty="0"/>
              <a:t>data2=</a:t>
            </a:r>
            <a:r>
              <a:rPr lang="en-US" altLang="zh-CN" dirty="0" err="1"/>
              <a:t>data.iloc</a:t>
            </a:r>
            <a:r>
              <a:rPr lang="en-US" altLang="zh-CN" dirty="0"/>
              <a:t>[data['</a:t>
            </a:r>
            <a:r>
              <a:rPr lang="en-US" altLang="zh-CN" dirty="0" err="1"/>
              <a:t>Accper</a:t>
            </a:r>
            <a:r>
              <a:rPr lang="en-US" altLang="zh-CN" dirty="0"/>
              <a:t>'].values=='2014-12-31',[0,2,3,4,5,6,7,8,9]]</a:t>
            </a:r>
            <a:endParaRPr lang="en-US" altLang="zh-CN" dirty="0"/>
          </a:p>
          <a:p>
            <a:r>
              <a:rPr lang="en-US" altLang="zh-CN" dirty="0"/>
              <a:t>da=data2.as_matrix()</a:t>
            </a:r>
            <a:endParaRPr lang="en-US" altLang="zh-CN" dirty="0"/>
          </a:p>
        </p:txBody>
      </p:sp>
      <p:sp>
        <p:nvSpPr>
          <p:cNvPr id="5" name="矩形 4"/>
          <p:cNvSpPr/>
          <p:nvPr/>
        </p:nvSpPr>
        <p:spPr>
          <a:xfrm>
            <a:off x="269983" y="2922547"/>
            <a:ext cx="11517030" cy="2585323"/>
          </a:xfrm>
          <a:prstGeom prst="rect">
            <a:avLst/>
          </a:prstGeom>
        </p:spPr>
        <p:txBody>
          <a:bodyPr wrap="square">
            <a:spAutoFit/>
          </a:bodyPr>
          <a:lstStyle/>
          <a:p>
            <a:r>
              <a:rPr lang="en-US" altLang="zh-CN" b="1" dirty="0"/>
              <a:t>2. </a:t>
            </a:r>
            <a:r>
              <a:rPr lang="zh-CN" altLang="en-US" b="1" dirty="0"/>
              <a:t>对最后一个指标</a:t>
            </a:r>
            <a:r>
              <a:rPr lang="en-US" altLang="zh-CN" b="1" dirty="0"/>
              <a:t>PEG</a:t>
            </a:r>
            <a:r>
              <a:rPr lang="zh-CN" altLang="en-US" b="1" dirty="0"/>
              <a:t>进行处理</a:t>
            </a:r>
            <a:endParaRPr lang="zh-CN" altLang="en-US" b="1" dirty="0"/>
          </a:p>
          <a:p>
            <a:r>
              <a:rPr lang="zh-CN" altLang="en-US" dirty="0"/>
              <a:t>由于</a:t>
            </a:r>
            <a:r>
              <a:rPr lang="en-US" altLang="zh-CN" dirty="0"/>
              <a:t>PEG=</a:t>
            </a:r>
            <a:r>
              <a:rPr lang="zh-CN" altLang="en-US" dirty="0"/>
              <a:t>（当期</a:t>
            </a:r>
            <a:r>
              <a:rPr lang="en-US" altLang="zh-CN" dirty="0"/>
              <a:t>PE-</a:t>
            </a:r>
            <a:r>
              <a:rPr lang="zh-CN" altLang="en-US" dirty="0"/>
              <a:t>上期</a:t>
            </a:r>
            <a:r>
              <a:rPr lang="en-US" altLang="zh-CN" dirty="0"/>
              <a:t>PE</a:t>
            </a:r>
            <a:r>
              <a:rPr lang="zh-CN" altLang="en-US" dirty="0"/>
              <a:t>）</a:t>
            </a:r>
            <a:r>
              <a:rPr lang="en-US" altLang="zh-CN" dirty="0"/>
              <a:t>/</a:t>
            </a:r>
            <a:r>
              <a:rPr lang="zh-CN" altLang="en-US" dirty="0"/>
              <a:t>上期</a:t>
            </a:r>
            <a:r>
              <a:rPr lang="en-US" altLang="zh-CN" dirty="0"/>
              <a:t>PE</a:t>
            </a:r>
            <a:r>
              <a:rPr lang="zh-CN" altLang="en-US" dirty="0"/>
              <a:t>，其指标反映了</a:t>
            </a:r>
            <a:r>
              <a:rPr lang="en-US" altLang="zh-CN" dirty="0"/>
              <a:t>PE</a:t>
            </a:r>
            <a:r>
              <a:rPr lang="zh-CN" altLang="en-US" dirty="0"/>
              <a:t>值的变化情况，如果</a:t>
            </a:r>
            <a:r>
              <a:rPr lang="en-US" altLang="zh-CN" dirty="0"/>
              <a:t>PE</a:t>
            </a:r>
            <a:r>
              <a:rPr lang="zh-CN" altLang="en-US" dirty="0"/>
              <a:t>值当期下降，</a:t>
            </a:r>
            <a:r>
              <a:rPr lang="en-US" altLang="zh-CN" dirty="0"/>
              <a:t>PEG</a:t>
            </a:r>
            <a:r>
              <a:rPr lang="zh-CN" altLang="en-US" dirty="0"/>
              <a:t>值小于</a:t>
            </a:r>
            <a:r>
              <a:rPr lang="en-US" altLang="zh-CN" dirty="0"/>
              <a:t>0</a:t>
            </a:r>
            <a:r>
              <a:rPr lang="zh-CN" altLang="en-US" dirty="0"/>
              <a:t>，否则</a:t>
            </a:r>
            <a:r>
              <a:rPr lang="en-US" altLang="zh-CN" dirty="0"/>
              <a:t>PEG</a:t>
            </a:r>
            <a:r>
              <a:rPr lang="zh-CN" altLang="en-US" dirty="0"/>
              <a:t>大于</a:t>
            </a:r>
            <a:r>
              <a:rPr lang="en-US" altLang="zh-CN" dirty="0"/>
              <a:t>0</a:t>
            </a:r>
            <a:r>
              <a:rPr lang="zh-CN" altLang="en-US" dirty="0"/>
              <a:t>。一般地，</a:t>
            </a:r>
            <a:r>
              <a:rPr lang="en-US" altLang="zh-CN" dirty="0"/>
              <a:t>PE</a:t>
            </a:r>
            <a:r>
              <a:rPr lang="zh-CN" altLang="en-US" dirty="0"/>
              <a:t>（市盈率）值越大，反映了该公司被市场高估的可能性就越大，因此我们假定</a:t>
            </a:r>
            <a:r>
              <a:rPr lang="en-US" altLang="zh-CN" dirty="0"/>
              <a:t>PE</a:t>
            </a:r>
            <a:r>
              <a:rPr lang="zh-CN" altLang="en-US" dirty="0"/>
              <a:t>值越小越好，即</a:t>
            </a:r>
            <a:r>
              <a:rPr lang="en-US" altLang="zh-CN" dirty="0"/>
              <a:t>PEG</a:t>
            </a:r>
            <a:r>
              <a:rPr lang="zh-CN" altLang="en-US" dirty="0"/>
              <a:t>小于</a:t>
            </a:r>
            <a:r>
              <a:rPr lang="en-US" altLang="zh-CN" dirty="0"/>
              <a:t>0</a:t>
            </a:r>
            <a:r>
              <a:rPr lang="zh-CN" altLang="en-US" dirty="0"/>
              <a:t>要比</a:t>
            </a:r>
            <a:r>
              <a:rPr lang="en-US" altLang="zh-CN" dirty="0"/>
              <a:t>PEG</a:t>
            </a:r>
            <a:r>
              <a:rPr lang="zh-CN" altLang="en-US" dirty="0"/>
              <a:t>大于</a:t>
            </a:r>
            <a:r>
              <a:rPr lang="en-US" altLang="zh-CN" dirty="0"/>
              <a:t>0</a:t>
            </a:r>
            <a:r>
              <a:rPr lang="zh-CN" altLang="en-US" dirty="0"/>
              <a:t>更好。比如</a:t>
            </a:r>
            <a:r>
              <a:rPr lang="en-US" altLang="zh-CN" dirty="0"/>
              <a:t>PEG=-2</a:t>
            </a:r>
            <a:r>
              <a:rPr lang="zh-CN" altLang="en-US" dirty="0"/>
              <a:t>，表示当期</a:t>
            </a:r>
            <a:r>
              <a:rPr lang="en-US" altLang="zh-CN" dirty="0"/>
              <a:t>PE</a:t>
            </a:r>
            <a:r>
              <a:rPr lang="zh-CN" altLang="en-US" dirty="0"/>
              <a:t>值比上期</a:t>
            </a:r>
            <a:r>
              <a:rPr lang="en-US" altLang="zh-CN" dirty="0"/>
              <a:t>PE</a:t>
            </a:r>
            <a:r>
              <a:rPr lang="zh-CN" altLang="en-US" dirty="0"/>
              <a:t>值降低了</a:t>
            </a:r>
            <a:r>
              <a:rPr lang="en-US" altLang="zh-CN" dirty="0"/>
              <a:t>2</a:t>
            </a:r>
            <a:r>
              <a:rPr lang="zh-CN" altLang="en-US" dirty="0"/>
              <a:t>倍，反之如果</a:t>
            </a:r>
            <a:r>
              <a:rPr lang="en-US" altLang="zh-CN" dirty="0"/>
              <a:t>PEG=2</a:t>
            </a:r>
            <a:r>
              <a:rPr lang="zh-CN" altLang="en-US" dirty="0"/>
              <a:t>，表示当期</a:t>
            </a:r>
            <a:r>
              <a:rPr lang="en-US" altLang="zh-CN" dirty="0"/>
              <a:t>PE</a:t>
            </a:r>
            <a:r>
              <a:rPr lang="zh-CN" altLang="en-US" dirty="0"/>
              <a:t>值比上期</a:t>
            </a:r>
            <a:r>
              <a:rPr lang="en-US" altLang="zh-CN" dirty="0"/>
              <a:t>PE</a:t>
            </a:r>
            <a:r>
              <a:rPr lang="zh-CN" altLang="en-US" dirty="0"/>
              <a:t>值升高了</a:t>
            </a:r>
            <a:r>
              <a:rPr lang="en-US" altLang="zh-CN" dirty="0"/>
              <a:t>2</a:t>
            </a:r>
            <a:r>
              <a:rPr lang="zh-CN" altLang="en-US" dirty="0"/>
              <a:t>倍。为了消除异常值的影响，</a:t>
            </a:r>
            <a:r>
              <a:rPr lang="en-US" altLang="zh-CN" dirty="0"/>
              <a:t>PEG</a:t>
            </a:r>
            <a:r>
              <a:rPr lang="zh-CN" altLang="en-US" dirty="0"/>
              <a:t>小于</a:t>
            </a:r>
            <a:r>
              <a:rPr lang="en-US" altLang="zh-CN" dirty="0"/>
              <a:t>-4</a:t>
            </a:r>
            <a:r>
              <a:rPr lang="zh-CN" altLang="en-US" dirty="0"/>
              <a:t>和</a:t>
            </a:r>
            <a:r>
              <a:rPr lang="en-US" altLang="zh-CN" dirty="0"/>
              <a:t>PEG</a:t>
            </a:r>
            <a:r>
              <a:rPr lang="zh-CN" altLang="en-US" dirty="0"/>
              <a:t>大于</a:t>
            </a:r>
            <a:r>
              <a:rPr lang="en-US" altLang="zh-CN" dirty="0"/>
              <a:t>4</a:t>
            </a:r>
            <a:r>
              <a:rPr lang="zh-CN" altLang="en-US" dirty="0"/>
              <a:t>的上市公司股票剔除。同时为了更好地对指标数据进行统一度量，这里假定指标值越大越好，故对该指标数据进行反极差化处理。示例代码如下：</a:t>
            </a:r>
            <a:endParaRPr lang="zh-CN" altLang="en-US" dirty="0"/>
          </a:p>
          <a:p>
            <a:r>
              <a:rPr lang="en-US" altLang="zh-CN" dirty="0"/>
              <a:t>da=da[(da[:,8]&lt;4)&amp;(da[:,8]&gt;-4),:]  #</a:t>
            </a:r>
            <a:r>
              <a:rPr lang="zh-CN" altLang="en-US" dirty="0"/>
              <a:t>消除异常值</a:t>
            </a:r>
            <a:endParaRPr lang="zh-CN" altLang="en-US" dirty="0"/>
          </a:p>
          <a:p>
            <a:r>
              <a:rPr lang="en-US" altLang="zh-CN" dirty="0"/>
              <a:t>da[:,8]=1-(da[:,8]-min(da[:,8]))/(max(da[:,8])-min(da[:,8])) #</a:t>
            </a:r>
            <a:r>
              <a:rPr lang="zh-CN" altLang="en-US" dirty="0"/>
              <a:t>反极差化处理</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8.4.2 </a:t>
            </a:r>
            <a:r>
              <a:rPr lang="zh-CN" altLang="en-US" sz="2800" dirty="0">
                <a:solidFill>
                  <a:schemeClr val="accent2"/>
                </a:solidFill>
                <a:latin typeface="微软雅黑" panose="020B0503020204020204" pitchFamily="34" charset="-122"/>
                <a:ea typeface="微软雅黑" panose="020B0503020204020204" pitchFamily="34" charset="-122"/>
              </a:rPr>
              <a:t>数据处理</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8</a:t>
            </a:r>
            <a:endParaRPr lang="zh-CN" altLang="en-US" dirty="0">
              <a:solidFill>
                <a:schemeClr val="accent2"/>
              </a:solidFill>
            </a:endParaRPr>
          </a:p>
        </p:txBody>
      </p:sp>
      <p:sp>
        <p:nvSpPr>
          <p:cNvPr id="2" name="矩形 1"/>
          <p:cNvSpPr/>
          <p:nvPr/>
        </p:nvSpPr>
        <p:spPr>
          <a:xfrm>
            <a:off x="672393" y="692696"/>
            <a:ext cx="10297144" cy="5632311"/>
          </a:xfrm>
          <a:prstGeom prst="rect">
            <a:avLst/>
          </a:prstGeom>
        </p:spPr>
        <p:txBody>
          <a:bodyPr wrap="square">
            <a:spAutoFit/>
          </a:bodyPr>
          <a:lstStyle/>
          <a:p>
            <a:r>
              <a:rPr lang="en-US" altLang="zh-CN" b="1" dirty="0"/>
              <a:t>3. </a:t>
            </a:r>
            <a:r>
              <a:rPr lang="zh-CN" altLang="en-US" b="1" dirty="0"/>
              <a:t>对剩下的</a:t>
            </a:r>
            <a:r>
              <a:rPr lang="en-US" altLang="zh-CN" b="1" dirty="0"/>
              <a:t>7</a:t>
            </a:r>
            <a:r>
              <a:rPr lang="zh-CN" altLang="en-US" b="1" dirty="0"/>
              <a:t>个指标均要求大于</a:t>
            </a:r>
            <a:r>
              <a:rPr lang="en-US" altLang="zh-CN" b="1" dirty="0"/>
              <a:t>0</a:t>
            </a:r>
            <a:r>
              <a:rPr lang="zh-CN" altLang="en-US" b="1" dirty="0"/>
              <a:t>，且将</a:t>
            </a:r>
            <a:r>
              <a:rPr lang="en-US" altLang="zh-CN" b="1" dirty="0"/>
              <a:t>8</a:t>
            </a:r>
            <a:r>
              <a:rPr lang="zh-CN" altLang="en-US" b="1" dirty="0"/>
              <a:t>倍均值作为异常值进行剔除处理</a:t>
            </a:r>
            <a:r>
              <a:rPr lang="zh-CN" altLang="en-US" dirty="0"/>
              <a:t>。示例代码如下：</a:t>
            </a:r>
            <a:endParaRPr lang="zh-CN" altLang="en-US" dirty="0"/>
          </a:p>
          <a:p>
            <a:r>
              <a:rPr lang="en-US" altLang="zh-CN" dirty="0"/>
              <a:t>for i in </a:t>
            </a:r>
            <a:r>
              <a:rPr lang="en-US" altLang="zh-CN" dirty="0" err="1"/>
              <a:t>np.arange</a:t>
            </a:r>
            <a:r>
              <a:rPr lang="en-US" altLang="zh-CN" dirty="0"/>
              <a:t>(1,8):</a:t>
            </a:r>
            <a:endParaRPr lang="en-US" altLang="zh-CN" dirty="0"/>
          </a:p>
          <a:p>
            <a:r>
              <a:rPr lang="en-US" altLang="zh-CN" dirty="0"/>
              <a:t>    da=da[da[:,i]&gt;0,:]                #</a:t>
            </a:r>
            <a:r>
              <a:rPr lang="zh-CN" altLang="en-US" dirty="0"/>
              <a:t>要求指标值大于</a:t>
            </a:r>
            <a:r>
              <a:rPr lang="en-US" altLang="zh-CN" dirty="0"/>
              <a:t>0</a:t>
            </a:r>
            <a:endParaRPr lang="en-US" altLang="zh-CN" dirty="0"/>
          </a:p>
          <a:p>
            <a:r>
              <a:rPr lang="en-US" altLang="zh-CN" dirty="0"/>
              <a:t>da=da[da[:,i]&lt;8*</a:t>
            </a:r>
            <a:r>
              <a:rPr lang="en-US" altLang="zh-CN" dirty="0" err="1"/>
              <a:t>np.mean</a:t>
            </a:r>
            <a:r>
              <a:rPr lang="en-US" altLang="zh-CN" dirty="0"/>
              <a:t>(da[:,i]),:]  #</a:t>
            </a:r>
            <a:r>
              <a:rPr lang="zh-CN" altLang="en-US" dirty="0"/>
              <a:t>剔除异常值（</a:t>
            </a:r>
            <a:r>
              <a:rPr lang="en-US" altLang="zh-CN" dirty="0"/>
              <a:t>8</a:t>
            </a:r>
            <a:r>
              <a:rPr lang="zh-CN" altLang="en-US" dirty="0"/>
              <a:t>倍均值）</a:t>
            </a:r>
            <a:endParaRPr lang="zh-CN" altLang="en-US" dirty="0"/>
          </a:p>
          <a:p>
            <a:r>
              <a:rPr lang="en-US" altLang="zh-CN" b="1" dirty="0"/>
              <a:t>4. </a:t>
            </a:r>
            <a:r>
              <a:rPr lang="zh-CN" altLang="en-US" b="1" dirty="0"/>
              <a:t>要求净资产收益率大于</a:t>
            </a:r>
            <a:r>
              <a:rPr lang="en-US" altLang="zh-CN" b="1" dirty="0"/>
              <a:t>0.06</a:t>
            </a:r>
            <a:endParaRPr lang="en-US" altLang="zh-CN" b="1" dirty="0"/>
          </a:p>
          <a:p>
            <a:r>
              <a:rPr lang="zh-CN" altLang="en-US" dirty="0"/>
              <a:t>这里假定</a:t>
            </a:r>
            <a:r>
              <a:rPr lang="en-US" altLang="zh-CN" dirty="0"/>
              <a:t>6%</a:t>
            </a:r>
            <a:r>
              <a:rPr lang="zh-CN" altLang="en-US" dirty="0"/>
              <a:t>回报率为投资者的最低要求。示例代码如下：</a:t>
            </a:r>
            <a:endParaRPr lang="zh-CN" altLang="en-US" dirty="0"/>
          </a:p>
          <a:p>
            <a:r>
              <a:rPr lang="en-US" altLang="zh-CN" dirty="0"/>
              <a:t>da=da[da[:,6]&gt;=0.06,:]</a:t>
            </a:r>
            <a:endParaRPr lang="en-US" altLang="zh-CN" dirty="0"/>
          </a:p>
          <a:p>
            <a:r>
              <a:rPr lang="en-US" altLang="zh-CN" b="1" dirty="0"/>
              <a:t>5. </a:t>
            </a:r>
            <a:r>
              <a:rPr lang="zh-CN" altLang="en-US" b="1" dirty="0"/>
              <a:t>数据标准化处理</a:t>
            </a:r>
            <a:endParaRPr lang="zh-CN" altLang="en-US" b="1" dirty="0"/>
          </a:p>
          <a:p>
            <a:r>
              <a:rPr lang="zh-CN" altLang="en-US" dirty="0"/>
              <a:t>这里将指标均作归一化处理。即将指标值全部规范化到</a:t>
            </a:r>
            <a:r>
              <a:rPr lang="en-US" altLang="zh-CN" dirty="0"/>
              <a:t>[0,1]</a:t>
            </a:r>
            <a:r>
              <a:rPr lang="zh-CN" altLang="en-US" dirty="0"/>
              <a:t>之间。采用</a:t>
            </a:r>
            <a:r>
              <a:rPr lang="en-US" altLang="zh-CN" dirty="0"/>
              <a:t>Python</a:t>
            </a:r>
            <a:r>
              <a:rPr lang="zh-CN" altLang="en-US" dirty="0"/>
              <a:t>中的数据预处理模块中的极差法进行处理。示例代码如下：</a:t>
            </a:r>
            <a:endParaRPr lang="zh-CN" altLang="en-US" dirty="0"/>
          </a:p>
          <a:p>
            <a:r>
              <a:rPr lang="en-US" altLang="zh-CN" dirty="0"/>
              <a:t>from </a:t>
            </a:r>
            <a:r>
              <a:rPr lang="en-US" altLang="zh-CN" dirty="0" err="1"/>
              <a:t>sklearn.preprocessing</a:t>
            </a:r>
            <a:r>
              <a:rPr lang="en-US" altLang="zh-CN" dirty="0"/>
              <a:t> import </a:t>
            </a:r>
            <a:r>
              <a:rPr lang="en-US" altLang="zh-CN" dirty="0" err="1"/>
              <a:t>MinMaxScaler</a:t>
            </a:r>
            <a:r>
              <a:rPr lang="en-US" altLang="zh-CN" dirty="0"/>
              <a:t> </a:t>
            </a:r>
            <a:endParaRPr lang="en-US" altLang="zh-CN" dirty="0"/>
          </a:p>
          <a:p>
            <a:r>
              <a:rPr lang="en-US" altLang="zh-CN" dirty="0"/>
              <a:t>X=da[:,1:]</a:t>
            </a:r>
            <a:endParaRPr lang="en-US" altLang="zh-CN" dirty="0"/>
          </a:p>
          <a:p>
            <a:r>
              <a:rPr lang="en-US" altLang="zh-CN" dirty="0" err="1"/>
              <a:t>scaler</a:t>
            </a:r>
            <a:r>
              <a:rPr lang="en-US" altLang="zh-CN" dirty="0"/>
              <a:t> = </a:t>
            </a:r>
            <a:r>
              <a:rPr lang="en-US" altLang="zh-CN" dirty="0" err="1"/>
              <a:t>MinMaxScaler</a:t>
            </a:r>
            <a:r>
              <a:rPr lang="en-US" altLang="zh-CN" dirty="0"/>
              <a:t>()</a:t>
            </a:r>
            <a:endParaRPr lang="en-US" altLang="zh-CN" dirty="0"/>
          </a:p>
          <a:p>
            <a:r>
              <a:rPr lang="en-US" altLang="zh-CN" dirty="0" err="1"/>
              <a:t>scaler.fit</a:t>
            </a:r>
            <a:r>
              <a:rPr lang="en-US" altLang="zh-CN" dirty="0"/>
              <a:t>(X) </a:t>
            </a:r>
            <a:endParaRPr lang="en-US" altLang="zh-CN" dirty="0"/>
          </a:p>
          <a:p>
            <a:r>
              <a:rPr lang="en-US" altLang="zh-CN" dirty="0"/>
              <a:t>X=</a:t>
            </a:r>
            <a:r>
              <a:rPr lang="en-US" altLang="zh-CN" dirty="0" err="1"/>
              <a:t>scaler.transform</a:t>
            </a:r>
            <a:r>
              <a:rPr lang="en-US" altLang="zh-CN" dirty="0"/>
              <a:t>(X)</a:t>
            </a:r>
            <a:endParaRPr lang="en-US" altLang="zh-CN" dirty="0"/>
          </a:p>
          <a:p>
            <a:r>
              <a:rPr lang="en-US" altLang="zh-CN" b="1" dirty="0"/>
              <a:t>6. </a:t>
            </a:r>
            <a:r>
              <a:rPr lang="zh-CN" altLang="en-US" b="1" dirty="0"/>
              <a:t>对市盈率、市现率、市净率指标也做反极差化处理</a:t>
            </a:r>
            <a:endParaRPr lang="zh-CN" altLang="en-US" b="1" dirty="0"/>
          </a:p>
          <a:p>
            <a:r>
              <a:rPr lang="zh-CN" altLang="en-US" dirty="0"/>
              <a:t>主要目的是实现指标度量的统一，即值越大越好。示例代码如下：</a:t>
            </a:r>
            <a:endParaRPr lang="zh-CN" altLang="en-US" dirty="0"/>
          </a:p>
          <a:p>
            <a:r>
              <a:rPr lang="en-US" altLang="zh-CN" dirty="0"/>
              <a:t>X[:,2]=1-X[:,2]</a:t>
            </a:r>
            <a:endParaRPr lang="en-US" altLang="zh-CN" dirty="0"/>
          </a:p>
          <a:p>
            <a:r>
              <a:rPr lang="en-US" altLang="zh-CN" dirty="0"/>
              <a:t>X[:,3]=1-X[:,3]</a:t>
            </a:r>
            <a:endParaRPr lang="en-US" altLang="zh-CN" dirty="0"/>
          </a:p>
          <a:p>
            <a:r>
              <a:rPr lang="en-US" altLang="zh-CN" dirty="0"/>
              <a:t>X[:,4]=1-X[:,4]</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4" y="28128"/>
            <a:ext cx="59197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8.4.5</a:t>
            </a:r>
            <a:r>
              <a:rPr lang="zh-CN" altLang="en-US" sz="2800" dirty="0" smtClean="0">
                <a:solidFill>
                  <a:schemeClr val="accent2"/>
                </a:solidFill>
                <a:latin typeface="微软雅黑" panose="020B0503020204020204" pitchFamily="34" charset="-122"/>
                <a:ea typeface="微软雅黑" panose="020B0503020204020204" pitchFamily="34" charset="-122"/>
              </a:rPr>
              <a:t>主成分分析</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8</a:t>
            </a:r>
            <a:endParaRPr lang="zh-CN" altLang="en-US" dirty="0">
              <a:solidFill>
                <a:schemeClr val="accent2"/>
              </a:solidFill>
            </a:endParaRPr>
          </a:p>
        </p:txBody>
      </p:sp>
      <p:sp>
        <p:nvSpPr>
          <p:cNvPr id="4" name="矩形 3"/>
          <p:cNvSpPr/>
          <p:nvPr/>
        </p:nvSpPr>
        <p:spPr>
          <a:xfrm>
            <a:off x="672393" y="1124744"/>
            <a:ext cx="10178516" cy="1754326"/>
          </a:xfrm>
          <a:prstGeom prst="rect">
            <a:avLst/>
          </a:prstGeom>
        </p:spPr>
        <p:txBody>
          <a:bodyPr wrap="square">
            <a:spAutoFit/>
          </a:bodyPr>
          <a:lstStyle/>
          <a:p>
            <a:r>
              <a:rPr lang="zh-CN" altLang="en-US" dirty="0"/>
              <a:t>对标准化之后的指标数据</a:t>
            </a:r>
            <a:r>
              <a:rPr lang="en-US" altLang="zh-CN" dirty="0"/>
              <a:t>X</a:t>
            </a:r>
            <a:r>
              <a:rPr lang="zh-CN" altLang="en-US" dirty="0"/>
              <a:t>作主成分分析，提取其主成分，要求累计贡献率在</a:t>
            </a:r>
            <a:r>
              <a:rPr lang="en-US" altLang="zh-CN" dirty="0"/>
              <a:t>95%</a:t>
            </a:r>
            <a:r>
              <a:rPr lang="zh-CN" altLang="en-US" dirty="0"/>
              <a:t>以上。其计算程序如下：</a:t>
            </a:r>
            <a:endParaRPr lang="zh-CN" altLang="en-US" dirty="0"/>
          </a:p>
          <a:p>
            <a:r>
              <a:rPr lang="en-US" altLang="zh-CN" dirty="0"/>
              <a:t>from </a:t>
            </a:r>
            <a:r>
              <a:rPr lang="en-US" altLang="zh-CN" dirty="0" err="1"/>
              <a:t>sklearn.decomposition</a:t>
            </a:r>
            <a:r>
              <a:rPr lang="en-US" altLang="zh-CN" dirty="0"/>
              <a:t> import PCA  </a:t>
            </a:r>
            <a:endParaRPr lang="en-US" altLang="zh-CN" dirty="0"/>
          </a:p>
          <a:p>
            <a:r>
              <a:rPr lang="en-US" altLang="zh-CN" dirty="0" err="1"/>
              <a:t>pca</a:t>
            </a:r>
            <a:r>
              <a:rPr lang="en-US" altLang="zh-CN" dirty="0"/>
              <a:t>=PCA(</a:t>
            </a:r>
            <a:r>
              <a:rPr lang="en-US" altLang="zh-CN" dirty="0" err="1"/>
              <a:t>n_components</a:t>
            </a:r>
            <a:r>
              <a:rPr lang="en-US" altLang="zh-CN" dirty="0"/>
              <a:t>=0.95)      #</a:t>
            </a:r>
            <a:r>
              <a:rPr lang="zh-CN" altLang="en-US" dirty="0"/>
              <a:t>累计贡献率为</a:t>
            </a:r>
            <a:r>
              <a:rPr lang="en-US" altLang="zh-CN" dirty="0"/>
              <a:t>95%</a:t>
            </a:r>
            <a:endParaRPr lang="en-US" altLang="zh-CN" dirty="0"/>
          </a:p>
          <a:p>
            <a:r>
              <a:rPr lang="en-US" altLang="zh-CN" dirty="0"/>
              <a:t>Y=</a:t>
            </a:r>
            <a:r>
              <a:rPr lang="en-US" altLang="zh-CN" dirty="0" err="1"/>
              <a:t>pca.fit_transform</a:t>
            </a:r>
            <a:r>
              <a:rPr lang="en-US" altLang="zh-CN" dirty="0"/>
              <a:t>(X)           #</a:t>
            </a:r>
            <a:r>
              <a:rPr lang="zh-CN" altLang="en-US" dirty="0"/>
              <a:t>满足累计贡献率为</a:t>
            </a:r>
            <a:r>
              <a:rPr lang="en-US" altLang="zh-CN" dirty="0"/>
              <a:t>95%</a:t>
            </a:r>
            <a:r>
              <a:rPr lang="zh-CN" altLang="en-US" dirty="0"/>
              <a:t>的主成分数据</a:t>
            </a:r>
            <a:endParaRPr lang="zh-CN" altLang="en-US" dirty="0"/>
          </a:p>
          <a:p>
            <a:r>
              <a:rPr lang="en-US" altLang="zh-CN" dirty="0" err="1"/>
              <a:t>gxl</a:t>
            </a:r>
            <a:r>
              <a:rPr lang="en-US" altLang="zh-CN" dirty="0"/>
              <a:t>=</a:t>
            </a:r>
            <a:r>
              <a:rPr lang="en-US" altLang="zh-CN" dirty="0" err="1"/>
              <a:t>pca.explained_variance_ratio</a:t>
            </a:r>
            <a:r>
              <a:rPr lang="en-US" altLang="zh-CN" dirty="0"/>
              <a:t>_  #</a:t>
            </a:r>
            <a:r>
              <a:rPr lang="zh-CN" altLang="en-US" dirty="0"/>
              <a:t>贡献率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21588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8.4.4 </a:t>
            </a:r>
            <a:r>
              <a:rPr lang="zh-CN" altLang="en-US" sz="2800" dirty="0">
                <a:solidFill>
                  <a:schemeClr val="accent2"/>
                </a:solidFill>
                <a:latin typeface="微软雅黑" panose="020B0503020204020204" pitchFamily="34" charset="-122"/>
                <a:ea typeface="微软雅黑" panose="020B0503020204020204" pitchFamily="34" charset="-122"/>
              </a:rPr>
              <a:t>综合排名</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8</a:t>
            </a:r>
            <a:endParaRPr lang="zh-CN" altLang="en-US" dirty="0">
              <a:solidFill>
                <a:schemeClr val="accent2"/>
              </a:solidFill>
            </a:endParaRPr>
          </a:p>
        </p:txBody>
      </p:sp>
      <p:sp>
        <p:nvSpPr>
          <p:cNvPr id="2" name="矩形 1"/>
          <p:cNvSpPr/>
          <p:nvPr/>
        </p:nvSpPr>
        <p:spPr>
          <a:xfrm>
            <a:off x="158831" y="764704"/>
            <a:ext cx="8171798" cy="6247864"/>
          </a:xfrm>
          <a:prstGeom prst="rect">
            <a:avLst/>
          </a:prstGeom>
        </p:spPr>
        <p:txBody>
          <a:bodyPr wrap="square">
            <a:spAutoFit/>
          </a:bodyPr>
          <a:lstStyle/>
          <a:p>
            <a:r>
              <a:rPr lang="en-US" altLang="zh-CN" sz="1600" b="1" dirty="0"/>
              <a:t>1. </a:t>
            </a:r>
            <a:r>
              <a:rPr lang="zh-CN" altLang="en-US" sz="1600" b="1" dirty="0"/>
              <a:t>计算综合得分，其中综合得分等于提取的各个主成分与其贡献率的加权求和</a:t>
            </a:r>
            <a:endParaRPr lang="zh-CN" altLang="en-US" sz="1600" b="1" dirty="0"/>
          </a:p>
          <a:p>
            <a:r>
              <a:rPr lang="en-US" altLang="zh-CN" sz="1600" dirty="0"/>
              <a:t>import </a:t>
            </a:r>
            <a:r>
              <a:rPr lang="en-US" altLang="zh-CN" sz="1600" dirty="0" err="1"/>
              <a:t>numpy</a:t>
            </a:r>
            <a:r>
              <a:rPr lang="en-US" altLang="zh-CN" sz="1600" dirty="0"/>
              <a:t> as </a:t>
            </a:r>
            <a:r>
              <a:rPr lang="en-US" altLang="zh-CN" sz="1600" dirty="0" err="1"/>
              <a:t>np</a:t>
            </a:r>
            <a:endParaRPr lang="en-US" altLang="zh-CN" sz="1600" dirty="0"/>
          </a:p>
          <a:p>
            <a:r>
              <a:rPr lang="en-US" altLang="zh-CN" sz="1600" dirty="0"/>
              <a:t>F=</a:t>
            </a:r>
            <a:r>
              <a:rPr lang="en-US" altLang="zh-CN" sz="1600" dirty="0" err="1"/>
              <a:t>np.zeros</a:t>
            </a:r>
            <a:r>
              <a:rPr lang="en-US" altLang="zh-CN" sz="1600" dirty="0"/>
              <a:t>((</a:t>
            </a:r>
            <a:r>
              <a:rPr lang="en-US" altLang="zh-CN" sz="1600" dirty="0" err="1"/>
              <a:t>len</a:t>
            </a:r>
            <a:r>
              <a:rPr lang="en-US" altLang="zh-CN" sz="1600" dirty="0"/>
              <a:t>(Y)))</a:t>
            </a:r>
            <a:endParaRPr lang="en-US" altLang="zh-CN" sz="1600" dirty="0"/>
          </a:p>
          <a:p>
            <a:r>
              <a:rPr lang="en-US" altLang="zh-CN" sz="1600" dirty="0"/>
              <a:t>for i in range(</a:t>
            </a:r>
            <a:r>
              <a:rPr lang="en-US" altLang="zh-CN" sz="1600" dirty="0" err="1"/>
              <a:t>len</a:t>
            </a:r>
            <a:r>
              <a:rPr lang="en-US" altLang="zh-CN" sz="1600" dirty="0"/>
              <a:t>(</a:t>
            </a:r>
            <a:r>
              <a:rPr lang="en-US" altLang="zh-CN" sz="1600" dirty="0" err="1"/>
              <a:t>gxl</a:t>
            </a:r>
            <a:r>
              <a:rPr lang="en-US" altLang="zh-CN" sz="1600" dirty="0"/>
              <a:t>)):</a:t>
            </a:r>
            <a:endParaRPr lang="en-US" altLang="zh-CN" sz="1600" dirty="0"/>
          </a:p>
          <a:p>
            <a:r>
              <a:rPr lang="en-US" altLang="zh-CN" sz="1600" dirty="0"/>
              <a:t>    f=Y[:,i]*</a:t>
            </a:r>
            <a:r>
              <a:rPr lang="en-US" altLang="zh-CN" sz="1600" dirty="0" err="1"/>
              <a:t>gxl</a:t>
            </a:r>
            <a:r>
              <a:rPr lang="en-US" altLang="zh-CN" sz="1600" dirty="0"/>
              <a:t>[i]</a:t>
            </a:r>
            <a:endParaRPr lang="en-US" altLang="zh-CN" sz="1600" dirty="0"/>
          </a:p>
          <a:p>
            <a:r>
              <a:rPr lang="en-US" altLang="zh-CN" sz="1600" dirty="0"/>
              <a:t>F=</a:t>
            </a:r>
            <a:r>
              <a:rPr lang="en-US" altLang="zh-CN" sz="1600" dirty="0" err="1"/>
              <a:t>F+f</a:t>
            </a:r>
            <a:endParaRPr lang="en-US" altLang="zh-CN" sz="1600" dirty="0"/>
          </a:p>
          <a:p>
            <a:r>
              <a:rPr lang="en-US" altLang="zh-CN" sz="1600" b="1" dirty="0"/>
              <a:t>2. </a:t>
            </a:r>
            <a:r>
              <a:rPr lang="zh-CN" altLang="en-US" sz="1600" b="1" dirty="0"/>
              <a:t>整理排名结果</a:t>
            </a:r>
            <a:endParaRPr lang="zh-CN" altLang="en-US" sz="1600" b="1" dirty="0"/>
          </a:p>
          <a:p>
            <a:r>
              <a:rPr lang="zh-CN" altLang="en-US" sz="1600" dirty="0"/>
              <a:t>为了方便进行排名，采用序列作为排名结果的储存数据结构。排名包括两种方式，一种</a:t>
            </a:r>
            <a:r>
              <a:rPr lang="en-US" altLang="zh-CN" sz="1600" dirty="0"/>
              <a:t>index</a:t>
            </a:r>
            <a:r>
              <a:rPr lang="zh-CN" altLang="en-US" sz="1600" dirty="0"/>
              <a:t>为股票代码，方面后续收益率计算使用。一种</a:t>
            </a:r>
            <a:r>
              <a:rPr lang="en-US" altLang="zh-CN" sz="1600" dirty="0"/>
              <a:t>index</a:t>
            </a:r>
            <a:r>
              <a:rPr lang="zh-CN" altLang="en-US" sz="1600" dirty="0"/>
              <a:t>为股票中文简称，方便查看其排名结果。</a:t>
            </a:r>
            <a:endParaRPr lang="zh-CN" altLang="en-US" sz="1600" dirty="0"/>
          </a:p>
          <a:p>
            <a:r>
              <a:rPr lang="zh-CN" altLang="en-US" sz="1600" dirty="0"/>
              <a:t>第一种方式如下：</a:t>
            </a:r>
            <a:endParaRPr lang="zh-CN" altLang="en-US" sz="1600" dirty="0"/>
          </a:p>
          <a:p>
            <a:r>
              <a:rPr lang="en-US" altLang="zh-CN" sz="1600" dirty="0"/>
              <a:t>Fs1=</a:t>
            </a:r>
            <a:r>
              <a:rPr lang="en-US" altLang="zh-CN" sz="1600" dirty="0" err="1"/>
              <a:t>pd.Series</a:t>
            </a:r>
            <a:r>
              <a:rPr lang="en-US" altLang="zh-CN" sz="1600" dirty="0"/>
              <a:t>(</a:t>
            </a:r>
            <a:r>
              <a:rPr lang="en-US" altLang="zh-CN" sz="1600" dirty="0" err="1"/>
              <a:t>F,index</a:t>
            </a:r>
            <a:r>
              <a:rPr lang="en-US" altLang="zh-CN" sz="1600" dirty="0"/>
              <a:t>=da[:,0])</a:t>
            </a:r>
            <a:endParaRPr lang="en-US" altLang="zh-CN" sz="1600" dirty="0"/>
          </a:p>
          <a:p>
            <a:r>
              <a:rPr lang="en-US" altLang="zh-CN" sz="1600" dirty="0"/>
              <a:t>Fscore1=Fs1.sort_values(ascending=False)   #</a:t>
            </a:r>
            <a:r>
              <a:rPr lang="zh-CN" altLang="en-US" sz="1600" dirty="0"/>
              <a:t>降序，</a:t>
            </a:r>
            <a:r>
              <a:rPr lang="en-US" altLang="zh-CN" sz="1600" dirty="0"/>
              <a:t>True</a:t>
            </a:r>
            <a:r>
              <a:rPr lang="zh-CN" altLang="en-US" sz="1600" dirty="0"/>
              <a:t>为升序</a:t>
            </a:r>
            <a:endParaRPr lang="zh-CN" altLang="en-US" sz="1600" dirty="0"/>
          </a:p>
          <a:p>
            <a:r>
              <a:rPr lang="zh-CN" altLang="en-US" sz="1600" dirty="0"/>
              <a:t>第二种方式如下：</a:t>
            </a:r>
            <a:endParaRPr lang="zh-CN" altLang="en-US" sz="1600" dirty="0"/>
          </a:p>
          <a:p>
            <a:r>
              <a:rPr lang="zh-CN" altLang="en-US" sz="1600" dirty="0"/>
              <a:t>首先获取主成分分析指标数据对应的上市公司名称，可以通过</a:t>
            </a:r>
            <a:r>
              <a:rPr lang="en-US" altLang="zh-CN" sz="1600" dirty="0"/>
              <a:t>data2</a:t>
            </a:r>
            <a:r>
              <a:rPr lang="zh-CN" altLang="en-US" sz="1600" dirty="0"/>
              <a:t>数据中的股票代码关联上市公司信息表（</a:t>
            </a:r>
            <a:r>
              <a:rPr lang="en-US" altLang="zh-CN" sz="1600" dirty="0"/>
              <a:t>TRD_Co.xlsx</a:t>
            </a:r>
            <a:r>
              <a:rPr lang="zh-CN" altLang="en-US" sz="1600" dirty="0"/>
              <a:t>）筛选获得。</a:t>
            </a:r>
            <a:r>
              <a:rPr lang="en-US" altLang="zh-CN" sz="1600" dirty="0"/>
              <a:t>TRD_Co.xlsx</a:t>
            </a:r>
            <a:r>
              <a:rPr lang="zh-CN" altLang="en-US" sz="1600" dirty="0"/>
              <a:t>数据表详细信息见表</a:t>
            </a:r>
            <a:r>
              <a:rPr lang="en-US" altLang="zh-CN" sz="1600" dirty="0"/>
              <a:t>8-2</a:t>
            </a:r>
            <a:r>
              <a:rPr lang="zh-CN" altLang="en-US" sz="1600" dirty="0"/>
              <a:t>，其</a:t>
            </a:r>
            <a:r>
              <a:rPr lang="en-US" altLang="zh-CN" sz="1600" dirty="0"/>
              <a:t>Python</a:t>
            </a:r>
            <a:r>
              <a:rPr lang="zh-CN" altLang="en-US" sz="1600" dirty="0"/>
              <a:t>程序代码如下：</a:t>
            </a:r>
            <a:endParaRPr lang="zh-CN" altLang="en-US" sz="1600" dirty="0"/>
          </a:p>
          <a:p>
            <a:r>
              <a:rPr lang="en-US" altLang="zh-CN" sz="1600" dirty="0"/>
              <a:t>co=</a:t>
            </a:r>
            <a:r>
              <a:rPr lang="en-US" altLang="zh-CN" sz="1600" dirty="0" err="1"/>
              <a:t>pd.read_excel</a:t>
            </a:r>
            <a:r>
              <a:rPr lang="en-US" altLang="zh-CN" sz="1600" dirty="0"/>
              <a:t>('TRD_Co.xlsx')</a:t>
            </a:r>
            <a:endParaRPr lang="en-US" altLang="zh-CN" sz="1600" dirty="0"/>
          </a:p>
          <a:p>
            <a:r>
              <a:rPr lang="en-US" altLang="zh-CN" sz="1600" dirty="0"/>
              <a:t>Co=</a:t>
            </a:r>
            <a:r>
              <a:rPr lang="en-US" altLang="zh-CN" sz="1600" dirty="0" err="1"/>
              <a:t>pd.Series</a:t>
            </a:r>
            <a:r>
              <a:rPr lang="en-US" altLang="zh-CN" sz="1600" dirty="0"/>
              <a:t>(co['</a:t>
            </a:r>
            <a:r>
              <a:rPr lang="en-US" altLang="zh-CN" sz="1600" dirty="0" err="1"/>
              <a:t>Stknme</a:t>
            </a:r>
            <a:r>
              <a:rPr lang="en-US" altLang="zh-CN" sz="1600" dirty="0"/>
              <a:t>'].</a:t>
            </a:r>
            <a:r>
              <a:rPr lang="en-US" altLang="zh-CN" sz="1600" dirty="0" err="1"/>
              <a:t>values,index</a:t>
            </a:r>
            <a:r>
              <a:rPr lang="en-US" altLang="zh-CN" sz="1600" dirty="0"/>
              <a:t>=co['</a:t>
            </a:r>
            <a:r>
              <a:rPr lang="en-US" altLang="zh-CN" sz="1600" dirty="0" err="1"/>
              <a:t>Stkcd</a:t>
            </a:r>
            <a:r>
              <a:rPr lang="en-US" altLang="zh-CN" sz="1600" dirty="0"/>
              <a:t>'].values)</a:t>
            </a:r>
            <a:endParaRPr lang="en-US" altLang="zh-CN" sz="1600" dirty="0"/>
          </a:p>
          <a:p>
            <a:r>
              <a:rPr lang="en-US" altLang="zh-CN" sz="1600" dirty="0"/>
              <a:t>Co1=Co[da[:,0]]</a:t>
            </a:r>
            <a:endParaRPr lang="en-US" altLang="zh-CN" sz="1600" dirty="0"/>
          </a:p>
          <a:p>
            <a:r>
              <a:rPr lang="zh-CN" altLang="en-US" sz="1600" dirty="0"/>
              <a:t>其次，以综合得分</a:t>
            </a:r>
            <a:r>
              <a:rPr lang="en-US" altLang="zh-CN" sz="1600" dirty="0"/>
              <a:t>F</a:t>
            </a:r>
            <a:r>
              <a:rPr lang="zh-CN" altLang="en-US" sz="1600" dirty="0"/>
              <a:t>为值，上市公司名称作为索引（</a:t>
            </a:r>
            <a:r>
              <a:rPr lang="en-US" altLang="zh-CN" sz="1600" dirty="0"/>
              <a:t>index</a:t>
            </a:r>
            <a:r>
              <a:rPr lang="zh-CN" altLang="en-US" sz="1600" dirty="0"/>
              <a:t>）</a:t>
            </a:r>
            <a:r>
              <a:rPr lang="en-US" altLang="zh-CN" sz="1600" dirty="0"/>
              <a:t>,</a:t>
            </a:r>
            <a:r>
              <a:rPr lang="zh-CN" altLang="en-US" sz="1600" dirty="0"/>
              <a:t>构建序列，并按值作降序排序，以观察其排名结果</a:t>
            </a:r>
            <a:endParaRPr lang="zh-CN" altLang="en-US" sz="1600" dirty="0"/>
          </a:p>
          <a:p>
            <a:r>
              <a:rPr lang="en-US" altLang="zh-CN" sz="1600" dirty="0"/>
              <a:t>Fs2=</a:t>
            </a:r>
            <a:r>
              <a:rPr lang="en-US" altLang="zh-CN" sz="1600" dirty="0" err="1"/>
              <a:t>pd.Series</a:t>
            </a:r>
            <a:r>
              <a:rPr lang="en-US" altLang="zh-CN" sz="1600" dirty="0"/>
              <a:t>(</a:t>
            </a:r>
            <a:r>
              <a:rPr lang="en-US" altLang="zh-CN" sz="1600" dirty="0" err="1"/>
              <a:t>F,index</a:t>
            </a:r>
            <a:r>
              <a:rPr lang="en-US" altLang="zh-CN" sz="1600" dirty="0"/>
              <a:t>=Co1.values)</a:t>
            </a:r>
            <a:endParaRPr lang="en-US" altLang="zh-CN" sz="1600" dirty="0"/>
          </a:p>
          <a:p>
            <a:r>
              <a:rPr lang="en-US" altLang="zh-CN" sz="1600" dirty="0"/>
              <a:t>Fscore2=Fs2.sort_values(ascending=False)   #</a:t>
            </a:r>
            <a:r>
              <a:rPr lang="zh-CN" altLang="en-US" sz="1600" dirty="0"/>
              <a:t>降序，</a:t>
            </a:r>
            <a:r>
              <a:rPr lang="en-US" altLang="zh-CN" sz="1600" dirty="0"/>
              <a:t>True</a:t>
            </a:r>
            <a:r>
              <a:rPr lang="zh-CN" altLang="en-US" sz="1600" dirty="0"/>
              <a:t>为升序</a:t>
            </a:r>
            <a:endParaRPr lang="zh-CN" altLang="en-US" sz="1600" dirty="0"/>
          </a:p>
          <a:p>
            <a:r>
              <a:rPr lang="zh-CN" altLang="en-US" sz="1600" dirty="0"/>
              <a:t>最终得到两种方式的排名结果如图</a:t>
            </a:r>
            <a:r>
              <a:rPr lang="en-US" altLang="zh-CN" sz="1600" dirty="0"/>
              <a:t>8-3</a:t>
            </a:r>
            <a:r>
              <a:rPr lang="zh-CN" altLang="en-US" sz="1600" dirty="0"/>
              <a:t>所示。</a:t>
            </a:r>
            <a:endParaRPr lang="zh-CN" altLang="en-US" sz="1600" dirty="0"/>
          </a:p>
        </p:txBody>
      </p:sp>
      <p:pic>
        <p:nvPicPr>
          <p:cNvPr id="205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4714" y="1844824"/>
            <a:ext cx="3633787"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10087648" y="1340768"/>
            <a:ext cx="748923" cy="369332"/>
          </a:xfrm>
          <a:prstGeom prst="rect">
            <a:avLst/>
          </a:prstGeom>
        </p:spPr>
        <p:txBody>
          <a:bodyPr wrap="none">
            <a:spAutoFit/>
          </a:bodyPr>
          <a:lstStyle/>
          <a:p>
            <a:r>
              <a:rPr lang="zh-CN" altLang="en-US" dirty="0" smtClean="0"/>
              <a:t>图</a:t>
            </a:r>
            <a:r>
              <a:rPr lang="en-US" altLang="zh-CN" dirty="0" smtClean="0"/>
              <a:t>8-3</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1011143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8.4.5 </a:t>
            </a:r>
            <a:r>
              <a:rPr lang="zh-CN" altLang="en-US" sz="2800" dirty="0">
                <a:solidFill>
                  <a:schemeClr val="accent2"/>
                </a:solidFill>
                <a:latin typeface="微软雅黑" panose="020B0503020204020204" pitchFamily="34" charset="-122"/>
                <a:ea typeface="微软雅黑" panose="020B0503020204020204" pitchFamily="34" charset="-122"/>
              </a:rPr>
              <a:t>收益率计算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8</a:t>
            </a:r>
            <a:endParaRPr lang="zh-CN" altLang="en-US" dirty="0">
              <a:solidFill>
                <a:schemeClr val="accent2"/>
              </a:solidFill>
            </a:endParaRPr>
          </a:p>
        </p:txBody>
      </p:sp>
      <p:sp>
        <p:nvSpPr>
          <p:cNvPr id="2" name="矩形 1"/>
          <p:cNvSpPr/>
          <p:nvPr/>
        </p:nvSpPr>
        <p:spPr>
          <a:xfrm>
            <a:off x="409749" y="592990"/>
            <a:ext cx="11377264" cy="1477328"/>
          </a:xfrm>
          <a:prstGeom prst="rect">
            <a:avLst/>
          </a:prstGeom>
        </p:spPr>
        <p:txBody>
          <a:bodyPr wrap="square">
            <a:spAutoFit/>
          </a:bodyPr>
          <a:lstStyle/>
          <a:p>
            <a:r>
              <a:rPr lang="zh-CN" altLang="en-US" dirty="0"/>
              <a:t>以排名前</a:t>
            </a:r>
            <a:r>
              <a:rPr lang="en-US" altLang="zh-CN" dirty="0"/>
              <a:t>20</a:t>
            </a:r>
            <a:r>
              <a:rPr lang="zh-CN" altLang="en-US" dirty="0"/>
              <a:t>的上市公司股票代码构建投资组合作为计算例子，持有期为</a:t>
            </a:r>
            <a:r>
              <a:rPr lang="en-US" altLang="zh-CN" dirty="0"/>
              <a:t>2015-05-01</a:t>
            </a:r>
            <a:r>
              <a:rPr lang="zh-CN" altLang="en-US" dirty="0"/>
              <a:t>日至</a:t>
            </a:r>
            <a:r>
              <a:rPr lang="en-US" altLang="zh-CN" dirty="0"/>
              <a:t>2015-12-31</a:t>
            </a:r>
            <a:r>
              <a:rPr lang="zh-CN" altLang="en-US" dirty="0"/>
              <a:t>日，计算其收益率。每只股票的收益率计算方法为：以该股票持有期内首个交易日的考虑现金红利再投资的收盘价可比价买入，持有期内最后的交易日的考虑现金红利再投资的收盘价可比价卖出，计算其收益率。而投资组合的收益率为该组合内所有股票收益率之和。交易数据具体见</a:t>
            </a:r>
            <a:r>
              <a:rPr lang="en-US" altLang="zh-CN" dirty="0"/>
              <a:t>trd_2015.xlsx</a:t>
            </a:r>
            <a:r>
              <a:rPr lang="zh-CN" altLang="en-US" dirty="0"/>
              <a:t>文件，其基本数据格式和字段说明如下表</a:t>
            </a:r>
            <a:r>
              <a:rPr lang="en-US" altLang="zh-CN" dirty="0"/>
              <a:t>8-9</a:t>
            </a:r>
            <a:r>
              <a:rPr lang="zh-CN" altLang="en-US" dirty="0"/>
              <a:t>所示。数据来源于国泰安</a:t>
            </a:r>
            <a:r>
              <a:rPr lang="en-US" altLang="zh-CN" dirty="0"/>
              <a:t>CSMAR</a:t>
            </a:r>
            <a:r>
              <a:rPr lang="zh-CN" altLang="en-US" dirty="0"/>
              <a:t>数据库。</a:t>
            </a:r>
            <a:endParaRPr lang="zh-CN" altLang="en-US" dirty="0"/>
          </a:p>
        </p:txBody>
      </p:sp>
      <p:sp>
        <p:nvSpPr>
          <p:cNvPr id="3" name="矩形 2"/>
          <p:cNvSpPr/>
          <p:nvPr/>
        </p:nvSpPr>
        <p:spPr>
          <a:xfrm>
            <a:off x="3722117" y="2114252"/>
            <a:ext cx="3134191" cy="369332"/>
          </a:xfrm>
          <a:prstGeom prst="rect">
            <a:avLst/>
          </a:prstGeom>
        </p:spPr>
        <p:txBody>
          <a:bodyPr wrap="none">
            <a:spAutoFit/>
          </a:bodyPr>
          <a:lstStyle/>
          <a:p>
            <a:r>
              <a:rPr lang="zh-CN" altLang="en-US" dirty="0"/>
              <a:t> 表</a:t>
            </a:r>
            <a:r>
              <a:rPr lang="en-US" altLang="zh-CN" dirty="0"/>
              <a:t>8-9   2015</a:t>
            </a:r>
            <a:r>
              <a:rPr lang="zh-CN" altLang="en-US" dirty="0"/>
              <a:t>年股票交易数据</a:t>
            </a:r>
            <a:endParaRPr lang="zh-CN" altLang="en-US" dirty="0"/>
          </a:p>
        </p:txBody>
      </p:sp>
      <p:graphicFrame>
        <p:nvGraphicFramePr>
          <p:cNvPr id="4" name="表格 3"/>
          <p:cNvGraphicFramePr>
            <a:graphicFrameLocks noGrp="1"/>
          </p:cNvGraphicFramePr>
          <p:nvPr/>
        </p:nvGraphicFramePr>
        <p:xfrm>
          <a:off x="909649" y="2529989"/>
          <a:ext cx="9721080" cy="3059256"/>
        </p:xfrm>
        <a:graphic>
          <a:graphicData uri="http://schemas.openxmlformats.org/drawingml/2006/table">
            <a:tbl>
              <a:tblPr firstRow="1" firstCol="1" bandRow="1"/>
              <a:tblGrid>
                <a:gridCol w="1987274"/>
                <a:gridCol w="2180481"/>
                <a:gridCol w="1722304"/>
                <a:gridCol w="1955531"/>
                <a:gridCol w="1875490"/>
              </a:tblGrid>
              <a:tr h="254938">
                <a:tc>
                  <a:txBody>
                    <a:bodyPr/>
                    <a:lstStyle/>
                    <a:p>
                      <a:pPr algn="just">
                        <a:spcAft>
                          <a:spcPts val="0"/>
                        </a:spcAft>
                      </a:pPr>
                      <a:r>
                        <a:rPr lang="en-US" sz="16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Stkcd</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Trddt</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Clsprc</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Adjprcwd</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Adjprcnd</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600506</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11.34</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15.04019</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14.96879</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600507</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5.19</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47.963347</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34.61193</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600508</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11.45</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35.227488</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26.79283</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600509</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9.58</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56.021178</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43.48315</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600510</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7.48</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38.942532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29.17178</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600511</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33.9</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177.325211</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158.6509</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3.94</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24.225486</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19.93104</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600513</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14.77</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53.132165</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50.5463</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600515</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8.36</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18.803661</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18.4923</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54938">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600516</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2015-01-12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9.82</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a:solidFill>
                            <a:srgbClr val="000000"/>
                          </a:solidFill>
                          <a:effectLst/>
                          <a:latin typeface="宋体" panose="02010600030101010101" pitchFamily="2" charset="-122"/>
                          <a:ea typeface="宋体" panose="02010600030101010101" pitchFamily="2" charset="-122"/>
                          <a:cs typeface="Times New Roman" panose="02020603050405020304"/>
                        </a:rPr>
                        <a:t>55.263493</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600" kern="100" dirty="0">
                          <a:solidFill>
                            <a:srgbClr val="000000"/>
                          </a:solidFill>
                          <a:effectLst/>
                          <a:latin typeface="宋体" panose="02010600030101010101" pitchFamily="2" charset="-122"/>
                          <a:ea typeface="宋体" panose="02010600030101010101" pitchFamily="2" charset="-122"/>
                          <a:cs typeface="Times New Roman" panose="02020603050405020304"/>
                        </a:rPr>
                        <a:t>52.07578</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54938">
                <a:tc>
                  <a:txBody>
                    <a:bodyPr/>
                    <a:lstStyle/>
                    <a:p>
                      <a:pPr algn="just">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100" kern="0" dirty="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5" name="矩形 4"/>
          <p:cNvSpPr/>
          <p:nvPr/>
        </p:nvSpPr>
        <p:spPr>
          <a:xfrm>
            <a:off x="909649" y="5738998"/>
            <a:ext cx="10013268" cy="646331"/>
          </a:xfrm>
          <a:prstGeom prst="rect">
            <a:avLst/>
          </a:prstGeom>
        </p:spPr>
        <p:txBody>
          <a:bodyPr wrap="square">
            <a:spAutoFit/>
          </a:bodyPr>
          <a:lstStyle/>
          <a:p>
            <a:r>
              <a:rPr lang="zh-CN" altLang="en-US" dirty="0"/>
              <a:t>其中字段依次表示：股票代码、交易日期、收盘价、考虑现金红利再投资的收盘价可比价、不考虑现金红利再投资的收盘价可比价。</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4" y="44625"/>
            <a:ext cx="8531529"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8.4.5 </a:t>
            </a:r>
            <a:r>
              <a:rPr lang="zh-CN" altLang="en-US" sz="2800" dirty="0">
                <a:solidFill>
                  <a:schemeClr val="accent2"/>
                </a:solidFill>
                <a:latin typeface="微软雅黑" panose="020B0503020204020204" pitchFamily="34" charset="-122"/>
                <a:ea typeface="微软雅黑" panose="020B0503020204020204" pitchFamily="34" charset="-122"/>
              </a:rPr>
              <a:t>收益率计算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8</a:t>
            </a:r>
            <a:endParaRPr lang="zh-CN" altLang="en-US" dirty="0">
              <a:solidFill>
                <a:schemeClr val="accent2"/>
              </a:solidFill>
            </a:endParaRPr>
          </a:p>
        </p:txBody>
      </p:sp>
      <p:sp>
        <p:nvSpPr>
          <p:cNvPr id="3" name="矩形 2"/>
          <p:cNvSpPr/>
          <p:nvPr/>
        </p:nvSpPr>
        <p:spPr>
          <a:xfrm>
            <a:off x="140263" y="593989"/>
            <a:ext cx="6781977" cy="5755422"/>
          </a:xfrm>
          <a:prstGeom prst="rect">
            <a:avLst/>
          </a:prstGeom>
        </p:spPr>
        <p:txBody>
          <a:bodyPr wrap="square">
            <a:spAutoFit/>
          </a:bodyPr>
          <a:lstStyle/>
          <a:p>
            <a:r>
              <a:rPr lang="en-US" altLang="zh-CN" sz="1600" dirty="0"/>
              <a:t>#</a:t>
            </a:r>
            <a:r>
              <a:rPr lang="zh-CN" altLang="en-US" sz="1600" dirty="0"/>
              <a:t>获取交易数据</a:t>
            </a:r>
            <a:endParaRPr lang="zh-CN" altLang="en-US" sz="1600" dirty="0"/>
          </a:p>
          <a:p>
            <a:r>
              <a:rPr lang="en-US" altLang="zh-CN" sz="1600" dirty="0" err="1"/>
              <a:t>trd</a:t>
            </a:r>
            <a:r>
              <a:rPr lang="en-US" altLang="zh-CN" sz="1600" dirty="0"/>
              <a:t>=</a:t>
            </a:r>
            <a:r>
              <a:rPr lang="en-US" altLang="zh-CN" sz="1600" dirty="0" err="1"/>
              <a:t>pd.read_excel</a:t>
            </a:r>
            <a:r>
              <a:rPr lang="en-US" altLang="zh-CN" sz="1600" dirty="0"/>
              <a:t>('trd_2015.xlsx')</a:t>
            </a:r>
            <a:endParaRPr lang="en-US" altLang="zh-CN" sz="1600" dirty="0"/>
          </a:p>
          <a:p>
            <a:r>
              <a:rPr lang="en-US" altLang="zh-CN" sz="1600" dirty="0"/>
              <a:t>#</a:t>
            </a:r>
            <a:r>
              <a:rPr lang="zh-CN" altLang="en-US" sz="1600" dirty="0"/>
              <a:t>预定义每个股票的收益率序列</a:t>
            </a:r>
            <a:endParaRPr lang="zh-CN" altLang="en-US" sz="1600" dirty="0"/>
          </a:p>
          <a:p>
            <a:r>
              <a:rPr lang="en-US" altLang="zh-CN" sz="1600" dirty="0" err="1"/>
              <a:t>r_list</a:t>
            </a:r>
            <a:r>
              <a:rPr lang="en-US" altLang="zh-CN" sz="1600" dirty="0"/>
              <a:t>=[]</a:t>
            </a:r>
            <a:endParaRPr lang="en-US" altLang="zh-CN" sz="1600" dirty="0"/>
          </a:p>
          <a:p>
            <a:r>
              <a:rPr lang="en-US" altLang="zh-CN" sz="1600" dirty="0"/>
              <a:t>for i in range(20):</a:t>
            </a:r>
            <a:endParaRPr lang="en-US" altLang="zh-CN" sz="1600" dirty="0"/>
          </a:p>
          <a:p>
            <a:r>
              <a:rPr lang="en-US" altLang="zh-CN" sz="1600" dirty="0"/>
              <a:t>    #</a:t>
            </a:r>
            <a:r>
              <a:rPr lang="zh-CN" altLang="en-US" sz="1600" dirty="0"/>
              <a:t>获取排名第</a:t>
            </a:r>
            <a:r>
              <a:rPr lang="en-US" altLang="zh-CN" sz="1600" dirty="0"/>
              <a:t>i</a:t>
            </a:r>
            <a:r>
              <a:rPr lang="zh-CN" altLang="en-US" sz="1600" dirty="0"/>
              <a:t>个股票代码</a:t>
            </a:r>
            <a:endParaRPr lang="zh-CN" altLang="en-US" sz="1600" dirty="0"/>
          </a:p>
          <a:p>
            <a:r>
              <a:rPr lang="en-US" altLang="zh-CN" sz="1600" dirty="0"/>
              <a:t>code=Fscore1.index[i]</a:t>
            </a:r>
            <a:endParaRPr lang="en-US" altLang="zh-CN" sz="1600" dirty="0"/>
          </a:p>
          <a:p>
            <a:r>
              <a:rPr lang="en-US" altLang="zh-CN" sz="1600" dirty="0"/>
              <a:t>#</a:t>
            </a:r>
            <a:r>
              <a:rPr lang="zh-CN" altLang="en-US" sz="1600" dirty="0"/>
              <a:t>获取排名第</a:t>
            </a:r>
            <a:r>
              <a:rPr lang="en-US" altLang="zh-CN" sz="1600" dirty="0"/>
              <a:t>i</a:t>
            </a:r>
            <a:r>
              <a:rPr lang="zh-CN" altLang="en-US" sz="1600" dirty="0"/>
              <a:t>个股票代码的交易数据</a:t>
            </a:r>
            <a:endParaRPr lang="zh-CN" altLang="en-US" sz="1600" dirty="0"/>
          </a:p>
          <a:p>
            <a:r>
              <a:rPr lang="en-US" altLang="zh-CN" sz="1600" dirty="0" err="1"/>
              <a:t>dt</a:t>
            </a:r>
            <a:r>
              <a:rPr lang="en-US" altLang="zh-CN" sz="1600" dirty="0"/>
              <a:t>=</a:t>
            </a:r>
            <a:r>
              <a:rPr lang="en-US" altLang="zh-CN" sz="1600" dirty="0" err="1"/>
              <a:t>trd.iloc</a:t>
            </a:r>
            <a:r>
              <a:rPr lang="en-US" altLang="zh-CN" sz="1600" dirty="0"/>
              <a:t>[</a:t>
            </a:r>
            <a:r>
              <a:rPr lang="en-US" altLang="zh-CN" sz="1600" dirty="0" err="1"/>
              <a:t>trd.iloc</a:t>
            </a:r>
            <a:r>
              <a:rPr lang="en-US" altLang="zh-CN" sz="1600" dirty="0"/>
              <a:t>[:,0].values==code,:]</a:t>
            </a:r>
            <a:endParaRPr lang="en-US" altLang="zh-CN" sz="1600" dirty="0"/>
          </a:p>
          <a:p>
            <a:r>
              <a:rPr lang="en-US" altLang="zh-CN" sz="1600" dirty="0"/>
              <a:t>#</a:t>
            </a:r>
            <a:r>
              <a:rPr lang="zh-CN" altLang="en-US" sz="1600" dirty="0"/>
              <a:t>获取排名第</a:t>
            </a:r>
            <a:r>
              <a:rPr lang="en-US" altLang="zh-CN" sz="1600" dirty="0"/>
              <a:t>i</a:t>
            </a:r>
            <a:r>
              <a:rPr lang="zh-CN" altLang="en-US" sz="1600" dirty="0"/>
              <a:t>个股票代码</a:t>
            </a:r>
            <a:r>
              <a:rPr lang="en-US" altLang="zh-CN" sz="1600" dirty="0"/>
              <a:t>2015</a:t>
            </a:r>
            <a:r>
              <a:rPr lang="zh-CN" altLang="en-US" sz="1600" dirty="0"/>
              <a:t>年度的交易数据，并按交易日期升序排序</a:t>
            </a:r>
            <a:endParaRPr lang="zh-CN" altLang="en-US" sz="1600" dirty="0"/>
          </a:p>
          <a:p>
            <a:r>
              <a:rPr lang="zh-CN" altLang="en-US" sz="1600" dirty="0"/>
              <a:t>    </a:t>
            </a:r>
            <a:r>
              <a:rPr lang="en-US" altLang="zh-CN" sz="1600" dirty="0"/>
              <a:t>I1=</a:t>
            </a:r>
            <a:r>
              <a:rPr lang="en-US" altLang="zh-CN" sz="1600" dirty="0" err="1"/>
              <a:t>dt</a:t>
            </a:r>
            <a:r>
              <a:rPr lang="en-US" altLang="zh-CN" sz="1600" dirty="0"/>
              <a:t>['</a:t>
            </a:r>
            <a:r>
              <a:rPr lang="en-US" altLang="zh-CN" sz="1600" dirty="0" err="1"/>
              <a:t>Trddt</a:t>
            </a:r>
            <a:r>
              <a:rPr lang="en-US" altLang="zh-CN" sz="1600" dirty="0"/>
              <a:t>'].values&gt;='2015-05-01'</a:t>
            </a:r>
            <a:endParaRPr lang="en-US" altLang="zh-CN" sz="1600" dirty="0"/>
          </a:p>
          <a:p>
            <a:r>
              <a:rPr lang="en-US" altLang="zh-CN" sz="1600" dirty="0"/>
              <a:t>    I2=</a:t>
            </a:r>
            <a:r>
              <a:rPr lang="en-US" altLang="zh-CN" sz="1600" dirty="0" err="1"/>
              <a:t>dt</a:t>
            </a:r>
            <a:r>
              <a:rPr lang="en-US" altLang="zh-CN" sz="1600" dirty="0"/>
              <a:t>['</a:t>
            </a:r>
            <a:r>
              <a:rPr lang="en-US" altLang="zh-CN" sz="1600" dirty="0" err="1"/>
              <a:t>Trddt</a:t>
            </a:r>
            <a:r>
              <a:rPr lang="en-US" altLang="zh-CN" sz="1600" dirty="0"/>
              <a:t>'].values&lt;='2015-12-31'</a:t>
            </a:r>
            <a:endParaRPr lang="en-US" altLang="zh-CN" sz="1600" dirty="0"/>
          </a:p>
          <a:p>
            <a:r>
              <a:rPr lang="en-US" altLang="zh-CN" sz="1600" dirty="0" err="1"/>
              <a:t>dtt</a:t>
            </a:r>
            <a:r>
              <a:rPr lang="en-US" altLang="zh-CN" sz="1600" dirty="0"/>
              <a:t>=</a:t>
            </a:r>
            <a:r>
              <a:rPr lang="en-US" altLang="zh-CN" sz="1600" dirty="0" err="1"/>
              <a:t>dt.iloc</a:t>
            </a:r>
            <a:r>
              <a:rPr lang="en-US" altLang="zh-CN" sz="1600" dirty="0"/>
              <a:t>[I1&amp;I2,:].</a:t>
            </a:r>
            <a:r>
              <a:rPr lang="en-US" altLang="zh-CN" sz="1600" dirty="0" err="1"/>
              <a:t>sort_values</a:t>
            </a:r>
            <a:r>
              <a:rPr lang="en-US" altLang="zh-CN" sz="1600" dirty="0"/>
              <a:t>('</a:t>
            </a:r>
            <a:r>
              <a:rPr lang="en-US" altLang="zh-CN" sz="1600" dirty="0" err="1"/>
              <a:t>Trddt</a:t>
            </a:r>
            <a:r>
              <a:rPr lang="en-US" altLang="zh-CN" sz="1600" dirty="0"/>
              <a:t>')</a:t>
            </a:r>
            <a:endParaRPr lang="en-US" altLang="zh-CN" sz="1600" dirty="0"/>
          </a:p>
          <a:p>
            <a:r>
              <a:rPr lang="en-US" altLang="zh-CN" sz="1600" dirty="0"/>
              <a:t>#</a:t>
            </a:r>
            <a:r>
              <a:rPr lang="zh-CN" altLang="en-US" sz="1600" dirty="0"/>
              <a:t>数据是否为空条件判断</a:t>
            </a:r>
            <a:endParaRPr lang="zh-CN" altLang="en-US" sz="1600" dirty="0"/>
          </a:p>
          <a:p>
            <a:r>
              <a:rPr lang="en-US" altLang="zh-CN" sz="1600" dirty="0"/>
              <a:t>if </a:t>
            </a:r>
            <a:r>
              <a:rPr lang="en-US" altLang="zh-CN" sz="1600" dirty="0" err="1"/>
              <a:t>len</a:t>
            </a:r>
            <a:r>
              <a:rPr lang="en-US" altLang="zh-CN" sz="1600" dirty="0"/>
              <a:t>(</a:t>
            </a:r>
            <a:r>
              <a:rPr lang="en-US" altLang="zh-CN" sz="1600" dirty="0" err="1"/>
              <a:t>dtt</a:t>
            </a:r>
            <a:r>
              <a:rPr lang="en-US" altLang="zh-CN" sz="1600" dirty="0"/>
              <a:t>)&gt;1:</a:t>
            </a:r>
            <a:endParaRPr lang="en-US" altLang="zh-CN" sz="1600" dirty="0"/>
          </a:p>
          <a:p>
            <a:r>
              <a:rPr lang="en-US" altLang="zh-CN" sz="1600" dirty="0"/>
              <a:t>    #</a:t>
            </a:r>
            <a:r>
              <a:rPr lang="zh-CN" altLang="en-US" sz="1600" dirty="0"/>
              <a:t>获取排名第</a:t>
            </a:r>
            <a:r>
              <a:rPr lang="en-US" altLang="zh-CN" sz="1600" dirty="0"/>
              <a:t>i</a:t>
            </a:r>
            <a:r>
              <a:rPr lang="zh-CN" altLang="en-US" sz="1600" dirty="0"/>
              <a:t>个股票代码的</a:t>
            </a:r>
            <a:endParaRPr lang="zh-CN" altLang="en-US" sz="1600" dirty="0"/>
          </a:p>
          <a:p>
            <a:r>
              <a:rPr lang="en-US" altLang="zh-CN" sz="1600" dirty="0"/>
              <a:t>#</a:t>
            </a:r>
            <a:r>
              <a:rPr lang="zh-CN" altLang="en-US" sz="1600" dirty="0"/>
              <a:t>首个和最后一个交易日的考虑现金红利再投资的收盘价可比价</a:t>
            </a:r>
            <a:endParaRPr lang="zh-CN" altLang="en-US" sz="1600" dirty="0"/>
          </a:p>
          <a:p>
            <a:r>
              <a:rPr lang="zh-CN" altLang="en-US" sz="1600" dirty="0"/>
              <a:t>        </a:t>
            </a:r>
            <a:r>
              <a:rPr lang="en-US" altLang="zh-CN" sz="1600" dirty="0"/>
              <a:t>p1=</a:t>
            </a:r>
            <a:r>
              <a:rPr lang="en-US" altLang="zh-CN" sz="1600" dirty="0" err="1"/>
              <a:t>dtt.iloc</a:t>
            </a:r>
            <a:r>
              <a:rPr lang="en-US" altLang="zh-CN" sz="1600" dirty="0"/>
              <a:t>[0,3]</a:t>
            </a:r>
            <a:endParaRPr lang="en-US" altLang="zh-CN" sz="1600" dirty="0"/>
          </a:p>
          <a:p>
            <a:r>
              <a:rPr lang="en-US" altLang="zh-CN" sz="1600" dirty="0"/>
              <a:t>        p2=</a:t>
            </a:r>
            <a:r>
              <a:rPr lang="en-US" altLang="zh-CN" sz="1600" dirty="0" err="1"/>
              <a:t>dtt.iloc</a:t>
            </a:r>
            <a:r>
              <a:rPr lang="en-US" altLang="zh-CN" sz="1600" dirty="0"/>
              <a:t>[</a:t>
            </a:r>
            <a:r>
              <a:rPr lang="en-US" altLang="zh-CN" sz="1600" dirty="0" err="1"/>
              <a:t>len</a:t>
            </a:r>
            <a:r>
              <a:rPr lang="en-US" altLang="zh-CN" sz="1600" dirty="0"/>
              <a:t>(</a:t>
            </a:r>
            <a:r>
              <a:rPr lang="en-US" altLang="zh-CN" sz="1600" dirty="0" err="1"/>
              <a:t>dtt</a:t>
            </a:r>
            <a:r>
              <a:rPr lang="en-US" altLang="zh-CN" sz="1600" dirty="0"/>
              <a:t>)-1,3]</a:t>
            </a:r>
            <a:endParaRPr lang="en-US" altLang="zh-CN" sz="1600" dirty="0"/>
          </a:p>
          <a:p>
            <a:r>
              <a:rPr lang="en-US" altLang="zh-CN" sz="1600" dirty="0"/>
              <a:t>        #</a:t>
            </a:r>
            <a:r>
              <a:rPr lang="zh-CN" altLang="en-US" sz="1600" dirty="0"/>
              <a:t>计算排名第</a:t>
            </a:r>
            <a:r>
              <a:rPr lang="en-US" altLang="zh-CN" sz="1600" dirty="0"/>
              <a:t>i</a:t>
            </a:r>
            <a:r>
              <a:rPr lang="zh-CN" altLang="en-US" sz="1600" dirty="0"/>
              <a:t>个股票代码的收益率</a:t>
            </a:r>
            <a:endParaRPr lang="zh-CN" altLang="en-US" sz="1600" dirty="0"/>
          </a:p>
          <a:p>
            <a:r>
              <a:rPr lang="zh-CN" altLang="en-US" sz="1600" dirty="0"/>
              <a:t>        </a:t>
            </a:r>
            <a:r>
              <a:rPr lang="en-US" altLang="zh-CN" sz="1600" dirty="0" err="1"/>
              <a:t>r_list.append</a:t>
            </a:r>
            <a:r>
              <a:rPr lang="en-US" altLang="zh-CN" sz="1600" dirty="0"/>
              <a:t>((p2-p1)/p1)</a:t>
            </a:r>
            <a:endParaRPr lang="en-US" altLang="zh-CN" sz="1600" dirty="0"/>
          </a:p>
          <a:p>
            <a:r>
              <a:rPr lang="en-US" altLang="zh-CN" sz="1600" dirty="0" err="1"/>
              <a:t>r_total</a:t>
            </a:r>
            <a:r>
              <a:rPr lang="en-US" altLang="zh-CN" sz="1600" dirty="0"/>
              <a:t>=sum(</a:t>
            </a:r>
            <a:r>
              <a:rPr lang="en-US" altLang="zh-CN" sz="1600" dirty="0" err="1"/>
              <a:t>r_list</a:t>
            </a:r>
            <a:r>
              <a:rPr lang="en-US" altLang="zh-CN" sz="1600" dirty="0"/>
              <a:t>)  #</a:t>
            </a:r>
            <a:r>
              <a:rPr lang="zh-CN" altLang="en-US" sz="1600" dirty="0"/>
              <a:t>总收益率</a:t>
            </a:r>
            <a:endParaRPr lang="zh-CN" altLang="en-US" sz="1600" dirty="0"/>
          </a:p>
          <a:p>
            <a:r>
              <a:rPr lang="zh-CN" altLang="en-US" sz="1600" dirty="0"/>
              <a:t>最终获得投资组合的每个股票代码收益率列表如下图</a:t>
            </a:r>
            <a:r>
              <a:rPr lang="en-US" altLang="zh-CN" sz="1600" dirty="0"/>
              <a:t>8-4</a:t>
            </a:r>
            <a:r>
              <a:rPr lang="zh-CN" altLang="en-US" sz="1600" dirty="0"/>
              <a:t>所示。</a:t>
            </a:r>
            <a:endParaRPr lang="zh-CN" altLang="en-US" sz="1600"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90469" y="1484784"/>
            <a:ext cx="4645025"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8978701" y="993268"/>
            <a:ext cx="748923" cy="369332"/>
          </a:xfrm>
          <a:prstGeom prst="rect">
            <a:avLst/>
          </a:prstGeom>
        </p:spPr>
        <p:txBody>
          <a:bodyPr wrap="none">
            <a:spAutoFit/>
          </a:bodyPr>
          <a:lstStyle/>
          <a:p>
            <a:r>
              <a:rPr lang="zh-CN" altLang="en-US" dirty="0"/>
              <a:t>图</a:t>
            </a:r>
            <a:r>
              <a:rPr lang="en-US" altLang="zh-CN" dirty="0"/>
              <a:t>8-4</a:t>
            </a:r>
            <a:endParaRPr lang="zh-CN" altLang="en-US" dirty="0"/>
          </a:p>
        </p:txBody>
      </p:sp>
      <p:sp>
        <p:nvSpPr>
          <p:cNvPr id="5" name="矩形 4"/>
          <p:cNvSpPr/>
          <p:nvPr/>
        </p:nvSpPr>
        <p:spPr>
          <a:xfrm>
            <a:off x="6804712" y="5589240"/>
            <a:ext cx="4251485" cy="369332"/>
          </a:xfrm>
          <a:prstGeom prst="rect">
            <a:avLst/>
          </a:prstGeom>
        </p:spPr>
        <p:txBody>
          <a:bodyPr wrap="none">
            <a:spAutoFit/>
          </a:bodyPr>
          <a:lstStyle/>
          <a:p>
            <a:r>
              <a:rPr lang="zh-CN" altLang="en-US" sz="1600" dirty="0"/>
              <a:t>总的收益率为：</a:t>
            </a:r>
            <a:r>
              <a:rPr lang="en-US" altLang="zh-CN" sz="1600" dirty="0" err="1"/>
              <a:t>r_total</a:t>
            </a:r>
            <a:r>
              <a:rPr lang="en-US" altLang="zh-CN" sz="1600" dirty="0"/>
              <a:t>= 0.0563208822523</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73616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8.4.6 </a:t>
            </a:r>
            <a:r>
              <a:rPr lang="zh-CN" altLang="en-US" sz="2800" dirty="0">
                <a:solidFill>
                  <a:schemeClr val="accent2"/>
                </a:solidFill>
                <a:latin typeface="微软雅黑" panose="020B0503020204020204" pitchFamily="34" charset="-122"/>
                <a:ea typeface="微软雅黑" panose="020B0503020204020204" pitchFamily="34" charset="-122"/>
              </a:rPr>
              <a:t>量化投资策略设计与分析</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8</a:t>
            </a:r>
            <a:endParaRPr lang="zh-CN" altLang="en-US" dirty="0">
              <a:solidFill>
                <a:schemeClr val="accent2"/>
              </a:solidFill>
            </a:endParaRPr>
          </a:p>
        </p:txBody>
      </p:sp>
      <p:graphicFrame>
        <p:nvGraphicFramePr>
          <p:cNvPr id="3" name="图示 2"/>
          <p:cNvGraphicFramePr/>
          <p:nvPr/>
        </p:nvGraphicFramePr>
        <p:xfrm>
          <a:off x="985813" y="1196752"/>
          <a:ext cx="10225136" cy="453650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1601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8.4.6 </a:t>
            </a:r>
            <a:r>
              <a:rPr lang="zh-CN" altLang="en-US" sz="2800" dirty="0">
                <a:solidFill>
                  <a:schemeClr val="accent2"/>
                </a:solidFill>
                <a:latin typeface="微软雅黑" panose="020B0503020204020204" pitchFamily="34" charset="-122"/>
                <a:ea typeface="微软雅黑" panose="020B0503020204020204" pitchFamily="34" charset="-122"/>
              </a:rPr>
              <a:t>量化投资策略设计与分析</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8</a:t>
            </a:r>
            <a:endParaRPr lang="zh-CN" altLang="en-US" dirty="0">
              <a:solidFill>
                <a:schemeClr val="accent2"/>
              </a:solidFill>
            </a:endParaRPr>
          </a:p>
        </p:txBody>
      </p:sp>
      <p:sp>
        <p:nvSpPr>
          <p:cNvPr id="11" name="矩形 10"/>
          <p:cNvSpPr/>
          <p:nvPr/>
        </p:nvSpPr>
        <p:spPr>
          <a:xfrm>
            <a:off x="140264" y="692696"/>
            <a:ext cx="5454062" cy="6494085"/>
          </a:xfrm>
          <a:prstGeom prst="rect">
            <a:avLst/>
          </a:prstGeom>
        </p:spPr>
        <p:txBody>
          <a:bodyPr wrap="square">
            <a:spAutoFit/>
          </a:bodyPr>
          <a:lstStyle/>
          <a:p>
            <a:r>
              <a:rPr lang="en-US" altLang="zh-CN" b="1" dirty="0"/>
              <a:t>ffun.py</a:t>
            </a:r>
            <a:endParaRPr lang="en-US" altLang="zh-CN" b="1" dirty="0"/>
          </a:p>
          <a:p>
            <a:r>
              <a:rPr lang="en-US" altLang="zh-CN" sz="1600" dirty="0" err="1" smtClean="0"/>
              <a:t>def</a:t>
            </a:r>
            <a:r>
              <a:rPr lang="en-US" altLang="zh-CN" sz="1600" dirty="0" smtClean="0"/>
              <a:t> </a:t>
            </a:r>
            <a:r>
              <a:rPr lang="en-US" altLang="zh-CN" sz="1600" dirty="0"/>
              <a:t>Fr2(</a:t>
            </a:r>
            <a:r>
              <a:rPr lang="en-US" altLang="zh-CN" sz="1600" dirty="0" err="1"/>
              <a:t>data,year</a:t>
            </a:r>
            <a:r>
              <a:rPr lang="en-US" altLang="zh-CN" sz="1600" dirty="0"/>
              <a:t>):</a:t>
            </a:r>
            <a:endParaRPr lang="en-US" altLang="zh-CN" sz="1600" dirty="0"/>
          </a:p>
          <a:p>
            <a:r>
              <a:rPr lang="en-US" altLang="zh-CN" sz="1600" dirty="0"/>
              <a:t>    #</a:t>
            </a:r>
            <a:r>
              <a:rPr lang="zh-CN" altLang="en-US" sz="1600" dirty="0"/>
              <a:t>输入：</a:t>
            </a:r>
            <a:endParaRPr lang="zh-CN" altLang="en-US" sz="1600" dirty="0"/>
          </a:p>
          <a:p>
            <a:r>
              <a:rPr lang="zh-CN" altLang="en-US" sz="1600" dirty="0"/>
              <a:t>    </a:t>
            </a:r>
            <a:r>
              <a:rPr lang="en-US" altLang="zh-CN" sz="1600" dirty="0"/>
              <a:t>#data--</a:t>
            </a:r>
            <a:r>
              <a:rPr lang="zh-CN" altLang="en-US" sz="1600" dirty="0"/>
              <a:t>财务指标数据</a:t>
            </a:r>
            <a:endParaRPr lang="zh-CN" altLang="en-US" sz="1600" dirty="0"/>
          </a:p>
          <a:p>
            <a:r>
              <a:rPr lang="zh-CN" altLang="en-US" sz="1600" dirty="0"/>
              <a:t>    </a:t>
            </a:r>
            <a:r>
              <a:rPr lang="en-US" altLang="zh-CN" sz="1600" dirty="0"/>
              <a:t>#year--</a:t>
            </a:r>
            <a:r>
              <a:rPr lang="zh-CN" altLang="en-US" sz="1600" dirty="0"/>
              <a:t>排名年度</a:t>
            </a:r>
            <a:endParaRPr lang="zh-CN" altLang="en-US" sz="1600" dirty="0"/>
          </a:p>
          <a:p>
            <a:r>
              <a:rPr lang="zh-CN" altLang="en-US" sz="1600" dirty="0"/>
              <a:t>    </a:t>
            </a:r>
            <a:r>
              <a:rPr lang="en-US" altLang="zh-CN" sz="1600" dirty="0"/>
              <a:t>#</a:t>
            </a:r>
            <a:r>
              <a:rPr lang="zh-CN" altLang="en-US" sz="1600" dirty="0"/>
              <a:t>输出：</a:t>
            </a:r>
            <a:endParaRPr lang="zh-CN" altLang="en-US" sz="1600" dirty="0"/>
          </a:p>
          <a:p>
            <a:r>
              <a:rPr lang="zh-CN" altLang="en-US" sz="1600" dirty="0"/>
              <a:t>    </a:t>
            </a:r>
            <a:r>
              <a:rPr lang="en-US" altLang="zh-CN" sz="1600" dirty="0"/>
              <a:t>#Fscore1--</a:t>
            </a:r>
            <a:r>
              <a:rPr lang="zh-CN" altLang="en-US" sz="1600" dirty="0"/>
              <a:t>排名结果（股票代码形式）</a:t>
            </a:r>
            <a:endParaRPr lang="zh-CN" altLang="en-US" sz="1600" dirty="0"/>
          </a:p>
          <a:p>
            <a:r>
              <a:rPr lang="zh-CN" altLang="en-US" sz="1600" dirty="0"/>
              <a:t>    </a:t>
            </a:r>
            <a:r>
              <a:rPr lang="en-US" altLang="zh-CN" sz="1600" dirty="0"/>
              <a:t>#Fscore2--</a:t>
            </a:r>
            <a:r>
              <a:rPr lang="zh-CN" altLang="en-US" sz="1600" dirty="0"/>
              <a:t>排名结果（股票名称形式）</a:t>
            </a:r>
            <a:endParaRPr lang="zh-CN" altLang="en-US" sz="1600" dirty="0"/>
          </a:p>
          <a:p>
            <a:r>
              <a:rPr lang="zh-CN" altLang="en-US" sz="1600" dirty="0"/>
              <a:t>    </a:t>
            </a:r>
            <a:r>
              <a:rPr lang="en-US" altLang="zh-CN" sz="1600" dirty="0"/>
              <a:t>import pandas as </a:t>
            </a:r>
            <a:r>
              <a:rPr lang="en-US" altLang="zh-CN" sz="1600" dirty="0" err="1"/>
              <a:t>pd</a:t>
            </a:r>
            <a:endParaRPr lang="en-US" altLang="zh-CN" sz="1600" dirty="0"/>
          </a:p>
          <a:p>
            <a:r>
              <a:rPr lang="en-US" altLang="zh-CN" sz="1600" dirty="0"/>
              <a:t>    import </a:t>
            </a:r>
            <a:r>
              <a:rPr lang="en-US" altLang="zh-CN" sz="1600" dirty="0" err="1"/>
              <a:t>numpy</a:t>
            </a:r>
            <a:r>
              <a:rPr lang="en-US" altLang="zh-CN" sz="1600" dirty="0"/>
              <a:t> as </a:t>
            </a:r>
            <a:r>
              <a:rPr lang="en-US" altLang="zh-CN" sz="1600" dirty="0" err="1"/>
              <a:t>np</a:t>
            </a:r>
            <a:endParaRPr lang="en-US" altLang="zh-CN" sz="1600" dirty="0"/>
          </a:p>
          <a:p>
            <a:r>
              <a:rPr lang="en-US" altLang="zh-CN" sz="1600" dirty="0"/>
              <a:t>    data2=</a:t>
            </a:r>
            <a:r>
              <a:rPr lang="en-US" altLang="zh-CN" sz="1600" dirty="0" err="1"/>
              <a:t>data.iloc</a:t>
            </a:r>
            <a:r>
              <a:rPr lang="en-US" altLang="zh-CN" sz="1600" dirty="0"/>
              <a:t>[data['</a:t>
            </a:r>
            <a:r>
              <a:rPr lang="en-US" altLang="zh-CN" sz="1600" dirty="0" err="1"/>
              <a:t>Accper</a:t>
            </a:r>
            <a:r>
              <a:rPr lang="en-US" altLang="zh-CN" sz="1600" dirty="0"/>
              <a:t>'].values=='2014-12-31',[0,2,3,4,5,6,7,8,9]]</a:t>
            </a:r>
            <a:endParaRPr lang="en-US" altLang="zh-CN" sz="1600" dirty="0"/>
          </a:p>
          <a:p>
            <a:r>
              <a:rPr lang="en-US" altLang="zh-CN" sz="1600" dirty="0"/>
              <a:t>    da=data2.as_matrix()</a:t>
            </a:r>
            <a:endParaRPr lang="en-US" altLang="zh-CN" sz="1600" dirty="0"/>
          </a:p>
          <a:p>
            <a:r>
              <a:rPr lang="en-US" altLang="zh-CN" sz="1600" dirty="0"/>
              <a:t>    da=da[(da[:,8]&lt;4)&amp;(da[:,8]&gt;-4),:]</a:t>
            </a:r>
            <a:endParaRPr lang="en-US" altLang="zh-CN" sz="1600" dirty="0"/>
          </a:p>
          <a:p>
            <a:r>
              <a:rPr lang="en-US" altLang="zh-CN" sz="1600" dirty="0"/>
              <a:t>    da[:,8]=1-(da[:,8]-min(da[:,8]))/(max(da[:,8])-min(da[:,8]))</a:t>
            </a:r>
            <a:endParaRPr lang="en-US" altLang="zh-CN" sz="1600" dirty="0"/>
          </a:p>
          <a:p>
            <a:r>
              <a:rPr lang="en-US" altLang="zh-CN" sz="1600" dirty="0"/>
              <a:t>    for i in </a:t>
            </a:r>
            <a:r>
              <a:rPr lang="en-US" altLang="zh-CN" sz="1600" dirty="0" err="1"/>
              <a:t>np.arange</a:t>
            </a:r>
            <a:r>
              <a:rPr lang="en-US" altLang="zh-CN" sz="1600" dirty="0"/>
              <a:t>(1,8):</a:t>
            </a:r>
            <a:endParaRPr lang="en-US" altLang="zh-CN" sz="1600" dirty="0"/>
          </a:p>
          <a:p>
            <a:r>
              <a:rPr lang="en-US" altLang="zh-CN" sz="1600" dirty="0"/>
              <a:t>        da=da[da[:,i]&gt;0,:]</a:t>
            </a:r>
            <a:endParaRPr lang="en-US" altLang="zh-CN" sz="1600" dirty="0"/>
          </a:p>
          <a:p>
            <a:r>
              <a:rPr lang="en-US" altLang="zh-CN" sz="1600" dirty="0"/>
              <a:t>        da=da[da[:,i]&lt;8*</a:t>
            </a:r>
            <a:r>
              <a:rPr lang="en-US" altLang="zh-CN" sz="1600" dirty="0" err="1"/>
              <a:t>np.mean</a:t>
            </a:r>
            <a:r>
              <a:rPr lang="en-US" altLang="zh-CN" sz="1600" dirty="0"/>
              <a:t>(da[:,i]),:]</a:t>
            </a:r>
            <a:endParaRPr lang="en-US" altLang="zh-CN" sz="1600" dirty="0"/>
          </a:p>
          <a:p>
            <a:r>
              <a:rPr lang="en-US" altLang="zh-CN" sz="1600" dirty="0"/>
              <a:t>    da=da[da[:,6]&gt;=0.06,:]</a:t>
            </a:r>
            <a:endParaRPr lang="en-US" altLang="zh-CN" sz="1600" dirty="0"/>
          </a:p>
          <a:p>
            <a:r>
              <a:rPr lang="en-US" altLang="zh-CN" sz="1600" dirty="0"/>
              <a:t>    from </a:t>
            </a:r>
            <a:r>
              <a:rPr lang="en-US" altLang="zh-CN" sz="1600" dirty="0" err="1"/>
              <a:t>sklearn.preprocessing</a:t>
            </a:r>
            <a:r>
              <a:rPr lang="en-US" altLang="zh-CN" sz="1600" dirty="0"/>
              <a:t> import </a:t>
            </a:r>
            <a:r>
              <a:rPr lang="en-US" altLang="zh-CN" sz="1600" dirty="0" err="1"/>
              <a:t>MinMaxScaler</a:t>
            </a:r>
            <a:r>
              <a:rPr lang="en-US" altLang="zh-CN" sz="1600" dirty="0"/>
              <a:t> </a:t>
            </a:r>
            <a:endParaRPr lang="en-US" altLang="zh-CN" sz="1600" dirty="0"/>
          </a:p>
          <a:p>
            <a:r>
              <a:rPr lang="en-US" altLang="zh-CN" sz="1600" dirty="0"/>
              <a:t>    X=da[:,1</a:t>
            </a:r>
            <a:r>
              <a:rPr lang="en-US" altLang="zh-CN" sz="1600" dirty="0" smtClean="0"/>
              <a:t>:]</a:t>
            </a:r>
            <a:endParaRPr lang="en-US" altLang="zh-CN" sz="1600" dirty="0" smtClean="0"/>
          </a:p>
          <a:p>
            <a:r>
              <a:rPr lang="en-US" altLang="zh-CN" sz="1600" dirty="0" err="1"/>
              <a:t>scaler</a:t>
            </a:r>
            <a:r>
              <a:rPr lang="en-US" altLang="zh-CN" sz="1600" dirty="0"/>
              <a:t> = </a:t>
            </a:r>
            <a:r>
              <a:rPr lang="en-US" altLang="zh-CN" sz="1600" dirty="0" err="1"/>
              <a:t>MinMaxScaler</a:t>
            </a:r>
            <a:r>
              <a:rPr lang="en-US" altLang="zh-CN" sz="1600" dirty="0"/>
              <a:t>()</a:t>
            </a:r>
            <a:endParaRPr lang="en-US" altLang="zh-CN" sz="1600" dirty="0"/>
          </a:p>
          <a:p>
            <a:r>
              <a:rPr lang="en-US" altLang="zh-CN" sz="1600" dirty="0"/>
              <a:t>    </a:t>
            </a:r>
            <a:r>
              <a:rPr lang="en-US" altLang="zh-CN" sz="1600" dirty="0" err="1"/>
              <a:t>scaler.fit</a:t>
            </a:r>
            <a:r>
              <a:rPr lang="en-US" altLang="zh-CN" sz="1600" dirty="0"/>
              <a:t>(X) </a:t>
            </a:r>
            <a:endParaRPr lang="en-US" altLang="zh-CN" sz="1600" dirty="0"/>
          </a:p>
          <a:p>
            <a:r>
              <a:rPr lang="en-US" altLang="zh-CN" sz="1600" dirty="0"/>
              <a:t>    X=</a:t>
            </a:r>
            <a:r>
              <a:rPr lang="en-US" altLang="zh-CN" sz="1600" dirty="0" err="1"/>
              <a:t>scaler.transform</a:t>
            </a:r>
            <a:r>
              <a:rPr lang="en-US" altLang="zh-CN" sz="1600" dirty="0"/>
              <a:t>(X) </a:t>
            </a:r>
            <a:endParaRPr lang="en-US" altLang="zh-CN" sz="1600" dirty="0"/>
          </a:p>
          <a:p>
            <a:r>
              <a:rPr lang="en-US" altLang="zh-CN" sz="1600" dirty="0"/>
              <a:t>    X[:,2]=1-X[:,2]</a:t>
            </a:r>
            <a:endParaRPr lang="en-US" altLang="zh-CN" sz="1600" dirty="0"/>
          </a:p>
          <a:p>
            <a:r>
              <a:rPr lang="en-US" altLang="zh-CN" sz="1600" dirty="0"/>
              <a:t>    </a:t>
            </a:r>
            <a:endParaRPr lang="en-US" altLang="zh-CN" sz="1600" dirty="0"/>
          </a:p>
        </p:txBody>
      </p:sp>
      <p:sp>
        <p:nvSpPr>
          <p:cNvPr id="12" name="矩形 11"/>
          <p:cNvSpPr/>
          <p:nvPr/>
        </p:nvSpPr>
        <p:spPr>
          <a:xfrm>
            <a:off x="5910816" y="642310"/>
            <a:ext cx="6096000" cy="6494085"/>
          </a:xfrm>
          <a:prstGeom prst="rect">
            <a:avLst/>
          </a:prstGeom>
        </p:spPr>
        <p:txBody>
          <a:bodyPr>
            <a:spAutoFit/>
          </a:bodyPr>
          <a:lstStyle/>
          <a:p>
            <a:r>
              <a:rPr lang="fr-FR" altLang="zh-CN" sz="1600" dirty="0"/>
              <a:t>scaler.fit(X) </a:t>
            </a:r>
            <a:endParaRPr lang="fr-FR" altLang="zh-CN" sz="1600" dirty="0"/>
          </a:p>
          <a:p>
            <a:r>
              <a:rPr lang="fr-FR" altLang="zh-CN" sz="1600" dirty="0"/>
              <a:t>    X=scaler.transform(X) </a:t>
            </a:r>
            <a:endParaRPr lang="fr-FR" altLang="zh-CN" sz="1600" dirty="0"/>
          </a:p>
          <a:p>
            <a:r>
              <a:rPr lang="fr-FR" altLang="zh-CN" sz="1600" dirty="0"/>
              <a:t>    X[:,2]=1-X[:,2</a:t>
            </a:r>
            <a:r>
              <a:rPr lang="fr-FR" altLang="zh-CN" sz="1600" dirty="0" smtClean="0"/>
              <a:t>]</a:t>
            </a:r>
            <a:endParaRPr lang="en-US" altLang="zh-CN" sz="1600" dirty="0" smtClean="0"/>
          </a:p>
          <a:p>
            <a:r>
              <a:rPr lang="en-US" altLang="zh-CN" sz="1600" dirty="0" smtClean="0"/>
              <a:t>X</a:t>
            </a:r>
            <a:r>
              <a:rPr lang="en-US" altLang="zh-CN" sz="1600" dirty="0"/>
              <a:t>[:,3]=1-X[:,3</a:t>
            </a:r>
            <a:r>
              <a:rPr lang="en-US" altLang="zh-CN" sz="1600" dirty="0" smtClean="0"/>
              <a:t>]</a:t>
            </a:r>
            <a:endParaRPr lang="en-US" altLang="zh-CN" sz="1600" dirty="0" smtClean="0"/>
          </a:p>
          <a:p>
            <a:r>
              <a:rPr lang="en-US" altLang="zh-CN" sz="1600" dirty="0" smtClean="0"/>
              <a:t>X</a:t>
            </a:r>
            <a:r>
              <a:rPr lang="en-US" altLang="zh-CN" sz="1600" dirty="0"/>
              <a:t>[:,4]=1-X[:,4]</a:t>
            </a:r>
            <a:endParaRPr lang="en-US" altLang="zh-CN" sz="1600" dirty="0"/>
          </a:p>
          <a:p>
            <a:r>
              <a:rPr lang="en-US" altLang="zh-CN" sz="1600" dirty="0"/>
              <a:t>    from </a:t>
            </a:r>
            <a:r>
              <a:rPr lang="en-US" altLang="zh-CN" sz="1600" dirty="0" err="1"/>
              <a:t>sklearn.decomposition</a:t>
            </a:r>
            <a:r>
              <a:rPr lang="en-US" altLang="zh-CN" sz="1600" dirty="0"/>
              <a:t> import PCA  </a:t>
            </a:r>
            <a:endParaRPr lang="en-US" altLang="zh-CN" sz="1600" dirty="0"/>
          </a:p>
          <a:p>
            <a:r>
              <a:rPr lang="en-US" altLang="zh-CN" sz="1600" dirty="0"/>
              <a:t>    </a:t>
            </a:r>
            <a:r>
              <a:rPr lang="en-US" altLang="zh-CN" sz="1600" dirty="0" err="1"/>
              <a:t>pca</a:t>
            </a:r>
            <a:r>
              <a:rPr lang="en-US" altLang="zh-CN" sz="1600" dirty="0"/>
              <a:t>=PCA(</a:t>
            </a:r>
            <a:r>
              <a:rPr lang="en-US" altLang="zh-CN" sz="1600" dirty="0" err="1"/>
              <a:t>n_components</a:t>
            </a:r>
            <a:r>
              <a:rPr lang="en-US" altLang="zh-CN" sz="1600" dirty="0"/>
              <a:t>=0.95)      #</a:t>
            </a:r>
            <a:r>
              <a:rPr lang="zh-CN" altLang="en-US" sz="1600" dirty="0"/>
              <a:t>累计贡献率为</a:t>
            </a:r>
            <a:r>
              <a:rPr lang="en-US" altLang="zh-CN" sz="1600" dirty="0"/>
              <a:t>95%</a:t>
            </a:r>
            <a:endParaRPr lang="en-US" altLang="zh-CN" sz="1600" dirty="0"/>
          </a:p>
          <a:p>
            <a:r>
              <a:rPr lang="en-US" altLang="zh-CN" sz="1600" dirty="0"/>
              <a:t>    Y=</a:t>
            </a:r>
            <a:r>
              <a:rPr lang="en-US" altLang="zh-CN" sz="1600" dirty="0" err="1"/>
              <a:t>pca.fit_transform</a:t>
            </a:r>
            <a:r>
              <a:rPr lang="en-US" altLang="zh-CN" sz="1600" dirty="0"/>
              <a:t>(X)           #</a:t>
            </a:r>
            <a:r>
              <a:rPr lang="zh-CN" altLang="en-US" sz="1600" dirty="0"/>
              <a:t>满足累计贡献率为</a:t>
            </a:r>
            <a:r>
              <a:rPr lang="en-US" altLang="zh-CN" sz="1600" dirty="0"/>
              <a:t>95%</a:t>
            </a:r>
            <a:r>
              <a:rPr lang="zh-CN" altLang="en-US" sz="1600" dirty="0"/>
              <a:t>的主成分数据</a:t>
            </a:r>
            <a:endParaRPr lang="zh-CN" altLang="en-US" sz="1600" dirty="0"/>
          </a:p>
          <a:p>
            <a:r>
              <a:rPr lang="zh-CN" altLang="en-US" sz="1600" dirty="0"/>
              <a:t>    </a:t>
            </a:r>
            <a:r>
              <a:rPr lang="en-US" altLang="zh-CN" sz="1600" dirty="0" err="1"/>
              <a:t>gxl</a:t>
            </a:r>
            <a:r>
              <a:rPr lang="en-US" altLang="zh-CN" sz="1600" dirty="0"/>
              <a:t>=</a:t>
            </a:r>
            <a:r>
              <a:rPr lang="en-US" altLang="zh-CN" sz="1600" dirty="0" err="1"/>
              <a:t>pca.explained_variance_ratio</a:t>
            </a:r>
            <a:r>
              <a:rPr lang="en-US" altLang="zh-CN" sz="1600" dirty="0"/>
              <a:t>_ ##</a:t>
            </a:r>
            <a:r>
              <a:rPr lang="zh-CN" altLang="en-US" sz="1600" dirty="0"/>
              <a:t>贡献率</a:t>
            </a:r>
            <a:endParaRPr lang="zh-CN" altLang="en-US" sz="1600" dirty="0"/>
          </a:p>
          <a:p>
            <a:r>
              <a:rPr lang="zh-CN" altLang="en-US" sz="1600" dirty="0"/>
              <a:t>    </a:t>
            </a:r>
            <a:r>
              <a:rPr lang="en-US" altLang="zh-CN" sz="1600" dirty="0"/>
              <a:t>F=</a:t>
            </a:r>
            <a:r>
              <a:rPr lang="en-US" altLang="zh-CN" sz="1600" dirty="0" err="1"/>
              <a:t>np.zeros</a:t>
            </a:r>
            <a:r>
              <a:rPr lang="en-US" altLang="zh-CN" sz="1600" dirty="0"/>
              <a:t>((</a:t>
            </a:r>
            <a:r>
              <a:rPr lang="en-US" altLang="zh-CN" sz="1600" dirty="0" err="1"/>
              <a:t>len</a:t>
            </a:r>
            <a:r>
              <a:rPr lang="en-US" altLang="zh-CN" sz="1600" dirty="0"/>
              <a:t>(Y)))</a:t>
            </a:r>
            <a:endParaRPr lang="en-US" altLang="zh-CN" sz="1600" dirty="0"/>
          </a:p>
          <a:p>
            <a:r>
              <a:rPr lang="en-US" altLang="zh-CN" sz="1600" dirty="0"/>
              <a:t>    for i in range(</a:t>
            </a:r>
            <a:r>
              <a:rPr lang="en-US" altLang="zh-CN" sz="1600" dirty="0" err="1"/>
              <a:t>len</a:t>
            </a:r>
            <a:r>
              <a:rPr lang="en-US" altLang="zh-CN" sz="1600" dirty="0"/>
              <a:t>(</a:t>
            </a:r>
            <a:r>
              <a:rPr lang="en-US" altLang="zh-CN" sz="1600" dirty="0" err="1"/>
              <a:t>gxl</a:t>
            </a:r>
            <a:r>
              <a:rPr lang="en-US" altLang="zh-CN" sz="1600" dirty="0"/>
              <a:t>)):</a:t>
            </a:r>
            <a:endParaRPr lang="en-US" altLang="zh-CN" sz="1600" dirty="0"/>
          </a:p>
          <a:p>
            <a:r>
              <a:rPr lang="en-US" altLang="zh-CN" sz="1600" dirty="0"/>
              <a:t>        f=Y[:,i]*</a:t>
            </a:r>
            <a:r>
              <a:rPr lang="en-US" altLang="zh-CN" sz="1600" dirty="0" err="1"/>
              <a:t>gxl</a:t>
            </a:r>
            <a:r>
              <a:rPr lang="en-US" altLang="zh-CN" sz="1600" dirty="0"/>
              <a:t>[i]</a:t>
            </a:r>
            <a:endParaRPr lang="en-US" altLang="zh-CN" sz="1600" dirty="0"/>
          </a:p>
          <a:p>
            <a:r>
              <a:rPr lang="en-US" altLang="zh-CN" sz="1600" dirty="0"/>
              <a:t>        F=</a:t>
            </a:r>
            <a:r>
              <a:rPr lang="en-US" altLang="zh-CN" sz="1600" dirty="0" err="1"/>
              <a:t>F+f</a:t>
            </a:r>
            <a:endParaRPr lang="en-US" altLang="zh-CN" sz="1600" dirty="0"/>
          </a:p>
          <a:p>
            <a:r>
              <a:rPr lang="en-US" altLang="zh-CN" sz="1600" dirty="0"/>
              <a:t>    Fs1=</a:t>
            </a:r>
            <a:r>
              <a:rPr lang="en-US" altLang="zh-CN" sz="1600" dirty="0" err="1"/>
              <a:t>pd.Series</a:t>
            </a:r>
            <a:r>
              <a:rPr lang="en-US" altLang="zh-CN" sz="1600" dirty="0"/>
              <a:t>(</a:t>
            </a:r>
            <a:r>
              <a:rPr lang="en-US" altLang="zh-CN" sz="1600" dirty="0" err="1"/>
              <a:t>F,index</a:t>
            </a:r>
            <a:r>
              <a:rPr lang="en-US" altLang="zh-CN" sz="1600" dirty="0"/>
              <a:t>=da[:,0])</a:t>
            </a:r>
            <a:endParaRPr lang="en-US" altLang="zh-CN" sz="1600" dirty="0"/>
          </a:p>
          <a:p>
            <a:r>
              <a:rPr lang="en-US" altLang="zh-CN" sz="1600" dirty="0"/>
              <a:t>    Fscore1=Fs1.sort_values(ascending=False)   #</a:t>
            </a:r>
            <a:r>
              <a:rPr lang="zh-CN" altLang="en-US" sz="1600" dirty="0"/>
              <a:t>降序，</a:t>
            </a:r>
            <a:r>
              <a:rPr lang="en-US" altLang="zh-CN" sz="1600" dirty="0"/>
              <a:t>True</a:t>
            </a:r>
            <a:r>
              <a:rPr lang="zh-CN" altLang="en-US" sz="1600" dirty="0"/>
              <a:t>为升序</a:t>
            </a:r>
            <a:endParaRPr lang="zh-CN" altLang="en-US" sz="1600" dirty="0"/>
          </a:p>
          <a:p>
            <a:r>
              <a:rPr lang="zh-CN" altLang="en-US" sz="1600" dirty="0"/>
              <a:t>    </a:t>
            </a:r>
            <a:r>
              <a:rPr lang="en-US" altLang="zh-CN" sz="1600" dirty="0"/>
              <a:t>co=</a:t>
            </a:r>
            <a:r>
              <a:rPr lang="en-US" altLang="zh-CN" sz="1600" dirty="0" err="1"/>
              <a:t>pd.read_excel</a:t>
            </a:r>
            <a:r>
              <a:rPr lang="en-US" altLang="zh-CN" sz="1600" dirty="0"/>
              <a:t>('TRD_Co.xlsx')</a:t>
            </a:r>
            <a:endParaRPr lang="en-US" altLang="zh-CN" sz="1600" dirty="0"/>
          </a:p>
          <a:p>
            <a:r>
              <a:rPr lang="en-US" altLang="zh-CN" sz="1600" dirty="0"/>
              <a:t>    Co=</a:t>
            </a:r>
            <a:r>
              <a:rPr lang="en-US" altLang="zh-CN" sz="1600" dirty="0" err="1"/>
              <a:t>pd.Series</a:t>
            </a:r>
            <a:r>
              <a:rPr lang="en-US" altLang="zh-CN" sz="1600" dirty="0"/>
              <a:t>(co['</a:t>
            </a:r>
            <a:r>
              <a:rPr lang="en-US" altLang="zh-CN" sz="1600" dirty="0" err="1"/>
              <a:t>Stknme</a:t>
            </a:r>
            <a:r>
              <a:rPr lang="en-US" altLang="zh-CN" sz="1600" dirty="0"/>
              <a:t>'].</a:t>
            </a:r>
            <a:r>
              <a:rPr lang="en-US" altLang="zh-CN" sz="1600" dirty="0" err="1"/>
              <a:t>values,index</a:t>
            </a:r>
            <a:r>
              <a:rPr lang="en-US" altLang="zh-CN" sz="1600" dirty="0"/>
              <a:t>=co['</a:t>
            </a:r>
            <a:r>
              <a:rPr lang="en-US" altLang="zh-CN" sz="1600" dirty="0" err="1"/>
              <a:t>Stkcd</a:t>
            </a:r>
            <a:r>
              <a:rPr lang="en-US" altLang="zh-CN" sz="1600" dirty="0"/>
              <a:t>'].values)</a:t>
            </a:r>
            <a:endParaRPr lang="en-US" altLang="zh-CN" sz="1600" dirty="0"/>
          </a:p>
          <a:p>
            <a:r>
              <a:rPr lang="en-US" altLang="zh-CN" sz="1600" dirty="0"/>
              <a:t>    Co1=Co[da[:,0]]</a:t>
            </a:r>
            <a:endParaRPr lang="en-US" altLang="zh-CN" sz="1600" dirty="0"/>
          </a:p>
          <a:p>
            <a:r>
              <a:rPr lang="en-US" altLang="zh-CN" sz="1600" dirty="0"/>
              <a:t>    Fs2=</a:t>
            </a:r>
            <a:r>
              <a:rPr lang="en-US" altLang="zh-CN" sz="1600" dirty="0" err="1"/>
              <a:t>pd.Series</a:t>
            </a:r>
            <a:r>
              <a:rPr lang="en-US" altLang="zh-CN" sz="1600" dirty="0"/>
              <a:t>(</a:t>
            </a:r>
            <a:r>
              <a:rPr lang="en-US" altLang="zh-CN" sz="1600" dirty="0" err="1"/>
              <a:t>F,index</a:t>
            </a:r>
            <a:r>
              <a:rPr lang="en-US" altLang="zh-CN" sz="1600" dirty="0"/>
              <a:t>=Co1.values)</a:t>
            </a:r>
            <a:endParaRPr lang="en-US" altLang="zh-CN" sz="1600" dirty="0"/>
          </a:p>
          <a:p>
            <a:r>
              <a:rPr lang="en-US" altLang="zh-CN" sz="1600" dirty="0"/>
              <a:t>    Fscore2=Fs2.sort_values(ascending=False)   #</a:t>
            </a:r>
            <a:r>
              <a:rPr lang="zh-CN" altLang="en-US" sz="1600" dirty="0"/>
              <a:t>降序，</a:t>
            </a:r>
            <a:r>
              <a:rPr lang="en-US" altLang="zh-CN" sz="1600" dirty="0"/>
              <a:t>True</a:t>
            </a:r>
            <a:r>
              <a:rPr lang="zh-CN" altLang="en-US" sz="1600" dirty="0"/>
              <a:t>为升序</a:t>
            </a:r>
            <a:endParaRPr lang="zh-CN" altLang="en-US" sz="1600" dirty="0"/>
          </a:p>
          <a:p>
            <a:r>
              <a:rPr lang="en-US" altLang="zh-CN" sz="1600" dirty="0"/>
              <a:t>return(Fscore1,Fscore2)</a:t>
            </a:r>
            <a:endParaRPr lang="en-US" altLang="zh-CN" sz="1600" dirty="0"/>
          </a:p>
          <a:p>
            <a:r>
              <a:rPr lang="zh-CN" altLang="en-US" sz="1600" dirty="0"/>
              <a:t>该函数的输入参数与返回结果说明同</a:t>
            </a:r>
            <a:r>
              <a:rPr lang="en-US" altLang="zh-CN" sz="1600" dirty="0"/>
              <a:t>8.3.6.1</a:t>
            </a:r>
            <a:r>
              <a:rPr lang="zh-CN" altLang="en-US" sz="1600" dirty="0"/>
              <a:t>。</a:t>
            </a:r>
            <a:endParaRPr lang="zh-CN" altLang="en-US" sz="1600" dirty="0"/>
          </a:p>
        </p:txBody>
      </p:sp>
      <p:cxnSp>
        <p:nvCxnSpPr>
          <p:cNvPr id="14" name="直接连接符 13"/>
          <p:cNvCxnSpPr/>
          <p:nvPr/>
        </p:nvCxnSpPr>
        <p:spPr bwMode="auto">
          <a:xfrm>
            <a:off x="5594325" y="567839"/>
            <a:ext cx="72008" cy="629016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8.4.6 </a:t>
            </a:r>
            <a:r>
              <a:rPr lang="zh-CN" altLang="en-US" sz="2800" dirty="0">
                <a:solidFill>
                  <a:schemeClr val="accent2"/>
                </a:solidFill>
                <a:latin typeface="微软雅黑" panose="020B0503020204020204" pitchFamily="34" charset="-122"/>
                <a:ea typeface="微软雅黑" panose="020B0503020204020204" pitchFamily="34" charset="-122"/>
              </a:rPr>
              <a:t>量化投资策略设计与分析</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8</a:t>
            </a:r>
            <a:endParaRPr lang="zh-CN" altLang="en-US" dirty="0">
              <a:solidFill>
                <a:schemeClr val="accent2"/>
              </a:solidFill>
            </a:endParaRPr>
          </a:p>
        </p:txBody>
      </p:sp>
      <p:sp>
        <p:nvSpPr>
          <p:cNvPr id="2" name="矩形 1"/>
          <p:cNvSpPr/>
          <p:nvPr/>
        </p:nvSpPr>
        <p:spPr>
          <a:xfrm>
            <a:off x="140264" y="600019"/>
            <a:ext cx="5310045" cy="6340197"/>
          </a:xfrm>
          <a:prstGeom prst="rect">
            <a:avLst/>
          </a:prstGeom>
        </p:spPr>
        <p:txBody>
          <a:bodyPr wrap="square">
            <a:spAutoFit/>
          </a:bodyPr>
          <a:lstStyle/>
          <a:p>
            <a:r>
              <a:rPr lang="zh-CN" altLang="en-US" sz="1600" dirty="0"/>
              <a:t>收益率的计算函数仍然使用</a:t>
            </a:r>
            <a:r>
              <a:rPr lang="en-US" altLang="zh-CN" sz="1600" dirty="0"/>
              <a:t>8.3.6.2</a:t>
            </a:r>
            <a:r>
              <a:rPr lang="zh-CN" altLang="en-US" sz="1600" dirty="0"/>
              <a:t>定义的</a:t>
            </a:r>
            <a:r>
              <a:rPr lang="en-US" altLang="zh-CN" sz="1600" dirty="0"/>
              <a:t>Re</a:t>
            </a:r>
            <a:r>
              <a:rPr lang="zh-CN" altLang="en-US" sz="1600" dirty="0"/>
              <a:t>函数）：</a:t>
            </a:r>
            <a:endParaRPr lang="en-US" altLang="zh-CN" sz="1600" dirty="0" smtClean="0"/>
          </a:p>
          <a:p>
            <a:r>
              <a:rPr lang="en-US" altLang="zh-CN" sz="1600" dirty="0" smtClean="0"/>
              <a:t>import </a:t>
            </a:r>
            <a:r>
              <a:rPr lang="en-US" altLang="zh-CN" sz="1600" dirty="0"/>
              <a:t>pandas as </a:t>
            </a:r>
            <a:r>
              <a:rPr lang="en-US" altLang="zh-CN" sz="1600" dirty="0" err="1"/>
              <a:t>pd</a:t>
            </a:r>
            <a:endParaRPr lang="en-US" altLang="zh-CN" sz="1600" dirty="0"/>
          </a:p>
          <a:p>
            <a:r>
              <a:rPr lang="en-US" altLang="zh-CN" sz="1600" dirty="0"/>
              <a:t>import </a:t>
            </a:r>
            <a:r>
              <a:rPr lang="en-US" altLang="zh-CN" sz="1600" dirty="0" err="1"/>
              <a:t>ffun</a:t>
            </a:r>
            <a:endParaRPr lang="en-US" altLang="zh-CN" sz="1600" dirty="0"/>
          </a:p>
          <a:p>
            <a:r>
              <a:rPr lang="en-US" altLang="zh-CN" sz="1600" dirty="0"/>
              <a:t>import fun2</a:t>
            </a:r>
            <a:endParaRPr lang="en-US" altLang="zh-CN" sz="1600" dirty="0"/>
          </a:p>
          <a:p>
            <a:r>
              <a:rPr lang="en-US" altLang="zh-CN" sz="1600" dirty="0"/>
              <a:t>data=</a:t>
            </a:r>
            <a:r>
              <a:rPr lang="en-US" altLang="zh-CN" sz="1600" dirty="0" err="1"/>
              <a:t>pd.read_excel</a:t>
            </a:r>
            <a:r>
              <a:rPr lang="en-US" altLang="zh-CN" sz="1600" dirty="0"/>
              <a:t>('data1.xlsx')</a:t>
            </a:r>
            <a:endParaRPr lang="en-US" altLang="zh-CN" sz="1600" dirty="0"/>
          </a:p>
          <a:p>
            <a:r>
              <a:rPr lang="en-US" altLang="zh-CN" sz="1600" dirty="0"/>
              <a:t>r1=ffun.Fr2(data,2014)</a:t>
            </a:r>
            <a:endParaRPr lang="en-US" altLang="zh-CN" sz="1600" dirty="0"/>
          </a:p>
          <a:p>
            <a:r>
              <a:rPr lang="en-US" altLang="zh-CN" sz="1600" dirty="0"/>
              <a:t>Fscore1=r1[0]</a:t>
            </a:r>
            <a:endParaRPr lang="en-US" altLang="zh-CN" sz="1600" dirty="0"/>
          </a:p>
          <a:p>
            <a:r>
              <a:rPr lang="en-US" altLang="zh-CN" sz="1600" dirty="0"/>
              <a:t>Fscore2=r1[1]</a:t>
            </a:r>
            <a:endParaRPr lang="en-US" altLang="zh-CN" sz="1600" dirty="0"/>
          </a:p>
          <a:p>
            <a:r>
              <a:rPr lang="en-US" altLang="zh-CN" sz="1600" dirty="0"/>
              <a:t>r2=fun2.Re(Fscore1,'2015-05-01','2015-12-31',20)</a:t>
            </a:r>
            <a:endParaRPr lang="en-US" altLang="zh-CN" sz="1600" dirty="0"/>
          </a:p>
          <a:p>
            <a:r>
              <a:rPr lang="en-US" altLang="zh-CN" sz="1600" dirty="0" err="1"/>
              <a:t>r_list</a:t>
            </a:r>
            <a:r>
              <a:rPr lang="en-US" altLang="zh-CN" sz="1600" dirty="0"/>
              <a:t>=r2[0]</a:t>
            </a:r>
            <a:endParaRPr lang="en-US" altLang="zh-CN" sz="1600" dirty="0"/>
          </a:p>
          <a:p>
            <a:r>
              <a:rPr lang="en-US" altLang="zh-CN" sz="1600" dirty="0" err="1"/>
              <a:t>r_total</a:t>
            </a:r>
            <a:r>
              <a:rPr lang="en-US" altLang="zh-CN" sz="1600" dirty="0"/>
              <a:t>=r2[1]</a:t>
            </a:r>
            <a:endParaRPr lang="en-US" altLang="zh-CN" sz="1600" dirty="0"/>
          </a:p>
          <a:p>
            <a:r>
              <a:rPr lang="zh-CN" altLang="en-US" sz="1600" dirty="0"/>
              <a:t>其结果</a:t>
            </a:r>
            <a:r>
              <a:rPr lang="en-US" altLang="zh-CN" sz="1600" dirty="0"/>
              <a:t>Fscore1</a:t>
            </a:r>
            <a:r>
              <a:rPr lang="zh-CN" altLang="en-US" sz="1600" dirty="0"/>
              <a:t>、</a:t>
            </a:r>
            <a:r>
              <a:rPr lang="en-US" altLang="zh-CN" sz="1600" dirty="0"/>
              <a:t>Fscore2</a:t>
            </a:r>
            <a:r>
              <a:rPr lang="zh-CN" altLang="en-US" sz="1600" dirty="0"/>
              <a:t>、</a:t>
            </a:r>
            <a:r>
              <a:rPr lang="en-US" altLang="zh-CN" sz="1600" dirty="0" err="1"/>
              <a:t>r_list</a:t>
            </a:r>
            <a:r>
              <a:rPr lang="zh-CN" altLang="en-US" sz="1600" dirty="0"/>
              <a:t>、</a:t>
            </a:r>
            <a:r>
              <a:rPr lang="en-US" altLang="zh-CN" sz="1600" dirty="0" err="1"/>
              <a:t>r_total</a:t>
            </a:r>
            <a:r>
              <a:rPr lang="zh-CN" altLang="en-US" sz="1600" dirty="0"/>
              <a:t>同</a:t>
            </a:r>
            <a:r>
              <a:rPr lang="en-US" altLang="zh-CN" sz="1600" dirty="0"/>
              <a:t>8.3.4</a:t>
            </a:r>
            <a:r>
              <a:rPr lang="zh-CN" altLang="en-US" sz="1600" dirty="0"/>
              <a:t>和</a:t>
            </a:r>
            <a:r>
              <a:rPr lang="en-US" altLang="zh-CN" sz="1600" dirty="0"/>
              <a:t>8.3.5</a:t>
            </a:r>
            <a:r>
              <a:rPr lang="en-US" altLang="zh-CN" dirty="0" smtClean="0"/>
              <a:t>.</a:t>
            </a:r>
            <a:endParaRPr lang="en-US" altLang="zh-CN" dirty="0" smtClean="0"/>
          </a:p>
          <a:p>
            <a:endParaRPr lang="en-US" altLang="zh-CN" dirty="0"/>
          </a:p>
          <a:p>
            <a:r>
              <a:rPr lang="en-US" altLang="zh-CN" sz="1600" dirty="0" smtClean="0"/>
              <a:t>index300.xlsx</a:t>
            </a:r>
            <a:endParaRPr lang="en-US" altLang="zh-CN" sz="1600" dirty="0" smtClean="0"/>
          </a:p>
          <a:p>
            <a:r>
              <a:rPr lang="en-US" altLang="zh-CN" sz="1600" dirty="0"/>
              <a:t>import pandas as </a:t>
            </a:r>
            <a:r>
              <a:rPr lang="en-US" altLang="zh-CN" sz="1600" dirty="0" err="1"/>
              <a:t>pd</a:t>
            </a:r>
            <a:endParaRPr lang="en-US" altLang="zh-CN" sz="1600" dirty="0"/>
          </a:p>
          <a:p>
            <a:r>
              <a:rPr lang="en-US" altLang="zh-CN" sz="1600" dirty="0"/>
              <a:t>import </a:t>
            </a:r>
            <a:r>
              <a:rPr lang="en-US" altLang="zh-CN" sz="1600" dirty="0" err="1"/>
              <a:t>ffun</a:t>
            </a:r>
            <a:endParaRPr lang="en-US" altLang="zh-CN" sz="1600" dirty="0"/>
          </a:p>
          <a:p>
            <a:r>
              <a:rPr lang="en-US" altLang="zh-CN" sz="1600" dirty="0"/>
              <a:t>import fun2</a:t>
            </a:r>
            <a:endParaRPr lang="en-US" altLang="zh-CN" sz="1600" dirty="0"/>
          </a:p>
          <a:p>
            <a:r>
              <a:rPr lang="en-US" altLang="zh-CN" sz="1600" dirty="0"/>
              <a:t>data=</a:t>
            </a:r>
            <a:r>
              <a:rPr lang="en-US" altLang="zh-CN" sz="1600" dirty="0" err="1"/>
              <a:t>pd.read_excel</a:t>
            </a:r>
            <a:r>
              <a:rPr lang="en-US" altLang="zh-CN" sz="1600" dirty="0"/>
              <a:t>('data1.xlsx')</a:t>
            </a:r>
            <a:endParaRPr lang="en-US" altLang="zh-CN" sz="1600" dirty="0"/>
          </a:p>
          <a:p>
            <a:r>
              <a:rPr lang="en-US" altLang="zh-CN" sz="1600" dirty="0"/>
              <a:t>ind300=</a:t>
            </a:r>
            <a:r>
              <a:rPr lang="en-US" altLang="zh-CN" sz="1600" dirty="0" err="1"/>
              <a:t>pd.read_excel</a:t>
            </a:r>
            <a:r>
              <a:rPr lang="en-US" altLang="zh-CN" sz="1600" dirty="0"/>
              <a:t>('index300.xlsx')</a:t>
            </a:r>
            <a:endParaRPr lang="en-US" altLang="zh-CN" sz="1600" dirty="0"/>
          </a:p>
          <a:p>
            <a:r>
              <a:rPr lang="en-US" altLang="zh-CN" sz="1600" dirty="0"/>
              <a:t>list1=[]</a:t>
            </a:r>
            <a:endParaRPr lang="en-US" altLang="zh-CN" sz="1600" dirty="0"/>
          </a:p>
          <a:p>
            <a:r>
              <a:rPr lang="en-US" altLang="zh-CN" sz="1600" dirty="0"/>
              <a:t>list2=[]</a:t>
            </a:r>
            <a:endParaRPr lang="en-US" altLang="zh-CN" sz="1600" dirty="0"/>
          </a:p>
          <a:p>
            <a:r>
              <a:rPr lang="en-US" altLang="zh-CN" sz="1600" dirty="0"/>
              <a:t>list3=[]</a:t>
            </a:r>
            <a:endParaRPr lang="en-US" altLang="zh-CN" sz="1600" dirty="0"/>
          </a:p>
          <a:p>
            <a:r>
              <a:rPr lang="en-US" altLang="zh-CN" sz="1600" dirty="0"/>
              <a:t>list4=[]</a:t>
            </a:r>
            <a:endParaRPr lang="en-US" altLang="zh-CN" sz="1600" dirty="0"/>
          </a:p>
          <a:p>
            <a:r>
              <a:rPr lang="en-US" altLang="zh-CN" sz="1600" dirty="0"/>
              <a:t>for year in [2013,2014,2015,2016]:</a:t>
            </a:r>
            <a:endParaRPr lang="en-US" altLang="zh-CN" sz="1600" dirty="0"/>
          </a:p>
          <a:p>
            <a:endParaRPr lang="en-US" altLang="zh-CN" dirty="0"/>
          </a:p>
        </p:txBody>
      </p:sp>
      <p:sp>
        <p:nvSpPr>
          <p:cNvPr id="3" name="矩形 2"/>
          <p:cNvSpPr/>
          <p:nvPr/>
        </p:nvSpPr>
        <p:spPr>
          <a:xfrm>
            <a:off x="6075125" y="612845"/>
            <a:ext cx="6096000" cy="5262979"/>
          </a:xfrm>
          <a:prstGeom prst="rect">
            <a:avLst/>
          </a:prstGeom>
        </p:spPr>
        <p:txBody>
          <a:bodyPr>
            <a:spAutoFit/>
          </a:bodyPr>
          <a:lstStyle/>
          <a:p>
            <a:r>
              <a:rPr lang="en-US" altLang="zh-CN" sz="1600" dirty="0"/>
              <a:t>for time in ['06-30','09-30','12-31']:</a:t>
            </a:r>
            <a:endParaRPr lang="en-US" altLang="zh-CN" sz="1600" dirty="0"/>
          </a:p>
          <a:p>
            <a:r>
              <a:rPr lang="en-US" altLang="zh-CN" sz="1600" dirty="0"/>
              <a:t>    #</a:t>
            </a:r>
            <a:r>
              <a:rPr lang="zh-CN" altLang="en-US" sz="1600" dirty="0"/>
              <a:t>获得基于成长与价值指标的综合评价排名结果</a:t>
            </a:r>
            <a:endParaRPr lang="zh-CN" altLang="en-US" sz="1600" dirty="0"/>
          </a:p>
          <a:p>
            <a:r>
              <a:rPr lang="zh-CN" altLang="en-US" sz="1600" dirty="0"/>
              <a:t>        </a:t>
            </a:r>
            <a:r>
              <a:rPr lang="en-US" altLang="zh-CN" sz="1600" dirty="0"/>
              <a:t>r1=ffun.Fr2(</a:t>
            </a:r>
            <a:r>
              <a:rPr lang="en-US" altLang="zh-CN" sz="1600" dirty="0" err="1"/>
              <a:t>data,year</a:t>
            </a:r>
            <a:r>
              <a:rPr lang="en-US" altLang="zh-CN" sz="1600" dirty="0"/>
              <a:t>)</a:t>
            </a:r>
            <a:endParaRPr lang="en-US" altLang="zh-CN" sz="1600" dirty="0"/>
          </a:p>
          <a:p>
            <a:r>
              <a:rPr lang="en-US" altLang="zh-CN" sz="1600" dirty="0"/>
              <a:t>        r2=fun2.Re(r1[0],</a:t>
            </a:r>
            <a:r>
              <a:rPr lang="en-US" altLang="zh-CN" sz="1600" dirty="0" err="1"/>
              <a:t>str</a:t>
            </a:r>
            <a:r>
              <a:rPr lang="en-US" altLang="zh-CN" sz="1600" dirty="0"/>
              <a:t>(year+1)+'-05-01',str(year+1)+'-'+time,20)</a:t>
            </a:r>
            <a:endParaRPr lang="en-US" altLang="zh-CN" sz="1600" dirty="0"/>
          </a:p>
          <a:p>
            <a:r>
              <a:rPr lang="en-US" altLang="zh-CN" sz="1600" dirty="0"/>
              <a:t>        </a:t>
            </a:r>
            <a:r>
              <a:rPr lang="en-US" altLang="zh-CN" sz="1600" dirty="0" err="1"/>
              <a:t>r_total</a:t>
            </a:r>
            <a:r>
              <a:rPr lang="en-US" altLang="zh-CN" sz="1600" dirty="0"/>
              <a:t>=r2[1]</a:t>
            </a:r>
            <a:endParaRPr lang="en-US" altLang="zh-CN" sz="1600" dirty="0"/>
          </a:p>
          <a:p>
            <a:r>
              <a:rPr lang="en-US" altLang="zh-CN" sz="1600" dirty="0"/>
              <a:t>        list1.append(year)</a:t>
            </a:r>
            <a:endParaRPr lang="en-US" altLang="zh-CN" sz="1600" dirty="0"/>
          </a:p>
          <a:p>
            <a:r>
              <a:rPr lang="en-US" altLang="zh-CN" sz="1600" dirty="0"/>
              <a:t>        list2.append(</a:t>
            </a:r>
            <a:r>
              <a:rPr lang="en-US" altLang="zh-CN" sz="1600" dirty="0" err="1"/>
              <a:t>str</a:t>
            </a:r>
            <a:r>
              <a:rPr lang="en-US" altLang="zh-CN" sz="1600" dirty="0"/>
              <a:t>(year+1)+'-05-01'+'--'+</a:t>
            </a:r>
            <a:r>
              <a:rPr lang="en-US" altLang="zh-CN" sz="1600" dirty="0" err="1"/>
              <a:t>str</a:t>
            </a:r>
            <a:r>
              <a:rPr lang="en-US" altLang="zh-CN" sz="1600" dirty="0"/>
              <a:t>(year+1)+'-'+time)</a:t>
            </a:r>
            <a:endParaRPr lang="en-US" altLang="zh-CN" sz="1600" dirty="0"/>
          </a:p>
          <a:p>
            <a:r>
              <a:rPr lang="en-US" altLang="zh-CN" sz="1600" dirty="0"/>
              <a:t>        list3.append(</a:t>
            </a:r>
            <a:r>
              <a:rPr lang="en-US" altLang="zh-CN" sz="1600" dirty="0" err="1"/>
              <a:t>r_total</a:t>
            </a:r>
            <a:r>
              <a:rPr lang="en-US" altLang="zh-CN" sz="1600" dirty="0"/>
              <a:t>)</a:t>
            </a:r>
            <a:endParaRPr lang="en-US" altLang="zh-CN" sz="1600" dirty="0"/>
          </a:p>
          <a:p>
            <a:r>
              <a:rPr lang="en-US" altLang="zh-CN" sz="1600" dirty="0"/>
              <a:t>        td1=</a:t>
            </a:r>
            <a:r>
              <a:rPr lang="en-US" altLang="zh-CN" sz="1600" dirty="0" err="1"/>
              <a:t>str</a:t>
            </a:r>
            <a:r>
              <a:rPr lang="en-US" altLang="zh-CN" sz="1600" dirty="0"/>
              <a:t>(year+1)+'-05-01'</a:t>
            </a:r>
            <a:endParaRPr lang="en-US" altLang="zh-CN" sz="1600" dirty="0"/>
          </a:p>
          <a:p>
            <a:r>
              <a:rPr lang="en-US" altLang="zh-CN" sz="1600" dirty="0"/>
              <a:t>        td2=</a:t>
            </a:r>
            <a:r>
              <a:rPr lang="en-US" altLang="zh-CN" sz="1600" dirty="0" err="1"/>
              <a:t>str</a:t>
            </a:r>
            <a:r>
              <a:rPr lang="en-US" altLang="zh-CN" sz="1600" dirty="0"/>
              <a:t>(year+1)+'-'+time</a:t>
            </a:r>
            <a:endParaRPr lang="en-US" altLang="zh-CN" sz="1600" dirty="0"/>
          </a:p>
          <a:p>
            <a:r>
              <a:rPr lang="en-US" altLang="zh-CN" sz="1600" dirty="0"/>
              <a:t>        I1=ind300.iloc[:,1].values&gt;=td1</a:t>
            </a:r>
            <a:endParaRPr lang="en-US" altLang="zh-CN" sz="1600" dirty="0"/>
          </a:p>
          <a:p>
            <a:r>
              <a:rPr lang="en-US" altLang="zh-CN" sz="1600" dirty="0"/>
              <a:t>        I2=ind300.iloc[:,1].values&lt;=td2</a:t>
            </a:r>
            <a:endParaRPr lang="en-US" altLang="zh-CN" sz="1600" dirty="0"/>
          </a:p>
          <a:p>
            <a:r>
              <a:rPr lang="en-US" altLang="zh-CN" sz="1600" dirty="0"/>
              <a:t>        </a:t>
            </a:r>
            <a:r>
              <a:rPr lang="en-US" altLang="zh-CN" sz="1600" dirty="0" err="1"/>
              <a:t>dt</a:t>
            </a:r>
            <a:r>
              <a:rPr lang="en-US" altLang="zh-CN" sz="1600" dirty="0"/>
              <a:t>=ind300.iloc[I1&amp;I2,[1,2]].</a:t>
            </a:r>
            <a:r>
              <a:rPr lang="en-US" altLang="zh-CN" sz="1600" dirty="0" err="1"/>
              <a:t>sort_values</a:t>
            </a:r>
            <a:r>
              <a:rPr lang="en-US" altLang="zh-CN" sz="1600" dirty="0"/>
              <a:t>('Idxtrd01')</a:t>
            </a:r>
            <a:endParaRPr lang="en-US" altLang="zh-CN" sz="1600" dirty="0"/>
          </a:p>
          <a:p>
            <a:r>
              <a:rPr lang="en-US" altLang="zh-CN" sz="1600" dirty="0"/>
              <a:t>        p=</a:t>
            </a:r>
            <a:r>
              <a:rPr lang="en-US" altLang="zh-CN" sz="1600" dirty="0" err="1"/>
              <a:t>dt.iloc</a:t>
            </a:r>
            <a:r>
              <a:rPr lang="en-US" altLang="zh-CN" sz="1600" dirty="0"/>
              <a:t>[:,1].values</a:t>
            </a:r>
            <a:endParaRPr lang="en-US" altLang="zh-CN" sz="1600" dirty="0"/>
          </a:p>
          <a:p>
            <a:r>
              <a:rPr lang="en-US" altLang="zh-CN" sz="1600" dirty="0"/>
              <a:t>        list4.append((p[</a:t>
            </a:r>
            <a:r>
              <a:rPr lang="en-US" altLang="zh-CN" sz="1600" dirty="0" err="1"/>
              <a:t>len</a:t>
            </a:r>
            <a:r>
              <a:rPr lang="en-US" altLang="zh-CN" sz="1600" dirty="0"/>
              <a:t>(p)-1]-p[0])/p[0]) </a:t>
            </a:r>
            <a:endParaRPr lang="en-US" altLang="zh-CN" sz="1600" dirty="0"/>
          </a:p>
          <a:p>
            <a:r>
              <a:rPr lang="en-US" altLang="zh-CN" sz="1600" dirty="0"/>
              <a:t>D={'year':list1,'time':list2,'r_total':list3,'index':list4}</a:t>
            </a:r>
            <a:endParaRPr lang="en-US" altLang="zh-CN" sz="1600" dirty="0"/>
          </a:p>
          <a:p>
            <a:r>
              <a:rPr lang="en-US" altLang="zh-CN" sz="1600" dirty="0"/>
              <a:t>D=</a:t>
            </a:r>
            <a:r>
              <a:rPr lang="en-US" altLang="zh-CN" sz="1600" dirty="0" err="1"/>
              <a:t>pd.DataFrame</a:t>
            </a:r>
            <a:r>
              <a:rPr lang="en-US" altLang="zh-CN" sz="1600" dirty="0"/>
              <a:t>(D)</a:t>
            </a:r>
            <a:endParaRPr lang="en-US" altLang="zh-CN" sz="1600" dirty="0"/>
          </a:p>
          <a:p>
            <a:r>
              <a:rPr lang="en-US" altLang="zh-CN" sz="1600" dirty="0" err="1"/>
              <a:t>D.to_excel</a:t>
            </a:r>
            <a:r>
              <a:rPr lang="en-US" altLang="zh-CN" sz="1600" dirty="0"/>
              <a:t>('D.xlsx</a:t>
            </a:r>
            <a:r>
              <a:rPr lang="en-US" altLang="zh-CN" sz="1600" dirty="0" smtClean="0"/>
              <a:t>')</a:t>
            </a:r>
            <a:endParaRPr lang="en-US" altLang="zh-CN" sz="1600" dirty="0" smtClean="0"/>
          </a:p>
          <a:p>
            <a:r>
              <a:rPr lang="zh-CN" altLang="en-US" sz="1600" dirty="0"/>
              <a:t>执行以上程序最终得到排名前</a:t>
            </a:r>
            <a:r>
              <a:rPr lang="en-US" altLang="zh-CN" sz="1600" dirty="0"/>
              <a:t>20</a:t>
            </a:r>
            <a:r>
              <a:rPr lang="zh-CN" altLang="en-US" sz="1600" dirty="0"/>
              <a:t>、</a:t>
            </a:r>
            <a:r>
              <a:rPr lang="en-US" altLang="zh-CN" sz="1600" dirty="0"/>
              <a:t>40</a:t>
            </a:r>
            <a:r>
              <a:rPr lang="zh-CN" altLang="en-US" sz="1600" dirty="0"/>
              <a:t>股票投资组合收益率及投资组合明细如表</a:t>
            </a:r>
            <a:r>
              <a:rPr lang="en-US" altLang="zh-CN" sz="1600" dirty="0"/>
              <a:t>8-10</a:t>
            </a:r>
            <a:r>
              <a:rPr lang="zh-CN" altLang="en-US" sz="1600" dirty="0"/>
              <a:t>、</a:t>
            </a:r>
            <a:r>
              <a:rPr lang="en-US" altLang="zh-CN" sz="1600" dirty="0"/>
              <a:t>8-11</a:t>
            </a:r>
            <a:r>
              <a:rPr lang="zh-CN" altLang="en-US" sz="1600" dirty="0"/>
              <a:t>、</a:t>
            </a:r>
            <a:r>
              <a:rPr lang="en-US" altLang="zh-CN" sz="1600" dirty="0"/>
              <a:t>8-12</a:t>
            </a:r>
            <a:r>
              <a:rPr lang="zh-CN" altLang="en-US" sz="1600" dirty="0"/>
              <a:t>所示。</a:t>
            </a:r>
            <a:endParaRPr lang="en-US" altLang="zh-CN" sz="1600" dirty="0"/>
          </a:p>
          <a:p>
            <a:endParaRPr lang="en-US" altLang="zh-CN" sz="1600" dirty="0"/>
          </a:p>
        </p:txBody>
      </p:sp>
      <p:cxnSp>
        <p:nvCxnSpPr>
          <p:cNvPr id="5" name="直接连接符 4"/>
          <p:cNvCxnSpPr/>
          <p:nvPr/>
        </p:nvCxnSpPr>
        <p:spPr bwMode="auto">
          <a:xfrm>
            <a:off x="5450309" y="600019"/>
            <a:ext cx="0" cy="6257981"/>
          </a:xfrm>
          <a:prstGeom prst="line">
            <a:avLst/>
          </a:prstGeom>
          <a:solidFill>
            <a:schemeClr val="accent1"/>
          </a:solidFill>
          <a:ln w="9525" cap="flat" cmpd="sng" algn="ctr">
            <a:solidFill>
              <a:schemeClr val="tx1"/>
            </a:solidFill>
            <a:prstDash val="solid"/>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8.4.6 </a:t>
            </a:r>
            <a:r>
              <a:rPr lang="zh-CN" altLang="en-US" sz="2800" dirty="0">
                <a:solidFill>
                  <a:schemeClr val="accent2"/>
                </a:solidFill>
                <a:latin typeface="微软雅黑" panose="020B0503020204020204" pitchFamily="34" charset="-122"/>
                <a:ea typeface="微软雅黑" panose="020B0503020204020204" pitchFamily="34" charset="-122"/>
              </a:rPr>
              <a:t>量化投资策略设计与分析</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smtClean="0">
                <a:solidFill>
                  <a:schemeClr val="accent2"/>
                </a:solidFill>
              </a:rPr>
              <a:t>Part8</a:t>
            </a:r>
            <a:endParaRPr lang="zh-CN" altLang="en-US" dirty="0">
              <a:solidFill>
                <a:schemeClr val="accent2"/>
              </a:solidFill>
            </a:endParaRPr>
          </a:p>
        </p:txBody>
      </p:sp>
      <p:sp>
        <p:nvSpPr>
          <p:cNvPr id="6" name="矩形 5"/>
          <p:cNvSpPr/>
          <p:nvPr/>
        </p:nvSpPr>
        <p:spPr>
          <a:xfrm>
            <a:off x="1330765" y="1175266"/>
            <a:ext cx="3720890" cy="338554"/>
          </a:xfrm>
          <a:prstGeom prst="rect">
            <a:avLst/>
          </a:prstGeom>
        </p:spPr>
        <p:txBody>
          <a:bodyPr wrap="none">
            <a:spAutoFit/>
          </a:bodyPr>
          <a:lstStyle/>
          <a:p>
            <a:r>
              <a:rPr lang="zh-CN" altLang="en-US" sz="1600" dirty="0"/>
              <a:t>表</a:t>
            </a:r>
            <a:r>
              <a:rPr lang="en-US" altLang="zh-CN" sz="1600" dirty="0"/>
              <a:t>8-10    </a:t>
            </a:r>
            <a:r>
              <a:rPr lang="zh-CN" altLang="en-US" sz="1600" dirty="0"/>
              <a:t>排名前</a:t>
            </a:r>
            <a:r>
              <a:rPr lang="en-US" altLang="zh-CN" sz="1600" dirty="0"/>
              <a:t>20</a:t>
            </a:r>
            <a:r>
              <a:rPr lang="zh-CN" altLang="en-US" sz="1600" dirty="0"/>
              <a:t>股票投资组合收益率</a:t>
            </a:r>
            <a:endParaRPr lang="zh-CN" altLang="en-US" sz="1600" dirty="0"/>
          </a:p>
        </p:txBody>
      </p:sp>
      <p:graphicFrame>
        <p:nvGraphicFramePr>
          <p:cNvPr id="7" name="表格 6"/>
          <p:cNvGraphicFramePr>
            <a:graphicFrameLocks noGrp="1"/>
          </p:cNvGraphicFramePr>
          <p:nvPr/>
        </p:nvGraphicFramePr>
        <p:xfrm>
          <a:off x="148380" y="1700808"/>
          <a:ext cx="5805985" cy="4020692"/>
        </p:xfrm>
        <a:graphic>
          <a:graphicData uri="http://schemas.openxmlformats.org/drawingml/2006/table">
            <a:tbl>
              <a:tblPr firstRow="1" firstCol="1" bandRow="1"/>
              <a:tblGrid>
                <a:gridCol w="774610"/>
                <a:gridCol w="774610"/>
                <a:gridCol w="2008246"/>
                <a:gridCol w="1058633"/>
                <a:gridCol w="1189886"/>
              </a:tblGrid>
              <a:tr h="309284">
                <a:tc>
                  <a:txBody>
                    <a:bodyPr/>
                    <a:lstStyle/>
                    <a:p>
                      <a:pPr algn="l">
                        <a:spcAft>
                          <a:spcPts val="0"/>
                        </a:spcAft>
                      </a:pPr>
                      <a:r>
                        <a:rPr lang="en-US" sz="12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ID</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0">
                          <a:solidFill>
                            <a:srgbClr val="000000"/>
                          </a:solidFill>
                          <a:effectLst/>
                          <a:latin typeface="Calibri" panose="020F0502020204030204"/>
                          <a:ea typeface="宋体" panose="02010600030101010101" pitchFamily="2" charset="-122"/>
                          <a:cs typeface="宋体" panose="02010600030101010101" pitchFamily="2" charset="-122"/>
                        </a:rPr>
                        <a:t>会计年度</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0">
                          <a:solidFill>
                            <a:srgbClr val="000000"/>
                          </a:solidFill>
                          <a:effectLst/>
                          <a:latin typeface="Calibri" panose="020F0502020204030204"/>
                          <a:ea typeface="宋体" panose="02010600030101010101" pitchFamily="2" charset="-122"/>
                          <a:cs typeface="宋体" panose="02010600030101010101" pitchFamily="2" charset="-122"/>
                        </a:rPr>
                        <a:t>持有期</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0">
                          <a:solidFill>
                            <a:srgbClr val="000000"/>
                          </a:solidFill>
                          <a:effectLst/>
                          <a:latin typeface="Calibri" panose="020F0502020204030204"/>
                          <a:ea typeface="宋体" panose="02010600030101010101" pitchFamily="2" charset="-122"/>
                          <a:cs typeface="宋体" panose="02010600030101010101" pitchFamily="2" charset="-122"/>
                        </a:rPr>
                        <a:t>总收益率</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0">
                          <a:solidFill>
                            <a:srgbClr val="000000"/>
                          </a:solidFill>
                          <a:effectLst/>
                          <a:latin typeface="Calibri" panose="020F0502020204030204"/>
                          <a:ea typeface="宋体" panose="02010600030101010101" pitchFamily="2" charset="-122"/>
                          <a:cs typeface="宋体" panose="02010600030101010101" pitchFamily="2" charset="-122"/>
                        </a:rPr>
                        <a:t>沪深</a:t>
                      </a:r>
                      <a:r>
                        <a:rPr lang="en-US" sz="1200" kern="0">
                          <a:solidFill>
                            <a:srgbClr val="000000"/>
                          </a:solidFill>
                          <a:effectLst/>
                          <a:latin typeface="Calibri" panose="020F0502020204030204"/>
                          <a:ea typeface="宋体" panose="02010600030101010101" pitchFamily="2" charset="-122"/>
                          <a:cs typeface="宋体" panose="02010600030101010101" pitchFamily="2" charset="-122"/>
                        </a:rPr>
                        <a:t>300</a:t>
                      </a:r>
                      <a:r>
                        <a:rPr lang="zh-CN" sz="1200" kern="0">
                          <a:solidFill>
                            <a:srgbClr val="000000"/>
                          </a:solidFill>
                          <a:effectLst/>
                          <a:latin typeface="Calibri" panose="020F0502020204030204"/>
                          <a:ea typeface="宋体" panose="02010600030101010101" pitchFamily="2" charset="-122"/>
                          <a:cs typeface="宋体" panose="02010600030101010101" pitchFamily="2" charset="-122"/>
                        </a:rPr>
                        <a:t>收益率</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2013</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2014-05-01--2014-06-30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3.148562608</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0.004011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2013</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2014-05-01--2014-09-30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9.63041983</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0.136575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2013</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2014-05-01--2014-12-31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12.85066994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0.638655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2015-05-01--2015-06-30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0.830089605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-0.06574</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2015-05-01--2015-09-30</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-5.156852664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-0.33101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2015-05-01--2015-12-31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0.056320882</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-0.22072</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6</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2016-05-01--2016-06-30</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0.512823766</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-0.01855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7</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2016-05-01--2016-09-30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-0.457673527</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0.01237</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8</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2016-05-01--2016-12-31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-1.48572044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0.030042</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9</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2016</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2017-05-01--2017-06-30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-1.049298843</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0.070105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2016</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2017-05-01--2017-09-30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0.099260991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0.119629</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09284">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2016</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2017-05-01--2017-12-31</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-1.192765021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0.176351</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8" name="矩形 7"/>
          <p:cNvSpPr/>
          <p:nvPr/>
        </p:nvSpPr>
        <p:spPr>
          <a:xfrm>
            <a:off x="7322517" y="1175266"/>
            <a:ext cx="3763338" cy="338554"/>
          </a:xfrm>
          <a:prstGeom prst="rect">
            <a:avLst/>
          </a:prstGeom>
        </p:spPr>
        <p:txBody>
          <a:bodyPr wrap="none">
            <a:spAutoFit/>
          </a:bodyPr>
          <a:lstStyle/>
          <a:p>
            <a:r>
              <a:rPr lang="zh-CN" altLang="en-US" sz="1600" dirty="0"/>
              <a:t>表</a:t>
            </a:r>
            <a:r>
              <a:rPr lang="en-US" altLang="zh-CN" sz="1600" dirty="0"/>
              <a:t>8-11     </a:t>
            </a:r>
            <a:r>
              <a:rPr lang="zh-CN" altLang="en-US" sz="1600" dirty="0"/>
              <a:t>排名前</a:t>
            </a:r>
            <a:r>
              <a:rPr lang="en-US" altLang="zh-CN" sz="1600" dirty="0"/>
              <a:t>40</a:t>
            </a:r>
            <a:r>
              <a:rPr lang="zh-CN" altLang="en-US" sz="1600" dirty="0"/>
              <a:t>股票投资组合收益率</a:t>
            </a:r>
            <a:endParaRPr lang="zh-CN" altLang="en-US" sz="1600" dirty="0"/>
          </a:p>
        </p:txBody>
      </p:sp>
      <p:graphicFrame>
        <p:nvGraphicFramePr>
          <p:cNvPr id="10" name="表格 9"/>
          <p:cNvGraphicFramePr>
            <a:graphicFrameLocks noGrp="1"/>
          </p:cNvGraphicFramePr>
          <p:nvPr/>
        </p:nvGraphicFramePr>
        <p:xfrm>
          <a:off x="6174259" y="1700809"/>
          <a:ext cx="6043691" cy="4029675"/>
        </p:xfrm>
        <a:graphic>
          <a:graphicData uri="http://schemas.openxmlformats.org/drawingml/2006/table">
            <a:tbl>
              <a:tblPr firstRow="1" firstCol="1" bandRow="1"/>
              <a:tblGrid>
                <a:gridCol w="883730"/>
                <a:gridCol w="794406"/>
                <a:gridCol w="2059570"/>
                <a:gridCol w="1085689"/>
                <a:gridCol w="1220296"/>
              </a:tblGrid>
              <a:tr h="288031">
                <a:tc>
                  <a:txBody>
                    <a:bodyPr/>
                    <a:lstStyle/>
                    <a:p>
                      <a:pPr algn="l">
                        <a:spcAft>
                          <a:spcPts val="0"/>
                        </a:spcAft>
                      </a:pPr>
                      <a:r>
                        <a:rPr lang="en-US" sz="12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ID</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0" dirty="0">
                          <a:solidFill>
                            <a:srgbClr val="000000"/>
                          </a:solidFill>
                          <a:effectLst/>
                          <a:latin typeface="Calibri" panose="020F0502020204030204"/>
                          <a:ea typeface="宋体" panose="02010600030101010101" pitchFamily="2" charset="-122"/>
                          <a:cs typeface="宋体" panose="02010600030101010101" pitchFamily="2" charset="-122"/>
                        </a:rPr>
                        <a:t>会计年度</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0">
                          <a:solidFill>
                            <a:srgbClr val="000000"/>
                          </a:solidFill>
                          <a:effectLst/>
                          <a:latin typeface="Calibri" panose="020F0502020204030204"/>
                          <a:ea typeface="宋体" panose="02010600030101010101" pitchFamily="2" charset="-122"/>
                          <a:cs typeface="宋体" panose="02010600030101010101" pitchFamily="2" charset="-122"/>
                        </a:rPr>
                        <a:t>持有期</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0">
                          <a:solidFill>
                            <a:srgbClr val="000000"/>
                          </a:solidFill>
                          <a:effectLst/>
                          <a:latin typeface="Calibri" panose="020F0502020204030204"/>
                          <a:ea typeface="宋体" panose="02010600030101010101" pitchFamily="2" charset="-122"/>
                          <a:cs typeface="宋体" panose="02010600030101010101" pitchFamily="2" charset="-122"/>
                        </a:rPr>
                        <a:t>总收益率</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0">
                          <a:solidFill>
                            <a:srgbClr val="000000"/>
                          </a:solidFill>
                          <a:effectLst/>
                          <a:latin typeface="Calibri" panose="020F0502020204030204"/>
                          <a:ea typeface="宋体" panose="02010600030101010101" pitchFamily="2" charset="-122"/>
                          <a:cs typeface="宋体" panose="02010600030101010101" pitchFamily="2" charset="-122"/>
                        </a:rPr>
                        <a:t>沪深</a:t>
                      </a:r>
                      <a:r>
                        <a:rPr lang="en-US" sz="1200" kern="0">
                          <a:solidFill>
                            <a:srgbClr val="000000"/>
                          </a:solidFill>
                          <a:effectLst/>
                          <a:latin typeface="Calibri" panose="020F0502020204030204"/>
                          <a:ea typeface="宋体" panose="02010600030101010101" pitchFamily="2" charset="-122"/>
                          <a:cs typeface="宋体" panose="02010600030101010101" pitchFamily="2" charset="-122"/>
                        </a:rPr>
                        <a:t>300</a:t>
                      </a:r>
                      <a:r>
                        <a:rPr lang="zh-CN" sz="1200" kern="0">
                          <a:solidFill>
                            <a:srgbClr val="000000"/>
                          </a:solidFill>
                          <a:effectLst/>
                          <a:latin typeface="Calibri" panose="020F0502020204030204"/>
                          <a:ea typeface="宋体" panose="02010600030101010101" pitchFamily="2" charset="-122"/>
                          <a:cs typeface="宋体" panose="02010600030101010101" pitchFamily="2" charset="-122"/>
                        </a:rPr>
                        <a:t>收益率</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4198">
                <a:tc>
                  <a:txBody>
                    <a:bodyPr/>
                    <a:lstStyle/>
                    <a:p>
                      <a:pPr algn="l">
                        <a:spcAft>
                          <a:spcPts val="0"/>
                        </a:spcAft>
                      </a:pPr>
                      <a:r>
                        <a:rPr lang="en-US" sz="12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0</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2013</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2014-05-01--2014-06-30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6.689801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0.004011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324198">
                <a:tc>
                  <a:txBody>
                    <a:bodyPr/>
                    <a:lstStyle/>
                    <a:p>
                      <a:pPr algn="l">
                        <a:spcAft>
                          <a:spcPts val="0"/>
                        </a:spcAft>
                      </a:pPr>
                      <a:r>
                        <a:rPr lang="en-US" sz="12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2013</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2014-05-01--2014-09-30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19.88782</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0.136575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24198">
                <a:tc>
                  <a:txBody>
                    <a:bodyPr/>
                    <a:lstStyle/>
                    <a:p>
                      <a:pPr algn="l">
                        <a:spcAft>
                          <a:spcPts val="0"/>
                        </a:spcAft>
                      </a:pPr>
                      <a:r>
                        <a:rPr lang="en-US" sz="12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2013</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2014-05-01--2014-12-31</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23.24064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0.638655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24198">
                <a:tc>
                  <a:txBody>
                    <a:bodyPr/>
                    <a:lstStyle/>
                    <a:p>
                      <a:pPr algn="l">
                        <a:spcAft>
                          <a:spcPts val="0"/>
                        </a:spcAft>
                      </a:pPr>
                      <a:r>
                        <a:rPr lang="en-US" sz="12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2014</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2015-05-01--2015-06-30</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4.592903</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-0.06574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24198">
                <a:tc>
                  <a:txBody>
                    <a:bodyPr/>
                    <a:lstStyle/>
                    <a:p>
                      <a:pPr algn="l">
                        <a:spcAft>
                          <a:spcPts val="0"/>
                        </a:spcAft>
                      </a:pPr>
                      <a:r>
                        <a:rPr lang="en-US" sz="12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2014</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2015-05-01--2015-09-30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-6.78487</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-0.33101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24198">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2015-05-01--2015-12-31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2.60999</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-0.22072</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24198">
                <a:tc>
                  <a:txBody>
                    <a:bodyPr/>
                    <a:lstStyle/>
                    <a:p>
                      <a:pPr algn="l">
                        <a:spcAft>
                          <a:spcPts val="0"/>
                        </a:spcAft>
                      </a:pPr>
                      <a:r>
                        <a:rPr lang="en-US" sz="12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6</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2015</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2016-05-01--2016-06-30</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1.285661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-0.01855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24198">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7</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2015</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2016-05-01--2016-09-30</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0.007946</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0.01237</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24198">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8</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2016-05-01--2016-12-31</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-1.83606</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0.030042</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324198">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9</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2016</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2017-05-01--2017-06-30</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-1.52158</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0.070105</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49832">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10</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2016</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2017-05-01--2017-09-30</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0.342513</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0.119629</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49832">
                <a:tc>
                  <a:txBody>
                    <a:bodyPr/>
                    <a:lstStyle/>
                    <a:p>
                      <a:pPr algn="l">
                        <a:spcAft>
                          <a:spcPts val="0"/>
                        </a:spcAft>
                      </a:pPr>
                      <a:r>
                        <a:rPr lang="en-US" sz="12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11</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a:solidFill>
                            <a:srgbClr val="000000"/>
                          </a:solidFill>
                          <a:effectLst/>
                          <a:latin typeface="宋体" panose="02010600030101010101" pitchFamily="2" charset="-122"/>
                          <a:ea typeface="宋体" panose="02010600030101010101" pitchFamily="2" charset="-122"/>
                          <a:cs typeface="Times New Roman" panose="02020603050405020304"/>
                        </a:rPr>
                        <a:t>2016</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2017-05-01--2017-12-31</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-3.26933</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a:rPr>
                        <a:t>0.176351</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8.4.6 </a:t>
            </a:r>
            <a:r>
              <a:rPr lang="zh-CN" altLang="en-US" sz="2800" dirty="0">
                <a:solidFill>
                  <a:schemeClr val="accent2"/>
                </a:solidFill>
                <a:latin typeface="微软雅黑" panose="020B0503020204020204" pitchFamily="34" charset="-122"/>
                <a:ea typeface="微软雅黑" panose="020B0503020204020204" pitchFamily="34" charset="-122"/>
              </a:rPr>
              <a:t>量化投资策略设计与分析</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8</a:t>
            </a:r>
            <a:endParaRPr lang="zh-CN" altLang="en-US" dirty="0">
              <a:solidFill>
                <a:schemeClr val="accent2"/>
              </a:solidFill>
            </a:endParaRPr>
          </a:p>
        </p:txBody>
      </p:sp>
      <p:sp>
        <p:nvSpPr>
          <p:cNvPr id="2" name="矩形 1"/>
          <p:cNvSpPr/>
          <p:nvPr/>
        </p:nvSpPr>
        <p:spPr>
          <a:xfrm>
            <a:off x="4010149" y="590433"/>
            <a:ext cx="2582758" cy="338554"/>
          </a:xfrm>
          <a:prstGeom prst="rect">
            <a:avLst/>
          </a:prstGeom>
        </p:spPr>
        <p:txBody>
          <a:bodyPr wrap="none">
            <a:spAutoFit/>
          </a:bodyPr>
          <a:lstStyle/>
          <a:p>
            <a:r>
              <a:rPr lang="zh-CN" altLang="en-US" sz="1600" dirty="0"/>
              <a:t>表</a:t>
            </a:r>
            <a:r>
              <a:rPr lang="en-US" altLang="zh-CN" sz="1600" dirty="0"/>
              <a:t>8-12      </a:t>
            </a:r>
            <a:r>
              <a:rPr lang="zh-CN" altLang="en-US" sz="1600" dirty="0"/>
              <a:t>投资组合明细表</a:t>
            </a:r>
            <a:endParaRPr lang="zh-CN" altLang="en-US" sz="1600" dirty="0"/>
          </a:p>
        </p:txBody>
      </p:sp>
      <p:graphicFrame>
        <p:nvGraphicFramePr>
          <p:cNvPr id="12" name="表格 11"/>
          <p:cNvGraphicFramePr>
            <a:graphicFrameLocks noGrp="1"/>
          </p:cNvGraphicFramePr>
          <p:nvPr/>
        </p:nvGraphicFramePr>
        <p:xfrm>
          <a:off x="337741" y="1052736"/>
          <a:ext cx="5286374" cy="5688632"/>
        </p:xfrm>
        <a:graphic>
          <a:graphicData uri="http://schemas.openxmlformats.org/drawingml/2006/table">
            <a:tbl>
              <a:tblPr firstRow="1" firstCol="1" bandRow="1"/>
              <a:tblGrid>
                <a:gridCol w="1152128"/>
                <a:gridCol w="864096"/>
                <a:gridCol w="3270150"/>
              </a:tblGrid>
              <a:tr h="250411">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投资组合</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年度</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股票名称</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33765">
                <a:tc rowSpan="4">
                  <a:txBody>
                    <a:bodyPr/>
                    <a:lstStyle/>
                    <a:p>
                      <a:pPr algn="ctr">
                        <a:spcAft>
                          <a:spcPts val="0"/>
                        </a:spcAft>
                      </a:pPr>
                      <a:r>
                        <a:rPr lang="zh-CN" sz="1400" kern="100" dirty="0">
                          <a:effectLst/>
                          <a:latin typeface="Calibri" panose="020F0502020204030204"/>
                          <a:ea typeface="宋体" panose="02010600030101010101" pitchFamily="2" charset="-122"/>
                          <a:cs typeface="Times New Roman" panose="02020603050405020304"/>
                        </a:rPr>
                        <a:t>排名前</a:t>
                      </a:r>
                      <a:r>
                        <a:rPr lang="en-US" sz="1400" kern="100" dirty="0">
                          <a:effectLst/>
                          <a:latin typeface="Calibri" panose="020F0502020204030204"/>
                          <a:ea typeface="宋体" panose="02010600030101010101" pitchFamily="2" charset="-122"/>
                          <a:cs typeface="Times New Roman" panose="02020603050405020304"/>
                        </a:rPr>
                        <a:t>20</a:t>
                      </a:r>
                      <a:r>
                        <a:rPr lang="zh-CN" sz="1400" kern="100" dirty="0">
                          <a:effectLst/>
                          <a:latin typeface="Calibri" panose="020F0502020204030204"/>
                          <a:ea typeface="宋体" panose="02010600030101010101" pitchFamily="2" charset="-122"/>
                          <a:cs typeface="Times New Roman" panose="02020603050405020304"/>
                        </a:rPr>
                        <a:t>的股票投资组合</a:t>
                      </a:r>
                      <a:endParaRPr lang="zh-CN" sz="1400" kern="100" dirty="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kern="100" dirty="0">
                          <a:effectLst/>
                          <a:latin typeface="宋体" panose="02010600030101010101" pitchFamily="2" charset="-122"/>
                          <a:ea typeface="宋体" panose="02010600030101010101" pitchFamily="2" charset="-122"/>
                          <a:cs typeface="Times New Roman" panose="02020603050405020304"/>
                        </a:rPr>
                        <a:t>2013</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安信信托、德赛电池、聚龙股份、华谊兄弟、世荣兆业、嘉应制药、碧水源、赤峰黄金、北部湾港、恒康医疗、大华股份、北方国际、掌趣科技、贵州茅台、凯利泰、冠农股份、石基信息、晨鑫科技、潜能恒信、银泰资源</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60629">
                <a:tc vMerge="1">
                  <a:tcPr/>
                </a:tc>
                <a:tc>
                  <a:txBody>
                    <a:bodyPr/>
                    <a:lstStyle/>
                    <a:p>
                      <a:pPr algn="l">
                        <a:spcAft>
                          <a:spcPts val="0"/>
                        </a:spcAft>
                      </a:pPr>
                      <a:r>
                        <a:rPr lang="en-US" sz="1200" kern="100">
                          <a:effectLst/>
                          <a:latin typeface="宋体" panose="02010600030101010101" pitchFamily="2" charset="-122"/>
                          <a:ea typeface="宋体" panose="02010600030101010101" pitchFamily="2" charset="-122"/>
                          <a:cs typeface="Times New Roman" panose="02020603050405020304"/>
                        </a:rPr>
                        <a:t>2014</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卫士通、碧水源、天华院、东方财富、卫宁健康、卧龙地产、阳光电源、游族网络、联美控股、千山药机、国睿科技、聚龙股份、恒生电子、机器人、中航电子、莱茵生物、辉煌科技、振芯科技、冠昊生物、</a:t>
                      </a:r>
                      <a:endParaRPr lang="zh-CN" sz="1200" kern="100" dirty="0">
                        <a:effectLst/>
                        <a:latin typeface="Calibri" panose="020F0502020204030204"/>
                        <a:ea typeface="宋体" panose="02010600030101010101" pitchFamily="2" charset="-122"/>
                        <a:cs typeface="Times New Roman" panose="02020603050405020304"/>
                      </a:endParaRPr>
                    </a:p>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美亚柏科</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26868">
                <a:tc vMerge="1">
                  <a:tcPr/>
                </a:tc>
                <a:tc>
                  <a:txBody>
                    <a:bodyPr/>
                    <a:lstStyle/>
                    <a:p>
                      <a:pPr algn="l">
                        <a:spcAft>
                          <a:spcPts val="0"/>
                        </a:spcAft>
                      </a:pPr>
                      <a:r>
                        <a:rPr lang="en-US" sz="1200" kern="100">
                          <a:effectLst/>
                          <a:latin typeface="宋体" panose="02010600030101010101" pitchFamily="2" charset="-122"/>
                          <a:ea typeface="宋体" panose="02010600030101010101" pitchFamily="2" charset="-122"/>
                          <a:cs typeface="Times New Roman" panose="02020603050405020304"/>
                        </a:rPr>
                        <a:t>2015</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银之杰、中科曙光、中恒电气、金证股份、京天利、同有科技、朗玛信息、卫宁健康、华金资本、东方通、荣之联、苏交科、赢时胜、同花顺、保变电气、戴维医疗、顺网科技、动力源、蓝盾股份、汇金股份</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16959">
                <a:tc vMerge="1">
                  <a:tcPr/>
                </a:tc>
                <a:tc>
                  <a:txBody>
                    <a:bodyPr/>
                    <a:lstStyle/>
                    <a:p>
                      <a:pPr algn="l">
                        <a:spcAft>
                          <a:spcPts val="0"/>
                        </a:spcAft>
                      </a:pPr>
                      <a:r>
                        <a:rPr lang="en-US" sz="1200" kern="100" dirty="0">
                          <a:effectLst/>
                          <a:latin typeface="宋体" panose="02010600030101010101" pitchFamily="2" charset="-122"/>
                          <a:ea typeface="宋体" panose="02010600030101010101" pitchFamily="2" charset="-122"/>
                          <a:cs typeface="Times New Roman" panose="02020603050405020304"/>
                        </a:rPr>
                        <a:t>2016</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光启技术、众应互联、九鼎投资、卫宁健康、金证股份、威帝股份、信维通信、大豪科技、慈文传媒、金石东方、乐凯新材、康斯特、久远银海、西藏药业、南华仪器、红相股份、南极电商、奇正藏药、康弘药业、天孚通信</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4" name="表格 13"/>
          <p:cNvGraphicFramePr>
            <a:graphicFrameLocks noGrp="1"/>
          </p:cNvGraphicFramePr>
          <p:nvPr/>
        </p:nvGraphicFramePr>
        <p:xfrm>
          <a:off x="5725732" y="1052737"/>
          <a:ext cx="6349313" cy="5648117"/>
        </p:xfrm>
        <a:graphic>
          <a:graphicData uri="http://schemas.openxmlformats.org/drawingml/2006/table">
            <a:tbl>
              <a:tblPr firstRow="1" firstCol="1" bandRow="1"/>
              <a:tblGrid>
                <a:gridCol w="948713"/>
                <a:gridCol w="576064"/>
                <a:gridCol w="4824536"/>
              </a:tblGrid>
              <a:tr h="254888">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投资组合</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年度</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kern="100" dirty="0">
                          <a:effectLst/>
                          <a:latin typeface="Calibri" panose="020F0502020204030204"/>
                          <a:ea typeface="宋体" panose="02010600030101010101" pitchFamily="2" charset="-122"/>
                          <a:cs typeface="Times New Roman" panose="02020603050405020304"/>
                        </a:rPr>
                        <a:t>股票名称</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1023">
                <a:tc rowSpan="4">
                  <a:txBody>
                    <a:bodyPr/>
                    <a:lstStyle/>
                    <a:p>
                      <a:pPr algn="l">
                        <a:spcAft>
                          <a:spcPts val="0"/>
                        </a:spcAft>
                      </a:pPr>
                      <a:r>
                        <a:rPr lang="zh-CN" altLang="en-US" sz="1400" kern="100" dirty="0" smtClean="0">
                          <a:effectLst/>
                          <a:latin typeface="Calibri" panose="020F0502020204030204"/>
                          <a:ea typeface="宋体" panose="02010600030101010101" pitchFamily="2" charset="-122"/>
                          <a:cs typeface="Times New Roman" panose="02020603050405020304"/>
                        </a:rPr>
                        <a:t>排名前</a:t>
                      </a:r>
                      <a:r>
                        <a:rPr lang="en-US" altLang="zh-CN" sz="1400" kern="100" dirty="0" smtClean="0">
                          <a:effectLst/>
                          <a:latin typeface="Calibri" panose="020F0502020204030204"/>
                          <a:ea typeface="宋体" panose="02010600030101010101" pitchFamily="2" charset="-122"/>
                          <a:cs typeface="Times New Roman" panose="02020603050405020304"/>
                        </a:rPr>
                        <a:t>40</a:t>
                      </a:r>
                      <a:r>
                        <a:rPr lang="zh-CN" altLang="en-US" sz="1400" kern="100" dirty="0" smtClean="0">
                          <a:effectLst/>
                          <a:latin typeface="Calibri" panose="020F0502020204030204"/>
                          <a:ea typeface="宋体" panose="02010600030101010101" pitchFamily="2" charset="-122"/>
                          <a:cs typeface="Times New Roman" panose="02020603050405020304"/>
                        </a:rPr>
                        <a:t>的股票投资组合</a:t>
                      </a:r>
                      <a:endParaRPr lang="zh-CN" sz="1400" kern="100" dirty="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kern="100">
                          <a:effectLst/>
                          <a:latin typeface="宋体" panose="02010600030101010101" pitchFamily="2" charset="-122"/>
                          <a:ea typeface="宋体" panose="02010600030101010101" pitchFamily="2" charset="-122"/>
                          <a:cs typeface="Times New Roman" panose="02020603050405020304"/>
                        </a:rPr>
                        <a:t>2013</a:t>
                      </a:r>
                      <a:endParaRPr lang="zh-CN" sz="1200" kern="10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altLang="zh-CN" sz="1200" kern="100" dirty="0" smtClean="0">
                          <a:effectLst/>
                          <a:ea typeface="宋体" panose="02010600030101010101" pitchFamily="2" charset="-122"/>
                          <a:cs typeface="Times New Roman" panose="02020603050405020304"/>
                        </a:rPr>
                        <a:t>安信信托、德赛电池、聚龙股份、华谊兄弟、世荣兆业、嘉应制药、碧水源、赤峰黄金、北部湾港、恒康医疗、大华股份、北方国际、掌趣科技、贵州茅台、凯利泰、冠农股份、石基信息、晨鑫科技、潜能恒信、银泰资源、国电南瑞、神州数码、海康威视、信立泰、网宿科技、远光软件、海宁皮城、卫宁健康、恒生电子、重庆路桥、上海临港、翰宇药业、捷成股份、世茂股份、华星创业、上海家化、奥飞娱乐、人民网、东华软件、泰格医药</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1023">
                <a:tc vMerge="1">
                  <a:tcPr/>
                </a:tc>
                <a:tc>
                  <a:txBody>
                    <a:bodyPr/>
                    <a:lstStyle/>
                    <a:p>
                      <a:pPr algn="l">
                        <a:spcAft>
                          <a:spcPts val="0"/>
                        </a:spcAft>
                      </a:pPr>
                      <a:r>
                        <a:rPr lang="en-US" sz="1200" kern="100" dirty="0">
                          <a:effectLst/>
                          <a:latin typeface="宋体" panose="02010600030101010101" pitchFamily="2" charset="-122"/>
                          <a:ea typeface="宋体" panose="02010600030101010101" pitchFamily="2" charset="-122"/>
                          <a:cs typeface="Times New Roman" panose="02020603050405020304"/>
                        </a:rPr>
                        <a:t>2014</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altLang="en-US" sz="1200" kern="100" dirty="0" smtClean="0">
                          <a:effectLst/>
                          <a:latin typeface="Calibri" panose="020F0502020204030204"/>
                          <a:ea typeface="宋体" panose="02010600030101010101" pitchFamily="2" charset="-122"/>
                          <a:cs typeface="Times New Roman" panose="02020603050405020304"/>
                        </a:rPr>
                        <a:t>卫士通、碧水源、天华院、东方财富、卫宁健康、卧龙地产、阳光电源、游族网络、联美控股、千山药机、国睿科技、聚龙股份、恒生电子、机器人、中航电子、莱茵生物、辉煌科技、振芯科技、冠昊生物、美亚柏科、启迪桑德、达安基因、浪潮软件、奥普光电、泛海控股、启明星辰、晨鑫科技、深深房</a:t>
                      </a:r>
                      <a:r>
                        <a:rPr lang="en-US" altLang="zh-CN" sz="1200" kern="100" dirty="0" smtClean="0">
                          <a:effectLst/>
                          <a:latin typeface="Calibri" panose="020F0502020204030204"/>
                          <a:ea typeface="宋体" panose="02010600030101010101" pitchFamily="2" charset="-122"/>
                          <a:cs typeface="Times New Roman" panose="02020603050405020304"/>
                        </a:rPr>
                        <a:t>A</a:t>
                      </a:r>
                      <a:r>
                        <a:rPr lang="zh-CN" altLang="en-US" sz="1200" kern="100" dirty="0" smtClean="0">
                          <a:effectLst/>
                          <a:latin typeface="Calibri" panose="020F0502020204030204"/>
                          <a:ea typeface="宋体" panose="02010600030101010101" pitchFamily="2" charset="-122"/>
                          <a:cs typeface="Times New Roman" panose="02020603050405020304"/>
                        </a:rPr>
                        <a:t>、易联众、瀚蓝环境、四创电子、翰宇药业、康达尔、尔康制药、金证股份、东方国信、中海达、人民网、兴源环境、梦洁股份</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1023">
                <a:tc vMerge="1">
                  <a:tcPr/>
                </a:tc>
                <a:tc>
                  <a:txBody>
                    <a:bodyPr/>
                    <a:lstStyle/>
                    <a:p>
                      <a:pPr algn="l">
                        <a:spcAft>
                          <a:spcPts val="0"/>
                        </a:spcAft>
                      </a:pPr>
                      <a:r>
                        <a:rPr lang="en-US" sz="1200" kern="100" dirty="0">
                          <a:effectLst/>
                          <a:latin typeface="宋体" panose="02010600030101010101" pitchFamily="2" charset="-122"/>
                          <a:ea typeface="宋体" panose="02010600030101010101" pitchFamily="2" charset="-122"/>
                          <a:cs typeface="Times New Roman" panose="02020603050405020304"/>
                        </a:rPr>
                        <a:t>2015</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altLang="en-US" sz="1200" kern="100" dirty="0" smtClean="0">
                          <a:effectLst/>
                          <a:latin typeface="Calibri" panose="020F0502020204030204"/>
                          <a:ea typeface="宋体" panose="02010600030101010101" pitchFamily="2" charset="-122"/>
                          <a:cs typeface="Times New Roman" panose="02020603050405020304"/>
                        </a:rPr>
                        <a:t>银之杰、中科曙光、中恒电气、金证股份、京天利、同有科技、朗玛信息、卫宁健康、华金资本、东方通、荣之联、苏交科、赢时胜、同花顺、保变电气、戴维医疗、顺网科技、动力源、蓝盾股份、汇金股份、卫士通、长荣股份、银信科技、神州信息、金智科技、博实股份、思创医惠、立思辰、柘中股份、美亚柏科、科远股份、中国卫星、中科金财、中航资本、拓尔思、网宿科技、石基信息、浪潮软件、赣锋锂业</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0127">
                <a:tc vMerge="1">
                  <a:tcPr/>
                </a:tc>
                <a:tc>
                  <a:txBody>
                    <a:bodyPr/>
                    <a:lstStyle/>
                    <a:p>
                      <a:pPr algn="l">
                        <a:spcAft>
                          <a:spcPts val="0"/>
                        </a:spcAft>
                      </a:pPr>
                      <a:r>
                        <a:rPr lang="en-US" sz="1200" kern="100" dirty="0">
                          <a:effectLst/>
                          <a:latin typeface="宋体" panose="02010600030101010101" pitchFamily="2" charset="-122"/>
                          <a:ea typeface="宋体" panose="02010600030101010101" pitchFamily="2" charset="-122"/>
                          <a:cs typeface="Times New Roman" panose="02020603050405020304"/>
                        </a:rPr>
                        <a:t>2016</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altLang="en-US" sz="1200" kern="100" dirty="0" smtClean="0">
                          <a:effectLst/>
                          <a:latin typeface="Calibri" panose="020F0502020204030204"/>
                          <a:ea typeface="宋体" panose="02010600030101010101" pitchFamily="2" charset="-122"/>
                          <a:cs typeface="Times New Roman" panose="02020603050405020304"/>
                        </a:rPr>
                        <a:t>光启技术、众应互联、九鼎投资、卫宁健康、金证股份、威帝股份、信维通信、大豪科技、慈文传媒、金石东方、乐凯新材、康斯特、久远银海、西藏药业、南华仪器、红相股份、南极电商、奇正藏药、康弘药业、天孚通信、贵州茅台、聚龙股份、分众传媒、恒锋工具、劲拓股份、中核科技、华通医药、海思科、大连电瓷、元力股份、斯莱克、信立泰、东方通、金发拉比、钢研高纳、灵康药业、三环集团、山河药辅、创业软件、博雅生物</a:t>
                      </a:r>
                      <a:endParaRPr lang="zh-CN" sz="1200" kern="100" dirty="0">
                        <a:effectLst/>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9373</Words>
  <Application>WPS 演示</Application>
  <PresentationFormat>自定义</PresentationFormat>
  <Paragraphs>751</Paragraphs>
  <Slides>13</Slides>
  <Notes>14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宋体</vt:lpstr>
      <vt:lpstr>Wingdings</vt:lpstr>
      <vt:lpstr>微软雅黑</vt:lpstr>
      <vt:lpstr>仿宋_GB2312</vt:lpstr>
      <vt:lpstr>Calibri</vt:lpstr>
      <vt:lpstr>Calibri</vt:lpstr>
      <vt:lpstr>方正卡通简体</vt:lpstr>
      <vt:lpstr>Times New Roman</vt:lpstr>
      <vt:lpstr>Arial Unicode MS</vt:lpstr>
      <vt:lpstr>仿宋</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商业融资计划书</dc:title>
  <dc:creator>第一PPT</dc:creator>
  <cp:keywords>www.1ppt.com</cp:keywords>
  <cp:lastModifiedBy>Administrator</cp:lastModifiedBy>
  <cp:revision>1591</cp:revision>
  <dcterms:created xsi:type="dcterms:W3CDTF">2013-01-25T01:44:00Z</dcterms:created>
  <dcterms:modified xsi:type="dcterms:W3CDTF">2020-01-10T03:30:37Z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