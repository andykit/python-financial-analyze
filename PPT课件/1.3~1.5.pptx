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828" r:id="rId2"/>
    <p:sldId id="914" r:id="rId3"/>
    <p:sldId id="953" r:id="rId4"/>
    <p:sldId id="954" r:id="rId5"/>
    <p:sldId id="955" r:id="rId6"/>
    <p:sldId id="952" r:id="rId7"/>
    <p:sldId id="956" r:id="rId8"/>
    <p:sldId id="855" r:id="rId9"/>
    <p:sldId id="928" r:id="rId10"/>
    <p:sldId id="957" r:id="rId11"/>
    <p:sldId id="958" r:id="rId12"/>
    <p:sldId id="960" r:id="rId13"/>
    <p:sldId id="962" r:id="rId14"/>
    <p:sldId id="961" r:id="rId15"/>
    <p:sldId id="964" r:id="rId16"/>
    <p:sldId id="966" r:id="rId17"/>
    <p:sldId id="968" r:id="rId18"/>
    <p:sldId id="967" r:id="rId19"/>
    <p:sldId id="965" r:id="rId20"/>
    <p:sldId id="970" r:id="rId21"/>
    <p:sldId id="969" r:id="rId22"/>
    <p:sldId id="975" r:id="rId23"/>
    <p:sldId id="977" r:id="rId24"/>
    <p:sldId id="978" r:id="rId25"/>
    <p:sldId id="979" r:id="rId26"/>
  </p:sldIdLst>
  <p:sldSz cx="12196763" cy="6858000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张 尚佳" initials="张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F8F8F8"/>
    <a:srgbClr val="17DCF1"/>
    <a:srgbClr val="0DC2D5"/>
    <a:srgbClr val="006BBC"/>
    <a:srgbClr val="00AAA2"/>
    <a:srgbClr val="EFEFEF"/>
    <a:srgbClr val="FFFFFF"/>
    <a:srgbClr val="F0F0F0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044" autoAdjust="0"/>
    <p:restoredTop sz="94270" autoAdjust="0"/>
  </p:normalViewPr>
  <p:slideViewPr>
    <p:cSldViewPr snapToObjects="1">
      <p:cViewPr varScale="1">
        <p:scale>
          <a:sx n="89" d="100"/>
          <a:sy n="89" d="100"/>
        </p:scale>
        <p:origin x="-222" y="-108"/>
      </p:cViewPr>
      <p:guideLst>
        <p:guide orient="horz" pos="2143"/>
        <p:guide pos="38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Objects="1">
      <p:cViewPr varScale="1">
        <p:scale>
          <a:sx n="69" d="100"/>
          <a:sy n="69" d="100"/>
        </p:scale>
        <p:origin x="-283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10686-844B-4A1B-87C8-BB90DB4BAB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48975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sz="1200"/>
            </a:lvl1pPr>
          </a:lstStyle>
          <a:p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0" hangingPunct="0">
              <a:defRPr sz="1200"/>
            </a:lvl1pPr>
          </a:lstStyle>
          <a:p>
            <a:fld id="{B9EEDA17-7CE7-49CA-897E-A1888A19DA62}" type="datetimeFigureOut">
              <a:rPr lang="zh-CN" altLang="en-US"/>
              <a:t>2020/1/12</a:t>
            </a:fld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0" hangingPunct="0">
              <a:defRPr sz="1200"/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0" hangingPunct="0">
              <a:defRPr sz="1200"/>
            </a:lvl1pPr>
          </a:lstStyle>
          <a:p>
            <a:fld id="{CE1689F0-D8FB-450F-A36F-553F26501FEE}" type="slidenum">
              <a:rPr lang="zh-CN" alt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2254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8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E1689F0-D8FB-450F-A36F-553F26501FEE}" type="slidenum">
              <a:rPr lang="zh-CN" altLang="en-US" smtClean="0">
                <a:solidFill>
                  <a:prstClr val="black"/>
                </a:solidFill>
              </a:rPr>
              <a:t>9</a:t>
            </a:fld>
            <a:endParaRPr lang="en-US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Relationship Id="rId14" Type="http://schemas.openxmlformats.org/officeDocument/2006/relationships/image" Target="../media/image1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6170389" y="134946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      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1"/>
            <a:ext cx="10601349" cy="635000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5259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8" name="Freeform 5"/>
          <p:cNvSpPr/>
          <p:nvPr userDrawn="1"/>
        </p:nvSpPr>
        <p:spPr bwMode="auto">
          <a:xfrm>
            <a:off x="63836" y="73173"/>
            <a:ext cx="1227153" cy="486467"/>
          </a:xfrm>
          <a:custGeom>
            <a:avLst/>
            <a:gdLst>
              <a:gd name="T0" fmla="*/ 0 w 1600"/>
              <a:gd name="T1" fmla="*/ 0 h 617"/>
              <a:gd name="T2" fmla="*/ 1429 w 1600"/>
              <a:gd name="T3" fmla="*/ 0 h 617"/>
              <a:gd name="T4" fmla="*/ 1600 w 1600"/>
              <a:gd name="T5" fmla="*/ 308 h 617"/>
              <a:gd name="T6" fmla="*/ 1429 w 1600"/>
              <a:gd name="T7" fmla="*/ 617 h 617"/>
              <a:gd name="T8" fmla="*/ 0 w 1600"/>
              <a:gd name="T9" fmla="*/ 617 h 617"/>
              <a:gd name="T10" fmla="*/ 0 w 160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00" h="617">
                <a:moveTo>
                  <a:pt x="0" y="0"/>
                </a:moveTo>
                <a:lnTo>
                  <a:pt x="1429" y="0"/>
                </a:lnTo>
                <a:lnTo>
                  <a:pt x="1600" y="308"/>
                </a:lnTo>
                <a:lnTo>
                  <a:pt x="1429" y="617"/>
                </a:lnTo>
                <a:lnTo>
                  <a:pt x="0" y="617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 userDrawn="1"/>
        </p:nvSpPr>
        <p:spPr bwMode="auto">
          <a:xfrm>
            <a:off x="1196835" y="73173"/>
            <a:ext cx="10215809" cy="486467"/>
          </a:xfrm>
          <a:custGeom>
            <a:avLst/>
            <a:gdLst>
              <a:gd name="T0" fmla="*/ 0 w 13327"/>
              <a:gd name="T1" fmla="*/ 0 h 617"/>
              <a:gd name="T2" fmla="*/ 13155 w 13327"/>
              <a:gd name="T3" fmla="*/ 0 h 617"/>
              <a:gd name="T4" fmla="*/ 13327 w 13327"/>
              <a:gd name="T5" fmla="*/ 308 h 617"/>
              <a:gd name="T6" fmla="*/ 13155 w 13327"/>
              <a:gd name="T7" fmla="*/ 617 h 617"/>
              <a:gd name="T8" fmla="*/ 0 w 13327"/>
              <a:gd name="T9" fmla="*/ 617 h 617"/>
              <a:gd name="T10" fmla="*/ 171 w 13327"/>
              <a:gd name="T11" fmla="*/ 308 h 617"/>
              <a:gd name="T12" fmla="*/ 0 w 13327"/>
              <a:gd name="T13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27" h="617">
                <a:moveTo>
                  <a:pt x="0" y="0"/>
                </a:moveTo>
                <a:lnTo>
                  <a:pt x="13155" y="0"/>
                </a:lnTo>
                <a:lnTo>
                  <a:pt x="13327" y="308"/>
                </a:lnTo>
                <a:lnTo>
                  <a:pt x="13155" y="617"/>
                </a:lnTo>
                <a:lnTo>
                  <a:pt x="0" y="617"/>
                </a:lnTo>
                <a:lnTo>
                  <a:pt x="171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 userDrawn="1"/>
        </p:nvSpPr>
        <p:spPr bwMode="auto">
          <a:xfrm>
            <a:off x="11320057" y="73173"/>
            <a:ext cx="812871" cy="486467"/>
          </a:xfrm>
          <a:custGeom>
            <a:avLst/>
            <a:gdLst>
              <a:gd name="T0" fmla="*/ 0 w 1060"/>
              <a:gd name="T1" fmla="*/ 0 h 617"/>
              <a:gd name="T2" fmla="*/ 1060 w 1060"/>
              <a:gd name="T3" fmla="*/ 0 h 617"/>
              <a:gd name="T4" fmla="*/ 1060 w 1060"/>
              <a:gd name="T5" fmla="*/ 617 h 617"/>
              <a:gd name="T6" fmla="*/ 0 w 1060"/>
              <a:gd name="T7" fmla="*/ 617 h 617"/>
              <a:gd name="T8" fmla="*/ 172 w 1060"/>
              <a:gd name="T9" fmla="*/ 308 h 617"/>
              <a:gd name="T10" fmla="*/ 0 w 1060"/>
              <a:gd name="T11" fmla="*/ 0 h 6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60" h="617">
                <a:moveTo>
                  <a:pt x="0" y="0"/>
                </a:moveTo>
                <a:lnTo>
                  <a:pt x="1060" y="0"/>
                </a:lnTo>
                <a:lnTo>
                  <a:pt x="1060" y="617"/>
                </a:lnTo>
                <a:lnTo>
                  <a:pt x="0" y="617"/>
                </a:lnTo>
                <a:lnTo>
                  <a:pt x="172" y="30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34" tIns="45717" rIns="91434" bIns="45717" numCol="1" anchor="t" anchorCtr="0" compatLnSpc="1"/>
          <a:lstStyle/>
          <a:p>
            <a:endParaRPr lang="zh-CN" altLang="en-US"/>
          </a:p>
        </p:txBody>
      </p:sp>
      <p:sp>
        <p:nvSpPr>
          <p:cNvPr id="15" name="TextBox 14"/>
          <p:cNvSpPr txBox="1"/>
          <p:nvPr userDrawn="1"/>
        </p:nvSpPr>
        <p:spPr>
          <a:xfrm>
            <a:off x="11537052" y="116633"/>
            <a:ext cx="474797" cy="353937"/>
          </a:xfrm>
          <a:prstGeom prst="rect">
            <a:avLst/>
          </a:prstGeom>
          <a:noFill/>
        </p:spPr>
        <p:txBody>
          <a:bodyPr wrap="none" lIns="91434" tIns="45717" rIns="91434" bIns="45717" rtlCol="0">
            <a:spAutoFit/>
          </a:bodyPr>
          <a:lstStyle/>
          <a:p>
            <a:pPr algn="ctr"/>
            <a:fld id="{B879B013-EF15-44F9-9A4C-93BE492C244C}" type="slidenum">
              <a:rPr lang="zh-CN" altLang="en-US" sz="1700" smtClean="0">
                <a:solidFill>
                  <a:schemeClr val="accent2"/>
                </a:solidFill>
                <a:latin typeface="+mn-ea"/>
                <a:ea typeface="+mn-ea"/>
              </a:rPr>
              <a:t>‹#›</a:t>
            </a:fld>
            <a:endParaRPr lang="zh-CN" altLang="en-US" sz="17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 p14:presetBounceEnd="33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3000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3000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300" fill="hold"/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10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2" dur="3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3" fill="hold">
                                <p:stCondLst>
                                  <p:cond delay="1000"/>
                                </p:stCondLst>
                                <p:childTnLst>
                                  <p:par>
                                    <p:cTn id="14" presetID="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6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7" dur="3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9" grpId="0" animBg="1"/>
          <p:bldP spid="10" grpId="0" animBg="1"/>
        </p:bldLst>
      </p:timing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614" y="4406901"/>
            <a:ext cx="10366375" cy="1362075"/>
          </a:xfrm>
        </p:spPr>
        <p:txBody>
          <a:bodyPr anchor="t"/>
          <a:lstStyle>
            <a:lvl1pPr algn="l">
              <a:defRPr sz="4000" b="1" cap="all">
                <a:solidFill>
                  <a:srgbClr val="F8F8F8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614" y="2906713"/>
            <a:ext cx="10366375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8F8F8"/>
                </a:solidFill>
              </a:defRPr>
            </a:lvl1pPr>
            <a:lvl2pPr marL="457200" indent="0">
              <a:buNone/>
              <a:defRPr sz="1700"/>
            </a:lvl2pPr>
            <a:lvl3pPr marL="914400" indent="0">
              <a:buNone/>
              <a:defRPr sz="1600"/>
            </a:lvl3pPr>
            <a:lvl4pPr marL="1371600" indent="0">
              <a:buNone/>
              <a:defRPr sz="1300"/>
            </a:lvl4pPr>
            <a:lvl5pPr marL="1828800" indent="0">
              <a:buNone/>
              <a:defRPr sz="1300"/>
            </a:lvl5pPr>
            <a:lvl6pPr marL="2286000" indent="0">
              <a:buNone/>
              <a:defRPr sz="1300"/>
            </a:lvl6pPr>
            <a:lvl7pPr marL="2743200" indent="0">
              <a:buNone/>
              <a:defRPr sz="1300"/>
            </a:lvl7pPr>
            <a:lvl8pPr marL="3200400" indent="0">
              <a:buNone/>
              <a:defRPr sz="1300"/>
            </a:lvl8pPr>
            <a:lvl9pPr marL="3657600" indent="0">
              <a:buNone/>
              <a:defRPr sz="13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99" y="1600201"/>
            <a:ext cx="541178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3788" y="1600201"/>
            <a:ext cx="541337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pic>
        <p:nvPicPr>
          <p:cNvPr id="5" name="图片 13" descr="泰迪logo无底色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40" y="6309320"/>
            <a:ext cx="918092" cy="2425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4637"/>
            <a:ext cx="10977563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1" y="1535113"/>
            <a:ext cx="538956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1" y="2174875"/>
            <a:ext cx="538956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6013" y="1535113"/>
            <a:ext cx="5391151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7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6013" y="2174875"/>
            <a:ext cx="539115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7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49"/>
            <a:ext cx="4013201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8850" y="273052"/>
            <a:ext cx="681831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2"/>
            <a:ext cx="4013201" cy="46910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90775" y="4800600"/>
            <a:ext cx="7318375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90775" y="612775"/>
            <a:ext cx="731837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90775" y="5367338"/>
            <a:ext cx="7318375" cy="804863"/>
          </a:xfrm>
        </p:spPr>
        <p:txBody>
          <a:bodyPr/>
          <a:lstStyle>
            <a:lvl1pPr marL="0" indent="0"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9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3963" y="908052"/>
            <a:ext cx="2743201" cy="52181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1" y="908052"/>
            <a:ext cx="8081963" cy="52181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PPECLOGO-eff-0-1"/>
          <p:cNvPicPr>
            <a:picLocks noChangeAspect="1" noChangeArrowheads="1"/>
          </p:cNvPicPr>
          <p:nvPr userDrawn="1"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4146915" y="2886610"/>
            <a:ext cx="1060349" cy="79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3" descr="PPECLOGO-eff-0-2"/>
          <p:cNvPicPr>
            <a:picLocks noChangeAspect="1" noChangeArrowheads="1"/>
          </p:cNvPicPr>
          <p:nvPr userDrawn="1"/>
        </p:nvPicPr>
        <p:blipFill>
          <a:blip r:embed="rId3" cstate="screen"/>
          <a:srcRect/>
          <a:stretch>
            <a:fillRect/>
          </a:stretch>
        </p:blipFill>
        <p:spPr bwMode="auto">
          <a:xfrm>
            <a:off x="8430462" y="2758265"/>
            <a:ext cx="1096814" cy="8389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PPECLOGO-eff-0-3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40451" y="1447780"/>
            <a:ext cx="3013732" cy="2376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5" descr="PPECLOGO-eff-0-1"/>
          <p:cNvPicPr>
            <a:picLocks noChangeAspect="1" noChangeArrowheads="1"/>
          </p:cNvPicPr>
          <p:nvPr userDrawn="1"/>
        </p:nvPicPr>
        <p:blipFill>
          <a:blip r:embed="rId5" cstate="screen"/>
          <a:srcRect/>
          <a:stretch>
            <a:fillRect/>
          </a:stretch>
        </p:blipFill>
        <p:spPr bwMode="auto">
          <a:xfrm>
            <a:off x="4467437" y="3771071"/>
            <a:ext cx="524127" cy="3956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PPECLOGO-eff-0-1"/>
          <p:cNvPicPr>
            <a:picLocks noChangeAspect="1" noChangeArrowheads="1"/>
          </p:cNvPicPr>
          <p:nvPr userDrawn="1"/>
        </p:nvPicPr>
        <p:blipFill>
          <a:blip r:embed="rId6" cstate="screen"/>
          <a:srcRect/>
          <a:stretch>
            <a:fillRect/>
          </a:stretch>
        </p:blipFill>
        <p:spPr bwMode="auto">
          <a:xfrm>
            <a:off x="7376341" y="2904247"/>
            <a:ext cx="401158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PPECLOGO-eff-0-2"/>
          <p:cNvPicPr>
            <a:picLocks noChangeAspect="1" noChangeArrowheads="1"/>
          </p:cNvPicPr>
          <p:nvPr userDrawn="1"/>
        </p:nvPicPr>
        <p:blipFill>
          <a:blip r:embed="rId7" cstate="screen"/>
          <a:srcRect/>
          <a:stretch>
            <a:fillRect/>
          </a:stretch>
        </p:blipFill>
        <p:spPr bwMode="auto">
          <a:xfrm>
            <a:off x="5277818" y="2574150"/>
            <a:ext cx="981731" cy="750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 descr="PPECLOGO-eff-5-4"/>
          <p:cNvPicPr>
            <a:picLocks noChangeAspect="1" noChangeArrowheads="1"/>
          </p:cNvPicPr>
          <p:nvPr userDrawn="1"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3261942" y="3206629"/>
            <a:ext cx="1477636" cy="1123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PPECLOGO-eff-5-2"/>
          <p:cNvPicPr>
            <a:picLocks noChangeAspect="1" noChangeArrowheads="1"/>
          </p:cNvPicPr>
          <p:nvPr userDrawn="1"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352404" y="3446015"/>
            <a:ext cx="1834444" cy="143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PPECLOGO-eff-5-4"/>
          <p:cNvPicPr>
            <a:picLocks noChangeAspect="1" noChangeArrowheads="1"/>
          </p:cNvPicPr>
          <p:nvPr userDrawn="1"/>
        </p:nvPicPr>
        <p:blipFill>
          <a:blip r:embed="rId10" cstate="screen"/>
          <a:srcRect/>
          <a:stretch>
            <a:fillRect/>
          </a:stretch>
        </p:blipFill>
        <p:spPr bwMode="auto">
          <a:xfrm>
            <a:off x="9886102" y="2725339"/>
            <a:ext cx="1116793" cy="851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12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7942801" y="3624922"/>
            <a:ext cx="522112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PPECLOGO-eff-0-1"/>
          <p:cNvPicPr>
            <a:picLocks noChangeAspect="1" noChangeArrowheads="1"/>
          </p:cNvPicPr>
          <p:nvPr userDrawn="1"/>
        </p:nvPicPr>
        <p:blipFill>
          <a:blip r:embed="rId11" cstate="screen"/>
          <a:srcRect/>
          <a:stretch>
            <a:fillRect/>
          </a:stretch>
        </p:blipFill>
        <p:spPr bwMode="auto">
          <a:xfrm>
            <a:off x="11254879" y="2365002"/>
            <a:ext cx="522111" cy="3930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PPECLOGO-eff2-1-2"/>
          <p:cNvPicPr>
            <a:picLocks noChangeAspect="1" noChangeArrowheads="1"/>
          </p:cNvPicPr>
          <p:nvPr userDrawn="1"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2054437" y="2795895"/>
            <a:ext cx="1697366" cy="1428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983627" y="2785815"/>
            <a:ext cx="437445" cy="3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PPECLOGO-eff2-1-4"/>
          <p:cNvPicPr>
            <a:picLocks noChangeAspect="1" noChangeArrowheads="1"/>
          </p:cNvPicPr>
          <p:nvPr userDrawn="1"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19341" y="3325061"/>
            <a:ext cx="703540" cy="5871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239009" y="2909286"/>
            <a:ext cx="360841" cy="302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8" descr="PPECLOGO-eff2-1-3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9744990" y="3446014"/>
            <a:ext cx="282222" cy="236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 L -0.25 0  E" pathEditMode="relative" rAng="0" ptsTypes="">
                                      <p:cBhvr>
                                        <p:cTn id="39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3.33333E-6 L -0.31632 3.33333E-6 " pathEditMode="relative" rAng="0" ptsTypes="AA">
                                      <p:cBhvr>
                                        <p:cTn id="41" dur="3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816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504 -1.85185E-6 L -0.46684 -1.85185E-6 " pathEditMode="relative" rAng="0" ptsTypes="AA">
                                      <p:cBhvr>
                                        <p:cTn id="4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3594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05556E-6 1.11111E-6 L -0.19531 1.11111E-6 " pathEditMode="relative" rAng="0" ptsTypes="AA">
                                      <p:cBhvr>
                                        <p:cTn id="4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774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-0.43594 2.59259E-6 " pathEditMode="relative" rAng="0" ptsTypes="AA">
                                      <p:cBhvr>
                                        <p:cTn id="4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806" y="0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1.85185E-6 L -0.33577 -1.85185E-6 " pathEditMode="relative" rAng="0" ptsTypes="AA">
                                      <p:cBhvr>
                                        <p:cTn id="49" dur="3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788" y="0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35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1.85185E-6 L -0.57188 -1.85185E-6 " pathEditMode="relative" rAng="0" ptsTypes="AA">
                                      <p:cBhvr>
                                        <p:cTn id="53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8594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2.59259E-6 L 0.43906 2.59259E-6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944" y="0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38889E-6 2.96296E-6 L 0.62813 2.96296E-6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406" y="0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63" presetClass="pat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-2.96296E-6 L 0.42465 -2.96296E-6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233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53" presetClass="exit" presetSubtype="16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09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53" presetClass="exit" presetSubtype="16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4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53" presetClass="exit" presetSubtype="16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1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53" presetClass="exit" presetSubtype="16" fill="hold" nodeType="withEffect">
                                  <p:stCondLst>
                                    <p:cond delay="19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4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53" presetClass="exit" presetSubtype="16" fill="hold" nodeType="withEffect">
                                  <p:stCondLst>
                                    <p:cond delay="230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14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1" y="908051"/>
            <a:ext cx="10977563" cy="63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ctr" anchorCtr="0" compatLnSpc="1"/>
          <a:lstStyle/>
          <a:p>
            <a:pPr lvl="0"/>
            <a:r>
              <a:rPr lang="zh-CN" dirty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1" y="1600201"/>
            <a:ext cx="1097756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4" tIns="45717" rIns="91434" bIns="45717" numCol="1" anchor="t" anchorCtr="0" compatLnSpc="1"/>
          <a:lstStyle/>
          <a:p>
            <a:pPr lvl="0"/>
            <a:r>
              <a:rPr lang="zh-CN" dirty="0"/>
              <a:t>单击此处编辑母版文本样式</a:t>
            </a:r>
          </a:p>
          <a:p>
            <a:pPr lvl="1"/>
            <a:r>
              <a:rPr lang="zh-CN" dirty="0"/>
              <a:t>第二级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xStyles>
    <p:titleStyle>
      <a:lvl1pPr algn="l" rtl="0" fontAlgn="base">
        <a:spcBef>
          <a:spcPct val="0"/>
        </a:spcBef>
        <a:spcAft>
          <a:spcPct val="0"/>
        </a:spcAft>
        <a:defRPr sz="2400">
          <a:solidFill>
            <a:schemeClr val="accent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accent1"/>
          </a:solidFill>
          <a:latin typeface="+mn-lt"/>
          <a:ea typeface="仿宋_GB2312" pitchFamily="49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宋体" panose="02010600030101010101" pitchFamily="2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01338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基本数据类型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769789" y="1412776"/>
            <a:ext cx="944813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 smtClean="0">
                <a:latin typeface="+mn-ea"/>
                <a:ea typeface="+mn-ea"/>
              </a:rPr>
              <a:t>      Python</a:t>
            </a:r>
            <a:r>
              <a:rPr lang="zh-CN" altLang="zh-CN" sz="2400" dirty="0">
                <a:latin typeface="+mn-ea"/>
                <a:ea typeface="+mn-ea"/>
              </a:rPr>
              <a:t>基本数据类型包括</a:t>
            </a:r>
            <a:r>
              <a:rPr lang="zh-CN" altLang="zh-CN" sz="2400" dirty="0">
                <a:solidFill>
                  <a:srgbClr val="FF0000"/>
                </a:solidFill>
                <a:latin typeface="+mn-ea"/>
                <a:ea typeface="+mn-ea"/>
              </a:rPr>
              <a:t>数值、字符串、列表、元组、集合、字典</a:t>
            </a:r>
            <a:r>
              <a:rPr lang="zh-CN" altLang="zh-CN" sz="2400" dirty="0">
                <a:latin typeface="+mn-ea"/>
                <a:ea typeface="+mn-ea"/>
              </a:rPr>
              <a:t>。其中列表、元组、集合、字典有时候我们也称为数据容器或者数据结构，通过数据容器或者数据结构可以把数据按照一定的规则存储起来。程序的编写或者程序应用，就是通过操作数据容器中的数据，比如利用数据容器本身的方法，或者利用顺序、条件、循环语句，或者程序块、函数等形式，实现数据的处理、计算，最终达到应用目的。本节将主要介绍这些数据类型的定义，其相关的公有方法和特定数据类型的私有方法，将在</a:t>
            </a:r>
            <a:r>
              <a:rPr lang="en-US" altLang="zh-CN" sz="2400" dirty="0">
                <a:latin typeface="+mn-ea"/>
                <a:ea typeface="+mn-ea"/>
              </a:rPr>
              <a:t>1.4~1.6</a:t>
            </a:r>
            <a:r>
              <a:rPr lang="zh-CN" altLang="zh-CN" sz="2400" dirty="0">
                <a:latin typeface="+mn-ea"/>
                <a:ea typeface="+mn-ea"/>
              </a:rPr>
              <a:t>小节中分别介绍</a:t>
            </a:r>
            <a:r>
              <a:rPr lang="zh-CN" altLang="zh-CN" sz="2400" dirty="0"/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6" y="44625"/>
            <a:ext cx="504222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数值的定义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</a:t>
            </a:r>
            <a:r>
              <a:rPr lang="en-US" altLang="zh-CN" dirty="0">
                <a:solidFill>
                  <a:schemeClr val="accent2"/>
                </a:solidFill>
              </a:rPr>
              <a:t>1 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15" name="文本框 7"/>
          <p:cNvSpPr txBox="1">
            <a:spLocks noChangeArrowheads="1"/>
          </p:cNvSpPr>
          <p:nvPr/>
        </p:nvSpPr>
        <p:spPr bwMode="auto">
          <a:xfrm>
            <a:off x="960071" y="1099727"/>
            <a:ext cx="10106862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kumimoji="1" sz="24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2000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umimoji="1">
                <a:solidFill>
                  <a:srgbClr val="595959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en-US" altLang="zh-CN" sz="2000" dirty="0" smtClean="0"/>
              <a:t>       </a:t>
            </a:r>
            <a:r>
              <a:rPr lang="zh-CN" altLang="zh-CN" sz="2000" dirty="0" smtClean="0"/>
              <a:t>数值</a:t>
            </a:r>
            <a:r>
              <a:rPr lang="zh-CN" altLang="zh-CN" sz="2000" dirty="0"/>
              <a:t>在现实应用中最为广泛，常见的数值包括整型数据和浮点型数据。整型数据常用来表示整数，比如</a:t>
            </a:r>
            <a:r>
              <a:rPr lang="en-US" altLang="zh-CN" sz="2000" dirty="0"/>
              <a:t>0</a:t>
            </a:r>
            <a:r>
              <a:rPr lang="zh-CN" altLang="zh-CN" sz="2000" dirty="0"/>
              <a:t>、</a:t>
            </a:r>
            <a:r>
              <a:rPr lang="en-US" altLang="zh-CN" sz="2000" dirty="0"/>
              <a:t>1</a:t>
            </a:r>
            <a:r>
              <a:rPr lang="zh-CN" altLang="zh-CN" sz="2000" dirty="0"/>
              <a:t>、</a:t>
            </a:r>
            <a:r>
              <a:rPr lang="en-US" altLang="zh-CN" sz="2000" dirty="0"/>
              <a:t>2</a:t>
            </a:r>
            <a:r>
              <a:rPr lang="zh-CN" altLang="zh-CN" sz="2000" dirty="0"/>
              <a:t>、</a:t>
            </a:r>
            <a:r>
              <a:rPr lang="en-US" altLang="zh-CN" sz="2000" dirty="0"/>
              <a:t>3</a:t>
            </a:r>
            <a:r>
              <a:rPr lang="zh-CN" altLang="zh-CN" sz="2000" dirty="0"/>
              <a:t>、</a:t>
            </a:r>
            <a:r>
              <a:rPr lang="en-US" altLang="zh-CN" sz="2000" dirty="0"/>
              <a:t>1002</a:t>
            </a:r>
            <a:r>
              <a:rPr lang="zh-CN" altLang="zh-CN" sz="2000" dirty="0"/>
              <a:t>……；浮点型数据用来表示实数，比如</a:t>
            </a:r>
            <a:r>
              <a:rPr lang="en-US" altLang="zh-CN" sz="2000" dirty="0"/>
              <a:t>1.01</a:t>
            </a:r>
            <a:r>
              <a:rPr lang="zh-CN" altLang="zh-CN" sz="2000" dirty="0"/>
              <a:t>、</a:t>
            </a:r>
            <a:r>
              <a:rPr lang="en-US" altLang="zh-CN" sz="2000" dirty="0"/>
              <a:t>1.2</a:t>
            </a:r>
            <a:r>
              <a:rPr lang="zh-CN" altLang="zh-CN" sz="2000" dirty="0"/>
              <a:t>、</a:t>
            </a:r>
            <a:r>
              <a:rPr lang="en-US" altLang="zh-CN" sz="2000" dirty="0"/>
              <a:t>1.3</a:t>
            </a:r>
            <a:r>
              <a:rPr lang="zh-CN" altLang="zh-CN" sz="2000" dirty="0"/>
              <a:t>。布尔型数据可以看成是一种特殊的整型，只有</a:t>
            </a:r>
            <a:r>
              <a:rPr lang="en-US" altLang="zh-CN" sz="2000" dirty="0"/>
              <a:t>True</a:t>
            </a:r>
            <a:r>
              <a:rPr lang="zh-CN" altLang="zh-CN" sz="2000" dirty="0"/>
              <a:t>和</a:t>
            </a:r>
            <a:r>
              <a:rPr lang="en-US" altLang="zh-CN" sz="2000" dirty="0"/>
              <a:t>False</a:t>
            </a:r>
            <a:r>
              <a:rPr lang="zh-CN" altLang="zh-CN" sz="2000" dirty="0"/>
              <a:t>，分别对应整型的</a:t>
            </a:r>
            <a:r>
              <a:rPr lang="en-US" altLang="zh-CN" sz="2000" dirty="0"/>
              <a:t>1</a:t>
            </a:r>
            <a:r>
              <a:rPr lang="zh-CN" altLang="zh-CN" sz="2000" dirty="0"/>
              <a:t>和</a:t>
            </a:r>
            <a:r>
              <a:rPr lang="en-US" altLang="zh-CN" sz="2000" dirty="0"/>
              <a:t>0</a:t>
            </a:r>
            <a:r>
              <a:rPr lang="zh-CN" altLang="zh-CN" sz="2000" dirty="0" smtClean="0"/>
              <a:t>；</a:t>
            </a:r>
            <a:endParaRPr lang="en-US" altLang="zh-CN" sz="2000" dirty="0" smtClean="0"/>
          </a:p>
          <a:p>
            <a:pPr>
              <a:lnSpc>
                <a:spcPct val="100000"/>
              </a:lnSpc>
              <a:spcBef>
                <a:spcPct val="0"/>
              </a:spcBef>
              <a:buNone/>
            </a:pPr>
            <a:r>
              <a:rPr lang="zh-CN" altLang="en-US" sz="2000" dirty="0" smtClean="0"/>
              <a:t>示例代码如下：</a:t>
            </a:r>
            <a:endParaRPr kumimoji="0" lang="zh-CN" altLang="en-US" sz="20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633885" y="3284984"/>
            <a:ext cx="381642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n1=2              #</a:t>
            </a:r>
            <a:r>
              <a:rPr lang="zh-CN" altLang="zh-CN" dirty="0"/>
              <a:t>整型</a:t>
            </a:r>
          </a:p>
          <a:p>
            <a:r>
              <a:rPr lang="en-US" altLang="zh-CN" dirty="0"/>
              <a:t>n2=1.3            #</a:t>
            </a:r>
            <a:r>
              <a:rPr lang="zh-CN" altLang="zh-CN" dirty="0"/>
              <a:t>浮点</a:t>
            </a:r>
          </a:p>
          <a:p>
            <a:r>
              <a:rPr lang="en-US" altLang="zh-CN" dirty="0"/>
              <a:t>n3=float(2)      </a:t>
            </a:r>
            <a:r>
              <a:rPr lang="en-US" altLang="zh-CN" dirty="0" smtClean="0"/>
              <a:t>#</a:t>
            </a:r>
            <a:r>
              <a:rPr lang="zh-CN" altLang="zh-CN" dirty="0"/>
              <a:t>转换为浮点类型</a:t>
            </a:r>
          </a:p>
          <a:p>
            <a:r>
              <a:rPr lang="en-US" altLang="zh-CN" dirty="0"/>
              <a:t>t=True            #</a:t>
            </a:r>
            <a:r>
              <a:rPr lang="zh-CN" altLang="zh-CN" dirty="0"/>
              <a:t>布尔真</a:t>
            </a:r>
          </a:p>
          <a:p>
            <a:r>
              <a:rPr lang="en-US" altLang="zh-CN" dirty="0"/>
              <a:t>f=False           #</a:t>
            </a:r>
            <a:r>
              <a:rPr lang="zh-CN" altLang="zh-CN" dirty="0"/>
              <a:t>布尔假</a:t>
            </a:r>
          </a:p>
          <a:p>
            <a:r>
              <a:rPr lang="en-US" altLang="zh-CN" dirty="0"/>
              <a:t>n4=t==1</a:t>
            </a:r>
            <a:endParaRPr lang="zh-CN" altLang="zh-CN" dirty="0"/>
          </a:p>
          <a:p>
            <a:r>
              <a:rPr lang="en-US" altLang="zh-CN" dirty="0"/>
              <a:t>n5=f==0</a:t>
            </a:r>
            <a:endParaRPr lang="zh-CN" altLang="zh-CN" dirty="0"/>
          </a:p>
        </p:txBody>
      </p:sp>
      <p:pic>
        <p:nvPicPr>
          <p:cNvPr id="18" name="图片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72994" y="3645024"/>
            <a:ext cx="4693939" cy="19975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72994" y="3212976"/>
            <a:ext cx="303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  执行结果如图</a:t>
            </a:r>
            <a:r>
              <a:rPr lang="en-US" altLang="zh-CN" dirty="0" smtClean="0"/>
              <a:t>1-19</a:t>
            </a:r>
            <a:r>
              <a:rPr lang="zh-CN" altLang="en-US" dirty="0"/>
              <a:t>所示</a:t>
            </a:r>
            <a:r>
              <a:rPr lang="zh-CN" altLang="en-US" dirty="0" smtClean="0"/>
              <a:t>：</a:t>
            </a:r>
            <a:endParaRPr lang="zh-CN" altLang="en-US" dirty="0"/>
          </a:p>
        </p:txBody>
      </p:sp>
      <p:sp>
        <p:nvSpPr>
          <p:cNvPr id="6" name="流程图: 联系 5"/>
          <p:cNvSpPr/>
          <p:nvPr/>
        </p:nvSpPr>
        <p:spPr bwMode="auto">
          <a:xfrm flipV="1">
            <a:off x="6372994" y="3284984"/>
            <a:ext cx="78717" cy="158374"/>
          </a:xfrm>
          <a:prstGeom prst="flowChartConnector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 bwMode="auto">
          <a:xfrm>
            <a:off x="1705893" y="2708920"/>
            <a:ext cx="8784976" cy="45719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 smtClean="0">
              <a:ln>
                <a:noFill/>
              </a:ln>
              <a:solidFill>
                <a:schemeClr val="accent4">
                  <a:lumMod val="50000"/>
                </a:schemeClr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62790" y="5725716"/>
            <a:ext cx="9361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图</a:t>
            </a:r>
            <a:r>
              <a:rPr lang="en-US" altLang="zh-CN" sz="1100" dirty="0" smtClean="0"/>
              <a:t>1-19</a:t>
            </a:r>
            <a:endParaRPr lang="zh-CN" alt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1757" y="639852"/>
            <a:ext cx="10945217" cy="1565012"/>
          </a:xfrm>
        </p:spPr>
        <p:txBody>
          <a:bodyPr/>
          <a:lstStyle/>
          <a:p>
            <a:r>
              <a:rPr lang="en-US" altLang="zh-CN" sz="1800" dirty="0" smtClean="0"/>
              <a:t>       </a:t>
            </a:r>
            <a:r>
              <a:rPr lang="zh-CN" altLang="zh-CN" sz="1800" dirty="0" smtClean="0"/>
              <a:t>字符串</a:t>
            </a:r>
            <a:r>
              <a:rPr lang="zh-CN" altLang="zh-CN" sz="1800" dirty="0"/>
              <a:t>主要用来表示文本数据类型，字符串中的字符可以是数值、</a:t>
            </a:r>
            <a:r>
              <a:rPr lang="en-US" altLang="zh-CN" sz="1800" dirty="0"/>
              <a:t>ASCII</a:t>
            </a:r>
            <a:r>
              <a:rPr lang="zh-CN" altLang="zh-CN" sz="1800" dirty="0"/>
              <a:t>字符、各种符号等。字符串的定义可以用一对单引号或者一对三引号括起来</a:t>
            </a:r>
            <a:r>
              <a:rPr lang="zh-CN" altLang="zh-CN" sz="1800" dirty="0" smtClean="0"/>
              <a:t>。</a:t>
            </a:r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zh-CN" altLang="zh-CN" sz="1800" dirty="0" smtClean="0"/>
              <a:t>示例</a:t>
            </a:r>
            <a:r>
              <a:rPr lang="zh-CN" altLang="zh-CN" sz="1800" dirty="0"/>
              <a:t>代码如下</a:t>
            </a:r>
            <a:r>
              <a:rPr lang="zh-CN" altLang="zh-CN" dirty="0"/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782" y="2204864"/>
            <a:ext cx="10849244" cy="4065316"/>
          </a:xfrm>
        </p:spPr>
        <p:txBody>
          <a:bodyPr/>
          <a:lstStyle/>
          <a:p>
            <a:r>
              <a:rPr lang="en-US" altLang="zh-CN" dirty="0"/>
              <a:t>s1='1234'</a:t>
            </a:r>
            <a:endParaRPr lang="zh-CN" altLang="zh-CN" dirty="0"/>
          </a:p>
          <a:p>
            <a:r>
              <a:rPr lang="en-US" altLang="zh-CN" dirty="0"/>
              <a:t>s2='''hello word!'''</a:t>
            </a:r>
            <a:endParaRPr lang="zh-CN" altLang="zh-CN" dirty="0"/>
          </a:p>
          <a:p>
            <a:r>
              <a:rPr lang="en-US" altLang="zh-CN" dirty="0"/>
              <a:t>s3='I Like </a:t>
            </a:r>
            <a:r>
              <a:rPr lang="en-US" altLang="zh-CN" dirty="0" smtClean="0"/>
              <a:t>python‘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执行结果如图</a:t>
            </a:r>
            <a:r>
              <a:rPr lang="en-US" altLang="zh-CN" dirty="0" smtClean="0"/>
              <a:t>1-20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dirty="0" smtClean="0"/>
              <a:t>                                               </a:t>
            </a:r>
            <a:r>
              <a:rPr lang="zh-CN" altLang="en-US" sz="1100" dirty="0" smtClean="0"/>
              <a:t>图</a:t>
            </a:r>
            <a:r>
              <a:rPr lang="en-US" altLang="zh-CN" sz="1100" dirty="0" smtClean="0"/>
              <a:t>1-20</a:t>
            </a:r>
            <a:endParaRPr lang="en-US" altLang="zh-CN" sz="1100" dirty="0"/>
          </a:p>
          <a:p>
            <a:pPr marL="0" indent="0">
              <a:buNone/>
            </a:pP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1284981" y="116632"/>
            <a:ext cx="49685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1.3.2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字符串的定义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40878" y="4221088"/>
            <a:ext cx="4089551" cy="18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0"/>
            <a:ext cx="10601349" cy="1008781"/>
          </a:xfrm>
        </p:spPr>
        <p:txBody>
          <a:bodyPr/>
          <a:lstStyle/>
          <a:p>
            <a:r>
              <a:rPr lang="en-US" altLang="zh-CN" dirty="0"/>
              <a:t> </a:t>
            </a:r>
            <a:r>
              <a:rPr lang="en-US" altLang="zh-CN" dirty="0" smtClean="0"/>
              <a:t>      </a:t>
            </a:r>
            <a:r>
              <a:rPr lang="zh-CN" altLang="zh-CN" sz="2000" dirty="0" smtClean="0"/>
              <a:t>列表</a:t>
            </a:r>
            <a:r>
              <a:rPr lang="zh-CN" altLang="zh-CN" sz="2000" dirty="0"/>
              <a:t>作为</a:t>
            </a:r>
            <a:r>
              <a:rPr lang="en-US" altLang="zh-CN" sz="2000" dirty="0"/>
              <a:t>Python</a:t>
            </a:r>
            <a:r>
              <a:rPr lang="zh-CN" altLang="zh-CN" sz="2000" dirty="0"/>
              <a:t>中一种数据结构，可以存放不同类型的数据，用中括号括起来进行定义。</a:t>
            </a:r>
            <a:r>
              <a:rPr lang="en-US" altLang="zh-CN" sz="2000" dirty="0"/>
              <a:t/>
            </a:r>
            <a:br>
              <a:rPr lang="en-US" altLang="zh-CN" sz="2000" dirty="0"/>
            </a:br>
            <a:r>
              <a:rPr lang="en-US" altLang="zh-CN" sz="2000" dirty="0" smtClean="0"/>
              <a:t> </a:t>
            </a:r>
            <a:r>
              <a:rPr lang="zh-CN" altLang="zh-CN" sz="2000" dirty="0" smtClean="0"/>
              <a:t>示例</a:t>
            </a:r>
            <a:r>
              <a:rPr lang="zh-CN" altLang="zh-CN" sz="2000" dirty="0"/>
              <a:t>代码如下</a:t>
            </a:r>
            <a:r>
              <a:rPr lang="zh-CN" altLang="zh-CN" dirty="0"/>
              <a:t>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57821" y="1916831"/>
            <a:ext cx="10369153" cy="4209333"/>
          </a:xfrm>
        </p:spPr>
        <p:txBody>
          <a:bodyPr/>
          <a:lstStyle/>
          <a:p>
            <a:r>
              <a:rPr lang="en-US" altLang="zh-CN" dirty="0"/>
              <a:t>L1=[1,2,3,4,5,6]      </a:t>
            </a:r>
            <a:endParaRPr lang="zh-CN" altLang="zh-CN" dirty="0"/>
          </a:p>
          <a:p>
            <a:r>
              <a:rPr lang="en-US" altLang="zh-CN" dirty="0"/>
              <a:t>L2=[1,2,'HE',3,5]</a:t>
            </a:r>
            <a:endParaRPr lang="zh-CN" altLang="zh-CN" dirty="0"/>
          </a:p>
          <a:p>
            <a:r>
              <a:rPr lang="en-US" altLang="zh-CN" dirty="0"/>
              <a:t>L3=['KJ','CK','HELLO</a:t>
            </a:r>
            <a:r>
              <a:rPr lang="en-US" altLang="zh-CN" dirty="0" smtClean="0"/>
              <a:t>']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</a:t>
            </a:r>
            <a:r>
              <a:rPr lang="zh-CN" altLang="en-US" dirty="0" smtClean="0"/>
              <a:t>执行</a:t>
            </a:r>
            <a:r>
              <a:rPr lang="zh-CN" altLang="en-US" dirty="0"/>
              <a:t>结果</a:t>
            </a:r>
            <a:r>
              <a:rPr lang="zh-CN" altLang="en-US" dirty="0" smtClean="0"/>
              <a:t>如图</a:t>
            </a:r>
            <a:r>
              <a:rPr lang="en-US" altLang="zh-CN" dirty="0" smtClean="0"/>
              <a:t>1-21</a:t>
            </a:r>
            <a:r>
              <a:rPr lang="zh-CN" altLang="en-US" dirty="0" smtClean="0"/>
              <a:t>所示</a:t>
            </a:r>
            <a:endParaRPr lang="en-US" altLang="zh-CN" dirty="0" smtClean="0"/>
          </a:p>
          <a:p>
            <a:pPr marL="0" indent="0">
              <a:buNone/>
            </a:pPr>
            <a:endParaRPr lang="zh-CN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zh-CN" altLang="en-US" sz="1100" dirty="0" smtClean="0"/>
              <a:t>                                                                                   图</a:t>
            </a:r>
            <a:r>
              <a:rPr lang="en-US" altLang="zh-CN" sz="1100" dirty="0" smtClean="0"/>
              <a:t>1-21</a:t>
            </a:r>
            <a:endParaRPr lang="en-US" altLang="zh-CN" sz="1100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19356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1.3.3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列表的定义</a:t>
            </a: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0029" y="3573016"/>
            <a:ext cx="3096344" cy="19442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0"/>
            <a:ext cx="10601349" cy="1008782"/>
          </a:xfrm>
        </p:spPr>
        <p:txBody>
          <a:bodyPr/>
          <a:lstStyle/>
          <a:p>
            <a:r>
              <a:rPr lang="en-US" altLang="zh-CN" sz="2000" dirty="0" smtClean="0"/>
              <a:t>       </a:t>
            </a:r>
            <a:r>
              <a:rPr lang="zh-CN" altLang="zh-CN" sz="2000" dirty="0" smtClean="0"/>
              <a:t>元组</a:t>
            </a:r>
            <a:r>
              <a:rPr lang="zh-CN" altLang="zh-CN" sz="2000" dirty="0"/>
              <a:t>与列表类似，也是</a:t>
            </a:r>
            <a:r>
              <a:rPr lang="en-US" altLang="zh-CN" sz="2000" dirty="0"/>
              <a:t>Python</a:t>
            </a:r>
            <a:r>
              <a:rPr lang="zh-CN" altLang="zh-CN" sz="2000" dirty="0"/>
              <a:t>中一种常用数据结构，不同之处在于元组中的元素不能修改，元组采用圆括号括起来进行定义。示例代码如下：</a:t>
            </a:r>
            <a:br>
              <a:rPr lang="zh-CN" altLang="zh-CN" sz="2000" dirty="0"/>
            </a:b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805" y="1988840"/>
            <a:ext cx="10513169" cy="4209332"/>
          </a:xfrm>
        </p:spPr>
        <p:txBody>
          <a:bodyPr/>
          <a:lstStyle/>
          <a:p>
            <a:r>
              <a:rPr lang="en-US" altLang="zh-CN" dirty="0"/>
              <a:t>t1=(1,2,3,4,6)     </a:t>
            </a:r>
            <a:endParaRPr lang="zh-CN" altLang="zh-CN" dirty="0"/>
          </a:p>
          <a:p>
            <a:r>
              <a:rPr lang="en-US" altLang="zh-CN" dirty="0"/>
              <a:t>t2=(1,2,'kl')</a:t>
            </a:r>
            <a:endParaRPr lang="zh-CN" altLang="zh-CN" dirty="0"/>
          </a:p>
          <a:p>
            <a:r>
              <a:rPr lang="en-US" altLang="zh-CN" dirty="0"/>
              <a:t>t3=('h1','h2','h3')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           </a:t>
            </a:r>
            <a:r>
              <a:rPr lang="zh-CN" altLang="zh-CN" dirty="0" smtClean="0"/>
              <a:t>执行</a:t>
            </a:r>
            <a:r>
              <a:rPr lang="zh-CN" altLang="zh-CN" dirty="0"/>
              <a:t>结果如图</a:t>
            </a:r>
            <a:r>
              <a:rPr lang="en-US" altLang="zh-CN" dirty="0"/>
              <a:t>1-22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sz="1100" dirty="0" smtClean="0"/>
              <a:t>                                                                                           图</a:t>
            </a:r>
            <a:r>
              <a:rPr lang="en-US" altLang="zh-CN" sz="1100" dirty="0" smtClean="0"/>
              <a:t>1-22</a:t>
            </a:r>
            <a:endParaRPr lang="zh-CN" altLang="en-US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1417861" y="116632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1.3.4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zh-CN" altLang="en-US" sz="28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的定义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37531" y="3645024"/>
            <a:ext cx="3591803" cy="18304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836712"/>
            <a:ext cx="10551485" cy="792088"/>
          </a:xfrm>
        </p:spPr>
        <p:txBody>
          <a:bodyPr/>
          <a:lstStyle/>
          <a:p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en-US" altLang="zh-CN" sz="2000" dirty="0" smtClean="0"/>
              <a:t>       </a:t>
            </a:r>
            <a:r>
              <a:rPr lang="zh-CN" altLang="zh-CN" sz="2000" dirty="0" smtClean="0"/>
              <a:t>集合也</a:t>
            </a:r>
            <a:r>
              <a:rPr lang="zh-CN" altLang="zh-CN" sz="2000" dirty="0"/>
              <a:t>是</a:t>
            </a:r>
            <a:r>
              <a:rPr lang="en-US" altLang="zh-CN" sz="2000" dirty="0"/>
              <a:t>Python</a:t>
            </a:r>
            <a:r>
              <a:rPr lang="zh-CN" altLang="zh-CN" sz="2000" dirty="0"/>
              <a:t>中的数据结构，是一种不重复元素的序列，用大括号括起来进行定义。示例代码如下：</a:t>
            </a:r>
            <a:br>
              <a:rPr lang="zh-CN" altLang="zh-CN" sz="2000" dirty="0"/>
            </a:b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844824"/>
            <a:ext cx="10601349" cy="4281340"/>
          </a:xfrm>
        </p:spPr>
        <p:txBody>
          <a:bodyPr/>
          <a:lstStyle/>
          <a:p>
            <a:r>
              <a:rPr lang="en-US" altLang="zh-CN" sz="1600" dirty="0"/>
              <a:t>J1={1,'h',2,3,9}   </a:t>
            </a:r>
            <a:endParaRPr lang="zh-CN" altLang="zh-CN" sz="1600" dirty="0"/>
          </a:p>
          <a:p>
            <a:r>
              <a:rPr lang="en-US" altLang="zh-CN" sz="1600" dirty="0"/>
              <a:t>J2={1,'h',2,3,9,2}   </a:t>
            </a:r>
            <a:endParaRPr lang="zh-CN" altLang="zh-CN" sz="1600" dirty="0"/>
          </a:p>
          <a:p>
            <a:r>
              <a:rPr lang="en-US" altLang="zh-CN" sz="1600" dirty="0"/>
              <a:t>J3={'KR','LY','SE'}</a:t>
            </a:r>
            <a:endParaRPr lang="zh-CN" altLang="zh-CN" sz="1600" dirty="0"/>
          </a:p>
          <a:p>
            <a:r>
              <a:rPr lang="en-US" altLang="zh-CN" sz="1600" dirty="0"/>
              <a:t>J4={'KR','LY','SE','SE'}</a:t>
            </a:r>
            <a:endParaRPr lang="zh-CN" altLang="zh-CN" sz="1600" dirty="0"/>
          </a:p>
          <a:p>
            <a:r>
              <a:rPr lang="en-US" altLang="zh-CN" sz="1600" dirty="0"/>
              <a:t>print(J1)</a:t>
            </a:r>
            <a:endParaRPr lang="zh-CN" altLang="zh-CN" sz="1600" dirty="0"/>
          </a:p>
          <a:p>
            <a:r>
              <a:rPr lang="en-US" altLang="zh-CN" sz="1600" dirty="0"/>
              <a:t>print(J2)</a:t>
            </a:r>
            <a:endParaRPr lang="zh-CN" altLang="zh-CN" sz="1600" dirty="0"/>
          </a:p>
          <a:p>
            <a:r>
              <a:rPr lang="en-US" altLang="zh-CN" sz="1600" dirty="0"/>
              <a:t>print(J3)</a:t>
            </a:r>
            <a:endParaRPr lang="zh-CN" altLang="zh-CN" sz="1600" dirty="0"/>
          </a:p>
          <a:p>
            <a:r>
              <a:rPr lang="en-US" altLang="zh-CN" sz="1600" dirty="0"/>
              <a:t>print(J4)</a:t>
            </a:r>
            <a:endParaRPr lang="zh-CN" altLang="zh-CN" sz="1600" dirty="0"/>
          </a:p>
          <a:p>
            <a:r>
              <a:rPr lang="zh-CN" altLang="zh-CN" sz="1600" b="1" dirty="0"/>
              <a:t>执行结果如下：</a:t>
            </a:r>
          </a:p>
          <a:p>
            <a:r>
              <a:rPr lang="en-US" altLang="zh-CN" sz="1600" dirty="0"/>
              <a:t>{1, 2, 3, 'h', 9}</a:t>
            </a:r>
            <a:endParaRPr lang="zh-CN" altLang="zh-CN" sz="1600" dirty="0"/>
          </a:p>
          <a:p>
            <a:r>
              <a:rPr lang="en-US" altLang="zh-CN" sz="1600" dirty="0"/>
              <a:t>{1, 2, 3, 'h', 9}</a:t>
            </a:r>
            <a:endParaRPr lang="zh-CN" altLang="zh-CN" sz="1600" dirty="0"/>
          </a:p>
          <a:p>
            <a:r>
              <a:rPr lang="en-US" altLang="zh-CN" sz="1600" dirty="0"/>
              <a:t>{'LY', 'SE', 'KR'}</a:t>
            </a:r>
            <a:endParaRPr lang="zh-CN" altLang="zh-CN" sz="1600" dirty="0"/>
          </a:p>
          <a:p>
            <a:r>
              <a:rPr lang="en-US" altLang="zh-CN" sz="1600" dirty="0"/>
              <a:t>{'LY', 'SE', 'KR'}</a:t>
            </a:r>
            <a:endParaRPr lang="zh-CN" altLang="zh-CN" sz="1600" dirty="0"/>
          </a:p>
          <a:p>
            <a:r>
              <a:rPr lang="zh-CN" altLang="zh-CN" sz="1600" dirty="0"/>
              <a:t>从执行结果可以看出，集合保持了元素的唯一性，对于重复的元素只取一个。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98406" y="77722"/>
            <a:ext cx="45365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  <a:latin typeface="+mn-ea"/>
                <a:ea typeface="+mn-ea"/>
              </a:rPr>
              <a:t>1.3.5 </a:t>
            </a:r>
            <a:r>
              <a:rPr lang="zh-CN" altLang="en-US" sz="2800" dirty="0" smtClean="0">
                <a:solidFill>
                  <a:schemeClr val="accent2"/>
                </a:solidFill>
                <a:latin typeface="+mn-ea"/>
                <a:ea typeface="+mn-ea"/>
              </a:rPr>
              <a:t>集合的定义</a:t>
            </a:r>
            <a:endParaRPr lang="zh-CN" altLang="en-US" sz="2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48577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9789" y="692696"/>
            <a:ext cx="10657185" cy="1512168"/>
          </a:xfrm>
        </p:spPr>
        <p:txBody>
          <a:bodyPr/>
          <a:lstStyle/>
          <a:p>
            <a:r>
              <a:rPr lang="zh-CN" altLang="zh-CN" sz="1800" dirty="0"/>
              <a:t>字典是</a:t>
            </a:r>
            <a:r>
              <a:rPr lang="en-US" altLang="zh-CN" sz="1800" dirty="0"/>
              <a:t>Python</a:t>
            </a:r>
            <a:r>
              <a:rPr lang="zh-CN" altLang="zh-CN" sz="1800" dirty="0"/>
              <a:t>中一种按键值定义的数据结构，其中键必须唯一，但值不必，用大括号括起来进行定义。字典中的元素由键和值两部分组成，键在前值在后，键和值之间用冒号</a:t>
            </a:r>
            <a:r>
              <a:rPr lang="en-US" altLang="zh-CN" sz="1800" dirty="0"/>
              <a:t>(:)</a:t>
            </a:r>
            <a:r>
              <a:rPr lang="zh-CN" altLang="zh-CN" sz="1800" dirty="0"/>
              <a:t>来区分，元素之间用逗号隔开。键可以是数值、字符，值可以是数值、字符或者其他</a:t>
            </a:r>
            <a:r>
              <a:rPr lang="en-US" altLang="zh-CN" sz="1800" dirty="0"/>
              <a:t>Python</a:t>
            </a:r>
            <a:r>
              <a:rPr lang="zh-CN" altLang="zh-CN" sz="1800" dirty="0"/>
              <a:t>数据结构（比如列表、元组等）</a:t>
            </a:r>
            <a:r>
              <a:rPr lang="zh-CN" altLang="zh-CN" sz="1800" dirty="0" smtClean="0"/>
              <a:t>。</a:t>
            </a:r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zh-CN" altLang="zh-CN" sz="1800" dirty="0" smtClean="0"/>
              <a:t>示例</a:t>
            </a:r>
            <a:r>
              <a:rPr lang="zh-CN" altLang="zh-CN" sz="1800" dirty="0"/>
              <a:t>代码如下：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2455" y="2060848"/>
            <a:ext cx="10657185" cy="4176464"/>
          </a:xfrm>
        </p:spPr>
        <p:txBody>
          <a:bodyPr/>
          <a:lstStyle/>
          <a:p>
            <a:r>
              <a:rPr lang="en-US" altLang="zh-CN" dirty="0"/>
              <a:t>d1={1:'h',2:[1,2,'k'],3:9}</a:t>
            </a:r>
            <a:endParaRPr lang="zh-CN" altLang="zh-CN" dirty="0"/>
          </a:p>
          <a:p>
            <a:r>
              <a:rPr lang="en-US" altLang="zh-CN" dirty="0"/>
              <a:t>d2={'a':2,'b':'ky'}</a:t>
            </a:r>
            <a:endParaRPr lang="zh-CN" altLang="zh-CN" dirty="0"/>
          </a:p>
          <a:p>
            <a:r>
              <a:rPr lang="en-US" altLang="zh-CN" dirty="0"/>
              <a:t>d3={'q1':[90,100],'k2':'kkk'}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          </a:t>
            </a:r>
            <a:r>
              <a:rPr lang="zh-CN" altLang="zh-CN" dirty="0" smtClean="0"/>
              <a:t>执行</a:t>
            </a:r>
            <a:r>
              <a:rPr lang="zh-CN" altLang="zh-CN" dirty="0"/>
              <a:t>结果如图</a:t>
            </a:r>
            <a:r>
              <a:rPr lang="en-US" altLang="zh-CN" dirty="0"/>
              <a:t>1-23</a:t>
            </a:r>
            <a:r>
              <a:rPr lang="zh-CN" altLang="zh-CN" dirty="0"/>
              <a:t>所示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</a:t>
            </a:r>
            <a:endParaRPr lang="zh-CN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r>
              <a:rPr lang="zh-CN" altLang="en-US" sz="1100" dirty="0" smtClean="0"/>
              <a:t>                           </a:t>
            </a:r>
            <a:endParaRPr lang="en-US" altLang="zh-CN" sz="1100" dirty="0" smtClean="0"/>
          </a:p>
          <a:p>
            <a:pPr marL="0" indent="0">
              <a:buNone/>
            </a:pPr>
            <a:r>
              <a:rPr lang="en-US" altLang="zh-CN" sz="1100" dirty="0"/>
              <a:t> </a:t>
            </a:r>
            <a:r>
              <a:rPr lang="en-US" altLang="zh-CN" sz="1100" dirty="0" smtClean="0"/>
              <a:t>                                                                                                                      </a:t>
            </a:r>
            <a:r>
              <a:rPr lang="zh-CN" altLang="en-US" sz="1100" dirty="0" smtClean="0"/>
              <a:t> 图</a:t>
            </a:r>
            <a:r>
              <a:rPr lang="en-US" altLang="zh-CN" sz="1100" dirty="0" smtClean="0"/>
              <a:t>1-23</a:t>
            </a:r>
          </a:p>
          <a:p>
            <a:pPr marL="0" indent="0">
              <a:buNone/>
            </a:pPr>
            <a:endParaRPr lang="en-US" altLang="zh-CN" sz="1100" dirty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92347" y="48538"/>
            <a:ext cx="41044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  <a:latin typeface="+mn-ea"/>
                <a:ea typeface="+mn-ea"/>
              </a:rPr>
              <a:t>1.3.6 </a:t>
            </a:r>
            <a:r>
              <a:rPr lang="zh-CN" altLang="en-US" sz="2800" dirty="0" smtClean="0">
                <a:solidFill>
                  <a:schemeClr val="accent2"/>
                </a:solidFill>
                <a:latin typeface="+mn-ea"/>
                <a:ea typeface="+mn-ea"/>
              </a:rPr>
              <a:t>字典的定义</a:t>
            </a:r>
            <a:endParaRPr lang="zh-CN" altLang="en-US" sz="2800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02037" y="3717032"/>
            <a:ext cx="4392488" cy="2088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6855848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 Python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相关公有方法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1330765" y="1484784"/>
            <a:ext cx="901608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+mn-ea"/>
                <a:ea typeface="+mn-ea"/>
              </a:rPr>
              <a:t>        Python</a:t>
            </a:r>
            <a:r>
              <a:rPr lang="zh-CN" altLang="zh-CN" sz="2800" dirty="0">
                <a:latin typeface="+mn-ea"/>
                <a:ea typeface="+mn-ea"/>
              </a:rPr>
              <a:t>公有方法是指</a:t>
            </a:r>
            <a:r>
              <a:rPr lang="en-US" altLang="zh-CN" sz="2800" dirty="0">
                <a:latin typeface="+mn-ea"/>
                <a:ea typeface="+mn-ea"/>
              </a:rPr>
              <a:t>Python</a:t>
            </a:r>
            <a:r>
              <a:rPr lang="zh-CN" altLang="zh-CN" sz="2800" dirty="0">
                <a:latin typeface="+mn-ea"/>
                <a:ea typeface="+mn-ea"/>
              </a:rPr>
              <a:t>中大部分的数据结构均可以通用的一种数据操作方法。下面主要介绍索引、切片、求长度、统计、成员身份确认、变量删除等常用的数据操作方法，这些操作在程序编写过程中经常使用，将它们归纳总结为公有方法，方便后续的学习和使用。</a:t>
            </a:r>
            <a:endParaRPr lang="zh-CN" altLang="en-US" sz="2800" dirty="0"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Box 54"/>
          <p:cNvSpPr txBox="1"/>
          <p:nvPr/>
        </p:nvSpPr>
        <p:spPr>
          <a:xfrm>
            <a:off x="1330765" y="44625"/>
            <a:ext cx="5919743" cy="523214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>
            <a:defPPr>
              <a:defRPr lang="zh-CN"/>
            </a:defPPr>
            <a:lvl1pPr>
              <a:defRPr sz="3200">
                <a:solidFill>
                  <a:schemeClr val="tx1">
                    <a:lumMod val="75000"/>
                  </a:schemeClr>
                </a:solidFill>
                <a:latin typeface="方正卡通简体" pitchFamily="65" charset="-122"/>
                <a:ea typeface="方正卡通简体" pitchFamily="65" charset="-122"/>
              </a:defRPr>
            </a:lvl1pPr>
          </a:lstStyle>
          <a:p>
            <a:r>
              <a:rPr lang="en-US" altLang="zh-CN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1.4.1 </a:t>
            </a:r>
            <a:r>
              <a:rPr lang="zh-CN" altLang="en-US" sz="2800" dirty="0" smtClean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索引</a:t>
            </a:r>
            <a:endParaRPr lang="zh-CN" altLang="en-US" sz="28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r>
              <a:rPr lang="en-US" altLang="zh-CN" dirty="0" smtClean="0">
                <a:solidFill>
                  <a:schemeClr val="accent2"/>
                </a:solidFill>
              </a:rPr>
              <a:t>1</a:t>
            </a:r>
            <a:endParaRPr lang="zh-CN" altLang="en-US" dirty="0">
              <a:solidFill>
                <a:schemeClr val="accent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41797" y="980728"/>
            <a:ext cx="109452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</a:rPr>
              <a:t>    </a:t>
            </a:r>
            <a:r>
              <a:rPr lang="zh-CN" altLang="zh-CN" dirty="0" smtClean="0">
                <a:solidFill>
                  <a:schemeClr val="accent1"/>
                </a:solidFill>
                <a:latin typeface="+mn-ea"/>
                <a:ea typeface="+mn-ea"/>
              </a:rPr>
              <a:t>索引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即通过下标位置定位来访问指定数据类型变量的值，示例代码如下</a:t>
            </a:r>
            <a:r>
              <a:rPr lang="zh-CN" altLang="zh-CN" dirty="0" smtClean="0">
                <a:solidFill>
                  <a:schemeClr val="accent1"/>
                </a:solidFill>
                <a:latin typeface="+mn-ea"/>
                <a:ea typeface="+mn-ea"/>
              </a:rPr>
              <a:t>：</a:t>
            </a:r>
            <a:endParaRPr lang="en-US" altLang="zh-CN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s3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='I Like python'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L1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=[1,2,3,4,5,6]  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t2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=(1,2,'kl')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d1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={1:'h',2:[1,2,'k'],3:9}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d3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={'q1':[90,100],'k2':'kkk'}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print(s3[0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],s3[1],L1[0],t2[2],d1[3],d3['k2'])</a:t>
            </a:r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           print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('-'*40</a:t>
            </a:r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)</a:t>
            </a:r>
          </a:p>
          <a:p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</a:t>
            </a:r>
            <a:r>
              <a:rPr lang="zh-CN" altLang="zh-CN" b="1" dirty="0" smtClean="0">
                <a:solidFill>
                  <a:schemeClr val="accent1"/>
                </a:solidFill>
                <a:latin typeface="+mn-ea"/>
                <a:ea typeface="+mn-ea"/>
              </a:rPr>
              <a:t>执行</a:t>
            </a:r>
            <a:r>
              <a:rPr lang="zh-CN" altLang="zh-CN" b="1" dirty="0">
                <a:solidFill>
                  <a:schemeClr val="accent1"/>
                </a:solidFill>
                <a:latin typeface="+mn-ea"/>
                <a:ea typeface="+mn-ea"/>
              </a:rPr>
              <a:t>结果如下</a:t>
            </a:r>
            <a:r>
              <a:rPr lang="zh-CN" altLang="zh-CN" b="1" dirty="0" smtClean="0">
                <a:solidFill>
                  <a:schemeClr val="accent1"/>
                </a:solidFill>
                <a:latin typeface="+mn-ea"/>
                <a:ea typeface="+mn-ea"/>
              </a:rPr>
              <a:t>：</a:t>
            </a:r>
            <a:endParaRPr lang="en-US" altLang="zh-CN" b="1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zh-CN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 I   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1 kl 9 </a:t>
            </a:r>
            <a:r>
              <a:rPr lang="en-US" altLang="zh-CN" dirty="0" err="1" smtClean="0">
                <a:solidFill>
                  <a:schemeClr val="accent1"/>
                </a:solidFill>
                <a:latin typeface="+mn-ea"/>
                <a:ea typeface="+mn-ea"/>
              </a:rPr>
              <a:t>kkk</a:t>
            </a:r>
            <a:endParaRPr lang="en-US" altLang="zh-CN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zh-CN" dirty="0">
              <a:solidFill>
                <a:schemeClr val="accent1"/>
              </a:solidFill>
              <a:latin typeface="+mn-ea"/>
              <a:ea typeface="+mn-ea"/>
            </a:endParaRPr>
          </a:p>
          <a:p>
            <a:endParaRPr lang="en-US" altLang="zh-CN" dirty="0" smtClean="0">
              <a:solidFill>
                <a:schemeClr val="accent1"/>
              </a:solidFill>
              <a:latin typeface="+mn-ea"/>
              <a:ea typeface="+mn-ea"/>
            </a:endParaRPr>
          </a:p>
          <a:p>
            <a:r>
              <a:rPr lang="en-US" altLang="zh-CN" dirty="0" smtClean="0">
                <a:solidFill>
                  <a:schemeClr val="accent1"/>
                </a:solidFill>
                <a:latin typeface="+mn-ea"/>
                <a:ea typeface="+mn-ea"/>
              </a:rPr>
              <a:t>        </a:t>
            </a:r>
            <a:r>
              <a:rPr lang="zh-CN" altLang="zh-CN" dirty="0" smtClean="0">
                <a:solidFill>
                  <a:schemeClr val="accent1"/>
                </a:solidFill>
                <a:latin typeface="+mn-ea"/>
                <a:ea typeface="+mn-ea"/>
              </a:rPr>
              <a:t>事实上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，字符串、列表、元组均可以通过其下标的位置访问元素，注意下标从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0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开始。字典则是通过其键值来访问元素。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print('-'*40)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表示输出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40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个“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-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”符号，注意</a:t>
            </a:r>
            <a:r>
              <a:rPr lang="en-US" altLang="zh-CN" dirty="0">
                <a:solidFill>
                  <a:schemeClr val="accent1"/>
                </a:solidFill>
                <a:latin typeface="+mn-ea"/>
                <a:ea typeface="+mn-ea"/>
              </a:rPr>
              <a:t>print</a:t>
            </a:r>
            <a:r>
              <a:rPr lang="zh-CN" altLang="zh-CN" dirty="0">
                <a:solidFill>
                  <a:schemeClr val="accent1"/>
                </a:solidFill>
                <a:latin typeface="+mn-ea"/>
                <a:ea typeface="+mn-ea"/>
              </a:rPr>
              <a:t>函数输出内容要用小括号括起来。需要说明的是，集合类型数据结构，不支持索引访问。</a:t>
            </a:r>
            <a:endParaRPr lang="zh-CN" altLang="en-US" dirty="0">
              <a:solidFill>
                <a:schemeClr val="accent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764704"/>
            <a:ext cx="10601349" cy="778347"/>
          </a:xfrm>
        </p:spPr>
        <p:txBody>
          <a:bodyPr/>
          <a:lstStyle/>
          <a:p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en-US" altLang="zh-CN" sz="1800" dirty="0" smtClean="0"/>
              <a:t>      </a:t>
            </a:r>
            <a:r>
              <a:rPr lang="zh-CN" altLang="zh-CN" sz="1800" dirty="0" smtClean="0"/>
              <a:t>切片</a:t>
            </a:r>
            <a:r>
              <a:rPr lang="zh-CN" altLang="zh-CN" sz="1800" dirty="0"/>
              <a:t>是指定索引位置，对数据实现分块访问或提取的一种数据操作方式，在数据处理中具有广泛的应用。下面简单介绍字符串、列表、元组的切片</a:t>
            </a:r>
            <a:r>
              <a:rPr lang="zh-CN" altLang="zh-CN" sz="1800" dirty="0" smtClean="0"/>
              <a:t>方法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zh-CN" altLang="zh-CN" sz="1800" dirty="0" smtClean="0"/>
              <a:t>示例</a:t>
            </a:r>
            <a:r>
              <a:rPr lang="zh-CN" altLang="zh-CN" sz="1800" dirty="0"/>
              <a:t>代码如下：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9830" y="1548848"/>
            <a:ext cx="2736303" cy="4760472"/>
          </a:xfrm>
        </p:spPr>
        <p:txBody>
          <a:bodyPr/>
          <a:lstStyle/>
          <a:p>
            <a:r>
              <a:rPr lang="en-US" altLang="zh-CN" sz="1200" b="1" dirty="0">
                <a:solidFill>
                  <a:schemeClr val="tx1"/>
                </a:solidFill>
              </a:rPr>
              <a:t>s2='''hello word!'''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L2=[1,2,'HE',3,5]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t2=(1,2,'kl')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s21=s2[0:]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s22=s2[0:4]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s23=s2[:]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s24=s2[1:6:2]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L21=L2[1:3]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L22=L2[2:]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L23=L2[:]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t21=t2[0:2]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t22=t2</a:t>
            </a:r>
            <a:r>
              <a:rPr lang="en-US" altLang="zh-CN" sz="1200" b="1" dirty="0" smtClean="0">
                <a:solidFill>
                  <a:schemeClr val="tx1"/>
                </a:solidFill>
              </a:rPr>
              <a:t>[:]</a:t>
            </a: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print(s21)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print(s22)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print(s23)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print(s24)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print(L21)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print(L22)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print(L23)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print(t21)</a:t>
            </a:r>
            <a:endParaRPr lang="zh-CN" altLang="zh-CN" sz="1200" b="1" dirty="0">
              <a:solidFill>
                <a:schemeClr val="tx1"/>
              </a:solidFill>
            </a:endParaRPr>
          </a:p>
          <a:p>
            <a:r>
              <a:rPr lang="en-US" altLang="zh-CN" sz="1200" b="1" dirty="0">
                <a:solidFill>
                  <a:schemeClr val="tx1"/>
                </a:solidFill>
              </a:rPr>
              <a:t>print(t22</a:t>
            </a:r>
            <a:r>
              <a:rPr lang="en-US" altLang="zh-CN" sz="1200" dirty="0">
                <a:solidFill>
                  <a:schemeClr val="tx1"/>
                </a:solidFill>
              </a:rPr>
              <a:t>)</a:t>
            </a:r>
            <a:endParaRPr lang="zh-CN" altLang="zh-CN" sz="1200" dirty="0">
              <a:solidFill>
                <a:schemeClr val="tx1"/>
              </a:solidFill>
            </a:endParaRPr>
          </a:p>
          <a:p>
            <a:endParaRPr lang="zh-CN" altLang="zh-CN" dirty="0">
              <a:solidFill>
                <a:srgbClr val="00206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49161" y="19355"/>
            <a:ext cx="38884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1.4.2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切片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5810349" y="1268760"/>
            <a:ext cx="4608513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dirty="0"/>
          </a:p>
          <a:p>
            <a:r>
              <a:rPr lang="zh-CN" altLang="zh-CN" dirty="0">
                <a:solidFill>
                  <a:schemeClr val="accent1"/>
                </a:solidFill>
              </a:rPr>
              <a:t>执行结果如下：</a:t>
            </a:r>
          </a:p>
          <a:p>
            <a:r>
              <a:rPr lang="en-US" altLang="zh-CN" dirty="0">
                <a:solidFill>
                  <a:schemeClr val="accent1"/>
                </a:solidFill>
              </a:rPr>
              <a:t>hello word!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hell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hello word!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el 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[2, 'HE']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['HE', 3, 5]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[1, 2, 'HE', 3, 5]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(1, 2)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(1, 2, 'kl')</a:t>
            </a:r>
          </a:p>
        </p:txBody>
      </p:sp>
      <p:sp>
        <p:nvSpPr>
          <p:cNvPr id="6" name="矩形 5"/>
          <p:cNvSpPr/>
          <p:nvPr/>
        </p:nvSpPr>
        <p:spPr>
          <a:xfrm>
            <a:off x="3929927" y="450912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dirty="0" smtClean="0">
                <a:solidFill>
                  <a:schemeClr val="accent1"/>
                </a:solidFill>
              </a:rPr>
              <a:t>       </a:t>
            </a:r>
            <a:endParaRPr lang="zh-CN" altLang="zh-CN" dirty="0">
              <a:solidFill>
                <a:schemeClr val="accent1"/>
              </a:solidFill>
            </a:endParaRPr>
          </a:p>
        </p:txBody>
      </p:sp>
      <p:sp>
        <p:nvSpPr>
          <p:cNvPr id="7" name="流程图: 可选过程 6"/>
          <p:cNvSpPr/>
          <p:nvPr/>
        </p:nvSpPr>
        <p:spPr bwMode="auto">
          <a:xfrm>
            <a:off x="4442197" y="4727864"/>
            <a:ext cx="6624736" cy="1296144"/>
          </a:xfrm>
          <a:prstGeom prst="flowChartAlternateProcess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rtlCol="0" anchor="t" anchorCtr="0" compatLnSpc="1"/>
          <a:lstStyle/>
          <a:p>
            <a:r>
              <a:rPr lang="en-US" altLang="zh-CN" dirty="0" smtClean="0">
                <a:solidFill>
                  <a:schemeClr val="accent1"/>
                </a:solidFill>
              </a:rPr>
              <a:t>      </a:t>
            </a:r>
            <a:r>
              <a:rPr lang="zh-CN" altLang="zh-CN" dirty="0" smtClean="0">
                <a:solidFill>
                  <a:schemeClr val="accent1"/>
                </a:solidFill>
              </a:rPr>
              <a:t>字符串</a:t>
            </a:r>
            <a:r>
              <a:rPr lang="zh-CN" altLang="zh-CN" dirty="0">
                <a:solidFill>
                  <a:schemeClr val="accent1"/>
                </a:solidFill>
              </a:rPr>
              <a:t>的切片，针对字符串中的每个字符进行操作；列表、元组的切片，则是针对其中的元素。切片的方式为：开始索引位置：结束索引位置</a:t>
            </a:r>
            <a:r>
              <a:rPr lang="en-US" altLang="zh-CN" dirty="0">
                <a:solidFill>
                  <a:schemeClr val="accent1"/>
                </a:solidFill>
              </a:rPr>
              <a:t>+1</a:t>
            </a:r>
            <a:r>
              <a:rPr lang="zh-CN" altLang="zh-CN" dirty="0">
                <a:solidFill>
                  <a:schemeClr val="accent1"/>
                </a:solidFill>
              </a:rPr>
              <a:t>。注意开始索引从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  <a:r>
              <a:rPr lang="zh-CN" altLang="zh-CN" dirty="0">
                <a:solidFill>
                  <a:schemeClr val="accent1"/>
                </a:solidFill>
              </a:rPr>
              <a:t>开始，如果省掉开始索引位置或结束索引位置，则默认为</a:t>
            </a:r>
            <a:r>
              <a:rPr lang="en-US" altLang="zh-CN" dirty="0">
                <a:solidFill>
                  <a:schemeClr val="accent1"/>
                </a:solidFill>
              </a:rPr>
              <a:t>0</a:t>
            </a:r>
            <a:r>
              <a:rPr lang="zh-CN" altLang="zh-CN" dirty="0">
                <a:solidFill>
                  <a:schemeClr val="accent1"/>
                </a:solidFill>
              </a:rPr>
              <a:t>或者最后的索引位置。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7781" y="836712"/>
            <a:ext cx="10601349" cy="1008111"/>
          </a:xfrm>
        </p:spPr>
        <p:txBody>
          <a:bodyPr/>
          <a:lstStyle/>
          <a:p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en-US" altLang="zh-CN" sz="1800" dirty="0" smtClean="0"/>
              <a:t>        </a:t>
            </a:r>
            <a:r>
              <a:rPr lang="zh-CN" altLang="zh-CN" sz="1800" dirty="0" smtClean="0"/>
              <a:t>字符串</a:t>
            </a:r>
            <a:r>
              <a:rPr lang="zh-CN" altLang="zh-CN" sz="1800" dirty="0"/>
              <a:t>的长度为字符串中所有字符的个数，其中空格也算一个字符；列表、元组、集合的长度，即为元素的个数；字典的长度为键的个数。求变量数据的长度在程序编写中经常用到，</a:t>
            </a:r>
            <a:r>
              <a:rPr lang="en-US" altLang="zh-CN" sz="1800" dirty="0"/>
              <a:t>Python</a:t>
            </a:r>
            <a:r>
              <a:rPr lang="zh-CN" altLang="zh-CN" sz="1800" dirty="0"/>
              <a:t>中提供了一个函数</a:t>
            </a:r>
            <a:r>
              <a:rPr lang="en-US" altLang="zh-CN" sz="1800" dirty="0" err="1"/>
              <a:t>len</a:t>
            </a:r>
            <a:r>
              <a:rPr lang="en-US" altLang="zh-CN" sz="1800" dirty="0"/>
              <a:t>()</a:t>
            </a:r>
            <a:r>
              <a:rPr lang="zh-CN" altLang="zh-CN" sz="1800" dirty="0"/>
              <a:t>来实现，示例代码如下：</a:t>
            </a:r>
            <a:br>
              <a:rPr lang="zh-CN" altLang="zh-CN" sz="1800" dirty="0"/>
            </a:br>
            <a:endParaRPr lang="zh-CN" altLang="en-US" sz="1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781" y="1988840"/>
            <a:ext cx="10729193" cy="4137324"/>
          </a:xfrm>
        </p:spPr>
        <p:txBody>
          <a:bodyPr/>
          <a:lstStyle/>
          <a:p>
            <a:r>
              <a:rPr lang="en-US" altLang="zh-CN" dirty="0"/>
              <a:t>s3='I Like python'</a:t>
            </a:r>
            <a:endParaRPr lang="zh-CN" altLang="zh-CN" dirty="0"/>
          </a:p>
          <a:p>
            <a:r>
              <a:rPr lang="en-US" altLang="zh-CN" dirty="0"/>
              <a:t>L1=[1,2,3,4,5,6]  </a:t>
            </a:r>
            <a:endParaRPr lang="zh-CN" altLang="zh-CN" dirty="0"/>
          </a:p>
          <a:p>
            <a:r>
              <a:rPr lang="en-US" altLang="zh-CN" dirty="0"/>
              <a:t>t2=(1,2,'kl')</a:t>
            </a:r>
            <a:endParaRPr lang="zh-CN" altLang="zh-CN" dirty="0"/>
          </a:p>
          <a:p>
            <a:r>
              <a:rPr lang="en-US" altLang="zh-CN" dirty="0"/>
              <a:t>J2={1</a:t>
            </a:r>
            <a:r>
              <a:rPr lang="en-US" altLang="zh-CN" dirty="0" smtClean="0"/>
              <a:t>,‘h’,</a:t>
            </a:r>
            <a:r>
              <a:rPr lang="en-US" altLang="zh-CN" dirty="0"/>
              <a:t>2,3,9}  </a:t>
            </a:r>
            <a:r>
              <a:rPr lang="en-US" altLang="zh-CN" dirty="0" smtClean="0"/>
              <a:t>                                                    </a:t>
            </a:r>
            <a:r>
              <a:rPr lang="zh-CN" altLang="en-US" dirty="0" smtClean="0"/>
              <a:t>执行结果如图</a:t>
            </a:r>
            <a:r>
              <a:rPr lang="en-US" altLang="zh-CN" dirty="0" smtClean="0"/>
              <a:t>1-25</a:t>
            </a:r>
            <a:r>
              <a:rPr lang="zh-CN" altLang="en-US" dirty="0" smtClean="0"/>
              <a:t>所示</a:t>
            </a:r>
            <a:r>
              <a:rPr lang="en-US" altLang="zh-CN" dirty="0" smtClean="0"/>
              <a:t>                                               </a:t>
            </a:r>
            <a:endParaRPr lang="zh-CN" altLang="zh-CN" dirty="0"/>
          </a:p>
          <a:p>
            <a:r>
              <a:rPr lang="en-US" altLang="zh-CN" dirty="0"/>
              <a:t>d1={1:'h',2:[1,2,'k'],3:9}</a:t>
            </a:r>
            <a:endParaRPr lang="zh-CN" altLang="zh-CN" dirty="0"/>
          </a:p>
          <a:p>
            <a:r>
              <a:rPr lang="en-US" altLang="zh-CN" dirty="0"/>
              <a:t>k1=</a:t>
            </a:r>
            <a:r>
              <a:rPr lang="en-US" altLang="zh-CN" dirty="0" err="1"/>
              <a:t>len</a:t>
            </a:r>
            <a:r>
              <a:rPr lang="en-US" altLang="zh-CN" dirty="0"/>
              <a:t>(s3)</a:t>
            </a:r>
            <a:endParaRPr lang="zh-CN" altLang="zh-CN" dirty="0"/>
          </a:p>
          <a:p>
            <a:r>
              <a:rPr lang="en-US" altLang="zh-CN" dirty="0"/>
              <a:t>k2=</a:t>
            </a:r>
            <a:r>
              <a:rPr lang="en-US" altLang="zh-CN" dirty="0" err="1"/>
              <a:t>len</a:t>
            </a:r>
            <a:r>
              <a:rPr lang="en-US" altLang="zh-CN" dirty="0"/>
              <a:t>(L1)</a:t>
            </a:r>
            <a:endParaRPr lang="zh-CN" altLang="zh-CN" dirty="0"/>
          </a:p>
          <a:p>
            <a:r>
              <a:rPr lang="en-US" altLang="zh-CN" dirty="0"/>
              <a:t>k3=</a:t>
            </a:r>
            <a:r>
              <a:rPr lang="en-US" altLang="zh-CN" dirty="0" err="1"/>
              <a:t>len</a:t>
            </a:r>
            <a:r>
              <a:rPr lang="en-US" altLang="zh-CN" dirty="0"/>
              <a:t>(t2)</a:t>
            </a:r>
            <a:endParaRPr lang="zh-CN" altLang="zh-CN" dirty="0"/>
          </a:p>
          <a:p>
            <a:r>
              <a:rPr lang="en-US" altLang="zh-CN" dirty="0"/>
              <a:t>k4=</a:t>
            </a:r>
            <a:r>
              <a:rPr lang="en-US" altLang="zh-CN" dirty="0" err="1"/>
              <a:t>len</a:t>
            </a:r>
            <a:r>
              <a:rPr lang="en-US" altLang="zh-CN" dirty="0"/>
              <a:t>(J2)</a:t>
            </a:r>
            <a:endParaRPr lang="zh-CN" altLang="zh-CN" dirty="0"/>
          </a:p>
          <a:p>
            <a:r>
              <a:rPr lang="en-US" altLang="zh-CN" dirty="0"/>
              <a:t>k5=</a:t>
            </a:r>
            <a:r>
              <a:rPr lang="en-US" altLang="zh-CN" dirty="0" err="1"/>
              <a:t>len</a:t>
            </a:r>
            <a:r>
              <a:rPr lang="en-US" altLang="zh-CN" dirty="0"/>
              <a:t>(d1</a:t>
            </a:r>
            <a:r>
              <a:rPr lang="en-US" altLang="zh-CN" dirty="0" smtClean="0"/>
              <a:t>)</a:t>
            </a:r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                                                   </a:t>
            </a:r>
            <a:r>
              <a:rPr lang="zh-CN" altLang="en-US" sz="1100" dirty="0" smtClean="0"/>
              <a:t>图</a:t>
            </a:r>
            <a:r>
              <a:rPr lang="en-US" altLang="zh-CN" sz="1100" dirty="0" smtClean="0"/>
              <a:t>1-25</a:t>
            </a:r>
            <a:endParaRPr lang="zh-CN" altLang="zh-CN" sz="1100" dirty="0"/>
          </a:p>
        </p:txBody>
      </p:sp>
      <p:sp>
        <p:nvSpPr>
          <p:cNvPr id="4" name="TextBox 3"/>
          <p:cNvSpPr txBox="1"/>
          <p:nvPr/>
        </p:nvSpPr>
        <p:spPr>
          <a:xfrm>
            <a:off x="1417861" y="116632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1.4.3 </a:t>
            </a:r>
            <a:r>
              <a:rPr lang="zh-CN" altLang="en-US" sz="2800" dirty="0" smtClean="0">
                <a:solidFill>
                  <a:schemeClr val="accent2"/>
                </a:solidFill>
              </a:rPr>
              <a:t>求长度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pic>
        <p:nvPicPr>
          <p:cNvPr id="5" name="内容占位符 4"/>
          <p:cNvPicPr/>
          <p:nvPr/>
        </p:nvPicPr>
        <p:blipFill>
          <a:blip r:embed="rId2" cstate="print"/>
          <a:stretch>
            <a:fillRect/>
          </a:stretch>
        </p:blipFill>
        <p:spPr bwMode="auto">
          <a:xfrm>
            <a:off x="6674445" y="3645024"/>
            <a:ext cx="4552677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 smtClean="0"/>
              <a:t>       </a:t>
            </a:r>
            <a:r>
              <a:rPr lang="zh-CN" altLang="zh-CN" sz="2000" dirty="0" smtClean="0"/>
              <a:t>统计</a:t>
            </a:r>
            <a:r>
              <a:rPr lang="zh-CN" altLang="zh-CN" sz="2000" dirty="0"/>
              <a:t>包括求最大值、最小值、求和等，可以是列表、元组、字符串</a:t>
            </a:r>
            <a:r>
              <a:rPr lang="zh-CN" altLang="zh-CN" sz="2000" dirty="0" smtClean="0"/>
              <a:t>，</a:t>
            </a:r>
            <a:r>
              <a:rPr lang="en-US" altLang="zh-CN" sz="2000" dirty="0" smtClean="0"/>
              <a:t/>
            </a:r>
            <a:br>
              <a:rPr lang="en-US" altLang="zh-CN" sz="2000" dirty="0" smtClean="0"/>
            </a:br>
            <a:r>
              <a:rPr lang="zh-CN" altLang="zh-CN" sz="2000" dirty="0" smtClean="0"/>
              <a:t>示例</a:t>
            </a:r>
            <a:r>
              <a:rPr lang="zh-CN" altLang="zh-CN" sz="2000" dirty="0"/>
              <a:t>代码如下：</a:t>
            </a: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4997151"/>
          </a:xfrm>
        </p:spPr>
        <p:txBody>
          <a:bodyPr/>
          <a:lstStyle/>
          <a:p>
            <a:r>
              <a:rPr lang="en-US" altLang="zh-CN" sz="1600" dirty="0" smtClean="0"/>
              <a:t>L1</a:t>
            </a:r>
            <a:r>
              <a:rPr lang="en-US" altLang="zh-CN" sz="1600" dirty="0"/>
              <a:t>=[1,2,3,4,5,6]  </a:t>
            </a:r>
            <a:endParaRPr lang="zh-CN" altLang="zh-CN" sz="1600" dirty="0"/>
          </a:p>
          <a:p>
            <a:r>
              <a:rPr lang="en-US" altLang="zh-CN" sz="1600" dirty="0"/>
              <a:t>t1=(1,2,3,4,6)  </a:t>
            </a:r>
            <a:endParaRPr lang="zh-CN" altLang="zh-CN" sz="1600" dirty="0"/>
          </a:p>
          <a:p>
            <a:r>
              <a:rPr lang="en-US" altLang="zh-CN" sz="1600" dirty="0"/>
              <a:t>s2='''hello word!'''</a:t>
            </a:r>
            <a:endParaRPr lang="zh-CN" altLang="zh-CN" sz="1600" dirty="0"/>
          </a:p>
          <a:p>
            <a:r>
              <a:rPr lang="en-US" altLang="zh-CN" sz="1600" dirty="0"/>
              <a:t>m1=max(L1)</a:t>
            </a:r>
            <a:endParaRPr lang="zh-CN" altLang="zh-CN" sz="1600" dirty="0"/>
          </a:p>
          <a:p>
            <a:r>
              <a:rPr lang="en-US" altLang="zh-CN" sz="1600" dirty="0"/>
              <a:t>m2=max(t1)</a:t>
            </a:r>
            <a:endParaRPr lang="zh-CN" altLang="zh-CN" sz="1600" dirty="0"/>
          </a:p>
          <a:p>
            <a:r>
              <a:rPr lang="en-US" altLang="zh-CN" sz="1600" dirty="0"/>
              <a:t>m3=min(L1)</a:t>
            </a:r>
            <a:endParaRPr lang="zh-CN" altLang="zh-CN" sz="1600" dirty="0"/>
          </a:p>
          <a:p>
            <a:r>
              <a:rPr lang="en-US" altLang="zh-CN" sz="1600" dirty="0"/>
              <a:t>m4=sum(t1)</a:t>
            </a:r>
            <a:endParaRPr lang="zh-CN" altLang="zh-CN" sz="1600" dirty="0"/>
          </a:p>
          <a:p>
            <a:r>
              <a:rPr lang="en-US" altLang="zh-CN" sz="1600" dirty="0"/>
              <a:t>m5=max(s2)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       </a:t>
            </a:r>
            <a:r>
              <a:rPr lang="zh-CN" altLang="zh-CN" sz="1600" dirty="0" smtClean="0"/>
              <a:t>执行</a:t>
            </a:r>
            <a:r>
              <a:rPr lang="zh-CN" altLang="zh-CN" sz="1600" dirty="0"/>
              <a:t>结果如图</a:t>
            </a:r>
            <a:r>
              <a:rPr lang="en-US" altLang="zh-CN" sz="1600" dirty="0"/>
              <a:t>1-25</a:t>
            </a:r>
            <a:r>
              <a:rPr lang="zh-CN" altLang="zh-CN" sz="1600" dirty="0"/>
              <a:t>所示</a:t>
            </a:r>
            <a:r>
              <a:rPr lang="zh-CN" altLang="zh-CN" sz="1600" dirty="0" smtClean="0"/>
              <a:t>。</a:t>
            </a:r>
            <a:endParaRPr lang="en-US" altLang="zh-CN" sz="1600" dirty="0" smtClean="0"/>
          </a:p>
          <a:p>
            <a:endParaRPr lang="en-US" altLang="zh-CN" dirty="0"/>
          </a:p>
          <a:p>
            <a:endParaRPr lang="zh-CN" altLang="zh-CN" dirty="0"/>
          </a:p>
          <a:p>
            <a:pPr marL="0" indent="0">
              <a:buNone/>
            </a:pPr>
            <a:r>
              <a:rPr lang="en-US" altLang="zh-CN" dirty="0"/>
              <a:t>           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</a:t>
            </a:r>
            <a:r>
              <a:rPr lang="en-US" altLang="zh-CN" dirty="0" smtClean="0"/>
              <a:t>                                                        </a:t>
            </a:r>
            <a:r>
              <a:rPr lang="zh-CN" altLang="zh-CN" sz="1100" dirty="0"/>
              <a:t>图</a:t>
            </a:r>
            <a:r>
              <a:rPr lang="en-US" altLang="zh-CN" sz="1100" dirty="0"/>
              <a:t>1-25</a:t>
            </a:r>
            <a:endParaRPr lang="zh-CN" altLang="zh-CN" sz="1100" dirty="0"/>
          </a:p>
          <a:p>
            <a:pPr marL="0" indent="0">
              <a:buNone/>
            </a:pPr>
            <a:r>
              <a:rPr lang="zh-CN" altLang="zh-CN" sz="1800" dirty="0" smtClean="0"/>
              <a:t>其中</a:t>
            </a:r>
            <a:r>
              <a:rPr lang="zh-CN" altLang="zh-CN" sz="1800" dirty="0"/>
              <a:t>，字符串求最大值，返回排序靠后的字符。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72534" y="77621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1.4.4 </a:t>
            </a:r>
            <a:r>
              <a:rPr lang="zh-CN" altLang="en-US" sz="2800" dirty="0" smtClean="0">
                <a:solidFill>
                  <a:schemeClr val="accent2"/>
                </a:solidFill>
              </a:rPr>
              <a:t>统计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74045" y="4221088"/>
            <a:ext cx="3007206" cy="16561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639853"/>
            <a:ext cx="10601349" cy="700916"/>
          </a:xfrm>
        </p:spPr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     </a:t>
            </a:r>
            <a:r>
              <a:rPr lang="zh-CN" altLang="zh-CN" sz="1800" dirty="0" smtClean="0"/>
              <a:t>成员</a:t>
            </a:r>
            <a:r>
              <a:rPr lang="zh-CN" altLang="zh-CN" sz="1800" dirty="0"/>
              <a:t>身份的确认，用</a:t>
            </a:r>
            <a:r>
              <a:rPr lang="en-US" altLang="zh-CN" sz="1800" dirty="0"/>
              <a:t>in</a:t>
            </a:r>
            <a:r>
              <a:rPr lang="zh-CN" altLang="zh-CN" sz="1800" dirty="0"/>
              <a:t>命令，用来判断某个元素是否属于指定的数据结构</a:t>
            </a:r>
            <a:r>
              <a:rPr lang="zh-CN" altLang="zh-CN" sz="1800" dirty="0" smtClean="0"/>
              <a:t>变量</a:t>
            </a:r>
            <a:r>
              <a:rPr lang="zh-CN" altLang="en-US" sz="1800" dirty="0" smtClean="0"/>
              <a:t>。</a:t>
            </a:r>
            <a:r>
              <a:rPr lang="en-US" altLang="zh-CN" sz="1800" dirty="0" smtClean="0"/>
              <a:t/>
            </a:r>
            <a:br>
              <a:rPr lang="en-US" altLang="zh-CN" sz="1800" dirty="0" smtClean="0"/>
            </a:br>
            <a:r>
              <a:rPr lang="zh-CN" altLang="zh-CN" sz="1800" dirty="0" smtClean="0"/>
              <a:t>示例</a:t>
            </a:r>
            <a:r>
              <a:rPr lang="zh-CN" altLang="zh-CN" sz="1800" dirty="0"/>
              <a:t>代码如下：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97781" y="1412776"/>
            <a:ext cx="10729193" cy="5544616"/>
          </a:xfrm>
        </p:spPr>
        <p:txBody>
          <a:bodyPr/>
          <a:lstStyle/>
          <a:p>
            <a:r>
              <a:rPr lang="en-US" altLang="zh-CN" sz="1800" dirty="0"/>
              <a:t>L1=[1,2,3,4,5,6]  </a:t>
            </a:r>
            <a:endParaRPr lang="zh-CN" altLang="zh-CN" sz="1800" dirty="0"/>
          </a:p>
          <a:p>
            <a:r>
              <a:rPr lang="en-US" altLang="zh-CN" sz="1800" dirty="0"/>
              <a:t>t1=(1,2,3,4,6)  </a:t>
            </a:r>
            <a:endParaRPr lang="zh-CN" altLang="zh-CN" sz="1800" dirty="0"/>
          </a:p>
          <a:p>
            <a:r>
              <a:rPr lang="en-US" altLang="zh-CN" sz="1800" dirty="0"/>
              <a:t>s2='''hello word!'''</a:t>
            </a:r>
            <a:endParaRPr lang="zh-CN" altLang="zh-CN" sz="1800" dirty="0"/>
          </a:p>
          <a:p>
            <a:r>
              <a:rPr lang="en-US" altLang="zh-CN" sz="1800" dirty="0"/>
              <a:t>J2={1,'h',2,3,9,'SE'}  </a:t>
            </a:r>
            <a:endParaRPr lang="zh-CN" altLang="zh-CN" sz="1800" dirty="0"/>
          </a:p>
          <a:p>
            <a:r>
              <a:rPr lang="en-US" altLang="zh-CN" sz="1800" dirty="0"/>
              <a:t>z1='I' in s2</a:t>
            </a:r>
            <a:endParaRPr lang="zh-CN" altLang="zh-CN" sz="1800" dirty="0"/>
          </a:p>
          <a:p>
            <a:r>
              <a:rPr lang="en-US" altLang="zh-CN" sz="1800" dirty="0"/>
              <a:t>z2='</a:t>
            </a:r>
            <a:r>
              <a:rPr lang="en-US" altLang="zh-CN" sz="1800" dirty="0" err="1"/>
              <a:t>kj</a:t>
            </a:r>
            <a:r>
              <a:rPr lang="en-US" altLang="zh-CN" sz="1800" dirty="0"/>
              <a:t>' in L1</a:t>
            </a:r>
            <a:endParaRPr lang="zh-CN" altLang="zh-CN" sz="1800" dirty="0"/>
          </a:p>
          <a:p>
            <a:r>
              <a:rPr lang="en-US" altLang="zh-CN" sz="1800" dirty="0"/>
              <a:t>z3=2 in </a:t>
            </a:r>
            <a:r>
              <a:rPr lang="en-US" altLang="zh-CN" sz="1800" dirty="0" smtClean="0"/>
              <a:t>t1</a:t>
            </a:r>
            <a:endParaRPr lang="en-US" altLang="zh-CN" sz="1800" dirty="0"/>
          </a:p>
          <a:p>
            <a:r>
              <a:rPr lang="en-US" altLang="zh-CN" sz="1800" dirty="0" smtClean="0"/>
              <a:t>z4</a:t>
            </a:r>
            <a:r>
              <a:rPr lang="en-US" altLang="zh-CN" sz="1800" dirty="0"/>
              <a:t>='SE' in </a:t>
            </a:r>
            <a:r>
              <a:rPr lang="en-US" altLang="zh-CN" sz="1800" dirty="0" smtClean="0"/>
              <a:t>J2</a:t>
            </a:r>
            <a:endParaRPr lang="en-US" altLang="zh-CN" sz="1800" dirty="0"/>
          </a:p>
          <a:p>
            <a:pPr marL="0" indent="0">
              <a:buNone/>
            </a:pPr>
            <a:r>
              <a:rPr lang="en-US" altLang="zh-CN" sz="1600" dirty="0"/>
              <a:t> </a:t>
            </a:r>
            <a:r>
              <a:rPr lang="en-US" altLang="zh-CN" sz="1600" dirty="0" smtClean="0"/>
              <a:t>                 </a:t>
            </a:r>
            <a:r>
              <a:rPr lang="zh-CN" altLang="zh-CN" sz="1600" dirty="0" smtClean="0"/>
              <a:t>执行</a:t>
            </a:r>
            <a:r>
              <a:rPr lang="zh-CN" altLang="zh-CN" sz="1600" dirty="0"/>
              <a:t>结果如图</a:t>
            </a:r>
            <a:r>
              <a:rPr lang="en-US" altLang="zh-CN" sz="1600" dirty="0"/>
              <a:t>1-26</a:t>
            </a:r>
            <a:r>
              <a:rPr lang="zh-CN" altLang="zh-CN" sz="1600" dirty="0"/>
              <a:t>所</a:t>
            </a:r>
            <a:r>
              <a:rPr lang="zh-CN" altLang="zh-CN" sz="1600" dirty="0" smtClean="0"/>
              <a:t>示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                                                             </a:t>
            </a:r>
            <a:endParaRPr lang="zh-CN" altLang="zh-CN" sz="1600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zh-CN" altLang="en-US" sz="1800" dirty="0" smtClean="0"/>
              <a:t>                                                           </a:t>
            </a:r>
            <a:r>
              <a:rPr lang="zh-CN" altLang="en-US" sz="1100" dirty="0" smtClean="0"/>
              <a:t>图</a:t>
            </a:r>
            <a:r>
              <a:rPr lang="en-US" altLang="zh-CN" sz="1100" dirty="0" smtClean="0"/>
              <a:t>1-26</a:t>
            </a:r>
          </a:p>
          <a:p>
            <a:pPr marL="0" indent="0">
              <a:buNone/>
            </a:pPr>
            <a:r>
              <a:rPr lang="zh-CN" altLang="zh-CN" sz="1800" dirty="0" smtClean="0"/>
              <a:t>返回</a:t>
            </a:r>
            <a:r>
              <a:rPr lang="zh-CN" altLang="zh-CN" sz="1800" dirty="0"/>
              <a:t>结果用</a:t>
            </a:r>
            <a:r>
              <a:rPr lang="en-US" altLang="zh-CN" sz="1800" dirty="0"/>
              <a:t>True</a:t>
            </a:r>
            <a:r>
              <a:rPr lang="zh-CN" altLang="zh-CN" sz="1800" dirty="0"/>
              <a:t>、</a:t>
            </a:r>
            <a:r>
              <a:rPr lang="en-US" altLang="zh-CN" sz="1800" dirty="0" err="1"/>
              <a:t>Fals</a:t>
            </a:r>
            <a:r>
              <a:rPr lang="zh-CN" altLang="zh-CN" sz="1800" dirty="0"/>
              <a:t>表示，其中</a:t>
            </a:r>
            <a:r>
              <a:rPr lang="en-US" altLang="zh-CN" sz="1800" dirty="0"/>
              <a:t>False</a:t>
            </a:r>
            <a:r>
              <a:rPr lang="zh-CN" altLang="zh-CN" sz="1800" dirty="0"/>
              <a:t>表示假，</a:t>
            </a:r>
            <a:r>
              <a:rPr lang="en-US" altLang="zh-CN" sz="1800" dirty="0"/>
              <a:t>True</a:t>
            </a:r>
            <a:r>
              <a:rPr lang="zh-CN" altLang="zh-CN" sz="1800" dirty="0"/>
              <a:t>表示真</a:t>
            </a:r>
            <a:r>
              <a:rPr lang="zh-CN" altLang="zh-CN" dirty="0"/>
              <a:t>。</a:t>
            </a:r>
          </a:p>
          <a:p>
            <a:pPr marL="0" indent="0">
              <a:buNone/>
            </a:pPr>
            <a:endParaRPr lang="en-US" altLang="zh-CN" dirty="0" smtClean="0"/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17861" y="116632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1.4.5</a:t>
            </a:r>
            <a:r>
              <a:rPr lang="zh-CN" altLang="en-US" sz="2800" dirty="0" smtClean="0">
                <a:solidFill>
                  <a:schemeClr val="accent2"/>
                </a:solidFill>
              </a:rPr>
              <a:t>成员身份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18061" y="4437112"/>
            <a:ext cx="3456384" cy="16890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720"/>
            <a:ext cx="10601349" cy="1100402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      </a:t>
            </a:r>
            <a:r>
              <a:rPr lang="zh-CN" altLang="zh-CN" sz="2000" dirty="0" smtClean="0"/>
              <a:t>程序运行</a:t>
            </a:r>
            <a:r>
              <a:rPr lang="zh-CN" altLang="zh-CN" sz="2000" dirty="0"/>
              <a:t>过程中，可以存在大量的中间变量，这些变量一来占用空间，二来影响可读性</a:t>
            </a:r>
            <a:r>
              <a:rPr lang="zh-CN" altLang="zh-CN" sz="2000" dirty="0" smtClean="0"/>
              <a:t>，可以</a:t>
            </a:r>
            <a:r>
              <a:rPr lang="zh-CN" altLang="zh-CN" sz="2000" dirty="0"/>
              <a:t>使用</a:t>
            </a:r>
            <a:r>
              <a:rPr lang="en-US" altLang="zh-CN" sz="2000" dirty="0"/>
              <a:t>del</a:t>
            </a:r>
            <a:r>
              <a:rPr lang="zh-CN" altLang="zh-CN" sz="2000" dirty="0"/>
              <a:t>命令删除不必要的中间变量。示例代码如下：</a:t>
            </a:r>
            <a:br>
              <a:rPr lang="zh-CN" altLang="zh-CN" sz="2000" dirty="0"/>
            </a:b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29829" y="2348880"/>
            <a:ext cx="10297145" cy="3777284"/>
          </a:xfrm>
        </p:spPr>
        <p:txBody>
          <a:bodyPr/>
          <a:lstStyle/>
          <a:p>
            <a:r>
              <a:rPr lang="en-US" altLang="zh-CN" dirty="0"/>
              <a:t>a=[1,2,3,4];</a:t>
            </a:r>
            <a:endParaRPr lang="zh-CN" altLang="zh-CN" dirty="0"/>
          </a:p>
          <a:p>
            <a:r>
              <a:rPr lang="en-US" altLang="zh-CN" dirty="0"/>
              <a:t>b='</a:t>
            </a:r>
            <a:r>
              <a:rPr lang="en-US" altLang="zh-CN" dirty="0" err="1"/>
              <a:t>srt</a:t>
            </a:r>
            <a:r>
              <a:rPr lang="en-US" altLang="zh-CN" dirty="0"/>
              <a:t>'</a:t>
            </a:r>
            <a:endParaRPr lang="zh-CN" altLang="zh-CN" dirty="0"/>
          </a:p>
          <a:p>
            <a:r>
              <a:rPr lang="en-US" altLang="zh-CN" dirty="0"/>
              <a:t>c={1:4,2:7,3:8,4:9}</a:t>
            </a:r>
            <a:endParaRPr lang="zh-CN" altLang="zh-CN" dirty="0"/>
          </a:p>
          <a:p>
            <a:r>
              <a:rPr lang="en-US" altLang="zh-CN" dirty="0"/>
              <a:t>del </a:t>
            </a:r>
            <a:r>
              <a:rPr lang="en-US" altLang="zh-CN" dirty="0" err="1" smtClean="0"/>
              <a:t>a,b</a:t>
            </a:r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zh-CN" dirty="0" smtClean="0"/>
              <a:t>执行</a:t>
            </a:r>
            <a:r>
              <a:rPr lang="zh-CN" altLang="zh-CN" dirty="0"/>
              <a:t>该程序代码，删除了</a:t>
            </a:r>
            <a:r>
              <a:rPr lang="en-US" altLang="zh-CN" dirty="0"/>
              <a:t>a</a:t>
            </a:r>
            <a:r>
              <a:rPr lang="zh-CN" altLang="zh-CN" dirty="0"/>
              <a:t>、</a:t>
            </a:r>
            <a:r>
              <a:rPr lang="en-US" altLang="zh-CN" dirty="0"/>
              <a:t>b</a:t>
            </a:r>
            <a:r>
              <a:rPr lang="zh-CN" altLang="zh-CN" dirty="0"/>
              <a:t>两个变量，而变量</a:t>
            </a:r>
            <a:r>
              <a:rPr lang="en-US" altLang="zh-CN" dirty="0"/>
              <a:t>c</a:t>
            </a:r>
            <a:r>
              <a:rPr lang="zh-CN" altLang="zh-CN" dirty="0"/>
              <a:t>保留。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89869" y="116632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1.4.6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变量删除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81758" y="692697"/>
            <a:ext cx="10729192" cy="1512168"/>
          </a:xfrm>
        </p:spPr>
        <p:txBody>
          <a:bodyPr/>
          <a:lstStyle/>
          <a:p>
            <a:r>
              <a:rPr lang="en-US" altLang="zh-CN" sz="1800" dirty="0" smtClean="0"/>
              <a:t>       </a:t>
            </a:r>
            <a:r>
              <a:rPr lang="zh-CN" altLang="zh-CN" sz="1800" dirty="0" smtClean="0"/>
              <a:t>这里</a:t>
            </a:r>
            <a:r>
              <a:rPr lang="zh-CN" altLang="zh-CN" sz="1800" dirty="0"/>
              <a:t>主要介绍列表中一些常用的方法，包括空列表的产生、向列表中添加元素、列表扩展、列表中元素的统计、返回列表中的</a:t>
            </a:r>
            <a:r>
              <a:rPr lang="en-US" altLang="zh-CN" sz="1800" dirty="0"/>
              <a:t>index</a:t>
            </a:r>
            <a:r>
              <a:rPr lang="zh-CN" altLang="zh-CN" sz="1800" dirty="0"/>
              <a:t>下标、删除列表元素、对列表进行排序等。为方便说明相关方法的应用，下面定义几个列表，定义代码如下：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9789" y="2060848"/>
            <a:ext cx="9073008" cy="1224137"/>
          </a:xfrm>
        </p:spPr>
        <p:txBody>
          <a:bodyPr/>
          <a:lstStyle/>
          <a:p>
            <a:r>
              <a:rPr lang="en-US" altLang="zh-CN" sz="1600" dirty="0"/>
              <a:t>L1=[1,2,3,4,5,6]      </a:t>
            </a:r>
            <a:endParaRPr lang="zh-CN" altLang="zh-CN" sz="1600" dirty="0"/>
          </a:p>
          <a:p>
            <a:r>
              <a:rPr lang="en-US" altLang="zh-CN" sz="1600" dirty="0"/>
              <a:t>L2=[1,2,'HE',3,5]</a:t>
            </a:r>
            <a:endParaRPr lang="zh-CN" altLang="zh-CN" sz="1600" dirty="0"/>
          </a:p>
          <a:p>
            <a:r>
              <a:rPr lang="en-US" altLang="zh-CN" sz="1600" dirty="0"/>
              <a:t>L3=['KJ','CK','HELLO']</a:t>
            </a:r>
            <a:endParaRPr lang="zh-CN" altLang="zh-CN" sz="1600" dirty="0"/>
          </a:p>
          <a:p>
            <a:r>
              <a:rPr lang="en-US" altLang="zh-CN" sz="1600" dirty="0"/>
              <a:t>L4=[1,4,2,3,8,4,7]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b="1" dirty="0">
                <a:latin typeface="+mj-ea"/>
              </a:rPr>
              <a:t>1. </a:t>
            </a:r>
            <a:r>
              <a:rPr lang="zh-CN" altLang="zh-CN" b="1" dirty="0">
                <a:latin typeface="+mj-ea"/>
              </a:rPr>
              <a:t>创建空列表：</a:t>
            </a:r>
            <a:r>
              <a:rPr lang="en-US" altLang="zh-CN" b="1" dirty="0">
                <a:latin typeface="+mj-ea"/>
              </a:rPr>
              <a:t>list()</a:t>
            </a:r>
            <a:endParaRPr lang="zh-CN" altLang="zh-CN" b="1" dirty="0">
              <a:latin typeface="+mj-ea"/>
            </a:endParaRP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84635" y="44624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1.5.1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列表方法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769789" y="3717032"/>
            <a:ext cx="631202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zh-CN" dirty="0">
                <a:solidFill>
                  <a:schemeClr val="accent1"/>
                </a:solidFill>
              </a:rPr>
              <a:t>在</a:t>
            </a:r>
            <a:r>
              <a:rPr lang="en-US" altLang="zh-CN" dirty="0">
                <a:solidFill>
                  <a:schemeClr val="accent1"/>
                </a:solidFill>
              </a:rPr>
              <a:t>Python</a:t>
            </a:r>
            <a:r>
              <a:rPr lang="zh-CN" altLang="zh-CN" dirty="0">
                <a:solidFill>
                  <a:schemeClr val="accent1"/>
                </a:solidFill>
              </a:rPr>
              <a:t>中，用</a:t>
            </a:r>
            <a:r>
              <a:rPr lang="en-US" altLang="zh-CN" dirty="0">
                <a:solidFill>
                  <a:schemeClr val="accent1"/>
                </a:solidFill>
              </a:rPr>
              <a:t>list</a:t>
            </a:r>
            <a:r>
              <a:rPr lang="zh-CN" altLang="zh-CN" dirty="0">
                <a:solidFill>
                  <a:schemeClr val="accent1"/>
                </a:solidFill>
              </a:rPr>
              <a:t>函数创建空的列表，也可以用“</a:t>
            </a:r>
            <a:r>
              <a:rPr lang="en-US" altLang="zh-CN" dirty="0">
                <a:solidFill>
                  <a:schemeClr val="accent1"/>
                </a:solidFill>
              </a:rPr>
              <a:t>[]</a:t>
            </a:r>
            <a:r>
              <a:rPr lang="zh-CN" altLang="zh-CN" dirty="0">
                <a:solidFill>
                  <a:schemeClr val="accent1"/>
                </a:solidFill>
              </a:rPr>
              <a:t>”来定义。在程序编写过程中，预定义变量是常见的，其中列表就是其中一种常见的方式。示例代码如下：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L=list()  #</a:t>
            </a:r>
            <a:r>
              <a:rPr lang="zh-CN" altLang="zh-CN" dirty="0">
                <a:solidFill>
                  <a:schemeClr val="accent1"/>
                </a:solidFill>
              </a:rPr>
              <a:t>产生空列表</a:t>
            </a:r>
            <a:r>
              <a:rPr lang="en-US" altLang="zh-CN" dirty="0">
                <a:solidFill>
                  <a:schemeClr val="accent1"/>
                </a:solidFill>
              </a:rPr>
              <a:t>L</a:t>
            </a:r>
            <a:endParaRPr lang="zh-CN" altLang="zh-CN" dirty="0">
              <a:solidFill>
                <a:schemeClr val="accent1"/>
              </a:solidFill>
            </a:endParaRPr>
          </a:p>
          <a:p>
            <a:r>
              <a:rPr lang="en-US" altLang="zh-CN" dirty="0">
                <a:solidFill>
                  <a:schemeClr val="accent1"/>
                </a:solidFill>
              </a:rPr>
              <a:t>L=[]    #</a:t>
            </a:r>
            <a:r>
              <a:rPr lang="zh-CN" altLang="zh-CN" dirty="0">
                <a:solidFill>
                  <a:schemeClr val="accent1"/>
                </a:solidFill>
              </a:rPr>
              <a:t>也可以用</a:t>
            </a:r>
            <a:r>
              <a:rPr lang="en-US" altLang="zh-CN" dirty="0">
                <a:solidFill>
                  <a:schemeClr val="accent1"/>
                </a:solidFill>
              </a:rPr>
              <a:t>[]</a:t>
            </a:r>
            <a:r>
              <a:rPr lang="zh-CN" altLang="zh-CN" dirty="0">
                <a:solidFill>
                  <a:schemeClr val="accent1"/>
                </a:solidFill>
              </a:rPr>
              <a:t>来产生空列表</a:t>
            </a:r>
            <a:endParaRPr lang="en-US" altLang="zh-CN" dirty="0">
              <a:solidFill>
                <a:schemeClr val="accent1"/>
              </a:solidFill>
            </a:endParaRPr>
          </a:p>
          <a:p>
            <a:pPr marL="0" indent="0">
              <a:buNone/>
            </a:pPr>
            <a:endParaRPr lang="en-US" altLang="zh-CN" dirty="0"/>
          </a:p>
        </p:txBody>
      </p:sp>
      <p:pic>
        <p:nvPicPr>
          <p:cNvPr id="6" name="图片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26573" y="4274617"/>
            <a:ext cx="3456384" cy="144016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7831525" y="375123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执行结果如图</a:t>
            </a:r>
            <a:r>
              <a:rPr lang="en-US" altLang="zh-CN" dirty="0"/>
              <a:t>1-27</a:t>
            </a:r>
            <a:r>
              <a:rPr lang="zh-CN" altLang="zh-CN" dirty="0"/>
              <a:t>所示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9266733" y="5877272"/>
            <a:ext cx="607859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indent="0">
              <a:buNone/>
            </a:pPr>
            <a:r>
              <a:rPr lang="zh-CN" altLang="zh-CN" sz="1100" dirty="0"/>
              <a:t>图</a:t>
            </a:r>
            <a:r>
              <a:rPr lang="en-US" altLang="zh-CN" sz="1100" dirty="0"/>
              <a:t>1-27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b="1" dirty="0" smtClean="0"/>
              <a:t>2</a:t>
            </a:r>
            <a:r>
              <a:rPr lang="en-US" altLang="zh-CN" b="1" dirty="0"/>
              <a:t>.</a:t>
            </a:r>
            <a:r>
              <a:rPr lang="zh-CN" altLang="zh-CN" b="1" dirty="0"/>
              <a:t>添加元素：</a:t>
            </a:r>
            <a:r>
              <a:rPr lang="en-US" altLang="zh-CN" b="1" dirty="0"/>
              <a:t>append()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可以利用</a:t>
            </a:r>
            <a:r>
              <a:rPr lang="en-US" altLang="zh-CN" dirty="0"/>
              <a:t>append</a:t>
            </a:r>
            <a:r>
              <a:rPr lang="zh-CN" altLang="zh-CN" dirty="0"/>
              <a:t>函数在列表后面添加元素。示例代码如下：</a:t>
            </a:r>
          </a:p>
          <a:p>
            <a:r>
              <a:rPr lang="en-US" altLang="zh-CN" dirty="0"/>
              <a:t>L1.append('H')  # </a:t>
            </a:r>
            <a:r>
              <a:rPr lang="zh-CN" altLang="zh-CN" dirty="0"/>
              <a:t>在</a:t>
            </a:r>
            <a:r>
              <a:rPr lang="en-US" altLang="zh-CN" dirty="0"/>
              <a:t>L1</a:t>
            </a:r>
            <a:r>
              <a:rPr lang="zh-CN" altLang="zh-CN" dirty="0"/>
              <a:t>列表后面增加元素‘</a:t>
            </a:r>
            <a:r>
              <a:rPr lang="en-US" altLang="zh-CN" dirty="0"/>
              <a:t>H</a:t>
            </a:r>
            <a:r>
              <a:rPr lang="zh-CN" altLang="zh-CN" dirty="0"/>
              <a:t>’</a:t>
            </a:r>
            <a:r>
              <a:rPr lang="en-US" altLang="zh-CN" dirty="0"/>
              <a:t>.</a:t>
            </a:r>
            <a:endParaRPr lang="zh-CN" altLang="zh-CN" dirty="0"/>
          </a:p>
          <a:p>
            <a:r>
              <a:rPr lang="en-US" altLang="zh-CN" dirty="0"/>
              <a:t>print(L1)</a:t>
            </a:r>
            <a:endParaRPr lang="zh-CN" altLang="zh-CN" dirty="0"/>
          </a:p>
          <a:p>
            <a:r>
              <a:rPr lang="en-US" altLang="zh-CN" dirty="0"/>
              <a:t>for t in L2:        #</a:t>
            </a:r>
            <a:r>
              <a:rPr lang="zh-CN" altLang="zh-CN" dirty="0"/>
              <a:t>利用循环</a:t>
            </a:r>
            <a:r>
              <a:rPr lang="en-US" altLang="zh-CN" dirty="0"/>
              <a:t>,</a:t>
            </a:r>
            <a:r>
              <a:rPr lang="zh-CN" altLang="zh-CN" dirty="0"/>
              <a:t>将</a:t>
            </a:r>
            <a:r>
              <a:rPr lang="en-US" altLang="zh-CN" dirty="0"/>
              <a:t>L2</a:t>
            </a:r>
            <a:r>
              <a:rPr lang="zh-CN" altLang="zh-CN" dirty="0"/>
              <a:t>中的元素，依次顺序添加到前面新建的空列表</a:t>
            </a:r>
            <a:r>
              <a:rPr lang="en-US" altLang="zh-CN" dirty="0"/>
              <a:t>L</a:t>
            </a:r>
            <a:r>
              <a:rPr lang="zh-CN" altLang="zh-CN" dirty="0"/>
              <a:t>中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L.append</a:t>
            </a:r>
            <a:r>
              <a:rPr lang="en-US" altLang="zh-CN" dirty="0"/>
              <a:t>(t)    </a:t>
            </a:r>
            <a:endParaRPr lang="zh-CN" altLang="zh-CN" dirty="0"/>
          </a:p>
          <a:p>
            <a:r>
              <a:rPr lang="en-US" altLang="zh-CN" dirty="0"/>
              <a:t>print(L</a:t>
            </a:r>
            <a:r>
              <a:rPr lang="en-US" altLang="zh-CN" dirty="0" smtClean="0"/>
              <a:t>)</a:t>
            </a:r>
          </a:p>
          <a:p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</a:t>
            </a:r>
            <a:r>
              <a:rPr lang="zh-CN" altLang="zh-CN" dirty="0" smtClean="0"/>
              <a:t>执行</a:t>
            </a:r>
            <a:r>
              <a:rPr lang="zh-CN" altLang="zh-CN" dirty="0"/>
              <a:t>结果如下：</a:t>
            </a:r>
          </a:p>
          <a:p>
            <a:pPr marL="0" indent="0">
              <a:buNone/>
            </a:pPr>
            <a:r>
              <a:rPr lang="en-US" altLang="zh-CN" dirty="0" smtClean="0"/>
              <a:t>        [</a:t>
            </a:r>
            <a:r>
              <a:rPr lang="en-US" altLang="zh-CN" dirty="0"/>
              <a:t>1, 2, 3, 4, 5, 6, 'H']</a:t>
            </a:r>
            <a:endParaRPr lang="zh-CN" altLang="zh-CN" dirty="0"/>
          </a:p>
          <a:p>
            <a:pPr marL="0" indent="0">
              <a:buNone/>
            </a:pPr>
            <a:r>
              <a:rPr lang="en-US" altLang="zh-CN" dirty="0" smtClean="0"/>
              <a:t>        [</a:t>
            </a:r>
            <a:r>
              <a:rPr lang="en-US" altLang="zh-CN" dirty="0"/>
              <a:t>1, 2, 'HE', 3, 5]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290923" y="17457"/>
            <a:ext cx="432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1.5.1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列表方法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b="1" dirty="0" smtClean="0"/>
              <a:t>3</a:t>
            </a:r>
            <a:r>
              <a:rPr lang="en-US" altLang="zh-CN" b="1" dirty="0"/>
              <a:t>.</a:t>
            </a:r>
            <a:r>
              <a:rPr lang="zh-CN" altLang="zh-CN" b="1" dirty="0"/>
              <a:t>扩展列表：</a:t>
            </a:r>
            <a:r>
              <a:rPr lang="en-US" altLang="zh-CN" b="1" dirty="0"/>
              <a:t>extend()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2044823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与</a:t>
            </a:r>
            <a:r>
              <a:rPr lang="en-US" altLang="zh-CN" dirty="0"/>
              <a:t>append</a:t>
            </a:r>
            <a:r>
              <a:rPr lang="zh-CN" altLang="zh-CN" dirty="0"/>
              <a:t>函数不同，</a:t>
            </a:r>
            <a:r>
              <a:rPr lang="en-US" altLang="zh-CN" dirty="0"/>
              <a:t>extend</a:t>
            </a:r>
            <a:r>
              <a:rPr lang="zh-CN" altLang="zh-CN" dirty="0"/>
              <a:t>函数在列表后面添加整个序列。示例代码如下：</a:t>
            </a:r>
          </a:p>
          <a:p>
            <a:r>
              <a:rPr lang="en-US" altLang="zh-CN" dirty="0"/>
              <a:t>L1.extend(L2)  # </a:t>
            </a:r>
            <a:r>
              <a:rPr lang="zh-CN" altLang="zh-CN" dirty="0"/>
              <a:t>在前面的</a:t>
            </a:r>
            <a:r>
              <a:rPr lang="en-US" altLang="zh-CN" dirty="0"/>
              <a:t>L1</a:t>
            </a:r>
            <a:r>
              <a:rPr lang="zh-CN" altLang="zh-CN" dirty="0"/>
              <a:t>基础上，添加整个</a:t>
            </a:r>
            <a:r>
              <a:rPr lang="en-US" altLang="zh-CN" dirty="0"/>
              <a:t>L2</a:t>
            </a:r>
            <a:r>
              <a:rPr lang="zh-CN" altLang="zh-CN" dirty="0"/>
              <a:t>至其后面</a:t>
            </a:r>
          </a:p>
          <a:p>
            <a:r>
              <a:rPr lang="en-US" altLang="zh-CN" dirty="0"/>
              <a:t>print(L1)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执行结果如下：</a:t>
            </a:r>
          </a:p>
          <a:p>
            <a:pPr marL="0" indent="0">
              <a:buNone/>
            </a:pPr>
            <a:r>
              <a:rPr lang="en-US" altLang="zh-CN" dirty="0" smtClean="0"/>
              <a:t>     [</a:t>
            </a:r>
            <a:r>
              <a:rPr lang="en-US" altLang="zh-CN" dirty="0"/>
              <a:t>1, 2, 3, 4, 5, 6, 'H', 1, 2, 'HE', 3, 5]</a:t>
            </a:r>
            <a:endParaRPr lang="zh-CN" altLang="zh-CN" dirty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sz="2400" b="1" dirty="0"/>
              <a:t>4.</a:t>
            </a:r>
            <a:r>
              <a:rPr lang="zh-CN" altLang="zh-CN" sz="2400" b="1" dirty="0"/>
              <a:t>元素计数：</a:t>
            </a:r>
            <a:r>
              <a:rPr lang="en-US" altLang="zh-CN" sz="2400" b="1" dirty="0"/>
              <a:t>count()</a:t>
            </a:r>
            <a:endParaRPr lang="zh-CN" altLang="zh-CN" sz="2400" b="1" dirty="0"/>
          </a:p>
          <a:p>
            <a:pPr marL="0" indent="0">
              <a:buNone/>
            </a:pPr>
            <a:r>
              <a:rPr lang="zh-CN" altLang="zh-CN" dirty="0"/>
              <a:t>可以利用</a:t>
            </a:r>
            <a:r>
              <a:rPr lang="en-US" altLang="zh-CN" dirty="0"/>
              <a:t>count</a:t>
            </a:r>
            <a:r>
              <a:rPr lang="zh-CN" altLang="zh-CN" dirty="0"/>
              <a:t>函数统计列表中某个元素出现的次数，示例代码如下：</a:t>
            </a:r>
          </a:p>
          <a:p>
            <a:r>
              <a:rPr lang="en-US" altLang="zh-CN" dirty="0"/>
              <a:t>print('</a:t>
            </a:r>
            <a:r>
              <a:rPr lang="zh-CN" altLang="zh-CN" dirty="0"/>
              <a:t>元素</a:t>
            </a:r>
            <a:r>
              <a:rPr lang="en-US" altLang="zh-CN" dirty="0"/>
              <a:t>2</a:t>
            </a:r>
            <a:r>
              <a:rPr lang="zh-CN" altLang="zh-CN" dirty="0"/>
              <a:t>出现的次数为：</a:t>
            </a:r>
            <a:r>
              <a:rPr lang="en-US" altLang="zh-CN" dirty="0"/>
              <a:t>',L1.count(2))   </a:t>
            </a:r>
            <a:endParaRPr lang="zh-CN" altLang="zh-CN" dirty="0"/>
          </a:p>
          <a:p>
            <a:r>
              <a:rPr lang="zh-CN" altLang="zh-CN" dirty="0"/>
              <a:t>执行结果如下：</a:t>
            </a:r>
          </a:p>
          <a:p>
            <a:r>
              <a:rPr lang="zh-CN" altLang="zh-CN" dirty="0"/>
              <a:t>元素</a:t>
            </a:r>
            <a:r>
              <a:rPr lang="en-US" altLang="zh-CN" dirty="0"/>
              <a:t>2</a:t>
            </a:r>
            <a:r>
              <a:rPr lang="zh-CN" altLang="zh-CN" dirty="0"/>
              <a:t>出现的次数为：</a:t>
            </a:r>
            <a:r>
              <a:rPr lang="en-US" altLang="zh-CN" dirty="0"/>
              <a:t> 2</a:t>
            </a:r>
            <a:endParaRPr lang="zh-CN" altLang="zh-CN" dirty="0"/>
          </a:p>
          <a:p>
            <a:r>
              <a:rPr lang="zh-CN" altLang="zh-CN" dirty="0"/>
              <a:t>需要说明的是，这里的</a:t>
            </a:r>
            <a:r>
              <a:rPr lang="en-US" altLang="zh-CN" dirty="0"/>
              <a:t>L1</a:t>
            </a:r>
            <a:r>
              <a:rPr lang="zh-CN" altLang="zh-CN" dirty="0"/>
              <a:t>是在添加了</a:t>
            </a:r>
            <a:r>
              <a:rPr lang="en-US" altLang="zh-CN" dirty="0"/>
              <a:t>L2</a:t>
            </a:r>
            <a:r>
              <a:rPr lang="zh-CN" altLang="zh-CN" dirty="0"/>
              <a:t>列表之后的统计结果。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1357118" y="116632"/>
            <a:ext cx="30963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1.5.1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列表方法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b="1" dirty="0" smtClean="0"/>
              <a:t>5</a:t>
            </a:r>
            <a:r>
              <a:rPr lang="en-US" altLang="zh-CN" b="1" dirty="0"/>
              <a:t>.</a:t>
            </a:r>
            <a:r>
              <a:rPr lang="zh-CN" altLang="zh-CN" b="1" dirty="0"/>
              <a:t>返回下标：</a:t>
            </a:r>
            <a:r>
              <a:rPr lang="en-US" altLang="zh-CN" b="1" dirty="0"/>
              <a:t>index()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25625" y="1600201"/>
            <a:ext cx="10601349" cy="1396751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在列表中，可以通过</a:t>
            </a:r>
            <a:r>
              <a:rPr lang="en-US" altLang="zh-CN" dirty="0"/>
              <a:t>index</a:t>
            </a:r>
            <a:r>
              <a:rPr lang="zh-CN" altLang="zh-CN" dirty="0"/>
              <a:t>函数返回元素的下标。示例代码如下：</a:t>
            </a:r>
          </a:p>
          <a:p>
            <a:r>
              <a:rPr lang="en-US" altLang="zh-CN" dirty="0"/>
              <a:t>print('H</a:t>
            </a:r>
            <a:r>
              <a:rPr lang="zh-CN" altLang="zh-CN" dirty="0"/>
              <a:t>的索引下标为：</a:t>
            </a:r>
            <a:r>
              <a:rPr lang="en-US" altLang="zh-CN" dirty="0"/>
              <a:t>',L1.index('H'))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执行结果如下：</a:t>
            </a:r>
          </a:p>
          <a:p>
            <a:pPr marL="0" indent="0">
              <a:buNone/>
            </a:pPr>
            <a:r>
              <a:rPr lang="en-US" altLang="zh-CN" dirty="0" smtClean="0"/>
              <a:t>     H</a:t>
            </a:r>
            <a:r>
              <a:rPr lang="zh-CN" altLang="zh-CN" dirty="0"/>
              <a:t>的索引下标为：</a:t>
            </a:r>
            <a:r>
              <a:rPr lang="en-US" altLang="zh-CN" dirty="0"/>
              <a:t> 6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2400" b="1" dirty="0" smtClean="0"/>
          </a:p>
          <a:p>
            <a:pPr marL="0" indent="0">
              <a:buNone/>
            </a:pPr>
            <a:r>
              <a:rPr lang="en-US" altLang="zh-CN" sz="2400" b="1" dirty="0" smtClean="0"/>
              <a:t>6</a:t>
            </a:r>
            <a:r>
              <a:rPr lang="en-US" altLang="zh-CN" sz="2400" b="1" dirty="0"/>
              <a:t>.</a:t>
            </a:r>
            <a:r>
              <a:rPr lang="zh-CN" altLang="zh-CN" sz="2400" b="1" dirty="0"/>
              <a:t>删除元素：</a:t>
            </a:r>
            <a:r>
              <a:rPr lang="en-US" altLang="zh-CN" sz="2400" b="1" dirty="0"/>
              <a:t>remove()</a:t>
            </a:r>
            <a:endParaRPr lang="zh-CN" altLang="zh-CN" sz="2400" b="1" dirty="0"/>
          </a:p>
          <a:p>
            <a:pPr marL="0" indent="0">
              <a:buNone/>
            </a:pPr>
            <a:r>
              <a:rPr lang="zh-CN" altLang="zh-CN" dirty="0"/>
              <a:t>列表中，可以通过</a:t>
            </a:r>
            <a:r>
              <a:rPr lang="en-US" altLang="zh-CN" dirty="0"/>
              <a:t>remove</a:t>
            </a:r>
            <a:r>
              <a:rPr lang="zh-CN" altLang="zh-CN" dirty="0"/>
              <a:t>函数删除某个元素。示例代码如下： </a:t>
            </a:r>
          </a:p>
          <a:p>
            <a:r>
              <a:rPr lang="en-US" altLang="zh-CN" dirty="0"/>
              <a:t>L1.remove('HE') #</a:t>
            </a:r>
            <a:r>
              <a:rPr lang="zh-CN" altLang="zh-CN" dirty="0"/>
              <a:t>删除</a:t>
            </a:r>
            <a:r>
              <a:rPr lang="en-US" altLang="zh-CN" dirty="0"/>
              <a:t>HE</a:t>
            </a:r>
            <a:r>
              <a:rPr lang="zh-CN" altLang="zh-CN" dirty="0"/>
              <a:t>元素</a:t>
            </a:r>
          </a:p>
          <a:p>
            <a:r>
              <a:rPr lang="en-US" altLang="zh-CN" dirty="0"/>
              <a:t>print(L1)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执行结果如下：</a:t>
            </a:r>
          </a:p>
          <a:p>
            <a:pPr marL="0" indent="0">
              <a:buNone/>
            </a:pPr>
            <a:r>
              <a:rPr lang="en-US" altLang="zh-CN" dirty="0" smtClean="0"/>
              <a:t>      [</a:t>
            </a:r>
            <a:r>
              <a:rPr lang="en-US" altLang="zh-CN" dirty="0"/>
              <a:t>1, 2, 3, 4, 5, 6, 'H', 1, 2, 3, 5]</a:t>
            </a:r>
            <a:endParaRPr lang="zh-CN" altLang="zh-CN" dirty="0"/>
          </a:p>
          <a:p>
            <a:pPr marL="0" indent="0">
              <a:buNone/>
            </a:pPr>
            <a:endParaRPr lang="zh-CN" altLang="zh-CN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116632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1.5.1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列表方法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7</a:t>
            </a:r>
            <a:r>
              <a:rPr lang="en-US" altLang="zh-CN" dirty="0"/>
              <a:t>.</a:t>
            </a:r>
            <a:r>
              <a:rPr lang="zh-CN" altLang="zh-CN" dirty="0"/>
              <a:t>元素排序：</a:t>
            </a:r>
            <a:r>
              <a:rPr lang="en-US" altLang="zh-CN" dirty="0"/>
              <a:t>sort()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zh-CN" dirty="0"/>
              <a:t>可以通过</a:t>
            </a:r>
            <a:r>
              <a:rPr lang="en-US" altLang="zh-CN" dirty="0"/>
              <a:t>sort</a:t>
            </a:r>
            <a:r>
              <a:rPr lang="zh-CN" altLang="zh-CN" dirty="0"/>
              <a:t>函数对列表元素进行排序，按升序排序。示例代码如下：</a:t>
            </a:r>
          </a:p>
          <a:p>
            <a:r>
              <a:rPr lang="en-US" altLang="zh-CN" sz="1800" dirty="0"/>
              <a:t>L4.sort()</a:t>
            </a:r>
            <a:endParaRPr lang="zh-CN" altLang="zh-CN" sz="1800" dirty="0"/>
          </a:p>
          <a:p>
            <a:r>
              <a:rPr lang="en-US" altLang="zh-CN" sz="1800" dirty="0"/>
              <a:t>print(L4)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执行结果如下：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 [</a:t>
            </a:r>
            <a:r>
              <a:rPr lang="en-US" altLang="zh-CN" sz="1800" dirty="0"/>
              <a:t>1, 2, 3, 4, 4, 7, 8]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dirty="0"/>
              <a:t>特别说明的是，列表中的元素可以修改，但是元组中的元素不能修改。示例代码如下：</a:t>
            </a:r>
          </a:p>
          <a:p>
            <a:r>
              <a:rPr lang="en-US" altLang="zh-CN" sz="1800" dirty="0"/>
              <a:t>L4[2]=10</a:t>
            </a:r>
            <a:endParaRPr lang="zh-CN" altLang="zh-CN" sz="1800" dirty="0"/>
          </a:p>
          <a:p>
            <a:r>
              <a:rPr lang="en-US" altLang="zh-CN" sz="1800" dirty="0"/>
              <a:t>print(L4)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 smtClean="0"/>
              <a:t>执行</a:t>
            </a:r>
            <a:r>
              <a:rPr lang="zh-CN" altLang="zh-CN" sz="1800" dirty="0"/>
              <a:t>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    [</a:t>
            </a:r>
            <a:r>
              <a:rPr lang="en-US" altLang="zh-CN" sz="1800" dirty="0"/>
              <a:t>1, 2, 10, 4, 4, 7, 8]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而以下示例程序则会报错：</a:t>
            </a:r>
          </a:p>
          <a:p>
            <a:r>
              <a:rPr lang="en-US" altLang="zh-CN" sz="1800" dirty="0"/>
              <a:t>t=(1,2,3,4)</a:t>
            </a:r>
            <a:endParaRPr lang="zh-CN" altLang="zh-CN" sz="1800" dirty="0"/>
          </a:p>
          <a:p>
            <a:r>
              <a:rPr lang="en-US" altLang="zh-CN" sz="1800" dirty="0"/>
              <a:t>t[2]=10       #</a:t>
            </a:r>
            <a:r>
              <a:rPr lang="zh-CN" altLang="zh-CN" sz="1800" dirty="0"/>
              <a:t>报错</a:t>
            </a:r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95178"/>
            <a:ext cx="33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1.5.1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列表方法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9749" y="692697"/>
            <a:ext cx="11233248" cy="2016223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dirty="0" smtClean="0"/>
              <a:t>        </a:t>
            </a:r>
            <a:r>
              <a:rPr lang="zh-CN" altLang="zh-CN" sz="1600" dirty="0" smtClean="0"/>
              <a:t>元组</a:t>
            </a:r>
            <a:r>
              <a:rPr lang="zh-CN" altLang="zh-CN" sz="1600" dirty="0"/>
              <a:t>作为</a:t>
            </a:r>
            <a:r>
              <a:rPr lang="en-US" altLang="zh-CN" sz="1600" dirty="0"/>
              <a:t>Python</a:t>
            </a:r>
            <a:r>
              <a:rPr lang="zh-CN" altLang="zh-CN" sz="1600" dirty="0"/>
              <a:t>的一种数据结构，与列表有较大的相似之处，其最大的区别是列表的元素可以修改，而元组中的元素不能修改，具体见</a:t>
            </a:r>
            <a:r>
              <a:rPr lang="en-US" altLang="zh-CN" sz="1600" dirty="0"/>
              <a:t>1.7</a:t>
            </a:r>
            <a:r>
              <a:rPr lang="zh-CN" altLang="zh-CN" sz="1600" dirty="0"/>
              <a:t>节中的例子。本节主要介绍元组中几个常用的方法，包括空元组的产生、元组元素统计、返回元组元素</a:t>
            </a:r>
            <a:r>
              <a:rPr lang="en-US" altLang="zh-CN" sz="1600" dirty="0"/>
              <a:t>index</a:t>
            </a:r>
            <a:r>
              <a:rPr lang="zh-CN" altLang="zh-CN" sz="1600" dirty="0"/>
              <a:t>下标和元组的连接。下面通过定义两个元组</a:t>
            </a:r>
            <a:r>
              <a:rPr lang="en-US" altLang="zh-CN" sz="1600" dirty="0"/>
              <a:t>T1</a:t>
            </a:r>
            <a:r>
              <a:rPr lang="zh-CN" altLang="zh-CN" sz="1600" dirty="0"/>
              <a:t>和</a:t>
            </a:r>
            <a:r>
              <a:rPr lang="en-US" altLang="zh-CN" sz="1600" dirty="0"/>
              <a:t>T2</a:t>
            </a:r>
            <a:r>
              <a:rPr lang="zh-CN" altLang="zh-CN" sz="1600" dirty="0"/>
              <a:t>，对元组中的常用方法进行说明。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/>
              <a:t>T1=(1,2,2,4,5)</a:t>
            </a:r>
            <a:endParaRPr lang="zh-CN" altLang="zh-CN" sz="1600" dirty="0"/>
          </a:p>
          <a:p>
            <a:pPr>
              <a:lnSpc>
                <a:spcPct val="150000"/>
              </a:lnSpc>
            </a:pPr>
            <a:r>
              <a:rPr lang="en-US" altLang="zh-CN" sz="1600" dirty="0"/>
              <a:t>T2=('H2',3,'KL')</a:t>
            </a:r>
            <a:endParaRPr lang="zh-CN" altLang="zh-CN" sz="1600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zh-CN" altLang="zh-CN" b="1" dirty="0" smtClean="0"/>
              <a:t>创建</a:t>
            </a:r>
            <a:r>
              <a:rPr lang="zh-CN" altLang="zh-CN" b="1" dirty="0"/>
              <a:t>空元组：</a:t>
            </a:r>
            <a:r>
              <a:rPr lang="en-US" altLang="zh-CN" b="1" dirty="0"/>
              <a:t>tuple</a:t>
            </a:r>
            <a:r>
              <a:rPr lang="en-US" altLang="zh-CN" b="1" dirty="0" smtClean="0"/>
              <a:t>()</a:t>
            </a:r>
          </a:p>
          <a:p>
            <a:pPr marL="0" indent="0">
              <a:buNone/>
            </a:pPr>
            <a:r>
              <a:rPr lang="en-US" altLang="zh-CN" dirty="0" smtClean="0"/>
              <a:t>    </a:t>
            </a:r>
            <a:r>
              <a:rPr lang="zh-CN" altLang="zh-CN" sz="1600" dirty="0" smtClean="0"/>
              <a:t>通过</a:t>
            </a:r>
            <a:r>
              <a:rPr lang="en-US" altLang="zh-CN" sz="1600" dirty="0"/>
              <a:t>tuple</a:t>
            </a:r>
            <a:r>
              <a:rPr lang="zh-CN" altLang="zh-CN" sz="1600" dirty="0"/>
              <a:t>函数，可以创建空元组。示例代码如下：</a:t>
            </a:r>
            <a:br>
              <a:rPr lang="zh-CN" altLang="zh-CN" sz="1600" dirty="0"/>
            </a:br>
            <a:r>
              <a:rPr lang="en-US" altLang="zh-CN" sz="1600" dirty="0"/>
              <a:t>  </a:t>
            </a:r>
            <a:r>
              <a:rPr lang="en-US" altLang="zh-CN" sz="1600" dirty="0" smtClean="0"/>
              <a:t>    </a:t>
            </a:r>
            <a:r>
              <a:rPr lang="en-US" altLang="zh-CN" sz="1600" dirty="0"/>
              <a:t>t1=tuple()   #</a:t>
            </a:r>
            <a:r>
              <a:rPr lang="zh-CN" altLang="zh-CN" sz="1600" dirty="0"/>
              <a:t>产生空元组</a:t>
            </a:r>
            <a:br>
              <a:rPr lang="zh-CN" altLang="zh-CN" sz="1600" dirty="0"/>
            </a:br>
            <a:r>
              <a:rPr lang="en-US" altLang="zh-CN" sz="1600" dirty="0"/>
              <a:t>    </a:t>
            </a:r>
            <a:r>
              <a:rPr lang="en-US" altLang="zh-CN" sz="1600" dirty="0" smtClean="0"/>
              <a:t>  </a:t>
            </a:r>
            <a:r>
              <a:rPr lang="en-US" altLang="zh-CN" sz="1600" dirty="0"/>
              <a:t>t=()        #</a:t>
            </a:r>
            <a:r>
              <a:rPr lang="zh-CN" altLang="zh-CN" sz="1600" dirty="0"/>
              <a:t>产生空</a:t>
            </a:r>
            <a:r>
              <a:rPr lang="zh-CN" altLang="zh-CN" sz="1600" dirty="0" smtClean="0"/>
              <a:t>元组</a:t>
            </a:r>
            <a:endParaRPr lang="en-US" altLang="zh-CN" sz="1600" dirty="0"/>
          </a:p>
        </p:txBody>
      </p:sp>
      <p:sp>
        <p:nvSpPr>
          <p:cNvPr id="5" name="TextBox 4"/>
          <p:cNvSpPr txBox="1"/>
          <p:nvPr/>
        </p:nvSpPr>
        <p:spPr>
          <a:xfrm>
            <a:off x="1331837" y="19355"/>
            <a:ext cx="38164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1.5.2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元组方法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pic>
        <p:nvPicPr>
          <p:cNvPr id="4" name="图片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54365" y="3573016"/>
            <a:ext cx="4680520" cy="2376264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54365" y="3181618"/>
            <a:ext cx="24929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dirty="0"/>
              <a:t>执行结果如图</a:t>
            </a:r>
            <a:r>
              <a:rPr lang="en-US" altLang="zh-CN" dirty="0"/>
              <a:t>1-28</a:t>
            </a:r>
            <a:r>
              <a:rPr lang="zh-CN" altLang="zh-CN" dirty="0"/>
              <a:t>所示</a:t>
            </a:r>
            <a:endParaRPr lang="zh-CN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7741" y="639852"/>
            <a:ext cx="11058825" cy="6173524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2. </a:t>
            </a:r>
            <a:r>
              <a:rPr lang="zh-CN" altLang="zh-CN" sz="2400" b="1" dirty="0"/>
              <a:t>元素计数：</a:t>
            </a:r>
            <a:r>
              <a:rPr lang="en-US" altLang="zh-CN" sz="2400" b="1" dirty="0"/>
              <a:t>count()</a:t>
            </a:r>
            <a:endParaRPr lang="zh-CN" altLang="zh-CN" sz="2400" b="1" dirty="0"/>
          </a:p>
          <a:p>
            <a:pPr marL="0" indent="0">
              <a:buNone/>
            </a:pPr>
            <a:r>
              <a:rPr lang="en-US" altLang="zh-CN" sz="1800" dirty="0" smtClean="0"/>
              <a:t>    </a:t>
            </a:r>
            <a:r>
              <a:rPr lang="zh-CN" altLang="zh-CN" sz="1800" dirty="0" smtClean="0"/>
              <a:t>通过</a:t>
            </a:r>
            <a:r>
              <a:rPr lang="en-US" altLang="zh-CN" sz="1800" dirty="0"/>
              <a:t>count</a:t>
            </a:r>
            <a:r>
              <a:rPr lang="zh-CN" altLang="zh-CN" sz="1800" dirty="0"/>
              <a:t>函数，可以统计元组中某个元素出现的次数。示例代码如下：</a:t>
            </a:r>
          </a:p>
          <a:p>
            <a:r>
              <a:rPr lang="en-US" altLang="zh-CN" sz="1800" dirty="0"/>
              <a:t>print('</a:t>
            </a:r>
            <a:r>
              <a:rPr lang="zh-CN" altLang="zh-CN" sz="1800" dirty="0"/>
              <a:t>元素</a:t>
            </a:r>
            <a:r>
              <a:rPr lang="en-US" altLang="zh-CN" sz="1800" dirty="0"/>
              <a:t>2</a:t>
            </a:r>
            <a:r>
              <a:rPr lang="zh-CN" altLang="zh-CN" sz="1800" dirty="0"/>
              <a:t>出现的次数为：</a:t>
            </a:r>
            <a:r>
              <a:rPr lang="en-US" altLang="zh-CN" sz="1800" dirty="0"/>
              <a:t>',T1.count(2))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执行结果如下：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 </a:t>
            </a:r>
            <a:r>
              <a:rPr lang="zh-CN" altLang="zh-CN" sz="1800" dirty="0" smtClean="0"/>
              <a:t>元素</a:t>
            </a:r>
            <a:r>
              <a:rPr lang="en-US" altLang="zh-CN" sz="1800" dirty="0"/>
              <a:t>2</a:t>
            </a:r>
            <a:r>
              <a:rPr lang="zh-CN" altLang="zh-CN" sz="1800" dirty="0"/>
              <a:t>出现的次数为：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2</a:t>
            </a:r>
          </a:p>
          <a:p>
            <a:pPr marL="0" indent="0">
              <a:buNone/>
            </a:pPr>
            <a:r>
              <a:rPr lang="en-US" altLang="zh-CN" sz="2400" b="1" dirty="0" smtClean="0"/>
              <a:t>3</a:t>
            </a:r>
            <a:r>
              <a:rPr lang="en-US" altLang="zh-CN" sz="2400" b="1" dirty="0"/>
              <a:t>.</a:t>
            </a:r>
            <a:r>
              <a:rPr lang="zh-CN" altLang="zh-CN" sz="2400" b="1" dirty="0"/>
              <a:t>返回下标：</a:t>
            </a:r>
            <a:r>
              <a:rPr lang="en-US" altLang="zh-CN" sz="2400" b="1" dirty="0"/>
              <a:t>index()</a:t>
            </a:r>
            <a:endParaRPr lang="zh-CN" altLang="zh-CN" sz="2400" b="1" dirty="0"/>
          </a:p>
          <a:p>
            <a:pPr marL="0" indent="0">
              <a:buNone/>
            </a:pPr>
            <a:r>
              <a:rPr lang="en-US" altLang="zh-CN" sz="1800" dirty="0" smtClean="0"/>
              <a:t>   </a:t>
            </a:r>
            <a:r>
              <a:rPr lang="zh-CN" altLang="zh-CN" sz="1800" dirty="0" smtClean="0"/>
              <a:t>与</a:t>
            </a:r>
            <a:r>
              <a:rPr lang="zh-CN" altLang="zh-CN" sz="1800" dirty="0"/>
              <a:t>列表类似，通过</a:t>
            </a:r>
            <a:r>
              <a:rPr lang="en-US" altLang="zh-CN" sz="1800" dirty="0"/>
              <a:t>index</a:t>
            </a:r>
            <a:r>
              <a:rPr lang="zh-CN" altLang="zh-CN" sz="1800" dirty="0"/>
              <a:t>函数，可以返回元组某个元素的索引下标。示例代码如下：</a:t>
            </a:r>
          </a:p>
          <a:p>
            <a:r>
              <a:rPr lang="en-US" altLang="zh-CN" sz="1800" dirty="0"/>
              <a:t>print('KL</a:t>
            </a:r>
            <a:r>
              <a:rPr lang="zh-CN" altLang="zh-CN" sz="1800" dirty="0"/>
              <a:t>的下标索引为：</a:t>
            </a:r>
            <a:r>
              <a:rPr lang="en-US" altLang="zh-CN" sz="1800" dirty="0"/>
              <a:t>',T2.index('KL'))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执行结果如下：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  KL</a:t>
            </a:r>
            <a:r>
              <a:rPr lang="zh-CN" altLang="zh-CN" sz="1800" dirty="0"/>
              <a:t>的下标索引为：</a:t>
            </a:r>
            <a:r>
              <a:rPr lang="en-US" altLang="zh-CN" sz="1800" dirty="0" smtClean="0"/>
              <a:t>2</a:t>
            </a:r>
          </a:p>
          <a:p>
            <a:pPr marL="0" indent="0">
              <a:buNone/>
            </a:pPr>
            <a:r>
              <a:rPr lang="en-US" altLang="zh-CN" sz="2400" b="1" dirty="0"/>
              <a:t>4.</a:t>
            </a:r>
            <a:r>
              <a:rPr lang="zh-CN" altLang="zh-CN" sz="2400" b="1" dirty="0"/>
              <a:t>元组</a:t>
            </a:r>
            <a:r>
              <a:rPr lang="zh-CN" altLang="zh-CN" sz="2400" b="1" dirty="0" smtClean="0"/>
              <a:t>连接</a:t>
            </a:r>
            <a:endParaRPr lang="en-US" altLang="zh-CN" sz="2400" b="1" dirty="0"/>
          </a:p>
          <a:p>
            <a:pPr marL="0" indent="0">
              <a:buNone/>
            </a:pPr>
            <a:r>
              <a:rPr lang="zh-CN" altLang="zh-CN" sz="1800" dirty="0"/>
              <a:t>两个元组的连接，可以直接用“</a:t>
            </a:r>
            <a:r>
              <a:rPr lang="en-US" altLang="zh-CN" sz="1800" dirty="0"/>
              <a:t>+</a:t>
            </a:r>
            <a:r>
              <a:rPr lang="zh-CN" altLang="zh-CN" sz="1800" dirty="0"/>
              <a:t>”号来完成。示例代码如下：</a:t>
            </a:r>
          </a:p>
          <a:p>
            <a:r>
              <a:rPr lang="en-US" altLang="zh-CN" sz="1800" dirty="0"/>
              <a:t>T3=T1+T2</a:t>
            </a:r>
            <a:endParaRPr lang="zh-CN" altLang="zh-CN" sz="1800" dirty="0"/>
          </a:p>
          <a:p>
            <a:r>
              <a:rPr lang="en-US" altLang="zh-CN" sz="1800" dirty="0"/>
              <a:t>print(T3)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 smtClean="0"/>
              <a:t>执行</a:t>
            </a:r>
            <a:r>
              <a:rPr lang="zh-CN" altLang="zh-CN" sz="1800" dirty="0"/>
              <a:t>结果如下：</a:t>
            </a:r>
          </a:p>
          <a:p>
            <a:pPr marL="0" indent="0">
              <a:buNone/>
            </a:pPr>
            <a:r>
              <a:rPr lang="en-US" altLang="zh-CN" sz="1800" dirty="0"/>
              <a:t>       (1, 2, 2, 4, 5, 'H2', 3, 'KL')</a:t>
            </a:r>
            <a:endParaRPr lang="zh-CN" altLang="zh-CN" sz="1800" dirty="0"/>
          </a:p>
          <a:p>
            <a:pPr marL="0" indent="0">
              <a:buNone/>
            </a:pPr>
            <a:endParaRPr lang="zh-CN" altLang="zh-CN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116632"/>
            <a:ext cx="41764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1.5.2 </a:t>
            </a:r>
            <a:r>
              <a:rPr lang="zh-CN" altLang="en-US" sz="2800" dirty="0" smtClean="0">
                <a:solidFill>
                  <a:schemeClr val="accent2"/>
                </a:solidFill>
              </a:rPr>
              <a:t>元组方法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5625" y="908050"/>
            <a:ext cx="10601349" cy="2016893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altLang="zh-CN" sz="2000" dirty="0" smtClean="0"/>
              <a:t>        </a:t>
            </a:r>
            <a:r>
              <a:rPr lang="zh-CN" altLang="zh-CN" sz="2000" dirty="0" smtClean="0"/>
              <a:t>字符串</a:t>
            </a:r>
            <a:r>
              <a:rPr lang="zh-CN" altLang="zh-CN" sz="2000" dirty="0"/>
              <a:t>作为基本的数据类型，也可以看作一种特殊的数据结构。对字符串的操作，是数据处理、编程过程中必不可少的环节。下面介绍几种常见的字符串处理方法，包括空字符串的产生、字符串的查找、字符串的替换、字符串的连接和比较。</a:t>
            </a:r>
            <a:br>
              <a:rPr lang="zh-CN" altLang="zh-CN" sz="2000" dirty="0"/>
            </a:br>
            <a:endParaRPr lang="zh-CN" altLang="en-US" sz="2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81757" y="2780928"/>
            <a:ext cx="10945217" cy="334523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1.</a:t>
            </a:r>
            <a:r>
              <a:rPr lang="zh-CN" altLang="zh-CN" sz="2400" b="1" dirty="0"/>
              <a:t>创建空字符串：</a:t>
            </a:r>
            <a:r>
              <a:rPr lang="en-US" altLang="zh-CN" sz="2400" b="1" dirty="0" err="1"/>
              <a:t>str</a:t>
            </a:r>
            <a:r>
              <a:rPr lang="en-US" altLang="zh-CN" sz="2400" b="1" dirty="0" smtClean="0"/>
              <a:t>(</a:t>
            </a:r>
            <a:r>
              <a:rPr lang="zh-CN" altLang="en-US" sz="2400" b="1" dirty="0" smtClean="0"/>
              <a:t>）</a:t>
            </a:r>
            <a:endParaRPr lang="en-US" altLang="zh-CN" sz="2400" b="1" dirty="0" smtClean="0"/>
          </a:p>
          <a:p>
            <a:pPr marL="0" indent="0">
              <a:buNone/>
            </a:pPr>
            <a:r>
              <a:rPr lang="zh-CN" altLang="zh-CN" dirty="0" smtClean="0"/>
              <a:t>通过</a:t>
            </a:r>
            <a:r>
              <a:rPr lang="en-US" altLang="zh-CN" dirty="0" err="1"/>
              <a:t>str</a:t>
            </a:r>
            <a:r>
              <a:rPr lang="zh-CN" altLang="zh-CN" dirty="0"/>
              <a:t>函数，可以创建空的字符串。示例代码如下：</a:t>
            </a:r>
          </a:p>
          <a:p>
            <a:r>
              <a:rPr lang="en-US" altLang="zh-CN" dirty="0"/>
              <a:t>S=</a:t>
            </a:r>
            <a:r>
              <a:rPr lang="en-US" altLang="zh-CN" dirty="0" err="1"/>
              <a:t>str</a:t>
            </a:r>
            <a:r>
              <a:rPr lang="en-US" altLang="zh-CN" dirty="0"/>
              <a:t>()   #</a:t>
            </a:r>
            <a:r>
              <a:rPr lang="zh-CN" altLang="zh-CN" dirty="0"/>
              <a:t>产生空字符串</a:t>
            </a:r>
          </a:p>
          <a:p>
            <a:pPr marL="0" indent="0">
              <a:buNone/>
            </a:pPr>
            <a:r>
              <a:rPr lang="zh-CN" altLang="zh-CN" dirty="0"/>
              <a:t>执行结果如图</a:t>
            </a:r>
            <a:r>
              <a:rPr lang="en-US" altLang="zh-CN" dirty="0"/>
              <a:t>1-29</a:t>
            </a:r>
            <a:r>
              <a:rPr lang="zh-CN" altLang="zh-CN" dirty="0"/>
              <a:t>所示。</a:t>
            </a:r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zh-CN" sz="1100" dirty="0"/>
              <a:t> </a:t>
            </a:r>
            <a:r>
              <a:rPr lang="en-US" altLang="zh-CN" sz="1100" dirty="0" smtClean="0"/>
              <a:t>                                                                                                                </a:t>
            </a:r>
            <a:r>
              <a:rPr lang="zh-CN" altLang="zh-CN" sz="1100" dirty="0" smtClean="0"/>
              <a:t>图</a:t>
            </a:r>
            <a:r>
              <a:rPr lang="en-US" altLang="zh-CN" sz="1100" dirty="0"/>
              <a:t>1-29</a:t>
            </a:r>
            <a:endParaRPr lang="zh-CN" altLang="zh-CN" sz="1100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116632"/>
            <a:ext cx="36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1.5.3</a:t>
            </a:r>
            <a:r>
              <a:rPr lang="zh-CN" altLang="en-US" sz="2800" dirty="0" smtClean="0">
                <a:solidFill>
                  <a:schemeClr val="accent2"/>
                </a:solidFill>
              </a:rPr>
              <a:t>字符串方法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pic>
        <p:nvPicPr>
          <p:cNvPr id="5" name="图片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46053" y="4293096"/>
            <a:ext cx="3888432" cy="12961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5773" y="1340769"/>
            <a:ext cx="10801201" cy="4785396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2.</a:t>
            </a:r>
            <a:r>
              <a:rPr lang="zh-CN" altLang="zh-CN" sz="2400" b="1" dirty="0"/>
              <a:t>查找子串：</a:t>
            </a:r>
            <a:r>
              <a:rPr lang="en-US" altLang="zh-CN" sz="2400" b="1" dirty="0"/>
              <a:t>find</a:t>
            </a:r>
            <a:r>
              <a:rPr lang="en-US" altLang="zh-CN" sz="2400" b="1" dirty="0" smtClean="0"/>
              <a:t>()</a:t>
            </a:r>
          </a:p>
          <a:p>
            <a:pPr marL="0" indent="0">
              <a:buNone/>
            </a:pPr>
            <a:r>
              <a:rPr lang="zh-CN" altLang="zh-CN" dirty="0" smtClean="0"/>
              <a:t>用</a:t>
            </a:r>
            <a:r>
              <a:rPr lang="en-US" altLang="zh-CN" dirty="0"/>
              <a:t>find</a:t>
            </a:r>
            <a:r>
              <a:rPr lang="zh-CN" altLang="zh-CN" dirty="0"/>
              <a:t>函数查找子串出现的开始索引位置，如果没有找到则返回</a:t>
            </a:r>
            <a:r>
              <a:rPr lang="en-US" altLang="zh-CN" dirty="0"/>
              <a:t>-1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示例</a:t>
            </a:r>
            <a:r>
              <a:rPr lang="zh-CN" altLang="zh-CN" dirty="0"/>
              <a:t>代码如下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dirty="0" err="1"/>
              <a:t>st</a:t>
            </a:r>
            <a:r>
              <a:rPr lang="en-US" altLang="zh-CN" dirty="0"/>
              <a:t>='hello word</a:t>
            </a:r>
            <a:r>
              <a:rPr lang="en-US" altLang="zh-CN" dirty="0" smtClean="0"/>
              <a:t>!‘</a:t>
            </a:r>
          </a:p>
          <a:p>
            <a:r>
              <a:rPr lang="en-US" altLang="zh-CN" dirty="0"/>
              <a:t>z1=</a:t>
            </a:r>
            <a:r>
              <a:rPr lang="en-US" altLang="zh-CN" dirty="0" err="1"/>
              <a:t>st.find</a:t>
            </a:r>
            <a:r>
              <a:rPr lang="en-US" altLang="zh-CN" dirty="0"/>
              <a:t>('he',0,len(</a:t>
            </a:r>
            <a:r>
              <a:rPr lang="en-US" altLang="zh-CN" dirty="0" err="1"/>
              <a:t>st</a:t>
            </a:r>
            <a:r>
              <a:rPr lang="en-US" altLang="zh-CN" dirty="0"/>
              <a:t>)) #</a:t>
            </a:r>
            <a:r>
              <a:rPr lang="zh-CN" altLang="zh-CN" dirty="0"/>
              <a:t>返回包含子串的开始索引位置，否则</a:t>
            </a:r>
            <a:r>
              <a:rPr lang="en-US" altLang="zh-CN" dirty="0"/>
              <a:t>-</a:t>
            </a:r>
            <a:r>
              <a:rPr lang="en-US" altLang="zh-CN" dirty="0" smtClean="0"/>
              <a:t>1</a:t>
            </a:r>
          </a:p>
          <a:p>
            <a:r>
              <a:rPr lang="en-US" altLang="zh-CN" dirty="0"/>
              <a:t>z2=</a:t>
            </a:r>
            <a:r>
              <a:rPr lang="en-US" altLang="zh-CN" dirty="0" err="1"/>
              <a:t>st.find</a:t>
            </a:r>
            <a:r>
              <a:rPr lang="en-US" altLang="zh-CN" dirty="0"/>
              <a:t>('he',1,len(</a:t>
            </a:r>
            <a:r>
              <a:rPr lang="en-US" altLang="zh-CN" dirty="0" err="1"/>
              <a:t>st</a:t>
            </a:r>
            <a:r>
              <a:rPr lang="en-US" altLang="zh-CN" dirty="0" smtClean="0"/>
              <a:t>))</a:t>
            </a:r>
          </a:p>
          <a:p>
            <a:r>
              <a:rPr lang="en-US" altLang="zh-CN" dirty="0"/>
              <a:t>print(z1,z2)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   </a:t>
            </a:r>
            <a:r>
              <a:rPr lang="zh-CN" altLang="zh-CN" dirty="0" smtClean="0"/>
              <a:t>执行</a:t>
            </a:r>
            <a:r>
              <a:rPr lang="zh-CN" altLang="zh-CN" dirty="0"/>
              <a:t>结果为：</a:t>
            </a:r>
            <a:br>
              <a:rPr lang="zh-CN" altLang="zh-CN" dirty="0"/>
            </a:br>
            <a:r>
              <a:rPr lang="en-US" altLang="zh-CN" dirty="0" smtClean="0"/>
              <a:t>               0 </a:t>
            </a:r>
            <a:r>
              <a:rPr lang="en-US" altLang="zh-CN" dirty="0"/>
              <a:t>-</a:t>
            </a:r>
            <a:r>
              <a:rPr lang="en-US" altLang="zh-CN" dirty="0" smtClean="0"/>
              <a:t>1</a:t>
            </a:r>
          </a:p>
          <a:p>
            <a:pPr marL="0" indent="0">
              <a:buNone/>
            </a:pPr>
            <a:r>
              <a:rPr lang="zh-CN" altLang="zh-CN" dirty="0"/>
              <a:t>其中</a:t>
            </a:r>
            <a:r>
              <a:rPr lang="en-US" altLang="zh-CN" dirty="0"/>
              <a:t>find</a:t>
            </a:r>
            <a:r>
              <a:rPr lang="zh-CN" altLang="zh-CN" dirty="0"/>
              <a:t>函数第一个参数为需要查找的子串，第二个参数是待查字符串指定的开始位置，第三个参数为指定待查字符串的长度。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489869" y="116632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1.5.3</a:t>
            </a:r>
            <a:r>
              <a:rPr lang="zh-CN" altLang="en-US" sz="2800" dirty="0" smtClean="0">
                <a:solidFill>
                  <a:schemeClr val="accent2"/>
                </a:solidFill>
              </a:rPr>
              <a:t>字符串方法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805" y="1052736"/>
            <a:ext cx="11089233" cy="594927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400" b="1" dirty="0"/>
              <a:t>3.</a:t>
            </a:r>
            <a:r>
              <a:rPr lang="zh-CN" altLang="zh-CN" sz="2400" b="1" dirty="0"/>
              <a:t>替换子串：</a:t>
            </a:r>
            <a:r>
              <a:rPr lang="en-US" altLang="zh-CN" sz="2400" b="1" dirty="0"/>
              <a:t>replace()</a:t>
            </a:r>
            <a:endParaRPr lang="zh-CN" altLang="zh-CN" sz="2400" b="1" dirty="0"/>
          </a:p>
          <a:p>
            <a:pPr marL="0" indent="0">
              <a:buNone/>
            </a:pPr>
            <a:r>
              <a:rPr lang="zh-CN" altLang="zh-CN" sz="1800" dirty="0"/>
              <a:t>通过</a:t>
            </a:r>
            <a:r>
              <a:rPr lang="en-US" altLang="zh-CN" sz="1800" dirty="0"/>
              <a:t>replace</a:t>
            </a:r>
            <a:r>
              <a:rPr lang="zh-CN" altLang="zh-CN" sz="1800" dirty="0"/>
              <a:t>函数，可以替换指定的子串。示例代码如下：</a:t>
            </a:r>
          </a:p>
          <a:p>
            <a:r>
              <a:rPr lang="en-US" altLang="zh-CN" sz="1800" dirty="0" err="1"/>
              <a:t>stt</a:t>
            </a:r>
            <a:r>
              <a:rPr lang="en-US" altLang="zh-CN" sz="1800" dirty="0"/>
              <a:t>=</a:t>
            </a:r>
            <a:r>
              <a:rPr lang="en-US" altLang="zh-CN" sz="1800" dirty="0" err="1"/>
              <a:t>st.replace</a:t>
            </a:r>
            <a:r>
              <a:rPr lang="en-US" altLang="zh-CN" sz="1800" dirty="0"/>
              <a:t>('</a:t>
            </a:r>
            <a:r>
              <a:rPr lang="en-US" altLang="zh-CN" sz="1800" dirty="0" err="1"/>
              <a:t>or','kl</a:t>
            </a:r>
            <a:r>
              <a:rPr lang="en-US" altLang="zh-CN" sz="1800" dirty="0"/>
              <a:t>') #</a:t>
            </a:r>
            <a:r>
              <a:rPr lang="zh-CN" altLang="zh-CN" sz="1800" dirty="0"/>
              <a:t>原来的</a:t>
            </a:r>
            <a:r>
              <a:rPr lang="en-US" altLang="zh-CN" sz="1800" dirty="0" err="1"/>
              <a:t>st</a:t>
            </a:r>
            <a:r>
              <a:rPr lang="zh-CN" altLang="zh-CN" sz="1800" dirty="0"/>
              <a:t>不变</a:t>
            </a:r>
          </a:p>
          <a:p>
            <a:r>
              <a:rPr lang="en-US" altLang="zh-CN" sz="1800" dirty="0"/>
              <a:t>print(</a:t>
            </a:r>
            <a:r>
              <a:rPr lang="en-US" altLang="zh-CN" sz="1800" dirty="0" err="1"/>
              <a:t>stt</a:t>
            </a:r>
            <a:r>
              <a:rPr lang="en-US" altLang="zh-CN" sz="1800" dirty="0"/>
              <a:t>)</a:t>
            </a:r>
            <a:endParaRPr lang="zh-CN" altLang="zh-CN" sz="1800" dirty="0"/>
          </a:p>
          <a:p>
            <a:r>
              <a:rPr lang="en-US" altLang="zh-CN" sz="1800" dirty="0"/>
              <a:t>print(</a:t>
            </a:r>
            <a:r>
              <a:rPr lang="en-US" altLang="zh-CN" sz="1800" dirty="0" err="1"/>
              <a:t>st</a:t>
            </a:r>
            <a:r>
              <a:rPr lang="en-US" altLang="zh-CN" sz="1800" dirty="0"/>
              <a:t>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执行结果如下：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hello </a:t>
            </a:r>
            <a:r>
              <a:rPr lang="en-US" altLang="zh-CN" sz="1800" dirty="0" err="1"/>
              <a:t>wkld</a:t>
            </a:r>
            <a:r>
              <a:rPr lang="en-US" altLang="zh-CN" sz="1800" dirty="0"/>
              <a:t>!</a:t>
            </a:r>
            <a:endParaRPr lang="zh-CN" altLang="zh-CN" sz="1800" dirty="0"/>
          </a:p>
          <a:p>
            <a:pPr marL="0" indent="0">
              <a:buNone/>
            </a:pPr>
            <a:r>
              <a:rPr lang="en-US" altLang="zh-CN" sz="1800" dirty="0" smtClean="0"/>
              <a:t>     hello </a:t>
            </a:r>
            <a:r>
              <a:rPr lang="en-US" altLang="zh-CN" sz="1800" dirty="0"/>
              <a:t>word!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其中</a:t>
            </a:r>
            <a:r>
              <a:rPr lang="en-US" altLang="zh-CN" sz="1800" dirty="0"/>
              <a:t>replace</a:t>
            </a:r>
            <a:r>
              <a:rPr lang="zh-CN" altLang="zh-CN" sz="1800" dirty="0"/>
              <a:t>函数第一参数为被替换子串，第二个参数为替换子串。</a:t>
            </a:r>
          </a:p>
          <a:p>
            <a:pPr marL="0" indent="0">
              <a:buNone/>
            </a:pPr>
            <a:r>
              <a:rPr lang="en-US" altLang="zh-CN" sz="2400" b="1" dirty="0"/>
              <a:t>4.</a:t>
            </a:r>
            <a:r>
              <a:rPr lang="zh-CN" altLang="zh-CN" sz="2400" b="1" dirty="0"/>
              <a:t>字符串连接</a:t>
            </a:r>
          </a:p>
          <a:p>
            <a:pPr marL="0" indent="0">
              <a:buNone/>
            </a:pPr>
            <a:r>
              <a:rPr lang="zh-CN" altLang="zh-CN" sz="1800" dirty="0"/>
              <a:t>字符串的连接，可以通过“</a:t>
            </a:r>
            <a:r>
              <a:rPr lang="en-US" altLang="zh-CN" sz="1800" dirty="0"/>
              <a:t>+</a:t>
            </a:r>
            <a:r>
              <a:rPr lang="zh-CN" altLang="zh-CN" sz="1800" dirty="0"/>
              <a:t>”来实现。示例代码如下：</a:t>
            </a:r>
          </a:p>
          <a:p>
            <a:r>
              <a:rPr lang="en-US" altLang="zh-CN" sz="1800" dirty="0"/>
              <a:t>st1='</a:t>
            </a:r>
            <a:r>
              <a:rPr lang="en-US" altLang="zh-CN" sz="1800" dirty="0" err="1"/>
              <a:t>joh</a:t>
            </a:r>
            <a:r>
              <a:rPr lang="en-US" altLang="zh-CN" sz="1800" dirty="0"/>
              <a:t>'</a:t>
            </a:r>
            <a:endParaRPr lang="zh-CN" altLang="zh-CN" sz="1800" dirty="0"/>
          </a:p>
          <a:p>
            <a:r>
              <a:rPr lang="en-US" altLang="zh-CN" sz="1800" dirty="0"/>
              <a:t>st2=st1+' '+</a:t>
            </a:r>
            <a:r>
              <a:rPr lang="en-US" altLang="zh-CN" sz="1800" dirty="0" err="1"/>
              <a:t>st</a:t>
            </a:r>
            <a:endParaRPr lang="zh-CN" altLang="zh-CN" sz="1800" dirty="0"/>
          </a:p>
          <a:p>
            <a:r>
              <a:rPr lang="en-US" altLang="zh-CN" sz="1800" dirty="0"/>
              <a:t>print(st2)</a:t>
            </a:r>
            <a:endParaRPr lang="zh-CN" altLang="zh-CN" sz="1800" dirty="0"/>
          </a:p>
          <a:p>
            <a:pPr marL="0" indent="0">
              <a:buNone/>
            </a:pPr>
            <a:r>
              <a:rPr lang="zh-CN" altLang="zh-CN" sz="1800" dirty="0"/>
              <a:t>执行结果如下：</a:t>
            </a:r>
          </a:p>
          <a:p>
            <a:pPr marL="0" indent="0">
              <a:buNone/>
            </a:pPr>
            <a:r>
              <a:rPr lang="en-US" altLang="zh-CN" sz="1800" dirty="0" smtClean="0"/>
              <a:t>      </a:t>
            </a:r>
            <a:r>
              <a:rPr lang="en-US" altLang="zh-CN" sz="1800" dirty="0" err="1" smtClean="0"/>
              <a:t>joh</a:t>
            </a:r>
            <a:r>
              <a:rPr lang="en-US" altLang="zh-CN" sz="1800" dirty="0" smtClean="0"/>
              <a:t> </a:t>
            </a:r>
            <a:r>
              <a:rPr lang="en-US" altLang="zh-CN" sz="1800" dirty="0"/>
              <a:t>hello word!</a:t>
            </a:r>
            <a:endParaRPr lang="zh-CN" altLang="zh-CN" sz="1800" dirty="0"/>
          </a:p>
          <a:p>
            <a:endParaRPr lang="zh-CN" altLang="en-US" sz="1800" dirty="0"/>
          </a:p>
        </p:txBody>
      </p:sp>
      <p:sp>
        <p:nvSpPr>
          <p:cNvPr id="4" name="TextBox 3"/>
          <p:cNvSpPr txBox="1"/>
          <p:nvPr/>
        </p:nvSpPr>
        <p:spPr>
          <a:xfrm>
            <a:off x="1345853" y="116632"/>
            <a:ext cx="33843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1.5.3</a:t>
            </a:r>
            <a:r>
              <a:rPr lang="zh-CN" altLang="en-US" sz="2800" dirty="0" smtClean="0">
                <a:solidFill>
                  <a:schemeClr val="accent2"/>
                </a:solidFill>
              </a:rPr>
              <a:t>字符串方法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106179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b="1" dirty="0" smtClean="0"/>
              <a:t>5</a:t>
            </a:r>
            <a:r>
              <a:rPr lang="en-US" altLang="zh-CN" b="1" dirty="0"/>
              <a:t>.</a:t>
            </a:r>
            <a:r>
              <a:rPr lang="zh-CN" altLang="zh-CN" b="1" dirty="0"/>
              <a:t>字符串比较</a:t>
            </a:r>
            <a:r>
              <a:rPr lang="zh-CN" altLang="zh-CN" dirty="0"/>
              <a:t/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9789" y="1916832"/>
            <a:ext cx="10657185" cy="4209332"/>
          </a:xfrm>
        </p:spPr>
        <p:txBody>
          <a:bodyPr/>
          <a:lstStyle/>
          <a:p>
            <a:pPr marL="0" indent="0">
              <a:buNone/>
            </a:pPr>
            <a:r>
              <a:rPr lang="zh-CN" altLang="zh-CN" dirty="0"/>
              <a:t>字符串的比较也很简单，可以直接通过等号或不等号“</a:t>
            </a:r>
            <a:r>
              <a:rPr lang="en-US" altLang="zh-CN" dirty="0"/>
              <a:t>==</a:t>
            </a:r>
            <a:r>
              <a:rPr lang="zh-CN" altLang="zh-CN" dirty="0"/>
              <a:t>”、“</a:t>
            </a:r>
            <a:r>
              <a:rPr lang="en-US" altLang="zh-CN" dirty="0"/>
              <a:t>!=</a:t>
            </a:r>
            <a:r>
              <a:rPr lang="zh-CN" altLang="zh-CN" dirty="0"/>
              <a:t>”来进行判断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r>
              <a:rPr lang="zh-CN" altLang="zh-CN" dirty="0" smtClean="0"/>
              <a:t>示例</a:t>
            </a:r>
            <a:r>
              <a:rPr lang="zh-CN" altLang="zh-CN" dirty="0"/>
              <a:t>代码如下：</a:t>
            </a:r>
          </a:p>
          <a:p>
            <a:r>
              <a:rPr lang="en-US" altLang="zh-CN" dirty="0"/>
              <a:t>str1='</a:t>
            </a:r>
            <a:r>
              <a:rPr lang="en-US" altLang="zh-CN" dirty="0" err="1"/>
              <a:t>jo</a:t>
            </a:r>
            <a:r>
              <a:rPr lang="en-US" altLang="zh-CN" dirty="0"/>
              <a:t>'</a:t>
            </a:r>
            <a:endParaRPr lang="zh-CN" altLang="zh-CN" dirty="0"/>
          </a:p>
          <a:p>
            <a:r>
              <a:rPr lang="en-US" altLang="zh-CN" dirty="0"/>
              <a:t>str2='</a:t>
            </a:r>
            <a:r>
              <a:rPr lang="en-US" altLang="zh-CN" dirty="0" err="1"/>
              <a:t>qb</a:t>
            </a:r>
            <a:r>
              <a:rPr lang="en-US" altLang="zh-CN" dirty="0"/>
              <a:t>'</a:t>
            </a:r>
            <a:endParaRPr lang="zh-CN" altLang="zh-CN" dirty="0"/>
          </a:p>
          <a:p>
            <a:r>
              <a:rPr lang="en-US" altLang="zh-CN" dirty="0"/>
              <a:t>str3='</a:t>
            </a:r>
            <a:r>
              <a:rPr lang="en-US" altLang="zh-CN" dirty="0" err="1"/>
              <a:t>qb</a:t>
            </a:r>
            <a:r>
              <a:rPr lang="en-US" altLang="zh-CN" dirty="0"/>
              <a:t>'</a:t>
            </a:r>
            <a:endParaRPr lang="zh-CN" altLang="zh-CN" dirty="0"/>
          </a:p>
          <a:p>
            <a:r>
              <a:rPr lang="en-US" altLang="zh-CN" dirty="0"/>
              <a:t>s1=str1!=str2</a:t>
            </a:r>
            <a:endParaRPr lang="zh-CN" altLang="zh-CN" dirty="0"/>
          </a:p>
          <a:p>
            <a:r>
              <a:rPr lang="en-US" altLang="zh-CN" dirty="0"/>
              <a:t>s2=str2==str3</a:t>
            </a:r>
            <a:endParaRPr lang="zh-CN" altLang="zh-CN" dirty="0"/>
          </a:p>
          <a:p>
            <a:r>
              <a:rPr lang="en-US" altLang="zh-CN" dirty="0"/>
              <a:t>print(s1,s2)</a:t>
            </a:r>
            <a:endParaRPr lang="zh-CN" altLang="zh-CN" dirty="0"/>
          </a:p>
          <a:p>
            <a:pPr marL="0" indent="0">
              <a:buNone/>
            </a:pPr>
            <a:r>
              <a:rPr lang="zh-CN" altLang="zh-CN" dirty="0"/>
              <a:t>执行结果如下：</a:t>
            </a:r>
          </a:p>
          <a:p>
            <a:pPr marL="0" indent="0">
              <a:buNone/>
            </a:pPr>
            <a:r>
              <a:rPr lang="en-US" altLang="zh-CN" dirty="0" smtClean="0"/>
              <a:t>     True </a:t>
            </a:r>
            <a:r>
              <a:rPr lang="en-US" altLang="zh-CN" dirty="0" err="1"/>
              <a:t>True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343476" y="81536"/>
            <a:ext cx="39604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smtClean="0">
                <a:solidFill>
                  <a:schemeClr val="accent2"/>
                </a:solidFill>
              </a:rPr>
              <a:t>1.5.3</a:t>
            </a:r>
            <a:r>
              <a:rPr lang="zh-CN" altLang="en-US" sz="2800" dirty="0" smtClean="0">
                <a:solidFill>
                  <a:schemeClr val="accent2"/>
                </a:solidFill>
              </a:rPr>
              <a:t>字符串方法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0263" y="44624"/>
            <a:ext cx="1064260" cy="400103"/>
          </a:xfrm>
          <a:prstGeom prst="rect">
            <a:avLst/>
          </a:prstGeom>
          <a:noFill/>
        </p:spPr>
        <p:txBody>
          <a:bodyPr wrap="square" lIns="91434" tIns="45717" rIns="91434" bIns="45717" rtlCol="0">
            <a:spAutoFit/>
          </a:bodyPr>
          <a:lstStyle/>
          <a:p>
            <a:pPr algn="r"/>
            <a:r>
              <a:rPr lang="en-US" altLang="zh-CN" sz="2000" dirty="0">
                <a:solidFill>
                  <a:schemeClr val="accent2"/>
                </a:solidFill>
              </a:rPr>
              <a:t>Part 1</a:t>
            </a:r>
            <a:r>
              <a:rPr lang="en-US" altLang="zh-CN" dirty="0">
                <a:solidFill>
                  <a:schemeClr val="accent2"/>
                </a:solidFill>
              </a:rPr>
              <a:t> </a:t>
            </a:r>
            <a:endParaRPr lang="zh-CN" altLang="en-US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 advTm="9437"/>
    </mc:Choice>
    <mc:Fallback xmlns="">
      <p:transition advTm="9437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第一PPT，www.1ppt.com">
  <a:themeElements>
    <a:clrScheme name="155">
      <a:dk1>
        <a:srgbClr val="294A5A"/>
      </a:dk1>
      <a:lt1>
        <a:srgbClr val="99CC39"/>
      </a:lt1>
      <a:dk2>
        <a:srgbClr val="F9C900"/>
      </a:dk2>
      <a:lt2>
        <a:srgbClr val="ED5A00"/>
      </a:lt2>
      <a:accent1>
        <a:srgbClr val="484849"/>
      </a:accent1>
      <a:accent2>
        <a:srgbClr val="FFFFFF"/>
      </a:accent2>
      <a:accent3>
        <a:srgbClr val="969696"/>
      </a:accent3>
      <a:accent4>
        <a:srgbClr val="00AAA2"/>
      </a:accent4>
      <a:accent5>
        <a:srgbClr val="99CC39"/>
      </a:accent5>
      <a:accent6>
        <a:srgbClr val="F9C900"/>
      </a:accent6>
      <a:hlink>
        <a:srgbClr val="ED5A00"/>
      </a:hlink>
      <a:folHlink>
        <a:srgbClr val="484849"/>
      </a:folHlink>
    </a:clrScheme>
    <a:fontScheme name="默认设计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FDEF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E4ECF8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3">
        <a:dk1>
          <a:srgbClr val="000000"/>
        </a:dk1>
        <a:lt1>
          <a:srgbClr val="FFFFD9"/>
        </a:lt1>
        <a:dk2>
          <a:srgbClr val="2B2E30"/>
        </a:dk2>
        <a:lt2>
          <a:srgbClr val="777777"/>
        </a:lt2>
        <a:accent1>
          <a:srgbClr val="7FBA00"/>
        </a:accent1>
        <a:accent2>
          <a:srgbClr val="FCDB00"/>
        </a:accent2>
        <a:accent3>
          <a:srgbClr val="FFFFE9"/>
        </a:accent3>
        <a:accent4>
          <a:srgbClr val="000000"/>
        </a:accent4>
        <a:accent5>
          <a:srgbClr val="C0D9AA"/>
        </a:accent5>
        <a:accent6>
          <a:srgbClr val="E4C600"/>
        </a:accent6>
        <a:hlink>
          <a:srgbClr val="21A3D0"/>
        </a:hlink>
        <a:folHlink>
          <a:srgbClr val="DA25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2688</Words>
  <Application>Microsoft Office PowerPoint</Application>
  <PresentationFormat>自定义</PresentationFormat>
  <Paragraphs>365</Paragraphs>
  <Slides>25</Slides>
  <Notes>4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26" baseType="lpstr">
      <vt:lpstr>第一PPT，www.1ppt.com</vt:lpstr>
      <vt:lpstr>PowerPoint 演示文稿</vt:lpstr>
      <vt:lpstr>PowerPoint 演示文稿</vt:lpstr>
      <vt:lpstr>       字符串主要用来表示文本数据类型，字符串中的字符可以是数值、ASCII字符、各种符号等。字符串的定义可以用一对单引号或者一对三引号括起来。 示例代码如下：</vt:lpstr>
      <vt:lpstr>       列表作为Python中一种数据结构，可以存放不同类型的数据，用中括号括起来进行定义。  示例代码如下：</vt:lpstr>
      <vt:lpstr>       元组与列表类似，也是Python中一种常用数据结构，不同之处在于元组中的元素不能修改，元组采用圆括号括起来进行定义。示例代码如下： </vt:lpstr>
      <vt:lpstr>        集合也是Python中的数据结构，是一种不重复元素的序列，用大括号括起来进行定义。示例代码如下： </vt:lpstr>
      <vt:lpstr>字典是Python中一种按键值定义的数据结构，其中键必须唯一，但值不必，用大括号括起来进行定义。字典中的元素由键和值两部分组成，键在前值在后，键和值之间用冒号(:)来区分，元素之间用逗号隔开。键可以是数值、字符，值可以是数值、字符或者其他Python数据结构（比如列表、元组等）。 示例代码如下： </vt:lpstr>
      <vt:lpstr>PowerPoint 演示文稿</vt:lpstr>
      <vt:lpstr>PowerPoint 演示文稿</vt:lpstr>
      <vt:lpstr>       切片是指定索引位置，对数据实现分块访问或提取的一种数据操作方式，在数据处理中具有广泛的应用。下面简单介绍字符串、列表、元组的切片方法。 示例代码如下： </vt:lpstr>
      <vt:lpstr>         字符串的长度为字符串中所有字符的个数，其中空格也算一个字符；列表、元组、集合的长度，即为元素的个数；字典的长度为键的个数。求变量数据的长度在程序编写中经常用到，Python中提供了一个函数len()来实现，示例代码如下： </vt:lpstr>
      <vt:lpstr>       统计包括求最大值、最小值、求和等，可以是列表、元组、字符串， 示例代码如下：</vt:lpstr>
      <vt:lpstr>       成员身份的确认，用in命令，用来判断某个元素是否属于指定的数据结构变量。 示例代码如下： </vt:lpstr>
      <vt:lpstr>       程序运行过程中，可以存在大量的中间变量，这些变量一来占用空间，二来影响可读性，可以使用del命令删除不必要的中间变量。示例代码如下： </vt:lpstr>
      <vt:lpstr>       这里主要介绍列表中一些常用的方法，包括空列表的产生、向列表中添加元素、列表扩展、列表中元素的统计、返回列表中的index下标、删除列表元素、对列表进行排序等。为方便说明相关方法的应用，下面定义几个列表，定义代码如下：</vt:lpstr>
      <vt:lpstr> 2.添加元素：append() </vt:lpstr>
      <vt:lpstr> 3.扩展列表：extend() </vt:lpstr>
      <vt:lpstr> 5.返回下标：index() </vt:lpstr>
      <vt:lpstr> 7.元素排序：sort() </vt:lpstr>
      <vt:lpstr>PowerPoint 演示文稿</vt:lpstr>
      <vt:lpstr>PowerPoint 演示文稿</vt:lpstr>
      <vt:lpstr>        字符串作为基本的数据类型，也可以看作一种特殊的数据结构。对字符串的操作，是数据处理、编程过程中必不可少的环节。下面介绍几种常见的字符串处理方法，包括空字符串的产生、字符串的查找、字符串的替换、字符串的连接和比较。 </vt:lpstr>
      <vt:lpstr>PowerPoint 演示文稿</vt:lpstr>
      <vt:lpstr>PowerPoint 演示文稿</vt:lpstr>
      <vt:lpstr> 5.字符串比较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商业融资计划书</dc:title>
  <dc:creator>第一PPT</dc:creator>
  <cp:keywords>www.1ppt.com</cp:keywords>
  <cp:lastModifiedBy>lenovo</cp:lastModifiedBy>
  <cp:revision>1602</cp:revision>
  <dcterms:created xsi:type="dcterms:W3CDTF">2013-01-25T01:44:00Z</dcterms:created>
  <dcterms:modified xsi:type="dcterms:W3CDTF">2020-01-12T02:33:25Z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2052-11.1.0.9339</vt:lpwstr>
  </property>
</Properties>
</file>