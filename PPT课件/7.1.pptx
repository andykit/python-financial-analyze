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8"/>
  </p:handoutMasterIdLst>
  <p:sldIdLst>
    <p:sldId id="826" r:id="rId3"/>
    <p:sldId id="828" r:id="rId5"/>
    <p:sldId id="914" r:id="rId6"/>
    <p:sldId id="933" r:id="rId7"/>
    <p:sldId id="855" r:id="rId8"/>
    <p:sldId id="928" r:id="rId9"/>
    <p:sldId id="922" r:id="rId10"/>
    <p:sldId id="924" r:id="rId11"/>
    <p:sldId id="934" r:id="rId12"/>
    <p:sldId id="935" r:id="rId13"/>
    <p:sldId id="936" r:id="rId14"/>
    <p:sldId id="927" r:id="rId15"/>
    <p:sldId id="937" r:id="rId16"/>
    <p:sldId id="938" r:id="rId17"/>
  </p:sldIdLst>
  <p:sldSz cx="12196445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044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222" y="-108"/>
      </p:cViewPr>
      <p:guideLst>
        <p:guide orient="horz" pos="2142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97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handoutMaster" Target="handoutMasters/handout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image" Target="../media/image1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6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  <a:endParaRPr lang="zh-CN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  <a:endParaRPr lang="zh-CN" dirty="0"/>
          </a:p>
          <a:p>
            <a:pPr lvl="1"/>
            <a:r>
              <a:rPr lang="zh-CN" dirty="0"/>
              <a:t>第二级</a:t>
            </a:r>
            <a:endParaRPr 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0" y="2454498"/>
            <a:ext cx="12196800" cy="4403503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4947444" y="1328709"/>
            <a:ext cx="2301875" cy="2308227"/>
            <a:chOff x="6609209" y="790981"/>
            <a:chExt cx="2301875" cy="2308226"/>
          </a:xfrm>
        </p:grpSpPr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6609209" y="790981"/>
              <a:ext cx="2301875" cy="23082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6733034" y="914806"/>
              <a:ext cx="2054225" cy="2058988"/>
            </a:xfrm>
            <a:custGeom>
              <a:avLst/>
              <a:gdLst>
                <a:gd name="T0" fmla="*/ 1653 w 3306"/>
                <a:gd name="T1" fmla="*/ 0 h 3306"/>
                <a:gd name="T2" fmla="*/ 3306 w 3306"/>
                <a:gd name="T3" fmla="*/ 1653 h 3306"/>
                <a:gd name="T4" fmla="*/ 1653 w 3306"/>
                <a:gd name="T5" fmla="*/ 3306 h 3306"/>
                <a:gd name="T6" fmla="*/ 0 w 3306"/>
                <a:gd name="T7" fmla="*/ 1653 h 3306"/>
                <a:gd name="T8" fmla="*/ 1653 w 3306"/>
                <a:gd name="T9" fmla="*/ 0 h 3306"/>
                <a:gd name="T10" fmla="*/ 1653 w 3306"/>
                <a:gd name="T11" fmla="*/ 112 h 3306"/>
                <a:gd name="T12" fmla="*/ 3193 w 3306"/>
                <a:gd name="T13" fmla="*/ 1653 h 3306"/>
                <a:gd name="T14" fmla="*/ 1653 w 3306"/>
                <a:gd name="T15" fmla="*/ 3193 h 3306"/>
                <a:gd name="T16" fmla="*/ 112 w 3306"/>
                <a:gd name="T17" fmla="*/ 1653 h 3306"/>
                <a:gd name="T18" fmla="*/ 1653 w 3306"/>
                <a:gd name="T19" fmla="*/ 112 h 3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306" h="3306">
                  <a:moveTo>
                    <a:pt x="1653" y="0"/>
                  </a:moveTo>
                  <a:cubicBezTo>
                    <a:pt x="2565" y="0"/>
                    <a:pt x="3306" y="740"/>
                    <a:pt x="3306" y="1653"/>
                  </a:cubicBezTo>
                  <a:cubicBezTo>
                    <a:pt x="3306" y="2565"/>
                    <a:pt x="2565" y="3306"/>
                    <a:pt x="1653" y="3306"/>
                  </a:cubicBezTo>
                  <a:cubicBezTo>
                    <a:pt x="740" y="3306"/>
                    <a:pt x="0" y="2565"/>
                    <a:pt x="0" y="1653"/>
                  </a:cubicBezTo>
                  <a:cubicBezTo>
                    <a:pt x="0" y="740"/>
                    <a:pt x="740" y="0"/>
                    <a:pt x="1653" y="0"/>
                  </a:cubicBezTo>
                  <a:close/>
                  <a:moveTo>
                    <a:pt x="1653" y="112"/>
                  </a:moveTo>
                  <a:cubicBezTo>
                    <a:pt x="2503" y="112"/>
                    <a:pt x="3193" y="802"/>
                    <a:pt x="3193" y="1653"/>
                  </a:cubicBezTo>
                  <a:cubicBezTo>
                    <a:pt x="3193" y="2503"/>
                    <a:pt x="2503" y="3193"/>
                    <a:pt x="1653" y="3193"/>
                  </a:cubicBezTo>
                  <a:cubicBezTo>
                    <a:pt x="802" y="3193"/>
                    <a:pt x="112" y="2503"/>
                    <a:pt x="112" y="1653"/>
                  </a:cubicBezTo>
                  <a:cubicBezTo>
                    <a:pt x="112" y="802"/>
                    <a:pt x="802" y="112"/>
                    <a:pt x="1653" y="112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2969397" y="3739675"/>
            <a:ext cx="6257970" cy="828675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sz="48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众包任务</a:t>
            </a:r>
            <a:endParaRPr lang="zh-CN" altLang="en-US" sz="48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2641998" y="4570915"/>
            <a:ext cx="6912768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Freeform 12"/>
          <p:cNvSpPr>
            <a:spLocks noEditPoints="1"/>
          </p:cNvSpPr>
          <p:nvPr/>
        </p:nvSpPr>
        <p:spPr bwMode="auto">
          <a:xfrm>
            <a:off x="5517801" y="1904686"/>
            <a:ext cx="1161161" cy="1156273"/>
          </a:xfrm>
          <a:custGeom>
            <a:avLst/>
            <a:gdLst>
              <a:gd name="T0" fmla="*/ 862 w 954"/>
              <a:gd name="T1" fmla="*/ 813 h 944"/>
              <a:gd name="T2" fmla="*/ 763 w 954"/>
              <a:gd name="T3" fmla="*/ 813 h 944"/>
              <a:gd name="T4" fmla="*/ 625 w 954"/>
              <a:gd name="T5" fmla="*/ 549 h 944"/>
              <a:gd name="T6" fmla="*/ 611 w 954"/>
              <a:gd name="T7" fmla="*/ 601 h 944"/>
              <a:gd name="T8" fmla="*/ 535 w 954"/>
              <a:gd name="T9" fmla="*/ 658 h 944"/>
              <a:gd name="T10" fmla="*/ 782 w 954"/>
              <a:gd name="T11" fmla="*/ 932 h 944"/>
              <a:gd name="T12" fmla="*/ 941 w 954"/>
              <a:gd name="T13" fmla="*/ 826 h 944"/>
              <a:gd name="T14" fmla="*/ 824 w 954"/>
              <a:gd name="T15" fmla="*/ 704 h 944"/>
              <a:gd name="T16" fmla="*/ 650 w 954"/>
              <a:gd name="T17" fmla="*/ 561 h 944"/>
              <a:gd name="T18" fmla="*/ 345 w 954"/>
              <a:gd name="T19" fmla="*/ 335 h 944"/>
              <a:gd name="T20" fmla="*/ 397 w 954"/>
              <a:gd name="T21" fmla="*/ 321 h 944"/>
              <a:gd name="T22" fmla="*/ 411 w 954"/>
              <a:gd name="T23" fmla="*/ 269 h 944"/>
              <a:gd name="T24" fmla="*/ 423 w 954"/>
              <a:gd name="T25" fmla="*/ 221 h 944"/>
              <a:gd name="T26" fmla="*/ 184 w 954"/>
              <a:gd name="T27" fmla="*/ 21 h 944"/>
              <a:gd name="T28" fmla="*/ 151 w 954"/>
              <a:gd name="T29" fmla="*/ 267 h 944"/>
              <a:gd name="T30" fmla="*/ 1 w 954"/>
              <a:gd name="T31" fmla="*/ 204 h 944"/>
              <a:gd name="T32" fmla="*/ 284 w 954"/>
              <a:gd name="T33" fmla="*/ 406 h 944"/>
              <a:gd name="T34" fmla="*/ 320 w 954"/>
              <a:gd name="T35" fmla="*/ 360 h 944"/>
              <a:gd name="T36" fmla="*/ 920 w 954"/>
              <a:gd name="T37" fmla="*/ 91 h 944"/>
              <a:gd name="T38" fmla="*/ 791 w 954"/>
              <a:gd name="T39" fmla="*/ 0 h 944"/>
              <a:gd name="T40" fmla="*/ 448 w 954"/>
              <a:gd name="T41" fmla="*/ 306 h 944"/>
              <a:gd name="T42" fmla="*/ 399 w 954"/>
              <a:gd name="T43" fmla="*/ 376 h 944"/>
              <a:gd name="T44" fmla="*/ 357 w 954"/>
              <a:gd name="T45" fmla="*/ 397 h 944"/>
              <a:gd name="T46" fmla="*/ 362 w 954"/>
              <a:gd name="T47" fmla="*/ 527 h 944"/>
              <a:gd name="T48" fmla="*/ 85 w 954"/>
              <a:gd name="T49" fmla="*/ 768 h 944"/>
              <a:gd name="T50" fmla="*/ 55 w 954"/>
              <a:gd name="T51" fmla="*/ 944 h 944"/>
              <a:gd name="T52" fmla="*/ 198 w 954"/>
              <a:gd name="T53" fmla="*/ 800 h 944"/>
              <a:gd name="T54" fmla="*/ 423 w 954"/>
              <a:gd name="T55" fmla="*/ 588 h 944"/>
              <a:gd name="T56" fmla="*/ 549 w 954"/>
              <a:gd name="T57" fmla="*/ 588 h 944"/>
              <a:gd name="T58" fmla="*/ 585 w 954"/>
              <a:gd name="T59" fmla="*/ 509 h 944"/>
              <a:gd name="T60" fmla="*/ 639 w 954"/>
              <a:gd name="T61" fmla="*/ 498 h 944"/>
              <a:gd name="T62" fmla="*/ 920 w 954"/>
              <a:gd name="T63" fmla="*/ 91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54" h="944">
                <a:moveTo>
                  <a:pt x="813" y="764"/>
                </a:moveTo>
                <a:cubicBezTo>
                  <a:pt x="840" y="764"/>
                  <a:pt x="862" y="786"/>
                  <a:pt x="862" y="813"/>
                </a:cubicBezTo>
                <a:cubicBezTo>
                  <a:pt x="862" y="841"/>
                  <a:pt x="840" y="863"/>
                  <a:pt x="813" y="863"/>
                </a:cubicBezTo>
                <a:cubicBezTo>
                  <a:pt x="786" y="863"/>
                  <a:pt x="763" y="841"/>
                  <a:pt x="763" y="813"/>
                </a:cubicBezTo>
                <a:cubicBezTo>
                  <a:pt x="763" y="786"/>
                  <a:pt x="786" y="764"/>
                  <a:pt x="813" y="764"/>
                </a:cubicBezTo>
                <a:close/>
                <a:moveTo>
                  <a:pt x="625" y="549"/>
                </a:moveTo>
                <a:lnTo>
                  <a:pt x="637" y="574"/>
                </a:lnTo>
                <a:lnTo>
                  <a:pt x="611" y="601"/>
                </a:lnTo>
                <a:lnTo>
                  <a:pt x="586" y="625"/>
                </a:lnTo>
                <a:cubicBezTo>
                  <a:pt x="571" y="640"/>
                  <a:pt x="554" y="651"/>
                  <a:pt x="535" y="658"/>
                </a:cubicBezTo>
                <a:lnTo>
                  <a:pt x="703" y="826"/>
                </a:lnTo>
                <a:lnTo>
                  <a:pt x="782" y="932"/>
                </a:lnTo>
                <a:lnTo>
                  <a:pt x="824" y="943"/>
                </a:lnTo>
                <a:lnTo>
                  <a:pt x="941" y="826"/>
                </a:lnTo>
                <a:lnTo>
                  <a:pt x="930" y="783"/>
                </a:lnTo>
                <a:lnTo>
                  <a:pt x="824" y="704"/>
                </a:lnTo>
                <a:lnTo>
                  <a:pt x="666" y="546"/>
                </a:lnTo>
                <a:lnTo>
                  <a:pt x="650" y="561"/>
                </a:lnTo>
                <a:lnTo>
                  <a:pt x="625" y="549"/>
                </a:lnTo>
                <a:close/>
                <a:moveTo>
                  <a:pt x="345" y="335"/>
                </a:moveTo>
                <a:lnTo>
                  <a:pt x="372" y="308"/>
                </a:lnTo>
                <a:lnTo>
                  <a:pt x="397" y="321"/>
                </a:lnTo>
                <a:lnTo>
                  <a:pt x="384" y="296"/>
                </a:lnTo>
                <a:lnTo>
                  <a:pt x="411" y="269"/>
                </a:lnTo>
                <a:lnTo>
                  <a:pt x="414" y="266"/>
                </a:lnTo>
                <a:cubicBezTo>
                  <a:pt x="420" y="251"/>
                  <a:pt x="423" y="235"/>
                  <a:pt x="423" y="221"/>
                </a:cubicBezTo>
                <a:cubicBezTo>
                  <a:pt x="423" y="108"/>
                  <a:pt x="316" y="0"/>
                  <a:pt x="204" y="1"/>
                </a:cubicBezTo>
                <a:cubicBezTo>
                  <a:pt x="203" y="1"/>
                  <a:pt x="191" y="14"/>
                  <a:pt x="184" y="21"/>
                </a:cubicBezTo>
                <a:cubicBezTo>
                  <a:pt x="274" y="111"/>
                  <a:pt x="266" y="96"/>
                  <a:pt x="266" y="151"/>
                </a:cubicBezTo>
                <a:cubicBezTo>
                  <a:pt x="266" y="196"/>
                  <a:pt x="195" y="267"/>
                  <a:pt x="151" y="267"/>
                </a:cubicBezTo>
                <a:cubicBezTo>
                  <a:pt x="94" y="267"/>
                  <a:pt x="112" y="276"/>
                  <a:pt x="20" y="184"/>
                </a:cubicBezTo>
                <a:cubicBezTo>
                  <a:pt x="13" y="191"/>
                  <a:pt x="1" y="204"/>
                  <a:pt x="1" y="204"/>
                </a:cubicBezTo>
                <a:cubicBezTo>
                  <a:pt x="2" y="316"/>
                  <a:pt x="108" y="424"/>
                  <a:pt x="220" y="424"/>
                </a:cubicBezTo>
                <a:cubicBezTo>
                  <a:pt x="240" y="424"/>
                  <a:pt x="262" y="417"/>
                  <a:pt x="284" y="406"/>
                </a:cubicBezTo>
                <a:lnTo>
                  <a:pt x="288" y="411"/>
                </a:lnTo>
                <a:cubicBezTo>
                  <a:pt x="295" y="392"/>
                  <a:pt x="305" y="375"/>
                  <a:pt x="320" y="360"/>
                </a:cubicBezTo>
                <a:lnTo>
                  <a:pt x="345" y="335"/>
                </a:lnTo>
                <a:close/>
                <a:moveTo>
                  <a:pt x="920" y="91"/>
                </a:moveTo>
                <a:lnTo>
                  <a:pt x="854" y="26"/>
                </a:lnTo>
                <a:cubicBezTo>
                  <a:pt x="837" y="9"/>
                  <a:pt x="814" y="0"/>
                  <a:pt x="791" y="0"/>
                </a:cubicBezTo>
                <a:cubicBezTo>
                  <a:pt x="768" y="0"/>
                  <a:pt x="746" y="9"/>
                  <a:pt x="728" y="26"/>
                </a:cubicBezTo>
                <a:lnTo>
                  <a:pt x="448" y="306"/>
                </a:lnTo>
                <a:cubicBezTo>
                  <a:pt x="457" y="323"/>
                  <a:pt x="450" y="348"/>
                  <a:pt x="437" y="361"/>
                </a:cubicBezTo>
                <a:cubicBezTo>
                  <a:pt x="428" y="370"/>
                  <a:pt x="413" y="376"/>
                  <a:pt x="399" y="376"/>
                </a:cubicBezTo>
                <a:cubicBezTo>
                  <a:pt x="393" y="376"/>
                  <a:pt x="387" y="375"/>
                  <a:pt x="382" y="372"/>
                </a:cubicBezTo>
                <a:lnTo>
                  <a:pt x="357" y="397"/>
                </a:lnTo>
                <a:cubicBezTo>
                  <a:pt x="323" y="432"/>
                  <a:pt x="323" y="488"/>
                  <a:pt x="357" y="523"/>
                </a:cubicBezTo>
                <a:lnTo>
                  <a:pt x="362" y="527"/>
                </a:lnTo>
                <a:lnTo>
                  <a:pt x="143" y="746"/>
                </a:lnTo>
                <a:lnTo>
                  <a:pt x="85" y="768"/>
                </a:lnTo>
                <a:lnTo>
                  <a:pt x="0" y="889"/>
                </a:lnTo>
                <a:lnTo>
                  <a:pt x="55" y="944"/>
                </a:lnTo>
                <a:lnTo>
                  <a:pt x="176" y="859"/>
                </a:lnTo>
                <a:lnTo>
                  <a:pt x="198" y="800"/>
                </a:lnTo>
                <a:lnTo>
                  <a:pt x="416" y="582"/>
                </a:lnTo>
                <a:lnTo>
                  <a:pt x="423" y="588"/>
                </a:lnTo>
                <a:cubicBezTo>
                  <a:pt x="440" y="606"/>
                  <a:pt x="463" y="614"/>
                  <a:pt x="486" y="614"/>
                </a:cubicBezTo>
                <a:cubicBezTo>
                  <a:pt x="509" y="614"/>
                  <a:pt x="531" y="606"/>
                  <a:pt x="549" y="588"/>
                </a:cubicBezTo>
                <a:lnTo>
                  <a:pt x="574" y="564"/>
                </a:lnTo>
                <a:cubicBezTo>
                  <a:pt x="565" y="547"/>
                  <a:pt x="572" y="522"/>
                  <a:pt x="585" y="509"/>
                </a:cubicBezTo>
                <a:cubicBezTo>
                  <a:pt x="594" y="500"/>
                  <a:pt x="609" y="494"/>
                  <a:pt x="622" y="494"/>
                </a:cubicBezTo>
                <a:cubicBezTo>
                  <a:pt x="629" y="494"/>
                  <a:pt x="634" y="495"/>
                  <a:pt x="639" y="498"/>
                </a:cubicBezTo>
                <a:lnTo>
                  <a:pt x="920" y="217"/>
                </a:lnTo>
                <a:cubicBezTo>
                  <a:pt x="954" y="183"/>
                  <a:pt x="954" y="126"/>
                  <a:pt x="920" y="91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6" name="Oval 39"/>
          <p:cNvSpPr>
            <a:spLocks noChangeAspect="1" noChangeArrowheads="1"/>
          </p:cNvSpPr>
          <p:nvPr/>
        </p:nvSpPr>
        <p:spPr bwMode="auto">
          <a:xfrm>
            <a:off x="3841074" y="4855189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19" name="Oval 42"/>
          <p:cNvSpPr>
            <a:spLocks noChangeAspect="1" noChangeArrowheads="1"/>
          </p:cNvSpPr>
          <p:nvPr/>
        </p:nvSpPr>
        <p:spPr bwMode="auto">
          <a:xfrm>
            <a:off x="6494612" y="4855189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04292" y="4763746"/>
            <a:ext cx="2264888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n-ea"/>
                <a:ea typeface="+mn-ea"/>
              </a:rPr>
              <a:t>案例介绍</a:t>
            </a:r>
            <a:endParaRPr lang="zh-CN" altLang="en-US" sz="20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24109" y="4678673"/>
            <a:ext cx="2946680" cy="551815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>
                <a:solidFill>
                  <a:schemeClr val="accent1"/>
                </a:solidFill>
                <a:latin typeface="+mn-ea"/>
                <a:ea typeface="+mn-ea"/>
              </a:defRPr>
            </a:lvl1pPr>
          </a:lstStyle>
          <a:p>
            <a:r>
              <a:rPr lang="zh-CN" altLang="en-US" sz="2000" dirty="0">
                <a:solidFill>
                  <a:schemeClr val="accent2"/>
                </a:solidFill>
              </a:rPr>
              <a:t>案例分析</a:t>
            </a:r>
            <a:endParaRPr lang="zh-CN" altLang="en-US" sz="2000" dirty="0">
              <a:solidFill>
                <a:schemeClr val="accent2"/>
              </a:solidFill>
            </a:endParaRPr>
          </a:p>
        </p:txBody>
      </p:sp>
      <p:sp>
        <p:nvSpPr>
          <p:cNvPr id="15" name="Oval 39"/>
          <p:cNvSpPr>
            <a:spLocks noChangeAspect="1" noChangeArrowheads="1"/>
          </p:cNvSpPr>
          <p:nvPr/>
        </p:nvSpPr>
        <p:spPr bwMode="auto">
          <a:xfrm>
            <a:off x="3841074" y="5444021"/>
            <a:ext cx="216000" cy="217227"/>
          </a:xfrm>
          <a:prstGeom prst="ellipse">
            <a:avLst/>
          </a:prstGeom>
          <a:solidFill>
            <a:schemeClr val="tx1"/>
          </a:solidFill>
          <a:ln w="28575" cap="flat">
            <a:solidFill>
              <a:schemeClr val="accent2"/>
            </a:solidFill>
            <a:prstDash val="solid"/>
            <a:miter lim="800000"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 sz="2000">
              <a:solidFill>
                <a:schemeClr val="accent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26173" y="5333153"/>
            <a:ext cx="5544616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r>
              <a:rPr lang="zh-CN" altLang="en-US" sz="2000" dirty="0">
                <a:solidFill>
                  <a:schemeClr val="accent2"/>
                </a:solidFill>
                <a:latin typeface="+mn-ea"/>
                <a:ea typeface="+mn-ea"/>
              </a:rPr>
              <a:t>指标计算</a:t>
            </a:r>
            <a:endParaRPr lang="zh-CN" altLang="en-US" sz="20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97560" y="897890"/>
            <a:ext cx="10601325" cy="4949190"/>
          </a:xfrm>
        </p:spPr>
        <p:txBody>
          <a:bodyPr/>
          <a:lstStyle/>
          <a:p>
            <a:pPr indent="720090" eaLnBrk="1" latinLnBrk="0" hangingPunct="1"/>
            <a:r>
              <a:rPr lang="zh-CN" altLang="en-US"/>
              <a:t>“拍照赚钱”是移动互联网下的一种自助式服务模式。用户下载APP，注册成为APP会员，然后从APP上领取需要拍照的任务（比如上超市去检查某种商品的上架情况），赚取APP对任务所标定的酬金。这种基于移动互联网的自助式劳务众包平台，为企业提供各种商业检查和信息搜集，相比传统的市场调查方式可以大大节省调查成本，而且有效地保证了调查数据真实性，缩短了调查的周期。因此APP成为该平台运行的核心，而APP中的任务定价又是其核心要素。如果定价不合理，有的任务就会无人问津，而导致商品检查的失败。</a:t>
            </a:r>
            <a:br>
              <a:rPr lang="zh-CN" altLang="en-US"/>
            </a:br>
            <a:r>
              <a:rPr lang="zh-CN" altLang="en-US"/>
              <a:t>附件一是一个已结束项目的任务数据，包含了每个任务的位置、定价和完成情况（“1”表示完成，“0”表示未完成）；附件二是会员信息数据，包含了会员的位置、信誉值、参考其信誉给出的任务开始预订时间和预订限额，原则上会员信誉越高，越优先开始挑选任务，其配额也就越大（任务分配时实际上是根据预订限额所占比例进行配发）。附件一和附件二的表结构如表7-1和表7-2所示。</a:t>
            </a:r>
            <a:endParaRPr lang="zh-CN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1412681" y="44625"/>
            <a:ext cx="504222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案例介绍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案例介绍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40335" y="1200150"/>
            <a:ext cx="5074285" cy="3371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1600200" algn="ctr"/>
            <a:r>
              <a:rPr lang="zh-CN" sz="1600" b="0">
                <a:ea typeface="宋体" panose="02010600030101010101" pitchFamily="2" charset="-122"/>
              </a:rPr>
              <a:t>表</a:t>
            </a:r>
            <a:r>
              <a:rPr lang="zh-CN" sz="1600" b="0">
                <a:ea typeface="宋体" panose="02010600030101010101" pitchFamily="2" charset="-122"/>
                <a:cs typeface="Times New Roman" panose="02020603050405020304" charset="0"/>
              </a:rPr>
              <a:t>7-1  附件一：已结束项目任务数据</a:t>
            </a:r>
            <a:endParaRPr lang="zh-CN" altLang="en-US" sz="1600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842010" y="1614805"/>
          <a:ext cx="5276850" cy="45129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2490"/>
                <a:gridCol w="1181735"/>
                <a:gridCol w="1289685"/>
                <a:gridCol w="860425"/>
                <a:gridCol w="1072515"/>
              </a:tblGrid>
              <a:tr h="7372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任务号码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任务gps 纬度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任务gps经度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任务标价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任务执行情况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A0001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22.56614225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113.9808368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66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A0002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22.68620526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113.9405252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65.5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A0003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22.57651183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113.957198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65.5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068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A0004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22.56484081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114.2445711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75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A0005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22.55888775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113.9507227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65.5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A0006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22.55899906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114.2413174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75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3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A0007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22.54900371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113.9722597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65.5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195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652577" y="1139825"/>
            <a:ext cx="5080000" cy="3371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1466850"/>
            <a:r>
              <a:rPr lang="zh-CN" sz="1600" b="0">
                <a:ea typeface="宋体" panose="02010600030101010101" pitchFamily="2" charset="-122"/>
              </a:rPr>
              <a:t>表</a:t>
            </a:r>
            <a:r>
              <a:rPr lang="zh-CN" sz="1600" b="0">
                <a:ea typeface="宋体" panose="02010600030101010101" pitchFamily="2" charset="-122"/>
                <a:cs typeface="Times New Roman" panose="02020603050405020304" charset="0"/>
              </a:rPr>
              <a:t>7-2  附件二：会员信息数据</a:t>
            </a:r>
            <a:endParaRPr lang="zh-CN" altLang="en-US" sz="1600"/>
          </a:p>
        </p:txBody>
      </p:sp>
      <p:graphicFrame>
        <p:nvGraphicFramePr>
          <p:cNvPr id="4" name="表格 3"/>
          <p:cNvGraphicFramePr/>
          <p:nvPr>
            <p:custDataLst>
              <p:tags r:id="rId2"/>
            </p:custDataLst>
          </p:nvPr>
        </p:nvGraphicFramePr>
        <p:xfrm>
          <a:off x="6762750" y="1585595"/>
          <a:ext cx="5068570" cy="45523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0570"/>
                <a:gridCol w="1708150"/>
                <a:gridCol w="720725"/>
                <a:gridCol w="900430"/>
                <a:gridCol w="988695"/>
              </a:tblGrid>
              <a:tr h="7721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会员编号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会员位置(GPS)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预订任务限额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预订任务开始时间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信誉值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B0001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22.947097 113.679983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114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6:30:00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67997.3868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37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B0002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22.577792 113.966524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163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6:30:00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37926.5416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374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B0003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23.192458 113.347272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139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6:30:00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27953.0363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1247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B0004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23.255965 113.31875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98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6:30:00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25085.6986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2583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600" b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……</a:t>
                      </a:r>
                      <a:endParaRPr lang="en-US" altLang="en-US" sz="1600" b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950585" y="6275705"/>
            <a:ext cx="6309995" cy="4756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171450"/>
            <a:endParaRPr lang="zh-CN" sz="900" b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171450"/>
            <a:r>
              <a:rPr lang="zh-CN" sz="1600" b="0">
                <a:latin typeface="Calibri" panose="020F0502020204030204" pitchFamily="34" charset="0"/>
                <a:ea typeface="宋体" panose="02010600030101010101" pitchFamily="2" charset="-122"/>
              </a:rPr>
              <a:t>注：案例内容及数据来源于</a:t>
            </a:r>
            <a:r>
              <a:rPr lang="en-US" sz="16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2017</a:t>
            </a:r>
            <a:r>
              <a:rPr lang="zh-CN" sz="1600" b="0">
                <a:latin typeface="Calibri" panose="020F0502020204030204" pitchFamily="34" charset="0"/>
                <a:ea typeface="宋体" panose="02010600030101010101" pitchFamily="2" charset="-122"/>
              </a:rPr>
              <a:t>年全国大学生数学建模竞赛</a:t>
            </a:r>
            <a:r>
              <a:rPr lang="en-US" sz="1600" b="0">
                <a:latin typeface="Calibri" panose="020F0502020204030204" pitchFamily="34" charset="0"/>
                <a:ea typeface="宋体" panose="02010600030101010101" pitchFamily="2" charset="-122"/>
              </a:rPr>
              <a:t>B</a:t>
            </a:r>
            <a:r>
              <a:rPr lang="zh-CN" sz="1600" b="0">
                <a:latin typeface="Calibri" panose="020F0502020204030204" pitchFamily="34" charset="0"/>
                <a:ea typeface="宋体" panose="02010600030101010101" pitchFamily="2" charset="-122"/>
              </a:rPr>
              <a:t>题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00" grpId="0"/>
      <p:bldP spid="3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7.1.1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案例介绍</a:t>
            </a:r>
            <a:endParaRPr lang="zh-CN" altLang="en-US" sz="2800" dirty="0" smtClean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7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078865" y="1296035"/>
            <a:ext cx="10532745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/>
            <a:r>
              <a:rPr lang="zh-CN" sz="2400" b="0">
                <a:ea typeface="宋体" panose="02010600030101010101" pitchFamily="2" charset="-122"/>
              </a:rPr>
              <a:t>问题：</a:t>
            </a:r>
            <a:endParaRPr lang="zh-CN" sz="2400" b="0">
              <a:ea typeface="宋体" panose="02010600030101010101" pitchFamily="2" charset="-122"/>
            </a:endParaRPr>
          </a:p>
          <a:p>
            <a:pPr marL="0" indent="0" algn="l"/>
            <a:r>
              <a:rPr lang="zh-CN" sz="2400" b="0">
                <a:ea typeface="宋体" panose="02010600030101010101" pitchFamily="2" charset="-122"/>
              </a:rPr>
              <a:t>（1）</a:t>
            </a:r>
            <a:r>
              <a:rPr 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2400" b="0">
                <a:ea typeface="宋体" panose="02010600030101010101" pitchFamily="2" charset="-122"/>
              </a:rPr>
              <a:t>对每一个任务，计算该任务在</a:t>
            </a:r>
            <a:r>
              <a:rPr lang="en-US" sz="24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5</a:t>
            </a:r>
            <a:r>
              <a:rPr lang="zh-CN" sz="2400" b="0">
                <a:ea typeface="宋体" panose="02010600030101010101" pitchFamily="2" charset="-122"/>
              </a:rPr>
              <a:t>公里范围内的任务数量总和，记为</a:t>
            </a:r>
            <a:r>
              <a:rPr lang="en-US" sz="2400" b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Z1</a:t>
            </a:r>
            <a:r>
              <a:rPr lang="zh-CN" sz="2400" b="0">
                <a:latin typeface="Calibri" panose="020F0502020204030204" pitchFamily="34" charset="0"/>
                <a:ea typeface="宋体" panose="02010600030101010101" pitchFamily="2" charset="-122"/>
              </a:rPr>
              <a:t>。</a:t>
            </a:r>
            <a:endParaRPr lang="zh-CN" sz="2400" b="0">
              <a:ea typeface="宋体" panose="02010600030101010101" pitchFamily="2" charset="-122"/>
            </a:endParaRPr>
          </a:p>
          <a:p>
            <a:pPr marL="0" indent="0" algn="l"/>
            <a:r>
              <a:rPr lang="zh-CN" sz="2400" b="0">
                <a:ea typeface="宋体" panose="02010600030101010101" pitchFamily="2" charset="-122"/>
              </a:rPr>
              <a:t>（2）</a:t>
            </a:r>
            <a:r>
              <a:rPr 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2400" b="0">
                <a:ea typeface="宋体" panose="02010600030101010101" pitchFamily="2" charset="-122"/>
              </a:rPr>
              <a:t>对每一个任务，计算该任务在</a:t>
            </a:r>
            <a:r>
              <a:rPr lang="en-US" sz="24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5</a:t>
            </a:r>
            <a:r>
              <a:rPr lang="zh-CN" sz="2400" b="0">
                <a:ea typeface="宋体" panose="02010600030101010101" pitchFamily="2" charset="-122"/>
              </a:rPr>
              <a:t>公里范围内的任务平均价格，记为</a:t>
            </a:r>
            <a:r>
              <a:rPr lang="en-US" sz="2400" b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Z2</a:t>
            </a:r>
            <a:r>
              <a:rPr lang="zh-CN" sz="2400" b="0">
                <a:latin typeface="Calibri" panose="020F0502020204030204" pitchFamily="34" charset="0"/>
                <a:ea typeface="宋体" panose="02010600030101010101" pitchFamily="2" charset="-122"/>
              </a:rPr>
              <a:t>。</a:t>
            </a:r>
            <a:endParaRPr lang="zh-CN" sz="2400" b="0">
              <a:ea typeface="宋体" panose="02010600030101010101" pitchFamily="2" charset="-122"/>
            </a:endParaRPr>
          </a:p>
          <a:p>
            <a:pPr marL="0" indent="0" algn="l"/>
            <a:r>
              <a:rPr lang="zh-CN" sz="2400" b="0">
                <a:ea typeface="宋体" panose="02010600030101010101" pitchFamily="2" charset="-122"/>
              </a:rPr>
              <a:t>（3）</a:t>
            </a:r>
            <a:r>
              <a:rPr 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2400" b="0">
                <a:ea typeface="宋体" panose="02010600030101010101" pitchFamily="2" charset="-122"/>
              </a:rPr>
              <a:t>对每一个任务，计算该任务在</a:t>
            </a:r>
            <a:r>
              <a:rPr lang="en-US" sz="24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5</a:t>
            </a:r>
            <a:r>
              <a:rPr lang="zh-CN" sz="2400" b="0">
                <a:ea typeface="宋体" panose="02010600030101010101" pitchFamily="2" charset="-122"/>
              </a:rPr>
              <a:t>公里范围内的会员个数，记为</a:t>
            </a:r>
            <a:r>
              <a:rPr lang="en-US" sz="2400" b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Z3</a:t>
            </a:r>
            <a:r>
              <a:rPr lang="zh-CN" sz="2400" b="0">
                <a:latin typeface="Calibri" panose="020F0502020204030204" pitchFamily="34" charset="0"/>
                <a:ea typeface="宋体" panose="02010600030101010101" pitchFamily="2" charset="-122"/>
              </a:rPr>
              <a:t>。</a:t>
            </a:r>
            <a:endParaRPr lang="zh-CN" sz="2400" b="0">
              <a:ea typeface="宋体" panose="02010600030101010101" pitchFamily="2" charset="-122"/>
            </a:endParaRPr>
          </a:p>
          <a:p>
            <a:pPr marL="0" indent="0" algn="l"/>
            <a:r>
              <a:rPr lang="zh-CN" sz="2400" b="0">
                <a:ea typeface="宋体" panose="02010600030101010101" pitchFamily="2" charset="-122"/>
              </a:rPr>
              <a:t>（4）</a:t>
            </a:r>
            <a:r>
              <a:rPr 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2400" b="0">
                <a:ea typeface="宋体" panose="02010600030101010101" pitchFamily="2" charset="-122"/>
              </a:rPr>
              <a:t>对每一个任务，计算该任务在</a:t>
            </a:r>
            <a:r>
              <a:rPr lang="en-US" sz="24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5</a:t>
            </a:r>
            <a:r>
              <a:rPr lang="zh-CN" sz="2400" b="0">
                <a:ea typeface="宋体" panose="02010600030101010101" pitchFamily="2" charset="-122"/>
              </a:rPr>
              <a:t>公里范围内的会员信誉平均值，记为</a:t>
            </a:r>
            <a:r>
              <a:rPr lang="en-US" sz="2400" b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Z4</a:t>
            </a:r>
            <a:r>
              <a:rPr lang="zh-CN" sz="2400" b="0">
                <a:latin typeface="Calibri" panose="020F0502020204030204" pitchFamily="34" charset="0"/>
                <a:ea typeface="宋体" panose="02010600030101010101" pitchFamily="2" charset="-122"/>
              </a:rPr>
              <a:t>。</a:t>
            </a:r>
            <a:endParaRPr lang="zh-CN" sz="2400" b="0">
              <a:ea typeface="宋体" panose="02010600030101010101" pitchFamily="2" charset="-122"/>
            </a:endParaRPr>
          </a:p>
          <a:p>
            <a:pPr marL="0" indent="0" algn="l"/>
            <a:r>
              <a:rPr lang="zh-CN" sz="2400" b="0">
                <a:ea typeface="宋体" panose="02010600030101010101" pitchFamily="2" charset="-122"/>
              </a:rPr>
              <a:t>（5）</a:t>
            </a:r>
            <a:r>
              <a:rPr lang="en-US" sz="2400" b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sz="2400" b="0">
                <a:ea typeface="宋体" panose="02010600030101010101" pitchFamily="2" charset="-122"/>
              </a:rPr>
              <a:t>对每一个任务，计算该任务在</a:t>
            </a:r>
            <a:r>
              <a:rPr lang="en-US" sz="24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5</a:t>
            </a:r>
            <a:r>
              <a:rPr lang="zh-CN" sz="2400" b="0">
                <a:ea typeface="宋体" panose="02010600030101010101" pitchFamily="2" charset="-122"/>
              </a:rPr>
              <a:t>公里范围内的会员可预订任务限额总和，记为</a:t>
            </a:r>
            <a:r>
              <a:rPr lang="en-US" sz="2400" b="0">
                <a:latin typeface="Calibri" panose="020F0502020204030204" pitchFamily="34" charset="0"/>
                <a:ea typeface="宋体" panose="02010600030101010101" pitchFamily="2" charset="-122"/>
                <a:cs typeface="Calibri" panose="020F0502020204030204" pitchFamily="34" charset="0"/>
              </a:rPr>
              <a:t>Z5</a:t>
            </a:r>
            <a:r>
              <a:rPr lang="zh-CN" sz="2400" b="0">
                <a:latin typeface="Calibri" panose="020F0502020204030204" pitchFamily="34" charset="0"/>
                <a:ea typeface="宋体" panose="02010600030101010101" pitchFamily="2" charset="-122"/>
              </a:rPr>
              <a:t>。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0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3355"/>
            <a:ext cx="685584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案例分析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997585" y="1113790"/>
            <a:ext cx="6410325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6700"/>
            <a:r>
              <a:rPr lang="en-US" alt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    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图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7-1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所示圆圈代表任务，三角形代表会员，分布在同一个区域上，位置均由经度和纬度确定。以某个任务为圆心，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5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公里范围为半径，作一个圆，如图中所示。该任务在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5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公里范围内有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个任务（包括自身）、</a:t>
            </a:r>
            <a:r>
              <a:rPr lang="en-US" alt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个会员。对该任务来讲，则：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Z1=4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；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Z2=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对应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4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个任务定价的平均值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Z3=2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Z4=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对应</a:t>
            </a:r>
            <a:r>
              <a:rPr lang="en-US" alt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个会员信誉值的平均值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Z5=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对应</a:t>
            </a:r>
            <a:r>
              <a:rPr lang="en-US" alt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个会员预订限额的总和</a:t>
            </a:r>
            <a:endParaRPr lang="zh-CN" sz="2000" b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266700"/>
            <a:endParaRPr lang="zh-CN" sz="2000" b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266700"/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本案例的关键是在计算任务之间、任务与会员之间的距离，从而确定每个任务在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5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公里范围内具体包括哪些任务和会员，进而就可以计算其指标值了。</a:t>
            </a:r>
            <a:endParaRPr lang="zh-CN" altLang="en-US" sz="2000"/>
          </a:p>
        </p:txBody>
      </p:sp>
      <p:sp>
        <p:nvSpPr>
          <p:cNvPr id="71" name="文本框 70"/>
          <p:cNvSpPr txBox="1"/>
          <p:nvPr/>
        </p:nvSpPr>
        <p:spPr>
          <a:xfrm>
            <a:off x="9295130" y="4189730"/>
            <a:ext cx="1099185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图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7-1</a:t>
            </a:r>
            <a:endParaRPr lang="zh-CN" altLang="en-US" sz="2000"/>
          </a:p>
        </p:txBody>
      </p:sp>
      <p:pic>
        <p:nvPicPr>
          <p:cNvPr id="31" name="图片 2" descr="C:/Users/ADMINI~1/AppData/Local/Temp/kaimatting_20191203193313/output_20191203193322..pngoutput_20191203193322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5105" y="1113790"/>
            <a:ext cx="3739515" cy="3007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70" grpId="0"/>
      <p:bldP spid="7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52355" y="44625"/>
            <a:ext cx="5919743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7.1.2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案例分析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1068070" y="974725"/>
            <a:ext cx="894842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altLang="en-US" sz="2000"/>
              <a:t>设定A点（纬度，经度）和B点（纬度，经度），则两点之间的距离可以用以下公式进行计算：</a:t>
            </a:r>
            <a:endParaRPr lang="zh-CN" altLang="en-US" sz="2000"/>
          </a:p>
        </p:txBody>
      </p:sp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640705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1" imgW="914400" imgH="215900" progId="Equation.KSEE3">
                  <p:embed/>
                </p:oleObj>
              </mc:Choice>
              <mc:Fallback>
                <p:oleObj name="" r:id="rId1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40705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-2147482435"/>
          <p:cNvGraphicFramePr>
            <a:graphicFrameLocks noChangeAspect="1"/>
          </p:cNvGraphicFramePr>
          <p:nvPr/>
        </p:nvGraphicFramePr>
        <p:xfrm>
          <a:off x="1068070" y="1866265"/>
          <a:ext cx="8948420" cy="1199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3" imgW="3251200" imgH="545465" progId="Equation.3">
                  <p:embed/>
                </p:oleObj>
              </mc:Choice>
              <mc:Fallback>
                <p:oleObj name="" r:id="rId3" imgW="3251200" imgH="5454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68070" y="1866265"/>
                        <a:ext cx="8948420" cy="11995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579120" y="3536950"/>
            <a:ext cx="4808220" cy="3987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6700"/>
            <a:r>
              <a:rPr lang="zh-CN" altLang="en-US" sz="2000" b="0">
                <a:ea typeface="宋体" panose="02010600030101010101" pitchFamily="2" charset="-122"/>
              </a:rPr>
              <a:t>其中距离的单位为：公里。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2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21588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指标计算</a:t>
            </a:r>
            <a:endParaRPr lang="en-US" altLang="zh-CN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20725" y="863600"/>
            <a:ext cx="1075436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1.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小试牛刀：计算第</a:t>
            </a:r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个任务到第</a:t>
            </a:r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个任务、第</a:t>
            </a:r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个任务到第</a:t>
            </a:r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个会员之间的距离。</a:t>
            </a:r>
            <a:endParaRPr lang="zh-CN" sz="2000" b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/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这里计算比较简单，在获得给定两个任务、给定一个任务和一个会员的经纬度数据之后，直接利用经纬度距离公式计算即可，属于点对点的计算。示例代码如下：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836612" y="2060893"/>
            <a:ext cx="5080000" cy="3784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import pandas as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pd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导入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pandas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库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import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numpy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as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np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导入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</a:rPr>
              <a:t>nmypy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库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import math           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导入数学函数模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pd.read_excel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('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附件一：已结束项目任务数据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</a:rPr>
              <a:t>xls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') 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pd.read_excel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('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附件二：会员信息数据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</a:rPr>
              <a:t>xlsx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')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A_W0=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[0,1]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个任务的维度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A_J0=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[0,2]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个任务的经度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A_W1=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[1,1]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个任务的维度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A_J1=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[1,2]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个任务的经度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B_WJ=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[0,1]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B_WJ.find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(' ',0,len(B_WJ))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5916295" y="2061210"/>
            <a:ext cx="6349365" cy="40925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B_W0=float(B_WJ[0:I])        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个会员的维度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B_J0=float(B_WJ[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I:len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(B_WJ)])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个会员的经度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个任务到第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个任务之间的距离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d1=111.19*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math.sqrt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((</a:t>
            </a:r>
            <a:r>
              <a:rPr lang="en-US" sz="2000" b="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A_W0-A_W1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)**2+(A_J0-A_J1)**2*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math.cos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((A_W0+A_W1)*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math.pi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/180)**2);  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个任务到第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个会员之间的距离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d2=111.19*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math.sqrt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((A_W0-B_W0)**2+(A_J0-B_J0)**2*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math.cos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((A_W0+B_W0)*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math.pi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/180)**2);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print('d1= ',d1)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print('d2= ',d2)</a:t>
            </a:r>
            <a:endParaRPr 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/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执行结果如下：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d1=  13.71765563354376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d2=  48.41201229628393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00" grpId="0"/>
      <p:bldP spid="3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130" y="44625"/>
            <a:ext cx="1011143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05815" y="691515"/>
            <a:ext cx="10431780" cy="13220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2.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小步进阶：第</a:t>
            </a:r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个任务与所有任务、所有会员之间的距离。</a:t>
            </a:r>
            <a:endParaRPr lang="zh-CN" sz="2000" b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/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在前面点对点计算基础上拓展到了点对线的计算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，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即第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0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个任务点与所有任务点（线）、第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个任务点与所有会员点（线）之间的距离计算，事实上在前面点对点计算基础上增加一个循环即可实现。示例代码如下：</a:t>
            </a:r>
            <a:endParaRPr lang="zh-CN" altLang="en-US" sz="2000"/>
          </a:p>
        </p:txBody>
      </p:sp>
      <p:sp>
        <p:nvSpPr>
          <p:cNvPr id="4" name="文本框 3"/>
          <p:cNvSpPr txBox="1"/>
          <p:nvPr/>
        </p:nvSpPr>
        <p:spPr>
          <a:xfrm>
            <a:off x="5745480" y="1932940"/>
            <a:ext cx="6147435" cy="47078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A_Wt=A.iloc[t,1]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t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个任务的维度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A_Jt=A.iloc[t,2]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t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个任务的经度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个任务到第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t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个任务之间的距离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dt=111.19*math.sqrt((A_W0-A_Wt)**2+(A_J0-A_Jt)**2*math.cos((A_W0+A_Wt)*math.pi/180)**2);  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D1[t]=dt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for k in range(len(B)):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    B_WJ=B.iloc[k,1]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    I=B_WJ.find(' ',0,len(B_WJ))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    B_Wk=float(B_WJ[0:I])        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k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个会员的维度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    B_Jk=float(B_WJ[I:len(B_WJ)])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k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个会员的经度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个任务到第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k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个会员之间的距离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   dk=111.19*math.sqrt((A_W0-B_Wk)**2+(A_J0-B_Jk)**2*math.cos((A_W0+B_Wk)*math.pi/180)**2); 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D2[k]=dk</a:t>
            </a:r>
            <a:endParaRPr lang="zh-CN" altLang="en-US" sz="2000"/>
          </a:p>
        </p:txBody>
      </p:sp>
      <p:sp>
        <p:nvSpPr>
          <p:cNvPr id="5" name="文本框 4"/>
          <p:cNvSpPr txBox="1"/>
          <p:nvPr/>
        </p:nvSpPr>
        <p:spPr>
          <a:xfrm>
            <a:off x="805815" y="1932940"/>
            <a:ext cx="485838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import pandas as pd     #</a:t>
            </a:r>
            <a:r>
              <a:rPr lang="zh-CN" sz="2000">
                <a:latin typeface="Calibri" panose="020F0502020204030204" pitchFamily="34" charset="0"/>
                <a:sym typeface="+mn-ea"/>
              </a:rPr>
              <a:t>导入</a:t>
            </a:r>
            <a:r>
              <a:rPr lang="en-US" sz="2000">
                <a:latin typeface="Calibri" panose="020F0502020204030204" pitchFamily="34" charset="0"/>
                <a:sym typeface="+mn-ea"/>
              </a:rPr>
              <a:t>pandas</a:t>
            </a:r>
            <a:r>
              <a:rPr lang="zh-CN" sz="2000">
                <a:latin typeface="Calibri" panose="020F0502020204030204" pitchFamily="34" charset="0"/>
                <a:sym typeface="+mn-ea"/>
              </a:rPr>
              <a:t>库</a:t>
            </a:r>
            <a:endParaRPr lang="en-US" sz="2000">
              <a:latin typeface="Calibri" panose="020F0502020204030204" pitchFamily="34" charset="0"/>
              <a:cs typeface="Times New Roman" panose="02020603050405020304" charset="0"/>
              <a:sym typeface="+mn-ea"/>
            </a:endParaRPr>
          </a:p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import numpy as np      #</a:t>
            </a:r>
            <a:r>
              <a:rPr lang="zh-CN" sz="2000">
                <a:latin typeface="Calibri" panose="020F0502020204030204" pitchFamily="34" charset="0"/>
                <a:sym typeface="+mn-ea"/>
              </a:rPr>
              <a:t>导入</a:t>
            </a:r>
            <a:r>
              <a:rPr lang="en-US" sz="2000">
                <a:latin typeface="Calibri" panose="020F0502020204030204" pitchFamily="34" charset="0"/>
                <a:sym typeface="+mn-ea"/>
              </a:rPr>
              <a:t>nmypy</a:t>
            </a:r>
            <a:r>
              <a:rPr lang="zh-CN" sz="2000">
                <a:latin typeface="Calibri" panose="020F0502020204030204" pitchFamily="34" charset="0"/>
                <a:sym typeface="+mn-ea"/>
              </a:rPr>
              <a:t>库</a:t>
            </a:r>
            <a:endParaRPr lang="en-US" sz="2000">
              <a:latin typeface="Calibri" panose="020F0502020204030204" pitchFamily="34" charset="0"/>
              <a:cs typeface="Times New Roman" panose="02020603050405020304" charset="0"/>
              <a:sym typeface="+mn-ea"/>
            </a:endParaRPr>
          </a:p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import math             #</a:t>
            </a:r>
            <a:r>
              <a:rPr lang="zh-CN" sz="2000">
                <a:latin typeface="Calibri" panose="020F0502020204030204" pitchFamily="34" charset="0"/>
                <a:sym typeface="+mn-ea"/>
              </a:rPr>
              <a:t>导入数学函数模</a:t>
            </a:r>
            <a:endParaRPr lang="en-US" sz="2000">
              <a:latin typeface="Calibri" panose="020F0502020204030204" pitchFamily="34" charset="0"/>
              <a:cs typeface="Times New Roman" panose="02020603050405020304" charset="0"/>
              <a:sym typeface="+mn-ea"/>
            </a:endParaRPr>
          </a:p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A=pd.read_excel('</a:t>
            </a:r>
            <a:r>
              <a:rPr lang="zh-CN" sz="2000">
                <a:latin typeface="Calibri" panose="020F0502020204030204" pitchFamily="34" charset="0"/>
                <a:sym typeface="+mn-ea"/>
              </a:rPr>
              <a:t>附件一：已结束项目任务数据</a:t>
            </a:r>
            <a:r>
              <a:rPr lang="en-US" sz="2000">
                <a:latin typeface="Calibri" panose="020F0502020204030204" pitchFamily="34" charset="0"/>
                <a:sym typeface="+mn-ea"/>
              </a:rPr>
              <a:t>.xls') </a:t>
            </a:r>
            <a:endParaRPr lang="en-US" sz="2000">
              <a:latin typeface="Calibri" panose="020F0502020204030204" pitchFamily="34" charset="0"/>
              <a:cs typeface="Times New Roman" panose="02020603050405020304" charset="0"/>
              <a:sym typeface="+mn-ea"/>
            </a:endParaRPr>
          </a:p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B=pd.read_excel('</a:t>
            </a:r>
            <a:r>
              <a:rPr lang="zh-CN" sz="2000">
                <a:latin typeface="Calibri" panose="020F0502020204030204" pitchFamily="34" charset="0"/>
                <a:sym typeface="+mn-ea"/>
              </a:rPr>
              <a:t>附件二：会员信息数据</a:t>
            </a:r>
            <a:r>
              <a:rPr lang="en-US" sz="2000">
                <a:latin typeface="Calibri" panose="020F0502020204030204" pitchFamily="34" charset="0"/>
                <a:sym typeface="+mn-ea"/>
              </a:rPr>
              <a:t>.xlsx')</a:t>
            </a:r>
            <a:endParaRPr lang="en-US" sz="2000">
              <a:latin typeface="Calibri" panose="020F0502020204030204" pitchFamily="34" charset="0"/>
              <a:cs typeface="Times New Roman" panose="02020603050405020304" charset="0"/>
              <a:sym typeface="+mn-ea"/>
            </a:endParaRPr>
          </a:p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A_W0=A.iloc[0,1]  #</a:t>
            </a:r>
            <a:r>
              <a:rPr lang="zh-CN" sz="2000">
                <a:latin typeface="Calibri" panose="020F0502020204030204" pitchFamily="34" charset="0"/>
                <a:sym typeface="+mn-ea"/>
              </a:rPr>
              <a:t>第</a:t>
            </a:r>
            <a:r>
              <a:rPr lang="en-US" sz="2000">
                <a:latin typeface="Calibri" panose="020F0502020204030204" pitchFamily="34" charset="0"/>
                <a:sym typeface="+mn-ea"/>
              </a:rPr>
              <a:t>0</a:t>
            </a:r>
            <a:r>
              <a:rPr lang="zh-CN" sz="2000">
                <a:latin typeface="Calibri" panose="020F0502020204030204" pitchFamily="34" charset="0"/>
                <a:sym typeface="+mn-ea"/>
              </a:rPr>
              <a:t>个任务的维度</a:t>
            </a:r>
            <a:endParaRPr lang="en-US" sz="2000">
              <a:latin typeface="Calibri" panose="020F0502020204030204" pitchFamily="34" charset="0"/>
              <a:cs typeface="Times New Roman" panose="02020603050405020304" charset="0"/>
              <a:sym typeface="+mn-ea"/>
            </a:endParaRPr>
          </a:p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A_J0=A.iloc[0,2]  #</a:t>
            </a:r>
            <a:r>
              <a:rPr lang="zh-CN" sz="2000">
                <a:latin typeface="Calibri" panose="020F0502020204030204" pitchFamily="34" charset="0"/>
                <a:sym typeface="+mn-ea"/>
              </a:rPr>
              <a:t>第</a:t>
            </a:r>
            <a:r>
              <a:rPr lang="en-US" sz="2000">
                <a:latin typeface="Calibri" panose="020F0502020204030204" pitchFamily="34" charset="0"/>
                <a:sym typeface="+mn-ea"/>
              </a:rPr>
              <a:t>0</a:t>
            </a:r>
            <a:r>
              <a:rPr lang="zh-CN" sz="2000">
                <a:latin typeface="Calibri" panose="020F0502020204030204" pitchFamily="34" charset="0"/>
                <a:sym typeface="+mn-ea"/>
              </a:rPr>
              <a:t>个任务的经度</a:t>
            </a:r>
            <a:endParaRPr lang="en-US" sz="2000">
              <a:latin typeface="Calibri" panose="020F0502020204030204" pitchFamily="34" charset="0"/>
              <a:cs typeface="Times New Roman" panose="02020603050405020304" charset="0"/>
              <a:sym typeface="+mn-ea"/>
            </a:endParaRPr>
          </a:p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# </a:t>
            </a:r>
            <a:r>
              <a:rPr lang="zh-CN" sz="2000">
                <a:latin typeface="Calibri" panose="020F0502020204030204" pitchFamily="34" charset="0"/>
                <a:sym typeface="+mn-ea"/>
              </a:rPr>
              <a:t>预定义数组</a:t>
            </a:r>
            <a:r>
              <a:rPr lang="en-US" sz="2000">
                <a:latin typeface="Calibri" panose="020F0502020204030204" pitchFamily="34" charset="0"/>
                <a:sym typeface="+mn-ea"/>
              </a:rPr>
              <a:t>D1</a:t>
            </a:r>
            <a:r>
              <a:rPr lang="zh-CN" sz="2000">
                <a:latin typeface="Calibri" panose="020F0502020204030204" pitchFamily="34" charset="0"/>
                <a:sym typeface="+mn-ea"/>
              </a:rPr>
              <a:t>，用于存放第</a:t>
            </a:r>
            <a:r>
              <a:rPr lang="en-US" sz="2000">
                <a:latin typeface="Calibri" panose="020F0502020204030204" pitchFamily="34" charset="0"/>
                <a:sym typeface="+mn-ea"/>
              </a:rPr>
              <a:t>0</a:t>
            </a:r>
            <a:r>
              <a:rPr lang="zh-CN" sz="2000">
                <a:latin typeface="Calibri" panose="020F0502020204030204" pitchFamily="34" charset="0"/>
                <a:sym typeface="+mn-ea"/>
              </a:rPr>
              <a:t>个任务与所有任务之间的距离</a:t>
            </a:r>
            <a:endParaRPr lang="en-US" sz="2000">
              <a:latin typeface="Calibri" panose="020F0502020204030204" pitchFamily="34" charset="0"/>
              <a:cs typeface="Times New Roman" panose="02020603050405020304" charset="0"/>
              <a:sym typeface="+mn-ea"/>
            </a:endParaRPr>
          </a:p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# </a:t>
            </a:r>
            <a:r>
              <a:rPr lang="zh-CN" sz="2000">
                <a:latin typeface="Calibri" panose="020F0502020204030204" pitchFamily="34" charset="0"/>
                <a:sym typeface="+mn-ea"/>
              </a:rPr>
              <a:t>预定义数组</a:t>
            </a:r>
            <a:r>
              <a:rPr lang="en-US" sz="2000">
                <a:latin typeface="Calibri" panose="020F0502020204030204" pitchFamily="34" charset="0"/>
                <a:sym typeface="+mn-ea"/>
              </a:rPr>
              <a:t>D2</a:t>
            </a:r>
            <a:r>
              <a:rPr lang="zh-CN" sz="2000">
                <a:latin typeface="Calibri" panose="020F0502020204030204" pitchFamily="34" charset="0"/>
                <a:sym typeface="+mn-ea"/>
              </a:rPr>
              <a:t>，用于存放第</a:t>
            </a:r>
            <a:r>
              <a:rPr lang="en-US" sz="2000">
                <a:latin typeface="Calibri" panose="020F0502020204030204" pitchFamily="34" charset="0"/>
                <a:sym typeface="+mn-ea"/>
              </a:rPr>
              <a:t>0</a:t>
            </a:r>
            <a:r>
              <a:rPr lang="zh-CN" sz="2000">
                <a:latin typeface="Calibri" panose="020F0502020204030204" pitchFamily="34" charset="0"/>
                <a:sym typeface="+mn-ea"/>
              </a:rPr>
              <a:t>个任务与所有会员之间的距离</a:t>
            </a:r>
            <a:endParaRPr lang="en-US" sz="2000">
              <a:latin typeface="Calibri" panose="020F0502020204030204" pitchFamily="34" charset="0"/>
              <a:cs typeface="Times New Roman" panose="02020603050405020304" charset="0"/>
              <a:sym typeface="+mn-ea"/>
            </a:endParaRPr>
          </a:p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D1=np.zeros((len(A)))</a:t>
            </a:r>
            <a:endParaRPr lang="en-US" sz="2000">
              <a:latin typeface="Calibri" panose="020F0502020204030204" pitchFamily="34" charset="0"/>
              <a:cs typeface="Times New Roman" panose="02020603050405020304" charset="0"/>
              <a:sym typeface="+mn-ea"/>
            </a:endParaRPr>
          </a:p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D2=np.zeros((len(B)))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for t in range(len(A)):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2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4" y="44625"/>
            <a:ext cx="8531529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76287" y="822960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执行结果（部分）如图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7-2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所示。</a:t>
            </a:r>
            <a:endParaRPr lang="zh-CN" altLang="en-US" sz="2000"/>
          </a:p>
        </p:txBody>
      </p:sp>
      <p:pic>
        <p:nvPicPr>
          <p:cNvPr id="362" name="图片 36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print"/>
          <a:stretch>
            <a:fillRect/>
          </a:stretch>
        </p:blipFill>
        <p:spPr>
          <a:xfrm>
            <a:off x="775970" y="1619250"/>
            <a:ext cx="8634730" cy="4294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0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736168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55650" y="782320"/>
            <a:ext cx="996886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3.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初步落成：对第</a:t>
            </a:r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个任务计算指标</a:t>
            </a:r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Z1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Z2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Z3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Z4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1">
                <a:latin typeface="Calibri" panose="020F0502020204030204" pitchFamily="34" charset="0"/>
                <a:ea typeface="宋体" panose="02010600030101010101" pitchFamily="2" charset="-122"/>
              </a:rPr>
              <a:t>Z5</a:t>
            </a:r>
            <a:r>
              <a:rPr lang="zh-CN" sz="2000" b="1">
                <a:latin typeface="Calibri" panose="020F0502020204030204" pitchFamily="34" charset="0"/>
                <a:ea typeface="宋体" panose="02010600030101010101" pitchFamily="2" charset="-122"/>
              </a:rPr>
              <a:t>。</a:t>
            </a:r>
            <a:endParaRPr lang="zh-CN" sz="2000" b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/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只需在前面点对线计算结果基础上，根据案例分析中的指标计算方法进行计算即可。示例代码如下：</a:t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816292" y="1970088"/>
            <a:ext cx="5080000" cy="439991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import pandas as pd   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导入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pandas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库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import numpy as np    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导入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nmypy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库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import math           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导入数学函数模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A=pd.read_excel('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附件一：已结束项目任务数据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.xls') 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B=pd.read_excel('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附件二：会员信息数据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.xlsx')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A_W0=A.iloc[0,1]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个任务的维度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A_J0=A.iloc[0,2]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个任务的经度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 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预定义数组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D1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，用于存放第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个任务与所有任务之间的距离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 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预定义数组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D2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，用于存放第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个任务与所有会员之间的距离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D1=np.zeros((len(A)))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D2=np.zeros((len(B)))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6109017" y="1970088"/>
            <a:ext cx="5080000" cy="286131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for t in range(len(A)):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A_Wt=A.iloc[t,1]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t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个任务的维度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A_Jt=A.iloc[t,2]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t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个任务的经度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个任务到第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t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个任务之间的距离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dt=111.19*math.sqrt((A_W0-A_Wt)**2+(A_J0-A_Jt)**2*math.cos((A_W0+A_Wt)*math.pi/180)**2);  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D1[t]=dt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00" grpId="0"/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160103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534352" y="911860"/>
            <a:ext cx="5080000" cy="409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for k in range(len(B)):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 B_WJ=B.iloc[k,1]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 I=B_WJ.find(' ',0,len(B_WJ))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B_Wk=float(B_WJ[0:I])        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k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个会员的维度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B_Jk=float(B_WJ[I:len(B_WJ)])  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k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个会员的经度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个任务到第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</a:rPr>
              <a:t>k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个会员之间的距离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dk=111.19*math.sqrt((A_W0-B_Wk)**2+(A_J0-B_Jk)**2*math.cos((A_W0+B_Wk)*math.pi/180)**2); 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D2[k]=dk</a:t>
            </a:r>
            <a:endParaRPr lang="zh-CN" altLang="en-US" sz="2000"/>
          </a:p>
        </p:txBody>
      </p:sp>
      <p:sp>
        <p:nvSpPr>
          <p:cNvPr id="2" name="文本框 1"/>
          <p:cNvSpPr txBox="1"/>
          <p:nvPr/>
        </p:nvSpPr>
        <p:spPr>
          <a:xfrm>
            <a:off x="5775642" y="992505"/>
            <a:ext cx="5080000" cy="3169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Z1=len(D1[D1&lt;=5]) 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Z2=A.iloc[D1&lt;=5,[3]].mean()[0]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Z3=len(D2[D2&lt;=5])   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Z4=B.iloc[D2&lt;=5,[2,4]].sum()[0]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Z5=B.iloc[D2&lt;=5,[2,4]].sum()[1]/Z3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print('Z1= ',Z1)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print('Z2= ',Z2)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print('Z3= ',Z3)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print('Z4= ',Z4)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print('Z5= ',Z5)</a:t>
            </a:r>
            <a:endParaRPr lang="zh-CN" altLang="en-US" sz="2000"/>
          </a:p>
        </p:txBody>
      </p:sp>
      <p:sp>
        <p:nvSpPr>
          <p:cNvPr id="3" name="文本框 2"/>
          <p:cNvSpPr txBox="1"/>
          <p:nvPr/>
        </p:nvSpPr>
        <p:spPr>
          <a:xfrm>
            <a:off x="806450" y="5297805"/>
            <a:ext cx="8255000" cy="7067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执行结果如下：</a:t>
            </a:r>
            <a:endParaRPr lang="en-US" sz="2000" b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Z1=  18   Z2=  66.1944444444  Z3=  45  Z4= 548.0  Z5=  1302.32711556</a:t>
            </a:r>
            <a:endParaRPr lang="zh-CN" altLang="en-US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00" grpId="0"/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" name="文本框 7"/>
          <p:cNvSpPr txBox="1">
            <a:spLocks noChangeArrowheads="1"/>
          </p:cNvSpPr>
          <p:nvPr/>
        </p:nvSpPr>
        <p:spPr bwMode="auto">
          <a:xfrm>
            <a:off x="672393" y="2564904"/>
            <a:ext cx="1033500" cy="8299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kumimoji="0" lang="zh-CN" altLang="en-US" b="1" dirty="0" smtClean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endParaRPr kumimoji="0" lang="zh-CN" altLang="en-US" b="1" dirty="0" smtClean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79145" y="803275"/>
            <a:ext cx="1063815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1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4.</a:t>
            </a:r>
            <a:r>
              <a:rPr lang="zh-CN" sz="2000" b="1" dirty="0">
                <a:latin typeface="Calibri" panose="020F0502020204030204" pitchFamily="34" charset="0"/>
                <a:ea typeface="宋体" panose="02010600030101010101" pitchFamily="2" charset="-122"/>
              </a:rPr>
              <a:t>任务完成：计算所有任务的</a:t>
            </a:r>
            <a:r>
              <a:rPr lang="en-US" sz="2000" b="1" dirty="0">
                <a:latin typeface="Calibri" panose="020F0502020204030204" pitchFamily="34" charset="0"/>
                <a:ea typeface="宋体" panose="02010600030101010101" pitchFamily="2" charset="-122"/>
              </a:rPr>
              <a:t>Z1</a:t>
            </a:r>
            <a:r>
              <a:rPr lang="zh-CN" sz="2000" b="1" dirty="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1" dirty="0">
                <a:latin typeface="Calibri" panose="020F0502020204030204" pitchFamily="34" charset="0"/>
                <a:ea typeface="宋体" panose="02010600030101010101" pitchFamily="2" charset="-122"/>
              </a:rPr>
              <a:t>Z2</a:t>
            </a:r>
            <a:r>
              <a:rPr lang="zh-CN" sz="2000" b="1" dirty="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1" dirty="0">
                <a:latin typeface="Calibri" panose="020F0502020204030204" pitchFamily="34" charset="0"/>
                <a:ea typeface="宋体" panose="02010600030101010101" pitchFamily="2" charset="-122"/>
              </a:rPr>
              <a:t>Z3</a:t>
            </a:r>
            <a:r>
              <a:rPr lang="zh-CN" sz="2000" b="1" dirty="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1" dirty="0">
                <a:latin typeface="Calibri" panose="020F0502020204030204" pitchFamily="34" charset="0"/>
                <a:ea typeface="宋体" panose="02010600030101010101" pitchFamily="2" charset="-122"/>
              </a:rPr>
              <a:t>Z4</a:t>
            </a:r>
            <a:r>
              <a:rPr lang="zh-CN" sz="2000" b="1" dirty="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1" dirty="0">
                <a:latin typeface="Calibri" panose="020F0502020204030204" pitchFamily="34" charset="0"/>
                <a:ea typeface="宋体" panose="02010600030101010101" pitchFamily="2" charset="-122"/>
              </a:rPr>
              <a:t>Z5</a:t>
            </a:r>
            <a:r>
              <a:rPr lang="zh-CN" sz="2000" b="1" dirty="0">
                <a:latin typeface="Calibri" panose="020F0502020204030204" pitchFamily="34" charset="0"/>
                <a:ea typeface="宋体" panose="02010600030101010101" pitchFamily="2" charset="-122"/>
              </a:rPr>
              <a:t>。</a:t>
            </a:r>
            <a:endParaRPr lang="zh-CN" sz="2000" b="0" dirty="0">
              <a:latin typeface="Calibri" panose="020F0502020204030204" pitchFamily="34" charset="0"/>
              <a:ea typeface="宋体" panose="02010600030101010101" pitchFamily="2" charset="-122"/>
            </a:endParaRPr>
          </a:p>
          <a:p>
            <a:pPr marL="0" indent="0"/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前面介绍了第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0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个任务点与所有任务（线）、所有会员（线）之间的计算，在此基础上利用循环即可实现所有任务与所有任务、所有会员之间的指标计算。示例代码如下：</a:t>
            </a:r>
            <a:endParaRPr lang="zh-CN" altLang="en-US" sz="2000" dirty="0"/>
          </a:p>
        </p:txBody>
      </p:sp>
      <p:sp>
        <p:nvSpPr>
          <p:cNvPr id="4" name="文本框 3"/>
          <p:cNvSpPr txBox="1"/>
          <p:nvPr/>
        </p:nvSpPr>
        <p:spPr>
          <a:xfrm>
            <a:off x="547370" y="2009140"/>
            <a:ext cx="5835015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import pandas as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pd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导入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pandas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库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import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numpy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as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np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导入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</a:rPr>
              <a:t>nmypy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库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import math           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导入数学函数模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pd.read_excel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('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附件一：已结束项目任务数据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</a:rPr>
              <a:t>xls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') 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pd.read_excel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('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附件二：会员信息数据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.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</a:rPr>
              <a:t>xlsx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')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 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预定义，存放所有任务的指标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Z1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Z2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Z3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Z4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、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Z5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np.zeros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len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(A),5))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for q in range(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len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(A)):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A_Wq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[q,1]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q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个任务的维度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A_Jq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[q,2]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q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个任务的经度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 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预定义数组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D1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，用于存放第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q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个任务与所有任务之间的距离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endParaRPr lang="zh-CN" altLang="en-US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6382702" y="2009140"/>
            <a:ext cx="5080000" cy="409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200025"/>
            <a:r>
              <a:rPr lang="en-US" sz="2000" dirty="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# </a:t>
            </a:r>
            <a:r>
              <a:rPr lang="zh-CN" sz="2000" dirty="0">
                <a:latin typeface="Calibri" panose="020F0502020204030204" pitchFamily="34" charset="0"/>
                <a:sym typeface="+mn-ea"/>
              </a:rPr>
              <a:t>预定义数组</a:t>
            </a:r>
            <a:r>
              <a:rPr lang="en-US" sz="2000" dirty="0">
                <a:latin typeface="Calibri" panose="020F0502020204030204" pitchFamily="34" charset="0"/>
                <a:sym typeface="+mn-ea"/>
              </a:rPr>
              <a:t>D2</a:t>
            </a:r>
            <a:r>
              <a:rPr lang="zh-CN" sz="2000" dirty="0">
                <a:latin typeface="Calibri" panose="020F0502020204030204" pitchFamily="34" charset="0"/>
                <a:sym typeface="+mn-ea"/>
              </a:rPr>
              <a:t>，用于存放第</a:t>
            </a:r>
            <a:r>
              <a:rPr lang="en-US" sz="2000" dirty="0">
                <a:latin typeface="Calibri" panose="020F0502020204030204" pitchFamily="34" charset="0"/>
                <a:sym typeface="+mn-ea"/>
              </a:rPr>
              <a:t>q</a:t>
            </a:r>
            <a:r>
              <a:rPr lang="zh-CN" sz="2000" dirty="0">
                <a:latin typeface="Calibri" panose="020F0502020204030204" pitchFamily="34" charset="0"/>
                <a:sym typeface="+mn-ea"/>
              </a:rPr>
              <a:t>个任务与所有会员之间的距离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D1=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np.zeros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len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(A)))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D2=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np.zeros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len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(B)))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for t in range(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len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(A)):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A_Wt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[t,1]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t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个任务的维度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A_Jt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[t,2]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t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个任务的经度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q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个任务到第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t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个任务之间的距离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dt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=111.19*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math.sqrt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A_Wq-A_Wt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)**2+(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A_Jq-A_Jt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)**2*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math.cos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A_Wq+A_Wt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)*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math.pi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/180)**2);  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D1[t]=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dt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00" grpId="0"/>
      <p:bldP spid="4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指标计算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05167" y="1103630"/>
            <a:ext cx="5080000" cy="409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for k in range(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len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(B)):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     B_WJ=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[k,1]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     I=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B_WJ.find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(' ',0,len(B_WJ))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   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B_Wk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=float(B_WJ[0:I])          </a:t>
            </a:r>
            <a:endParaRPr lang="en-US" sz="2000" b="0" dirty="0" smtClean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k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个会员的维度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     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B_Jk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=float(B_WJ[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I:len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(B_WJ)])  </a:t>
            </a:r>
            <a:endParaRPr lang="en-US" sz="2000" b="0" dirty="0" smtClean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dirty="0">
                <a:latin typeface="Calibri" panose="020F0502020204030204" pitchFamily="34" charset="0"/>
                <a:cs typeface="Times New Roman" panose="02020603050405020304" charset="0"/>
              </a:rPr>
              <a:t> </a:t>
            </a:r>
            <a:r>
              <a:rPr lang="en-US" sz="2000" dirty="0" smtClean="0">
                <a:latin typeface="Calibri" panose="020F0502020204030204" pitchFamily="34" charset="0"/>
                <a:cs typeface="Times New Roman" panose="02020603050405020304" charset="0"/>
              </a:rPr>
              <a:t> </a:t>
            </a:r>
            <a:r>
              <a:rPr lang="en-US" sz="2000" b="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k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个会员的经度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#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q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个任务到第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k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个会员之间的距离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dk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=111.19*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math.sqrt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A_Wq-B_Wk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)**2+(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A_Jq-B_Jk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)**2*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math.cos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((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A_Wq+B_Wk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)*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math.pi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/180)**2); 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00025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D2[k]=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dk</a:t>
            </a:r>
            <a:endParaRPr lang="zh-CN" altLang="en-US" sz="2000" dirty="0"/>
          </a:p>
        </p:txBody>
      </p:sp>
      <p:sp>
        <p:nvSpPr>
          <p:cNvPr id="2" name="文本框 1"/>
          <p:cNvSpPr txBox="1"/>
          <p:nvPr/>
        </p:nvSpPr>
        <p:spPr>
          <a:xfrm>
            <a:off x="6037897" y="1249680"/>
            <a:ext cx="5080000" cy="316928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266700"/>
            <a:r>
              <a:rPr lang="en-US" sz="2000" dirty="0" smtClean="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     Z1=</a:t>
            </a:r>
            <a:r>
              <a:rPr lang="en-US" sz="2000" dirty="0" err="1" smtClean="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len</a:t>
            </a:r>
            <a:r>
              <a:rPr lang="en-US" sz="2000" dirty="0" smtClean="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(D1[D1</a:t>
            </a:r>
            <a:r>
              <a:rPr lang="en-US" sz="2000" dirty="0">
                <a:latin typeface="Calibri" panose="020F0502020204030204" pitchFamily="34" charset="0"/>
                <a:cs typeface="Times New Roman" panose="02020603050405020304" charset="0"/>
                <a:sym typeface="+mn-ea"/>
              </a:rPr>
              <a:t>&lt;=5])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Z2=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A.iloc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[D1&lt;=5,[3]].mean()[0]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Z3=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len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(D2[D2&lt;=5])     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 Z4=</a:t>
            </a:r>
            <a:r>
              <a:rPr lang="en-US" sz="2000" b="0" dirty="0" err="1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B.iloc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[D2&lt;=5,[2,4]].sum()[0]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</a:t>
            </a:r>
            <a:r>
              <a:rPr lang="en-US" sz="2000" b="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Z5=</a:t>
            </a:r>
            <a:r>
              <a:rPr lang="en-US" sz="2000" b="0" dirty="0" err="1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B.iloc</a:t>
            </a:r>
            <a:r>
              <a:rPr lang="en-US" sz="2000" b="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[D2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&lt;=5,[2,4]].sum()[1]/Z3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</a:t>
            </a:r>
            <a:r>
              <a:rPr lang="en-US" sz="2000" b="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Z[q,0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]=Z1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</a:t>
            </a:r>
            <a:r>
              <a:rPr lang="en-US" sz="2000" b="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Z[q,1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]=Z2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</a:t>
            </a:r>
            <a:r>
              <a:rPr lang="en-US" sz="2000" b="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Z[q,2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]=Z3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</a:t>
            </a:r>
            <a:r>
              <a:rPr lang="en-US" sz="2000" b="0" dirty="0" smtClean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Z[q,3]=Z4</a:t>
            </a:r>
            <a:endParaRPr lang="en-US" sz="2000" b="0" dirty="0"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marL="0" indent="266700"/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    Z[q,4]=Z5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5" grpId="1"/>
      <p:bldP spid="100" grpId="0"/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520144" cy="52070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7.1.3 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指标计算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397510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7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25157" y="688975"/>
            <a:ext cx="5080000" cy="39878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0" indent="0"/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执行结果（部分）如图</a:t>
            </a:r>
            <a:r>
              <a:rPr lang="en-US" sz="2000" b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7-3</a:t>
            </a:r>
            <a:r>
              <a:rPr lang="zh-CN" sz="2000" b="0">
                <a:latin typeface="Calibri" panose="020F0502020204030204" pitchFamily="34" charset="0"/>
                <a:ea typeface="宋体" panose="02010600030101010101" pitchFamily="2" charset="-122"/>
              </a:rPr>
              <a:t>所示。</a:t>
            </a:r>
            <a:endParaRPr lang="zh-CN" altLang="en-US" sz="2000"/>
          </a:p>
        </p:txBody>
      </p:sp>
      <p:pic>
        <p:nvPicPr>
          <p:cNvPr id="108" name="图片 108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624840" y="1209040"/>
            <a:ext cx="9747885" cy="35248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32460" y="4854575"/>
            <a:ext cx="9992360" cy="16300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266700"/>
            <a:r>
              <a:rPr lang="en-US" alt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   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本案例在指标计算过程中，详细介绍了如何由简单到复杂的程序演化计算过程，也体现了由点到线，再到面的的编程思想。点：即第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charset="0"/>
              </a:rPr>
              <a:t>0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个任务与第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个任务、第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个会员之间距离的点对点的计算。线：即第</a:t>
            </a:r>
            <a:r>
              <a:rPr lang="en-US" sz="2000" b="0" dirty="0">
                <a:latin typeface="Calibri" panose="020F0502020204030204" pitchFamily="34" charset="0"/>
                <a:ea typeface="宋体" panose="02010600030101010101" pitchFamily="2" charset="-122"/>
              </a:rPr>
              <a:t>0</a:t>
            </a:r>
            <a:r>
              <a:rPr lang="zh-CN" sz="2000" b="0" dirty="0">
                <a:latin typeface="Calibri" panose="020F0502020204030204" pitchFamily="34" charset="0"/>
                <a:ea typeface="宋体" panose="02010600030101010101" pitchFamily="2" charset="-122"/>
              </a:rPr>
              <a:t>个任务与所有任务、所有会员之间的由点到线的计算。面：即所有任务与所有任务、所有会员之间的线到面的计算。这种由简单到复杂的程序演化编程思想，对编程具有非常重要的作用。</a:t>
            </a:r>
            <a:endParaRPr lang="zh-CN" alt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9437"/>
    </mc:Choice>
    <mc:Fallback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00" grpId="0"/>
      <p:bldP spid="2" grpId="0"/>
    </p:bldLst>
  </p:timing>
</p:sld>
</file>

<file path=ppt/tags/tag1.xml><?xml version="1.0" encoding="utf-8"?>
<p:tagLst xmlns:p="http://schemas.openxmlformats.org/presentationml/2006/main">
  <p:tag name="KSO_WM_UNIT_TABLE_BEAUTIFY" val="smartTable{73a6518a-308c-4d61-a42b-ba45e8fbf5cb}"/>
</p:tagLst>
</file>

<file path=ppt/tags/tag2.xml><?xml version="1.0" encoding="utf-8"?>
<p:tagLst xmlns:p="http://schemas.openxmlformats.org/presentationml/2006/main">
  <p:tag name="KSO_WM_UNIT_TABLE_BEAUTIFY" val="smartTable{93049e50-5be3-477a-abf7-dd47a20fec2a}"/>
</p:tagLst>
</file>

<file path=ppt/tags/tag3.xml><?xml version="1.0" encoding="utf-8"?>
<p:tagLst xmlns:p="http://schemas.openxmlformats.org/presentationml/2006/main">
  <p:tag name="REFSHAPE" val="589093884"/>
  <p:tag name="KSO_WM_UNIT_PLACING_PICTURE_USER_VIEWPORT" val="{&quot;height&quot;:3684,&quot;width&quot;:5785}"/>
</p:tagLst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6136</Words>
  <Application>WPS 演示</Application>
  <PresentationFormat>自定义</PresentationFormat>
  <Paragraphs>398</Paragraphs>
  <Slides>14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仿宋_GB2312</vt:lpstr>
      <vt:lpstr>Calibri</vt:lpstr>
      <vt:lpstr>Calibri</vt:lpstr>
      <vt:lpstr>方正卡通简体</vt:lpstr>
      <vt:lpstr>Times New Roman</vt:lpstr>
      <vt:lpstr>仿宋</vt:lpstr>
      <vt:lpstr>Arial Unicode MS</vt:lpstr>
      <vt:lpstr>第一PPT，www.1ppt.com</vt:lpstr>
      <vt:lpstr>Equation.KSEE3</vt:lpstr>
      <vt:lpstr>Equation.3</vt:lpstr>
      <vt:lpstr>PowerPoint 演示文稿</vt:lpstr>
      <vt:lpstr>“拍照赚钱”是移动互联网下的一种自助式服务模式。用户下载APP，注册成为APP会员，然后从APP上领取需要拍照的任务（比如上超市去检查某种商品的上架情况），赚取APP对任务所标定的酬金。这种基于移动互联网的自助式劳务众包平台，为企业提供各种商业检查和信息搜集，相比传统的市场调查方式可以大大节省调查成本，而且有效地保证了调查数据真实性，缩短了调查的周期。因此APP成为该平台运行的核心，而APP中的任务定价又是其核心要素。如果定价不合理，有的任务就会无人问津，而导致商品检查的失败。 附件一是一个已结束项目的任务数据，包含了每个任务的位置、定价和完成情况（“1”表示完成，“0”表示未完成）；附件二是会员信息数据，包含了会员的位置、信誉值、参考其信誉给出的任务开始预订时间和预订限额，原则上会员信誉越高，越优先开始挑选任务，其配额也就越大（任务分配时实际上是根据预订限额所占比例进行配发）。附件一和附件二的表结构如表7-1和表7-2所示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Administrator</cp:lastModifiedBy>
  <cp:revision>1582</cp:revision>
  <dcterms:created xsi:type="dcterms:W3CDTF">2013-01-25T01:44:00Z</dcterms:created>
  <dcterms:modified xsi:type="dcterms:W3CDTF">2020-01-12T12:59:33Z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