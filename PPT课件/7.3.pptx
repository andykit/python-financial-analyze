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188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4C7137-B1C0-4553-BB8D-E2C68EFCF0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2F9D80-6F59-4D65-B6D3-17F3083385A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4" Type="http://schemas.openxmlformats.org/officeDocument/2006/relationships/image" Target="../media/image15.png"/><Relationship Id="rId13" Type="http://schemas.openxmlformats.org/officeDocument/2006/relationships/image" Target="../media/image14.png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4625985" y="134946"/>
            <a:ext cx="581125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www.1ppt.com/excel/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www.1ppt.com/shiti/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www.1ppt.com/jiaoan/  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8977" y="908051"/>
            <a:ext cx="7947907" cy="635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8977" y="1600202"/>
            <a:ext cx="7947907" cy="45259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Freeform 5"/>
          <p:cNvSpPr/>
          <p:nvPr userDrawn="1"/>
        </p:nvSpPr>
        <p:spPr bwMode="auto">
          <a:xfrm>
            <a:off x="47859" y="73174"/>
            <a:ext cx="920005" cy="486467"/>
          </a:xfrm>
          <a:custGeom>
            <a:avLst/>
            <a:gdLst>
              <a:gd name="T0" fmla="*/ 0 w 1600"/>
              <a:gd name="T1" fmla="*/ 0 h 617"/>
              <a:gd name="T2" fmla="*/ 1429 w 1600"/>
              <a:gd name="T3" fmla="*/ 0 h 617"/>
              <a:gd name="T4" fmla="*/ 1600 w 1600"/>
              <a:gd name="T5" fmla="*/ 308 h 617"/>
              <a:gd name="T6" fmla="*/ 1429 w 1600"/>
              <a:gd name="T7" fmla="*/ 617 h 617"/>
              <a:gd name="T8" fmla="*/ 0 w 1600"/>
              <a:gd name="T9" fmla="*/ 617 h 617"/>
              <a:gd name="T10" fmla="*/ 0 w 1600"/>
              <a:gd name="T11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00" h="617">
                <a:moveTo>
                  <a:pt x="0" y="0"/>
                </a:moveTo>
                <a:lnTo>
                  <a:pt x="1429" y="0"/>
                </a:lnTo>
                <a:lnTo>
                  <a:pt x="1600" y="308"/>
                </a:lnTo>
                <a:lnTo>
                  <a:pt x="1429" y="617"/>
                </a:lnTo>
                <a:lnTo>
                  <a:pt x="0" y="617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294A5A"/>
              </a:solidFill>
              <a:ea typeface="宋体" panose="02010600030101010101" pitchFamily="2" charset="-122"/>
            </a:endParaRPr>
          </a:p>
        </p:txBody>
      </p:sp>
      <p:sp>
        <p:nvSpPr>
          <p:cNvPr id="9" name="Freeform 6"/>
          <p:cNvSpPr/>
          <p:nvPr userDrawn="1"/>
        </p:nvSpPr>
        <p:spPr bwMode="auto">
          <a:xfrm>
            <a:off x="897276" y="73174"/>
            <a:ext cx="7658865" cy="486467"/>
          </a:xfrm>
          <a:custGeom>
            <a:avLst/>
            <a:gdLst>
              <a:gd name="T0" fmla="*/ 0 w 13327"/>
              <a:gd name="T1" fmla="*/ 0 h 617"/>
              <a:gd name="T2" fmla="*/ 13155 w 13327"/>
              <a:gd name="T3" fmla="*/ 0 h 617"/>
              <a:gd name="T4" fmla="*/ 13327 w 13327"/>
              <a:gd name="T5" fmla="*/ 308 h 617"/>
              <a:gd name="T6" fmla="*/ 13155 w 13327"/>
              <a:gd name="T7" fmla="*/ 617 h 617"/>
              <a:gd name="T8" fmla="*/ 0 w 13327"/>
              <a:gd name="T9" fmla="*/ 617 h 617"/>
              <a:gd name="T10" fmla="*/ 171 w 13327"/>
              <a:gd name="T11" fmla="*/ 308 h 617"/>
              <a:gd name="T12" fmla="*/ 0 w 13327"/>
              <a:gd name="T13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27" h="617">
                <a:moveTo>
                  <a:pt x="0" y="0"/>
                </a:moveTo>
                <a:lnTo>
                  <a:pt x="13155" y="0"/>
                </a:lnTo>
                <a:lnTo>
                  <a:pt x="13327" y="308"/>
                </a:lnTo>
                <a:lnTo>
                  <a:pt x="13155" y="617"/>
                </a:lnTo>
                <a:lnTo>
                  <a:pt x="0" y="617"/>
                </a:lnTo>
                <a:lnTo>
                  <a:pt x="171" y="3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294A5A"/>
              </a:solidFill>
              <a:ea typeface="宋体" panose="02010600030101010101" pitchFamily="2" charset="-122"/>
            </a:endParaRPr>
          </a:p>
        </p:txBody>
      </p:sp>
      <p:sp>
        <p:nvSpPr>
          <p:cNvPr id="10" name="Freeform 7"/>
          <p:cNvSpPr/>
          <p:nvPr userDrawn="1"/>
        </p:nvSpPr>
        <p:spPr bwMode="auto">
          <a:xfrm>
            <a:off x="8486728" y="73174"/>
            <a:ext cx="609415" cy="486467"/>
          </a:xfrm>
          <a:custGeom>
            <a:avLst/>
            <a:gdLst>
              <a:gd name="T0" fmla="*/ 0 w 1060"/>
              <a:gd name="T1" fmla="*/ 0 h 617"/>
              <a:gd name="T2" fmla="*/ 1060 w 1060"/>
              <a:gd name="T3" fmla="*/ 0 h 617"/>
              <a:gd name="T4" fmla="*/ 1060 w 1060"/>
              <a:gd name="T5" fmla="*/ 617 h 617"/>
              <a:gd name="T6" fmla="*/ 0 w 1060"/>
              <a:gd name="T7" fmla="*/ 617 h 617"/>
              <a:gd name="T8" fmla="*/ 172 w 1060"/>
              <a:gd name="T9" fmla="*/ 308 h 617"/>
              <a:gd name="T10" fmla="*/ 0 w 1060"/>
              <a:gd name="T11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60" h="617">
                <a:moveTo>
                  <a:pt x="0" y="0"/>
                </a:moveTo>
                <a:lnTo>
                  <a:pt x="1060" y="0"/>
                </a:lnTo>
                <a:lnTo>
                  <a:pt x="1060" y="617"/>
                </a:lnTo>
                <a:lnTo>
                  <a:pt x="0" y="617"/>
                </a:lnTo>
                <a:lnTo>
                  <a:pt x="172" y="3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294A5A"/>
              </a:solidFill>
              <a:ea typeface="宋体" panose="02010600030101010101" pitchFamily="2" charset="-122"/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8589991" y="116634"/>
            <a:ext cx="474798" cy="353937"/>
          </a:xfrm>
          <a:prstGeom prst="rect">
            <a:avLst/>
          </a:prstGeom>
          <a:noFill/>
        </p:spPr>
        <p:txBody>
          <a:bodyPr wrap="none" lIns="91434" tIns="45717" rIns="91434" bIns="45717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fld id="{B879B013-EF15-44F9-9A4C-93BE492C244C}" type="slidenum">
              <a:rPr lang="zh-CN" altLang="en-US" sz="1700">
                <a:solidFill>
                  <a:srgbClr val="FFFFFF"/>
                </a:solidFill>
                <a:latin typeface="微软雅黑" panose="020B0503020204020204" pitchFamily="34" charset="-122"/>
              </a:rPr>
            </a:fld>
            <a:endParaRPr lang="zh-CN" altLang="en-US" sz="1700" dirty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 p14:presetBounceEnd="3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3000">
                                          <p:cBhvr additive="base">
                                            <p:cTn id="7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3000">
                                          <p:cBhvr additive="base">
                                            <p:cTn id="8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3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" presetClass="entr" presetSubtype="2" fill="hold" grpId="0" nodeType="afterEffect" p14:presetBounceEnd="3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3000">
                                          <p:cBhvr additive="base">
                                            <p:cTn id="16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3000">
                                          <p:cBhvr additive="base">
                                            <p:cTn id="17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9" grpId="0" animBg="1"/>
          <p:bldP spid="10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3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9" grpId="0" animBg="1"/>
          <p:bldP spid="10" grpId="0" animBg="1"/>
        </p:bldLst>
      </p:timing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429" y="4406902"/>
            <a:ext cx="7771745" cy="1362075"/>
          </a:xfrm>
        </p:spPr>
        <p:txBody>
          <a:bodyPr anchor="t"/>
          <a:lstStyle>
            <a:lvl1pPr algn="l">
              <a:defRPr sz="4000" b="1" cap="all">
                <a:solidFill>
                  <a:srgbClr val="F8F8F8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429" y="2906713"/>
            <a:ext cx="777174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F8F8F8"/>
                </a:solidFill>
              </a:defRPr>
            </a:lvl1pPr>
            <a:lvl2pPr marL="457200" indent="0">
              <a:buNone/>
              <a:defRPr sz="1700"/>
            </a:lvl2pPr>
            <a:lvl3pPr marL="914400" indent="0">
              <a:buNone/>
              <a:defRPr sz="1600"/>
            </a:lvl3pPr>
            <a:lvl4pPr marL="1371600" indent="0">
              <a:buNone/>
              <a:defRPr sz="1300"/>
            </a:lvl4pPr>
            <a:lvl5pPr marL="1828800" indent="0">
              <a:buNone/>
              <a:defRPr sz="1300"/>
            </a:lvl5pPr>
            <a:lvl6pPr marL="2286000" indent="0">
              <a:buNone/>
              <a:defRPr sz="1300"/>
            </a:lvl6pPr>
            <a:lvl7pPr marL="2743200" indent="0">
              <a:buNone/>
              <a:defRPr sz="1300"/>
            </a:lvl7pPr>
            <a:lvl8pPr marL="3200400" indent="0">
              <a:buNone/>
              <a:defRPr sz="1300"/>
            </a:lvl8pPr>
            <a:lvl9pPr marL="3657600" indent="0">
              <a:buNone/>
              <a:defRPr sz="13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021" y="1600202"/>
            <a:ext cx="405725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8533" y="1600202"/>
            <a:ext cx="405844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5" name="图片 13" descr="泰迪logo无底色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279" y="6309321"/>
            <a:ext cx="688300" cy="242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023" y="274637"/>
            <a:ext cx="8229957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022" y="1535114"/>
            <a:ext cx="4040594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7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022" y="2174875"/>
            <a:ext cx="404059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196" y="1535114"/>
            <a:ext cx="4041784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7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196" y="2174875"/>
            <a:ext cx="404178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022" y="273050"/>
            <a:ext cx="3008725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241" y="273053"/>
            <a:ext cx="511173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022" y="1435103"/>
            <a:ext cx="3008725" cy="4691063"/>
          </a:xfrm>
        </p:spPr>
        <p:txBody>
          <a:bodyPr/>
          <a:lstStyle>
            <a:lvl1pPr marL="0" indent="0"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381" y="4800601"/>
            <a:ext cx="5486638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381" y="612775"/>
            <a:ext cx="5486638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381" y="5367339"/>
            <a:ext cx="5486638" cy="804863"/>
          </a:xfrm>
        </p:spPr>
        <p:txBody>
          <a:bodyPr/>
          <a:lstStyle>
            <a:lvl1pPr marL="0" indent="0"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30383" y="908053"/>
            <a:ext cx="2056597" cy="52181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023" y="908053"/>
            <a:ext cx="6059105" cy="52181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ECLOGO-eff-0-1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3108972" y="2886611"/>
            <a:ext cx="794951" cy="798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PPECLOGO-eff-0-2"/>
          <p:cNvPicPr>
            <a:picLocks noChangeAspect="1" noChangeArrowheads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6320377" y="2758266"/>
            <a:ext cx="822289" cy="838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PECLOGO-eff-0-3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80034" y="1447781"/>
            <a:ext cx="2259416" cy="2376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 descr="PPECLOGO-eff-0-1"/>
          <p:cNvPicPr>
            <a:picLocks noChangeAspect="1" noChangeArrowheads="1"/>
          </p:cNvPicPr>
          <p:nvPr userDrawn="1"/>
        </p:nvPicPr>
        <p:blipFill>
          <a:blip r:embed="rId5" cstate="screen"/>
          <a:srcRect/>
          <a:stretch>
            <a:fillRect/>
          </a:stretch>
        </p:blipFill>
        <p:spPr bwMode="auto">
          <a:xfrm>
            <a:off x="3349270" y="3771071"/>
            <a:ext cx="392942" cy="395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PPECLOGO-eff-0-1"/>
          <p:cNvPicPr>
            <a:picLocks noChangeAspect="1" noChangeArrowheads="1"/>
          </p:cNvPicPr>
          <p:nvPr userDrawn="1"/>
        </p:nvPicPr>
        <p:blipFill>
          <a:blip r:embed="rId6" cstate="screen"/>
          <a:srcRect/>
          <a:stretch>
            <a:fillRect/>
          </a:stretch>
        </p:blipFill>
        <p:spPr bwMode="auto">
          <a:xfrm>
            <a:off x="5530095" y="2904248"/>
            <a:ext cx="300751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PPECLOGO-eff-0-2"/>
          <p:cNvPicPr>
            <a:picLocks noChangeAspect="1" noChangeArrowheads="1"/>
          </p:cNvPicPr>
          <p:nvPr userDrawn="1"/>
        </p:nvPicPr>
        <p:blipFill>
          <a:blip r:embed="rId7" cstate="screen"/>
          <a:srcRect/>
          <a:stretch>
            <a:fillRect/>
          </a:stretch>
        </p:blipFill>
        <p:spPr bwMode="auto">
          <a:xfrm>
            <a:off x="3956818" y="2574151"/>
            <a:ext cx="736011" cy="750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PPECLOGO-eff-5-4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445501" y="3206630"/>
            <a:ext cx="1107794" cy="1123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PPECLOGO-eff-5-2"/>
          <p:cNvPicPr>
            <a:picLocks noChangeAspect="1" noChangeArrowheads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012735" y="3446016"/>
            <a:ext cx="1375296" cy="1436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PPECLOGO-eff-5-4"/>
          <p:cNvPicPr>
            <a:picLocks noChangeAspect="1" noChangeArrowheads="1"/>
          </p:cNvPicPr>
          <p:nvPr userDrawn="1"/>
        </p:nvPicPr>
        <p:blipFill>
          <a:blip r:embed="rId10" cstate="screen"/>
          <a:srcRect/>
          <a:stretch>
            <a:fillRect/>
          </a:stretch>
        </p:blipFill>
        <p:spPr bwMode="auto">
          <a:xfrm>
            <a:off x="7411681" y="2725340"/>
            <a:ext cx="837268" cy="851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5954774" y="3624922"/>
            <a:ext cx="391431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8437863" y="2365003"/>
            <a:ext cx="391430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PPECLOGO-eff2-1-2"/>
          <p:cNvPicPr>
            <a:picLocks noChangeAspect="1" noChangeArrowheads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1540226" y="2795896"/>
            <a:ext cx="1272527" cy="142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2986554" y="2785815"/>
            <a:ext cx="327956" cy="36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PPECLOGO-eff2-1-4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6387011" y="3325062"/>
            <a:ext cx="527449" cy="587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926551" y="2909287"/>
            <a:ext cx="270525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305888" y="3446015"/>
            <a:ext cx="211584" cy="236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rAng="0" ptsTypes="">
                                      <p:cBhvr>
                                        <p:cTn id="39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33333E-6 L -0.31632 3.33333E-6 " pathEditMode="relative" rAng="0" ptsTypes="AA">
                                      <p:cBhvr>
                                        <p:cTn id="41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16" y="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04 -1.85185E-6 L -0.46684 -1.85185E-6 " pathEditMode="relative" rAng="0" ptsTypes="AA">
                                      <p:cBhvr>
                                        <p:cTn id="43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594" y="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1.11111E-6 L -0.19531 1.11111E-6 " pathEditMode="relative" rAng="0" ptsTypes="AA">
                                      <p:cBhvr>
                                        <p:cTn id="45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74" y="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-0.43594 2.59259E-6 " pathEditMode="relative" rAng="0" ptsTypes="AA">
                                      <p:cBhvr>
                                        <p:cTn id="4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806" y="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1.85185E-6 L -0.33577 -1.85185E-6 " pathEditMode="relative" rAng="0" ptsTypes="AA">
                                      <p:cBhvr>
                                        <p:cTn id="49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788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1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3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0.43906 2.59259E-6 " pathEditMode="relative" rAng="0" ptsTypes="AA">
                                      <p:cBhvr>
                                        <p:cTn id="55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944" y="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2.96296E-6 L 0.62813 2.96296E-6 " pathEditMode="relative" rAng="0" ptsTypes="AA">
                                      <p:cBhvr>
                                        <p:cTn id="5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406" y="0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2.96296E-6 L 0.42465 -2.96296E-6 " pathEditMode="relative" rAng="0" ptsTypes="AA">
                                      <p:cBhvr>
                                        <p:cTn id="59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33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xit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53" presetClass="exit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53" presetClass="exit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53" presetClass="exit" presetSubtype="16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53" presetClass="exit" presetSubtype="16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6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023" y="908051"/>
            <a:ext cx="8229957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/>
          <a:lstStyle/>
          <a:p>
            <a:pPr lvl="0"/>
            <a:r>
              <a:rPr lang="zh-CN" dirty="0"/>
              <a:t>单击此处编辑母版标题样式</a:t>
            </a:r>
            <a:endParaRPr lang="zh-CN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023" y="1600202"/>
            <a:ext cx="822995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t" anchorCtr="0" compatLnSpc="1"/>
          <a:lstStyle/>
          <a:p>
            <a:pPr lvl="0"/>
            <a:r>
              <a:rPr lang="zh-CN" dirty="0"/>
              <a:t>单击此处编辑母版文本样式</a:t>
            </a:r>
            <a:endParaRPr lang="zh-CN" dirty="0"/>
          </a:p>
          <a:p>
            <a:pPr lvl="1"/>
            <a:r>
              <a:rPr lang="zh-CN" dirty="0"/>
              <a:t>第二级</a:t>
            </a:r>
            <a:endParaRPr 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xStyles>
    <p:titleStyle>
      <a:lvl1pPr algn="l" rtl="0" fontAlgn="base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accent1"/>
          </a:solidFill>
          <a:latin typeface="+mn-lt"/>
          <a:ea typeface="仿宋_GB2312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        </a:t>
            </a:r>
            <a:r>
              <a:rPr lang="zh-CN" altLang="zh-CN" sz="2800" dirty="0" smtClean="0"/>
              <a:t>上市</a:t>
            </a:r>
            <a:r>
              <a:rPr lang="zh-CN" altLang="zh-CN" sz="2800" dirty="0"/>
              <a:t>公司净利润增长率是公司基本面分析的重要参考指标，其指标的计算也是金融数据挖掘分析中的一个重要基础任务。本案例要求计算连续三年的净利润增长率，通过观察连续三年的净利润增长率情况，可以选出成长能力较好的上市公司，从而为投资者提供一定的参考价值。下面将给出具体的计算实现方法。</a:t>
            </a:r>
            <a:endParaRPr lang="zh-CN" altLang="zh-CN" sz="2800" dirty="0"/>
          </a:p>
          <a:p>
            <a:endParaRPr lang="zh-CN" altLang="en-US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8284" y="116632"/>
            <a:ext cx="11093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accent2"/>
                </a:solidFill>
              </a:rPr>
              <a:t>Part 7</a:t>
            </a:r>
            <a:endParaRPr lang="zh-CN" altLang="en-US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1115616" y="120105"/>
            <a:ext cx="4824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</a:rPr>
              <a:t>7.3</a:t>
            </a:r>
            <a:r>
              <a:rPr lang="zh-CN" altLang="zh-CN" sz="2400" b="1" dirty="0">
                <a:solidFill>
                  <a:schemeClr val="accent2"/>
                </a:solidFill>
              </a:rPr>
              <a:t>上市公司净利润增长率的计算</a:t>
            </a:r>
            <a:endParaRPr lang="zh-CN" altLang="zh-CN" sz="2400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196752"/>
            <a:ext cx="7947907" cy="4525963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     </a:t>
            </a:r>
            <a:r>
              <a:rPr lang="zh-CN" altLang="zh-CN" dirty="0" smtClean="0"/>
              <a:t>找出</a:t>
            </a:r>
            <a:r>
              <a:rPr lang="zh-CN" altLang="zh-CN" dirty="0"/>
              <a:t>“计算机、通信和其他电子设备制造业”所有上市公司</a:t>
            </a:r>
            <a:r>
              <a:rPr lang="en-US" altLang="zh-CN" dirty="0"/>
              <a:t>2015~2017</a:t>
            </a:r>
            <a:r>
              <a:rPr lang="zh-CN" altLang="zh-CN" dirty="0"/>
              <a:t>年连续三年净利润增长率都在</a:t>
            </a:r>
            <a:r>
              <a:rPr lang="en-US" altLang="zh-CN" dirty="0"/>
              <a:t>40%</a:t>
            </a:r>
            <a:r>
              <a:rPr lang="zh-CN" altLang="zh-CN" dirty="0"/>
              <a:t>以上的公司。当期净利润增长率</a:t>
            </a:r>
            <a:r>
              <a:rPr lang="en-US" altLang="zh-CN" dirty="0"/>
              <a:t>=</a:t>
            </a:r>
            <a:r>
              <a:rPr lang="zh-CN" altLang="zh-CN" dirty="0"/>
              <a:t>（当期净利润</a:t>
            </a:r>
            <a:r>
              <a:rPr lang="en-US" altLang="zh-CN" dirty="0"/>
              <a:t>-</a:t>
            </a:r>
            <a:r>
              <a:rPr lang="zh-CN" altLang="zh-CN" dirty="0"/>
              <a:t>上期净利润）</a:t>
            </a:r>
            <a:r>
              <a:rPr lang="en-US" altLang="zh-CN" dirty="0"/>
              <a:t>/</a:t>
            </a:r>
            <a:r>
              <a:rPr lang="zh-CN" altLang="zh-CN" dirty="0"/>
              <a:t>上期净利润。本案例使用的数据表包括：计算机、通信和其他电子设备制造业公司利润表（</a:t>
            </a:r>
            <a:r>
              <a:rPr lang="en-US" altLang="zh-CN" dirty="0"/>
              <a:t>data2.xlsx</a:t>
            </a:r>
            <a:r>
              <a:rPr lang="zh-CN" altLang="zh-CN" dirty="0"/>
              <a:t>）和股票行业基本信息表如下（</a:t>
            </a:r>
            <a:r>
              <a:rPr lang="en-US" altLang="zh-CN" dirty="0"/>
              <a:t>info.xlsx</a:t>
            </a:r>
            <a:r>
              <a:rPr lang="zh-CN" altLang="zh-CN" dirty="0"/>
              <a:t>），数据均来源于国泰安</a:t>
            </a:r>
            <a:r>
              <a:rPr lang="en-US" altLang="zh-CN" dirty="0"/>
              <a:t>CSMAR</a:t>
            </a:r>
            <a:r>
              <a:rPr lang="zh-CN" altLang="zh-CN" dirty="0"/>
              <a:t>数据库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107504" y="116632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accent2"/>
                </a:solidFill>
              </a:rPr>
              <a:t>Part 7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115616" y="71339"/>
            <a:ext cx="3096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</a:rPr>
              <a:t>7.3.1 </a:t>
            </a:r>
            <a:r>
              <a:rPr lang="zh-CN" altLang="zh-CN" sz="2400" b="1" dirty="0">
                <a:solidFill>
                  <a:schemeClr val="accent2"/>
                </a:solidFill>
              </a:rPr>
              <a:t>案例介绍</a:t>
            </a:r>
            <a:endParaRPr lang="zh-CN" altLang="zh-CN" sz="2400" b="1" dirty="0">
              <a:solidFill>
                <a:schemeClr val="accent2"/>
              </a:solidFill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899592" y="3645024"/>
          <a:ext cx="7560840" cy="24026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26146"/>
                <a:gridCol w="2558610"/>
                <a:gridCol w="3076084"/>
              </a:tblGrid>
              <a:tr h="30033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 err="1">
                          <a:effectLst/>
                        </a:rPr>
                        <a:t>Stkcd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Accper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B002000101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30033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000016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2014-12-31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52623527.86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30033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000016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2015-12-31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-1256819315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30033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000016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2016-12-31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95673028.03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30033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000016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2017-12-31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5057025156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30033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000020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2014-12-31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7687620.27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30033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000020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2015-12-31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-4200845.61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30033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>
                          <a:effectLst/>
                        </a:rPr>
                        <a:t>……</a:t>
                      </a:r>
                      <a:endParaRPr lang="zh-CN" sz="16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</a:rPr>
                        <a:t>……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</a:rPr>
                        <a:t>……</a:t>
                      </a:r>
                      <a:endParaRPr lang="zh-CN" sz="16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</a:tbl>
          </a:graphicData>
        </a:graphic>
      </p:graphicFrame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475656" y="3212976"/>
            <a:ext cx="57606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11334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sz="1400" b="1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表</a:t>
            </a:r>
            <a:r>
              <a:rPr kumimoji="0" lang="en-US" altLang="zh-CN" sz="1400" b="1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7-5 </a:t>
            </a:r>
            <a:r>
              <a:rPr kumimoji="0" lang="zh-CN" altLang="en-US" sz="1400" b="1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计算机、通信和其他电子设备制造业公司利润表</a:t>
            </a:r>
            <a:endParaRPr kumimoji="0" lang="zh-CN" altLang="en-US" sz="1400" b="1" i="0" u="none" strike="noStrike" cap="none" normalizeH="0" baseline="0" dirty="0" smtClean="0">
              <a:ln>
                <a:noFill/>
              </a:ln>
              <a:solidFill>
                <a:schemeClr val="accent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11334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539552" y="1628803"/>
          <a:ext cx="7992888" cy="48965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49432"/>
                <a:gridCol w="1680543"/>
                <a:gridCol w="4962913"/>
              </a:tblGrid>
              <a:tr h="48965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 dirty="0" err="1">
                          <a:effectLst/>
                        </a:rPr>
                        <a:t>Stkcd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Stknme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Nnindnme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48965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000016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</a:rPr>
                        <a:t>深康佳</a:t>
                      </a:r>
                      <a:r>
                        <a:rPr lang="en-US" sz="1800" kern="0">
                          <a:effectLst/>
                        </a:rPr>
                        <a:t>A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</a:rPr>
                        <a:t>计算机、通信和其他电子设备制造业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48965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000020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</a:rPr>
                        <a:t>深华发</a:t>
                      </a:r>
                      <a:r>
                        <a:rPr lang="en-US" sz="1800" kern="0" dirty="0">
                          <a:effectLst/>
                        </a:rPr>
                        <a:t>A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</a:rPr>
                        <a:t>计算机、通信和其他电子设备制造业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48965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000021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</a:rPr>
                        <a:t>深科技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</a:rPr>
                        <a:t>计算机、通信和其他电子设备制造业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48965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000045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</a:rPr>
                        <a:t>深纺织</a:t>
                      </a:r>
                      <a:r>
                        <a:rPr lang="en-US" sz="1800" kern="0" dirty="0">
                          <a:effectLst/>
                        </a:rPr>
                        <a:t>A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</a:rPr>
                        <a:t>计算机、通信和其他电子设备制造业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48965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000050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</a:rPr>
                        <a:t>深天马</a:t>
                      </a:r>
                      <a:r>
                        <a:rPr lang="en-US" sz="1800" kern="0" dirty="0">
                          <a:effectLst/>
                        </a:rPr>
                        <a:t>A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</a:rPr>
                        <a:t>计算机、通信和其他电子设备制造业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48965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000063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</a:rPr>
                        <a:t>中兴通讯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</a:rPr>
                        <a:t>计算机、通信和其他电子设备制造业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48965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000066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</a:rPr>
                        <a:t>中国长城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</a:rPr>
                        <a:t>计算机、通信和其他电子设备制造业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48965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000068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</a:rPr>
                        <a:t>华控赛格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</a:rPr>
                        <a:t>计算机、通信和其他电子设备制造业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48965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</a:rPr>
                        <a:t>……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</a:rPr>
                        <a:t>……</a:t>
                      </a:r>
                      <a:endParaRPr lang="zh-CN" sz="1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</a:rPr>
                        <a:t>……</a:t>
                      </a:r>
                      <a:endParaRPr lang="zh-CN" sz="1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71800" y="1268760"/>
            <a:ext cx="3672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表</a:t>
            </a:r>
            <a:r>
              <a:rPr lang="en-US" altLang="zh-CN" dirty="0" smtClean="0"/>
              <a:t>7-6  </a:t>
            </a:r>
            <a:r>
              <a:rPr lang="zh-CN" altLang="en-US" dirty="0" smtClean="0"/>
              <a:t>股票行业基本信息表如下</a:t>
            </a:r>
            <a:endParaRPr lang="zh-CN" alt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634050" y="633760"/>
            <a:ext cx="7947907" cy="635000"/>
          </a:xfrm>
        </p:spPr>
        <p:txBody>
          <a:bodyPr/>
          <a:lstStyle/>
          <a:p>
            <a:br>
              <a:rPr lang="en-US" altLang="zh-CN" sz="2000" b="1" dirty="0" smtClean="0"/>
            </a:br>
            <a:r>
              <a:rPr lang="zh-CN" altLang="en-US" sz="2000" b="1" dirty="0" smtClean="0"/>
              <a:t>字段</a:t>
            </a:r>
            <a:r>
              <a:rPr lang="zh-CN" altLang="en-US" sz="2000" b="1" dirty="0"/>
              <a:t>依次表示股票代码、会计年度、归属于母公司所有者的净利润</a:t>
            </a:r>
            <a:br>
              <a:rPr lang="zh-CN" altLang="en-US" b="1" dirty="0"/>
            </a:b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467545" y="1600202"/>
            <a:ext cx="8099340" cy="499715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07504" y="116632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chemeClr val="accent2"/>
                </a:solidFill>
              </a:rPr>
              <a:t>Part 7</a:t>
            </a:r>
            <a:endParaRPr lang="zh-CN" altLang="en-US" b="1" dirty="0">
              <a:solidFill>
                <a:schemeClr val="accent2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3608" y="116632"/>
            <a:ext cx="3960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accent2"/>
                </a:solidFill>
              </a:rPr>
              <a:t>7.3.1</a:t>
            </a:r>
            <a:r>
              <a:rPr lang="zh-CN" altLang="en-US" sz="2400" dirty="0" smtClean="0">
                <a:solidFill>
                  <a:schemeClr val="accent2"/>
                </a:solidFill>
              </a:rPr>
              <a:t>案列介绍</a:t>
            </a:r>
            <a:r>
              <a:rPr lang="en-US" altLang="zh-CN" sz="2400" dirty="0" smtClean="0">
                <a:solidFill>
                  <a:schemeClr val="accent2"/>
                </a:solidFill>
              </a:rPr>
              <a:t>——</a:t>
            </a:r>
            <a:r>
              <a:rPr lang="zh-CN" altLang="en-US" sz="2400" dirty="0" smtClean="0">
                <a:solidFill>
                  <a:schemeClr val="accent2"/>
                </a:solidFill>
              </a:rPr>
              <a:t>字段说明</a:t>
            </a:r>
            <a:endParaRPr lang="zh-CN" altLang="en-US" sz="24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7504" y="116632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accent2"/>
                </a:solidFill>
              </a:rPr>
              <a:t>Part  7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43608" y="116632"/>
            <a:ext cx="2592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</a:rPr>
              <a:t>7.3.2 </a:t>
            </a:r>
            <a:r>
              <a:rPr lang="zh-CN" altLang="zh-CN" sz="2400" b="1" dirty="0">
                <a:solidFill>
                  <a:schemeClr val="accent2"/>
                </a:solidFill>
              </a:rPr>
              <a:t>指标计算</a:t>
            </a:r>
            <a:endParaRPr lang="zh-CN" altLang="zh-CN" sz="2400" b="1" dirty="0">
              <a:solidFill>
                <a:schemeClr val="accent2"/>
              </a:solidFill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611560" y="1340768"/>
            <a:ext cx="7947907" cy="4525963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 </a:t>
            </a:r>
            <a:r>
              <a:rPr lang="zh-CN" altLang="zh-CN" sz="2400" dirty="0" smtClean="0"/>
              <a:t>上市</a:t>
            </a:r>
            <a:r>
              <a:rPr lang="zh-CN" altLang="zh-CN" sz="2400" dirty="0"/>
              <a:t>公司净利润增长率指标计算的基本思路如下：首先需要选择满足</a:t>
            </a:r>
            <a:r>
              <a:rPr lang="en-US" altLang="zh-CN" sz="2400" dirty="0"/>
              <a:t>2014~2017</a:t>
            </a:r>
            <a:r>
              <a:rPr lang="zh-CN" altLang="zh-CN" sz="2400" dirty="0"/>
              <a:t>年都存在利润数据的上市公司，不满足条件的删除。其方法是将</a:t>
            </a:r>
            <a:r>
              <a:rPr lang="en-US" altLang="zh-CN" sz="2400" dirty="0"/>
              <a:t>data2.xlsx</a:t>
            </a:r>
            <a:r>
              <a:rPr lang="zh-CN" altLang="zh-CN" sz="2400" dirty="0"/>
              <a:t>中的</a:t>
            </a:r>
            <a:r>
              <a:rPr lang="en-US" altLang="zh-CN" sz="2400" dirty="0" err="1"/>
              <a:t>Stkcd</a:t>
            </a:r>
            <a:r>
              <a:rPr lang="zh-CN" altLang="zh-CN" sz="2400" dirty="0"/>
              <a:t>列转化为序列，采用值统计函数</a:t>
            </a:r>
            <a:r>
              <a:rPr lang="en-US" altLang="zh-CN" sz="2400" dirty="0" err="1"/>
              <a:t>value_count</a:t>
            </a:r>
            <a:r>
              <a:rPr lang="en-US" altLang="zh-CN" sz="2400" dirty="0"/>
              <a:t>()</a:t>
            </a:r>
            <a:r>
              <a:rPr lang="zh-CN" altLang="zh-CN" sz="2400" dirty="0"/>
              <a:t>即可实现筛选。其次对满足条件的股票代码，采用循环的方式，依次取得</a:t>
            </a:r>
            <a:r>
              <a:rPr lang="en-US" altLang="zh-CN" sz="2400" dirty="0"/>
              <a:t>4</a:t>
            </a:r>
            <a:r>
              <a:rPr lang="zh-CN" altLang="zh-CN" sz="2400" dirty="0"/>
              <a:t>年的净利润数据，将其转化为</a:t>
            </a:r>
            <a:r>
              <a:rPr lang="en-US" altLang="zh-CN" sz="2400" dirty="0" err="1"/>
              <a:t>Numpy</a:t>
            </a:r>
            <a:r>
              <a:rPr lang="zh-CN" altLang="zh-CN" sz="2400" dirty="0"/>
              <a:t>数据组的形式，假设记为</a:t>
            </a:r>
            <a:r>
              <a:rPr lang="en-US" altLang="zh-CN" sz="2400" dirty="0"/>
              <a:t>d</a:t>
            </a:r>
            <a:r>
              <a:rPr lang="zh-CN" altLang="zh-CN" sz="2400" dirty="0"/>
              <a:t>，则</a:t>
            </a:r>
            <a:r>
              <a:rPr lang="en-US" altLang="zh-CN" sz="2400" dirty="0"/>
              <a:t>3</a:t>
            </a:r>
            <a:r>
              <a:rPr lang="zh-CN" altLang="zh-CN" sz="2400" dirty="0"/>
              <a:t>年的净利润增长率</a:t>
            </a:r>
            <a:r>
              <a:rPr lang="en-US" altLang="zh-CN" sz="2400" dirty="0"/>
              <a:t>=(d[1:]-d[0:-1])/d[0:-1]</a:t>
            </a:r>
            <a:r>
              <a:rPr lang="zh-CN" altLang="zh-CN" sz="2400" dirty="0"/>
              <a:t>。最后将结果整理为数据框的形式展现出来，其中</a:t>
            </a:r>
            <a:r>
              <a:rPr lang="en-US" altLang="zh-CN" sz="2400" dirty="0"/>
              <a:t>index</a:t>
            </a:r>
            <a:r>
              <a:rPr lang="zh-CN" altLang="zh-CN" sz="2400" dirty="0"/>
              <a:t>为股票</a:t>
            </a:r>
            <a:r>
              <a:rPr lang="zh-CN" altLang="zh-CN" sz="2400" dirty="0" smtClean="0"/>
              <a:t>名称</a:t>
            </a:r>
            <a:r>
              <a:rPr lang="zh-CN" altLang="en-US" sz="2400" dirty="0"/>
              <a:t>。</a:t>
            </a:r>
            <a:r>
              <a:rPr lang="zh-CN" altLang="zh-CN" sz="2400" dirty="0" smtClean="0"/>
              <a:t>示例</a:t>
            </a:r>
            <a:r>
              <a:rPr lang="zh-CN" altLang="zh-CN" sz="2400" dirty="0"/>
              <a:t>代码如下</a:t>
            </a:r>
            <a:r>
              <a:rPr lang="zh-CN" altLang="zh-CN" dirty="0"/>
              <a:t>：</a:t>
            </a:r>
            <a:endParaRPr lang="zh-CN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539552" y="1196752"/>
            <a:ext cx="8027332" cy="4781126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 dirty="0"/>
              <a:t>import pandas as </a:t>
            </a:r>
            <a:r>
              <a:rPr lang="en-US" altLang="zh-CN" sz="1800" dirty="0" err="1"/>
              <a:t>pd</a:t>
            </a:r>
            <a:endParaRPr lang="zh-CN" altLang="zh-CN" sz="1800" dirty="0"/>
          </a:p>
          <a:p>
            <a:pPr marL="0" indent="0">
              <a:buNone/>
            </a:pPr>
            <a:r>
              <a:rPr lang="en-US" altLang="zh-CN" sz="1800" dirty="0" err="1"/>
              <a:t>dt</a:t>
            </a:r>
            <a:r>
              <a:rPr lang="en-US" altLang="zh-CN" sz="1800" dirty="0"/>
              <a:t>=</a:t>
            </a:r>
            <a:r>
              <a:rPr lang="en-US" altLang="zh-CN" sz="1800" dirty="0" err="1"/>
              <a:t>pd.read_excel</a:t>
            </a:r>
            <a:r>
              <a:rPr lang="en-US" altLang="zh-CN" sz="1800" dirty="0"/>
              <a:t>('data2.xlsx')  #</a:t>
            </a:r>
            <a:r>
              <a:rPr lang="zh-CN" altLang="zh-CN" sz="1800" dirty="0"/>
              <a:t>获取数据</a:t>
            </a:r>
            <a:endParaRPr lang="zh-CN" altLang="zh-CN" sz="1800" dirty="0"/>
          </a:p>
          <a:p>
            <a:pPr marL="0" indent="0">
              <a:buNone/>
            </a:pPr>
            <a:r>
              <a:rPr lang="en-US" altLang="zh-CN" sz="1800" dirty="0"/>
              <a:t>#</a:t>
            </a:r>
            <a:r>
              <a:rPr lang="zh-CN" altLang="zh-CN" sz="1800" dirty="0"/>
              <a:t>选择满足</a:t>
            </a:r>
            <a:r>
              <a:rPr lang="en-US" altLang="zh-CN" sz="1800" dirty="0"/>
              <a:t>2014~2017</a:t>
            </a:r>
            <a:r>
              <a:rPr lang="zh-CN" altLang="zh-CN" sz="1800" dirty="0"/>
              <a:t>年都存在利润数据上市公司股票代码，即存在</a:t>
            </a:r>
            <a:r>
              <a:rPr lang="en-US" altLang="zh-CN" sz="1800" dirty="0"/>
              <a:t>4</a:t>
            </a:r>
            <a:r>
              <a:rPr lang="zh-CN" altLang="zh-CN" sz="1800" dirty="0"/>
              <a:t>个会计年度</a:t>
            </a:r>
            <a:endParaRPr lang="zh-CN" altLang="zh-CN" sz="1800" dirty="0"/>
          </a:p>
          <a:p>
            <a:pPr marL="0" indent="0">
              <a:buNone/>
            </a:pPr>
            <a:r>
              <a:rPr lang="en-US" altLang="zh-CN" sz="1800" dirty="0"/>
              <a:t>code=</a:t>
            </a:r>
            <a:r>
              <a:rPr lang="en-US" altLang="zh-CN" sz="1800" dirty="0" err="1"/>
              <a:t>dt</a:t>
            </a:r>
            <a:r>
              <a:rPr lang="en-US" altLang="zh-CN" sz="1800" dirty="0"/>
              <a:t>['</a:t>
            </a:r>
            <a:r>
              <a:rPr lang="en-US" altLang="zh-CN" sz="1800" dirty="0" err="1"/>
              <a:t>Stkcd</a:t>
            </a:r>
            <a:r>
              <a:rPr lang="en-US" altLang="zh-CN" sz="1800" dirty="0"/>
              <a:t>'].</a:t>
            </a:r>
            <a:r>
              <a:rPr lang="en-US" altLang="zh-CN" sz="1800" dirty="0" err="1"/>
              <a:t>value_counts</a:t>
            </a:r>
            <a:r>
              <a:rPr lang="en-US" altLang="zh-CN" sz="1800" dirty="0"/>
              <a:t>()</a:t>
            </a:r>
            <a:endParaRPr lang="zh-CN" altLang="zh-CN" sz="1800" dirty="0"/>
          </a:p>
          <a:p>
            <a:pPr marL="0" indent="0">
              <a:buNone/>
            </a:pPr>
            <a:r>
              <a:rPr lang="en-US" altLang="zh-CN" sz="1800" dirty="0"/>
              <a:t>code=list(code[code==4].index)</a:t>
            </a:r>
            <a:endParaRPr lang="zh-CN" altLang="zh-CN" sz="1800" dirty="0"/>
          </a:p>
          <a:p>
            <a:pPr marL="0" indent="0">
              <a:buNone/>
            </a:pPr>
            <a:r>
              <a:rPr lang="en-US" altLang="zh-CN" sz="1800" dirty="0"/>
              <a:t>#</a:t>
            </a:r>
            <a:r>
              <a:rPr lang="zh-CN" altLang="zh-CN" sz="1800" dirty="0"/>
              <a:t>将股票基本信息表转化为序列，其中</a:t>
            </a:r>
            <a:r>
              <a:rPr lang="en-US" altLang="zh-CN" sz="1800" dirty="0"/>
              <a:t>index</a:t>
            </a:r>
            <a:r>
              <a:rPr lang="zh-CN" altLang="zh-CN" sz="1800" dirty="0"/>
              <a:t>为股票代码，值为股票名称</a:t>
            </a:r>
            <a:endParaRPr lang="zh-CN" altLang="zh-CN" sz="1800" dirty="0"/>
          </a:p>
          <a:p>
            <a:pPr marL="0" indent="0">
              <a:buNone/>
            </a:pPr>
            <a:r>
              <a:rPr lang="en-US" altLang="zh-CN" sz="1800" dirty="0"/>
              <a:t>info=</a:t>
            </a:r>
            <a:r>
              <a:rPr lang="en-US" altLang="zh-CN" sz="1800" dirty="0" err="1"/>
              <a:t>pd.read_excel</a:t>
            </a:r>
            <a:r>
              <a:rPr lang="en-US" altLang="zh-CN" sz="1800" dirty="0"/>
              <a:t>('info.xlsx')</a:t>
            </a:r>
            <a:endParaRPr lang="zh-CN" altLang="zh-CN" sz="1800" dirty="0"/>
          </a:p>
          <a:p>
            <a:pPr marL="0" indent="0">
              <a:buNone/>
            </a:pPr>
            <a:r>
              <a:rPr lang="en-US" altLang="zh-CN" sz="1800" dirty="0"/>
              <a:t>S=</a:t>
            </a:r>
            <a:r>
              <a:rPr lang="en-US" altLang="zh-CN" sz="1800" dirty="0" err="1"/>
              <a:t>pd.Series</a:t>
            </a:r>
            <a:r>
              <a:rPr lang="en-US" altLang="zh-CN" sz="1800" dirty="0"/>
              <a:t>(</a:t>
            </a:r>
            <a:r>
              <a:rPr lang="en-US" altLang="zh-CN" sz="1800" dirty="0" err="1"/>
              <a:t>info.iloc</a:t>
            </a:r>
            <a:r>
              <a:rPr lang="en-US" altLang="zh-CN" sz="1800" dirty="0"/>
              <a:t>[:,1].</a:t>
            </a:r>
            <a:r>
              <a:rPr lang="en-US" altLang="zh-CN" sz="1800" dirty="0" err="1"/>
              <a:t>values,index</a:t>
            </a:r>
            <a:r>
              <a:rPr lang="en-US" altLang="zh-CN" sz="1800" dirty="0"/>
              <a:t>=</a:t>
            </a:r>
            <a:r>
              <a:rPr lang="en-US" altLang="zh-CN" sz="1800" dirty="0" err="1"/>
              <a:t>info.iloc</a:t>
            </a:r>
            <a:r>
              <a:rPr lang="en-US" altLang="zh-CN" sz="1800" dirty="0"/>
              <a:t>[:,0].values)</a:t>
            </a:r>
            <a:endParaRPr lang="zh-CN" altLang="zh-CN" sz="1800" dirty="0"/>
          </a:p>
          <a:p>
            <a:pPr marL="0" indent="0">
              <a:buNone/>
            </a:pPr>
            <a:r>
              <a:rPr lang="en-US" altLang="zh-CN" sz="1800" dirty="0"/>
              <a:t>#</a:t>
            </a:r>
            <a:r>
              <a:rPr lang="zh-CN" altLang="zh-CN" sz="1800" dirty="0"/>
              <a:t>预定义</a:t>
            </a:r>
            <a:r>
              <a:rPr lang="en-US" altLang="zh-CN" sz="1800" dirty="0"/>
              <a:t>4</a:t>
            </a:r>
            <a:r>
              <a:rPr lang="zh-CN" altLang="zh-CN" sz="1800" dirty="0"/>
              <a:t>个</a:t>
            </a:r>
            <a:r>
              <a:rPr lang="en-US" altLang="zh-CN" sz="1800" dirty="0"/>
              <a:t>list</a:t>
            </a:r>
            <a:r>
              <a:rPr lang="zh-CN" altLang="zh-CN" sz="1800" dirty="0"/>
              <a:t>，依次存放股票名称、</a:t>
            </a:r>
            <a:r>
              <a:rPr lang="en-US" altLang="zh-CN" sz="1800" dirty="0"/>
              <a:t>2015</a:t>
            </a:r>
            <a:r>
              <a:rPr lang="zh-CN" altLang="zh-CN" sz="1800" dirty="0"/>
              <a:t>、</a:t>
            </a:r>
            <a:r>
              <a:rPr lang="en-US" altLang="zh-CN" sz="1800" dirty="0"/>
              <a:t>2016</a:t>
            </a:r>
            <a:r>
              <a:rPr lang="zh-CN" altLang="zh-CN" sz="1800" dirty="0"/>
              <a:t>、</a:t>
            </a:r>
            <a:r>
              <a:rPr lang="en-US" altLang="zh-CN" sz="1800" dirty="0"/>
              <a:t>2017</a:t>
            </a:r>
            <a:r>
              <a:rPr lang="zh-CN" altLang="zh-CN" sz="1800" dirty="0"/>
              <a:t>年的净利润增长率</a:t>
            </a:r>
            <a:endParaRPr lang="zh-CN" altLang="zh-CN" sz="1800" dirty="0"/>
          </a:p>
          <a:p>
            <a:pPr marL="0" indent="0">
              <a:buNone/>
            </a:pPr>
            <a:r>
              <a:rPr lang="en-US" altLang="zh-CN" sz="1800" dirty="0"/>
              <a:t>list1=[]</a:t>
            </a:r>
            <a:endParaRPr lang="zh-CN" altLang="zh-CN" sz="1800" dirty="0"/>
          </a:p>
          <a:p>
            <a:pPr marL="0" indent="0">
              <a:buNone/>
            </a:pPr>
            <a:r>
              <a:rPr lang="en-US" altLang="zh-CN" sz="1800" dirty="0"/>
              <a:t>list2=[]</a:t>
            </a:r>
            <a:endParaRPr lang="zh-CN" altLang="zh-CN" sz="1800" dirty="0"/>
          </a:p>
          <a:p>
            <a:pPr marL="0" indent="0">
              <a:buNone/>
            </a:pPr>
            <a:r>
              <a:rPr lang="en-US" altLang="zh-CN" sz="1800" dirty="0"/>
              <a:t>list3=[]</a:t>
            </a:r>
            <a:endParaRPr lang="zh-CN" altLang="zh-CN" sz="1800" dirty="0"/>
          </a:p>
          <a:p>
            <a:pPr marL="0" indent="0">
              <a:buNone/>
            </a:pPr>
            <a:r>
              <a:rPr lang="en-US" altLang="zh-CN" sz="1800" dirty="0"/>
              <a:t>list4=[]</a:t>
            </a:r>
            <a:endParaRPr lang="zh-CN" altLang="zh-CN" sz="1800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07504" y="116632"/>
            <a:ext cx="864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accent2"/>
                </a:solidFill>
              </a:rPr>
              <a:t>Part 7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70322" y="83067"/>
            <a:ext cx="48698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accent2"/>
                </a:solidFill>
              </a:rPr>
              <a:t>7.3.2 </a:t>
            </a:r>
            <a:r>
              <a:rPr lang="zh-CN" altLang="en-US" sz="2400" dirty="0" smtClean="0">
                <a:solidFill>
                  <a:schemeClr val="accent2"/>
                </a:solidFill>
              </a:rPr>
              <a:t>指标计算</a:t>
            </a:r>
            <a:r>
              <a:rPr lang="en-US" altLang="zh-CN" sz="2400" dirty="0" smtClean="0">
                <a:solidFill>
                  <a:schemeClr val="accent2"/>
                </a:solidFill>
              </a:rPr>
              <a:t>——</a:t>
            </a:r>
            <a:r>
              <a:rPr lang="zh-CN" altLang="en-US" sz="2400" dirty="0" smtClean="0">
                <a:solidFill>
                  <a:schemeClr val="accent2"/>
                </a:solidFill>
              </a:rPr>
              <a:t>示例代码</a:t>
            </a:r>
            <a:endParaRPr lang="zh-CN" altLang="en-US" sz="24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5556" y="1340768"/>
            <a:ext cx="7947907" cy="4525963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for t in range(</a:t>
            </a:r>
            <a:r>
              <a:rPr lang="en-US" altLang="zh-CN" dirty="0" err="1"/>
              <a:t>len</a:t>
            </a:r>
            <a:r>
              <a:rPr lang="en-US" altLang="zh-CN" dirty="0"/>
              <a:t>(code)):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 d=</a:t>
            </a:r>
            <a:r>
              <a:rPr lang="en-US" altLang="zh-CN" dirty="0" err="1"/>
              <a:t>dt.iloc</a:t>
            </a:r>
            <a:r>
              <a:rPr lang="en-US" altLang="zh-CN" dirty="0"/>
              <a:t>[</a:t>
            </a:r>
            <a:r>
              <a:rPr lang="en-US" altLang="zh-CN" dirty="0" err="1"/>
              <a:t>dt.iloc</a:t>
            </a:r>
            <a:r>
              <a:rPr lang="en-US" altLang="zh-CN" dirty="0"/>
              <a:t>[:,0].values==code[t],2].values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 r=(d[1:]-d[0:-1])/d[0:-1]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 if </a:t>
            </a:r>
            <a:r>
              <a:rPr lang="en-US" altLang="zh-CN" dirty="0" err="1"/>
              <a:t>len</a:t>
            </a:r>
            <a:r>
              <a:rPr lang="en-US" altLang="zh-CN" dirty="0"/>
              <a:t>(r[r&gt;0.4])==3: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     list1.append(S[code[t]])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     list2.append(r[0])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     list3.append(r[1])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     list4.append(r[2])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#</a:t>
            </a:r>
            <a:r>
              <a:rPr lang="zh-CN" altLang="zh-CN" dirty="0"/>
              <a:t>将净利润增长率数据定义为字典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D={'2015':list2,'2016':list3,'2017':list4}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#</a:t>
            </a:r>
            <a:r>
              <a:rPr lang="zh-CN" altLang="zh-CN" dirty="0"/>
              <a:t>将字典转化为数据框，</a:t>
            </a:r>
            <a:r>
              <a:rPr lang="en-US" altLang="zh-CN" dirty="0"/>
              <a:t>index</a:t>
            </a:r>
            <a:r>
              <a:rPr lang="zh-CN" altLang="zh-CN" dirty="0"/>
              <a:t>为股票名称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D=</a:t>
            </a:r>
            <a:r>
              <a:rPr lang="en-US" altLang="zh-CN" dirty="0" err="1"/>
              <a:t>pd.DataFrame</a:t>
            </a:r>
            <a:r>
              <a:rPr lang="en-US" altLang="zh-CN" dirty="0"/>
              <a:t>(</a:t>
            </a:r>
            <a:r>
              <a:rPr lang="en-US" altLang="zh-CN" dirty="0" err="1"/>
              <a:t>D,index</a:t>
            </a:r>
            <a:r>
              <a:rPr lang="en-US" altLang="zh-CN" dirty="0"/>
              <a:t>=list1)</a:t>
            </a:r>
            <a:endParaRPr lang="zh-CN" altLang="zh-CN" dirty="0"/>
          </a:p>
        </p:txBody>
      </p:sp>
      <p:sp>
        <p:nvSpPr>
          <p:cNvPr id="4" name="TextBox 3"/>
          <p:cNvSpPr txBox="1"/>
          <p:nvPr/>
        </p:nvSpPr>
        <p:spPr>
          <a:xfrm>
            <a:off x="107504" y="116632"/>
            <a:ext cx="936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accent2"/>
                </a:solidFill>
              </a:rPr>
              <a:t>Part 7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43608" y="116632"/>
            <a:ext cx="4464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accent2"/>
                </a:solidFill>
              </a:rPr>
              <a:t>7.3.2  </a:t>
            </a:r>
            <a:r>
              <a:rPr lang="zh-CN" altLang="en-US" sz="2400" dirty="0" smtClean="0">
                <a:solidFill>
                  <a:schemeClr val="accent2"/>
                </a:solidFill>
              </a:rPr>
              <a:t>指标计算</a:t>
            </a:r>
            <a:r>
              <a:rPr lang="en-US" altLang="zh-CN" sz="2400" dirty="0" smtClean="0">
                <a:solidFill>
                  <a:schemeClr val="accent2"/>
                </a:solidFill>
              </a:rPr>
              <a:t>——</a:t>
            </a:r>
            <a:r>
              <a:rPr lang="zh-CN" altLang="en-US" sz="2400" dirty="0" smtClean="0">
                <a:solidFill>
                  <a:schemeClr val="accent2"/>
                </a:solidFill>
              </a:rPr>
              <a:t>示例代码</a:t>
            </a:r>
            <a:endParaRPr lang="zh-CN" altLang="en-US" sz="24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执行结果如图</a:t>
            </a:r>
            <a:r>
              <a:rPr lang="en-US" altLang="zh-CN" dirty="0"/>
              <a:t>7-8</a:t>
            </a:r>
            <a:r>
              <a:rPr lang="zh-CN" altLang="zh-CN" dirty="0"/>
              <a:t>所</a:t>
            </a:r>
            <a:r>
              <a:rPr lang="zh-CN" altLang="zh-CN" dirty="0" smtClean="0"/>
              <a:t>示</a:t>
            </a:r>
            <a:r>
              <a:rPr lang="zh-CN" altLang="en-US" dirty="0" smtClean="0"/>
              <a:t>：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7504" y="116632"/>
            <a:ext cx="936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accent2"/>
                </a:solidFill>
              </a:rPr>
              <a:t>Part 7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43608" y="116632"/>
            <a:ext cx="4248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accent2"/>
                </a:solidFill>
              </a:rPr>
              <a:t>7.3.2 </a:t>
            </a:r>
            <a:r>
              <a:rPr lang="zh-CN" altLang="en-US" sz="2400" dirty="0" smtClean="0">
                <a:solidFill>
                  <a:schemeClr val="accent2"/>
                </a:solidFill>
              </a:rPr>
              <a:t>指标计算</a:t>
            </a:r>
            <a:r>
              <a:rPr lang="en-US" altLang="zh-CN" sz="2400" dirty="0" smtClean="0">
                <a:solidFill>
                  <a:schemeClr val="accent2"/>
                </a:solidFill>
              </a:rPr>
              <a:t>——</a:t>
            </a:r>
            <a:r>
              <a:rPr lang="zh-CN" altLang="en-US" sz="2400" dirty="0" smtClean="0">
                <a:solidFill>
                  <a:schemeClr val="accent2"/>
                </a:solidFill>
              </a:rPr>
              <a:t>结果展示</a:t>
            </a:r>
            <a:endParaRPr lang="zh-CN" altLang="en-US" sz="2400" dirty="0">
              <a:solidFill>
                <a:schemeClr val="accent2"/>
              </a:solidFill>
            </a:endParaRPr>
          </a:p>
        </p:txBody>
      </p:sp>
      <p:pic>
        <p:nvPicPr>
          <p:cNvPr id="6" name="内容占位符 5"/>
          <p:cNvPicPr>
            <a:picLocks noGrp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>
          <a:xfrm>
            <a:off x="1835696" y="1844824"/>
            <a:ext cx="5040559" cy="42484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第一PPT，www.1ppt.com">
  <a:themeElements>
    <a:clrScheme name="155">
      <a:dk1>
        <a:srgbClr val="294A5A"/>
      </a:dk1>
      <a:lt1>
        <a:srgbClr val="99CC39"/>
      </a:lt1>
      <a:dk2>
        <a:srgbClr val="F9C900"/>
      </a:dk2>
      <a:lt2>
        <a:srgbClr val="ED5A00"/>
      </a:lt2>
      <a:accent1>
        <a:srgbClr val="484849"/>
      </a:accent1>
      <a:accent2>
        <a:srgbClr val="FFFFFF"/>
      </a:accent2>
      <a:accent3>
        <a:srgbClr val="969696"/>
      </a:accent3>
      <a:accent4>
        <a:srgbClr val="00AAA2"/>
      </a:accent4>
      <a:accent5>
        <a:srgbClr val="99CC39"/>
      </a:accent5>
      <a:accent6>
        <a:srgbClr val="F9C900"/>
      </a:accent6>
      <a:hlink>
        <a:srgbClr val="ED5A00"/>
      </a:hlink>
      <a:folHlink>
        <a:srgbClr val="484849"/>
      </a:folHlink>
    </a:clrScheme>
    <a:fontScheme name="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D9"/>
        </a:lt1>
        <a:dk2>
          <a:srgbClr val="2B2E30"/>
        </a:dk2>
        <a:lt2>
          <a:srgbClr val="777777"/>
        </a:lt2>
        <a:accent1>
          <a:srgbClr val="7FBA00"/>
        </a:accent1>
        <a:accent2>
          <a:srgbClr val="FCDB00"/>
        </a:accent2>
        <a:accent3>
          <a:srgbClr val="FFFFE9"/>
        </a:accent3>
        <a:accent4>
          <a:srgbClr val="000000"/>
        </a:accent4>
        <a:accent5>
          <a:srgbClr val="C0D9AA"/>
        </a:accent5>
        <a:accent6>
          <a:srgbClr val="E4C600"/>
        </a:accent6>
        <a:hlink>
          <a:srgbClr val="21A3D0"/>
        </a:hlink>
        <a:folHlink>
          <a:srgbClr val="DA25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0</TotalTime>
  <Words>1936</Words>
  <Application>WPS 演示</Application>
  <PresentationFormat>全屏显示(4:3)</PresentationFormat>
  <Paragraphs>184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仿宋_GB2312</vt:lpstr>
      <vt:lpstr>Calibri</vt:lpstr>
      <vt:lpstr>Wingdings 2</vt:lpstr>
      <vt:lpstr>Wingdings</vt:lpstr>
      <vt:lpstr>Times New Roman</vt:lpstr>
      <vt:lpstr>Calibri</vt:lpstr>
      <vt:lpstr>Times New Roman</vt:lpstr>
      <vt:lpstr>Arial Unicode MS</vt:lpstr>
      <vt:lpstr>仿宋</vt:lpstr>
      <vt:lpstr>第一PPT，www.1ppt.com</vt:lpstr>
      <vt:lpstr>PowerPoint 演示文稿</vt:lpstr>
      <vt:lpstr>PowerPoint 演示文稿</vt:lpstr>
      <vt:lpstr> 字段依次表示股票代码、会计年度、归属于母公司所有者的净利润 </vt:lpstr>
      <vt:lpstr>PowerPoint 演示文稿</vt:lpstr>
      <vt:lpstr>PowerPoint 演示文稿</vt:lpstr>
      <vt:lpstr>PowerPoint 演示文稿</vt:lpstr>
      <vt:lpstr>执行结果如图7-8所示：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Administrator</cp:lastModifiedBy>
  <cp:revision>10</cp:revision>
  <dcterms:created xsi:type="dcterms:W3CDTF">2019-12-07T04:01:00Z</dcterms:created>
  <dcterms:modified xsi:type="dcterms:W3CDTF">2020-01-10T03:17:52Z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2052-11.1.0.9339</vt:lpwstr>
  </property>
</Properties>
</file>