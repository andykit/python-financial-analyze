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953" r:id="rId3"/>
    <p:sldId id="954" r:id="rId4"/>
    <p:sldId id="955" r:id="rId5"/>
    <p:sldId id="956" r:id="rId6"/>
    <p:sldId id="957" r:id="rId7"/>
    <p:sldId id="958" r:id="rId8"/>
    <p:sldId id="959" r:id="rId9"/>
    <p:sldId id="960" r:id="rId10"/>
    <p:sldId id="952" r:id="rId11"/>
    <p:sldId id="966" r:id="rId12"/>
    <p:sldId id="962" r:id="rId13"/>
    <p:sldId id="963" r:id="rId14"/>
    <p:sldId id="964" r:id="rId15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  <p:cmAuthor id="2" name="张 慧" initials="张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00000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01" autoAdjust="0"/>
    <p:restoredTop sz="94270" autoAdjust="0"/>
  </p:normalViewPr>
  <p:slideViewPr>
    <p:cSldViewPr snapToObjects="1">
      <p:cViewPr varScale="1">
        <p:scale>
          <a:sx n="86" d="100"/>
          <a:sy n="86" d="100"/>
        </p:scale>
        <p:origin x="197" y="5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620" y="800736"/>
            <a:ext cx="10601349" cy="4525963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zh-CN" sz="2800" dirty="0"/>
              <a:t>在金融数据挖掘分析中经常会遇到不同时间维度的分析。本案例主要目的是介绍如何通过交易日历表和日交易数据，转化为统计的周交易数据和月交易数据，并实现周收益率和月收益率的计算。在本案例中，我们介绍了利用交易日历表寻找每周最小交易日和最大交易日、每月最小交易日和最大交易日两个算法，希望对读者有所启示。</a:t>
            </a:r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9667" y="128700"/>
            <a:ext cx="105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955" y="128905"/>
            <a:ext cx="77362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8F8F8"/>
                </a:solidFill>
              </a:rPr>
              <a:t>股票几个指数周收益率和月收益率的计算</a:t>
            </a:r>
            <a:endParaRPr lang="zh-CN" altLang="en-US" sz="2800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25625" y="908720"/>
            <a:ext cx="10601349" cy="1296144"/>
          </a:xfrm>
        </p:spPr>
        <p:txBody>
          <a:bodyPr/>
          <a:lstStyle/>
          <a:p>
            <a:pPr indent="457200"/>
            <a:r>
              <a:rPr lang="zh-CN" altLang="zh-CN" dirty="0"/>
              <a:t>计算上证</a:t>
            </a:r>
            <a:r>
              <a:rPr lang="en-US" altLang="zh-CN" dirty="0"/>
              <a:t>A</a:t>
            </a:r>
            <a:r>
              <a:rPr lang="zh-CN" altLang="zh-CN" dirty="0"/>
              <a:t>股指数（代码：</a:t>
            </a:r>
            <a:r>
              <a:rPr lang="en-US" altLang="zh-CN" dirty="0"/>
              <a:t>000002</a:t>
            </a:r>
            <a:r>
              <a:rPr lang="zh-CN" altLang="zh-CN" dirty="0"/>
              <a:t>）</a:t>
            </a:r>
            <a:r>
              <a:rPr lang="en-US" altLang="zh-CN" dirty="0"/>
              <a:t>2017</a:t>
            </a:r>
            <a:r>
              <a:rPr lang="zh-CN" altLang="zh-CN" dirty="0"/>
              <a:t>年的周收益率和月收益率指标数据。其中周收益率和月收益率指标计算公式如下：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500" y="2204720"/>
            <a:ext cx="10601325" cy="2525395"/>
          </a:xfrm>
        </p:spPr>
        <p:txBody>
          <a:bodyPr/>
          <a:lstStyle/>
          <a:p>
            <a:r>
              <a:rPr lang="zh-CN" altLang="zh-CN" sz="2400" dirty="0"/>
              <a:t>周收益率</a:t>
            </a:r>
            <a:r>
              <a:rPr lang="en-US" altLang="zh-CN" sz="2400" dirty="0"/>
              <a:t>=</a:t>
            </a:r>
            <a:r>
              <a:rPr lang="zh-CN" altLang="zh-CN" sz="2400" dirty="0"/>
              <a:t>（周最大交易日收盘指数</a:t>
            </a:r>
            <a:r>
              <a:rPr lang="en-US" altLang="zh-CN" sz="2400" dirty="0"/>
              <a:t>-</a:t>
            </a:r>
            <a:r>
              <a:rPr lang="zh-CN" altLang="zh-CN" sz="2400" dirty="0"/>
              <a:t>周最小交易日收盘指数）</a:t>
            </a:r>
            <a:r>
              <a:rPr lang="en-US" altLang="zh-CN" sz="2400" dirty="0"/>
              <a:t>/</a:t>
            </a:r>
            <a:r>
              <a:rPr lang="zh-CN" altLang="zh-CN" sz="2400" dirty="0"/>
              <a:t>周最小交易日收盘指数。</a:t>
            </a:r>
            <a:endParaRPr lang="zh-CN" altLang="zh-CN" sz="2400" dirty="0"/>
          </a:p>
          <a:p>
            <a:r>
              <a:rPr lang="zh-CN" altLang="zh-CN" sz="2400" dirty="0"/>
              <a:t>月收益率</a:t>
            </a:r>
            <a:r>
              <a:rPr lang="en-US" altLang="zh-CN" sz="2400" dirty="0"/>
              <a:t>=</a:t>
            </a:r>
            <a:r>
              <a:rPr lang="zh-CN" altLang="zh-CN" sz="2400" dirty="0"/>
              <a:t>（月最大交易日收盘指数</a:t>
            </a:r>
            <a:r>
              <a:rPr lang="en-US" altLang="zh-CN" sz="2400" dirty="0"/>
              <a:t>-</a:t>
            </a:r>
            <a:r>
              <a:rPr lang="zh-CN" altLang="zh-CN" sz="2400" dirty="0"/>
              <a:t>月最小交易日收盘指数）</a:t>
            </a:r>
            <a:r>
              <a:rPr lang="en-US" altLang="zh-CN" sz="2400" dirty="0"/>
              <a:t>/</a:t>
            </a:r>
            <a:r>
              <a:rPr lang="zh-CN" altLang="zh-CN" sz="2400" dirty="0"/>
              <a:t>月最小交易日收盘指数</a:t>
            </a:r>
            <a:r>
              <a:rPr lang="zh-CN" altLang="zh-CN" dirty="0"/>
              <a:t>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3725" y="18466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7.2.1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861" y="12870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案列介绍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620688"/>
            <a:ext cx="10601349" cy="922363"/>
          </a:xfrm>
        </p:spPr>
        <p:txBody>
          <a:bodyPr/>
          <a:lstStyle/>
          <a:p>
            <a:br>
              <a:rPr lang="en-US" altLang="zh-CN" dirty="0"/>
            </a:br>
            <a:r>
              <a:rPr lang="en-US" altLang="zh-CN" dirty="0"/>
              <a:t>    </a:t>
            </a:r>
            <a:r>
              <a:rPr lang="zh-CN" altLang="zh-CN" dirty="0"/>
              <a:t>本案例使用的交易日历表（表名：</a:t>
            </a:r>
            <a:r>
              <a:rPr lang="en-US" altLang="zh-CN" dirty="0" err="1"/>
              <a:t>TRD_Cale</a:t>
            </a:r>
            <a:r>
              <a:rPr lang="zh-CN" altLang="zh-CN" dirty="0"/>
              <a:t>）和指数日交易数据表（表名：</a:t>
            </a:r>
            <a:r>
              <a:rPr lang="en-US" altLang="zh-CN" dirty="0" err="1"/>
              <a:t>IDX_Idxtrd</a:t>
            </a:r>
            <a:r>
              <a:rPr lang="zh-CN" altLang="zh-CN" dirty="0"/>
              <a:t>）数据均来源于</a:t>
            </a:r>
            <a:r>
              <a:rPr lang="en-US" altLang="zh-CN" dirty="0"/>
              <a:t>CSMAR</a:t>
            </a:r>
            <a:r>
              <a:rPr lang="zh-CN" altLang="zh-CN" dirty="0"/>
              <a:t>国泰安数据库，其表结构如下：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zh-CN" dirty="0"/>
              <a:t>表</a:t>
            </a:r>
            <a:r>
              <a:rPr lang="en-US" altLang="zh-CN" dirty="0"/>
              <a:t>7-3    </a:t>
            </a:r>
            <a:r>
              <a:rPr lang="zh-CN" altLang="zh-CN" dirty="0"/>
              <a:t>交易日历表（</a:t>
            </a:r>
            <a:r>
              <a:rPr lang="en-US" altLang="zh-CN" dirty="0" err="1"/>
              <a:t>TRD_Cale</a:t>
            </a:r>
            <a:r>
              <a:rPr lang="zh-CN" altLang="zh-CN" dirty="0"/>
              <a:t>）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        </a:t>
            </a:r>
            <a:r>
              <a:rPr lang="zh-CN" altLang="zh-CN" dirty="0"/>
              <a:t>字段依次表示市场类型（</a:t>
            </a:r>
            <a:r>
              <a:rPr lang="en-US" altLang="zh-CN" dirty="0"/>
              <a:t>1—</a:t>
            </a:r>
            <a:r>
              <a:rPr lang="zh-CN" altLang="zh-CN" dirty="0"/>
              <a:t>表示上海市场）、交易日期、星期、开市状态（</a:t>
            </a:r>
            <a:r>
              <a:rPr lang="en-US" altLang="zh-CN" dirty="0"/>
              <a:t>O—</a:t>
            </a:r>
            <a:r>
              <a:rPr lang="zh-CN" altLang="zh-CN" dirty="0"/>
              <a:t>表示开市），数据区间日期为</a:t>
            </a:r>
            <a:r>
              <a:rPr lang="en-US" altLang="zh-CN" dirty="0"/>
              <a:t>2017</a:t>
            </a:r>
            <a:r>
              <a:rPr lang="zh-CN" altLang="zh-CN" dirty="0"/>
              <a:t>年</a:t>
            </a:r>
            <a:r>
              <a:rPr lang="en-US" altLang="zh-CN" dirty="0"/>
              <a:t>1</a:t>
            </a:r>
            <a:r>
              <a:rPr lang="zh-CN" altLang="zh-CN" dirty="0"/>
              <a:t>月</a:t>
            </a:r>
            <a:r>
              <a:rPr lang="en-US" altLang="zh-CN" dirty="0"/>
              <a:t>1</a:t>
            </a:r>
            <a:r>
              <a:rPr lang="zh-CN" altLang="zh-CN" dirty="0"/>
              <a:t>日</a:t>
            </a:r>
            <a:r>
              <a:rPr lang="en-US" altLang="zh-CN" dirty="0"/>
              <a:t>~2017</a:t>
            </a:r>
            <a:r>
              <a:rPr lang="zh-CN" altLang="zh-CN" dirty="0"/>
              <a:t>年</a:t>
            </a:r>
            <a:r>
              <a:rPr lang="en-US" altLang="zh-CN" dirty="0"/>
              <a:t>12</a:t>
            </a:r>
            <a:r>
              <a:rPr lang="zh-CN" altLang="zh-CN" dirty="0"/>
              <a:t>月</a:t>
            </a:r>
            <a:r>
              <a:rPr lang="en-US" altLang="zh-CN" dirty="0"/>
              <a:t>31</a:t>
            </a:r>
            <a:r>
              <a:rPr lang="zh-CN" altLang="zh-CN" dirty="0"/>
              <a:t>日。</a:t>
            </a:r>
            <a:endParaRPr lang="zh-CN" altLang="zh-CN" sz="1600" dirty="0"/>
          </a:p>
          <a:p>
            <a:endParaRPr lang="zh-CN" altLang="en-US" sz="1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93924" y="2132857"/>
          <a:ext cx="7992888" cy="2808311"/>
        </p:xfrm>
        <a:graphic>
          <a:graphicData uri="http://schemas.openxmlformats.org/drawingml/2006/table">
            <a:tbl>
              <a:tblPr firstRow="1" firstCol="1" bandRow="1">
                <a:tableStyleId>{91EBBBCC-DAD2-459C-BE2E-F6DE35CF9A28}</a:tableStyleId>
              </a:tblPr>
              <a:tblGrid>
                <a:gridCol w="1984988"/>
                <a:gridCol w="2726052"/>
                <a:gridCol w="1852656"/>
                <a:gridCol w="1429192"/>
              </a:tblGrid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Markettype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Clddt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Daywk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State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2017-01-03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2017-01-04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2017-01-11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553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8F8F8"/>
                </a:solidFill>
              </a:rPr>
              <a:t>7.2.1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7861" y="11663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8F8"/>
                </a:solidFill>
              </a:rPr>
              <a:t>案列介绍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zh-CN" dirty="0"/>
              <a:t>表</a:t>
            </a:r>
            <a:r>
              <a:rPr lang="en-US" altLang="zh-CN" dirty="0"/>
              <a:t>7-4 </a:t>
            </a:r>
            <a:r>
              <a:rPr lang="zh-CN" altLang="zh-CN" dirty="0"/>
              <a:t>指数交易数据表（</a:t>
            </a:r>
            <a:r>
              <a:rPr lang="en-US" altLang="zh-CN" dirty="0" err="1"/>
              <a:t>IDX_Idxtrd</a:t>
            </a:r>
            <a:r>
              <a:rPr lang="zh-CN" altLang="zh-CN" dirty="0"/>
              <a:t>）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       </a:t>
            </a:r>
            <a:r>
              <a:rPr lang="zh-CN" altLang="zh-CN" sz="1600" dirty="0"/>
              <a:t>字段依次表示指数代码、交易日期、收盘指数。</a:t>
            </a:r>
            <a:endParaRPr lang="zh-CN" altLang="zh-CN" sz="1600" dirty="0"/>
          </a:p>
          <a:p>
            <a:endParaRPr lang="zh-CN" altLang="en-US" sz="1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353965" y="2276873"/>
          <a:ext cx="7920880" cy="2880317"/>
        </p:xfrm>
        <a:graphic>
          <a:graphicData uri="http://schemas.openxmlformats.org/drawingml/2006/table">
            <a:tbl>
              <a:tblPr firstRow="1" firstCol="1" bandRow="1">
                <a:tableStyleId>{91EBBBCC-DAD2-459C-BE2E-F6DE35CF9A28}</a:tableStyleId>
              </a:tblPr>
              <a:tblGrid>
                <a:gridCol w="2734920"/>
                <a:gridCol w="3288826"/>
                <a:gridCol w="1897134"/>
              </a:tblGrid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Indexcd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Idxtrd01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Idxtrd05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3283.45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3307.45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3314.39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3302.79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3320.53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3310.49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3284.37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3266.04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3259.27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6184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8F8F8"/>
                </a:solidFill>
              </a:rPr>
              <a:t>7.2.1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7861" y="116632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案列介绍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0"/>
            <a:ext cx="10601349" cy="2016893"/>
          </a:xfrm>
        </p:spPr>
        <p:txBody>
          <a:bodyPr/>
          <a:lstStyle/>
          <a:p>
            <a:pPr indent="457200"/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      </a:t>
            </a:r>
            <a:r>
              <a:rPr lang="zh-CN" altLang="zh-CN" dirty="0"/>
              <a:t>由于我们获取的数据为日行情交易数据，无法直接计算周收益率，需要对交易日历数据进行处理，即找出每周的最大交易日和最小交易日。从交易日历表的星期（</a:t>
            </a:r>
            <a:r>
              <a:rPr lang="en-US" altLang="zh-CN" dirty="0" err="1"/>
              <a:t>Daywk</a:t>
            </a:r>
            <a:r>
              <a:rPr lang="zh-CN" altLang="zh-CN" dirty="0"/>
              <a:t>）字段可以看出，当前星期值比下一个星期值大，其对应的交易日即为本周的最大交易日，下一个星期值对应的交易日即为下周的最小交易日。因此，寻找周最大交易日和最小交易日的算法如下：</a:t>
            </a:r>
            <a:br>
              <a:rPr lang="zh-CN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825625" y="2924944"/>
            <a:ext cx="10601349" cy="320122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zh-CN" dirty="0"/>
              <a:t>输入：交易日历数据表</a:t>
            </a:r>
            <a:r>
              <a:rPr lang="en-US" altLang="zh-CN" dirty="0"/>
              <a:t>date</a:t>
            </a:r>
            <a:endParaRPr lang="en-US" altLang="zh-CN" dirty="0"/>
          </a:p>
          <a:p>
            <a:r>
              <a:rPr lang="zh-CN" altLang="zh-CN" dirty="0"/>
              <a:t>输出：周最小交易日和最大交易日列表</a:t>
            </a:r>
            <a:r>
              <a:rPr lang="en-US" altLang="zh-CN" dirty="0"/>
              <a:t>list1</a:t>
            </a:r>
            <a:r>
              <a:rPr lang="zh-CN" altLang="zh-CN" dirty="0"/>
              <a:t>和</a:t>
            </a:r>
            <a:r>
              <a:rPr lang="en-US" altLang="zh-CN" dirty="0"/>
              <a:t>list2</a:t>
            </a:r>
            <a:endParaRPr lang="zh-CN" altLang="zh-CN" dirty="0"/>
          </a:p>
          <a:p>
            <a:r>
              <a:rPr lang="en-US" altLang="zh-CN" dirty="0"/>
              <a:t>Step1</a:t>
            </a:r>
            <a:r>
              <a:rPr lang="zh-CN" altLang="zh-CN" dirty="0"/>
              <a:t>：定义空的列表</a:t>
            </a:r>
            <a:r>
              <a:rPr lang="en-US" altLang="zh-CN" dirty="0"/>
              <a:t>list1</a:t>
            </a:r>
            <a:r>
              <a:rPr lang="zh-CN" altLang="zh-CN" dirty="0"/>
              <a:t>和</a:t>
            </a:r>
            <a:r>
              <a:rPr lang="en-US" altLang="zh-CN" dirty="0"/>
              <a:t>list2</a:t>
            </a:r>
            <a:r>
              <a:rPr lang="zh-CN" altLang="zh-CN" dirty="0"/>
              <a:t>，将交易日历表中的首个交易日添加到</a:t>
            </a:r>
            <a:r>
              <a:rPr lang="en-US" altLang="zh-CN" dirty="0"/>
              <a:t>list1</a:t>
            </a:r>
            <a:r>
              <a:rPr lang="zh-CN" altLang="zh-CN" dirty="0"/>
              <a:t>中</a:t>
            </a:r>
            <a:endParaRPr lang="zh-CN" altLang="zh-CN" dirty="0"/>
          </a:p>
          <a:p>
            <a:r>
              <a:rPr lang="en-US" altLang="zh-CN" dirty="0"/>
              <a:t>Step2</a:t>
            </a:r>
            <a:r>
              <a:rPr lang="zh-CN" altLang="zh-CN" dirty="0"/>
              <a:t>：从第</a:t>
            </a:r>
            <a:r>
              <a:rPr lang="en-US" altLang="zh-CN" dirty="0"/>
              <a:t>2</a:t>
            </a:r>
            <a:r>
              <a:rPr lang="zh-CN" altLang="zh-CN" dirty="0"/>
              <a:t>个交易日开始至倒数第</a:t>
            </a:r>
            <a:r>
              <a:rPr lang="en-US" altLang="zh-CN" dirty="0"/>
              <a:t>2</a:t>
            </a:r>
            <a:r>
              <a:rPr lang="zh-CN" altLang="zh-CN" dirty="0"/>
              <a:t>个交易日，如果其星期值大于下一个交易日的星期值，则将其交易日添加到</a:t>
            </a:r>
            <a:r>
              <a:rPr lang="en-US" altLang="zh-CN" dirty="0"/>
              <a:t>list2</a:t>
            </a:r>
            <a:r>
              <a:rPr lang="zh-CN" altLang="zh-CN" dirty="0"/>
              <a:t>中，下一个交易日添加到</a:t>
            </a:r>
            <a:r>
              <a:rPr lang="en-US" altLang="zh-CN" dirty="0"/>
              <a:t>list1</a:t>
            </a:r>
            <a:r>
              <a:rPr lang="zh-CN" altLang="zh-CN" dirty="0"/>
              <a:t>中。</a:t>
            </a:r>
            <a:endParaRPr lang="zh-CN" altLang="zh-CN" dirty="0"/>
          </a:p>
          <a:p>
            <a:r>
              <a:rPr lang="en-US" altLang="zh-CN" dirty="0"/>
              <a:t>Step3</a:t>
            </a:r>
            <a:r>
              <a:rPr lang="zh-CN" altLang="zh-CN" dirty="0"/>
              <a:t>：将最后的交易日添加到</a:t>
            </a:r>
            <a:r>
              <a:rPr lang="en-US" altLang="zh-CN" dirty="0"/>
              <a:t>list2</a:t>
            </a:r>
            <a:r>
              <a:rPr lang="zh-CN" altLang="zh-CN" dirty="0"/>
              <a:t>中。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7.2.2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45853" y="116632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周收益率计算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4912715" cy="635000"/>
          </a:xfrm>
        </p:spPr>
        <p:txBody>
          <a:bodyPr/>
          <a:lstStyle/>
          <a:p>
            <a:r>
              <a:rPr lang="zh-CN" altLang="en-US" dirty="0"/>
              <a:t>代码如下：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6" y="1600201"/>
            <a:ext cx="5056732" cy="4525963"/>
          </a:xfrm>
        </p:spPr>
        <p:txBody>
          <a:bodyPr/>
          <a:lstStyle/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zh-CN" altLang="zh-CN" dirty="0"/>
          </a:p>
          <a:p>
            <a:r>
              <a:rPr lang="en-US" altLang="zh-CN" dirty="0"/>
              <a:t>x=</a:t>
            </a:r>
            <a:r>
              <a:rPr lang="en-US" altLang="zh-CN" dirty="0" err="1"/>
              <a:t>pd.read_excel</a:t>
            </a:r>
            <a:r>
              <a:rPr lang="en-US" altLang="zh-CN" dirty="0"/>
              <a:t>('TRD_Cale.xlsx')</a:t>
            </a:r>
            <a:endParaRPr lang="zh-CN" altLang="zh-CN" dirty="0"/>
          </a:p>
          <a:p>
            <a:r>
              <a:rPr lang="en-US" altLang="zh-CN" dirty="0"/>
              <a:t>list1=['2017-01-03']</a:t>
            </a:r>
            <a:endParaRPr lang="zh-CN" altLang="zh-CN" dirty="0"/>
          </a:p>
          <a:p>
            <a:r>
              <a:rPr lang="en-US" altLang="zh-CN" dirty="0"/>
              <a:t>list2=[]</a:t>
            </a:r>
            <a:endParaRPr lang="zh-CN" altLang="zh-CN" dirty="0"/>
          </a:p>
          <a:p>
            <a:r>
              <a:rPr lang="en-US" altLang="zh-CN" dirty="0"/>
              <a:t>for t in range(1,len(x)-1):</a:t>
            </a:r>
            <a:endParaRPr lang="zh-CN" altLang="zh-CN" dirty="0"/>
          </a:p>
          <a:p>
            <a:r>
              <a:rPr lang="en-US" altLang="zh-CN" dirty="0"/>
              <a:t>    p=</a:t>
            </a:r>
            <a:r>
              <a:rPr lang="en-US" altLang="zh-CN" dirty="0" err="1"/>
              <a:t>x.iloc</a:t>
            </a:r>
            <a:r>
              <a:rPr lang="en-US" altLang="zh-CN" dirty="0"/>
              <a:t>[t-1,[2]][0]</a:t>
            </a:r>
            <a:endParaRPr lang="zh-CN" altLang="zh-CN" dirty="0"/>
          </a:p>
          <a:p>
            <a:r>
              <a:rPr lang="en-US" altLang="zh-CN" dirty="0"/>
              <a:t>    q=</a:t>
            </a:r>
            <a:r>
              <a:rPr lang="en-US" altLang="zh-CN" dirty="0" err="1"/>
              <a:t>x.iloc</a:t>
            </a:r>
            <a:r>
              <a:rPr lang="en-US" altLang="zh-CN" dirty="0"/>
              <a:t>[t,[2]][0]</a:t>
            </a:r>
            <a:endParaRPr lang="zh-CN" altLang="zh-CN" dirty="0"/>
          </a:p>
          <a:p>
            <a:r>
              <a:rPr lang="en-US" altLang="zh-CN" dirty="0"/>
              <a:t>     if q&lt;p:</a:t>
            </a:r>
            <a:endParaRPr lang="zh-CN" altLang="zh-CN" dirty="0"/>
          </a:p>
          <a:p>
            <a:r>
              <a:rPr lang="en-US" altLang="zh-CN" dirty="0"/>
              <a:t>            list1.append(</a:t>
            </a:r>
            <a:r>
              <a:rPr lang="en-US" altLang="zh-CN" dirty="0" err="1"/>
              <a:t>x.iloc</a:t>
            </a:r>
            <a:r>
              <a:rPr lang="en-US" altLang="zh-CN" dirty="0"/>
              <a:t>[t,[1]][0])</a:t>
            </a:r>
            <a:endParaRPr lang="zh-CN" altLang="zh-CN" dirty="0"/>
          </a:p>
          <a:p>
            <a:r>
              <a:rPr lang="en-US" altLang="zh-CN" dirty="0"/>
              <a:t>            list2.append(</a:t>
            </a:r>
            <a:r>
              <a:rPr lang="en-US" altLang="zh-CN" dirty="0" err="1"/>
              <a:t>x.iloc</a:t>
            </a:r>
            <a:r>
              <a:rPr lang="en-US" altLang="zh-CN" dirty="0"/>
              <a:t>[t-1,[1]][0])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882357" y="85090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latin typeface="+mj-ea"/>
                <a:ea typeface="+mj-ea"/>
              </a:rPr>
              <a:t>执行结果（部分）如图所示</a:t>
            </a: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</a:rPr>
              <a:t>：</a:t>
            </a:r>
            <a:endParaRPr lang="zh-CN" altLang="en-US" sz="2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357" y="1969533"/>
            <a:ext cx="5688631" cy="3012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22517" y="522920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7-4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7.2.2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7861" y="11663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周收益率计算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0"/>
            <a:ext cx="10601349" cy="1080789"/>
          </a:xfrm>
        </p:spPr>
        <p:txBody>
          <a:bodyPr/>
          <a:lstStyle/>
          <a:p>
            <a:pPr indent="457200"/>
            <a:r>
              <a:rPr lang="zh-CN" altLang="zh-CN" dirty="0"/>
              <a:t>获得每周的最小交易日列表</a:t>
            </a:r>
            <a:r>
              <a:rPr lang="en-US" altLang="zh-CN" dirty="0"/>
              <a:t>list1</a:t>
            </a:r>
            <a:r>
              <a:rPr lang="zh-CN" altLang="zh-CN" dirty="0"/>
              <a:t>和最大交易日列表</a:t>
            </a:r>
            <a:r>
              <a:rPr lang="en-US" altLang="zh-CN" dirty="0"/>
              <a:t>list2</a:t>
            </a:r>
            <a:r>
              <a:rPr lang="zh-CN" altLang="zh-CN" dirty="0"/>
              <a:t>后，就可以通过循环的方式，依次取最大交易日和最小交易日对应的收盘指数，利用前面介绍的公式计算即可获得周收益率指标数据。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2348880"/>
            <a:ext cx="10601349" cy="3777284"/>
          </a:xfrm>
        </p:spPr>
        <p:txBody>
          <a:bodyPr/>
          <a:lstStyle/>
          <a:p>
            <a:r>
              <a:rPr lang="zh-CN" altLang="zh-CN" sz="2400" dirty="0"/>
              <a:t>示例代码如下：</a:t>
            </a:r>
            <a:endParaRPr lang="en-US" altLang="zh-CN" sz="2400" dirty="0"/>
          </a:p>
          <a:p>
            <a:endParaRPr lang="en-US" altLang="zh-CN" dirty="0"/>
          </a:p>
          <a:p>
            <a:r>
              <a:rPr lang="en-US" altLang="zh-CN" dirty="0"/>
              <a:t>data=</a:t>
            </a:r>
            <a:r>
              <a:rPr lang="en-US" altLang="zh-CN" dirty="0" err="1"/>
              <a:t>pd.read_excel</a:t>
            </a:r>
            <a:r>
              <a:rPr lang="en-US" altLang="zh-CN" dirty="0"/>
              <a:t>('IDX_Idxtrd.xlsx')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  <a:endParaRPr lang="zh-CN" altLang="zh-CN" dirty="0"/>
          </a:p>
          <a:p>
            <a:r>
              <a:rPr lang="en-US" altLang="zh-CN" dirty="0"/>
              <a:t>r=</a:t>
            </a:r>
            <a:r>
              <a:rPr lang="en-US" altLang="zh-CN" dirty="0" err="1"/>
              <a:t>np.zeros</a:t>
            </a:r>
            <a:r>
              <a:rPr lang="en-US" altLang="zh-CN" dirty="0"/>
              <a:t>(</a:t>
            </a:r>
            <a:r>
              <a:rPr lang="en-US" altLang="zh-CN" dirty="0" err="1"/>
              <a:t>len</a:t>
            </a:r>
            <a:r>
              <a:rPr lang="en-US" altLang="zh-CN" dirty="0"/>
              <a:t>(list1))</a:t>
            </a:r>
            <a:endParaRPr lang="zh-CN" altLang="zh-CN" dirty="0"/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(list1)):</a:t>
            </a:r>
            <a:endParaRPr lang="zh-CN" altLang="zh-CN" dirty="0"/>
          </a:p>
          <a:p>
            <a:r>
              <a:rPr lang="en-US" altLang="zh-CN" dirty="0"/>
              <a:t>    p1=</a:t>
            </a:r>
            <a:r>
              <a:rPr lang="en-US" altLang="zh-CN" dirty="0" err="1"/>
              <a:t>data.loc</a:t>
            </a:r>
            <a:r>
              <a:rPr lang="en-US" altLang="zh-CN" dirty="0"/>
              <a:t>[data['Idxtrd01'].values==list1[</a:t>
            </a:r>
            <a:r>
              <a:rPr lang="en-US" altLang="zh-CN" dirty="0" err="1"/>
              <a:t>i</a:t>
            </a:r>
            <a:r>
              <a:rPr lang="en-US" altLang="zh-CN" dirty="0"/>
              <a:t>],'Idxtrd05'].values</a:t>
            </a:r>
            <a:endParaRPr lang="zh-CN" altLang="zh-CN" dirty="0"/>
          </a:p>
          <a:p>
            <a:r>
              <a:rPr lang="en-US" altLang="zh-CN" dirty="0"/>
              <a:t>    p2=</a:t>
            </a:r>
            <a:r>
              <a:rPr lang="en-US" altLang="zh-CN" dirty="0" err="1"/>
              <a:t>data.loc</a:t>
            </a:r>
            <a:r>
              <a:rPr lang="en-US" altLang="zh-CN" dirty="0"/>
              <a:t>[data['Idxtrd01'].values==list2[</a:t>
            </a:r>
            <a:r>
              <a:rPr lang="en-US" altLang="zh-CN" dirty="0" err="1"/>
              <a:t>i</a:t>
            </a:r>
            <a:r>
              <a:rPr lang="en-US" altLang="zh-CN" dirty="0"/>
              <a:t>],'Idxtrd05'].values</a:t>
            </a:r>
            <a:endParaRPr lang="zh-CN" altLang="zh-CN" dirty="0"/>
          </a:p>
          <a:p>
            <a:r>
              <a:rPr lang="en-US" altLang="zh-CN" dirty="0"/>
              <a:t>    r[</a:t>
            </a:r>
            <a:r>
              <a:rPr lang="en-US" altLang="zh-CN" dirty="0" err="1"/>
              <a:t>i</a:t>
            </a:r>
            <a:r>
              <a:rPr lang="en-US" altLang="zh-CN" dirty="0"/>
              <a:t>]=(p2-p1)/p1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7.2.2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7861" y="11663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周收益率计算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执行结果如图所示</a:t>
            </a:r>
            <a:r>
              <a:rPr lang="zh-CN" altLang="en-US" dirty="0"/>
              <a:t>：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777900" y="1700809"/>
            <a:ext cx="7488833" cy="26642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29829" y="4869160"/>
            <a:ext cx="9937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比如计算第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周的收益率数据，结合图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7-4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所示，可以取第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周的最大交易日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2017-01-06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对应的收盘指数为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3302.76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减去第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周最小交易日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2017-01-03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对应的收盘指数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3283.45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再除以第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周最小交易日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2017-01-03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对应的收盘指数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3283.45</a:t>
            </a:r>
            <a:r>
              <a:rPr lang="zh-CN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，就可以得到周收益率指标数据为：</a:t>
            </a:r>
            <a:r>
              <a:rPr lang="en-US" altLang="zh-CN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0.00589015</a:t>
            </a:r>
            <a:r>
              <a:rPr lang="zh-CN" altLang="zh-CN" sz="2400" dirty="0">
                <a:solidFill>
                  <a:srgbClr val="000000"/>
                </a:solidFill>
                <a:latin typeface="+mj-ea"/>
                <a:ea typeface="+mj-ea"/>
              </a:rPr>
              <a:t>。</a:t>
            </a:r>
            <a:endParaRPr lang="zh-CN" altLang="zh-CN" sz="2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58221" y="436510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7-5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65733" y="1166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7.2.2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5853" y="11663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周收益率计算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486" y="607420"/>
            <a:ext cx="10601349" cy="1309412"/>
          </a:xfrm>
        </p:spPr>
        <p:txBody>
          <a:bodyPr/>
          <a:lstStyle/>
          <a:p>
            <a:pPr indent="457200"/>
            <a:r>
              <a:rPr lang="zh-CN" altLang="zh-CN" dirty="0"/>
              <a:t>基于日指数行情交易数据无法直接计算月收益率，需要对交易日历数据进行处理。由于交易数据为</a:t>
            </a:r>
            <a:r>
              <a:rPr lang="en-US" altLang="zh-CN" dirty="0"/>
              <a:t>2017</a:t>
            </a:r>
            <a:r>
              <a:rPr lang="zh-CN" altLang="zh-CN" dirty="0"/>
              <a:t>年，即找出</a:t>
            </a:r>
            <a:r>
              <a:rPr lang="en-US" altLang="zh-CN" dirty="0"/>
              <a:t>2017</a:t>
            </a:r>
            <a:r>
              <a:rPr lang="zh-CN" altLang="zh-CN" dirty="0"/>
              <a:t>年每月的最大交易日和最小交易日。具体寻找算法如下：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2132856"/>
            <a:ext cx="10601349" cy="3993308"/>
          </a:xfrm>
        </p:spPr>
        <p:txBody>
          <a:bodyPr/>
          <a:lstStyle/>
          <a:p>
            <a:r>
              <a:rPr lang="zh-CN" altLang="zh-CN" dirty="0"/>
              <a:t>输入：交易日历数据表</a:t>
            </a:r>
            <a:r>
              <a:rPr lang="en-US" altLang="zh-CN" dirty="0"/>
              <a:t>date</a:t>
            </a:r>
            <a:endParaRPr lang="zh-CN" altLang="zh-CN" dirty="0"/>
          </a:p>
          <a:p>
            <a:r>
              <a:rPr lang="zh-CN" altLang="zh-CN" dirty="0"/>
              <a:t>输出：月最小交易日和最大交易日列表</a:t>
            </a:r>
            <a:r>
              <a:rPr lang="en-US" altLang="zh-CN" dirty="0"/>
              <a:t>list1_m</a:t>
            </a:r>
            <a:r>
              <a:rPr lang="zh-CN" altLang="zh-CN" dirty="0"/>
              <a:t>和</a:t>
            </a:r>
            <a:r>
              <a:rPr lang="en-US" altLang="zh-CN" dirty="0"/>
              <a:t>list2_m</a:t>
            </a:r>
            <a:endParaRPr lang="zh-CN" altLang="zh-CN" dirty="0"/>
          </a:p>
          <a:p>
            <a:r>
              <a:rPr lang="en-US" altLang="zh-CN" dirty="0"/>
              <a:t>Step1</a:t>
            </a:r>
            <a:r>
              <a:rPr lang="zh-CN" altLang="zh-CN" dirty="0"/>
              <a:t>：定义空的列表</a:t>
            </a:r>
            <a:r>
              <a:rPr lang="en-US" altLang="zh-CN" dirty="0"/>
              <a:t>list1_m</a:t>
            </a:r>
            <a:r>
              <a:rPr lang="zh-CN" altLang="zh-CN" dirty="0"/>
              <a:t>和</a:t>
            </a:r>
            <a:r>
              <a:rPr lang="en-US" altLang="zh-CN" dirty="0"/>
              <a:t>list2_m</a:t>
            </a:r>
            <a:endParaRPr lang="zh-CN" altLang="zh-CN" dirty="0"/>
          </a:p>
          <a:p>
            <a:r>
              <a:rPr lang="en-US" altLang="zh-CN" dirty="0"/>
              <a:t>Step2</a:t>
            </a:r>
            <a:r>
              <a:rPr lang="zh-CN" altLang="zh-CN" dirty="0"/>
              <a:t>：</a:t>
            </a:r>
            <a:r>
              <a:rPr lang="en-US" altLang="zh-CN" dirty="0"/>
              <a:t>for month= 01 to 12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en-US" altLang="zh-CN" dirty="0" err="1"/>
              <a:t>sartdate</a:t>
            </a:r>
            <a:r>
              <a:rPr lang="en-US" altLang="zh-CN" dirty="0"/>
              <a:t>=2017-month-01   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en-US" altLang="zh-CN" dirty="0" err="1"/>
              <a:t>enddate</a:t>
            </a:r>
            <a:r>
              <a:rPr lang="en-US" altLang="zh-CN" dirty="0"/>
              <a:t>=2017-month-31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zh-CN" altLang="zh-CN" dirty="0"/>
              <a:t>取</a:t>
            </a:r>
            <a:r>
              <a:rPr lang="en-US" altLang="zh-CN" dirty="0"/>
              <a:t>date</a:t>
            </a:r>
            <a:r>
              <a:rPr lang="zh-CN" altLang="zh-CN" dirty="0"/>
              <a:t>中，交易日期在</a:t>
            </a:r>
            <a:r>
              <a:rPr lang="en-US" altLang="zh-CN" dirty="0" err="1"/>
              <a:t>sartdate</a:t>
            </a:r>
            <a:r>
              <a:rPr lang="zh-CN" altLang="zh-CN" dirty="0"/>
              <a:t>和</a:t>
            </a:r>
            <a:r>
              <a:rPr lang="en-US" altLang="zh-CN" dirty="0" err="1"/>
              <a:t>enddate</a:t>
            </a:r>
            <a:r>
              <a:rPr lang="zh-CN" altLang="zh-CN" dirty="0"/>
              <a:t>之间的数据，并按升序排序，则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个数据即为当月最小交易日期，添加到</a:t>
            </a:r>
            <a:r>
              <a:rPr lang="en-US" altLang="zh-CN" dirty="0"/>
              <a:t>list1</a:t>
            </a:r>
            <a:r>
              <a:rPr lang="zh-CN" altLang="zh-CN" dirty="0"/>
              <a:t>中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zh-CN" altLang="zh-CN" dirty="0"/>
              <a:t>最后</a:t>
            </a:r>
            <a:r>
              <a:rPr lang="en-US" altLang="zh-CN" dirty="0"/>
              <a:t>1</a:t>
            </a:r>
            <a:r>
              <a:rPr lang="zh-CN" altLang="zh-CN" dirty="0"/>
              <a:t>个数据即为当月最大交易日期，添加到</a:t>
            </a:r>
            <a:r>
              <a:rPr lang="en-US" altLang="zh-CN" dirty="0"/>
              <a:t>list2</a:t>
            </a:r>
            <a:r>
              <a:rPr lang="zh-CN" altLang="zh-CN" dirty="0"/>
              <a:t>中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27827" y="18466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2"/>
                </a:solidFill>
              </a:rPr>
              <a:t>7.2.3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8894" y="12168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月收益率计算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731836"/>
            <a:ext cx="10601349" cy="811215"/>
          </a:xfrm>
        </p:spPr>
        <p:txBody>
          <a:bodyPr/>
          <a:lstStyle/>
          <a:p>
            <a:r>
              <a:rPr lang="zh-CN" altLang="zh-CN" dirty="0"/>
              <a:t>示例代码如下：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500" y="1372870"/>
            <a:ext cx="4924425" cy="4872355"/>
          </a:xfrm>
        </p:spPr>
        <p:txBody>
          <a:bodyPr numCol="2"/>
          <a:lstStyle/>
          <a:p>
            <a:r>
              <a:rPr lang="en-US" altLang="zh-CN" dirty="0"/>
              <a:t>import pandas as pd                                     </a:t>
            </a:r>
            <a:endParaRPr lang="zh-CN" altLang="zh-CN" dirty="0"/>
          </a:p>
          <a:p>
            <a:r>
              <a:rPr lang="en-US" altLang="zh-CN" dirty="0"/>
              <a:t>x=</a:t>
            </a:r>
            <a:r>
              <a:rPr lang="en-US" altLang="zh-CN" dirty="0" err="1"/>
              <a:t>pd.read_excel</a:t>
            </a:r>
            <a:r>
              <a:rPr lang="en-US" altLang="zh-CN" dirty="0"/>
              <a:t>('TRD_Cale.xlsx')</a:t>
            </a:r>
            <a:endParaRPr lang="zh-CN" altLang="zh-CN" dirty="0"/>
          </a:p>
          <a:p>
            <a:r>
              <a:rPr lang="en-US" altLang="zh-CN" dirty="0"/>
              <a:t>list1_m=[]</a:t>
            </a:r>
            <a:endParaRPr lang="zh-CN" altLang="zh-CN" dirty="0"/>
          </a:p>
          <a:p>
            <a:r>
              <a:rPr lang="en-US" altLang="zh-CN" dirty="0"/>
              <a:t>list2_m=[]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  <a:endParaRPr lang="zh-CN" altLang="zh-CN" dirty="0"/>
          </a:p>
          <a:p>
            <a:r>
              <a:rPr lang="en-US" altLang="zh-CN" dirty="0"/>
              <a:t>for m in </a:t>
            </a:r>
            <a:r>
              <a:rPr lang="en-US" altLang="zh-CN" dirty="0" err="1"/>
              <a:t>np.arange</a:t>
            </a:r>
            <a:r>
              <a:rPr lang="en-US" altLang="zh-CN" dirty="0"/>
              <a:t>(1,13):</a:t>
            </a:r>
            <a:endParaRPr lang="zh-CN" altLang="zh-CN" dirty="0"/>
          </a:p>
          <a:p>
            <a:r>
              <a:rPr lang="en-US" altLang="zh-CN" dirty="0"/>
              <a:t>   if m&lt;10:</a:t>
            </a:r>
            <a:endParaRPr lang="zh-CN" altLang="zh-CN" dirty="0"/>
          </a:p>
          <a:p>
            <a:r>
              <a:rPr lang="en-US" altLang="zh-CN" dirty="0"/>
              <a:t>     d1='2017-0'+str(m)+'-01'</a:t>
            </a:r>
            <a:endParaRPr lang="zh-CN" altLang="zh-CN" dirty="0"/>
          </a:p>
          <a:p>
            <a:r>
              <a:rPr lang="en-US" altLang="zh-CN" dirty="0"/>
              <a:t>     d2='2017-0'+str(m)+'-31'</a:t>
            </a:r>
            <a:endParaRPr lang="zh-CN" altLang="zh-CN" dirty="0"/>
          </a:p>
          <a:p>
            <a:r>
              <a:rPr lang="en-US" altLang="zh-CN" dirty="0"/>
              <a:t>   else:</a:t>
            </a:r>
            <a:endParaRPr lang="zh-CN" altLang="zh-CN" dirty="0"/>
          </a:p>
          <a:p>
            <a:r>
              <a:rPr lang="en-US" altLang="zh-CN" dirty="0"/>
              <a:t>     d1='2017-'+str(m)+'-01'</a:t>
            </a:r>
            <a:endParaRPr lang="zh-CN" altLang="zh-CN" dirty="0"/>
          </a:p>
          <a:p>
            <a:r>
              <a:rPr lang="en-US" altLang="zh-CN" dirty="0"/>
              <a:t>     d2='2017-'+str(m)+'-31'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7.2.3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7861" y="14926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月收益率计算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7035165" y="1372870"/>
            <a:ext cx="4924425" cy="48723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34" tIns="45717" rIns="91434" bIns="45717" numCol="2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1"/>
                </a:solidFill>
                <a:latin typeface="+mn-lt"/>
                <a:ea typeface="仿宋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accent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ym typeface="+mn-ea"/>
              </a:rPr>
              <a:t>   I1=</a:t>
            </a:r>
            <a:r>
              <a:rPr lang="en-US" altLang="zh-CN" dirty="0" err="1">
                <a:sym typeface="+mn-ea"/>
              </a:rPr>
              <a:t>x.iloc</a:t>
            </a:r>
            <a:r>
              <a:rPr lang="en-US" altLang="zh-CN" dirty="0">
                <a:sym typeface="+mn-ea"/>
              </a:rPr>
              <a:t>[:,1]&gt;=d1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  I2=</a:t>
            </a:r>
            <a:r>
              <a:rPr lang="en-US" altLang="zh-CN" dirty="0" err="1">
                <a:sym typeface="+mn-ea"/>
              </a:rPr>
              <a:t>x.iloc</a:t>
            </a:r>
            <a:r>
              <a:rPr lang="en-US" altLang="zh-CN" dirty="0">
                <a:sym typeface="+mn-ea"/>
              </a:rPr>
              <a:t>[:,1]&lt;=d2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  I=I1&amp;I2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en-US" altLang="zh-CN" dirty="0" err="1">
                <a:sym typeface="+mn-ea"/>
              </a:rPr>
              <a:t>xs</a:t>
            </a:r>
            <a:r>
              <a:rPr lang="en-US" altLang="zh-CN" dirty="0">
                <a:sym typeface="+mn-ea"/>
              </a:rPr>
              <a:t>=</a:t>
            </a:r>
            <a:r>
              <a:rPr lang="en-US" altLang="zh-CN" dirty="0" err="1">
                <a:sym typeface="+mn-ea"/>
              </a:rPr>
              <a:t>x.iloc</a:t>
            </a:r>
            <a:r>
              <a:rPr lang="en-US" altLang="zh-CN" dirty="0">
                <a:sym typeface="+mn-ea"/>
              </a:rPr>
              <a:t>[</a:t>
            </a:r>
            <a:r>
              <a:rPr lang="en-US" altLang="zh-CN" dirty="0" err="1">
                <a:sym typeface="+mn-ea"/>
              </a:rPr>
              <a:t>I.values</a:t>
            </a:r>
            <a:r>
              <a:rPr lang="en-US" altLang="zh-CN" dirty="0">
                <a:sym typeface="+mn-ea"/>
              </a:rPr>
              <a:t>,[1]]['</a:t>
            </a:r>
            <a:r>
              <a:rPr lang="en-US" altLang="zh-CN" dirty="0" err="1">
                <a:sym typeface="+mn-ea"/>
              </a:rPr>
              <a:t>Clddt</a:t>
            </a:r>
            <a:r>
              <a:rPr lang="en-US" altLang="zh-CN" dirty="0">
                <a:sym typeface="+mn-ea"/>
              </a:rPr>
              <a:t>'].</a:t>
            </a:r>
            <a:r>
              <a:rPr lang="en-US" altLang="zh-CN" dirty="0" err="1">
                <a:sym typeface="+mn-ea"/>
              </a:rPr>
              <a:t>sort_values</a:t>
            </a:r>
            <a:r>
              <a:rPr lang="en-US" altLang="zh-CN" dirty="0">
                <a:sym typeface="+mn-ea"/>
              </a:rPr>
              <a:t>()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  if </a:t>
            </a:r>
            <a:r>
              <a:rPr lang="en-US" altLang="zh-CN" dirty="0" err="1">
                <a:sym typeface="+mn-ea"/>
              </a:rPr>
              <a:t>len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xs</a:t>
            </a:r>
            <a:r>
              <a:rPr lang="en-US" altLang="zh-CN" dirty="0">
                <a:sym typeface="+mn-ea"/>
              </a:rPr>
              <a:t>)&gt;1: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     list1_m.append(</a:t>
            </a:r>
            <a:r>
              <a:rPr lang="en-US" altLang="zh-CN" dirty="0" err="1">
                <a:sym typeface="+mn-ea"/>
              </a:rPr>
              <a:t>xs.values</a:t>
            </a:r>
            <a:r>
              <a:rPr lang="en-US" altLang="zh-CN" dirty="0">
                <a:sym typeface="+mn-ea"/>
              </a:rPr>
              <a:t>[0])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      list2_m.append(</a:t>
            </a:r>
            <a:r>
              <a:rPr lang="en-US" altLang="zh-CN" dirty="0" err="1">
                <a:sym typeface="+mn-ea"/>
              </a:rPr>
              <a:t>xs.values</a:t>
            </a:r>
            <a:r>
              <a:rPr lang="en-US" altLang="zh-CN" dirty="0">
                <a:sym typeface="+mn-ea"/>
              </a:rPr>
              <a:t>[</a:t>
            </a:r>
            <a:r>
              <a:rPr lang="en-US" altLang="zh-CN" dirty="0" err="1">
                <a:sym typeface="+mn-ea"/>
              </a:rPr>
              <a:t>len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xs</a:t>
            </a:r>
            <a:r>
              <a:rPr lang="en-US" altLang="zh-CN" dirty="0">
                <a:sym typeface="+mn-ea"/>
              </a:rPr>
              <a:t>)-1])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执行结果（部分）如图所示</a:t>
            </a:r>
            <a:r>
              <a:rPr lang="zh-CN" altLang="en-US" dirty="0"/>
              <a:t>：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417861" y="1988840"/>
            <a:ext cx="8496944" cy="3240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77288" y="5554834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</a:rPr>
              <a:t>图</a:t>
            </a:r>
            <a:r>
              <a:rPr lang="en-US" altLang="zh-CN" dirty="0">
                <a:solidFill>
                  <a:srgbClr val="000000"/>
                </a:solidFill>
              </a:rPr>
              <a:t>7-6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725" y="11663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7.2.3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7861" y="11663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月收益率计算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268760"/>
            <a:ext cx="10601349" cy="4968552"/>
          </a:xfrm>
        </p:spPr>
        <p:txBody>
          <a:bodyPr/>
          <a:lstStyle/>
          <a:p>
            <a:pPr marL="0" indent="457200">
              <a:buNone/>
            </a:pPr>
            <a:r>
              <a:rPr lang="zh-CN" altLang="zh-CN" sz="2400" dirty="0"/>
              <a:t>获得每月的最小交易日列表</a:t>
            </a:r>
            <a:r>
              <a:rPr lang="en-US" altLang="zh-CN" sz="2400" dirty="0"/>
              <a:t>list1_m</a:t>
            </a:r>
            <a:r>
              <a:rPr lang="zh-CN" altLang="zh-CN" sz="2400" dirty="0"/>
              <a:t>和最大交易日列表</a:t>
            </a:r>
            <a:r>
              <a:rPr lang="en-US" altLang="zh-CN" sz="2400" dirty="0"/>
              <a:t>list2_m</a:t>
            </a:r>
            <a:r>
              <a:rPr lang="zh-CN" altLang="zh-CN" sz="2400" dirty="0"/>
              <a:t>后，就可以通过循环的方式，依次取最大交易日和最小交易日对应的收盘指数，利用月收益率计算公式计算即可获得月收益率指标数据。</a:t>
            </a:r>
            <a:endParaRPr lang="en-US" altLang="zh-CN" sz="2400" dirty="0"/>
          </a:p>
          <a:p>
            <a:pPr marL="0" indent="457200">
              <a:buNone/>
            </a:pPr>
            <a:r>
              <a:rPr lang="zh-CN" altLang="zh-CN" sz="2400" dirty="0"/>
              <a:t>示例代码如下：</a:t>
            </a:r>
            <a:endParaRPr lang="zh-CN" altLang="zh-CN" sz="2400" dirty="0"/>
          </a:p>
          <a:p>
            <a:r>
              <a:rPr lang="en-US" altLang="zh-CN" dirty="0"/>
              <a:t>data=</a:t>
            </a:r>
            <a:r>
              <a:rPr lang="en-US" altLang="zh-CN" dirty="0" err="1"/>
              <a:t>pd.read_excel</a:t>
            </a:r>
            <a:r>
              <a:rPr lang="en-US" altLang="zh-CN" dirty="0"/>
              <a:t>('IDX_Idxtrd.xlsx')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  <a:endParaRPr lang="zh-CN" altLang="zh-CN" dirty="0"/>
          </a:p>
          <a:p>
            <a:r>
              <a:rPr lang="en-US" altLang="zh-CN" dirty="0"/>
              <a:t>r=</a:t>
            </a:r>
            <a:r>
              <a:rPr lang="en-US" altLang="zh-CN" dirty="0" err="1"/>
              <a:t>np.zeros</a:t>
            </a:r>
            <a:r>
              <a:rPr lang="en-US" altLang="zh-CN" dirty="0"/>
              <a:t>(</a:t>
            </a:r>
            <a:r>
              <a:rPr lang="en-US" altLang="zh-CN" dirty="0" err="1"/>
              <a:t>len</a:t>
            </a:r>
            <a:r>
              <a:rPr lang="en-US" altLang="zh-CN" dirty="0"/>
              <a:t>(list1_m))</a:t>
            </a:r>
            <a:endParaRPr lang="zh-CN" altLang="zh-CN" dirty="0"/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(list1_m)):</a:t>
            </a:r>
            <a:endParaRPr lang="zh-CN" altLang="zh-CN" dirty="0"/>
          </a:p>
          <a:p>
            <a:r>
              <a:rPr lang="en-US" altLang="zh-CN" dirty="0"/>
              <a:t>    p1=</a:t>
            </a:r>
            <a:r>
              <a:rPr lang="en-US" altLang="zh-CN" dirty="0" err="1"/>
              <a:t>data.loc</a:t>
            </a:r>
            <a:r>
              <a:rPr lang="en-US" altLang="zh-CN" dirty="0"/>
              <a:t>[data['Idxtrd01'].values==list1_m[</a:t>
            </a:r>
            <a:r>
              <a:rPr lang="en-US" altLang="zh-CN" dirty="0" err="1"/>
              <a:t>i</a:t>
            </a:r>
            <a:r>
              <a:rPr lang="en-US" altLang="zh-CN" dirty="0"/>
              <a:t>],'Idxtrd05'].values</a:t>
            </a:r>
            <a:endParaRPr lang="zh-CN" altLang="zh-CN" dirty="0"/>
          </a:p>
          <a:p>
            <a:r>
              <a:rPr lang="en-US" altLang="zh-CN" dirty="0"/>
              <a:t>    p2=</a:t>
            </a:r>
            <a:r>
              <a:rPr lang="en-US" altLang="zh-CN" dirty="0" err="1"/>
              <a:t>data.loc</a:t>
            </a:r>
            <a:r>
              <a:rPr lang="en-US" altLang="zh-CN" dirty="0"/>
              <a:t>[data['Idxtrd01'].values==list2_m[</a:t>
            </a:r>
            <a:r>
              <a:rPr lang="en-US" altLang="zh-CN" dirty="0" err="1"/>
              <a:t>i</a:t>
            </a:r>
            <a:r>
              <a:rPr lang="en-US" altLang="zh-CN" dirty="0"/>
              <a:t>],'Idxtrd05'].values</a:t>
            </a:r>
            <a:endParaRPr lang="zh-CN" altLang="zh-CN" dirty="0"/>
          </a:p>
          <a:p>
            <a:r>
              <a:rPr lang="en-US" altLang="zh-CN" dirty="0"/>
              <a:t>    r[</a:t>
            </a:r>
            <a:r>
              <a:rPr lang="en-US" altLang="zh-CN" dirty="0" err="1"/>
              <a:t>i</a:t>
            </a:r>
            <a:r>
              <a:rPr lang="en-US" altLang="zh-CN" dirty="0"/>
              <a:t>]=(p2-p1)/p1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93725" y="11663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7.2.3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5853" y="11663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月收益率计算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6" y="908051"/>
            <a:ext cx="5272756" cy="635000"/>
          </a:xfrm>
        </p:spPr>
        <p:txBody>
          <a:bodyPr/>
          <a:lstStyle/>
          <a:p>
            <a:r>
              <a:rPr lang="zh-CN" altLang="zh-CN" dirty="0"/>
              <a:t>执行结果（部分）如图</a:t>
            </a:r>
            <a:r>
              <a:rPr lang="en-US" altLang="zh-CN" dirty="0"/>
              <a:t>7-7</a:t>
            </a:r>
            <a:r>
              <a:rPr lang="zh-CN" altLang="zh-CN" dirty="0"/>
              <a:t>所示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8381" y="1600201"/>
            <a:ext cx="5328593" cy="4525963"/>
          </a:xfrm>
        </p:spPr>
        <p:txBody>
          <a:bodyPr/>
          <a:lstStyle/>
          <a:p>
            <a:pPr marL="0" indent="457200">
              <a:lnSpc>
                <a:spcPct val="150000"/>
              </a:lnSpc>
              <a:buNone/>
            </a:pPr>
            <a:r>
              <a:rPr lang="zh-CN" altLang="zh-CN" sz="2400" dirty="0"/>
              <a:t>比如要计算第</a:t>
            </a:r>
            <a:r>
              <a:rPr lang="en-US" altLang="zh-CN" sz="2400" dirty="0"/>
              <a:t>0</a:t>
            </a:r>
            <a:r>
              <a:rPr lang="zh-CN" altLang="zh-CN" sz="2400" dirty="0"/>
              <a:t>月的收益率数据，结合图</a:t>
            </a:r>
            <a:r>
              <a:rPr lang="en-US" altLang="zh-CN" sz="2400" dirty="0"/>
              <a:t>7-6</a:t>
            </a:r>
            <a:r>
              <a:rPr lang="zh-CN" altLang="zh-CN" sz="2400" dirty="0"/>
              <a:t>所示，可以即取第</a:t>
            </a:r>
            <a:r>
              <a:rPr lang="en-US" altLang="zh-CN" sz="2400" dirty="0"/>
              <a:t>0</a:t>
            </a:r>
            <a:r>
              <a:rPr lang="zh-CN" altLang="zh-CN" sz="2400" dirty="0"/>
              <a:t>月的最大交易日</a:t>
            </a:r>
            <a:r>
              <a:rPr lang="en-US" altLang="zh-CN" sz="2400" dirty="0"/>
              <a:t>2017-01-26</a:t>
            </a:r>
            <a:r>
              <a:rPr lang="zh-CN" altLang="zh-CN" sz="2400" dirty="0"/>
              <a:t>对应的收盘指数为</a:t>
            </a:r>
            <a:r>
              <a:rPr lang="en-US" altLang="zh-CN" sz="2400" dirty="0"/>
              <a:t>3308.06</a:t>
            </a:r>
            <a:r>
              <a:rPr lang="zh-CN" altLang="zh-CN" sz="2400" dirty="0"/>
              <a:t>减去第</a:t>
            </a:r>
            <a:r>
              <a:rPr lang="en-US" altLang="zh-CN" sz="2400" dirty="0"/>
              <a:t>0</a:t>
            </a:r>
            <a:r>
              <a:rPr lang="zh-CN" altLang="zh-CN" sz="2400" dirty="0"/>
              <a:t>月最小交易日</a:t>
            </a:r>
            <a:r>
              <a:rPr lang="en-US" altLang="zh-CN" sz="2400" dirty="0"/>
              <a:t>2017-01-03</a:t>
            </a:r>
            <a:r>
              <a:rPr lang="zh-CN" altLang="zh-CN" sz="2400" dirty="0"/>
              <a:t>对应的收盘指数</a:t>
            </a:r>
            <a:r>
              <a:rPr lang="en-US" altLang="zh-CN" sz="2400" dirty="0"/>
              <a:t>3283.45</a:t>
            </a:r>
            <a:r>
              <a:rPr lang="zh-CN" altLang="zh-CN" sz="2400" dirty="0"/>
              <a:t>再除以第</a:t>
            </a:r>
            <a:r>
              <a:rPr lang="en-US" altLang="zh-CN" sz="2400" dirty="0"/>
              <a:t>0</a:t>
            </a:r>
            <a:r>
              <a:rPr lang="zh-CN" altLang="zh-CN" sz="2400" dirty="0"/>
              <a:t>月最小交易日</a:t>
            </a:r>
            <a:r>
              <a:rPr lang="en-US" altLang="zh-CN" sz="2400" dirty="0"/>
              <a:t>2017-01-03</a:t>
            </a:r>
            <a:r>
              <a:rPr lang="zh-CN" altLang="zh-CN" sz="2400" dirty="0"/>
              <a:t>对应的收盘指数</a:t>
            </a:r>
            <a:r>
              <a:rPr lang="en-US" altLang="zh-CN" sz="2400" dirty="0"/>
              <a:t>3283.45</a:t>
            </a:r>
            <a:r>
              <a:rPr lang="zh-CN" altLang="zh-CN" sz="2400" dirty="0"/>
              <a:t>，就可以得到月收益率指标数据为：</a:t>
            </a:r>
            <a:r>
              <a:rPr lang="en-US" altLang="zh-CN" sz="2400" dirty="0"/>
              <a:t>0.00749517</a:t>
            </a:r>
            <a:r>
              <a:rPr lang="zh-CN" altLang="zh-CN" sz="2400" dirty="0"/>
              <a:t>。</a:t>
            </a:r>
            <a:endParaRPr lang="zh-CN" altLang="zh-CN" sz="2400" dirty="0"/>
          </a:p>
          <a:p>
            <a:endParaRPr lang="zh-CN" altLang="en-US" dirty="0"/>
          </a:p>
        </p:txBody>
      </p:sp>
      <p:pic>
        <p:nvPicPr>
          <p:cNvPr id="8" name="图片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4574" y="1513707"/>
            <a:ext cx="4523727" cy="501163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1717" y="11663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8F8F8"/>
                </a:solidFill>
              </a:rPr>
              <a:t>7.2.3</a:t>
            </a:r>
            <a:endParaRPr lang="zh-CN" altLang="en-US" dirty="0">
              <a:solidFill>
                <a:srgbClr val="F8F8F8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45853" y="11663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8F8F8"/>
                </a:solidFill>
              </a:rPr>
              <a:t>月收益率计算</a:t>
            </a:r>
            <a:endParaRPr lang="zh-CN" altLang="en-US" dirty="0">
              <a:solidFill>
                <a:srgbClr val="F8F8F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3608</Words>
  <Application>WPS 演示</Application>
  <PresentationFormat>自定义</PresentationFormat>
  <Paragraphs>346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仿宋_GB2312</vt:lpstr>
      <vt:lpstr>Calibri</vt:lpstr>
      <vt:lpstr>Calibri</vt:lpstr>
      <vt:lpstr>Times New Roman</vt:lpstr>
      <vt:lpstr>Arial Unicode MS</vt:lpstr>
      <vt:lpstr>仿宋</vt:lpstr>
      <vt:lpstr>第一PPT，www.1ppt.com</vt:lpstr>
      <vt:lpstr>PowerPoint 演示文稿</vt:lpstr>
      <vt:lpstr>计算上证A股指数（代码：000002）2017年的周收益率和月收益率指标数据。其中周收益率和月收益率指标计算公式如下：</vt:lpstr>
      <vt:lpstr>     本案例使用的交易日历表（表名：TRD_Cale）和指数日交易数据表（表名：IDX_Idxtrd）数据均来源于CSMAR国泰安数据库，其表结构如下： </vt:lpstr>
      <vt:lpstr>PowerPoint 演示文稿</vt:lpstr>
      <vt:lpstr>          由于我们获取的数据为日行情交易数据，无法直接计算周收益率，需要对交易日历数据进行处理，即找出每周的最大交易日和最小交易日。从交易日历表的星期（Daywk）字段可以看出，当前星期值比下一个星期值大，其对应的交易日即为本周的最大交易日，下一个星期值对应的交易日即为下周的最小交易日。因此，寻找周最大交易日和最小交易日的算法如下：   </vt:lpstr>
      <vt:lpstr>代码如下：</vt:lpstr>
      <vt:lpstr>获得每周的最小交易日列表list1和最大交易日列表list2后，就可以通过循环的方式，依次取最大交易日和最小交易日对应的收盘指数，利用前面介绍的公式计算即可获得周收益率指标数据。</vt:lpstr>
      <vt:lpstr>执行结果如图所示：</vt:lpstr>
      <vt:lpstr>基于日指数行情交易数据无法直接计算月收益率，需要对交易日历数据进行处理。由于交易数据为2017年，即找出2017年每月的最大交易日和最小交易日。具体寻找算法如下：</vt:lpstr>
      <vt:lpstr>示例代码如下： </vt:lpstr>
      <vt:lpstr>执行结果（部分）如图所示：</vt:lpstr>
      <vt:lpstr>PowerPoint 演示文稿</vt:lpstr>
      <vt:lpstr>执行结果（部分）如图7-7所示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Administrator</cp:lastModifiedBy>
  <cp:revision>1588</cp:revision>
  <dcterms:created xsi:type="dcterms:W3CDTF">2013-01-25T01:44:00Z</dcterms:created>
  <dcterms:modified xsi:type="dcterms:W3CDTF">2020-01-12T13:01:53Z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