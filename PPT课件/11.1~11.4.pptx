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2019/12/5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en-US" altLang="zh-CN" dirty="0" smtClean="0"/>
              <a:t>11.1 </a:t>
            </a:r>
            <a:r>
              <a:rPr lang="zh-CN" altLang="en-US" dirty="0" smtClean="0"/>
              <a:t>案例</a:t>
            </a:r>
            <a:r>
              <a:rPr lang="zh-CN" altLang="en-US" dirty="0"/>
              <a:t>背景</a:t>
            </a:r>
          </a:p>
        </p:txBody>
      </p:sp>
      <p:sp>
        <p:nvSpPr>
          <p:cNvPr id="5" name="内容占位符 4"/>
          <p:cNvSpPr>
            <a:spLocks noGrp="1"/>
          </p:cNvSpPr>
          <p:nvPr>
            <p:ph idx="1"/>
          </p:nvPr>
        </p:nvSpPr>
        <p:spPr/>
        <p:txBody>
          <a:bodyPr>
            <a:normAutofit fontScale="77500" lnSpcReduction="20000"/>
          </a:bodyPr>
          <a:lstStyle/>
          <a:p>
            <a:r>
              <a:rPr lang="zh-CN" altLang="en-US" dirty="0"/>
              <a:t>行业之间存在着相互关联，比如农林业与家具建材行业、石油与化工行业等，它们之间要么存在着上下游关系，要么你中有我，我中有你，相互关联及影响着。由于受国家的产业政策变化、经济大环境的影响，在股票上涨、下跌和调整的过程中，出现不同行业板块齐涨齐跌、同升同落的现象，这种现象被称为行业联动现象。行业联动是行业轮动的基础，行业轮动即一个或多个是行业的涨跌会引起未来某个行业上涨或者下跌的一种现象。分析行业之间的联动与轮动现象，找出其规律，对投资者、国家管理部门等均具有非常积极的指导意义。下面基于申银万国行业指数交易数据，分别从日、周、月三种不同的时间周期分析其行业的联动现象与轮动现象，并提取有价值的行业轮动关联规则，在此基础上设计其量化投资策略。</a:t>
            </a:r>
          </a:p>
        </p:txBody>
      </p:sp>
    </p:spTree>
    <p:extLst>
      <p:ext uri="{BB962C8B-B14F-4D97-AF65-F5344CB8AC3E}">
        <p14:creationId xmlns:p14="http://schemas.microsoft.com/office/powerpoint/2010/main" val="110931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11.2 </a:t>
            </a:r>
            <a:r>
              <a:rPr lang="zh-CN" altLang="en-US" dirty="0"/>
              <a:t>案例目标及实现思路</a:t>
            </a:r>
          </a:p>
        </p:txBody>
      </p:sp>
      <p:sp>
        <p:nvSpPr>
          <p:cNvPr id="3" name="内容占位符 2"/>
          <p:cNvSpPr>
            <a:spLocks noGrp="1"/>
          </p:cNvSpPr>
          <p:nvPr>
            <p:ph idx="1"/>
          </p:nvPr>
        </p:nvSpPr>
        <p:spPr/>
        <p:txBody>
          <a:bodyPr/>
          <a:lstStyle/>
          <a:p>
            <a:r>
              <a:rPr lang="zh-CN" altLang="en-US" dirty="0"/>
              <a:t>案例的主要目标是通过分析申银万国行业交易指数的联动与轮动现象，获得有意义的行业轮动关联规则，并在此基础上设计量化投资策略。由于行业联动是行业轮动的分析基础，因此我们均给出了日、周、月三个维度的行业联动与行业轮动分析。案例具体实现思路及计算流程如下图所示</a:t>
            </a:r>
          </a:p>
        </p:txBody>
      </p:sp>
    </p:spTree>
    <p:extLst>
      <p:ext uri="{BB962C8B-B14F-4D97-AF65-F5344CB8AC3E}">
        <p14:creationId xmlns:p14="http://schemas.microsoft.com/office/powerpoint/2010/main" val="391278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3103181" y="176881"/>
            <a:ext cx="2376264" cy="64807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行业联动与轮动分析</a:t>
            </a:r>
          </a:p>
        </p:txBody>
      </p:sp>
      <p:cxnSp>
        <p:nvCxnSpPr>
          <p:cNvPr id="12" name="直接箭头连接符 11"/>
          <p:cNvCxnSpPr>
            <a:stCxn id="4" idx="2"/>
          </p:cNvCxnSpPr>
          <p:nvPr/>
        </p:nvCxnSpPr>
        <p:spPr>
          <a:xfrm>
            <a:off x="4291313" y="824953"/>
            <a:ext cx="0" cy="8758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1660974" y="824953"/>
            <a:ext cx="247898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4" idx="2"/>
          </p:cNvCxnSpPr>
          <p:nvPr/>
        </p:nvCxnSpPr>
        <p:spPr>
          <a:xfrm>
            <a:off x="4291313" y="824953"/>
            <a:ext cx="2728959"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圆角矩形 17"/>
          <p:cNvSpPr/>
          <p:nvPr/>
        </p:nvSpPr>
        <p:spPr>
          <a:xfrm rot="10800000" flipH="1" flipV="1">
            <a:off x="467544" y="1700808"/>
            <a:ext cx="2386862" cy="108012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日行业联动与轮动分析</a:t>
            </a:r>
          </a:p>
          <a:p>
            <a:pPr algn="ctr"/>
            <a:r>
              <a:rPr lang="zh-CN" altLang="en-US" dirty="0">
                <a:solidFill>
                  <a:schemeClr val="tx1"/>
                </a:solidFill>
              </a:rPr>
              <a:t>数据区间：</a:t>
            </a:r>
            <a:r>
              <a:rPr lang="en-US" altLang="zh-CN" dirty="0">
                <a:solidFill>
                  <a:schemeClr val="tx1"/>
                </a:solidFill>
              </a:rPr>
              <a:t>2010</a:t>
            </a:r>
            <a:r>
              <a:rPr lang="zh-CN" altLang="en-US" dirty="0">
                <a:solidFill>
                  <a:schemeClr val="tx1"/>
                </a:solidFill>
              </a:rPr>
              <a:t>年</a:t>
            </a:r>
            <a:r>
              <a:rPr lang="en-US" altLang="zh-CN" dirty="0">
                <a:solidFill>
                  <a:schemeClr val="tx1"/>
                </a:solidFill>
              </a:rPr>
              <a:t>~2017</a:t>
            </a:r>
            <a:r>
              <a:rPr lang="zh-CN" altLang="en-US" dirty="0">
                <a:solidFill>
                  <a:schemeClr val="tx1"/>
                </a:solidFill>
              </a:rPr>
              <a:t>年</a:t>
            </a:r>
            <a:r>
              <a:rPr lang="en-US" altLang="zh-CN" dirty="0">
                <a:solidFill>
                  <a:schemeClr val="tx1"/>
                </a:solidFill>
              </a:rPr>
              <a:t>3</a:t>
            </a:r>
            <a:r>
              <a:rPr lang="zh-CN" altLang="en-US" dirty="0">
                <a:solidFill>
                  <a:schemeClr val="tx1"/>
                </a:solidFill>
              </a:rPr>
              <a:t>月</a:t>
            </a:r>
            <a:r>
              <a:rPr lang="en-US" altLang="zh-CN" dirty="0">
                <a:solidFill>
                  <a:schemeClr val="tx1"/>
                </a:solidFill>
              </a:rPr>
              <a:t>7</a:t>
            </a:r>
            <a:r>
              <a:rPr lang="zh-CN" altLang="en-US" dirty="0">
                <a:solidFill>
                  <a:schemeClr val="tx1"/>
                </a:solidFill>
              </a:rPr>
              <a:t>日</a:t>
            </a:r>
          </a:p>
        </p:txBody>
      </p:sp>
      <p:sp>
        <p:nvSpPr>
          <p:cNvPr id="22" name="圆角矩形 21"/>
          <p:cNvSpPr/>
          <p:nvPr/>
        </p:nvSpPr>
        <p:spPr>
          <a:xfrm>
            <a:off x="3359981" y="1700808"/>
            <a:ext cx="2376264" cy="108012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周行业联动与轮动分析</a:t>
            </a:r>
          </a:p>
          <a:p>
            <a:pPr algn="ctr"/>
            <a:r>
              <a:rPr lang="zh-CN" altLang="en-US" dirty="0">
                <a:solidFill>
                  <a:schemeClr val="tx1"/>
                </a:solidFill>
              </a:rPr>
              <a:t>数据区间：</a:t>
            </a:r>
            <a:r>
              <a:rPr lang="en-US" altLang="zh-CN" dirty="0">
                <a:solidFill>
                  <a:schemeClr val="tx1"/>
                </a:solidFill>
              </a:rPr>
              <a:t>2010</a:t>
            </a:r>
            <a:r>
              <a:rPr lang="zh-CN" altLang="en-US" dirty="0">
                <a:solidFill>
                  <a:schemeClr val="tx1"/>
                </a:solidFill>
              </a:rPr>
              <a:t>年</a:t>
            </a:r>
            <a:r>
              <a:rPr lang="en-US" altLang="zh-CN" dirty="0">
                <a:solidFill>
                  <a:schemeClr val="tx1"/>
                </a:solidFill>
              </a:rPr>
              <a:t>~2017</a:t>
            </a:r>
            <a:r>
              <a:rPr lang="zh-CN" altLang="en-US" dirty="0">
                <a:solidFill>
                  <a:schemeClr val="tx1"/>
                </a:solidFill>
              </a:rPr>
              <a:t>年</a:t>
            </a:r>
            <a:r>
              <a:rPr lang="en-US" altLang="zh-CN" dirty="0">
                <a:solidFill>
                  <a:schemeClr val="tx1"/>
                </a:solidFill>
              </a:rPr>
              <a:t>3</a:t>
            </a:r>
            <a:r>
              <a:rPr lang="zh-CN" altLang="en-US" dirty="0">
                <a:solidFill>
                  <a:schemeClr val="tx1"/>
                </a:solidFill>
              </a:rPr>
              <a:t>月</a:t>
            </a:r>
            <a:r>
              <a:rPr lang="en-US" altLang="zh-CN" dirty="0">
                <a:solidFill>
                  <a:schemeClr val="tx1"/>
                </a:solidFill>
              </a:rPr>
              <a:t>7</a:t>
            </a:r>
            <a:r>
              <a:rPr lang="zh-CN" altLang="en-US" dirty="0">
                <a:solidFill>
                  <a:schemeClr val="tx1"/>
                </a:solidFill>
              </a:rPr>
              <a:t>日</a:t>
            </a:r>
          </a:p>
        </p:txBody>
      </p:sp>
      <p:sp>
        <p:nvSpPr>
          <p:cNvPr id="23" name="圆角矩形 22"/>
          <p:cNvSpPr/>
          <p:nvPr/>
        </p:nvSpPr>
        <p:spPr>
          <a:xfrm>
            <a:off x="6156176" y="1700807"/>
            <a:ext cx="2376264" cy="108012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月行业联动与轮动分析</a:t>
            </a:r>
          </a:p>
          <a:p>
            <a:pPr algn="ctr"/>
            <a:r>
              <a:rPr lang="zh-CN" altLang="en-US" dirty="0">
                <a:solidFill>
                  <a:schemeClr val="tx1"/>
                </a:solidFill>
              </a:rPr>
              <a:t>数据区间：</a:t>
            </a:r>
            <a:r>
              <a:rPr lang="en-US" altLang="zh-CN" dirty="0">
                <a:solidFill>
                  <a:schemeClr val="tx1"/>
                </a:solidFill>
              </a:rPr>
              <a:t>2010</a:t>
            </a:r>
            <a:r>
              <a:rPr lang="zh-CN" altLang="en-US" dirty="0">
                <a:solidFill>
                  <a:schemeClr val="tx1"/>
                </a:solidFill>
              </a:rPr>
              <a:t>年</a:t>
            </a:r>
            <a:r>
              <a:rPr lang="en-US" altLang="zh-CN" dirty="0">
                <a:solidFill>
                  <a:schemeClr val="tx1"/>
                </a:solidFill>
              </a:rPr>
              <a:t>~2017</a:t>
            </a:r>
            <a:r>
              <a:rPr lang="zh-CN" altLang="en-US" dirty="0">
                <a:solidFill>
                  <a:schemeClr val="tx1"/>
                </a:solidFill>
              </a:rPr>
              <a:t>年</a:t>
            </a:r>
            <a:r>
              <a:rPr lang="en-US" altLang="zh-CN" dirty="0">
                <a:solidFill>
                  <a:schemeClr val="tx1"/>
                </a:solidFill>
              </a:rPr>
              <a:t>2</a:t>
            </a:r>
            <a:r>
              <a:rPr lang="zh-CN" altLang="en-US" dirty="0">
                <a:solidFill>
                  <a:schemeClr val="tx1"/>
                </a:solidFill>
              </a:rPr>
              <a:t>月</a:t>
            </a:r>
          </a:p>
        </p:txBody>
      </p:sp>
      <p:cxnSp>
        <p:nvCxnSpPr>
          <p:cNvPr id="30" name="直接箭头连接符 29"/>
          <p:cNvCxnSpPr>
            <a:stCxn id="18" idx="2"/>
          </p:cNvCxnSpPr>
          <p:nvPr/>
        </p:nvCxnSpPr>
        <p:spPr>
          <a:xfrm>
            <a:off x="1660975" y="2780928"/>
            <a:ext cx="2630338"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圆角矩形 31"/>
          <p:cNvSpPr/>
          <p:nvPr/>
        </p:nvSpPr>
        <p:spPr>
          <a:xfrm>
            <a:off x="2854406" y="3573016"/>
            <a:ext cx="3517794" cy="108012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获得有价值的行业轮动关联规则</a:t>
            </a:r>
          </a:p>
          <a:p>
            <a:pPr algn="ctr"/>
            <a:r>
              <a:rPr lang="zh-CN" altLang="en-US" dirty="0">
                <a:solidFill>
                  <a:schemeClr val="tx1"/>
                </a:solidFill>
              </a:rPr>
              <a:t>要求：置信度</a:t>
            </a:r>
            <a:r>
              <a:rPr lang="en-US" altLang="zh-CN" dirty="0">
                <a:solidFill>
                  <a:schemeClr val="tx1"/>
                </a:solidFill>
              </a:rPr>
              <a:t>&gt;0.7,</a:t>
            </a:r>
            <a:r>
              <a:rPr lang="zh-CN" altLang="en-US" dirty="0">
                <a:solidFill>
                  <a:schemeClr val="tx1"/>
                </a:solidFill>
              </a:rPr>
              <a:t>支持度</a:t>
            </a:r>
            <a:r>
              <a:rPr lang="en-US" altLang="zh-CN" dirty="0">
                <a:solidFill>
                  <a:schemeClr val="tx1"/>
                </a:solidFill>
              </a:rPr>
              <a:t>&gt;0.3</a:t>
            </a:r>
          </a:p>
        </p:txBody>
      </p:sp>
      <p:cxnSp>
        <p:nvCxnSpPr>
          <p:cNvPr id="37" name="直接箭头连接符 36"/>
          <p:cNvCxnSpPr/>
          <p:nvPr/>
        </p:nvCxnSpPr>
        <p:spPr>
          <a:xfrm>
            <a:off x="4427984" y="2780929"/>
            <a:ext cx="0" cy="6480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a:off x="4548114" y="2780929"/>
            <a:ext cx="2256134" cy="6480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4427984" y="4653136"/>
            <a:ext cx="0"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圆角矩形 44"/>
          <p:cNvSpPr/>
          <p:nvPr/>
        </p:nvSpPr>
        <p:spPr>
          <a:xfrm>
            <a:off x="467543" y="5157192"/>
            <a:ext cx="8064897" cy="136815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dirty="0" smtClean="0">
                <a:solidFill>
                  <a:schemeClr val="tx1"/>
                </a:solidFill>
              </a:rPr>
              <a:t>量化</a:t>
            </a:r>
            <a:r>
              <a:rPr lang="zh-CN" altLang="zh-CN" dirty="0">
                <a:solidFill>
                  <a:schemeClr val="tx1"/>
                </a:solidFill>
              </a:rPr>
              <a:t>投资策略</a:t>
            </a:r>
            <a:r>
              <a:rPr lang="zh-CN" altLang="zh-CN" dirty="0" smtClean="0">
                <a:solidFill>
                  <a:schemeClr val="tx1"/>
                </a:solidFill>
              </a:rPr>
              <a:t>设计</a:t>
            </a:r>
            <a:r>
              <a:rPr lang="en-US" altLang="zh-CN" dirty="0" smtClean="0">
                <a:solidFill>
                  <a:schemeClr val="tx1"/>
                </a:solidFill>
              </a:rPr>
              <a:t>:</a:t>
            </a:r>
            <a:endParaRPr lang="zh-CN" altLang="zh-CN" dirty="0">
              <a:solidFill>
                <a:schemeClr val="tx1"/>
              </a:solidFill>
            </a:endParaRPr>
          </a:p>
          <a:p>
            <a:r>
              <a:rPr lang="zh-CN" altLang="zh-CN" dirty="0">
                <a:solidFill>
                  <a:schemeClr val="tx1"/>
                </a:solidFill>
              </a:rPr>
              <a:t>假设满足条件的关联规则为：行业</a:t>
            </a:r>
            <a:r>
              <a:rPr lang="en-US" altLang="zh-CN" dirty="0">
                <a:solidFill>
                  <a:schemeClr val="tx1"/>
                </a:solidFill>
              </a:rPr>
              <a:t>A—&gt;</a:t>
            </a:r>
            <a:r>
              <a:rPr lang="zh-CN" altLang="zh-CN" dirty="0">
                <a:solidFill>
                  <a:schemeClr val="tx1"/>
                </a:solidFill>
              </a:rPr>
              <a:t>行业</a:t>
            </a:r>
            <a:r>
              <a:rPr lang="en-US" altLang="zh-CN" dirty="0">
                <a:solidFill>
                  <a:schemeClr val="tx1"/>
                </a:solidFill>
              </a:rPr>
              <a:t>B</a:t>
            </a:r>
            <a:r>
              <a:rPr lang="zh-CN" altLang="zh-CN" dirty="0">
                <a:solidFill>
                  <a:schemeClr val="tx1"/>
                </a:solidFill>
              </a:rPr>
              <a:t>，则如果行业</a:t>
            </a:r>
            <a:r>
              <a:rPr lang="en-US" altLang="zh-CN" dirty="0">
                <a:solidFill>
                  <a:schemeClr val="tx1"/>
                </a:solidFill>
              </a:rPr>
              <a:t>A</a:t>
            </a:r>
            <a:r>
              <a:rPr lang="zh-CN" altLang="zh-CN" dirty="0">
                <a:solidFill>
                  <a:schemeClr val="tx1"/>
                </a:solidFill>
              </a:rPr>
              <a:t>当前分析期上涨，取行业</a:t>
            </a:r>
            <a:r>
              <a:rPr lang="en-US" altLang="zh-CN" dirty="0">
                <a:solidFill>
                  <a:schemeClr val="tx1"/>
                </a:solidFill>
              </a:rPr>
              <a:t>B</a:t>
            </a:r>
            <a:r>
              <a:rPr lang="zh-CN" altLang="zh-CN" dirty="0">
                <a:solidFill>
                  <a:schemeClr val="tx1"/>
                </a:solidFill>
              </a:rPr>
              <a:t>综合排名前</a:t>
            </a:r>
            <a:r>
              <a:rPr lang="en-US" altLang="zh-CN" dirty="0">
                <a:solidFill>
                  <a:schemeClr val="tx1"/>
                </a:solidFill>
              </a:rPr>
              <a:t>20</a:t>
            </a:r>
            <a:r>
              <a:rPr lang="zh-CN" altLang="zh-CN" dirty="0">
                <a:solidFill>
                  <a:schemeClr val="tx1"/>
                </a:solidFill>
              </a:rPr>
              <a:t>的股票构建投资组合，以下个分析期作为持有期，计算该组合的投资收益率，并与沪深</a:t>
            </a:r>
            <a:r>
              <a:rPr lang="en-US" altLang="zh-CN" dirty="0">
                <a:solidFill>
                  <a:schemeClr val="tx1"/>
                </a:solidFill>
              </a:rPr>
              <a:t>300</a:t>
            </a:r>
            <a:r>
              <a:rPr lang="zh-CN" altLang="zh-CN" dirty="0">
                <a:solidFill>
                  <a:schemeClr val="tx1"/>
                </a:solidFill>
              </a:rPr>
              <a:t>指数同期收益率进行比较</a:t>
            </a:r>
          </a:p>
          <a:p>
            <a:endParaRPr lang="zh-CN" altLang="en-US" dirty="0"/>
          </a:p>
        </p:txBody>
      </p:sp>
    </p:spTree>
    <p:extLst>
      <p:ext uri="{BB962C8B-B14F-4D97-AF65-F5344CB8AC3E}">
        <p14:creationId xmlns:p14="http://schemas.microsoft.com/office/powerpoint/2010/main" val="2179389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4000" dirty="0"/>
              <a:t>11.3 </a:t>
            </a:r>
            <a:r>
              <a:rPr lang="zh-CN" altLang="en-US" sz="4000" dirty="0"/>
              <a:t>数据获取</a:t>
            </a:r>
          </a:p>
        </p:txBody>
      </p:sp>
      <p:sp>
        <p:nvSpPr>
          <p:cNvPr id="3" name="内容占位符 2"/>
          <p:cNvSpPr>
            <a:spLocks noGrp="1"/>
          </p:cNvSpPr>
          <p:nvPr>
            <p:ph idx="1"/>
          </p:nvPr>
        </p:nvSpPr>
        <p:spPr/>
        <p:txBody>
          <a:bodyPr>
            <a:normAutofit fontScale="85000" lnSpcReduction="20000"/>
          </a:bodyPr>
          <a:lstStyle/>
          <a:p>
            <a:r>
              <a:rPr lang="zh-CN" altLang="en-US" dirty="0"/>
              <a:t>以申银万国行业指数日行情数据为基础，分析行业的联动现象与轮动现象。申银万国指数行业包括农林牧渔、采掘、化工、商业贸易、黑色金属、有色金属、纺织服装、建筑建材、电子元器件、食品饮料、公用事业、信息服务、交运设备、综合、医药生物、建筑材料、房地产、建筑装饰、电气设备、机械设备、国防军工、金融服务、家用电器、计算机、传媒、通信、信息设备、轻工制造、餐饮旅游、银行、非银金融、汽车、交通运输、机械设备等</a:t>
            </a:r>
            <a:r>
              <a:rPr lang="en-US" altLang="zh-CN" dirty="0"/>
              <a:t>34</a:t>
            </a:r>
            <a:r>
              <a:rPr lang="zh-CN" altLang="en-US" dirty="0"/>
              <a:t>个行业。数据区间取</a:t>
            </a:r>
            <a:r>
              <a:rPr lang="en-US" altLang="zh-CN" dirty="0"/>
              <a:t>2010</a:t>
            </a:r>
            <a:r>
              <a:rPr lang="zh-CN" altLang="en-US" dirty="0"/>
              <a:t>年</a:t>
            </a:r>
            <a:r>
              <a:rPr lang="en-US" altLang="zh-CN" dirty="0"/>
              <a:t>1</a:t>
            </a:r>
            <a:r>
              <a:rPr lang="zh-CN" altLang="en-US" dirty="0"/>
              <a:t>月</a:t>
            </a:r>
            <a:r>
              <a:rPr lang="en-US" altLang="zh-CN" dirty="0"/>
              <a:t>4</a:t>
            </a:r>
            <a:r>
              <a:rPr lang="zh-CN" altLang="en-US" dirty="0"/>
              <a:t>日至</a:t>
            </a:r>
            <a:r>
              <a:rPr lang="en-US" altLang="zh-CN" dirty="0"/>
              <a:t>2017</a:t>
            </a:r>
            <a:r>
              <a:rPr lang="zh-CN" altLang="en-US" dirty="0"/>
              <a:t>年</a:t>
            </a:r>
            <a:r>
              <a:rPr lang="en-US" altLang="zh-CN" dirty="0"/>
              <a:t>3</a:t>
            </a:r>
            <a:r>
              <a:rPr lang="zh-CN" altLang="en-US" dirty="0"/>
              <a:t>月</a:t>
            </a:r>
            <a:r>
              <a:rPr lang="en-US" altLang="zh-CN" dirty="0"/>
              <a:t>7</a:t>
            </a:r>
            <a:r>
              <a:rPr lang="zh-CN" altLang="en-US" dirty="0"/>
              <a:t>日，共</a:t>
            </a:r>
            <a:r>
              <a:rPr lang="en-US" altLang="zh-CN" dirty="0"/>
              <a:t>1741</a:t>
            </a:r>
            <a:r>
              <a:rPr lang="zh-CN" altLang="en-US" dirty="0"/>
              <a:t>个交易日，不足</a:t>
            </a:r>
            <a:r>
              <a:rPr lang="en-US" altLang="zh-CN" dirty="0"/>
              <a:t>1741</a:t>
            </a:r>
            <a:r>
              <a:rPr lang="zh-CN" altLang="en-US" dirty="0"/>
              <a:t>个交易日的行业指数剔除，最终得到</a:t>
            </a:r>
            <a:r>
              <a:rPr lang="en-US" altLang="zh-CN" dirty="0"/>
              <a:t>28</a:t>
            </a:r>
            <a:r>
              <a:rPr lang="zh-CN" altLang="en-US" dirty="0"/>
              <a:t>个行业指数。所有分析数据均来源于国泰安</a:t>
            </a:r>
            <a:r>
              <a:rPr lang="en-US" altLang="zh-CN" dirty="0"/>
              <a:t>CSMAR</a:t>
            </a:r>
            <a:r>
              <a:rPr lang="zh-CN" altLang="en-US" dirty="0"/>
              <a:t>数据库，具体数据表包括：</a:t>
            </a:r>
          </a:p>
        </p:txBody>
      </p:sp>
    </p:spTree>
    <p:extLst>
      <p:ext uri="{BB962C8B-B14F-4D97-AF65-F5344CB8AC3E}">
        <p14:creationId xmlns:p14="http://schemas.microsoft.com/office/powerpoint/2010/main" val="480726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1472726943"/>
              </p:ext>
            </p:extLst>
          </p:nvPr>
        </p:nvGraphicFramePr>
        <p:xfrm>
          <a:off x="899592" y="1124744"/>
          <a:ext cx="7416822" cy="4023360"/>
        </p:xfrm>
        <a:graphic>
          <a:graphicData uri="http://schemas.openxmlformats.org/drawingml/2006/table">
            <a:tbl>
              <a:tblPr firstRow="1" firstCol="1" bandRow="1"/>
              <a:tblGrid>
                <a:gridCol w="2099100"/>
                <a:gridCol w="2295018"/>
                <a:gridCol w="1511352"/>
                <a:gridCol w="1511352"/>
              </a:tblGrid>
              <a:tr h="346948">
                <a:tc>
                  <a:txBody>
                    <a:bodyPr/>
                    <a:lstStyle/>
                    <a:p>
                      <a:pPr algn="l">
                        <a:spcAft>
                          <a:spcPts val="0"/>
                        </a:spcAft>
                      </a:pPr>
                      <a:r>
                        <a:rPr lang="en-US" sz="2400" kern="0" dirty="0" err="1">
                          <a:solidFill>
                            <a:srgbClr val="000000"/>
                          </a:solidFill>
                          <a:effectLst/>
                          <a:latin typeface="宋体"/>
                          <a:ea typeface="宋体"/>
                          <a:cs typeface="宋体"/>
                        </a:rPr>
                        <a:t>Markettype</a:t>
                      </a:r>
                      <a:endParaRPr lang="zh-CN" sz="2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a:solidFill>
                            <a:srgbClr val="000000"/>
                          </a:solidFill>
                          <a:effectLst/>
                          <a:latin typeface="宋体"/>
                          <a:ea typeface="宋体"/>
                          <a:cs typeface="宋体"/>
                        </a:rPr>
                        <a:t>Clddt</a:t>
                      </a:r>
                      <a:endParaRPr lang="zh-CN" sz="2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dirty="0" err="1">
                          <a:solidFill>
                            <a:srgbClr val="000000"/>
                          </a:solidFill>
                          <a:effectLst/>
                          <a:latin typeface="宋体"/>
                          <a:ea typeface="宋体"/>
                          <a:cs typeface="宋体"/>
                        </a:rPr>
                        <a:t>Daywk</a:t>
                      </a:r>
                      <a:endParaRPr lang="zh-CN" sz="2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a:solidFill>
                            <a:srgbClr val="000000"/>
                          </a:solidFill>
                          <a:effectLst/>
                          <a:latin typeface="宋体"/>
                          <a:ea typeface="宋体"/>
                          <a:cs typeface="宋体"/>
                        </a:rPr>
                        <a:t>State</a:t>
                      </a:r>
                      <a:endParaRPr lang="zh-CN" sz="2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948">
                <a:tc>
                  <a:txBody>
                    <a:bodyPr/>
                    <a:lstStyle/>
                    <a:p>
                      <a:pPr algn="l">
                        <a:spcAft>
                          <a:spcPts val="0"/>
                        </a:spcAft>
                      </a:pPr>
                      <a:r>
                        <a:rPr lang="en-US" sz="2400" kern="0" dirty="0">
                          <a:solidFill>
                            <a:srgbClr val="000000"/>
                          </a:solidFill>
                          <a:effectLst/>
                          <a:latin typeface="宋体"/>
                          <a:ea typeface="宋体"/>
                          <a:cs typeface="宋体"/>
                        </a:rPr>
                        <a:t>1</a:t>
                      </a:r>
                      <a:endParaRPr lang="zh-CN" sz="2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2400" kern="0">
                          <a:solidFill>
                            <a:srgbClr val="000000"/>
                          </a:solidFill>
                          <a:effectLst/>
                          <a:latin typeface="宋体"/>
                          <a:ea typeface="宋体"/>
                          <a:cs typeface="宋体"/>
                        </a:rPr>
                        <a:t>2010-01-04</a:t>
                      </a:r>
                      <a:endParaRPr lang="zh-CN" sz="2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346948">
                <a:tc>
                  <a:txBody>
                    <a:bodyPr/>
                    <a:lstStyle/>
                    <a:p>
                      <a:pPr algn="l">
                        <a:spcAft>
                          <a:spcPts val="0"/>
                        </a:spcAft>
                      </a:pPr>
                      <a:r>
                        <a:rPr lang="en-US" sz="2400" kern="0" dirty="0">
                          <a:solidFill>
                            <a:srgbClr val="000000"/>
                          </a:solidFill>
                          <a:effectLst/>
                          <a:latin typeface="宋体"/>
                          <a:ea typeface="宋体"/>
                          <a:cs typeface="宋体"/>
                        </a:rPr>
                        <a:t>1</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2010-01-05</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2</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2010-01-06</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3</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2010-01-07</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4</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2010-01-08</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5</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dirty="0">
                          <a:solidFill>
                            <a:srgbClr val="000000"/>
                          </a:solidFill>
                          <a:effectLst/>
                          <a:latin typeface="宋体"/>
                          <a:ea typeface="宋体"/>
                          <a:cs typeface="宋体"/>
                        </a:rPr>
                        <a:t>1</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2010-01-11</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1</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2010-01-12</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2</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2010-01-13</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3</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O</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en-US" sz="2400" kern="0">
                          <a:solidFill>
                            <a:srgbClr val="000000"/>
                          </a:solidFill>
                          <a:effectLst/>
                          <a:latin typeface="宋体"/>
                          <a:ea typeface="宋体"/>
                          <a:cs typeface="宋体"/>
                        </a:rPr>
                        <a:t>1</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2010-01-14</a:t>
                      </a:r>
                      <a:endParaRPr lang="zh-CN" sz="2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dirty="0">
                          <a:solidFill>
                            <a:srgbClr val="000000"/>
                          </a:solidFill>
                          <a:effectLst/>
                          <a:latin typeface="宋体"/>
                          <a:ea typeface="宋体"/>
                          <a:cs typeface="宋体"/>
                        </a:rPr>
                        <a:t>4</a:t>
                      </a:r>
                      <a:endParaRPr lang="zh-CN" sz="2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2400" kern="0">
                          <a:solidFill>
                            <a:srgbClr val="000000"/>
                          </a:solidFill>
                          <a:effectLst/>
                          <a:latin typeface="宋体"/>
                          <a:ea typeface="宋体"/>
                          <a:cs typeface="宋体"/>
                        </a:rPr>
                        <a:t>O</a:t>
                      </a:r>
                      <a:endParaRPr lang="zh-CN" sz="2400" kern="100">
                        <a:effectLst/>
                        <a:latin typeface="Calibri"/>
                        <a:ea typeface="宋体"/>
                        <a:cs typeface="Times New Roman"/>
                      </a:endParaRPr>
                    </a:p>
                  </a:txBody>
                  <a:tcPr marL="68580" marR="68580" marT="0" marB="0" anchor="b">
                    <a:lnL>
                      <a:noFill/>
                    </a:lnL>
                    <a:lnR>
                      <a:noFill/>
                    </a:lnR>
                    <a:lnT>
                      <a:noFill/>
                    </a:lnT>
                    <a:lnB>
                      <a:noFill/>
                    </a:lnB>
                  </a:tcPr>
                </a:tc>
              </a:tr>
              <a:tr h="346948">
                <a:tc>
                  <a:txBody>
                    <a:bodyPr/>
                    <a:lstStyle/>
                    <a:p>
                      <a:pPr algn="l">
                        <a:spcAft>
                          <a:spcPts val="0"/>
                        </a:spcAft>
                      </a:pPr>
                      <a:r>
                        <a:rPr lang="zh-CN" sz="2400" kern="0">
                          <a:solidFill>
                            <a:srgbClr val="000000"/>
                          </a:solidFill>
                          <a:effectLst/>
                          <a:latin typeface="Calibri"/>
                          <a:ea typeface="宋体"/>
                          <a:cs typeface="宋体"/>
                        </a:rPr>
                        <a:t>……</a:t>
                      </a:r>
                      <a:endParaRPr lang="zh-CN" sz="2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400" kern="0" dirty="0">
                          <a:solidFill>
                            <a:srgbClr val="000000"/>
                          </a:solidFill>
                          <a:effectLst/>
                          <a:latin typeface="Calibri"/>
                          <a:ea typeface="宋体"/>
                          <a:cs typeface="宋体"/>
                        </a:rPr>
                        <a:t>……</a:t>
                      </a:r>
                      <a:endParaRPr lang="zh-CN" sz="24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400" kern="0">
                          <a:solidFill>
                            <a:srgbClr val="000000"/>
                          </a:solidFill>
                          <a:effectLst/>
                          <a:latin typeface="Calibri"/>
                          <a:ea typeface="宋体"/>
                          <a:cs typeface="宋体"/>
                        </a:rPr>
                        <a:t>……</a:t>
                      </a:r>
                      <a:endParaRPr lang="zh-CN" sz="2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400" kern="0" dirty="0">
                          <a:solidFill>
                            <a:srgbClr val="000000"/>
                          </a:solidFill>
                          <a:effectLst/>
                          <a:latin typeface="Calibri"/>
                          <a:ea typeface="宋体"/>
                          <a:cs typeface="宋体"/>
                        </a:rPr>
                        <a:t>……</a:t>
                      </a:r>
                      <a:endParaRPr lang="zh-CN" sz="24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3059832" y="548680"/>
            <a:ext cx="2736304" cy="369332"/>
          </a:xfrm>
          <a:prstGeom prst="rect">
            <a:avLst/>
          </a:prstGeom>
          <a:noFill/>
        </p:spPr>
        <p:txBody>
          <a:bodyPr wrap="square" rtlCol="0">
            <a:spAutoFit/>
          </a:bodyPr>
          <a:lstStyle/>
          <a:p>
            <a:r>
              <a:rPr lang="zh-CN" altLang="en-US" dirty="0"/>
              <a:t>表</a:t>
            </a:r>
            <a:r>
              <a:rPr lang="en-US" altLang="zh-CN" dirty="0"/>
              <a:t>11-1     </a:t>
            </a:r>
            <a:r>
              <a:rPr lang="zh-CN" altLang="en-US" dirty="0"/>
              <a:t>交易日历数据表</a:t>
            </a:r>
          </a:p>
        </p:txBody>
      </p:sp>
      <p:sp>
        <p:nvSpPr>
          <p:cNvPr id="8" name="TextBox 7"/>
          <p:cNvSpPr txBox="1"/>
          <p:nvPr/>
        </p:nvSpPr>
        <p:spPr>
          <a:xfrm>
            <a:off x="899592" y="5301208"/>
            <a:ext cx="7416824" cy="923330"/>
          </a:xfrm>
          <a:prstGeom prst="rect">
            <a:avLst/>
          </a:prstGeom>
          <a:noFill/>
        </p:spPr>
        <p:txBody>
          <a:bodyPr wrap="square" rtlCol="0">
            <a:spAutoFit/>
          </a:bodyPr>
          <a:lstStyle/>
          <a:p>
            <a:r>
              <a:rPr lang="zh-CN" altLang="en-US" dirty="0"/>
              <a:t>其中</a:t>
            </a:r>
            <a:r>
              <a:rPr lang="en-US" altLang="zh-CN" dirty="0" err="1"/>
              <a:t>Markettype</a:t>
            </a:r>
            <a:r>
              <a:rPr lang="zh-CN" altLang="en-US" dirty="0"/>
              <a:t>表示市场类型，</a:t>
            </a:r>
            <a:r>
              <a:rPr lang="en-US" altLang="zh-CN" dirty="0"/>
              <a:t>1-</a:t>
            </a:r>
            <a:r>
              <a:rPr lang="zh-CN" altLang="en-US" dirty="0"/>
              <a:t>表示上海市场（上交所）；</a:t>
            </a:r>
            <a:r>
              <a:rPr lang="en-US" altLang="zh-CN" dirty="0" err="1"/>
              <a:t>Clddt</a:t>
            </a:r>
            <a:r>
              <a:rPr lang="zh-CN" altLang="en-US" dirty="0"/>
              <a:t>表示日期；</a:t>
            </a:r>
            <a:r>
              <a:rPr lang="en-US" altLang="zh-CN" dirty="0" err="1"/>
              <a:t>Daywk</a:t>
            </a:r>
            <a:r>
              <a:rPr lang="zh-CN" altLang="en-US" dirty="0"/>
              <a:t>表示星期；</a:t>
            </a:r>
            <a:r>
              <a:rPr lang="en-US" altLang="zh-CN" dirty="0"/>
              <a:t>State</a:t>
            </a:r>
            <a:r>
              <a:rPr lang="zh-CN" altLang="en-US" dirty="0"/>
              <a:t>表示开市状态，</a:t>
            </a:r>
            <a:r>
              <a:rPr lang="en-US" altLang="zh-CN" dirty="0"/>
              <a:t>O-</a:t>
            </a:r>
            <a:r>
              <a:rPr lang="zh-CN" altLang="en-US" dirty="0"/>
              <a:t>表示开市。本数据表选择了上交所</a:t>
            </a:r>
            <a:r>
              <a:rPr lang="en-US" altLang="zh-CN" dirty="0"/>
              <a:t>2010</a:t>
            </a:r>
            <a:r>
              <a:rPr lang="zh-CN" altLang="en-US" dirty="0"/>
              <a:t>年</a:t>
            </a:r>
            <a:r>
              <a:rPr lang="en-US" altLang="zh-CN" dirty="0"/>
              <a:t>1</a:t>
            </a:r>
            <a:r>
              <a:rPr lang="zh-CN" altLang="en-US" dirty="0"/>
              <a:t>月</a:t>
            </a:r>
            <a:r>
              <a:rPr lang="en-US" altLang="zh-CN" dirty="0"/>
              <a:t>4</a:t>
            </a:r>
            <a:r>
              <a:rPr lang="zh-CN" altLang="en-US" dirty="0"/>
              <a:t>日至</a:t>
            </a:r>
            <a:r>
              <a:rPr lang="en-US" altLang="zh-CN" dirty="0"/>
              <a:t>2017</a:t>
            </a:r>
            <a:r>
              <a:rPr lang="zh-CN" altLang="en-US" dirty="0"/>
              <a:t>年每日开市日期数据。</a:t>
            </a:r>
          </a:p>
        </p:txBody>
      </p:sp>
    </p:spTree>
    <p:extLst>
      <p:ext uri="{BB962C8B-B14F-4D97-AF65-F5344CB8AC3E}">
        <p14:creationId xmlns:p14="http://schemas.microsoft.com/office/powerpoint/2010/main" val="2148669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612881056"/>
              </p:ext>
            </p:extLst>
          </p:nvPr>
        </p:nvGraphicFramePr>
        <p:xfrm>
          <a:off x="1187624" y="908720"/>
          <a:ext cx="7128791" cy="3672413"/>
        </p:xfrm>
        <a:graphic>
          <a:graphicData uri="http://schemas.openxmlformats.org/drawingml/2006/table">
            <a:tbl>
              <a:tblPr firstRow="1" firstCol="1" bandRow="1"/>
              <a:tblGrid>
                <a:gridCol w="1054743"/>
                <a:gridCol w="1437370"/>
                <a:gridCol w="4636678"/>
              </a:tblGrid>
              <a:tr h="369706">
                <a:tc>
                  <a:txBody>
                    <a:bodyPr/>
                    <a:lstStyle/>
                    <a:p>
                      <a:pPr algn="l">
                        <a:spcAft>
                          <a:spcPts val="0"/>
                        </a:spcAft>
                      </a:pPr>
                      <a:r>
                        <a:rPr lang="en-US" sz="1600" kern="0" dirty="0" err="1">
                          <a:effectLst/>
                          <a:latin typeface="宋体"/>
                          <a:ea typeface="宋体"/>
                          <a:cs typeface="宋体"/>
                        </a:rPr>
                        <a:t>Indexcd</a:t>
                      </a:r>
                      <a:endParaRPr lang="zh-CN" sz="16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dirty="0">
                          <a:effectLst/>
                          <a:latin typeface="宋体"/>
                          <a:ea typeface="宋体"/>
                          <a:cs typeface="宋体"/>
                        </a:rPr>
                        <a:t>Idxinfo01</a:t>
                      </a:r>
                      <a:endParaRPr lang="zh-CN" sz="16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solidFill>
                            <a:srgbClr val="000000"/>
                          </a:solidFill>
                          <a:effectLst/>
                          <a:latin typeface="宋体"/>
                          <a:ea typeface="宋体"/>
                          <a:cs typeface="宋体"/>
                        </a:rPr>
                        <a:t>Idxinfo04</a:t>
                      </a:r>
                      <a:endParaRPr lang="zh-CN" sz="16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706">
                <a:tc>
                  <a:txBody>
                    <a:bodyPr/>
                    <a:lstStyle/>
                    <a:p>
                      <a:pPr algn="l">
                        <a:spcAft>
                          <a:spcPts val="0"/>
                        </a:spcAft>
                      </a:pPr>
                      <a:r>
                        <a:rPr lang="en-US" sz="1600" kern="0" dirty="0">
                          <a:solidFill>
                            <a:srgbClr val="000000"/>
                          </a:solidFill>
                          <a:effectLst/>
                          <a:latin typeface="宋体"/>
                          <a:ea typeface="宋体"/>
                          <a:cs typeface="宋体"/>
                        </a:rPr>
                        <a:t>801010</a:t>
                      </a:r>
                      <a:endParaRPr lang="zh-CN" sz="16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600" kern="0" dirty="0">
                          <a:solidFill>
                            <a:srgbClr val="000000"/>
                          </a:solidFill>
                          <a:effectLst/>
                          <a:latin typeface="Calibri"/>
                          <a:ea typeface="宋体"/>
                          <a:cs typeface="宋体"/>
                        </a:rPr>
                        <a:t>农林牧渔</a:t>
                      </a:r>
                      <a:endParaRPr lang="zh-CN" sz="16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345059">
                <a:tc>
                  <a:txBody>
                    <a:bodyPr/>
                    <a:lstStyle/>
                    <a:p>
                      <a:pPr algn="l">
                        <a:spcAft>
                          <a:spcPts val="0"/>
                        </a:spcAft>
                      </a:pPr>
                      <a:r>
                        <a:rPr lang="en-US" sz="1600" kern="0">
                          <a:solidFill>
                            <a:srgbClr val="000000"/>
                          </a:solidFill>
                          <a:effectLst/>
                          <a:latin typeface="宋体"/>
                          <a:ea typeface="宋体"/>
                          <a:cs typeface="宋体"/>
                        </a:rPr>
                        <a:t>801020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采掘</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801030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化工</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801040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黑色金属</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801050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有色金属</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801060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建筑建材</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801070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机械设备</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algn="l">
                        <a:spcAft>
                          <a:spcPts val="0"/>
                        </a:spcAft>
                      </a:pPr>
                      <a:r>
                        <a:rPr lang="en-US" sz="1600" kern="0">
                          <a:solidFill>
                            <a:srgbClr val="000000"/>
                          </a:solidFill>
                          <a:effectLst/>
                          <a:latin typeface="宋体"/>
                          <a:ea typeface="宋体"/>
                          <a:cs typeface="宋体"/>
                        </a:rPr>
                        <a:t>801080</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a:solidFill>
                            <a:srgbClr val="000000"/>
                          </a:solidFill>
                          <a:effectLst/>
                          <a:latin typeface="Calibri"/>
                          <a:ea typeface="宋体"/>
                          <a:cs typeface="宋体"/>
                        </a:rPr>
                        <a:t>电子元器件</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zh-CN" sz="1600" kern="0" dirty="0">
                          <a:solidFill>
                            <a:srgbClr val="000000"/>
                          </a:solidFill>
                          <a:effectLst/>
                          <a:latin typeface="Calibri"/>
                          <a:ea typeface="宋体"/>
                          <a:cs typeface="宋体"/>
                        </a:rPr>
                        <a:t>申银万国股价系列指数由申银万国行业股价……</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369706">
                <a:tc>
                  <a:txBody>
                    <a:bodyPr/>
                    <a:lstStyle/>
                    <a:p>
                      <a:pPr marR="279400" algn="l">
                        <a:spcAft>
                          <a:spcPts val="0"/>
                        </a:spcAft>
                      </a:pPr>
                      <a:r>
                        <a:rPr lang="zh-CN" sz="1600" kern="0">
                          <a:solidFill>
                            <a:srgbClr val="000000"/>
                          </a:solidFill>
                          <a:effectLst/>
                          <a:latin typeface="Calibri"/>
                          <a:ea typeface="宋体"/>
                          <a:cs typeface="宋体"/>
                        </a:rPr>
                        <a:t>……</a:t>
                      </a:r>
                      <a:endParaRPr lang="zh-CN" sz="16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a:solidFill>
                            <a:srgbClr val="000000"/>
                          </a:solidFill>
                          <a:effectLst/>
                          <a:latin typeface="Calibri"/>
                          <a:ea typeface="宋体"/>
                          <a:cs typeface="宋体"/>
                        </a:rPr>
                        <a:t>……</a:t>
                      </a:r>
                      <a:endParaRPr lang="zh-CN" sz="16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solidFill>
                            <a:srgbClr val="000000"/>
                          </a:solidFill>
                          <a:effectLst/>
                          <a:latin typeface="Calibri"/>
                          <a:ea typeface="宋体"/>
                          <a:cs typeface="宋体"/>
                        </a:rPr>
                        <a:t>……</a:t>
                      </a:r>
                      <a:endParaRPr lang="zh-CN" sz="16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3419872" y="476672"/>
            <a:ext cx="2808312" cy="369332"/>
          </a:xfrm>
          <a:prstGeom prst="rect">
            <a:avLst/>
          </a:prstGeom>
          <a:noFill/>
        </p:spPr>
        <p:txBody>
          <a:bodyPr wrap="square" rtlCol="0">
            <a:spAutoFit/>
          </a:bodyPr>
          <a:lstStyle/>
          <a:p>
            <a:r>
              <a:rPr lang="zh-CN" altLang="en-US" dirty="0"/>
              <a:t>表</a:t>
            </a:r>
            <a:r>
              <a:rPr lang="en-US" altLang="zh-CN" dirty="0"/>
              <a:t>11-2   </a:t>
            </a:r>
            <a:r>
              <a:rPr lang="zh-CN" altLang="en-US" dirty="0"/>
              <a:t>指数基本信息表</a:t>
            </a:r>
          </a:p>
        </p:txBody>
      </p:sp>
      <p:sp>
        <p:nvSpPr>
          <p:cNvPr id="4" name="TextBox 3"/>
          <p:cNvSpPr txBox="1"/>
          <p:nvPr/>
        </p:nvSpPr>
        <p:spPr>
          <a:xfrm>
            <a:off x="1115616" y="4869160"/>
            <a:ext cx="7704856" cy="369332"/>
          </a:xfrm>
          <a:prstGeom prst="rect">
            <a:avLst/>
          </a:prstGeom>
          <a:noFill/>
        </p:spPr>
        <p:txBody>
          <a:bodyPr wrap="square" rtlCol="0">
            <a:spAutoFit/>
          </a:bodyPr>
          <a:lstStyle/>
          <a:p>
            <a:r>
              <a:rPr lang="zh-CN" altLang="en-US" dirty="0"/>
              <a:t>其中</a:t>
            </a:r>
            <a:r>
              <a:rPr lang="en-US" altLang="zh-CN" dirty="0" err="1"/>
              <a:t>Indexcd</a:t>
            </a:r>
            <a:r>
              <a:rPr lang="zh-CN" altLang="en-US" dirty="0"/>
              <a:t>表示指数代码、</a:t>
            </a:r>
            <a:r>
              <a:rPr lang="en-US" altLang="zh-CN" dirty="0"/>
              <a:t>Idxinfo01</a:t>
            </a:r>
            <a:r>
              <a:rPr lang="zh-CN" altLang="en-US" dirty="0"/>
              <a:t>指数名称、</a:t>
            </a:r>
            <a:r>
              <a:rPr lang="en-US" altLang="zh-CN" dirty="0"/>
              <a:t>Idxinfo04</a:t>
            </a:r>
            <a:r>
              <a:rPr lang="zh-CN" altLang="en-US" dirty="0"/>
              <a:t>表示指数简介</a:t>
            </a:r>
          </a:p>
        </p:txBody>
      </p:sp>
    </p:spTree>
    <p:extLst>
      <p:ext uri="{BB962C8B-B14F-4D97-AF65-F5344CB8AC3E}">
        <p14:creationId xmlns:p14="http://schemas.microsoft.com/office/powerpoint/2010/main" val="1903299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2323334138"/>
              </p:ext>
            </p:extLst>
          </p:nvPr>
        </p:nvGraphicFramePr>
        <p:xfrm>
          <a:off x="1547664" y="260648"/>
          <a:ext cx="5760641" cy="2592290"/>
        </p:xfrm>
        <a:graphic>
          <a:graphicData uri="http://schemas.openxmlformats.org/drawingml/2006/table">
            <a:tbl>
              <a:tblPr firstRow="1" firstCol="1" bandRow="1"/>
              <a:tblGrid>
                <a:gridCol w="1977536"/>
                <a:gridCol w="2216851"/>
                <a:gridCol w="1566254"/>
              </a:tblGrid>
              <a:tr h="259229">
                <a:tc>
                  <a:txBody>
                    <a:bodyPr/>
                    <a:lstStyle/>
                    <a:p>
                      <a:pPr algn="l">
                        <a:spcAft>
                          <a:spcPts val="0"/>
                        </a:spcAft>
                      </a:pPr>
                      <a:r>
                        <a:rPr lang="zh-CN" sz="1600" kern="0" dirty="0">
                          <a:solidFill>
                            <a:srgbClr val="000000"/>
                          </a:solidFill>
                          <a:effectLst/>
                          <a:latin typeface="Calibri"/>
                          <a:ea typeface="宋体"/>
                          <a:cs typeface="宋体"/>
                        </a:rPr>
                        <a:t>指数代码</a:t>
                      </a:r>
                      <a:endParaRPr lang="zh-CN" sz="1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a:solidFill>
                            <a:srgbClr val="000000"/>
                          </a:solidFill>
                          <a:effectLst/>
                          <a:latin typeface="Calibri"/>
                          <a:ea typeface="宋体"/>
                          <a:cs typeface="宋体"/>
                        </a:rPr>
                        <a:t>交易日期</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a:effectLst/>
                          <a:latin typeface="Calibri"/>
                          <a:ea typeface="宋体"/>
                          <a:cs typeface="宋体"/>
                        </a:rPr>
                        <a:t>收盘指数</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229">
                <a:tc>
                  <a:txBody>
                    <a:bodyPr/>
                    <a:lstStyle/>
                    <a:p>
                      <a:pPr algn="l">
                        <a:spcAft>
                          <a:spcPts val="0"/>
                        </a:spcAft>
                      </a:pPr>
                      <a:r>
                        <a:rPr lang="en-US" sz="1600" kern="0" dirty="0">
                          <a:solidFill>
                            <a:srgbClr val="000000"/>
                          </a:solidFill>
                          <a:effectLst/>
                          <a:latin typeface="宋体"/>
                          <a:ea typeface="宋体"/>
                          <a:cs typeface="宋体"/>
                        </a:rPr>
                        <a:t>801010</a:t>
                      </a:r>
                      <a:endParaRPr lang="zh-CN" sz="1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0" dirty="0">
                          <a:solidFill>
                            <a:srgbClr val="000000"/>
                          </a:solidFill>
                          <a:effectLst/>
                          <a:latin typeface="宋体"/>
                          <a:ea typeface="宋体"/>
                          <a:cs typeface="宋体"/>
                        </a:rPr>
                        <a:t>2010-01-04</a:t>
                      </a:r>
                      <a:endParaRPr lang="zh-CN" sz="14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0">
                          <a:solidFill>
                            <a:srgbClr val="000000"/>
                          </a:solidFill>
                          <a:effectLst/>
                          <a:latin typeface="宋体"/>
                          <a:ea typeface="宋体"/>
                          <a:cs typeface="宋体"/>
                        </a:rPr>
                        <a:t>2058.27</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259229">
                <a:tc>
                  <a:txBody>
                    <a:bodyPr/>
                    <a:lstStyle/>
                    <a:p>
                      <a:pPr algn="l">
                        <a:spcAft>
                          <a:spcPts val="0"/>
                        </a:spcAft>
                      </a:pPr>
                      <a:r>
                        <a:rPr lang="en-US" sz="1600" kern="0" dirty="0">
                          <a:solidFill>
                            <a:srgbClr val="000000"/>
                          </a:solidFill>
                          <a:effectLst/>
                          <a:latin typeface="宋体"/>
                          <a:ea typeface="宋体"/>
                          <a:cs typeface="宋体"/>
                        </a:rPr>
                        <a:t>801010</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2010-01-05</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a:solidFill>
                            <a:srgbClr val="000000"/>
                          </a:solidFill>
                          <a:effectLst/>
                          <a:latin typeface="宋体"/>
                          <a:ea typeface="宋体"/>
                          <a:cs typeface="宋体"/>
                        </a:rPr>
                        <a:t>2081.28</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a:solidFill>
                            <a:srgbClr val="000000"/>
                          </a:solidFill>
                          <a:effectLst/>
                          <a:latin typeface="宋体"/>
                          <a:ea typeface="宋体"/>
                          <a:cs typeface="宋体"/>
                        </a:rPr>
                        <a:t>801010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2010-01-06</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2048.7</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dirty="0">
                          <a:solidFill>
                            <a:srgbClr val="000000"/>
                          </a:solidFill>
                          <a:effectLst/>
                          <a:latin typeface="宋体"/>
                          <a:ea typeface="宋体"/>
                          <a:cs typeface="宋体"/>
                        </a:rPr>
                        <a:t>801010</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2010-01-07</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1999.31</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a:solidFill>
                            <a:srgbClr val="000000"/>
                          </a:solidFill>
                          <a:effectLst/>
                          <a:latin typeface="宋体"/>
                          <a:ea typeface="宋体"/>
                          <a:cs typeface="宋体"/>
                        </a:rPr>
                        <a:t>801010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a:solidFill>
                            <a:srgbClr val="000000"/>
                          </a:solidFill>
                          <a:effectLst/>
                          <a:latin typeface="宋体"/>
                          <a:ea typeface="宋体"/>
                          <a:cs typeface="宋体"/>
                        </a:rPr>
                        <a:t>2010-01-08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2018.81</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a:solidFill>
                            <a:srgbClr val="000000"/>
                          </a:solidFill>
                          <a:effectLst/>
                          <a:latin typeface="宋体"/>
                          <a:ea typeface="宋体"/>
                          <a:cs typeface="宋体"/>
                        </a:rPr>
                        <a:t>801010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a:solidFill>
                            <a:srgbClr val="000000"/>
                          </a:solidFill>
                          <a:effectLst/>
                          <a:latin typeface="宋体"/>
                          <a:ea typeface="宋体"/>
                          <a:cs typeface="宋体"/>
                        </a:rPr>
                        <a:t>2010-01-11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2019.45</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a:solidFill>
                            <a:srgbClr val="000000"/>
                          </a:solidFill>
                          <a:effectLst/>
                          <a:latin typeface="宋体"/>
                          <a:ea typeface="宋体"/>
                          <a:cs typeface="宋体"/>
                        </a:rPr>
                        <a:t>801010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a:solidFill>
                            <a:srgbClr val="000000"/>
                          </a:solidFill>
                          <a:effectLst/>
                          <a:latin typeface="宋体"/>
                          <a:ea typeface="宋体"/>
                          <a:cs typeface="宋体"/>
                        </a:rPr>
                        <a:t>2010-01-12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2086.19</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en-US" sz="1600" kern="0">
                          <a:solidFill>
                            <a:srgbClr val="000000"/>
                          </a:solidFill>
                          <a:effectLst/>
                          <a:latin typeface="宋体"/>
                          <a:ea typeface="宋体"/>
                          <a:cs typeface="宋体"/>
                        </a:rPr>
                        <a:t>801010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a:solidFill>
                            <a:srgbClr val="000000"/>
                          </a:solidFill>
                          <a:effectLst/>
                          <a:latin typeface="宋体"/>
                          <a:ea typeface="宋体"/>
                          <a:cs typeface="宋体"/>
                        </a:rPr>
                        <a:t>2010-01-13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600" kern="0" dirty="0">
                          <a:solidFill>
                            <a:srgbClr val="000000"/>
                          </a:solidFill>
                          <a:effectLst/>
                          <a:latin typeface="宋体"/>
                          <a:ea typeface="宋体"/>
                          <a:cs typeface="宋体"/>
                        </a:rPr>
                        <a:t>2063.99</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r h="259229">
                <a:tc>
                  <a:txBody>
                    <a:bodyPr/>
                    <a:lstStyle/>
                    <a:p>
                      <a:pPr algn="l">
                        <a:spcAft>
                          <a:spcPts val="0"/>
                        </a:spcAft>
                      </a:pPr>
                      <a:r>
                        <a:rPr lang="zh-CN" sz="1600" kern="0">
                          <a:solidFill>
                            <a:srgbClr val="000000"/>
                          </a:solidFill>
                          <a:effectLst/>
                          <a:latin typeface="Calibri"/>
                          <a:ea typeface="宋体"/>
                          <a:cs typeface="宋体"/>
                        </a:rPr>
                        <a:t>……</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a:solidFill>
                            <a:srgbClr val="000000"/>
                          </a:solidFill>
                          <a:effectLst/>
                          <a:latin typeface="Calibri"/>
                          <a:ea typeface="宋体"/>
                          <a:cs typeface="宋体"/>
                        </a:rPr>
                        <a:t>……</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600" kern="0" dirty="0">
                          <a:solidFill>
                            <a:srgbClr val="000000"/>
                          </a:solidFill>
                          <a:effectLst/>
                          <a:latin typeface="Calibri"/>
                          <a:ea typeface="宋体"/>
                          <a:cs typeface="宋体"/>
                        </a:rPr>
                        <a:t>……</a:t>
                      </a:r>
                      <a:endParaRPr lang="zh-CN" sz="14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8" name="TextBox 7"/>
          <p:cNvSpPr txBox="1"/>
          <p:nvPr/>
        </p:nvSpPr>
        <p:spPr>
          <a:xfrm>
            <a:off x="611560" y="2996952"/>
            <a:ext cx="8064896" cy="1169551"/>
          </a:xfrm>
          <a:prstGeom prst="rect">
            <a:avLst/>
          </a:prstGeom>
          <a:noFill/>
        </p:spPr>
        <p:txBody>
          <a:bodyPr wrap="square" rtlCol="0">
            <a:spAutoFit/>
          </a:bodyPr>
          <a:lstStyle/>
          <a:p>
            <a:r>
              <a:rPr lang="zh-CN" altLang="en-US" sz="1400" dirty="0"/>
              <a:t>数据读取及满足条件的行业代码筛选示例代码如下：</a:t>
            </a:r>
          </a:p>
          <a:p>
            <a:r>
              <a:rPr lang="en-US" altLang="zh-CN" sz="1400" dirty="0"/>
              <a:t>import pandas as </a:t>
            </a:r>
            <a:r>
              <a:rPr lang="en-US" altLang="zh-CN" sz="1400" dirty="0" err="1"/>
              <a:t>pd</a:t>
            </a:r>
            <a:endParaRPr lang="en-US" altLang="zh-CN" sz="1400" dirty="0"/>
          </a:p>
          <a:p>
            <a:r>
              <a:rPr lang="en-US" altLang="zh-CN" sz="1400" dirty="0"/>
              <a:t>codename=</a:t>
            </a:r>
            <a:r>
              <a:rPr lang="en-US" altLang="zh-CN" sz="1400" dirty="0" err="1"/>
              <a:t>pd.read_excel</a:t>
            </a:r>
            <a:r>
              <a:rPr lang="en-US" altLang="zh-CN" sz="1400" dirty="0"/>
              <a:t>('</a:t>
            </a:r>
            <a:r>
              <a:rPr lang="zh-CN" altLang="en-US" sz="1400" dirty="0"/>
              <a:t>指数基本信息表</a:t>
            </a:r>
            <a:r>
              <a:rPr lang="en-US" altLang="zh-CN" sz="1400" dirty="0"/>
              <a:t>.</a:t>
            </a:r>
            <a:r>
              <a:rPr lang="en-US" altLang="zh-CN" sz="1400" dirty="0" err="1"/>
              <a:t>xlsx</a:t>
            </a:r>
            <a:r>
              <a:rPr lang="en-US" altLang="zh-CN" sz="1400" dirty="0"/>
              <a:t>')</a:t>
            </a:r>
          </a:p>
          <a:p>
            <a:r>
              <a:rPr lang="en-US" altLang="zh-CN" sz="1400" dirty="0" err="1"/>
              <a:t>sname</a:t>
            </a:r>
            <a:r>
              <a:rPr lang="en-US" altLang="zh-CN" sz="1400" dirty="0"/>
              <a:t>=</a:t>
            </a:r>
            <a:r>
              <a:rPr lang="en-US" altLang="zh-CN" sz="1400" dirty="0" err="1"/>
              <a:t>pd.Series</a:t>
            </a:r>
            <a:r>
              <a:rPr lang="en-US" altLang="zh-CN" sz="1400" dirty="0"/>
              <a:t>(list(</a:t>
            </a:r>
            <a:r>
              <a:rPr lang="en-US" altLang="zh-CN" sz="1400" dirty="0" err="1"/>
              <a:t>codename.iloc</a:t>
            </a:r>
            <a:r>
              <a:rPr lang="en-US" altLang="zh-CN" sz="1400" dirty="0"/>
              <a:t>[:,1]),index=</a:t>
            </a:r>
            <a:r>
              <a:rPr lang="en-US" altLang="zh-CN" sz="1400" dirty="0" err="1"/>
              <a:t>codename.iloc</a:t>
            </a:r>
            <a:r>
              <a:rPr lang="en-US" altLang="zh-CN" sz="1400" dirty="0"/>
              <a:t>[:,0])  </a:t>
            </a:r>
          </a:p>
          <a:p>
            <a:r>
              <a:rPr lang="zh-CN" altLang="en-US" sz="1400" dirty="0"/>
              <a:t>通过以上代码，我们获得了</a:t>
            </a:r>
            <a:r>
              <a:rPr lang="en-US" altLang="zh-CN" sz="1400" dirty="0"/>
              <a:t>34</a:t>
            </a:r>
            <a:r>
              <a:rPr lang="zh-CN" altLang="en-US" sz="1400" dirty="0"/>
              <a:t>个行业指数代码及名称，结果（部分）如图</a:t>
            </a:r>
            <a:r>
              <a:rPr lang="en-US" altLang="zh-CN" sz="1400" dirty="0"/>
              <a:t>11-1</a:t>
            </a:r>
            <a:r>
              <a:rPr lang="zh-CN" altLang="en-US" sz="1400" dirty="0"/>
              <a:t>所示。</a:t>
            </a:r>
          </a:p>
        </p:txBody>
      </p:sp>
      <p:pic>
        <p:nvPicPr>
          <p:cNvPr id="9" name="图片 8"/>
          <p:cNvPicPr/>
          <p:nvPr/>
        </p:nvPicPr>
        <p:blipFill>
          <a:blip r:embed="rId2" cstate="print"/>
          <a:stretch>
            <a:fillRect/>
          </a:stretch>
        </p:blipFill>
        <p:spPr>
          <a:xfrm>
            <a:off x="2699792" y="4166503"/>
            <a:ext cx="3456384" cy="2214825"/>
          </a:xfrm>
          <a:prstGeom prst="rect">
            <a:avLst/>
          </a:prstGeom>
        </p:spPr>
      </p:pic>
      <p:sp>
        <p:nvSpPr>
          <p:cNvPr id="11" name="TextBox 10"/>
          <p:cNvSpPr txBox="1"/>
          <p:nvPr/>
        </p:nvSpPr>
        <p:spPr>
          <a:xfrm>
            <a:off x="3203848" y="6525344"/>
            <a:ext cx="1080120" cy="369332"/>
          </a:xfrm>
          <a:prstGeom prst="rect">
            <a:avLst/>
          </a:prstGeom>
          <a:noFill/>
        </p:spPr>
        <p:txBody>
          <a:bodyPr wrap="square" rtlCol="0">
            <a:spAutoFit/>
          </a:bodyPr>
          <a:lstStyle/>
          <a:p>
            <a:r>
              <a:rPr lang="zh-CN" altLang="en-US" dirty="0"/>
              <a:t>图</a:t>
            </a:r>
            <a:r>
              <a:rPr lang="en-US" altLang="zh-CN" dirty="0"/>
              <a:t>11-1</a:t>
            </a:r>
            <a:endParaRPr lang="zh-CN" altLang="en-US" dirty="0"/>
          </a:p>
        </p:txBody>
      </p:sp>
    </p:spTree>
    <p:extLst>
      <p:ext uri="{BB962C8B-B14F-4D97-AF65-F5344CB8AC3E}">
        <p14:creationId xmlns:p14="http://schemas.microsoft.com/office/powerpoint/2010/main" val="254545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7544" y="188640"/>
            <a:ext cx="6408712" cy="1569660"/>
          </a:xfrm>
          <a:prstGeom prst="rect">
            <a:avLst/>
          </a:prstGeom>
          <a:noFill/>
        </p:spPr>
        <p:txBody>
          <a:bodyPr wrap="square" rtlCol="0">
            <a:spAutoFit/>
          </a:bodyPr>
          <a:lstStyle/>
          <a:p>
            <a:r>
              <a:rPr lang="zh-CN" altLang="en-US" sz="1600" dirty="0"/>
              <a:t>进一步地读取行情交易数据并筛选满足交易记录数为</a:t>
            </a:r>
            <a:r>
              <a:rPr lang="en-US" altLang="zh-CN" sz="1600" dirty="0"/>
              <a:t>1741</a:t>
            </a:r>
            <a:r>
              <a:rPr lang="zh-CN" altLang="en-US" sz="1600" dirty="0"/>
              <a:t>的行业指数代码，示例代码如下：</a:t>
            </a:r>
          </a:p>
          <a:p>
            <a:r>
              <a:rPr lang="en-US" altLang="zh-CN" sz="1600" dirty="0"/>
              <a:t>data=</a:t>
            </a:r>
            <a:r>
              <a:rPr lang="en-US" altLang="zh-CN" sz="1600" dirty="0" err="1"/>
              <a:t>pd.read_excel</a:t>
            </a:r>
            <a:r>
              <a:rPr lang="en-US" altLang="zh-CN" sz="1600" dirty="0"/>
              <a:t>('</a:t>
            </a:r>
            <a:r>
              <a:rPr lang="zh-CN" altLang="en-US" sz="1600" dirty="0"/>
              <a:t>指数交易数据表</a:t>
            </a:r>
            <a:r>
              <a:rPr lang="en-US" altLang="zh-CN" sz="1600" dirty="0"/>
              <a:t>.</a:t>
            </a:r>
            <a:r>
              <a:rPr lang="en-US" altLang="zh-CN" sz="1600" dirty="0" err="1"/>
              <a:t>xlsx</a:t>
            </a:r>
            <a:r>
              <a:rPr lang="en-US" altLang="zh-CN" sz="1600" dirty="0"/>
              <a:t>')</a:t>
            </a:r>
          </a:p>
          <a:p>
            <a:r>
              <a:rPr lang="en-US" altLang="zh-CN" sz="1600" dirty="0" err="1"/>
              <a:t>code_record</a:t>
            </a:r>
            <a:r>
              <a:rPr lang="en-US" altLang="zh-CN" sz="1600" dirty="0"/>
              <a:t>=</a:t>
            </a:r>
            <a:r>
              <a:rPr lang="en-US" altLang="zh-CN" sz="1600" dirty="0" err="1"/>
              <a:t>data.iloc</a:t>
            </a:r>
            <a:r>
              <a:rPr lang="en-US" altLang="zh-CN" sz="1600" dirty="0"/>
              <a:t>[:,0].</a:t>
            </a:r>
            <a:r>
              <a:rPr lang="en-US" altLang="zh-CN" sz="1600" dirty="0" err="1"/>
              <a:t>value_counts</a:t>
            </a:r>
            <a:r>
              <a:rPr lang="en-US" altLang="zh-CN" sz="1600" dirty="0"/>
              <a:t>()</a:t>
            </a:r>
          </a:p>
          <a:p>
            <a:r>
              <a:rPr lang="en-US" altLang="zh-CN" sz="1600" dirty="0"/>
              <a:t>code=list(</a:t>
            </a:r>
            <a:r>
              <a:rPr lang="en-US" altLang="zh-CN" sz="1600" dirty="0" err="1"/>
              <a:t>code_record</a:t>
            </a:r>
            <a:r>
              <a:rPr lang="en-US" altLang="zh-CN" sz="1600" dirty="0"/>
              <a:t>[</a:t>
            </a:r>
            <a:r>
              <a:rPr lang="en-US" altLang="zh-CN" sz="1600" dirty="0" err="1"/>
              <a:t>code_record</a:t>
            </a:r>
            <a:r>
              <a:rPr lang="en-US" altLang="zh-CN" sz="1600" dirty="0"/>
              <a:t>==1741].index)</a:t>
            </a:r>
          </a:p>
          <a:p>
            <a:r>
              <a:rPr lang="zh-CN" altLang="en-US" sz="1600" dirty="0"/>
              <a:t>最终，得到满足条件的行业代码，如图</a:t>
            </a:r>
            <a:r>
              <a:rPr lang="en-US" altLang="zh-CN" sz="1600" dirty="0"/>
              <a:t>11-2</a:t>
            </a:r>
            <a:r>
              <a:rPr lang="zh-CN" altLang="en-US" sz="1600" dirty="0"/>
              <a:t>所示。</a:t>
            </a:r>
          </a:p>
        </p:txBody>
      </p:sp>
      <p:pic>
        <p:nvPicPr>
          <p:cNvPr id="4" name="图片 3"/>
          <p:cNvPicPr/>
          <p:nvPr/>
        </p:nvPicPr>
        <p:blipFill>
          <a:blip r:embed="rId2" cstate="print"/>
          <a:stretch>
            <a:fillRect/>
          </a:stretch>
        </p:blipFill>
        <p:spPr>
          <a:xfrm>
            <a:off x="1115616" y="2100580"/>
            <a:ext cx="6768752" cy="4352756"/>
          </a:xfrm>
          <a:prstGeom prst="rect">
            <a:avLst/>
          </a:prstGeom>
        </p:spPr>
      </p:pic>
    </p:spTree>
    <p:extLst>
      <p:ext uri="{BB962C8B-B14F-4D97-AF65-F5344CB8AC3E}">
        <p14:creationId xmlns:p14="http://schemas.microsoft.com/office/powerpoint/2010/main" val="328412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11.4 </a:t>
            </a:r>
            <a:r>
              <a:rPr lang="zh-CN" altLang="en-US" sz="3200" dirty="0"/>
              <a:t>日行业联动与轮动分析</a:t>
            </a:r>
          </a:p>
        </p:txBody>
      </p:sp>
      <p:sp>
        <p:nvSpPr>
          <p:cNvPr id="3" name="内容占位符 2"/>
          <p:cNvSpPr>
            <a:spLocks noGrp="1"/>
          </p:cNvSpPr>
          <p:nvPr>
            <p:ph idx="1"/>
          </p:nvPr>
        </p:nvSpPr>
        <p:spPr>
          <a:xfrm>
            <a:off x="457200" y="1600200"/>
            <a:ext cx="8229600" cy="5069160"/>
          </a:xfrm>
        </p:spPr>
        <p:txBody>
          <a:bodyPr>
            <a:normAutofit fontScale="70000" lnSpcReduction="20000"/>
          </a:bodyPr>
          <a:lstStyle/>
          <a:p>
            <a:r>
              <a:rPr lang="zh-CN" altLang="en-US" sz="2800" dirty="0"/>
              <a:t>本节挖掘以日为频率周期的行业联动与轮动关联规则。由于选择的行业指数交易数据为日度数据，故直接利用交易数据进行计算即可。下面分别从指标计算、日行业联动关联规则挖掘和日行业轮动关联规则挖掘三方面给出详细的计算流程及代码实现。</a:t>
            </a:r>
          </a:p>
          <a:p>
            <a:r>
              <a:rPr lang="en-US" altLang="zh-CN" sz="3800" b="1" dirty="0">
                <a:latin typeface="+mj-ea"/>
                <a:ea typeface="+mj-ea"/>
              </a:rPr>
              <a:t>11.4.1</a:t>
            </a:r>
            <a:r>
              <a:rPr lang="en-US" altLang="zh-CN" sz="3800" dirty="0">
                <a:latin typeface="+mj-ea"/>
                <a:ea typeface="+mj-ea"/>
              </a:rPr>
              <a:t> </a:t>
            </a:r>
            <a:r>
              <a:rPr lang="zh-CN" altLang="en-US" sz="3800" dirty="0">
                <a:latin typeface="+mj-ea"/>
                <a:ea typeface="+mj-ea"/>
              </a:rPr>
              <a:t>指标计算</a:t>
            </a:r>
          </a:p>
          <a:p>
            <a:r>
              <a:rPr lang="zh-CN" altLang="en-US" sz="2800" dirty="0"/>
              <a:t>我们只关心上涨的情况，不考虑下跌的情况。因此计算每个行业从</a:t>
            </a:r>
            <a:r>
              <a:rPr lang="en-US" altLang="zh-CN" sz="2800" dirty="0"/>
              <a:t>2010</a:t>
            </a:r>
            <a:r>
              <a:rPr lang="zh-CN" altLang="en-US" sz="2800" dirty="0"/>
              <a:t>年</a:t>
            </a:r>
            <a:r>
              <a:rPr lang="en-US" altLang="zh-CN" sz="2800" dirty="0"/>
              <a:t>1</a:t>
            </a:r>
            <a:r>
              <a:rPr lang="zh-CN" altLang="en-US" sz="2800" dirty="0"/>
              <a:t>月</a:t>
            </a:r>
            <a:r>
              <a:rPr lang="en-US" altLang="zh-CN" sz="2800" dirty="0"/>
              <a:t>5</a:t>
            </a:r>
            <a:r>
              <a:rPr lang="zh-CN" altLang="en-US" sz="2800" dirty="0"/>
              <a:t>日至</a:t>
            </a:r>
            <a:r>
              <a:rPr lang="en-US" altLang="zh-CN" sz="2800" dirty="0"/>
              <a:t>2017</a:t>
            </a:r>
            <a:r>
              <a:rPr lang="zh-CN" altLang="en-US" sz="2800" dirty="0"/>
              <a:t>年</a:t>
            </a:r>
            <a:r>
              <a:rPr lang="en-US" altLang="zh-CN" sz="2800" dirty="0"/>
              <a:t>3</a:t>
            </a:r>
            <a:r>
              <a:rPr lang="zh-CN" altLang="en-US" sz="2800" dirty="0"/>
              <a:t>月</a:t>
            </a:r>
            <a:r>
              <a:rPr lang="en-US" altLang="zh-CN" sz="2800" dirty="0"/>
              <a:t>7</a:t>
            </a:r>
            <a:r>
              <a:rPr lang="zh-CN" altLang="en-US" sz="2800" dirty="0"/>
              <a:t>日的指数行情上涨情况。所谓上涨是指：当前交易日行情数据</a:t>
            </a:r>
            <a:r>
              <a:rPr lang="en-US" altLang="zh-CN" sz="2800" dirty="0"/>
              <a:t>-</a:t>
            </a:r>
            <a:r>
              <a:rPr lang="zh-CN" altLang="en-US" sz="2800" dirty="0"/>
              <a:t>上一个交易日行情数据</a:t>
            </a:r>
            <a:r>
              <a:rPr lang="en-US" altLang="zh-CN" sz="2800" dirty="0"/>
              <a:t>&gt;0</a:t>
            </a:r>
            <a:r>
              <a:rPr lang="zh-CN" altLang="en-US" sz="2800" dirty="0"/>
              <a:t>，其指标名称记为：行业名称</a:t>
            </a:r>
            <a:r>
              <a:rPr lang="en-US" altLang="zh-CN" sz="2800" dirty="0"/>
              <a:t>_up</a:t>
            </a:r>
            <a:r>
              <a:rPr lang="zh-CN" altLang="en-US" sz="2800" dirty="0"/>
              <a:t>，如果上涨记为</a:t>
            </a:r>
            <a:r>
              <a:rPr lang="en-US" altLang="zh-CN" sz="2800" dirty="0"/>
              <a:t>1</a:t>
            </a:r>
            <a:r>
              <a:rPr lang="zh-CN" altLang="en-US" sz="2800" dirty="0"/>
              <a:t>，否则记为</a:t>
            </a:r>
            <a:r>
              <a:rPr lang="en-US" altLang="zh-CN" sz="2800" dirty="0"/>
              <a:t>0</a:t>
            </a:r>
            <a:r>
              <a:rPr lang="zh-CN" altLang="en-US" sz="2800" dirty="0"/>
              <a:t>。</a:t>
            </a:r>
          </a:p>
          <a:p>
            <a:r>
              <a:rPr lang="zh-CN" altLang="en-US" sz="2800" dirty="0"/>
              <a:t>计算思路及算法如下：</a:t>
            </a:r>
          </a:p>
          <a:p>
            <a:r>
              <a:rPr lang="zh-CN" altLang="en-US" sz="2800" dirty="0"/>
              <a:t>（</a:t>
            </a:r>
            <a:r>
              <a:rPr lang="en-US" altLang="zh-CN" sz="2800" dirty="0"/>
              <a:t>1</a:t>
            </a:r>
            <a:r>
              <a:rPr lang="zh-CN" altLang="en-US" sz="2800" dirty="0"/>
              <a:t>）预定义空的字典</a:t>
            </a:r>
            <a:r>
              <a:rPr lang="en-US" altLang="zh-CN" sz="2800" dirty="0"/>
              <a:t>D</a:t>
            </a:r>
            <a:r>
              <a:rPr lang="zh-CN" altLang="en-US" sz="2800" dirty="0"/>
              <a:t>。</a:t>
            </a:r>
          </a:p>
          <a:p>
            <a:r>
              <a:rPr lang="zh-CN" altLang="en-US" sz="2800" dirty="0"/>
              <a:t>（</a:t>
            </a:r>
            <a:r>
              <a:rPr lang="en-US" altLang="zh-CN" sz="2800" dirty="0"/>
              <a:t>2</a:t>
            </a:r>
            <a:r>
              <a:rPr lang="zh-CN" altLang="en-US" sz="2800" dirty="0"/>
              <a:t>）对每一个指数代码，提取其交易收盘价数据，并按日期进行排序。</a:t>
            </a:r>
          </a:p>
          <a:p>
            <a:r>
              <a:rPr lang="zh-CN" altLang="en-US" sz="2800" dirty="0"/>
              <a:t>（</a:t>
            </a:r>
            <a:r>
              <a:rPr lang="en-US" altLang="zh-CN" sz="2800" dirty="0"/>
              <a:t>3</a:t>
            </a:r>
            <a:r>
              <a:rPr lang="zh-CN" altLang="en-US" sz="2800" dirty="0"/>
              <a:t>）预定义一个与其长度相等的全</a:t>
            </a:r>
            <a:r>
              <a:rPr lang="en-US" altLang="zh-CN" sz="2800" dirty="0"/>
              <a:t>0</a:t>
            </a:r>
            <a:r>
              <a:rPr lang="zh-CN" altLang="en-US" sz="2800" dirty="0"/>
              <a:t>数组</a:t>
            </a:r>
            <a:r>
              <a:rPr lang="en-US" altLang="zh-CN" sz="2800" dirty="0"/>
              <a:t>z21_up</a:t>
            </a:r>
            <a:r>
              <a:rPr lang="zh-CN" altLang="en-US" sz="2800" dirty="0"/>
              <a:t>，同时收盘价按交易日期错位相减，如果大于</a:t>
            </a:r>
            <a:r>
              <a:rPr lang="en-US" altLang="zh-CN" sz="2800" dirty="0"/>
              <a:t>0</a:t>
            </a:r>
            <a:r>
              <a:rPr lang="zh-CN" altLang="en-US" sz="2800" dirty="0"/>
              <a:t>，表示上涨，</a:t>
            </a:r>
            <a:r>
              <a:rPr lang="en-US" altLang="zh-CN" sz="2800" dirty="0"/>
              <a:t>z21_up</a:t>
            </a:r>
            <a:r>
              <a:rPr lang="zh-CN" altLang="en-US" sz="2800" dirty="0"/>
              <a:t>对应的位置赋值为</a:t>
            </a:r>
            <a:r>
              <a:rPr lang="en-US" altLang="zh-CN" sz="2800" dirty="0"/>
              <a:t>1</a:t>
            </a:r>
            <a:r>
              <a:rPr lang="zh-CN" altLang="en-US" sz="2800" dirty="0"/>
              <a:t>。</a:t>
            </a:r>
          </a:p>
          <a:p>
            <a:r>
              <a:rPr lang="zh-CN" altLang="en-US" sz="2800" dirty="0"/>
              <a:t>（</a:t>
            </a:r>
            <a:r>
              <a:rPr lang="en-US" altLang="zh-CN" sz="2800" dirty="0"/>
              <a:t>4</a:t>
            </a:r>
            <a:r>
              <a:rPr lang="zh-CN" altLang="en-US" sz="2800" dirty="0"/>
              <a:t>）以行业名称</a:t>
            </a:r>
            <a:r>
              <a:rPr lang="en-US" altLang="zh-CN" sz="2800" dirty="0"/>
              <a:t>_up</a:t>
            </a:r>
            <a:r>
              <a:rPr lang="zh-CN" altLang="en-US" sz="2800" dirty="0"/>
              <a:t>为键，</a:t>
            </a:r>
            <a:r>
              <a:rPr lang="en-US" altLang="zh-CN" sz="2800" dirty="0"/>
              <a:t>z21_up</a:t>
            </a:r>
            <a:r>
              <a:rPr lang="zh-CN" altLang="en-US" sz="2800" dirty="0"/>
              <a:t>为值，赋值给预定义的空字典</a:t>
            </a:r>
            <a:r>
              <a:rPr lang="en-US" altLang="zh-CN" sz="2800" dirty="0"/>
              <a:t>D</a:t>
            </a:r>
            <a:r>
              <a:rPr lang="zh-CN" altLang="en-US" sz="2800" dirty="0"/>
              <a:t>。</a:t>
            </a:r>
          </a:p>
          <a:p>
            <a:r>
              <a:rPr lang="zh-CN" altLang="en-US" sz="2800" dirty="0"/>
              <a:t>（</a:t>
            </a:r>
            <a:r>
              <a:rPr lang="en-US" altLang="zh-CN" sz="2800" dirty="0"/>
              <a:t>5</a:t>
            </a:r>
            <a:r>
              <a:rPr lang="zh-CN" altLang="en-US" sz="2800" dirty="0"/>
              <a:t>）将</a:t>
            </a:r>
            <a:r>
              <a:rPr lang="en-US" altLang="zh-CN" sz="2800" dirty="0"/>
              <a:t>D</a:t>
            </a:r>
            <a:r>
              <a:rPr lang="zh-CN" altLang="en-US" sz="2800" dirty="0"/>
              <a:t>转化为数据框，其中</a:t>
            </a:r>
            <a:r>
              <a:rPr lang="en-US" altLang="zh-CN" sz="2800" dirty="0"/>
              <a:t>index</a:t>
            </a:r>
            <a:r>
              <a:rPr lang="zh-CN" altLang="en-US" sz="2800" dirty="0"/>
              <a:t>为对应的交易日期</a:t>
            </a:r>
            <a:r>
              <a:rPr lang="zh-CN" altLang="en-US" sz="2800" dirty="0" smtClean="0"/>
              <a:t>。</a:t>
            </a:r>
            <a:endParaRPr lang="zh-CN" altLang="en-US" sz="2800" dirty="0"/>
          </a:p>
        </p:txBody>
      </p:sp>
    </p:spTree>
    <p:extLst>
      <p:ext uri="{BB962C8B-B14F-4D97-AF65-F5344CB8AC3E}">
        <p14:creationId xmlns:p14="http://schemas.microsoft.com/office/powerpoint/2010/main" val="1110380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260648"/>
            <a:ext cx="7992888" cy="6463308"/>
          </a:xfrm>
          <a:prstGeom prst="rect">
            <a:avLst/>
          </a:prstGeom>
          <a:noFill/>
        </p:spPr>
        <p:txBody>
          <a:bodyPr wrap="square" rtlCol="0">
            <a:spAutoFit/>
          </a:bodyPr>
          <a:lstStyle/>
          <a:p>
            <a:r>
              <a:rPr lang="zh-CN" altLang="en-US" dirty="0"/>
              <a:t>示例代码如下：</a:t>
            </a:r>
          </a:p>
          <a:p>
            <a:r>
              <a:rPr lang="en-US" altLang="zh-CN" dirty="0"/>
              <a:t>import </a:t>
            </a:r>
            <a:r>
              <a:rPr lang="en-US" altLang="zh-CN" dirty="0" err="1"/>
              <a:t>numpy</a:t>
            </a:r>
            <a:r>
              <a:rPr lang="en-US" altLang="zh-CN" dirty="0"/>
              <a:t> as </a:t>
            </a:r>
            <a:r>
              <a:rPr lang="en-US" altLang="zh-CN" dirty="0" err="1"/>
              <a:t>np</a:t>
            </a:r>
            <a:r>
              <a:rPr lang="en-US" altLang="zh-CN" dirty="0"/>
              <a:t>     </a:t>
            </a:r>
          </a:p>
          <a:p>
            <a:r>
              <a:rPr lang="en-US" altLang="zh-CN" dirty="0"/>
              <a:t>D=</a:t>
            </a:r>
            <a:r>
              <a:rPr lang="en-US" altLang="zh-CN" dirty="0" err="1"/>
              <a:t>dict</a:t>
            </a:r>
            <a:r>
              <a:rPr lang="en-US" altLang="zh-CN" dirty="0"/>
              <a:t>()</a:t>
            </a:r>
          </a:p>
          <a:p>
            <a:r>
              <a:rPr lang="en-US" altLang="zh-CN" dirty="0"/>
              <a:t>for t in range(</a:t>
            </a:r>
            <a:r>
              <a:rPr lang="en-US" altLang="zh-CN" dirty="0" err="1"/>
              <a:t>len</a:t>
            </a:r>
            <a:r>
              <a:rPr lang="en-US" altLang="zh-CN" dirty="0"/>
              <a:t>(code)):</a:t>
            </a:r>
          </a:p>
          <a:p>
            <a:r>
              <a:rPr lang="en-US" altLang="zh-CN" dirty="0"/>
              <a:t>   #</a:t>
            </a:r>
            <a:r>
              <a:rPr lang="zh-CN" altLang="en-US" dirty="0"/>
              <a:t>循环取每一个行业代码的收盘价数据，并按日期进行排序</a:t>
            </a:r>
          </a:p>
          <a:p>
            <a:r>
              <a:rPr lang="zh-CN" altLang="en-US" dirty="0"/>
              <a:t>   </a:t>
            </a:r>
            <a:r>
              <a:rPr lang="en-US" altLang="zh-CN" dirty="0" err="1"/>
              <a:t>dt</a:t>
            </a:r>
            <a:r>
              <a:rPr lang="en-US" altLang="zh-CN" dirty="0"/>
              <a:t>=</a:t>
            </a:r>
            <a:r>
              <a:rPr lang="en-US" altLang="zh-CN" dirty="0" err="1"/>
              <a:t>data.loc</a:t>
            </a:r>
            <a:r>
              <a:rPr lang="en-US" altLang="zh-CN" dirty="0"/>
              <a:t>[data['</a:t>
            </a:r>
            <a:r>
              <a:rPr lang="zh-CN" altLang="en-US" dirty="0"/>
              <a:t>指数代码</a:t>
            </a:r>
            <a:r>
              <a:rPr lang="en-US" altLang="zh-CN" dirty="0"/>
              <a:t>']==code[t],['</a:t>
            </a:r>
            <a:r>
              <a:rPr lang="zh-CN" altLang="en-US" dirty="0"/>
              <a:t>交易日期</a:t>
            </a:r>
            <a:r>
              <a:rPr lang="en-US" altLang="zh-CN" dirty="0"/>
              <a:t>','</a:t>
            </a:r>
            <a:r>
              <a:rPr lang="zh-CN" altLang="en-US" dirty="0"/>
              <a:t>收盘价</a:t>
            </a:r>
            <a:r>
              <a:rPr lang="en-US" altLang="zh-CN" dirty="0"/>
              <a:t>']].</a:t>
            </a:r>
            <a:r>
              <a:rPr lang="en-US" altLang="zh-CN" dirty="0" err="1"/>
              <a:t>sort_values</a:t>
            </a:r>
            <a:r>
              <a:rPr lang="en-US" altLang="zh-CN" dirty="0"/>
              <a:t>('</a:t>
            </a:r>
            <a:r>
              <a:rPr lang="zh-CN" altLang="en-US" dirty="0"/>
              <a:t>交易日期</a:t>
            </a:r>
            <a:r>
              <a:rPr lang="en-US" altLang="zh-CN" dirty="0"/>
              <a:t>')</a:t>
            </a:r>
          </a:p>
          <a:p>
            <a:r>
              <a:rPr lang="en-US" altLang="zh-CN" dirty="0"/>
              <a:t>   #</a:t>
            </a:r>
            <a:r>
              <a:rPr lang="zh-CN" altLang="en-US" dirty="0"/>
              <a:t>上一交易日收盘价序列，</a:t>
            </a:r>
            <a:r>
              <a:rPr lang="en-US" altLang="zh-CN" dirty="0"/>
              <a:t>index</a:t>
            </a:r>
            <a:r>
              <a:rPr lang="zh-CN" altLang="en-US" dirty="0"/>
              <a:t>从开始位置至倒数第</a:t>
            </a:r>
            <a:r>
              <a:rPr lang="en-US" altLang="zh-CN" dirty="0"/>
              <a:t>1</a:t>
            </a:r>
            <a:r>
              <a:rPr lang="zh-CN" altLang="en-US" dirty="0"/>
              <a:t>个位置</a:t>
            </a:r>
          </a:p>
          <a:p>
            <a:r>
              <a:rPr lang="zh-CN" altLang="en-US" dirty="0"/>
              <a:t>   </a:t>
            </a:r>
            <a:r>
              <a:rPr lang="en-US" altLang="zh-CN" dirty="0"/>
              <a:t>dt1=</a:t>
            </a:r>
            <a:r>
              <a:rPr lang="en-US" altLang="zh-CN" dirty="0" err="1"/>
              <a:t>dt.iloc</a:t>
            </a:r>
            <a:r>
              <a:rPr lang="en-US" altLang="zh-CN" dirty="0"/>
              <a:t>[0:-1,[1]]['</a:t>
            </a:r>
            <a:r>
              <a:rPr lang="zh-CN" altLang="en-US" dirty="0"/>
              <a:t>收盘价</a:t>
            </a:r>
            <a:r>
              <a:rPr lang="en-US" altLang="zh-CN" dirty="0"/>
              <a:t>'];</a:t>
            </a:r>
          </a:p>
          <a:p>
            <a:r>
              <a:rPr lang="en-US" altLang="zh-CN" dirty="0"/>
              <a:t>   #</a:t>
            </a:r>
            <a:r>
              <a:rPr lang="zh-CN" altLang="en-US" dirty="0"/>
              <a:t>当前交易日收盘价序列，</a:t>
            </a:r>
            <a:r>
              <a:rPr lang="en-US" altLang="zh-CN" dirty="0"/>
              <a:t>index</a:t>
            </a:r>
            <a:r>
              <a:rPr lang="zh-CN" altLang="en-US" dirty="0"/>
              <a:t>从第</a:t>
            </a:r>
            <a:r>
              <a:rPr lang="en-US" altLang="zh-CN" dirty="0"/>
              <a:t>2</a:t>
            </a:r>
            <a:r>
              <a:rPr lang="zh-CN" altLang="en-US" dirty="0"/>
              <a:t>个位置开始，至结尾位置</a:t>
            </a:r>
          </a:p>
          <a:p>
            <a:r>
              <a:rPr lang="zh-CN" altLang="en-US" dirty="0"/>
              <a:t>   </a:t>
            </a:r>
            <a:r>
              <a:rPr lang="en-US" altLang="zh-CN" dirty="0"/>
              <a:t>dt2=</a:t>
            </a:r>
            <a:r>
              <a:rPr lang="en-US" altLang="zh-CN" dirty="0" err="1"/>
              <a:t>dt.iloc</a:t>
            </a:r>
            <a:r>
              <a:rPr lang="en-US" altLang="zh-CN" dirty="0"/>
              <a:t>[1:,[1]]['</a:t>
            </a:r>
            <a:r>
              <a:rPr lang="zh-CN" altLang="en-US" dirty="0"/>
              <a:t>收盘价</a:t>
            </a:r>
            <a:r>
              <a:rPr lang="en-US" altLang="zh-CN" dirty="0"/>
              <a:t>'];</a:t>
            </a:r>
          </a:p>
          <a:p>
            <a:r>
              <a:rPr lang="en-US" altLang="zh-CN" dirty="0"/>
              <a:t>   #</a:t>
            </a:r>
            <a:r>
              <a:rPr lang="zh-CN" altLang="en-US" dirty="0"/>
              <a:t>预定义涨跌标识数组，元素全为</a:t>
            </a:r>
            <a:r>
              <a:rPr lang="en-US" altLang="zh-CN" dirty="0"/>
              <a:t>0</a:t>
            </a:r>
            <a:r>
              <a:rPr lang="zh-CN" altLang="en-US" dirty="0"/>
              <a:t>，长度与当前交易日收盘价序列相同</a:t>
            </a:r>
          </a:p>
          <a:p>
            <a:r>
              <a:rPr lang="zh-CN" altLang="en-US" dirty="0"/>
              <a:t>   </a:t>
            </a:r>
            <a:r>
              <a:rPr lang="en-US" altLang="zh-CN" dirty="0"/>
              <a:t>z21_up=</a:t>
            </a:r>
            <a:r>
              <a:rPr lang="en-US" altLang="zh-CN" dirty="0" err="1"/>
              <a:t>np.zeros</a:t>
            </a:r>
            <a:r>
              <a:rPr lang="en-US" altLang="zh-CN" dirty="0"/>
              <a:t>(</a:t>
            </a:r>
            <a:r>
              <a:rPr lang="en-US" altLang="zh-CN" dirty="0" err="1"/>
              <a:t>len</a:t>
            </a:r>
            <a:r>
              <a:rPr lang="en-US" altLang="zh-CN" dirty="0"/>
              <a:t>(dt2))</a:t>
            </a:r>
          </a:p>
          <a:p>
            <a:r>
              <a:rPr lang="en-US" altLang="zh-CN" dirty="0"/>
              <a:t>   #</a:t>
            </a:r>
            <a:r>
              <a:rPr lang="zh-CN" altLang="en-US" dirty="0"/>
              <a:t>当前交易日收盘价</a:t>
            </a:r>
            <a:r>
              <a:rPr lang="en-US" altLang="zh-CN" dirty="0"/>
              <a:t>-</a:t>
            </a:r>
            <a:r>
              <a:rPr lang="zh-CN" altLang="en-US" dirty="0"/>
              <a:t>上一个交易日收盘价，如果大于</a:t>
            </a:r>
            <a:r>
              <a:rPr lang="en-US" altLang="zh-CN" dirty="0"/>
              <a:t>0</a:t>
            </a:r>
            <a:r>
              <a:rPr lang="zh-CN" altLang="en-US" dirty="0"/>
              <a:t>，标识为</a:t>
            </a:r>
            <a:r>
              <a:rPr lang="en-US" altLang="zh-CN" dirty="0"/>
              <a:t>1</a:t>
            </a:r>
            <a:r>
              <a:rPr lang="zh-CN" altLang="en-US" dirty="0"/>
              <a:t>，表示上涨</a:t>
            </a:r>
          </a:p>
          <a:p>
            <a:r>
              <a:rPr lang="zh-CN" altLang="en-US" dirty="0"/>
              <a:t>   </a:t>
            </a:r>
            <a:r>
              <a:rPr lang="en-US" altLang="zh-CN" dirty="0"/>
              <a:t>#</a:t>
            </a:r>
            <a:r>
              <a:rPr lang="zh-CN" altLang="en-US" dirty="0"/>
              <a:t>如果小于等于</a:t>
            </a:r>
            <a:r>
              <a:rPr lang="en-US" altLang="zh-CN" dirty="0"/>
              <a:t>0</a:t>
            </a:r>
            <a:r>
              <a:rPr lang="zh-CN" altLang="en-US" dirty="0"/>
              <a:t>，标识为</a:t>
            </a:r>
            <a:r>
              <a:rPr lang="en-US" altLang="zh-CN" dirty="0"/>
              <a:t>0</a:t>
            </a:r>
            <a:r>
              <a:rPr lang="zh-CN" altLang="en-US" dirty="0"/>
              <a:t>，表示下跌，这里不用再赋值</a:t>
            </a:r>
          </a:p>
          <a:p>
            <a:r>
              <a:rPr lang="zh-CN" altLang="en-US" dirty="0"/>
              <a:t>   </a:t>
            </a:r>
            <a:r>
              <a:rPr lang="en-US" altLang="zh-CN" dirty="0"/>
              <a:t>z21_up[dt2.values-dt1.values&gt;0]=1</a:t>
            </a:r>
          </a:p>
          <a:p>
            <a:r>
              <a:rPr lang="en-US" altLang="zh-CN" dirty="0"/>
              <a:t>   #</a:t>
            </a:r>
            <a:r>
              <a:rPr lang="zh-CN" altLang="en-US" dirty="0"/>
              <a:t>以行业代码名称</a:t>
            </a:r>
            <a:r>
              <a:rPr lang="en-US" altLang="zh-CN" dirty="0"/>
              <a:t>_up</a:t>
            </a:r>
            <a:r>
              <a:rPr lang="zh-CN" altLang="en-US" dirty="0"/>
              <a:t>为键，涨跌标识数组为值，依次添加到预定义的字典</a:t>
            </a:r>
            <a:r>
              <a:rPr lang="en-US" altLang="zh-CN" dirty="0"/>
              <a:t>D</a:t>
            </a:r>
            <a:r>
              <a:rPr lang="zh-CN" altLang="en-US" dirty="0"/>
              <a:t>中</a:t>
            </a:r>
          </a:p>
          <a:p>
            <a:r>
              <a:rPr lang="zh-CN" altLang="en-US" dirty="0"/>
              <a:t>   </a:t>
            </a:r>
            <a:r>
              <a:rPr lang="en-US" altLang="zh-CN" dirty="0" err="1"/>
              <a:t>D.setdefault</a:t>
            </a:r>
            <a:r>
              <a:rPr lang="en-US" altLang="zh-CN" dirty="0"/>
              <a:t>(</a:t>
            </a:r>
            <a:r>
              <a:rPr lang="en-US" altLang="zh-CN" dirty="0" err="1"/>
              <a:t>sname</a:t>
            </a:r>
            <a:r>
              <a:rPr lang="en-US" altLang="zh-CN" dirty="0"/>
              <a:t>[code[t]]+'_up',z21_up)</a:t>
            </a:r>
          </a:p>
          <a:p>
            <a:r>
              <a:rPr lang="en-US" altLang="zh-CN" dirty="0"/>
              <a:t>td=</a:t>
            </a:r>
            <a:r>
              <a:rPr lang="en-US" altLang="zh-CN" dirty="0" err="1"/>
              <a:t>pd.read_excel</a:t>
            </a:r>
            <a:r>
              <a:rPr lang="en-US" altLang="zh-CN" dirty="0"/>
              <a:t>('</a:t>
            </a:r>
            <a:r>
              <a:rPr lang="zh-CN" altLang="en-US" dirty="0"/>
              <a:t>交易日历数据表</a:t>
            </a:r>
            <a:r>
              <a:rPr lang="en-US" altLang="zh-CN" dirty="0"/>
              <a:t>.</a:t>
            </a:r>
            <a:r>
              <a:rPr lang="en-US" altLang="zh-CN" dirty="0" err="1"/>
              <a:t>xlsx</a:t>
            </a:r>
            <a:r>
              <a:rPr lang="en-US" altLang="zh-CN" dirty="0"/>
              <a:t>')   #</a:t>
            </a:r>
            <a:r>
              <a:rPr lang="zh-CN" altLang="en-US" dirty="0"/>
              <a:t>读取交易日历数据</a:t>
            </a:r>
          </a:p>
          <a:p>
            <a:r>
              <a:rPr lang="en-US" altLang="zh-CN" dirty="0"/>
              <a:t>#</a:t>
            </a:r>
            <a:r>
              <a:rPr lang="zh-CN" altLang="en-US" dirty="0"/>
              <a:t>将预定义的字典</a:t>
            </a:r>
            <a:r>
              <a:rPr lang="en-US" altLang="zh-CN" dirty="0"/>
              <a:t>D</a:t>
            </a:r>
            <a:r>
              <a:rPr lang="zh-CN" altLang="en-US" dirty="0"/>
              <a:t>转化为数据框，其中</a:t>
            </a:r>
            <a:r>
              <a:rPr lang="en-US" altLang="zh-CN" dirty="0"/>
              <a:t>index</a:t>
            </a:r>
            <a:r>
              <a:rPr lang="zh-CN" altLang="en-US" dirty="0"/>
              <a:t>为对应的交易日期</a:t>
            </a:r>
          </a:p>
          <a:p>
            <a:r>
              <a:rPr lang="en-US" altLang="zh-CN" dirty="0"/>
              <a:t>Data=</a:t>
            </a:r>
            <a:r>
              <a:rPr lang="en-US" altLang="zh-CN" dirty="0" err="1"/>
              <a:t>pd.DataFrame</a:t>
            </a:r>
            <a:r>
              <a:rPr lang="en-US" altLang="zh-CN" dirty="0"/>
              <a:t>(</a:t>
            </a:r>
            <a:r>
              <a:rPr lang="en-US" altLang="zh-CN" dirty="0" err="1"/>
              <a:t>D,index</a:t>
            </a:r>
            <a:r>
              <a:rPr lang="en-US" altLang="zh-CN" dirty="0"/>
              <a:t>=td['</a:t>
            </a:r>
            <a:r>
              <a:rPr lang="en-US" altLang="zh-CN" dirty="0" err="1"/>
              <a:t>Clddt</a:t>
            </a:r>
            <a:r>
              <a:rPr lang="en-US" altLang="zh-CN" dirty="0"/>
              <a:t>'].values[1:])</a:t>
            </a:r>
          </a:p>
          <a:p>
            <a:r>
              <a:rPr lang="zh-CN" altLang="en-US" dirty="0"/>
              <a:t>执行结果（部分）如图</a:t>
            </a:r>
            <a:r>
              <a:rPr lang="en-US" altLang="zh-CN" dirty="0"/>
              <a:t>11-3</a:t>
            </a:r>
            <a:r>
              <a:rPr lang="zh-CN" altLang="en-US" dirty="0"/>
              <a:t>所示。</a:t>
            </a:r>
          </a:p>
        </p:txBody>
      </p:sp>
    </p:spTree>
    <p:extLst>
      <p:ext uri="{BB962C8B-B14F-4D97-AF65-F5344CB8AC3E}">
        <p14:creationId xmlns:p14="http://schemas.microsoft.com/office/powerpoint/2010/main" val="33321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2" cstate="print"/>
          <a:stretch>
            <a:fillRect/>
          </a:stretch>
        </p:blipFill>
        <p:spPr>
          <a:xfrm>
            <a:off x="467544" y="260648"/>
            <a:ext cx="8136904" cy="4175779"/>
          </a:xfrm>
          <a:prstGeom prst="rect">
            <a:avLst/>
          </a:prstGeom>
        </p:spPr>
      </p:pic>
      <p:sp>
        <p:nvSpPr>
          <p:cNvPr id="3" name="TextBox 2"/>
          <p:cNvSpPr txBox="1"/>
          <p:nvPr/>
        </p:nvSpPr>
        <p:spPr>
          <a:xfrm>
            <a:off x="3563888" y="4581128"/>
            <a:ext cx="1368152" cy="369332"/>
          </a:xfrm>
          <a:prstGeom prst="rect">
            <a:avLst/>
          </a:prstGeom>
          <a:noFill/>
        </p:spPr>
        <p:txBody>
          <a:bodyPr wrap="square" rtlCol="0">
            <a:spAutoFit/>
          </a:bodyPr>
          <a:lstStyle/>
          <a:p>
            <a:r>
              <a:rPr lang="zh-CN" altLang="en-US" dirty="0"/>
              <a:t>图</a:t>
            </a:r>
            <a:r>
              <a:rPr lang="en-US" altLang="zh-CN" dirty="0"/>
              <a:t>11-3</a:t>
            </a:r>
            <a:endParaRPr lang="zh-CN" altLang="en-US" dirty="0"/>
          </a:p>
        </p:txBody>
      </p:sp>
      <p:sp>
        <p:nvSpPr>
          <p:cNvPr id="4" name="TextBox 3"/>
          <p:cNvSpPr txBox="1"/>
          <p:nvPr/>
        </p:nvSpPr>
        <p:spPr>
          <a:xfrm>
            <a:off x="467544" y="5157192"/>
            <a:ext cx="8136904" cy="923330"/>
          </a:xfrm>
          <a:prstGeom prst="rect">
            <a:avLst/>
          </a:prstGeom>
          <a:noFill/>
        </p:spPr>
        <p:txBody>
          <a:bodyPr wrap="square" rtlCol="0">
            <a:spAutoFit/>
          </a:bodyPr>
          <a:lstStyle/>
          <a:p>
            <a:r>
              <a:rPr lang="zh-CN" altLang="en-US" dirty="0"/>
              <a:t>以交通运输</a:t>
            </a:r>
            <a:r>
              <a:rPr lang="en-US" altLang="zh-CN" dirty="0"/>
              <a:t>_up</a:t>
            </a:r>
            <a:r>
              <a:rPr lang="zh-CN" altLang="en-US" dirty="0"/>
              <a:t>这个字段为例进行说明，其中</a:t>
            </a:r>
            <a:r>
              <a:rPr lang="en-US" altLang="zh-CN" dirty="0"/>
              <a:t>2010</a:t>
            </a:r>
            <a:r>
              <a:rPr lang="zh-CN" altLang="en-US" dirty="0"/>
              <a:t>年</a:t>
            </a:r>
            <a:r>
              <a:rPr lang="en-US" altLang="zh-CN" dirty="0"/>
              <a:t>01</a:t>
            </a:r>
            <a:r>
              <a:rPr lang="zh-CN" altLang="en-US" dirty="0"/>
              <a:t>月</a:t>
            </a:r>
            <a:r>
              <a:rPr lang="en-US" altLang="zh-CN" dirty="0"/>
              <a:t>05</a:t>
            </a:r>
            <a:r>
              <a:rPr lang="zh-CN" altLang="en-US" dirty="0"/>
              <a:t>日、</a:t>
            </a:r>
            <a:r>
              <a:rPr lang="en-US" altLang="zh-CN" dirty="0"/>
              <a:t>08</a:t>
            </a:r>
            <a:r>
              <a:rPr lang="zh-CN" altLang="en-US" dirty="0"/>
              <a:t>日、</a:t>
            </a:r>
            <a:r>
              <a:rPr lang="en-US" altLang="zh-CN" dirty="0"/>
              <a:t>11</a:t>
            </a:r>
            <a:r>
              <a:rPr lang="zh-CN" altLang="en-US" dirty="0"/>
              <a:t>日、</a:t>
            </a:r>
            <a:r>
              <a:rPr lang="en-US" altLang="zh-CN" dirty="0"/>
              <a:t>12</a:t>
            </a:r>
            <a:r>
              <a:rPr lang="zh-CN" altLang="en-US" dirty="0"/>
              <a:t>日表示该行业为上涨，而</a:t>
            </a:r>
            <a:r>
              <a:rPr lang="en-US" altLang="zh-CN" dirty="0"/>
              <a:t>2010</a:t>
            </a:r>
            <a:r>
              <a:rPr lang="zh-CN" altLang="en-US" dirty="0"/>
              <a:t>年</a:t>
            </a:r>
            <a:r>
              <a:rPr lang="en-US" altLang="zh-CN" dirty="0"/>
              <a:t>01</a:t>
            </a:r>
            <a:r>
              <a:rPr lang="zh-CN" altLang="en-US" dirty="0"/>
              <a:t>月</a:t>
            </a:r>
            <a:r>
              <a:rPr lang="en-US" altLang="zh-CN" dirty="0"/>
              <a:t>6</a:t>
            </a:r>
            <a:r>
              <a:rPr lang="zh-CN" altLang="en-US" dirty="0"/>
              <a:t>日、</a:t>
            </a:r>
            <a:r>
              <a:rPr lang="en-US" altLang="zh-CN" dirty="0"/>
              <a:t>07</a:t>
            </a:r>
            <a:r>
              <a:rPr lang="zh-CN" altLang="en-US" dirty="0"/>
              <a:t>日、</a:t>
            </a:r>
            <a:r>
              <a:rPr lang="en-US" altLang="zh-CN" dirty="0"/>
              <a:t>13</a:t>
            </a:r>
            <a:r>
              <a:rPr lang="zh-CN" altLang="en-US" dirty="0"/>
              <a:t>日为下跌。基于该数据，我们就可以进行关联规则挖掘了。</a:t>
            </a:r>
          </a:p>
        </p:txBody>
      </p:sp>
    </p:spTree>
    <p:extLst>
      <p:ext uri="{BB962C8B-B14F-4D97-AF65-F5344CB8AC3E}">
        <p14:creationId xmlns:p14="http://schemas.microsoft.com/office/powerpoint/2010/main" val="3064428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6408712" cy="548680"/>
          </a:xfrm>
        </p:spPr>
        <p:txBody>
          <a:bodyPr>
            <a:noAutofit/>
          </a:bodyPr>
          <a:lstStyle/>
          <a:p>
            <a:pPr algn="l"/>
            <a:r>
              <a:rPr lang="en-US" altLang="zh-CN" sz="2400" dirty="0"/>
              <a:t>11.4.2 </a:t>
            </a:r>
            <a:r>
              <a:rPr lang="zh-CN" altLang="en-US" sz="2400" dirty="0"/>
              <a:t>行业联动关联规则挖掘</a:t>
            </a:r>
          </a:p>
        </p:txBody>
      </p:sp>
      <p:sp>
        <p:nvSpPr>
          <p:cNvPr id="3" name="内容占位符 2"/>
          <p:cNvSpPr>
            <a:spLocks noGrp="1"/>
          </p:cNvSpPr>
          <p:nvPr>
            <p:ph idx="1"/>
          </p:nvPr>
        </p:nvSpPr>
        <p:spPr>
          <a:xfrm>
            <a:off x="179512" y="548680"/>
            <a:ext cx="8445624" cy="6309320"/>
          </a:xfrm>
        </p:spPr>
        <p:txBody>
          <a:bodyPr>
            <a:normAutofit/>
          </a:bodyPr>
          <a:lstStyle/>
          <a:p>
            <a:r>
              <a:rPr lang="zh-CN" altLang="en-US" sz="1600" dirty="0"/>
              <a:t>调用</a:t>
            </a:r>
            <a:r>
              <a:rPr lang="en-US" altLang="zh-CN" sz="1600" dirty="0" err="1"/>
              <a:t>apriori</a:t>
            </a:r>
            <a:r>
              <a:rPr lang="zh-CN" altLang="en-US" sz="1600" dirty="0"/>
              <a:t>关联规则挖掘算法可以挖掘多对一关联规则，示例代码如下：</a:t>
            </a:r>
          </a:p>
          <a:p>
            <a:r>
              <a:rPr lang="en-US" altLang="zh-CN" sz="1600" dirty="0"/>
              <a:t>import </a:t>
            </a:r>
            <a:r>
              <a:rPr lang="en-US" altLang="zh-CN" sz="1600" dirty="0" err="1"/>
              <a:t>apriori</a:t>
            </a:r>
            <a:r>
              <a:rPr lang="en-US" altLang="zh-CN" sz="1600" dirty="0"/>
              <a:t> as </a:t>
            </a:r>
            <a:r>
              <a:rPr lang="en-US" altLang="zh-CN" sz="1600" dirty="0" err="1"/>
              <a:t>ap</a:t>
            </a:r>
            <a:r>
              <a:rPr lang="en-US" altLang="zh-CN" sz="1600" dirty="0"/>
              <a:t>   #</a:t>
            </a:r>
            <a:r>
              <a:rPr lang="zh-CN" altLang="en-US" sz="1600" dirty="0"/>
              <a:t>导入关联规则算法程序</a:t>
            </a:r>
          </a:p>
          <a:p>
            <a:r>
              <a:rPr lang="en-US" altLang="zh-CN" sz="1600" dirty="0"/>
              <a:t>support = 0.47 #</a:t>
            </a:r>
            <a:r>
              <a:rPr lang="zh-CN" altLang="en-US" sz="1600" dirty="0"/>
              <a:t>最小支持度</a:t>
            </a:r>
          </a:p>
          <a:p>
            <a:r>
              <a:rPr lang="en-US" altLang="zh-CN" sz="1600" dirty="0"/>
              <a:t>confidence = 0.9 #</a:t>
            </a:r>
            <a:r>
              <a:rPr lang="zh-CN" altLang="en-US" sz="1600" dirty="0"/>
              <a:t>最小置信度</a:t>
            </a:r>
          </a:p>
          <a:p>
            <a:r>
              <a:rPr lang="en-US" altLang="zh-CN" sz="1600" dirty="0" err="1"/>
              <a:t>ms</a:t>
            </a:r>
            <a:r>
              <a:rPr lang="en-US" altLang="zh-CN" sz="1600" dirty="0"/>
              <a:t> = '--' #</a:t>
            </a:r>
            <a:r>
              <a:rPr lang="zh-CN" altLang="en-US" sz="1600" dirty="0"/>
              <a:t>连接符，</a:t>
            </a:r>
          </a:p>
          <a:p>
            <a:r>
              <a:rPr lang="en-US" altLang="zh-CN" sz="1600" dirty="0" err="1"/>
              <a:t>outputfile</a:t>
            </a:r>
            <a:r>
              <a:rPr lang="en-US" altLang="zh-CN" sz="1600" dirty="0"/>
              <a:t> = 'apriori_rules1.xls' #</a:t>
            </a:r>
            <a:r>
              <a:rPr lang="zh-CN" altLang="en-US" sz="1600" dirty="0"/>
              <a:t>结果文件</a:t>
            </a:r>
          </a:p>
          <a:p>
            <a:r>
              <a:rPr lang="en-US" altLang="zh-CN" sz="1600" dirty="0" err="1"/>
              <a:t>ap.find_rule</a:t>
            </a:r>
            <a:r>
              <a:rPr lang="en-US" altLang="zh-CN" sz="1600" dirty="0"/>
              <a:t>(Data, support, confidence, </a:t>
            </a:r>
            <a:r>
              <a:rPr lang="en-US" altLang="zh-CN" sz="1600" dirty="0" err="1"/>
              <a:t>ms</a:t>
            </a:r>
            <a:r>
              <a:rPr lang="en-US" altLang="zh-CN" sz="1600" dirty="0"/>
              <a:t>).</a:t>
            </a:r>
            <a:r>
              <a:rPr lang="en-US" altLang="zh-CN" sz="1600" dirty="0" err="1"/>
              <a:t>to_excel</a:t>
            </a:r>
            <a:r>
              <a:rPr lang="en-US" altLang="zh-CN" sz="1600" dirty="0"/>
              <a:t>(</a:t>
            </a:r>
            <a:r>
              <a:rPr lang="en-US" altLang="zh-CN" sz="1600" dirty="0" err="1"/>
              <a:t>outputfile</a:t>
            </a:r>
            <a:r>
              <a:rPr lang="en-US" altLang="zh-CN" sz="1600" dirty="0"/>
              <a:t>) #</a:t>
            </a:r>
            <a:r>
              <a:rPr lang="zh-CN" altLang="en-US" sz="1600" dirty="0"/>
              <a:t>调用关联规则挖掘函数</a:t>
            </a:r>
          </a:p>
          <a:p>
            <a:r>
              <a:rPr lang="zh-CN" altLang="en-US" sz="1600" dirty="0"/>
              <a:t>执行结果如下表</a:t>
            </a:r>
            <a:r>
              <a:rPr lang="en-US" altLang="zh-CN" sz="1600" dirty="0"/>
              <a:t>11-4</a:t>
            </a:r>
            <a:r>
              <a:rPr lang="zh-CN" altLang="en-US" sz="1600" dirty="0"/>
              <a:t>所示</a:t>
            </a:r>
            <a:r>
              <a:rPr lang="zh-CN" altLang="en-US" sz="1600" dirty="0" smtClean="0"/>
              <a:t>。</a:t>
            </a:r>
            <a:endParaRPr lang="zh-CN" altLang="en-US" sz="1600" dirty="0"/>
          </a:p>
        </p:txBody>
      </p:sp>
      <p:graphicFrame>
        <p:nvGraphicFramePr>
          <p:cNvPr id="4" name="表格 3"/>
          <p:cNvGraphicFramePr>
            <a:graphicFrameLocks noGrp="1"/>
          </p:cNvGraphicFramePr>
          <p:nvPr>
            <p:extLst>
              <p:ext uri="{D42A27DB-BD31-4B8C-83A1-F6EECF244321}">
                <p14:modId xmlns:p14="http://schemas.microsoft.com/office/powerpoint/2010/main" val="1394680076"/>
              </p:ext>
            </p:extLst>
          </p:nvPr>
        </p:nvGraphicFramePr>
        <p:xfrm>
          <a:off x="251520" y="3265770"/>
          <a:ext cx="8496943" cy="3444240"/>
        </p:xfrm>
        <a:graphic>
          <a:graphicData uri="http://schemas.openxmlformats.org/drawingml/2006/table">
            <a:tbl>
              <a:tblPr firstRow="1" firstCol="1" bandRow="1"/>
              <a:tblGrid>
                <a:gridCol w="419352"/>
                <a:gridCol w="4249985"/>
                <a:gridCol w="1672372"/>
                <a:gridCol w="2155234"/>
              </a:tblGrid>
              <a:tr h="233644">
                <a:tc>
                  <a:txBody>
                    <a:bodyPr/>
                    <a:lstStyle/>
                    <a:p>
                      <a:pPr algn="l">
                        <a:spcAft>
                          <a:spcPts val="0"/>
                        </a:spcAft>
                      </a:pPr>
                      <a:r>
                        <a:rPr lang="en-US" sz="1600" kern="100" dirty="0">
                          <a:effectLst/>
                          <a:latin typeface="Calibri"/>
                          <a:ea typeface="宋体"/>
                          <a:cs typeface="Times New Roman"/>
                        </a:rPr>
                        <a:t>ID</a:t>
                      </a:r>
                      <a:endParaRPr lang="zh-CN" sz="1600"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kern="100" dirty="0">
                          <a:effectLst/>
                          <a:latin typeface="Calibri"/>
                          <a:ea typeface="宋体"/>
                          <a:cs typeface="Times New Roman"/>
                        </a:rPr>
                        <a:t>rule</a:t>
                      </a:r>
                      <a:endParaRPr lang="zh-CN" sz="1600" kern="100" dirty="0">
                        <a:effectLst/>
                        <a:latin typeface="Calibri"/>
                        <a:ea typeface="宋体"/>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effectLst/>
                          <a:latin typeface="宋体"/>
                          <a:ea typeface="宋体"/>
                          <a:cs typeface="Arial"/>
                        </a:rPr>
                        <a:t>support</a:t>
                      </a:r>
                      <a:endParaRPr lang="zh-CN" sz="16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effectLst/>
                          <a:latin typeface="宋体"/>
                          <a:ea typeface="宋体"/>
                          <a:cs typeface="Arial"/>
                        </a:rPr>
                        <a:t>confidence</a:t>
                      </a:r>
                      <a:endParaRPr lang="zh-CN" sz="16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4439">
                <a:tc>
                  <a:txBody>
                    <a:bodyPr/>
                    <a:lstStyle/>
                    <a:p>
                      <a:pPr algn="l">
                        <a:spcAft>
                          <a:spcPts val="0"/>
                        </a:spcAft>
                      </a:pPr>
                      <a:r>
                        <a:rPr lang="en-US" sz="1400" kern="0">
                          <a:effectLst/>
                          <a:latin typeface="宋体"/>
                          <a:ea typeface="宋体"/>
                          <a:cs typeface="Arial"/>
                        </a:rPr>
                        <a:t>1</a:t>
                      </a:r>
                      <a:endParaRPr lang="zh-CN" sz="16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zh-CN" sz="1400" kern="0" dirty="0">
                          <a:effectLst/>
                          <a:latin typeface="Calibri"/>
                          <a:ea typeface="宋体"/>
                          <a:cs typeface="Arial"/>
                        </a:rPr>
                        <a:t>纺织服装</a:t>
                      </a:r>
                      <a:r>
                        <a:rPr lang="en-US" sz="1400" kern="0" dirty="0">
                          <a:effectLst/>
                          <a:latin typeface="Calibri"/>
                          <a:ea typeface="宋体"/>
                          <a:cs typeface="Arial"/>
                        </a:rPr>
                        <a:t>_up--</a:t>
                      </a:r>
                      <a:r>
                        <a:rPr lang="zh-CN" sz="1400" kern="0" dirty="0">
                          <a:effectLst/>
                          <a:latin typeface="Calibri"/>
                          <a:ea typeface="宋体"/>
                          <a:cs typeface="Arial"/>
                        </a:rPr>
                        <a:t>综合</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effectLst/>
                          <a:latin typeface="宋体"/>
                          <a:ea typeface="宋体"/>
                          <a:cs typeface="Arial"/>
                        </a:rPr>
                        <a:t>0.47816092</a:t>
                      </a:r>
                      <a:endParaRPr lang="zh-CN" sz="16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effectLst/>
                          <a:latin typeface="宋体"/>
                          <a:ea typeface="宋体"/>
                          <a:cs typeface="Arial"/>
                        </a:rPr>
                        <a:t>0.96073903</a:t>
                      </a:r>
                      <a:endParaRPr lang="zh-CN" sz="16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204439">
                <a:tc>
                  <a:txBody>
                    <a:bodyPr/>
                    <a:lstStyle/>
                    <a:p>
                      <a:pPr algn="l">
                        <a:spcAft>
                          <a:spcPts val="0"/>
                        </a:spcAft>
                      </a:pPr>
                      <a:r>
                        <a:rPr lang="en-US" sz="1400" kern="0">
                          <a:effectLst/>
                          <a:latin typeface="宋体"/>
                          <a:ea typeface="宋体"/>
                          <a:cs typeface="Arial"/>
                        </a:rPr>
                        <a:t>2</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电气设备</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0.472413793</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0.956926659</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3</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电气设备</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dirty="0">
                          <a:effectLst/>
                          <a:latin typeface="宋体"/>
                          <a:ea typeface="宋体"/>
                          <a:cs typeface="Arial"/>
                        </a:rPr>
                        <a:t>0.472413793</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effectLst/>
                          <a:latin typeface="宋体"/>
                          <a:ea typeface="宋体"/>
                          <a:cs typeface="Arial"/>
                        </a:rPr>
                        <a:t>0.950289017</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4</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综合</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0.47816092</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0.948688712</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5</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纺织服装</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r>
                        <a:rPr lang="zh-CN" sz="1400" kern="0" dirty="0">
                          <a:effectLst/>
                          <a:latin typeface="Calibri"/>
                          <a:ea typeface="宋体"/>
                          <a:cs typeface="Arial"/>
                        </a:rPr>
                        <a:t>综合</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0.47816092</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0.939051919</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6</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纺织服装</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r>
                        <a:rPr lang="zh-CN" sz="1400" kern="0" dirty="0">
                          <a:effectLst/>
                          <a:latin typeface="Calibri"/>
                          <a:ea typeface="宋体"/>
                          <a:cs typeface="Arial"/>
                        </a:rPr>
                        <a:t>电气设备</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0.472413793</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0.927765237</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7</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电气设备</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dirty="0">
                          <a:effectLst/>
                          <a:latin typeface="宋体"/>
                          <a:ea typeface="宋体"/>
                          <a:cs typeface="Arial"/>
                        </a:rPr>
                        <a:t>0.497126437</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effectLst/>
                          <a:latin typeface="宋体"/>
                          <a:ea typeface="宋体"/>
                          <a:cs typeface="Arial"/>
                        </a:rPr>
                        <a:t>0.913410771</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8</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化工</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dirty="0">
                          <a:effectLst/>
                          <a:latin typeface="宋体"/>
                          <a:ea typeface="宋体"/>
                          <a:cs typeface="Arial"/>
                        </a:rPr>
                        <a:t>0.494827586</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0.910147992</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9</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电气设备</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dirty="0">
                          <a:effectLst/>
                          <a:latin typeface="宋体"/>
                          <a:ea typeface="宋体"/>
                          <a:cs typeface="Arial"/>
                        </a:rPr>
                        <a:t>0.493678161</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0.907074974</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10</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综合</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0.504022989</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effectLst/>
                          <a:latin typeface="宋体"/>
                          <a:ea typeface="宋体"/>
                          <a:cs typeface="Arial"/>
                        </a:rPr>
                        <a:t>0.90505676</a:t>
                      </a:r>
                      <a:endParaRPr lang="zh-CN" sz="1600" kern="100" dirty="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11</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机械设备</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0.483333333</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0.904301075</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12</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商业贸易</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0.49137931</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0.902851109</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13</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纺织服装</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0.509195402</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0.900406504</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14</a:t>
                      </a:r>
                      <a:endParaRPr lang="zh-CN" sz="160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kern="0" dirty="0">
                          <a:effectLst/>
                          <a:latin typeface="Calibri"/>
                          <a:ea typeface="宋体"/>
                          <a:cs typeface="Arial"/>
                        </a:rPr>
                        <a:t>电子元器件</a:t>
                      </a:r>
                      <a:r>
                        <a:rPr lang="en-US" sz="1400" kern="0" dirty="0">
                          <a:effectLst/>
                          <a:latin typeface="Calibri"/>
                          <a:ea typeface="宋体"/>
                          <a:cs typeface="Arial"/>
                        </a:rPr>
                        <a:t>_up--</a:t>
                      </a:r>
                      <a:r>
                        <a:rPr lang="zh-CN" sz="1400" kern="0" dirty="0">
                          <a:effectLst/>
                          <a:latin typeface="Calibri"/>
                          <a:ea typeface="宋体"/>
                          <a:cs typeface="Arial"/>
                        </a:rPr>
                        <a:t>轻工制造</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en-US" sz="1400" kern="0">
                          <a:effectLst/>
                          <a:latin typeface="宋体"/>
                          <a:ea typeface="宋体"/>
                          <a:cs typeface="Arial"/>
                        </a:rPr>
                        <a:t>0.492528736</a:t>
                      </a:r>
                      <a:endParaRPr lang="zh-CN" sz="16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effectLst/>
                          <a:latin typeface="宋体"/>
                          <a:ea typeface="宋体"/>
                          <a:cs typeface="Arial"/>
                        </a:rPr>
                        <a:t>0.900210084</a:t>
                      </a:r>
                      <a:endParaRPr lang="zh-CN" sz="1600" kern="100">
                        <a:effectLst/>
                        <a:latin typeface="Calibri"/>
                        <a:ea typeface="宋体"/>
                        <a:cs typeface="Times New Roman"/>
                      </a:endParaRPr>
                    </a:p>
                  </a:txBody>
                  <a:tcPr marL="68580" marR="68580" marT="0" marB="0" anchor="b">
                    <a:lnL>
                      <a:noFill/>
                    </a:lnL>
                    <a:lnR>
                      <a:noFill/>
                    </a:lnR>
                    <a:lnT>
                      <a:noFill/>
                    </a:lnT>
                    <a:lnB>
                      <a:noFill/>
                    </a:lnB>
                  </a:tcPr>
                </a:tc>
              </a:tr>
              <a:tr h="204439">
                <a:tc>
                  <a:txBody>
                    <a:bodyPr/>
                    <a:lstStyle/>
                    <a:p>
                      <a:pPr algn="l">
                        <a:spcAft>
                          <a:spcPts val="0"/>
                        </a:spcAft>
                      </a:pPr>
                      <a:r>
                        <a:rPr lang="en-US" sz="1400" kern="0">
                          <a:effectLst/>
                          <a:latin typeface="宋体"/>
                          <a:ea typeface="宋体"/>
                          <a:cs typeface="Arial"/>
                        </a:rPr>
                        <a:t>15</a:t>
                      </a:r>
                      <a:endParaRPr lang="zh-CN" sz="1600" kern="100">
                        <a:effectLst/>
                        <a:latin typeface="Calibri"/>
                        <a:ea typeface="宋体"/>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effectLst/>
                          <a:latin typeface="Calibri"/>
                          <a:ea typeface="宋体"/>
                          <a:cs typeface="Arial"/>
                        </a:rPr>
                        <a:t>机械设备</a:t>
                      </a:r>
                      <a:r>
                        <a:rPr lang="en-US" sz="1400" kern="0" dirty="0">
                          <a:effectLst/>
                          <a:latin typeface="Calibri"/>
                          <a:ea typeface="宋体"/>
                          <a:cs typeface="Arial"/>
                        </a:rPr>
                        <a:t>_up--</a:t>
                      </a:r>
                      <a:r>
                        <a:rPr lang="zh-CN" sz="1400" kern="0" dirty="0">
                          <a:effectLst/>
                          <a:latin typeface="Calibri"/>
                          <a:ea typeface="宋体"/>
                          <a:cs typeface="Arial"/>
                        </a:rPr>
                        <a:t>纺织服装</a:t>
                      </a:r>
                      <a:r>
                        <a:rPr lang="en-US" sz="1400" kern="0" dirty="0">
                          <a:effectLst/>
                          <a:latin typeface="Calibri"/>
                          <a:ea typeface="宋体"/>
                          <a:cs typeface="Arial"/>
                        </a:rPr>
                        <a:t>_up</a:t>
                      </a:r>
                      <a:endParaRPr lang="zh-CN" sz="1600" kern="100" dirty="0">
                        <a:effectLst/>
                        <a:latin typeface="Calibri"/>
                        <a:ea typeface="宋体"/>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dirty="0">
                          <a:effectLst/>
                          <a:latin typeface="宋体"/>
                          <a:ea typeface="宋体"/>
                          <a:cs typeface="Arial"/>
                        </a:rPr>
                        <a:t>0.481034483</a:t>
                      </a:r>
                      <a:endParaRPr lang="zh-CN" sz="16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dirty="0">
                          <a:effectLst/>
                          <a:latin typeface="宋体"/>
                          <a:ea typeface="宋体"/>
                          <a:cs typeface="Arial"/>
                        </a:rPr>
                        <a:t>0.9</a:t>
                      </a:r>
                      <a:endParaRPr lang="zh-CN" sz="16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2411760" y="6525344"/>
            <a:ext cx="1584176" cy="369332"/>
          </a:xfrm>
          <a:prstGeom prst="rect">
            <a:avLst/>
          </a:prstGeom>
          <a:noFill/>
        </p:spPr>
        <p:txBody>
          <a:bodyPr wrap="square" rtlCol="0">
            <a:spAutoFit/>
          </a:bodyPr>
          <a:lstStyle/>
          <a:p>
            <a:endParaRPr lang="zh-CN" altLang="en-US" dirty="0"/>
          </a:p>
        </p:txBody>
      </p:sp>
      <p:sp>
        <p:nvSpPr>
          <p:cNvPr id="7" name="TextBox 6"/>
          <p:cNvSpPr txBox="1"/>
          <p:nvPr/>
        </p:nvSpPr>
        <p:spPr>
          <a:xfrm>
            <a:off x="3635896" y="2708920"/>
            <a:ext cx="3024336" cy="369332"/>
          </a:xfrm>
          <a:prstGeom prst="rect">
            <a:avLst/>
          </a:prstGeom>
          <a:noFill/>
        </p:spPr>
        <p:txBody>
          <a:bodyPr wrap="square" rtlCol="0">
            <a:spAutoFit/>
          </a:bodyPr>
          <a:lstStyle/>
          <a:p>
            <a:r>
              <a:rPr lang="zh-CN" altLang="en-US" dirty="0"/>
              <a:t>表</a:t>
            </a:r>
            <a:r>
              <a:rPr lang="en-US" altLang="zh-CN" dirty="0"/>
              <a:t>11-4    </a:t>
            </a:r>
            <a:r>
              <a:rPr lang="zh-CN" altLang="en-US" dirty="0"/>
              <a:t>日行业联动规则</a:t>
            </a:r>
          </a:p>
        </p:txBody>
      </p:sp>
    </p:spTree>
    <p:extLst>
      <p:ext uri="{BB962C8B-B14F-4D97-AF65-F5344CB8AC3E}">
        <p14:creationId xmlns:p14="http://schemas.microsoft.com/office/powerpoint/2010/main" val="1183889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p:cNvSpPr txBox="1"/>
              <p:nvPr/>
            </p:nvSpPr>
            <p:spPr>
              <a:xfrm>
                <a:off x="611560" y="260648"/>
                <a:ext cx="8064896" cy="5145126"/>
              </a:xfrm>
              <a:prstGeom prst="rect">
                <a:avLst/>
              </a:prstGeom>
              <a:noFill/>
            </p:spPr>
            <p:txBody>
              <a:bodyPr wrap="square" rtlCol="0">
                <a:spAutoFit/>
              </a:bodyPr>
              <a:lstStyle/>
              <a:p>
                <a14:m>
                  <m:oMath xmlns:m="http://schemas.openxmlformats.org/officeDocument/2006/math">
                    <a:fld id="{57AE646E-0536-4468-BEC9-5C6B005915AF}" type="mathplaceholder">
                      <a:rPr lang="zh-CN" altLang="en-US" i="1" smtClean="0">
                        <a:latin typeface="Cambria Math"/>
                      </a:rPr>
                      <a:t>在此处键入公式。</a:t>
                    </a:fld>
                  </m:oMath>
                </a14:m>
                <a:r>
                  <a:rPr lang="zh-CN" altLang="en-US" dirty="0" smtClean="0"/>
                  <a:t>函数</a:t>
                </a:r>
                <a:r>
                  <a:rPr lang="zh-CN" altLang="en-US" dirty="0"/>
                  <a:t>返回的结果一共有</a:t>
                </a:r>
                <a:r>
                  <a:rPr lang="en-US" altLang="zh-CN" dirty="0"/>
                  <a:t>15</a:t>
                </a:r>
                <a:r>
                  <a:rPr lang="zh-CN" altLang="en-US" dirty="0"/>
                  <a:t>条关联规则，以规则</a:t>
                </a:r>
                <a:r>
                  <a:rPr lang="en-US" altLang="zh-CN" dirty="0"/>
                  <a:t>1</a:t>
                </a:r>
                <a:r>
                  <a:rPr lang="zh-CN" altLang="en-US" dirty="0"/>
                  <a:t>和规则</a:t>
                </a:r>
                <a:r>
                  <a:rPr lang="en-US" altLang="zh-CN" dirty="0"/>
                  <a:t>7</a:t>
                </a:r>
                <a:r>
                  <a:rPr lang="zh-CN" altLang="en-US" dirty="0"/>
                  <a:t>为例进行说明：</a:t>
                </a:r>
              </a:p>
              <a:p>
                <a:r>
                  <a:rPr lang="zh-CN" altLang="en-US" dirty="0"/>
                  <a:t>规则</a:t>
                </a:r>
                <a:r>
                  <a:rPr lang="en-US" altLang="zh-CN" dirty="0"/>
                  <a:t>1</a:t>
                </a:r>
                <a:r>
                  <a:rPr lang="zh-CN" altLang="en-US" dirty="0"/>
                  <a:t>：纺织服装行业涨且综合行业也上涨轻工制造行业也上涨的概率为</a:t>
                </a:r>
                <a:r>
                  <a:rPr lang="en-US" altLang="zh-CN" dirty="0"/>
                  <a:t>96.07%</a:t>
                </a:r>
                <a:r>
                  <a:rPr lang="zh-CN" altLang="en-US" dirty="0"/>
                  <a:t>（置信度）。</a:t>
                </a:r>
              </a:p>
              <a:p>
                <a:r>
                  <a:rPr lang="zh-CN" altLang="en-US" dirty="0"/>
                  <a:t>规则</a:t>
                </a:r>
                <a:r>
                  <a:rPr lang="en-US" altLang="zh-CN" dirty="0"/>
                  <a:t>1</a:t>
                </a:r>
                <a:r>
                  <a:rPr lang="zh-CN" altLang="en-US" dirty="0"/>
                  <a:t>：纺织服装、综合、轻工制造三个行业同时上涨占总记录数的</a:t>
                </a:r>
                <a:r>
                  <a:rPr lang="en-US" altLang="zh-CN" dirty="0"/>
                  <a:t>47.82%</a:t>
                </a:r>
                <a:r>
                  <a:rPr lang="zh-CN" altLang="en-US" dirty="0"/>
                  <a:t>（支持度）。</a:t>
                </a:r>
              </a:p>
              <a:p>
                <a:r>
                  <a:rPr lang="zh-CN" altLang="en-US" dirty="0"/>
                  <a:t>规则</a:t>
                </a:r>
                <a:r>
                  <a:rPr lang="en-US" altLang="zh-CN" dirty="0"/>
                  <a:t>7</a:t>
                </a:r>
                <a:r>
                  <a:rPr lang="zh-CN" altLang="en-US" dirty="0"/>
                  <a:t>：电气设备行业上涨轻工制造行业也上涨的概率为</a:t>
                </a:r>
                <a:r>
                  <a:rPr lang="en-US" altLang="zh-CN" dirty="0"/>
                  <a:t>91.34%</a:t>
                </a:r>
                <a:r>
                  <a:rPr lang="zh-CN" altLang="en-US" dirty="0"/>
                  <a:t>（置信度）。</a:t>
                </a:r>
              </a:p>
              <a:p>
                <a:r>
                  <a:rPr lang="zh-CN" altLang="en-US" dirty="0"/>
                  <a:t>规则</a:t>
                </a:r>
                <a:r>
                  <a:rPr lang="en-US" altLang="zh-CN" dirty="0"/>
                  <a:t>7</a:t>
                </a:r>
                <a:r>
                  <a:rPr lang="zh-CN" altLang="en-US" dirty="0"/>
                  <a:t>：电气设备、轻工制造行业同时上涨占总记录数的</a:t>
                </a:r>
                <a:r>
                  <a:rPr lang="en-US" altLang="zh-CN" dirty="0"/>
                  <a:t>49.71%</a:t>
                </a:r>
                <a:r>
                  <a:rPr lang="zh-CN" altLang="en-US" dirty="0"/>
                  <a:t>（支持度）。</a:t>
                </a:r>
              </a:p>
              <a:p>
                <a:r>
                  <a:rPr lang="zh-CN" altLang="en-US" dirty="0"/>
                  <a:t>进一步地，我们可以通过关联规则的定义来检验规则</a:t>
                </a:r>
                <a:r>
                  <a:rPr lang="en-US" altLang="zh-CN" dirty="0"/>
                  <a:t>1</a:t>
                </a:r>
                <a:r>
                  <a:rPr lang="zh-CN" altLang="en-US" dirty="0"/>
                  <a:t>和规则</a:t>
                </a:r>
                <a:r>
                  <a:rPr lang="en-US" altLang="zh-CN" dirty="0"/>
                  <a:t>7</a:t>
                </a:r>
                <a:r>
                  <a:rPr lang="zh-CN" altLang="en-US" dirty="0"/>
                  <a:t>各自的置信度和支持度的准确性。由置信度与支持度的计算公式</a:t>
                </a:r>
                <a:r>
                  <a:rPr lang="zh-CN" altLang="en-US" dirty="0" smtClean="0"/>
                  <a:t>：</a:t>
                </a:r>
                <a:endParaRPr lang="en-US" altLang="zh-CN" dirty="0" smtClean="0"/>
              </a:p>
              <a:p>
                <a:endParaRPr lang="en-US" altLang="zh-CN" dirty="0" smtClean="0"/>
              </a:p>
              <a:p>
                <a:r>
                  <a:rPr lang="en-US" altLang="zh-CN" sz="2000" dirty="0" smtClean="0"/>
                  <a:t>Support(A</a:t>
                </a:r>
                <a14:m>
                  <m:oMath xmlns:m="http://schemas.openxmlformats.org/officeDocument/2006/math">
                    <m:r>
                      <a:rPr lang="en-US" altLang="zh-CN" sz="2000" i="1" smtClean="0">
                        <a:latin typeface="Cambria Math"/>
                        <a:ea typeface="Cambria Math"/>
                      </a:rPr>
                      <m:t>=&gt;</m:t>
                    </m:r>
                    <m:r>
                      <a:rPr lang="en-US" altLang="zh-CN" sz="2000" b="0" i="1" smtClean="0">
                        <a:latin typeface="Cambria Math"/>
                        <a:ea typeface="Cambria Math"/>
                      </a:rPr>
                      <m:t>𝐵</m:t>
                    </m:r>
                    <m:r>
                      <a:rPr lang="en-US" altLang="zh-CN" sz="2000" b="0" i="1" smtClean="0">
                        <a:latin typeface="Cambria Math"/>
                        <a:ea typeface="Cambria Math"/>
                      </a:rPr>
                      <m:t>)=</m:t>
                    </m:r>
                    <m:f>
                      <m:fPr>
                        <m:ctrlPr>
                          <a:rPr lang="en-US" altLang="zh-CN" sz="2000" i="1" smtClean="0">
                            <a:latin typeface="Cambria Math"/>
                            <a:ea typeface="Cambria Math"/>
                          </a:rPr>
                        </m:ctrlPr>
                      </m:fPr>
                      <m:num>
                        <m:r>
                          <a:rPr lang="en-US" altLang="zh-CN" sz="2000" b="0" i="1" smtClean="0">
                            <a:latin typeface="Cambria Math"/>
                            <a:ea typeface="Cambria Math"/>
                          </a:rPr>
                          <m:t>𝐴</m:t>
                        </m:r>
                        <m:r>
                          <a:rPr lang="zh-CN" altLang="en-US" sz="2000" b="0" i="1" smtClean="0">
                            <a:latin typeface="Cambria Math"/>
                            <a:ea typeface="Cambria Math"/>
                          </a:rPr>
                          <m:t>、</m:t>
                        </m:r>
                        <m:r>
                          <a:rPr lang="en-US" altLang="zh-CN" sz="2000" b="0" i="1" smtClean="0">
                            <a:latin typeface="Cambria Math"/>
                            <a:ea typeface="Cambria Math"/>
                          </a:rPr>
                          <m:t>𝐵</m:t>
                        </m:r>
                        <m:r>
                          <a:rPr lang="zh-CN" altLang="en-US" sz="2000" i="1">
                            <a:latin typeface="Cambria Math"/>
                            <a:ea typeface="Cambria Math"/>
                          </a:rPr>
                          <m:t>同时</m:t>
                        </m:r>
                        <m:r>
                          <a:rPr lang="zh-CN" altLang="en-US" sz="2000" i="1" smtClean="0">
                            <a:latin typeface="Cambria Math"/>
                            <a:ea typeface="Cambria Math"/>
                          </a:rPr>
                          <m:t>发生</m:t>
                        </m:r>
                        <m:r>
                          <a:rPr lang="zh-CN" altLang="en-US" sz="2000" b="0" i="1" smtClean="0">
                            <a:latin typeface="Cambria Math"/>
                            <a:ea typeface="Cambria Math"/>
                          </a:rPr>
                          <m:t>的</m:t>
                        </m:r>
                        <m:r>
                          <a:rPr lang="zh-CN" altLang="en-US" sz="2000" i="1">
                            <a:latin typeface="Cambria Math"/>
                            <a:ea typeface="Cambria Math"/>
                          </a:rPr>
                          <m:t>事物</m:t>
                        </m:r>
                        <m:r>
                          <a:rPr lang="zh-CN" altLang="en-US" sz="2000" i="1" smtClean="0">
                            <a:latin typeface="Cambria Math"/>
                            <a:ea typeface="Cambria Math"/>
                          </a:rPr>
                          <m:t>个数</m:t>
                        </m:r>
                      </m:num>
                      <m:den>
                        <m:r>
                          <a:rPr lang="zh-CN" altLang="en-US" sz="2000" i="1">
                            <a:latin typeface="Cambria Math"/>
                            <a:ea typeface="Cambria Math"/>
                          </a:rPr>
                          <m:t>所有的事物</m:t>
                        </m:r>
                      </m:den>
                    </m:f>
                    <m:r>
                      <a:rPr lang="en-US" altLang="zh-CN" sz="2000" i="1" smtClean="0">
                        <a:latin typeface="Cambria Math"/>
                        <a:ea typeface="Cambria Math"/>
                      </a:rPr>
                      <m:t>=</m:t>
                    </m:r>
                    <m:f>
                      <m:fPr>
                        <m:ctrlPr>
                          <a:rPr lang="en-US" altLang="zh-CN" sz="2000" i="1" smtClean="0">
                            <a:latin typeface="Cambria Math"/>
                            <a:ea typeface="Cambria Math"/>
                          </a:rPr>
                        </m:ctrlPr>
                      </m:fPr>
                      <m:num>
                        <m:r>
                          <m:rPr>
                            <m:sty m:val="p"/>
                          </m:rPr>
                          <a:rPr lang="en-US" altLang="zh-CN" sz="2000" i="1">
                            <a:latin typeface="Cambria Math"/>
                            <a:ea typeface="Cambria Math"/>
                          </a:rPr>
                          <m:t>Support</m:t>
                        </m:r>
                        <m:r>
                          <a:rPr lang="en-US" altLang="zh-CN" sz="2000" b="0" i="1" smtClean="0">
                            <a:latin typeface="Cambria Math"/>
                            <a:ea typeface="Cambria Math"/>
                          </a:rPr>
                          <m:t>_</m:t>
                        </m:r>
                        <m:r>
                          <a:rPr lang="en-US" altLang="zh-CN" sz="2000" b="0" i="1" smtClean="0">
                            <a:latin typeface="Cambria Math"/>
                            <a:ea typeface="Cambria Math"/>
                          </a:rPr>
                          <m:t>𝑐𝑜𝑢𝑛𝑡</m:t>
                        </m:r>
                        <m:r>
                          <a:rPr lang="en-US" altLang="zh-CN" sz="2000" b="0" i="1" smtClean="0">
                            <a:latin typeface="Cambria Math"/>
                            <a:ea typeface="Cambria Math"/>
                          </a:rPr>
                          <m:t>(</m:t>
                        </m:r>
                        <m:r>
                          <a:rPr lang="en-US" altLang="zh-CN" sz="2000" b="0" i="1" smtClean="0">
                            <a:latin typeface="Cambria Math"/>
                            <a:ea typeface="Cambria Math"/>
                          </a:rPr>
                          <m:t>𝐴</m:t>
                        </m:r>
                        <m:r>
                          <a:rPr lang="en-US" altLang="zh-CN" sz="2000" b="0" i="1" smtClean="0">
                            <a:latin typeface="Cambria Math"/>
                            <a:ea typeface="Cambria Math"/>
                          </a:rPr>
                          <m:t>∩</m:t>
                        </m:r>
                        <m:r>
                          <a:rPr lang="en-US" altLang="zh-CN" sz="2000" b="0" i="1" smtClean="0">
                            <a:latin typeface="Cambria Math"/>
                            <a:ea typeface="Cambria Math"/>
                          </a:rPr>
                          <m:t>𝐵</m:t>
                        </m:r>
                        <m:r>
                          <a:rPr lang="en-US" altLang="zh-CN" sz="2000" b="0" i="1" smtClean="0">
                            <a:latin typeface="Cambria Math"/>
                            <a:ea typeface="Cambria Math"/>
                          </a:rPr>
                          <m:t>)</m:t>
                        </m:r>
                      </m:num>
                      <m:den>
                        <m:r>
                          <a:rPr lang="en-US" altLang="zh-CN" sz="2000" b="0" i="1" smtClean="0">
                            <a:latin typeface="Cambria Math"/>
                            <a:ea typeface="Cambria Math"/>
                          </a:rPr>
                          <m:t>𝑇𝑜𝑡𝑎𝑙</m:t>
                        </m:r>
                      </m:den>
                    </m:f>
                  </m:oMath>
                </a14:m>
                <a:endParaRPr lang="en-US" altLang="zh-CN" sz="2000" dirty="0" smtClean="0"/>
              </a:p>
              <a:p>
                <a:endParaRPr lang="en-US" altLang="zh-CN" dirty="0" smtClean="0"/>
              </a:p>
              <a:p>
                <a:endParaRPr lang="en-US" altLang="zh-CN" dirty="0" smtClean="0"/>
              </a:p>
              <a:p>
                <a:r>
                  <a:rPr lang="en-US" altLang="zh-CN" sz="2000" dirty="0" smtClean="0"/>
                  <a:t>Confidence(A=&gt;)=P(A|B)=</a:t>
                </a:r>
                <a14:m>
                  <m:oMath xmlns:m="http://schemas.openxmlformats.org/officeDocument/2006/math">
                    <m:f>
                      <m:fPr>
                        <m:ctrlPr>
                          <a:rPr lang="en-US" altLang="zh-CN" sz="2400" i="1" smtClean="0">
                            <a:latin typeface="Cambria Math"/>
                          </a:rPr>
                        </m:ctrlPr>
                      </m:fPr>
                      <m:num>
                        <m:r>
                          <a:rPr lang="en-US" altLang="zh-CN" sz="2400" b="0" i="1" smtClean="0">
                            <a:latin typeface="Cambria Math"/>
                          </a:rPr>
                          <m:t>𝑆𝑢𝑝𝑝𝑜𝑟𝑡</m:t>
                        </m:r>
                        <m:r>
                          <a:rPr lang="en-US" altLang="zh-CN" sz="2400" b="0" i="1" smtClean="0">
                            <a:latin typeface="Cambria Math"/>
                          </a:rPr>
                          <m:t>(</m:t>
                        </m:r>
                        <m:r>
                          <a:rPr lang="en-US" altLang="zh-CN" sz="2400" b="0" i="1" smtClean="0">
                            <a:latin typeface="Cambria Math"/>
                          </a:rPr>
                          <m:t>𝐴</m:t>
                        </m:r>
                        <m:r>
                          <a:rPr lang="en-US" altLang="zh-CN" sz="2400" b="0" i="1" smtClean="0">
                            <a:latin typeface="Cambria Math"/>
                            <a:ea typeface="Cambria Math"/>
                          </a:rPr>
                          <m:t>∩</m:t>
                        </m:r>
                        <m:r>
                          <a:rPr lang="en-US" altLang="zh-CN" sz="2400" b="0" i="1" smtClean="0">
                            <a:latin typeface="Cambria Math"/>
                            <a:ea typeface="Cambria Math"/>
                          </a:rPr>
                          <m:t>𝐵</m:t>
                        </m:r>
                        <m:r>
                          <a:rPr lang="en-US" altLang="zh-CN" sz="2400" b="0" i="1" smtClean="0">
                            <a:latin typeface="Cambria Math"/>
                            <a:ea typeface="Cambria Math"/>
                          </a:rPr>
                          <m:t>)</m:t>
                        </m:r>
                      </m:num>
                      <m:den>
                        <m:r>
                          <a:rPr lang="en-US" altLang="zh-CN" sz="2400" b="0" i="1" smtClean="0">
                            <a:latin typeface="Cambria Math"/>
                          </a:rPr>
                          <m:t>𝑆𝑢𝑝𝑝𝑜𝑟𝑡</m:t>
                        </m:r>
                        <m:r>
                          <a:rPr lang="en-US" altLang="zh-CN" sz="2400" b="0" i="1" smtClean="0">
                            <a:latin typeface="Cambria Math"/>
                          </a:rPr>
                          <m:t>(</m:t>
                        </m:r>
                        <m:r>
                          <a:rPr lang="en-US" altLang="zh-CN" sz="2400" b="0" i="1" smtClean="0">
                            <a:latin typeface="Cambria Math"/>
                          </a:rPr>
                          <m:t>𝐴</m:t>
                        </m:r>
                        <m:r>
                          <a:rPr lang="en-US" altLang="zh-CN" sz="2400" b="0" i="1" smtClean="0">
                            <a:latin typeface="Cambria Math"/>
                          </a:rPr>
                          <m:t>)</m:t>
                        </m:r>
                      </m:den>
                    </m:f>
                  </m:oMath>
                </a14:m>
                <a:r>
                  <a:rPr lang="en-US" altLang="zh-CN" sz="2000" dirty="0" smtClean="0"/>
                  <a:t>=</a:t>
                </a:r>
                <a14:m>
                  <m:oMath xmlns:m="http://schemas.openxmlformats.org/officeDocument/2006/math">
                    <m:f>
                      <m:fPr>
                        <m:ctrlPr>
                          <a:rPr lang="en-US" altLang="zh-CN" sz="2400" i="1" dirty="0" smtClean="0">
                            <a:latin typeface="Cambria Math"/>
                          </a:rPr>
                        </m:ctrlPr>
                      </m:fPr>
                      <m:num>
                        <m:r>
                          <a:rPr lang="en-US" altLang="zh-CN" sz="2400" b="0" i="1" dirty="0" smtClean="0">
                            <a:latin typeface="Cambria Math"/>
                          </a:rPr>
                          <m:t>𝑆𝑢𝑝𝑝𝑜𝑟𝑡</m:t>
                        </m:r>
                        <m:r>
                          <a:rPr lang="en-US" altLang="zh-CN" sz="2400" b="0" i="1" dirty="0" smtClean="0">
                            <a:latin typeface="Cambria Math"/>
                          </a:rPr>
                          <m:t>_</m:t>
                        </m:r>
                        <m:r>
                          <a:rPr lang="en-US" altLang="zh-CN" sz="2400" b="0" i="1" dirty="0" smtClean="0">
                            <a:latin typeface="Cambria Math"/>
                          </a:rPr>
                          <m:t>𝑐𝑜𝑢𝑛𝑡</m:t>
                        </m:r>
                        <m:r>
                          <a:rPr lang="en-US" altLang="zh-CN" sz="2400" b="0" i="1" dirty="0" smtClean="0">
                            <a:latin typeface="Cambria Math"/>
                          </a:rPr>
                          <m:t>(</m:t>
                        </m:r>
                        <m:r>
                          <a:rPr lang="en-US" altLang="zh-CN" sz="2400" b="0" i="1" dirty="0" smtClean="0">
                            <a:latin typeface="Cambria Math"/>
                          </a:rPr>
                          <m:t>𝐴</m:t>
                        </m:r>
                        <m:r>
                          <a:rPr lang="en-US" altLang="zh-CN" sz="2400" b="0" i="1" dirty="0" smtClean="0">
                            <a:latin typeface="Cambria Math"/>
                            <a:ea typeface="Cambria Math"/>
                          </a:rPr>
                          <m:t>∩</m:t>
                        </m:r>
                        <m:r>
                          <a:rPr lang="en-US" altLang="zh-CN" sz="2400" b="0" i="1" dirty="0" smtClean="0">
                            <a:latin typeface="Cambria Math"/>
                            <a:ea typeface="Cambria Math"/>
                          </a:rPr>
                          <m:t>𝐵</m:t>
                        </m:r>
                        <m:r>
                          <a:rPr lang="en-US" altLang="zh-CN" sz="2400" b="0" i="1" dirty="0" smtClean="0">
                            <a:latin typeface="Cambria Math"/>
                            <a:ea typeface="Cambria Math"/>
                          </a:rPr>
                          <m:t>)</m:t>
                        </m:r>
                      </m:num>
                      <m:den>
                        <m:r>
                          <a:rPr lang="en-US" altLang="zh-CN" sz="2400" b="0" i="1" dirty="0" smtClean="0">
                            <a:latin typeface="Cambria Math"/>
                          </a:rPr>
                          <m:t>𝑆𝑢𝑝𝑝𝑜𝑟𝑡</m:t>
                        </m:r>
                        <m:r>
                          <a:rPr lang="en-US" altLang="zh-CN" sz="2400" b="0" i="1" dirty="0" smtClean="0">
                            <a:latin typeface="Cambria Math"/>
                          </a:rPr>
                          <m:t>_</m:t>
                        </m:r>
                        <m:r>
                          <a:rPr lang="en-US" altLang="zh-CN" sz="2400" b="0" i="1" dirty="0" smtClean="0">
                            <a:latin typeface="Cambria Math"/>
                          </a:rPr>
                          <m:t>𝑐𝑜𝑢𝑛𝑡</m:t>
                        </m:r>
                        <m:r>
                          <a:rPr lang="en-US" altLang="zh-CN" sz="2400" b="0" i="1" dirty="0" smtClean="0">
                            <a:latin typeface="Cambria Math"/>
                          </a:rPr>
                          <m:t>(</m:t>
                        </m:r>
                        <m:r>
                          <a:rPr lang="en-US" altLang="zh-CN" sz="2400" b="0" i="1" dirty="0" smtClean="0">
                            <a:latin typeface="Cambria Math"/>
                          </a:rPr>
                          <m:t>𝐴</m:t>
                        </m:r>
                        <m:r>
                          <a:rPr lang="en-US" altLang="zh-CN" sz="2400" b="0" i="1" dirty="0" smtClean="0">
                            <a:latin typeface="Cambria Math"/>
                          </a:rPr>
                          <m:t>)</m:t>
                        </m:r>
                      </m:den>
                    </m:f>
                  </m:oMath>
                </a14:m>
                <a:endParaRPr lang="en-US" altLang="zh-CN" dirty="0"/>
              </a:p>
              <a:p>
                <a:endParaRPr lang="zh-CN" altLang="en-US" dirty="0"/>
              </a:p>
            </p:txBody>
          </p:sp>
        </mc:Choice>
        <mc:Fallback>
          <p:sp>
            <p:nvSpPr>
              <p:cNvPr id="2" name="TextBox 1"/>
              <p:cNvSpPr txBox="1">
                <a:spLocks noRot="1" noChangeAspect="1" noMove="1" noResize="1" noEditPoints="1" noAdjustHandles="1" noChangeArrowheads="1" noChangeShapeType="1" noTextEdit="1"/>
              </p:cNvSpPr>
              <p:nvPr/>
            </p:nvSpPr>
            <p:spPr>
              <a:xfrm>
                <a:off x="611560" y="260648"/>
                <a:ext cx="8064896" cy="5145126"/>
              </a:xfrm>
              <a:prstGeom prst="rect">
                <a:avLst/>
              </a:prstGeom>
              <a:blipFill rotWithShape="1">
                <a:blip r:embed="rId2"/>
                <a:stretch>
                  <a:fillRect l="-756" t="-948" r="-7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7327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p:cNvSpPr txBox="1"/>
              <p:nvPr/>
            </p:nvSpPr>
            <p:spPr>
              <a:xfrm>
                <a:off x="539552" y="260648"/>
                <a:ext cx="8280920" cy="7915116"/>
              </a:xfrm>
              <a:prstGeom prst="rect">
                <a:avLst/>
              </a:prstGeom>
              <a:noFill/>
            </p:spPr>
            <p:txBody>
              <a:bodyPr wrap="square" rtlCol="0">
                <a:spAutoFit/>
              </a:bodyPr>
              <a:lstStyle/>
              <a:p>
                <a:r>
                  <a:rPr lang="zh-CN" altLang="en-US" dirty="0" smtClean="0"/>
                  <a:t>我们可以计算规则</a:t>
                </a:r>
                <a:r>
                  <a:rPr lang="en-US" altLang="zh-CN" dirty="0"/>
                  <a:t>7</a:t>
                </a:r>
                <a:r>
                  <a:rPr lang="zh-CN" altLang="en-US" dirty="0"/>
                  <a:t>的置信度与支持度为：</a:t>
                </a:r>
              </a:p>
              <a:p>
                <a:r>
                  <a:rPr lang="en-US" altLang="zh-CN" dirty="0"/>
                  <a:t>I1=Data['</a:t>
                </a:r>
                <a:r>
                  <a:rPr lang="zh-CN" altLang="en-US" dirty="0"/>
                  <a:t>电气设备</a:t>
                </a:r>
                <a:r>
                  <a:rPr lang="en-US" altLang="zh-CN" dirty="0"/>
                  <a:t>_up'].values==1</a:t>
                </a:r>
              </a:p>
              <a:p>
                <a:r>
                  <a:rPr lang="en-US" altLang="zh-CN" dirty="0"/>
                  <a:t>I2=Data['</a:t>
                </a:r>
                <a:r>
                  <a:rPr lang="zh-CN" altLang="en-US" dirty="0"/>
                  <a:t>轻工制造</a:t>
                </a:r>
                <a:r>
                  <a:rPr lang="en-US" altLang="zh-CN" dirty="0"/>
                  <a:t>_up'].values==1</a:t>
                </a:r>
              </a:p>
              <a:p>
                <a:r>
                  <a:rPr lang="en-US" altLang="zh-CN" dirty="0"/>
                  <a:t>t12=</a:t>
                </a:r>
                <a:r>
                  <a:rPr lang="en-US" altLang="zh-CN" dirty="0" err="1"/>
                  <a:t>np.zeros</a:t>
                </a:r>
                <a:r>
                  <a:rPr lang="en-US" altLang="zh-CN" dirty="0"/>
                  <a:t>((1740))</a:t>
                </a:r>
              </a:p>
              <a:p>
                <a:r>
                  <a:rPr lang="en-US" altLang="zh-CN" dirty="0"/>
                  <a:t>t1=</a:t>
                </a:r>
                <a:r>
                  <a:rPr lang="en-US" altLang="zh-CN" dirty="0" err="1"/>
                  <a:t>np.zeros</a:t>
                </a:r>
                <a:r>
                  <a:rPr lang="en-US" altLang="zh-CN" dirty="0"/>
                  <a:t>((1740))</a:t>
                </a:r>
              </a:p>
              <a:p>
                <a:r>
                  <a:rPr lang="en-US" altLang="zh-CN" dirty="0"/>
                  <a:t>t12[I1&amp;I2]=1</a:t>
                </a:r>
              </a:p>
              <a:p>
                <a:r>
                  <a:rPr lang="en-US" altLang="zh-CN" dirty="0"/>
                  <a:t>t1[I1]=1</a:t>
                </a:r>
              </a:p>
              <a:p>
                <a:r>
                  <a:rPr lang="en-US" altLang="zh-CN" dirty="0"/>
                  <a:t>sp7=sum(t12)/1740</a:t>
                </a:r>
              </a:p>
              <a:p>
                <a:r>
                  <a:rPr lang="en-US" altLang="zh-CN" dirty="0"/>
                  <a:t>co7=sum(t12)/sum(t1)</a:t>
                </a:r>
              </a:p>
              <a:p>
                <a:r>
                  <a:rPr lang="en-US" altLang="zh-CN" dirty="0"/>
                  <a:t>print('co7= ',co7)</a:t>
                </a:r>
              </a:p>
              <a:p>
                <a:r>
                  <a:rPr lang="en-US" altLang="zh-CN" dirty="0"/>
                  <a:t>print('sp7= ',sp7)</a:t>
                </a:r>
              </a:p>
              <a:p>
                <a:r>
                  <a:rPr lang="zh-CN" altLang="en-US" dirty="0"/>
                  <a:t>输出结果如下：</a:t>
                </a:r>
              </a:p>
              <a:p>
                <a:r>
                  <a:rPr lang="en-US" altLang="zh-CN" dirty="0"/>
                  <a:t>co7=  0.913410770855</a:t>
                </a:r>
              </a:p>
              <a:p>
                <a:r>
                  <a:rPr lang="en-US" altLang="zh-CN" dirty="0"/>
                  <a:t>sp7=  </a:t>
                </a:r>
                <a:r>
                  <a:rPr lang="en-US" altLang="zh-CN" dirty="0" smtClean="0"/>
                  <a:t>0.497126436782</a:t>
                </a:r>
              </a:p>
              <a:p>
                <a:r>
                  <a:rPr lang="zh-CN" altLang="en-US" dirty="0"/>
                  <a:t>对于规则</a:t>
                </a:r>
                <a:r>
                  <a:rPr lang="en-US" altLang="zh-CN" dirty="0"/>
                  <a:t>1</a:t>
                </a:r>
                <a:r>
                  <a:rPr lang="zh-CN" altLang="en-US" dirty="0"/>
                  <a:t>，属于多层关联规则，其计算公式可以类推如下：</a:t>
                </a:r>
                <a:endParaRPr lang="en-US" altLang="zh-CN" dirty="0"/>
              </a:p>
              <a:p>
                <a:endParaRPr lang="en-US" altLang="zh-CN" dirty="0" smtClean="0"/>
              </a:p>
              <a:p>
                <a:pPr lvl="0"/>
                <a:r>
                  <a:rPr lang="en-US" altLang="zh-CN" sz="2000" dirty="0">
                    <a:solidFill>
                      <a:prstClr val="black"/>
                    </a:solidFill>
                  </a:rPr>
                  <a:t>Support(A</a:t>
                </a:r>
                <a14:m>
                  <m:oMath xmlns:m="http://schemas.openxmlformats.org/officeDocument/2006/math">
                    <m:r>
                      <a:rPr lang="en-US" altLang="zh-CN" i="1">
                        <a:solidFill>
                          <a:prstClr val="black"/>
                        </a:solidFill>
                        <a:latin typeface="Cambria Math"/>
                        <a:ea typeface="Cambria Math"/>
                      </a:rPr>
                      <m:t>=&gt;</m:t>
                    </m:r>
                    <m:r>
                      <a:rPr lang="en-US" altLang="zh-CN" b="0" i="1" smtClean="0">
                        <a:solidFill>
                          <a:prstClr val="black"/>
                        </a:solidFill>
                        <a:latin typeface="Cambria Math"/>
                        <a:ea typeface="Cambria Math"/>
                      </a:rPr>
                      <m:t>𝐵</m:t>
                    </m:r>
                    <m:r>
                      <a:rPr lang="en-US" altLang="zh-CN" b="0" i="1" smtClean="0">
                        <a:solidFill>
                          <a:prstClr val="black"/>
                        </a:solidFill>
                        <a:latin typeface="Cambria Math"/>
                        <a:ea typeface="Cambria Math"/>
                      </a:rPr>
                      <m:t>)=</m:t>
                    </m:r>
                    <m:f>
                      <m:fPr>
                        <m:ctrlPr>
                          <a:rPr lang="en-US" altLang="zh-CN" i="1">
                            <a:solidFill>
                              <a:prstClr val="black"/>
                            </a:solidFill>
                            <a:latin typeface="Cambria Math"/>
                            <a:ea typeface="Cambria Math"/>
                          </a:rPr>
                        </m:ctrlPr>
                      </m:fPr>
                      <m:num>
                        <m:r>
                          <a:rPr lang="en-US" altLang="zh-CN" i="1">
                            <a:solidFill>
                              <a:prstClr val="black"/>
                            </a:solidFill>
                            <a:latin typeface="Cambria Math"/>
                            <a:ea typeface="Cambria Math"/>
                          </a:rPr>
                          <m:t>𝐴</m:t>
                        </m:r>
                        <m:r>
                          <a:rPr lang="zh-CN" altLang="en-US" i="1">
                            <a:solidFill>
                              <a:prstClr val="black"/>
                            </a:solidFill>
                            <a:latin typeface="Cambria Math"/>
                            <a:ea typeface="Cambria Math"/>
                          </a:rPr>
                          <m:t>、</m:t>
                        </m:r>
                        <m:r>
                          <a:rPr lang="en-US" altLang="zh-CN" i="1">
                            <a:solidFill>
                              <a:prstClr val="black"/>
                            </a:solidFill>
                            <a:latin typeface="Cambria Math"/>
                            <a:ea typeface="Cambria Math"/>
                          </a:rPr>
                          <m:t>𝐵</m:t>
                        </m:r>
                        <m:r>
                          <a:rPr lang="zh-CN" altLang="en-US" i="1">
                            <a:solidFill>
                              <a:prstClr val="black"/>
                            </a:solidFill>
                            <a:latin typeface="Cambria Math"/>
                            <a:ea typeface="Cambria Math"/>
                          </a:rPr>
                          <m:t>同时</m:t>
                        </m:r>
                        <m:r>
                          <a:rPr lang="zh-CN" altLang="en-US" i="1">
                            <a:solidFill>
                              <a:prstClr val="black"/>
                            </a:solidFill>
                            <a:latin typeface="Cambria Math"/>
                            <a:ea typeface="Cambria Math"/>
                          </a:rPr>
                          <m:t>发生的</m:t>
                        </m:r>
                        <m:r>
                          <a:rPr lang="zh-CN" altLang="en-US" i="1">
                            <a:solidFill>
                              <a:prstClr val="black"/>
                            </a:solidFill>
                            <a:latin typeface="Cambria Math"/>
                            <a:ea typeface="Cambria Math"/>
                          </a:rPr>
                          <m:t>事物</m:t>
                        </m:r>
                        <m:r>
                          <a:rPr lang="zh-CN" altLang="en-US" i="1">
                            <a:solidFill>
                              <a:prstClr val="black"/>
                            </a:solidFill>
                            <a:latin typeface="Cambria Math"/>
                            <a:ea typeface="Cambria Math"/>
                          </a:rPr>
                          <m:t>个数</m:t>
                        </m:r>
                      </m:num>
                      <m:den>
                        <m:r>
                          <a:rPr lang="zh-CN" altLang="en-US" i="1">
                            <a:solidFill>
                              <a:prstClr val="black"/>
                            </a:solidFill>
                            <a:latin typeface="Cambria Math"/>
                            <a:ea typeface="Cambria Math"/>
                          </a:rPr>
                          <m:t>所有的事物</m:t>
                        </m:r>
                      </m:den>
                    </m:f>
                    <m:r>
                      <a:rPr lang="en-US" altLang="zh-CN" i="1">
                        <a:solidFill>
                          <a:prstClr val="black"/>
                        </a:solidFill>
                        <a:latin typeface="Cambria Math"/>
                        <a:ea typeface="Cambria Math"/>
                      </a:rPr>
                      <m:t>=</m:t>
                    </m:r>
                    <m:f>
                      <m:fPr>
                        <m:ctrlPr>
                          <a:rPr lang="en-US" altLang="zh-CN" i="1">
                            <a:solidFill>
                              <a:prstClr val="black"/>
                            </a:solidFill>
                            <a:latin typeface="Cambria Math"/>
                            <a:ea typeface="Cambria Math"/>
                          </a:rPr>
                        </m:ctrlPr>
                      </m:fPr>
                      <m:num>
                        <m:r>
                          <m:rPr>
                            <m:sty m:val="p"/>
                          </m:rPr>
                          <a:rPr lang="en-US" altLang="zh-CN" i="1">
                            <a:solidFill>
                              <a:prstClr val="black"/>
                            </a:solidFill>
                            <a:latin typeface="Cambria Math"/>
                            <a:ea typeface="Cambria Math"/>
                          </a:rPr>
                          <m:t>Support</m:t>
                        </m:r>
                        <m:r>
                          <a:rPr lang="en-US" altLang="zh-CN" i="1">
                            <a:solidFill>
                              <a:prstClr val="black"/>
                            </a:solidFill>
                            <a:latin typeface="Cambria Math"/>
                            <a:ea typeface="Cambria Math"/>
                          </a:rPr>
                          <m:t>_</m:t>
                        </m:r>
                        <m:r>
                          <a:rPr lang="en-US" altLang="zh-CN" i="1">
                            <a:solidFill>
                              <a:prstClr val="black"/>
                            </a:solidFill>
                            <a:latin typeface="Cambria Math"/>
                            <a:ea typeface="Cambria Math"/>
                          </a:rPr>
                          <m:t>𝑐𝑜𝑢𝑛𝑡</m:t>
                        </m:r>
                        <m:r>
                          <a:rPr lang="en-US" altLang="zh-CN" i="1">
                            <a:solidFill>
                              <a:prstClr val="black"/>
                            </a:solidFill>
                            <a:latin typeface="Cambria Math"/>
                            <a:ea typeface="Cambria Math"/>
                          </a:rPr>
                          <m:t>(</m:t>
                        </m:r>
                        <m:r>
                          <a:rPr lang="en-US" altLang="zh-CN" i="1">
                            <a:solidFill>
                              <a:prstClr val="black"/>
                            </a:solidFill>
                            <a:latin typeface="Cambria Math"/>
                            <a:ea typeface="Cambria Math"/>
                          </a:rPr>
                          <m:t>𝐴</m:t>
                        </m:r>
                        <m:r>
                          <a:rPr lang="en-US" altLang="zh-CN" i="1">
                            <a:solidFill>
                              <a:prstClr val="black"/>
                            </a:solidFill>
                            <a:latin typeface="Cambria Math"/>
                            <a:ea typeface="Cambria Math"/>
                          </a:rPr>
                          <m:t>∩</m:t>
                        </m:r>
                        <m:r>
                          <a:rPr lang="en-US" altLang="zh-CN" i="1">
                            <a:solidFill>
                              <a:prstClr val="black"/>
                            </a:solidFill>
                            <a:latin typeface="Cambria Math"/>
                            <a:ea typeface="Cambria Math"/>
                          </a:rPr>
                          <m:t>𝐵</m:t>
                        </m:r>
                        <m:r>
                          <a:rPr lang="en-US" altLang="zh-CN" i="1">
                            <a:solidFill>
                              <a:prstClr val="black"/>
                            </a:solidFill>
                            <a:latin typeface="Cambria Math"/>
                            <a:ea typeface="Cambria Math"/>
                          </a:rPr>
                          <m:t>)</m:t>
                        </m:r>
                      </m:num>
                      <m:den>
                        <m:r>
                          <a:rPr lang="en-US" altLang="zh-CN" i="1">
                            <a:solidFill>
                              <a:prstClr val="black"/>
                            </a:solidFill>
                            <a:latin typeface="Cambria Math"/>
                            <a:ea typeface="Cambria Math"/>
                          </a:rPr>
                          <m:t>𝑇𝑜𝑡𝑎𝑙</m:t>
                        </m:r>
                      </m:den>
                    </m:f>
                  </m:oMath>
                </a14:m>
                <a:endParaRPr lang="en-US" altLang="zh-CN" sz="2000"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0"/>
                <a:r>
                  <a:rPr lang="en-US" altLang="zh-CN" sz="2000" dirty="0">
                    <a:solidFill>
                      <a:prstClr val="black"/>
                    </a:solidFill>
                  </a:rPr>
                  <a:t>Confidence(A=&gt;=P(A|B)=</a:t>
                </a:r>
                <a14:m>
                  <m:oMath xmlns:m="http://schemas.openxmlformats.org/officeDocument/2006/math">
                    <m:f>
                      <m:fPr>
                        <m:ctrlPr>
                          <a:rPr lang="en-US" altLang="zh-CN" sz="2400" i="1">
                            <a:solidFill>
                              <a:prstClr val="black"/>
                            </a:solidFill>
                            <a:latin typeface="Cambria Math"/>
                          </a:rPr>
                        </m:ctrlPr>
                      </m:fPr>
                      <m:num>
                        <m:r>
                          <a:rPr lang="en-US" altLang="zh-CN" sz="2400" i="1">
                            <a:solidFill>
                              <a:prstClr val="black"/>
                            </a:solidFill>
                            <a:latin typeface="Cambria Math"/>
                          </a:rPr>
                          <m:t>𝑆𝑢𝑝𝑝𝑜𝑟𝑡</m:t>
                        </m:r>
                        <m:r>
                          <a:rPr lang="en-US" altLang="zh-CN" sz="2400" i="1">
                            <a:solidFill>
                              <a:prstClr val="black"/>
                            </a:solidFill>
                            <a:latin typeface="Cambria Math"/>
                          </a:rPr>
                          <m:t>(</m:t>
                        </m:r>
                        <m:r>
                          <a:rPr lang="en-US" altLang="zh-CN" sz="2400" i="1">
                            <a:solidFill>
                              <a:prstClr val="black"/>
                            </a:solidFill>
                            <a:latin typeface="Cambria Math"/>
                          </a:rPr>
                          <m:t>𝐴</m:t>
                        </m:r>
                        <m:r>
                          <a:rPr lang="en-US" altLang="zh-CN" sz="2400" i="1">
                            <a:solidFill>
                              <a:prstClr val="black"/>
                            </a:solidFill>
                            <a:latin typeface="Cambria Math"/>
                            <a:ea typeface="Cambria Math"/>
                          </a:rPr>
                          <m:t>∩</m:t>
                        </m:r>
                        <m:r>
                          <a:rPr lang="en-US" altLang="zh-CN" sz="2400" i="1">
                            <a:solidFill>
                              <a:prstClr val="black"/>
                            </a:solidFill>
                            <a:latin typeface="Cambria Math"/>
                            <a:ea typeface="Cambria Math"/>
                          </a:rPr>
                          <m:t>𝐵</m:t>
                        </m:r>
                        <m:r>
                          <a:rPr lang="en-US" altLang="zh-CN" sz="2400" i="1">
                            <a:solidFill>
                              <a:prstClr val="black"/>
                            </a:solidFill>
                            <a:latin typeface="Cambria Math"/>
                            <a:ea typeface="Cambria Math"/>
                          </a:rPr>
                          <m:t>∩</m:t>
                        </m:r>
                        <m:r>
                          <a:rPr lang="en-US" altLang="zh-CN" sz="2400" b="0" i="1" smtClean="0">
                            <a:solidFill>
                              <a:prstClr val="black"/>
                            </a:solidFill>
                            <a:latin typeface="Cambria Math"/>
                            <a:ea typeface="Cambria Math"/>
                          </a:rPr>
                          <m:t>𝐶</m:t>
                        </m:r>
                        <m:r>
                          <a:rPr lang="en-US" altLang="zh-CN" sz="2400" i="1">
                            <a:solidFill>
                              <a:prstClr val="black"/>
                            </a:solidFill>
                            <a:latin typeface="Cambria Math"/>
                            <a:ea typeface="Cambria Math"/>
                          </a:rPr>
                          <m:t>)</m:t>
                        </m:r>
                      </m:num>
                      <m:den>
                        <m:r>
                          <a:rPr lang="en-US" altLang="zh-CN" sz="2400" i="1">
                            <a:solidFill>
                              <a:prstClr val="black"/>
                            </a:solidFill>
                            <a:latin typeface="Cambria Math"/>
                          </a:rPr>
                          <m:t>𝑆𝑢𝑝𝑝𝑜𝑟𝑡</m:t>
                        </m:r>
                        <m:r>
                          <a:rPr lang="en-US" altLang="zh-CN" sz="2400" i="1">
                            <a:solidFill>
                              <a:prstClr val="black"/>
                            </a:solidFill>
                            <a:latin typeface="Cambria Math"/>
                          </a:rPr>
                          <m:t>(</m:t>
                        </m:r>
                        <m:r>
                          <a:rPr lang="en-US" altLang="zh-CN" sz="2400" i="1">
                            <a:solidFill>
                              <a:prstClr val="black"/>
                            </a:solidFill>
                            <a:latin typeface="Cambria Math"/>
                          </a:rPr>
                          <m:t>𝐴</m:t>
                        </m:r>
                        <m:r>
                          <a:rPr lang="en-US" altLang="zh-CN" sz="2400" i="1">
                            <a:solidFill>
                              <a:prstClr val="black"/>
                            </a:solidFill>
                            <a:latin typeface="Cambria Math"/>
                            <a:ea typeface="Cambria Math"/>
                          </a:rPr>
                          <m:t>∩</m:t>
                        </m:r>
                        <m:r>
                          <a:rPr lang="en-US" altLang="zh-CN" sz="2400" b="0" i="1" smtClean="0">
                            <a:solidFill>
                              <a:prstClr val="black"/>
                            </a:solidFill>
                            <a:latin typeface="Cambria Math"/>
                            <a:ea typeface="Cambria Math"/>
                          </a:rPr>
                          <m:t>𝐵</m:t>
                        </m:r>
                        <m:r>
                          <a:rPr lang="en-US" altLang="zh-CN" sz="2400" i="1">
                            <a:solidFill>
                              <a:prstClr val="black"/>
                            </a:solidFill>
                            <a:latin typeface="Cambria Math"/>
                          </a:rPr>
                          <m:t>)</m:t>
                        </m:r>
                      </m:den>
                    </m:f>
                  </m:oMath>
                </a14:m>
                <a:r>
                  <a:rPr lang="en-US" altLang="zh-CN" sz="2000" dirty="0">
                    <a:solidFill>
                      <a:prstClr val="black"/>
                    </a:solidFill>
                  </a:rPr>
                  <a:t>=</a:t>
                </a:r>
                <a14:m>
                  <m:oMath xmlns:m="http://schemas.openxmlformats.org/officeDocument/2006/math">
                    <m:f>
                      <m:fPr>
                        <m:ctrlPr>
                          <a:rPr lang="en-US" altLang="zh-CN" sz="2400" i="1" dirty="0">
                            <a:solidFill>
                              <a:prstClr val="black"/>
                            </a:solidFill>
                            <a:latin typeface="Cambria Math"/>
                          </a:rPr>
                        </m:ctrlPr>
                      </m:fPr>
                      <m:num>
                        <m:r>
                          <a:rPr lang="en-US" altLang="zh-CN" sz="2400" i="1" dirty="0">
                            <a:solidFill>
                              <a:prstClr val="black"/>
                            </a:solidFill>
                            <a:latin typeface="Cambria Math"/>
                          </a:rPr>
                          <m:t>𝑆𝑢𝑝𝑝𝑜𝑟𝑡</m:t>
                        </m:r>
                        <m:r>
                          <a:rPr lang="en-US" altLang="zh-CN" sz="2400" i="1" dirty="0">
                            <a:solidFill>
                              <a:prstClr val="black"/>
                            </a:solidFill>
                            <a:latin typeface="Cambria Math"/>
                          </a:rPr>
                          <m:t>_</m:t>
                        </m:r>
                        <m:r>
                          <a:rPr lang="en-US" altLang="zh-CN" sz="2400" i="1" dirty="0">
                            <a:solidFill>
                              <a:prstClr val="black"/>
                            </a:solidFill>
                            <a:latin typeface="Cambria Math"/>
                          </a:rPr>
                          <m:t>𝑐𝑜𝑢𝑛𝑡</m:t>
                        </m:r>
                        <m:r>
                          <a:rPr lang="en-US" altLang="zh-CN" sz="2400" i="1" dirty="0">
                            <a:solidFill>
                              <a:prstClr val="black"/>
                            </a:solidFill>
                            <a:latin typeface="Cambria Math"/>
                          </a:rPr>
                          <m:t>(</m:t>
                        </m:r>
                        <m:r>
                          <a:rPr lang="en-US" altLang="zh-CN" sz="2400" i="1" dirty="0">
                            <a:solidFill>
                              <a:prstClr val="black"/>
                            </a:solidFill>
                            <a:latin typeface="Cambria Math"/>
                          </a:rPr>
                          <m:t>𝐴</m:t>
                        </m:r>
                        <m:r>
                          <a:rPr lang="en-US" altLang="zh-CN" sz="2400" i="1" dirty="0">
                            <a:solidFill>
                              <a:prstClr val="black"/>
                            </a:solidFill>
                            <a:latin typeface="Cambria Math"/>
                            <a:ea typeface="Cambria Math"/>
                          </a:rPr>
                          <m:t>∩</m:t>
                        </m:r>
                        <m:r>
                          <a:rPr lang="en-US" altLang="zh-CN" sz="2400" i="1" dirty="0">
                            <a:solidFill>
                              <a:prstClr val="black"/>
                            </a:solidFill>
                            <a:latin typeface="Cambria Math"/>
                            <a:ea typeface="Cambria Math"/>
                          </a:rPr>
                          <m:t>𝐵</m:t>
                        </m:r>
                        <m:r>
                          <a:rPr lang="en-US" altLang="zh-CN" sz="2400" i="1">
                            <a:solidFill>
                              <a:prstClr val="black"/>
                            </a:solidFill>
                            <a:latin typeface="Cambria Math"/>
                            <a:ea typeface="Cambria Math"/>
                          </a:rPr>
                          <m:t>∩</m:t>
                        </m:r>
                        <m:r>
                          <a:rPr lang="en-US" altLang="zh-CN" sz="2400" b="0" i="1" smtClean="0">
                            <a:solidFill>
                              <a:prstClr val="black"/>
                            </a:solidFill>
                            <a:latin typeface="Cambria Math"/>
                            <a:ea typeface="Cambria Math"/>
                          </a:rPr>
                          <m:t>𝐶</m:t>
                        </m:r>
                        <m:r>
                          <a:rPr lang="en-US" altLang="zh-CN" sz="2400" i="1" dirty="0">
                            <a:solidFill>
                              <a:prstClr val="black"/>
                            </a:solidFill>
                            <a:latin typeface="Cambria Math"/>
                            <a:ea typeface="Cambria Math"/>
                          </a:rPr>
                          <m:t>)</m:t>
                        </m:r>
                      </m:num>
                      <m:den>
                        <m:r>
                          <a:rPr lang="en-US" altLang="zh-CN" sz="2400" i="1" dirty="0">
                            <a:solidFill>
                              <a:prstClr val="black"/>
                            </a:solidFill>
                            <a:latin typeface="Cambria Math"/>
                          </a:rPr>
                          <m:t>𝑆𝑢𝑝𝑝𝑜𝑟𝑡</m:t>
                        </m:r>
                        <m:r>
                          <a:rPr lang="en-US" altLang="zh-CN" sz="2400" i="1" dirty="0">
                            <a:solidFill>
                              <a:prstClr val="black"/>
                            </a:solidFill>
                            <a:latin typeface="Cambria Math"/>
                          </a:rPr>
                          <m:t>_</m:t>
                        </m:r>
                        <m:r>
                          <a:rPr lang="en-US" altLang="zh-CN" sz="2400" i="1" dirty="0">
                            <a:solidFill>
                              <a:prstClr val="black"/>
                            </a:solidFill>
                            <a:latin typeface="Cambria Math"/>
                          </a:rPr>
                          <m:t>𝑐𝑜𝑢𝑛𝑡</m:t>
                        </m:r>
                        <m:r>
                          <a:rPr lang="en-US" altLang="zh-CN" sz="2400" i="1" dirty="0">
                            <a:solidFill>
                              <a:prstClr val="black"/>
                            </a:solidFill>
                            <a:latin typeface="Cambria Math"/>
                          </a:rPr>
                          <m:t>(</m:t>
                        </m:r>
                        <m:r>
                          <a:rPr lang="en-US" altLang="zh-CN" sz="2400" i="1" dirty="0">
                            <a:solidFill>
                              <a:prstClr val="black"/>
                            </a:solidFill>
                            <a:latin typeface="Cambria Math"/>
                          </a:rPr>
                          <m:t>𝐴</m:t>
                        </m:r>
                        <m:r>
                          <a:rPr lang="en-US" altLang="zh-CN" sz="2400" i="1">
                            <a:solidFill>
                              <a:prstClr val="black"/>
                            </a:solidFill>
                            <a:latin typeface="Cambria Math"/>
                            <a:ea typeface="Cambria Math"/>
                          </a:rPr>
                          <m:t>∩</m:t>
                        </m:r>
                        <m:r>
                          <a:rPr lang="en-US" altLang="zh-CN" sz="2400" b="0" i="1" smtClean="0">
                            <a:solidFill>
                              <a:prstClr val="black"/>
                            </a:solidFill>
                            <a:latin typeface="Cambria Math"/>
                            <a:ea typeface="Cambria Math"/>
                          </a:rPr>
                          <m:t>𝐵</m:t>
                        </m:r>
                        <m:r>
                          <a:rPr lang="en-US" altLang="zh-CN" sz="2400" i="1" dirty="0">
                            <a:solidFill>
                              <a:prstClr val="black"/>
                            </a:solidFill>
                            <a:latin typeface="Cambria Math"/>
                          </a:rPr>
                          <m:t>)</m:t>
                        </m:r>
                      </m:den>
                    </m:f>
                  </m:oMath>
                </a14:m>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p:txBody>
          </p:sp>
        </mc:Choice>
        <mc:Fallback>
          <p:sp>
            <p:nvSpPr>
              <p:cNvPr id="2" name="TextBox 1"/>
              <p:cNvSpPr txBox="1">
                <a:spLocks noRot="1" noChangeAspect="1" noMove="1" noResize="1" noEditPoints="1" noAdjustHandles="1" noChangeArrowheads="1" noChangeShapeType="1" noTextEdit="1"/>
              </p:cNvSpPr>
              <p:nvPr/>
            </p:nvSpPr>
            <p:spPr>
              <a:xfrm>
                <a:off x="539552" y="260648"/>
                <a:ext cx="8280920" cy="7915116"/>
              </a:xfrm>
              <a:prstGeom prst="rect">
                <a:avLst/>
              </a:prstGeom>
              <a:blipFill rotWithShape="1">
                <a:blip r:embed="rId2"/>
                <a:stretch>
                  <a:fillRect l="-810" t="-6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340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476672"/>
            <a:ext cx="7704856" cy="5078313"/>
          </a:xfrm>
          <a:prstGeom prst="rect">
            <a:avLst/>
          </a:prstGeom>
          <a:noFill/>
        </p:spPr>
        <p:txBody>
          <a:bodyPr wrap="square" rtlCol="0">
            <a:spAutoFit/>
          </a:bodyPr>
          <a:lstStyle/>
          <a:p>
            <a:r>
              <a:rPr lang="zh-CN" altLang="en-US" dirty="0"/>
              <a:t>其计算程序如下：</a:t>
            </a:r>
          </a:p>
          <a:p>
            <a:r>
              <a:rPr lang="en-US" altLang="zh-CN" dirty="0"/>
              <a:t>I1=Data['</a:t>
            </a:r>
            <a:r>
              <a:rPr lang="zh-CN" altLang="en-US" dirty="0"/>
              <a:t>纺织服装</a:t>
            </a:r>
            <a:r>
              <a:rPr lang="en-US" altLang="zh-CN" dirty="0"/>
              <a:t>_up'].values==1</a:t>
            </a:r>
          </a:p>
          <a:p>
            <a:r>
              <a:rPr lang="en-US" altLang="zh-CN" dirty="0"/>
              <a:t>I2=Data['</a:t>
            </a:r>
            <a:r>
              <a:rPr lang="zh-CN" altLang="en-US" dirty="0"/>
              <a:t>综合</a:t>
            </a:r>
            <a:r>
              <a:rPr lang="en-US" altLang="zh-CN" dirty="0"/>
              <a:t>_up'].values==1</a:t>
            </a:r>
          </a:p>
          <a:p>
            <a:r>
              <a:rPr lang="en-US" altLang="zh-CN" dirty="0"/>
              <a:t>I3=Data['</a:t>
            </a:r>
            <a:r>
              <a:rPr lang="zh-CN" altLang="en-US" dirty="0"/>
              <a:t>轻工制造</a:t>
            </a:r>
            <a:r>
              <a:rPr lang="en-US" altLang="zh-CN" dirty="0"/>
              <a:t>_up'].values==1</a:t>
            </a:r>
          </a:p>
          <a:p>
            <a:r>
              <a:rPr lang="en-US" altLang="zh-CN" dirty="0"/>
              <a:t>t123=</a:t>
            </a:r>
            <a:r>
              <a:rPr lang="en-US" altLang="zh-CN" dirty="0" err="1"/>
              <a:t>np.zeros</a:t>
            </a:r>
            <a:r>
              <a:rPr lang="en-US" altLang="zh-CN" dirty="0"/>
              <a:t>((1740))</a:t>
            </a:r>
          </a:p>
          <a:p>
            <a:r>
              <a:rPr lang="en-US" altLang="zh-CN" dirty="0"/>
              <a:t>t12=</a:t>
            </a:r>
            <a:r>
              <a:rPr lang="en-US" altLang="zh-CN" dirty="0" err="1"/>
              <a:t>np.zeros</a:t>
            </a:r>
            <a:r>
              <a:rPr lang="en-US" altLang="zh-CN" dirty="0"/>
              <a:t>((1740))</a:t>
            </a:r>
          </a:p>
          <a:p>
            <a:r>
              <a:rPr lang="en-US" altLang="zh-CN" dirty="0"/>
              <a:t>t123[I1&amp;I2&amp;I3]=1</a:t>
            </a:r>
          </a:p>
          <a:p>
            <a:r>
              <a:rPr lang="en-US" altLang="zh-CN" dirty="0"/>
              <a:t>t12[I1&amp;I2]=1</a:t>
            </a:r>
          </a:p>
          <a:p>
            <a:r>
              <a:rPr lang="en-US" altLang="zh-CN" dirty="0"/>
              <a:t>sp1=sum(t123)/1740</a:t>
            </a:r>
          </a:p>
          <a:p>
            <a:r>
              <a:rPr lang="en-US" altLang="zh-CN" dirty="0"/>
              <a:t>co1=sum(t123)/sum(t12)</a:t>
            </a:r>
          </a:p>
          <a:p>
            <a:r>
              <a:rPr lang="en-US" altLang="zh-CN" dirty="0"/>
              <a:t>print('co1= ',co1)</a:t>
            </a:r>
          </a:p>
          <a:p>
            <a:r>
              <a:rPr lang="en-US" altLang="zh-CN" dirty="0"/>
              <a:t>print('sp1= ',sp1)</a:t>
            </a:r>
          </a:p>
          <a:p>
            <a:r>
              <a:rPr lang="zh-CN" altLang="en-US" dirty="0"/>
              <a:t>输出结果如下：</a:t>
            </a:r>
          </a:p>
          <a:p>
            <a:r>
              <a:rPr lang="en-US" altLang="zh-CN" dirty="0"/>
              <a:t>co1=  0.960739030023</a:t>
            </a:r>
          </a:p>
          <a:p>
            <a:r>
              <a:rPr lang="en-US" altLang="zh-CN" dirty="0"/>
              <a:t>sp1=  0.47816091954</a:t>
            </a:r>
          </a:p>
          <a:p>
            <a:r>
              <a:rPr lang="en-US" altLang="zh-CN" dirty="0"/>
              <a:t> </a:t>
            </a:r>
            <a:r>
              <a:rPr lang="en-US" altLang="zh-CN" dirty="0" smtClean="0"/>
              <a:t>         </a:t>
            </a:r>
            <a:r>
              <a:rPr lang="zh-CN" altLang="en-US" dirty="0" smtClean="0"/>
              <a:t>通过</a:t>
            </a:r>
            <a:r>
              <a:rPr lang="zh-CN" altLang="en-US" dirty="0"/>
              <a:t>关联规则置信度和支持度计算公式，计算了规则</a:t>
            </a:r>
            <a:r>
              <a:rPr lang="en-US" altLang="zh-CN" dirty="0"/>
              <a:t>1</a:t>
            </a:r>
            <a:r>
              <a:rPr lang="zh-CN" altLang="en-US" dirty="0"/>
              <a:t>和规则</a:t>
            </a:r>
            <a:r>
              <a:rPr lang="en-US" altLang="zh-CN" dirty="0"/>
              <a:t>7</a:t>
            </a:r>
            <a:r>
              <a:rPr lang="zh-CN" altLang="en-US" dirty="0"/>
              <a:t>的置信度和支持度，验证</a:t>
            </a:r>
            <a:r>
              <a:rPr lang="en-US" altLang="zh-CN" dirty="0" err="1"/>
              <a:t>aprori</a:t>
            </a:r>
            <a:r>
              <a:rPr lang="zh-CN" altLang="en-US" dirty="0"/>
              <a:t>程序结果的正确性，从而更好地理解关联规则的置信度和支持度，为进一步的应用提供了基础。</a:t>
            </a:r>
          </a:p>
        </p:txBody>
      </p:sp>
    </p:spTree>
    <p:extLst>
      <p:ext uri="{BB962C8B-B14F-4D97-AF65-F5344CB8AC3E}">
        <p14:creationId xmlns:p14="http://schemas.microsoft.com/office/powerpoint/2010/main" val="1832415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260648"/>
            <a:ext cx="8928992" cy="6278642"/>
          </a:xfrm>
          <a:prstGeom prst="rect">
            <a:avLst/>
          </a:prstGeom>
          <a:noFill/>
        </p:spPr>
        <p:txBody>
          <a:bodyPr wrap="square" rtlCol="0">
            <a:spAutoFit/>
          </a:bodyPr>
          <a:lstStyle/>
          <a:p>
            <a:r>
              <a:rPr lang="en-US" altLang="zh-CN" sz="2400" dirty="0"/>
              <a:t>11.4.3 </a:t>
            </a:r>
            <a:r>
              <a:rPr lang="zh-CN" altLang="en-US" sz="2400" dirty="0"/>
              <a:t>行业轮动关联规则挖掘</a:t>
            </a:r>
          </a:p>
          <a:p>
            <a:r>
              <a:rPr lang="zh-CN" altLang="en-US" dirty="0"/>
              <a:t>本节利用关联规则的支持度和置信度定义公式来挖掘单个行业之间的行业轮动规则（一对一关联规则，即规则的前件和后件仅有一个项，这里指仅有一个行业）。为了方便后续周、月行业轮动关联规则挖掘的使用，我们借鉴</a:t>
            </a:r>
            <a:r>
              <a:rPr lang="en-US" altLang="zh-CN" dirty="0"/>
              <a:t>6.2.1</a:t>
            </a:r>
            <a:r>
              <a:rPr lang="zh-CN" altLang="en-US" dirty="0"/>
              <a:t>中一对一关联规则挖掘程序案例，将挖掘行业轮动关联规则的程序代码定义为函数的形式，其函数名称记为</a:t>
            </a:r>
            <a:r>
              <a:rPr lang="en-US" altLang="zh-CN" dirty="0"/>
              <a:t>rule</a:t>
            </a:r>
            <a:r>
              <a:rPr lang="zh-CN" altLang="en-US" dirty="0"/>
              <a:t>，存在于</a:t>
            </a:r>
            <a:r>
              <a:rPr lang="en-US" altLang="zh-CN" dirty="0"/>
              <a:t>OneRule.py</a:t>
            </a:r>
            <a:r>
              <a:rPr lang="zh-CN" altLang="en-US" dirty="0"/>
              <a:t>文件中。函数定义示例代码如下</a:t>
            </a:r>
            <a:r>
              <a:rPr lang="zh-CN" altLang="en-US" dirty="0" smtClean="0"/>
              <a:t>：</a:t>
            </a:r>
            <a:endParaRPr lang="en-US" altLang="zh-CN" dirty="0" smtClean="0"/>
          </a:p>
          <a:p>
            <a:r>
              <a:rPr lang="en-US" altLang="zh-CN" dirty="0" err="1"/>
              <a:t>def</a:t>
            </a:r>
            <a:r>
              <a:rPr lang="en-US" altLang="zh-CN" dirty="0"/>
              <a:t> rule(Data,s0,c0):</a:t>
            </a:r>
            <a:endParaRPr lang="zh-CN" altLang="zh-CN" dirty="0"/>
          </a:p>
          <a:p>
            <a:r>
              <a:rPr lang="en-US" altLang="zh-CN" dirty="0"/>
              <a:t>   #</a:t>
            </a:r>
            <a:r>
              <a:rPr lang="zh-CN" altLang="zh-CN" dirty="0"/>
              <a:t>获取字段名称（行业名称</a:t>
            </a:r>
            <a:r>
              <a:rPr lang="en-US" altLang="zh-CN" dirty="0"/>
              <a:t>_up</a:t>
            </a:r>
            <a:r>
              <a:rPr lang="zh-CN" altLang="zh-CN" dirty="0"/>
              <a:t>），并转化为列表</a:t>
            </a:r>
          </a:p>
          <a:p>
            <a:r>
              <a:rPr lang="en-US" altLang="zh-CN" dirty="0"/>
              <a:t>   import </a:t>
            </a:r>
            <a:r>
              <a:rPr lang="en-US" altLang="zh-CN" dirty="0" err="1"/>
              <a:t>numpy</a:t>
            </a:r>
            <a:r>
              <a:rPr lang="en-US" altLang="zh-CN" dirty="0"/>
              <a:t> as </a:t>
            </a:r>
            <a:r>
              <a:rPr lang="en-US" altLang="zh-CN" dirty="0" err="1"/>
              <a:t>np</a:t>
            </a:r>
            <a:endParaRPr lang="zh-CN" altLang="zh-CN" dirty="0"/>
          </a:p>
          <a:p>
            <a:r>
              <a:rPr lang="en-US" altLang="zh-CN" dirty="0"/>
              <a:t>   import pandas as </a:t>
            </a:r>
            <a:r>
              <a:rPr lang="en-US" altLang="zh-CN" dirty="0" err="1"/>
              <a:t>pd</a:t>
            </a:r>
            <a:endParaRPr lang="zh-CN" altLang="zh-CN" dirty="0"/>
          </a:p>
          <a:p>
            <a:r>
              <a:rPr lang="en-US" altLang="zh-CN" dirty="0"/>
              <a:t>   c=list(</a:t>
            </a:r>
            <a:r>
              <a:rPr lang="en-US" altLang="zh-CN" dirty="0" err="1"/>
              <a:t>Data.columns</a:t>
            </a:r>
            <a:r>
              <a:rPr lang="en-US" altLang="zh-CN" dirty="0"/>
              <a:t>) </a:t>
            </a:r>
            <a:endParaRPr lang="zh-CN" altLang="zh-CN" dirty="0"/>
          </a:p>
          <a:p>
            <a:r>
              <a:rPr lang="en-US" altLang="zh-CN" dirty="0"/>
              <a:t>   list1=[] #</a:t>
            </a:r>
            <a:r>
              <a:rPr lang="zh-CN" altLang="zh-CN" dirty="0"/>
              <a:t>预定义定义列表</a:t>
            </a:r>
            <a:r>
              <a:rPr lang="en-US" altLang="zh-CN" dirty="0"/>
              <a:t>list1</a:t>
            </a:r>
            <a:r>
              <a:rPr lang="zh-CN" altLang="zh-CN" dirty="0"/>
              <a:t>，用于存放规则</a:t>
            </a:r>
          </a:p>
          <a:p>
            <a:r>
              <a:rPr lang="en-US" altLang="zh-CN" dirty="0"/>
              <a:t>   list2=[] #</a:t>
            </a:r>
            <a:r>
              <a:rPr lang="zh-CN" altLang="zh-CN" dirty="0"/>
              <a:t>预定义定义列表</a:t>
            </a:r>
            <a:r>
              <a:rPr lang="en-US" altLang="zh-CN" dirty="0"/>
              <a:t>list2</a:t>
            </a:r>
            <a:r>
              <a:rPr lang="zh-CN" altLang="zh-CN" dirty="0"/>
              <a:t>，用于存放规则的支持度</a:t>
            </a:r>
          </a:p>
          <a:p>
            <a:r>
              <a:rPr lang="en-US" altLang="zh-CN" dirty="0"/>
              <a:t>   list3=[] #</a:t>
            </a:r>
            <a:r>
              <a:rPr lang="zh-CN" altLang="zh-CN" dirty="0"/>
              <a:t>预定义定义列表</a:t>
            </a:r>
            <a:r>
              <a:rPr lang="en-US" altLang="zh-CN" dirty="0"/>
              <a:t>list3</a:t>
            </a:r>
            <a:r>
              <a:rPr lang="zh-CN" altLang="zh-CN" dirty="0"/>
              <a:t>，用于存放规则的置信度</a:t>
            </a:r>
          </a:p>
          <a:p>
            <a:r>
              <a:rPr lang="en-US" altLang="zh-CN" dirty="0"/>
              <a:t>   for k in range(</a:t>
            </a:r>
            <a:r>
              <a:rPr lang="en-US" altLang="zh-CN" dirty="0" err="1"/>
              <a:t>len</a:t>
            </a:r>
            <a:r>
              <a:rPr lang="en-US" altLang="zh-CN" dirty="0"/>
              <a:t>(c)):</a:t>
            </a:r>
            <a:endParaRPr lang="zh-CN" altLang="zh-CN" dirty="0"/>
          </a:p>
          <a:p>
            <a:r>
              <a:rPr lang="en-US" altLang="zh-CN" dirty="0"/>
              <a:t>       for q in range(</a:t>
            </a:r>
            <a:r>
              <a:rPr lang="en-US" altLang="zh-CN" dirty="0" err="1"/>
              <a:t>len</a:t>
            </a:r>
            <a:r>
              <a:rPr lang="en-US" altLang="zh-CN" dirty="0"/>
              <a:t>(c)):</a:t>
            </a:r>
            <a:endParaRPr lang="zh-CN" altLang="zh-CN" dirty="0"/>
          </a:p>
          <a:p>
            <a:r>
              <a:rPr lang="en-US" altLang="zh-CN" dirty="0"/>
              <a:t>           #</a:t>
            </a:r>
            <a:r>
              <a:rPr lang="zh-CN" altLang="zh-CN" dirty="0"/>
              <a:t>对第</a:t>
            </a:r>
            <a:r>
              <a:rPr lang="en-US" altLang="zh-CN" dirty="0"/>
              <a:t>c[k]</a:t>
            </a:r>
            <a:r>
              <a:rPr lang="zh-CN" altLang="zh-CN" dirty="0"/>
              <a:t>个行业与第</a:t>
            </a:r>
            <a:r>
              <a:rPr lang="en-US" altLang="zh-CN" dirty="0"/>
              <a:t>c[q]</a:t>
            </a:r>
            <a:r>
              <a:rPr lang="zh-CN" altLang="zh-CN" dirty="0"/>
              <a:t>个行业计算行业轮动规则</a:t>
            </a:r>
          </a:p>
          <a:p>
            <a:r>
              <a:rPr lang="en-US" altLang="zh-CN" dirty="0"/>
              <a:t>           #</a:t>
            </a:r>
            <a:r>
              <a:rPr lang="zh-CN" altLang="zh-CN" dirty="0"/>
              <a:t>规则的前件为</a:t>
            </a:r>
            <a:r>
              <a:rPr lang="en-US" altLang="zh-CN" dirty="0"/>
              <a:t>c[k]</a:t>
            </a:r>
            <a:endParaRPr lang="zh-CN" altLang="zh-CN" dirty="0"/>
          </a:p>
          <a:p>
            <a:r>
              <a:rPr lang="en-US" altLang="zh-CN" dirty="0"/>
              <a:t>           #</a:t>
            </a:r>
            <a:r>
              <a:rPr lang="zh-CN" altLang="zh-CN" dirty="0"/>
              <a:t>规则的后件为</a:t>
            </a:r>
            <a:r>
              <a:rPr lang="en-US" altLang="zh-CN" dirty="0"/>
              <a:t>c[q]</a:t>
            </a:r>
            <a:r>
              <a:rPr lang="zh-CN" altLang="zh-CN" dirty="0"/>
              <a:t>，计算周期与</a:t>
            </a:r>
            <a:r>
              <a:rPr lang="en-US" altLang="zh-CN" dirty="0"/>
              <a:t>c[k]</a:t>
            </a:r>
            <a:r>
              <a:rPr lang="zh-CN" altLang="zh-CN" dirty="0"/>
              <a:t>需后移一个周期</a:t>
            </a:r>
          </a:p>
          <a:p>
            <a:r>
              <a:rPr lang="en-US" altLang="zh-CN" dirty="0"/>
              <a:t>           c1=Data[c[k]][0:-1]</a:t>
            </a:r>
            <a:endParaRPr lang="zh-CN" altLang="zh-CN" dirty="0"/>
          </a:p>
          <a:p>
            <a:r>
              <a:rPr lang="en-US" altLang="zh-CN" dirty="0"/>
              <a:t>           c2=Data[c[q]][1:]</a:t>
            </a:r>
            <a:endParaRPr lang="zh-CN" altLang="zh-CN" dirty="0"/>
          </a:p>
          <a:p>
            <a:endParaRPr lang="zh-CN" altLang="en-US" dirty="0"/>
          </a:p>
        </p:txBody>
      </p:sp>
    </p:spTree>
    <p:extLst>
      <p:ext uri="{BB962C8B-B14F-4D97-AF65-F5344CB8AC3E}">
        <p14:creationId xmlns:p14="http://schemas.microsoft.com/office/powerpoint/2010/main" val="1403231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188640"/>
            <a:ext cx="8424936" cy="6832640"/>
          </a:xfrm>
          <a:prstGeom prst="rect">
            <a:avLst/>
          </a:prstGeom>
          <a:noFill/>
        </p:spPr>
        <p:txBody>
          <a:bodyPr wrap="square" rtlCol="0">
            <a:spAutoFit/>
          </a:bodyPr>
          <a:lstStyle/>
          <a:p>
            <a:r>
              <a:rPr lang="en-US" altLang="zh-CN" dirty="0"/>
              <a:t> </a:t>
            </a:r>
            <a:r>
              <a:rPr lang="en-US" altLang="zh-CN" sz="1600" dirty="0"/>
              <a:t>I1=c1.values==1</a:t>
            </a:r>
          </a:p>
          <a:p>
            <a:r>
              <a:rPr lang="en-US" altLang="zh-CN" sz="1600" dirty="0"/>
              <a:t>           I2=c2.values==1</a:t>
            </a:r>
          </a:p>
          <a:p>
            <a:r>
              <a:rPr lang="en-US" altLang="zh-CN" sz="1600" dirty="0"/>
              <a:t>           t12=</a:t>
            </a:r>
            <a:r>
              <a:rPr lang="en-US" altLang="zh-CN" sz="1600" dirty="0" err="1"/>
              <a:t>np.zeros</a:t>
            </a:r>
            <a:r>
              <a:rPr lang="en-US" altLang="zh-CN" sz="1600" dirty="0"/>
              <a:t>((</a:t>
            </a:r>
            <a:r>
              <a:rPr lang="en-US" altLang="zh-CN" sz="1600" dirty="0" err="1"/>
              <a:t>len</a:t>
            </a:r>
            <a:r>
              <a:rPr lang="en-US" altLang="zh-CN" sz="1600" dirty="0"/>
              <a:t>(c1)))</a:t>
            </a:r>
          </a:p>
          <a:p>
            <a:r>
              <a:rPr lang="en-US" altLang="zh-CN" sz="1600" dirty="0"/>
              <a:t>           t1=</a:t>
            </a:r>
            <a:r>
              <a:rPr lang="en-US" altLang="zh-CN" sz="1600" dirty="0" err="1"/>
              <a:t>np.zeros</a:t>
            </a:r>
            <a:r>
              <a:rPr lang="en-US" altLang="zh-CN" sz="1600" dirty="0"/>
              <a:t>((</a:t>
            </a:r>
            <a:r>
              <a:rPr lang="en-US" altLang="zh-CN" sz="1600" dirty="0" err="1"/>
              <a:t>len</a:t>
            </a:r>
            <a:r>
              <a:rPr lang="en-US" altLang="zh-CN" sz="1600" dirty="0"/>
              <a:t>(c1)))</a:t>
            </a:r>
          </a:p>
          <a:p>
            <a:r>
              <a:rPr lang="en-US" altLang="zh-CN" sz="1600" dirty="0"/>
              <a:t>           t12[I1&amp;I2]=1</a:t>
            </a:r>
          </a:p>
          <a:p>
            <a:r>
              <a:rPr lang="en-US" altLang="zh-CN" sz="1600" dirty="0"/>
              <a:t>           t1[I1]=1</a:t>
            </a:r>
          </a:p>
          <a:p>
            <a:r>
              <a:rPr lang="en-US" altLang="zh-CN" sz="1600" dirty="0"/>
              <a:t>           </a:t>
            </a:r>
            <a:r>
              <a:rPr lang="en-US" altLang="zh-CN" sz="1600" dirty="0" err="1"/>
              <a:t>sp</a:t>
            </a:r>
            <a:r>
              <a:rPr lang="en-US" altLang="zh-CN" sz="1600" dirty="0"/>
              <a:t>=sum(t12)/</a:t>
            </a:r>
            <a:r>
              <a:rPr lang="en-US" altLang="zh-CN" sz="1600" dirty="0" err="1"/>
              <a:t>len</a:t>
            </a:r>
            <a:r>
              <a:rPr lang="en-US" altLang="zh-CN" sz="1600" dirty="0"/>
              <a:t>(c1) #</a:t>
            </a:r>
            <a:r>
              <a:rPr lang="zh-CN" altLang="en-US" sz="1600" dirty="0"/>
              <a:t>支持度</a:t>
            </a:r>
          </a:p>
          <a:p>
            <a:r>
              <a:rPr lang="zh-CN" altLang="en-US" sz="1600" dirty="0"/>
              <a:t>           </a:t>
            </a:r>
            <a:r>
              <a:rPr lang="en-US" altLang="zh-CN" sz="1600" dirty="0"/>
              <a:t>co=sum(t12)/sum(t1) #</a:t>
            </a:r>
            <a:r>
              <a:rPr lang="zh-CN" altLang="en-US" sz="1600" dirty="0"/>
              <a:t>置信度</a:t>
            </a:r>
          </a:p>
          <a:p>
            <a:r>
              <a:rPr lang="zh-CN" altLang="en-US" sz="1600" dirty="0"/>
              <a:t>           </a:t>
            </a:r>
            <a:r>
              <a:rPr lang="en-US" altLang="zh-CN" sz="1600" dirty="0"/>
              <a:t>if co&gt;c0 and </a:t>
            </a:r>
            <a:r>
              <a:rPr lang="en-US" altLang="zh-CN" sz="1600" dirty="0" err="1"/>
              <a:t>sp</a:t>
            </a:r>
            <a:r>
              <a:rPr lang="en-US" altLang="zh-CN" sz="1600" dirty="0"/>
              <a:t>&gt;s0:</a:t>
            </a:r>
          </a:p>
          <a:p>
            <a:r>
              <a:rPr lang="en-US" altLang="zh-CN" sz="1600" dirty="0"/>
              <a:t>              list1.append(c[k]+'--'+c[q])</a:t>
            </a:r>
          </a:p>
          <a:p>
            <a:r>
              <a:rPr lang="en-US" altLang="zh-CN" sz="1600" dirty="0"/>
              <a:t>              list2.append(</a:t>
            </a:r>
            <a:r>
              <a:rPr lang="en-US" altLang="zh-CN" sz="1600" dirty="0" err="1"/>
              <a:t>sp</a:t>
            </a:r>
            <a:r>
              <a:rPr lang="en-US" altLang="zh-CN" sz="1600" dirty="0"/>
              <a:t>)</a:t>
            </a:r>
          </a:p>
          <a:p>
            <a:r>
              <a:rPr lang="en-US" altLang="zh-CN" sz="1600" dirty="0"/>
              <a:t>              list3.append(co)</a:t>
            </a:r>
          </a:p>
          <a:p>
            <a:r>
              <a:rPr lang="en-US" altLang="zh-CN" sz="1600" dirty="0"/>
              <a:t>   #</a:t>
            </a:r>
            <a:r>
              <a:rPr lang="zh-CN" altLang="en-US" sz="1600" dirty="0"/>
              <a:t>定义字典，用于存放关联规则及其置信度、支持度   </a:t>
            </a:r>
          </a:p>
          <a:p>
            <a:r>
              <a:rPr lang="zh-CN" altLang="en-US" sz="1600" dirty="0"/>
              <a:t>   </a:t>
            </a:r>
            <a:r>
              <a:rPr lang="en-US" altLang="zh-CN" sz="1600" dirty="0"/>
              <a:t>R={'rule':list1,'support':list2,'confidence':list3}</a:t>
            </a:r>
          </a:p>
          <a:p>
            <a:r>
              <a:rPr lang="en-US" altLang="zh-CN" sz="1600" dirty="0"/>
              <a:t>   #</a:t>
            </a:r>
            <a:r>
              <a:rPr lang="zh-CN" altLang="en-US" sz="1600" dirty="0"/>
              <a:t>将字典转化为数据框</a:t>
            </a:r>
          </a:p>
          <a:p>
            <a:r>
              <a:rPr lang="zh-CN" altLang="en-US" sz="1600" dirty="0"/>
              <a:t>   </a:t>
            </a:r>
            <a:r>
              <a:rPr lang="en-US" altLang="zh-CN" sz="1600" dirty="0"/>
              <a:t>R=</a:t>
            </a:r>
            <a:r>
              <a:rPr lang="en-US" altLang="zh-CN" sz="1600" dirty="0" err="1"/>
              <a:t>pd.DataFrame</a:t>
            </a:r>
            <a:r>
              <a:rPr lang="en-US" altLang="zh-CN" sz="1600" dirty="0"/>
              <a:t>(R)</a:t>
            </a:r>
          </a:p>
          <a:p>
            <a:r>
              <a:rPr lang="en-US" altLang="zh-CN" sz="1600" dirty="0"/>
              <a:t>   #</a:t>
            </a:r>
            <a:r>
              <a:rPr lang="zh-CN" altLang="en-US" sz="1600" dirty="0"/>
              <a:t>将结果导出到</a:t>
            </a:r>
            <a:r>
              <a:rPr lang="en-US" altLang="zh-CN" sz="1600" dirty="0"/>
              <a:t>Excel</a:t>
            </a:r>
          </a:p>
          <a:p>
            <a:r>
              <a:rPr lang="en-US" altLang="zh-CN" sz="1600" dirty="0"/>
              <a:t>   </a:t>
            </a:r>
            <a:r>
              <a:rPr lang="en-US" altLang="zh-CN" sz="1600" dirty="0" err="1"/>
              <a:t>R.to_excel</a:t>
            </a:r>
            <a:r>
              <a:rPr lang="en-US" altLang="zh-CN" sz="1600" dirty="0"/>
              <a:t>('R.xlsx')</a:t>
            </a:r>
          </a:p>
          <a:p>
            <a:r>
              <a:rPr lang="en-US" altLang="zh-CN" sz="1600" dirty="0"/>
              <a:t>   return </a:t>
            </a:r>
            <a:r>
              <a:rPr lang="en-US" altLang="zh-CN" sz="1600" dirty="0" smtClean="0"/>
              <a:t>R</a:t>
            </a:r>
          </a:p>
          <a:p>
            <a:r>
              <a:rPr lang="en-US" altLang="zh-CN" sz="1600" dirty="0" smtClean="0"/>
              <a:t>    </a:t>
            </a:r>
            <a:r>
              <a:rPr lang="zh-CN" altLang="zh-CN" sz="1600" dirty="0" smtClean="0"/>
              <a:t>该</a:t>
            </a:r>
            <a:r>
              <a:rPr lang="zh-CN" altLang="zh-CN" sz="1600" dirty="0"/>
              <a:t>函数输入参数为布尔数据集</a:t>
            </a:r>
            <a:r>
              <a:rPr lang="en-US" altLang="zh-CN" sz="1600" dirty="0"/>
              <a:t>Data</a:t>
            </a:r>
            <a:r>
              <a:rPr lang="zh-CN" altLang="zh-CN" sz="1600" dirty="0"/>
              <a:t>、最小支持度</a:t>
            </a:r>
            <a:r>
              <a:rPr lang="en-US" altLang="zh-CN" sz="1600" dirty="0"/>
              <a:t>s0</a:t>
            </a:r>
            <a:r>
              <a:rPr lang="zh-CN" altLang="zh-CN" sz="1600" dirty="0"/>
              <a:t>和最小置信度</a:t>
            </a:r>
            <a:r>
              <a:rPr lang="en-US" altLang="zh-CN" sz="1600" dirty="0"/>
              <a:t>c0</a:t>
            </a:r>
            <a:r>
              <a:rPr lang="zh-CN" altLang="zh-CN" sz="1600" dirty="0"/>
              <a:t>，返回值为一对一行业轮动关联规则。比如本例设置行业关联规则的最小支持度和最小置信度分别大于</a:t>
            </a:r>
            <a:r>
              <a:rPr lang="en-US" altLang="zh-CN" sz="1600" dirty="0"/>
              <a:t>0.3</a:t>
            </a:r>
            <a:r>
              <a:rPr lang="zh-CN" altLang="zh-CN" sz="1600" dirty="0"/>
              <a:t>和</a:t>
            </a:r>
            <a:r>
              <a:rPr lang="en-US" altLang="zh-CN" sz="1600" dirty="0"/>
              <a:t>0.59</a:t>
            </a:r>
            <a:r>
              <a:rPr lang="zh-CN" altLang="zh-CN" sz="1600" dirty="0"/>
              <a:t>，调用定义的</a:t>
            </a:r>
            <a:r>
              <a:rPr lang="en-US" altLang="zh-CN" sz="1600" dirty="0"/>
              <a:t>rule</a:t>
            </a:r>
            <a:r>
              <a:rPr lang="zh-CN" altLang="zh-CN" sz="1600" dirty="0"/>
              <a:t>函数进行行业轮动关联规则挖掘，示例代码如下：</a:t>
            </a:r>
          </a:p>
          <a:p>
            <a:r>
              <a:rPr lang="en-US" altLang="zh-CN" sz="1600" dirty="0"/>
              <a:t>import </a:t>
            </a:r>
            <a:r>
              <a:rPr lang="en-US" altLang="zh-CN" sz="1600" dirty="0" err="1"/>
              <a:t>OneRule</a:t>
            </a:r>
            <a:r>
              <a:rPr lang="en-US" altLang="zh-CN" sz="1600" dirty="0"/>
              <a:t> as OR</a:t>
            </a:r>
            <a:endParaRPr lang="zh-CN" altLang="zh-CN" sz="1600" dirty="0"/>
          </a:p>
          <a:p>
            <a:r>
              <a:rPr lang="en-US" altLang="zh-CN" sz="1600" dirty="0"/>
              <a:t>r=</a:t>
            </a:r>
            <a:r>
              <a:rPr lang="en-US" altLang="zh-CN" sz="1600" dirty="0" err="1"/>
              <a:t>OR.rule</a:t>
            </a:r>
            <a:r>
              <a:rPr lang="en-US" altLang="zh-CN" sz="1600" dirty="0"/>
              <a:t>(Data,0.3,0.59</a:t>
            </a:r>
            <a:r>
              <a:rPr lang="en-US" altLang="zh-CN" sz="1600" dirty="0" smtClean="0"/>
              <a:t>)</a:t>
            </a:r>
          </a:p>
          <a:p>
            <a:r>
              <a:rPr lang="zh-CN" altLang="zh-CN" sz="1600" dirty="0"/>
              <a:t>执行结果如表</a:t>
            </a:r>
            <a:r>
              <a:rPr lang="en-US" altLang="zh-CN" sz="1600" dirty="0"/>
              <a:t>11-5</a:t>
            </a:r>
            <a:r>
              <a:rPr lang="zh-CN" altLang="zh-CN" sz="1600" dirty="0"/>
              <a:t>所示。</a:t>
            </a:r>
          </a:p>
          <a:p>
            <a:endParaRPr lang="zh-CN" altLang="zh-CN" sz="1600" dirty="0"/>
          </a:p>
          <a:p>
            <a:endParaRPr lang="zh-CN" altLang="en-US" dirty="0"/>
          </a:p>
        </p:txBody>
      </p:sp>
    </p:spTree>
    <p:extLst>
      <p:ext uri="{BB962C8B-B14F-4D97-AF65-F5344CB8AC3E}">
        <p14:creationId xmlns:p14="http://schemas.microsoft.com/office/powerpoint/2010/main" val="3523990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408798352"/>
              </p:ext>
            </p:extLst>
          </p:nvPr>
        </p:nvGraphicFramePr>
        <p:xfrm>
          <a:off x="755576" y="382140"/>
          <a:ext cx="6696743" cy="5334000"/>
        </p:xfrm>
        <a:graphic>
          <a:graphicData uri="http://schemas.openxmlformats.org/drawingml/2006/table">
            <a:tbl>
              <a:tblPr firstRow="1" firstCol="1" bandRow="1"/>
              <a:tblGrid>
                <a:gridCol w="932020"/>
                <a:gridCol w="2628645"/>
                <a:gridCol w="1272036"/>
                <a:gridCol w="1864042"/>
              </a:tblGrid>
              <a:tr h="190101">
                <a:tc>
                  <a:txBody>
                    <a:bodyPr/>
                    <a:lstStyle/>
                    <a:p>
                      <a:pPr algn="l">
                        <a:spcAft>
                          <a:spcPts val="0"/>
                        </a:spcAft>
                      </a:pPr>
                      <a:r>
                        <a:rPr lang="en-US" sz="1400" b="0" kern="0" dirty="0">
                          <a:solidFill>
                            <a:srgbClr val="000000"/>
                          </a:solidFill>
                          <a:effectLst/>
                          <a:latin typeface="宋体"/>
                          <a:ea typeface="宋体"/>
                          <a:cs typeface="宋体"/>
                        </a:rPr>
                        <a:t>ID</a:t>
                      </a:r>
                      <a:endParaRPr lang="zh-CN" sz="1400" b="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b="0" kern="0" dirty="0">
                          <a:solidFill>
                            <a:srgbClr val="000000"/>
                          </a:solidFill>
                          <a:effectLst/>
                          <a:latin typeface="宋体"/>
                          <a:ea typeface="宋体"/>
                          <a:cs typeface="宋体"/>
                        </a:rPr>
                        <a:t>rule</a:t>
                      </a:r>
                      <a:endParaRPr lang="zh-CN" sz="1400" b="0"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b="0" kern="0">
                          <a:solidFill>
                            <a:srgbClr val="000000"/>
                          </a:solidFill>
                          <a:effectLst/>
                          <a:latin typeface="宋体"/>
                          <a:ea typeface="宋体"/>
                          <a:cs typeface="宋体"/>
                        </a:rPr>
                        <a:t>support</a:t>
                      </a:r>
                      <a:endParaRPr lang="zh-CN" sz="1400" b="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b="0" kern="0">
                          <a:solidFill>
                            <a:srgbClr val="000000"/>
                          </a:solidFill>
                          <a:effectLst/>
                          <a:latin typeface="宋体"/>
                          <a:ea typeface="宋体"/>
                          <a:cs typeface="宋体"/>
                        </a:rPr>
                        <a:t>confidence</a:t>
                      </a:r>
                      <a:endParaRPr lang="zh-CN" sz="1400" b="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101">
                <a:tc>
                  <a:txBody>
                    <a:bodyPr/>
                    <a:lstStyle/>
                    <a:p>
                      <a:pPr algn="l">
                        <a:spcAft>
                          <a:spcPts val="0"/>
                        </a:spcAft>
                      </a:pPr>
                      <a:r>
                        <a:rPr lang="en-US" sz="1400" b="0" kern="0" dirty="0">
                          <a:solidFill>
                            <a:srgbClr val="000000"/>
                          </a:solidFill>
                          <a:effectLst/>
                          <a:latin typeface="宋体"/>
                          <a:ea typeface="宋体"/>
                          <a:cs typeface="宋体"/>
                        </a:rPr>
                        <a:t>0</a:t>
                      </a:r>
                      <a:endParaRPr lang="zh-CN" sz="1400" b="0"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zh-CN" sz="1400" b="0" kern="0" dirty="0">
                          <a:solidFill>
                            <a:srgbClr val="000000"/>
                          </a:solidFill>
                          <a:effectLst/>
                          <a:latin typeface="Calibri"/>
                          <a:ea typeface="宋体"/>
                          <a:cs typeface="宋体"/>
                        </a:rPr>
                        <a:t>公用事业</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b="0" kern="0">
                          <a:solidFill>
                            <a:srgbClr val="000000"/>
                          </a:solidFill>
                          <a:effectLst/>
                          <a:latin typeface="宋体"/>
                          <a:ea typeface="宋体"/>
                          <a:cs typeface="宋体"/>
                        </a:rPr>
                        <a:t>0.3237493</a:t>
                      </a:r>
                      <a:endParaRPr lang="zh-CN" sz="1400" b="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b="0" kern="0">
                          <a:solidFill>
                            <a:srgbClr val="000000"/>
                          </a:solidFill>
                          <a:effectLst/>
                          <a:latin typeface="宋体"/>
                          <a:ea typeface="宋体"/>
                          <a:cs typeface="宋体"/>
                        </a:rPr>
                        <a:t>0.60021322</a:t>
                      </a:r>
                      <a:endParaRPr lang="zh-CN" sz="1400" b="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农林牧渔</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0.3277746</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0.596858639</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2</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医药生物</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纺织服装</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0.3231742</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0.595338983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3</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医药生物</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0.3225992</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0.594279661</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4</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商业贸易</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纺织服装</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0.3237493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0.595137421</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5</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商业贸易</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0.3231742</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0.594080338</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6</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建筑材料</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0.3243243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0.592436975</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7</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建筑装饰</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0.3145486</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0.599123768</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8</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有色金属</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农林牧渔</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0.3105233</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0.598669623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9</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有色金属</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纺织服装</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0.3128235</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0.603104213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10</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有色金属</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综合</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0.3082231</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0.594235033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11</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有色金属</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0.3168488</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0.610864745</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12</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机械设备</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0.3185739</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0.596340151</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13</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汽车</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纺织服装</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0.3128235</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0.593238822</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14</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汽车</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综合</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0.3122484</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0.59214831</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15</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汽车</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0.3174238</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0.601962923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16</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电子元器件</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0.3254744</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0.595162986</a:t>
                      </a:r>
                      <a:endParaRPr lang="zh-CN" sz="1400" b="0" kern="10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17</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dirty="0">
                          <a:solidFill>
                            <a:srgbClr val="000000"/>
                          </a:solidFill>
                          <a:effectLst/>
                          <a:latin typeface="Calibri"/>
                          <a:ea typeface="宋体"/>
                          <a:cs typeface="宋体"/>
                        </a:rPr>
                        <a:t>电气设备</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0.3243243</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0.596194503</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18</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纺织服装</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纺织服装</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0.3346751</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0.592065107</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19</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纺织服装</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0.3358252</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0.594099695</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20</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计算机</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综合</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0.3151236</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0.590517241</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21</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计算机</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0.3179988</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0.595905172</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22</a:t>
                      </a:r>
                      <a:endParaRPr lang="zh-CN" sz="1400" b="0" kern="100">
                        <a:effectLst/>
                        <a:latin typeface="Calibri"/>
                        <a:ea typeface="宋体"/>
                        <a:cs typeface="Times New Roman"/>
                      </a:endParaRPr>
                    </a:p>
                  </a:txBody>
                  <a:tcPr marL="68580" marR="68580" marT="0" marB="0">
                    <a:lnL>
                      <a:noFill/>
                    </a:lnL>
                    <a:lnR>
                      <a:noFill/>
                    </a:lnR>
                    <a:lnT>
                      <a:noFill/>
                    </a:lnT>
                    <a:lnB>
                      <a:noFill/>
                    </a:lnB>
                  </a:tcPr>
                </a:tc>
                <a:tc>
                  <a:txBody>
                    <a:bodyPr/>
                    <a:lstStyle/>
                    <a:p>
                      <a:pPr algn="l">
                        <a:spcAft>
                          <a:spcPts val="0"/>
                        </a:spcAft>
                      </a:pP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r>
                        <a:rPr lang="zh-CN" sz="1400" b="0" kern="0">
                          <a:solidFill>
                            <a:srgbClr val="000000"/>
                          </a:solidFill>
                          <a:effectLst/>
                          <a:latin typeface="Calibri"/>
                          <a:ea typeface="宋体"/>
                          <a:cs typeface="宋体"/>
                        </a:rPr>
                        <a:t>轻工制造</a:t>
                      </a:r>
                      <a:r>
                        <a:rPr lang="en-US" sz="1400" b="0" kern="0">
                          <a:solidFill>
                            <a:srgbClr val="000000"/>
                          </a:solidFill>
                          <a:effectLst/>
                          <a:latin typeface="Calibri"/>
                          <a:ea typeface="宋体"/>
                          <a:cs typeface="宋体"/>
                        </a:rPr>
                        <a:t>_up</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a:solidFill>
                            <a:srgbClr val="000000"/>
                          </a:solidFill>
                          <a:effectLst/>
                          <a:latin typeface="宋体"/>
                          <a:ea typeface="宋体"/>
                          <a:cs typeface="宋体"/>
                        </a:rPr>
                        <a:t>0.3369753</a:t>
                      </a:r>
                      <a:endParaRPr lang="zh-CN" sz="1400" b="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b="0" kern="0" dirty="0">
                          <a:solidFill>
                            <a:srgbClr val="000000"/>
                          </a:solidFill>
                          <a:effectLst/>
                          <a:latin typeface="宋体"/>
                          <a:ea typeface="宋体"/>
                          <a:cs typeface="宋体"/>
                        </a:rPr>
                        <a:t>0.593718338</a:t>
                      </a:r>
                      <a:endParaRPr lang="zh-CN" sz="1400" b="0" kern="100" dirty="0">
                        <a:effectLst/>
                        <a:latin typeface="Calibri"/>
                        <a:ea typeface="宋体"/>
                        <a:cs typeface="Times New Roman"/>
                      </a:endParaRPr>
                    </a:p>
                  </a:txBody>
                  <a:tcPr marL="68580" marR="68580" marT="0" marB="0" anchor="b">
                    <a:lnL>
                      <a:noFill/>
                    </a:lnL>
                    <a:lnR>
                      <a:noFill/>
                    </a:lnR>
                    <a:lnT>
                      <a:noFill/>
                    </a:lnT>
                    <a:lnB>
                      <a:noFill/>
                    </a:lnB>
                  </a:tcPr>
                </a:tc>
              </a:tr>
              <a:tr h="190101">
                <a:tc>
                  <a:txBody>
                    <a:bodyPr/>
                    <a:lstStyle/>
                    <a:p>
                      <a:pPr algn="l">
                        <a:spcAft>
                          <a:spcPts val="0"/>
                        </a:spcAft>
                      </a:pPr>
                      <a:r>
                        <a:rPr lang="en-US" sz="1400" b="0" kern="0">
                          <a:solidFill>
                            <a:srgbClr val="000000"/>
                          </a:solidFill>
                          <a:effectLst/>
                          <a:latin typeface="宋体"/>
                          <a:ea typeface="宋体"/>
                          <a:cs typeface="宋体"/>
                        </a:rPr>
                        <a:t>23</a:t>
                      </a:r>
                      <a:endParaRPr lang="zh-CN" sz="1400" b="0" kern="100">
                        <a:effectLst/>
                        <a:latin typeface="Calibri"/>
                        <a:ea typeface="宋体"/>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b="0" kern="0" dirty="0">
                          <a:solidFill>
                            <a:srgbClr val="000000"/>
                          </a:solidFill>
                          <a:effectLst/>
                          <a:latin typeface="Calibri"/>
                          <a:ea typeface="宋体"/>
                          <a:cs typeface="宋体"/>
                        </a:rPr>
                        <a:t>采掘</a:t>
                      </a:r>
                      <a:r>
                        <a:rPr lang="en-US" sz="1400" b="0" kern="0" dirty="0">
                          <a:solidFill>
                            <a:srgbClr val="000000"/>
                          </a:solidFill>
                          <a:effectLst/>
                          <a:latin typeface="Calibri"/>
                          <a:ea typeface="宋体"/>
                          <a:cs typeface="宋体"/>
                        </a:rPr>
                        <a:t>_up--</a:t>
                      </a:r>
                      <a:r>
                        <a:rPr lang="zh-CN" sz="1400" b="0" kern="0" dirty="0">
                          <a:solidFill>
                            <a:srgbClr val="000000"/>
                          </a:solidFill>
                          <a:effectLst/>
                          <a:latin typeface="Calibri"/>
                          <a:ea typeface="宋体"/>
                          <a:cs typeface="宋体"/>
                        </a:rPr>
                        <a:t>轻工制造</a:t>
                      </a:r>
                      <a:r>
                        <a:rPr lang="en-US" sz="1400" b="0" kern="0" dirty="0">
                          <a:solidFill>
                            <a:srgbClr val="000000"/>
                          </a:solidFill>
                          <a:effectLst/>
                          <a:latin typeface="Calibri"/>
                          <a:ea typeface="宋体"/>
                          <a:cs typeface="宋体"/>
                        </a:rPr>
                        <a:t>_up</a:t>
                      </a:r>
                      <a:endParaRPr lang="zh-CN" sz="1400" b="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b="0" kern="0">
                          <a:solidFill>
                            <a:srgbClr val="000000"/>
                          </a:solidFill>
                          <a:effectLst/>
                          <a:latin typeface="宋体"/>
                          <a:ea typeface="宋体"/>
                          <a:cs typeface="宋体"/>
                        </a:rPr>
                        <a:t>0.3024727</a:t>
                      </a:r>
                      <a:endParaRPr lang="zh-CN" sz="1400" b="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b="0" kern="0" dirty="0">
                          <a:solidFill>
                            <a:srgbClr val="000000"/>
                          </a:solidFill>
                          <a:effectLst/>
                          <a:latin typeface="宋体"/>
                          <a:ea typeface="宋体"/>
                          <a:cs typeface="宋体"/>
                        </a:rPr>
                        <a:t>0.600456621</a:t>
                      </a:r>
                      <a:endParaRPr lang="zh-CN" sz="1400" b="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2195736" y="0"/>
            <a:ext cx="3168352" cy="338554"/>
          </a:xfrm>
          <a:prstGeom prst="rect">
            <a:avLst/>
          </a:prstGeom>
          <a:noFill/>
        </p:spPr>
        <p:txBody>
          <a:bodyPr wrap="square" rtlCol="0">
            <a:spAutoFit/>
          </a:bodyPr>
          <a:lstStyle/>
          <a:p>
            <a:r>
              <a:rPr lang="zh-CN" altLang="en-US" sz="1600" dirty="0"/>
              <a:t>表</a:t>
            </a:r>
            <a:r>
              <a:rPr lang="en-US" altLang="zh-CN" sz="1600" dirty="0"/>
              <a:t>11-5  </a:t>
            </a:r>
            <a:r>
              <a:rPr lang="zh-CN" altLang="en-US" sz="1600" dirty="0"/>
              <a:t>日行业轮动规则</a:t>
            </a:r>
          </a:p>
        </p:txBody>
      </p:sp>
      <p:sp>
        <p:nvSpPr>
          <p:cNvPr id="5" name="TextBox 4"/>
          <p:cNvSpPr txBox="1"/>
          <p:nvPr/>
        </p:nvSpPr>
        <p:spPr>
          <a:xfrm>
            <a:off x="107504" y="5733256"/>
            <a:ext cx="8856984" cy="1077218"/>
          </a:xfrm>
          <a:prstGeom prst="rect">
            <a:avLst/>
          </a:prstGeom>
          <a:noFill/>
        </p:spPr>
        <p:txBody>
          <a:bodyPr wrap="square" rtlCol="0">
            <a:spAutoFit/>
          </a:bodyPr>
          <a:lstStyle/>
          <a:p>
            <a:r>
              <a:rPr lang="zh-CN" altLang="en-US" sz="1600" dirty="0"/>
              <a:t>从结果可以看出，置信度大于</a:t>
            </a:r>
            <a:r>
              <a:rPr lang="en-US" altLang="zh-CN" sz="1600" dirty="0"/>
              <a:t>0.59</a:t>
            </a:r>
            <a:r>
              <a:rPr lang="zh-CN" altLang="en-US" sz="1600" dirty="0"/>
              <a:t>的有</a:t>
            </a:r>
            <a:r>
              <a:rPr lang="en-US" altLang="zh-CN" sz="1600" dirty="0"/>
              <a:t>24</a:t>
            </a:r>
            <a:r>
              <a:rPr lang="zh-CN" altLang="en-US" sz="1600" dirty="0"/>
              <a:t>条关联规则，置信度最高的也不超过</a:t>
            </a:r>
            <a:r>
              <a:rPr lang="en-US" altLang="zh-CN" sz="1600" dirty="0"/>
              <a:t>0.61</a:t>
            </a:r>
            <a:r>
              <a:rPr lang="zh-CN" altLang="en-US" sz="1600" dirty="0"/>
              <a:t>。相比起行业联动，其置信度要小得多。然而，行业轮动规则代表的是未来下一个交易日的涨跌情况，具有预测性，对投资意义更大。同时我们也应该注意到，日间行业轮动的关联规则置信度普遍较低，其投资的风险也较大。</a:t>
            </a:r>
          </a:p>
        </p:txBody>
      </p:sp>
    </p:spTree>
    <p:extLst>
      <p:ext uri="{BB962C8B-B14F-4D97-AF65-F5344CB8AC3E}">
        <p14:creationId xmlns:p14="http://schemas.microsoft.com/office/powerpoint/2010/main" val="27393581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3263</Words>
  <Application>Microsoft Office PowerPoint</Application>
  <PresentationFormat>全屏显示(4:3)</PresentationFormat>
  <Paragraphs>436</Paragraphs>
  <Slides>18</Slides>
  <Notes>0</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Office 主题</vt:lpstr>
      <vt:lpstr>11.1 案例背景</vt:lpstr>
      <vt:lpstr>11.2 案例目标及实现思路</vt:lpstr>
      <vt:lpstr>PowerPoint 演示文稿</vt:lpstr>
      <vt:lpstr>11.3 数据获取</vt:lpstr>
      <vt:lpstr>PowerPoint 演示文稿</vt:lpstr>
      <vt:lpstr>PowerPoint 演示文稿</vt:lpstr>
      <vt:lpstr>PowerPoint 演示文稿</vt:lpstr>
      <vt:lpstr>PowerPoint 演示文稿</vt:lpstr>
      <vt:lpstr>11.4 日行业联动与轮动分析</vt:lpstr>
      <vt:lpstr>PowerPoint 演示文稿</vt:lpstr>
      <vt:lpstr>PowerPoint 演示文稿</vt:lpstr>
      <vt:lpstr>11.4.2 行业联动关联规则挖掘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 案例背景</dc:title>
  <dc:creator>lenovo</dc:creator>
  <cp:lastModifiedBy>lenovo</cp:lastModifiedBy>
  <cp:revision>14</cp:revision>
  <dcterms:created xsi:type="dcterms:W3CDTF">2019-12-05T00:22:58Z</dcterms:created>
  <dcterms:modified xsi:type="dcterms:W3CDTF">2019-12-05T02:02:13Z</dcterms:modified>
</cp:coreProperties>
</file>