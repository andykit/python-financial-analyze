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 id="260" r:id="rId7"/>
    <p:sldId id="261" r:id="rId8"/>
    <p:sldId id="262" r:id="rId9"/>
    <p:sldId id="263" r:id="rId10"/>
    <p:sldId id="264" r:id="rId11"/>
    <p:sldId id="276" r:id="rId12"/>
    <p:sldId id="266" r:id="rId13"/>
    <p:sldId id="267" r:id="rId14"/>
    <p:sldId id="277" r:id="rId15"/>
    <p:sldId id="269" r:id="rId16"/>
    <p:sldId id="278" r:id="rId17"/>
    <p:sldId id="271" r:id="rId18"/>
    <p:sldId id="279" r:id="rId19"/>
    <p:sldId id="273" r:id="rId20"/>
    <p:sldId id="274" r:id="rId21"/>
    <p:sldId id="280" r:id="rId2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188"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p:nvSpPr>
        <p:spPr>
          <a:xfrm>
            <a:off x="4625985" y="134946"/>
            <a:ext cx="581125" cy="353943"/>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618977" y="908051"/>
            <a:ext cx="7947907" cy="635000"/>
          </a:xfrm>
        </p:spPr>
        <p:txBody>
          <a:bodyPr/>
          <a:lstStyle>
            <a:lvl1pPr>
              <a:defRPr>
                <a:solidFill>
                  <a:schemeClr val="accent1"/>
                </a:solidFill>
              </a:defRPr>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618977" y="1600202"/>
            <a:ext cx="7947907"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Freeform 5"/>
          <p:cNvSpPr/>
          <p:nvPr/>
        </p:nvSpPr>
        <p:spPr bwMode="auto">
          <a:xfrm>
            <a:off x="47859" y="73174"/>
            <a:ext cx="920005"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p:nvSpPr>
        <p:spPr bwMode="auto">
          <a:xfrm>
            <a:off x="897276" y="73174"/>
            <a:ext cx="7658865"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p:nvSpPr>
        <p:spPr bwMode="auto">
          <a:xfrm>
            <a:off x="8486728" y="73174"/>
            <a:ext cx="609415"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p:nvSpPr>
        <p:spPr>
          <a:xfrm>
            <a:off x="8589991" y="116634"/>
            <a:ext cx="474798"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429" y="4406902"/>
            <a:ext cx="7771745" cy="1362075"/>
          </a:xfrm>
        </p:spPr>
        <p:txBody>
          <a:bodyPr anchor="t"/>
          <a:lstStyle>
            <a:lvl1pPr algn="l">
              <a:defRPr sz="4000" b="1" cap="all">
                <a:solidFill>
                  <a:srgbClr val="F8F8F8"/>
                </a:solidFill>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429" y="2906713"/>
            <a:ext cx="777174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smtClean="0"/>
              <a:t>单击此处编辑母版文本样式</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021" y="1600202"/>
            <a:ext cx="4057256"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8533" y="1600202"/>
            <a:ext cx="4058446"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pic>
        <p:nvPicPr>
          <p:cNvPr id="5" name="图片 13" descr="泰迪logo无底色.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1279" y="6309321"/>
            <a:ext cx="688300"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023" y="274637"/>
            <a:ext cx="8229957"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022" y="1535114"/>
            <a:ext cx="4040594"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022" y="2174875"/>
            <a:ext cx="4040594"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196" y="1535114"/>
            <a:ext cx="4041784"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196" y="2174875"/>
            <a:ext cx="4041784"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022" y="273050"/>
            <a:ext cx="3008725"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241" y="273053"/>
            <a:ext cx="511173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022" y="1435103"/>
            <a:ext cx="3008725"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81" y="4800601"/>
            <a:ext cx="5486638"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381" y="612775"/>
            <a:ext cx="548663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381" y="5367339"/>
            <a:ext cx="5486638"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383" y="908053"/>
            <a:ext cx="2056597" cy="52181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023" y="908053"/>
            <a:ext cx="6059105" cy="5218113"/>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p:nvPicPr>
        <p:blipFill>
          <a:blip r:embed="rId2" cstate="screen"/>
          <a:srcRect/>
          <a:stretch>
            <a:fillRect/>
          </a:stretch>
        </p:blipFill>
        <p:spPr bwMode="auto">
          <a:xfrm>
            <a:off x="3108972" y="2886611"/>
            <a:ext cx="794951"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p:nvPicPr>
        <p:blipFill>
          <a:blip r:embed="rId3" cstate="screen"/>
          <a:srcRect/>
          <a:stretch>
            <a:fillRect/>
          </a:stretch>
        </p:blipFill>
        <p:spPr bwMode="auto">
          <a:xfrm>
            <a:off x="6320377" y="2758266"/>
            <a:ext cx="822289"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p:nvPicPr>
        <p:blipFill>
          <a:blip r:embed="rId4" cstate="print"/>
          <a:srcRect/>
          <a:stretch>
            <a:fillRect/>
          </a:stretch>
        </p:blipFill>
        <p:spPr bwMode="auto">
          <a:xfrm>
            <a:off x="780034" y="1447781"/>
            <a:ext cx="2259416"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p:nvPicPr>
        <p:blipFill>
          <a:blip r:embed="rId5" cstate="screen"/>
          <a:srcRect/>
          <a:stretch>
            <a:fillRect/>
          </a:stretch>
        </p:blipFill>
        <p:spPr bwMode="auto">
          <a:xfrm>
            <a:off x="3349270" y="3771071"/>
            <a:ext cx="392942"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p:nvPicPr>
        <p:blipFill>
          <a:blip r:embed="rId6" cstate="screen"/>
          <a:srcRect/>
          <a:stretch>
            <a:fillRect/>
          </a:stretch>
        </p:blipFill>
        <p:spPr bwMode="auto">
          <a:xfrm>
            <a:off x="5530095" y="2904248"/>
            <a:ext cx="300751"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p:nvPicPr>
        <p:blipFill>
          <a:blip r:embed="rId7" cstate="screen"/>
          <a:srcRect/>
          <a:stretch>
            <a:fillRect/>
          </a:stretch>
        </p:blipFill>
        <p:spPr bwMode="auto">
          <a:xfrm>
            <a:off x="3956818" y="2574151"/>
            <a:ext cx="73601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p:nvPicPr>
        <p:blipFill>
          <a:blip r:embed="rId8" cstate="print"/>
          <a:srcRect/>
          <a:stretch>
            <a:fillRect/>
          </a:stretch>
        </p:blipFill>
        <p:spPr bwMode="auto">
          <a:xfrm>
            <a:off x="2445501" y="3206630"/>
            <a:ext cx="1107794"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p:nvPicPr>
        <p:blipFill>
          <a:blip r:embed="rId9" cstate="print"/>
          <a:srcRect/>
          <a:stretch>
            <a:fillRect/>
          </a:stretch>
        </p:blipFill>
        <p:spPr bwMode="auto">
          <a:xfrm>
            <a:off x="4012735" y="3446016"/>
            <a:ext cx="1375296"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p:nvPicPr>
        <p:blipFill>
          <a:blip r:embed="rId10" cstate="screen"/>
          <a:srcRect/>
          <a:stretch>
            <a:fillRect/>
          </a:stretch>
        </p:blipFill>
        <p:spPr bwMode="auto">
          <a:xfrm>
            <a:off x="7411681" y="2725340"/>
            <a:ext cx="837268"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p:nvPicPr>
        <p:blipFill>
          <a:blip r:embed="rId11" cstate="screen"/>
          <a:srcRect/>
          <a:stretch>
            <a:fillRect/>
          </a:stretch>
        </p:blipFill>
        <p:spPr bwMode="auto">
          <a:xfrm>
            <a:off x="5954774" y="3624922"/>
            <a:ext cx="39143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p:nvPicPr>
        <p:blipFill>
          <a:blip r:embed="rId11" cstate="screen"/>
          <a:srcRect/>
          <a:stretch>
            <a:fillRect/>
          </a:stretch>
        </p:blipFill>
        <p:spPr bwMode="auto">
          <a:xfrm>
            <a:off x="8437863" y="2365003"/>
            <a:ext cx="391430"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p:nvPicPr>
        <p:blipFill>
          <a:blip r:embed="rId12" cstate="print"/>
          <a:srcRect/>
          <a:stretch>
            <a:fillRect/>
          </a:stretch>
        </p:blipFill>
        <p:spPr bwMode="auto">
          <a:xfrm>
            <a:off x="1540226" y="2795896"/>
            <a:ext cx="1272527"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p:nvPicPr>
        <p:blipFill>
          <a:blip r:embed="rId13" cstate="print"/>
          <a:srcRect/>
          <a:stretch>
            <a:fillRect/>
          </a:stretch>
        </p:blipFill>
        <p:spPr bwMode="auto">
          <a:xfrm>
            <a:off x="2986554" y="2785815"/>
            <a:ext cx="327956"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p:nvPicPr>
        <p:blipFill>
          <a:blip r:embed="rId14" cstate="print"/>
          <a:srcRect/>
          <a:stretch>
            <a:fillRect/>
          </a:stretch>
        </p:blipFill>
        <p:spPr bwMode="auto">
          <a:xfrm>
            <a:off x="6387011" y="3325062"/>
            <a:ext cx="527449"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p:nvPicPr>
        <p:blipFill>
          <a:blip r:embed="rId13" cstate="print"/>
          <a:srcRect/>
          <a:stretch>
            <a:fillRect/>
          </a:stretch>
        </p:blipFill>
        <p:spPr bwMode="auto">
          <a:xfrm>
            <a:off x="6926551" y="2909287"/>
            <a:ext cx="270525"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p:nvPicPr>
        <p:blipFill>
          <a:blip r:embed="rId13" cstate="print"/>
          <a:srcRect/>
          <a:stretch>
            <a:fillRect/>
          </a:stretch>
        </p:blipFill>
        <p:spPr bwMode="auto">
          <a:xfrm>
            <a:off x="7305888" y="3446015"/>
            <a:ext cx="211584"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6.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023" y="908051"/>
            <a:ext cx="8229957"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457023" y="1600202"/>
            <a:ext cx="822995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eaLnBrk="1" fontAlgn="base" hangingPunct="1">
        <a:spcBef>
          <a:spcPct val="0"/>
        </a:spcBef>
        <a:spcAft>
          <a:spcPct val="0"/>
        </a:spcAft>
        <a:defRPr sz="2400">
          <a:solidFill>
            <a:schemeClr val="accent1"/>
          </a:solidFill>
          <a:latin typeface="+mj-lt"/>
          <a:ea typeface="+mj-ea"/>
          <a:cs typeface="+mj-cs"/>
        </a:defRPr>
      </a:lvl1pPr>
      <a:lvl2pPr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eaLnBrk="1" fontAlgn="base" hangingPunct="1">
        <a:spcBef>
          <a:spcPct val="20000"/>
        </a:spcBef>
        <a:spcAft>
          <a:spcPct val="0"/>
        </a:spcAft>
        <a:buChar char="•"/>
        <a:defRPr sz="2000">
          <a:solidFill>
            <a:schemeClr val="accent1"/>
          </a:solidFill>
          <a:latin typeface="+mn-lt"/>
          <a:ea typeface="+mn-ea"/>
          <a:cs typeface="+mn-cs"/>
        </a:defRPr>
      </a:lvl1pPr>
      <a:lvl2pPr marL="742950" indent="-285750" algn="l" rtl="0" eaLnBrk="1" fontAlgn="base" hangingPunct="1">
        <a:spcBef>
          <a:spcPct val="20000"/>
        </a:spcBef>
        <a:spcAft>
          <a:spcPct val="0"/>
        </a:spcAft>
        <a:buChar char="–"/>
        <a:defRPr sz="2000">
          <a:solidFill>
            <a:schemeClr val="accent1"/>
          </a:solidFill>
          <a:latin typeface="+mn-lt"/>
          <a:ea typeface="仿宋_GB2312" pitchFamily="49" charset="-122"/>
        </a:defRPr>
      </a:lvl2pPr>
      <a:lvl3pPr marL="1143000" indent="-228600" algn="l" rtl="0" eaLnBrk="1" fontAlgn="base" hangingPunct="1">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1" fontAlgn="base" hangingPunct="1">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106179"/>
            <a:ext cx="7227827" cy="442501"/>
          </a:xfrm>
        </p:spPr>
        <p:txBody>
          <a:bodyPr>
            <a:normAutofit fontScale="90000"/>
          </a:bodyPr>
          <a:lstStyle/>
          <a:p>
            <a:r>
              <a:rPr lang="zh-CN" altLang="en-US" dirty="0" smtClean="0"/>
              <a:t> </a:t>
            </a:r>
            <a:r>
              <a:rPr lang="zh-CN" altLang="en-US" sz="2000" kern="1200" dirty="0">
                <a:solidFill>
                  <a:schemeClr val="accent2"/>
                </a:solidFill>
                <a:latin typeface="+mn-lt"/>
                <a:ea typeface="+mn-ea"/>
                <a:cs typeface="+mn-cs"/>
              </a:rPr>
              <a:t>综合案例三：股票价格形态聚类与收益分析</a:t>
            </a:r>
            <a:endParaRPr lang="zh-CN" altLang="en-US" sz="2000" kern="1200" dirty="0">
              <a:solidFill>
                <a:schemeClr val="accent2"/>
              </a:solidFill>
              <a:latin typeface="+mn-lt"/>
              <a:ea typeface="+mn-ea"/>
              <a:cs typeface="+mn-cs"/>
            </a:endParaRPr>
          </a:p>
        </p:txBody>
      </p:sp>
      <p:sp>
        <p:nvSpPr>
          <p:cNvPr id="3" name="内容占位符 2"/>
          <p:cNvSpPr>
            <a:spLocks noGrp="1"/>
          </p:cNvSpPr>
          <p:nvPr>
            <p:ph idx="1"/>
          </p:nvPr>
        </p:nvSpPr>
        <p:spPr/>
        <p:txBody>
          <a:bodyPr>
            <a:normAutofit/>
          </a:bodyPr>
          <a:lstStyle/>
          <a:p>
            <a:r>
              <a:rPr lang="zh-CN" altLang="en-US" dirty="0"/>
              <a:t>上一章介绍了证券投资技术分析的重要分支</a:t>
            </a:r>
            <a:r>
              <a:rPr lang="en-US" altLang="zh-CN" dirty="0"/>
              <a:t>——</a:t>
            </a:r>
            <a:r>
              <a:rPr lang="zh-CN" altLang="en-US" dirty="0"/>
              <a:t>技术指标分析法，并设计了基本面与技术指标相结合的量化投资模型及策略实现。本章我们介绍证券投资技术分析的另外一个分支，即形态分析。本章首先介绍了股票价格走势中的关键价格点概念及提取方法、基于关键价格点的形态特征计算方法，其次介绍了基于形态特征的自动聚类技术和投资收益分析，最后给出了结合基本面与形态聚类技术的量化投资模型及策略实现。</a:t>
            </a:r>
            <a:endParaRPr lang="zh-CN" altLang="en-US" dirty="0"/>
          </a:p>
        </p:txBody>
      </p:sp>
      <p:sp>
        <p:nvSpPr>
          <p:cNvPr id="6" name="TextBox 5"/>
          <p:cNvSpPr txBox="1"/>
          <p:nvPr/>
        </p:nvSpPr>
        <p:spPr>
          <a:xfrm>
            <a:off x="-180528" y="106179"/>
            <a:ext cx="1152128"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sz="2000" dirty="0" smtClean="0">
                <a:solidFill>
                  <a:schemeClr val="accent2"/>
                </a:solidFill>
              </a:rPr>
              <a:t>10</a:t>
            </a:r>
            <a:endParaRPr lang="zh-CN" altLang="en-US" sz="2000" dirty="0">
              <a:solidFill>
                <a:schemeClr val="accent2"/>
              </a:solidFill>
            </a:endParaRPr>
          </a:p>
        </p:txBody>
      </p:sp>
      <p:sp>
        <p:nvSpPr>
          <p:cNvPr id="7" name="TextBox 6"/>
          <p:cNvSpPr txBox="1"/>
          <p:nvPr/>
        </p:nvSpPr>
        <p:spPr>
          <a:xfrm>
            <a:off x="1043608" y="106179"/>
            <a:ext cx="7560840" cy="369332"/>
          </a:xfrm>
          <a:prstGeom prst="rect">
            <a:avLst/>
          </a:prstGeom>
          <a:noFill/>
        </p:spPr>
        <p:txBody>
          <a:bodyPr wrap="square" rtlCol="0">
            <a:spAutoFit/>
          </a:bodyPr>
          <a:lstStyle/>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75656" y="188641"/>
            <a:ext cx="7091228" cy="288032"/>
          </a:xfrm>
        </p:spPr>
        <p:txBody>
          <a:bodyPr/>
          <a:lstStyle/>
          <a:p>
            <a:r>
              <a:rPr lang="en-US" altLang="zh-CN" dirty="0" smtClean="0"/>
              <a:t> </a:t>
            </a:r>
            <a:r>
              <a:rPr lang="zh-CN" altLang="en-US" sz="2000" kern="1200" dirty="0">
                <a:solidFill>
                  <a:schemeClr val="accent2"/>
                </a:solidFill>
                <a:latin typeface="+mn-lt"/>
                <a:ea typeface="+mn-ea"/>
                <a:cs typeface="+mn-cs"/>
              </a:rPr>
              <a:t>案例背景</a:t>
            </a:r>
            <a:endParaRPr lang="zh-CN" altLang="en-US" sz="2000" kern="1200" dirty="0">
              <a:solidFill>
                <a:schemeClr val="accent2"/>
              </a:solidFill>
              <a:latin typeface="+mn-lt"/>
              <a:ea typeface="+mn-ea"/>
              <a:cs typeface="+mn-cs"/>
            </a:endParaRPr>
          </a:p>
        </p:txBody>
      </p:sp>
      <p:sp>
        <p:nvSpPr>
          <p:cNvPr id="3" name="内容占位符 2"/>
          <p:cNvSpPr>
            <a:spLocks noGrp="1"/>
          </p:cNvSpPr>
          <p:nvPr>
            <p:ph idx="1"/>
          </p:nvPr>
        </p:nvSpPr>
        <p:spPr/>
        <p:txBody>
          <a:bodyPr/>
          <a:lstStyle/>
          <a:p>
            <a:r>
              <a:rPr lang="zh-CN" altLang="en-US" dirty="0"/>
              <a:t>投资者通过实战经验，总结出了各种各样的股票价格走势形态以辅助投资决策。比如常见的头肩形、倒头肩形、三重顶、三重底、</a:t>
            </a:r>
            <a:r>
              <a:rPr lang="en-US" altLang="zh-CN" dirty="0"/>
              <a:t>M</a:t>
            </a:r>
            <a:r>
              <a:rPr lang="zh-CN" altLang="en-US" dirty="0"/>
              <a:t>头、</a:t>
            </a:r>
            <a:r>
              <a:rPr lang="en-US" altLang="zh-CN" dirty="0"/>
              <a:t>W</a:t>
            </a:r>
            <a:r>
              <a:rPr lang="zh-CN" altLang="en-US" dirty="0"/>
              <a:t>底等。</a:t>
            </a:r>
            <a:endParaRPr lang="zh-CN" altLang="en-US" dirty="0"/>
          </a:p>
        </p:txBody>
      </p:sp>
      <p:sp>
        <p:nvSpPr>
          <p:cNvPr id="4" name="TextBox 3"/>
          <p:cNvSpPr txBox="1"/>
          <p:nvPr/>
        </p:nvSpPr>
        <p:spPr>
          <a:xfrm>
            <a:off x="-324544" y="106179"/>
            <a:ext cx="1224136"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.1</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75656" y="116633"/>
            <a:ext cx="7237225" cy="360039"/>
          </a:xfrm>
        </p:spPr>
        <p:txBody>
          <a:bodyPr/>
          <a:lstStyle/>
          <a:p>
            <a:r>
              <a:rPr lang="zh-CN" altLang="en-US" sz="2000" kern="1200" dirty="0">
                <a:solidFill>
                  <a:schemeClr val="accent2"/>
                </a:solidFill>
                <a:latin typeface="+mn-lt"/>
                <a:ea typeface="+mn-ea"/>
                <a:cs typeface="+mn-cs"/>
              </a:rPr>
              <a:t>案例背景</a:t>
            </a:r>
            <a:endParaRPr lang="zh-CN" altLang="en-US" sz="2000" kern="1200" dirty="0">
              <a:solidFill>
                <a:schemeClr val="accent2"/>
              </a:solidFill>
              <a:latin typeface="+mn-lt"/>
              <a:ea typeface="+mn-ea"/>
              <a:cs typeface="+mn-cs"/>
            </a:endParaRPr>
          </a:p>
        </p:txBody>
      </p:sp>
      <p:graphicFrame>
        <p:nvGraphicFramePr>
          <p:cNvPr id="11" name="内容占位符 10"/>
          <p:cNvGraphicFramePr>
            <a:graphicFrameLocks noGrp="1"/>
          </p:cNvGraphicFramePr>
          <p:nvPr>
            <p:ph idx="1"/>
          </p:nvPr>
        </p:nvGraphicFramePr>
        <p:xfrm>
          <a:off x="611560" y="980727"/>
          <a:ext cx="8157592" cy="5256585"/>
        </p:xfrm>
        <a:graphic>
          <a:graphicData uri="http://schemas.openxmlformats.org/drawingml/2006/table">
            <a:tbl>
              <a:tblPr firstRow="1" bandRow="1">
                <a:tableStyleId>{5C22544A-7EE6-4342-B048-85BDC9FD1C3A}</a:tableStyleId>
              </a:tblPr>
              <a:tblGrid>
                <a:gridCol w="4078796"/>
                <a:gridCol w="4078796"/>
              </a:tblGrid>
              <a:tr h="1752195">
                <a:tc>
                  <a:txBody>
                    <a:bodyPr/>
                    <a:lstStyle/>
                    <a:p>
                      <a:r>
                        <a:rPr lang="zh-CN" altLang="en-US" dirty="0" smtClean="0"/>
                        <a:t> 头肩形 </a:t>
                      </a:r>
                      <a:endParaRPr lang="zh-CN" altLang="en-US" dirty="0"/>
                    </a:p>
                  </a:txBody>
                  <a:tcPr/>
                </a:tc>
                <a:tc>
                  <a:txBody>
                    <a:bodyPr/>
                    <a:lstStyle/>
                    <a:p>
                      <a:r>
                        <a:rPr lang="zh-CN" altLang="en-US" dirty="0" smtClean="0"/>
                        <a:t> 倒头肩形</a:t>
                      </a:r>
                      <a:endParaRPr lang="zh-CN" altLang="en-US" dirty="0"/>
                    </a:p>
                  </a:txBody>
                  <a:tcPr/>
                </a:tc>
              </a:tr>
              <a:tr h="1752195">
                <a:tc>
                  <a:txBody>
                    <a:bodyPr/>
                    <a:lstStyle/>
                    <a:p>
                      <a:r>
                        <a:rPr lang="zh-CN" altLang="en-US" dirty="0" smtClean="0"/>
                        <a:t>三重顶</a:t>
                      </a:r>
                      <a:endParaRPr lang="zh-CN" altLang="en-US" dirty="0"/>
                    </a:p>
                  </a:txBody>
                  <a:tcPr/>
                </a:tc>
                <a:tc>
                  <a:txBody>
                    <a:bodyPr/>
                    <a:lstStyle/>
                    <a:p>
                      <a:r>
                        <a:rPr lang="zh-CN" altLang="en-US" dirty="0" smtClean="0"/>
                        <a:t>三重底</a:t>
                      </a:r>
                      <a:endParaRPr lang="zh-CN" altLang="en-US" dirty="0"/>
                    </a:p>
                  </a:txBody>
                  <a:tcPr/>
                </a:tc>
              </a:tr>
              <a:tr h="1752195">
                <a:tc>
                  <a:txBody>
                    <a:bodyPr/>
                    <a:lstStyle/>
                    <a:p>
                      <a:r>
                        <a:rPr lang="en-US" altLang="zh-CN" dirty="0" smtClean="0"/>
                        <a:t>M</a:t>
                      </a:r>
                      <a:r>
                        <a:rPr lang="zh-CN" altLang="en-US" dirty="0" smtClean="0"/>
                        <a:t>头 </a:t>
                      </a:r>
                      <a:endParaRPr lang="zh-CN" altLang="en-US" dirty="0"/>
                    </a:p>
                  </a:txBody>
                  <a:tcPr/>
                </a:tc>
                <a:tc>
                  <a:txBody>
                    <a:bodyPr/>
                    <a:lstStyle/>
                    <a:p>
                      <a:r>
                        <a:rPr lang="en-US" altLang="zh-CN" dirty="0" smtClean="0"/>
                        <a:t>W</a:t>
                      </a:r>
                      <a:r>
                        <a:rPr lang="zh-CN" altLang="en-US" dirty="0" smtClean="0"/>
                        <a:t>底</a:t>
                      </a:r>
                      <a:endParaRPr lang="zh-CN" altLang="en-US" dirty="0"/>
                    </a:p>
                  </a:txBody>
                  <a:tcPr/>
                </a:tc>
              </a:tr>
            </a:tbl>
          </a:graphicData>
        </a:graphic>
      </p:graphicFrame>
      <p:pic>
        <p:nvPicPr>
          <p:cNvPr id="13" name="图片 1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70637" y="1124744"/>
            <a:ext cx="2868837" cy="1535764"/>
          </a:xfrm>
          <a:prstGeom prst="rect">
            <a:avLst/>
          </a:pr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3730" y="1114488"/>
            <a:ext cx="2704778" cy="1535764"/>
          </a:xfrm>
          <a:prstGeom prst="rect">
            <a:avLst/>
          </a:prstGeom>
        </p:spPr>
      </p:pic>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0637" y="2845036"/>
            <a:ext cx="2868837" cy="1611743"/>
          </a:xfrm>
          <a:prstGeom prst="rect">
            <a:avLst/>
          </a:prstGeom>
        </p:spPr>
      </p:pic>
      <p:pic>
        <p:nvPicPr>
          <p:cNvPr id="16" name="图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0229" y="2894669"/>
            <a:ext cx="2704778" cy="1596398"/>
          </a:xfrm>
          <a:prstGeom prst="rect">
            <a:avLst/>
          </a:prstGeom>
        </p:spPr>
      </p:pic>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0317" y="4582557"/>
            <a:ext cx="2868838" cy="1528999"/>
          </a:xfrm>
          <a:prstGeom prst="rect">
            <a:avLst/>
          </a:prstGeom>
        </p:spPr>
      </p:pic>
      <p:pic>
        <p:nvPicPr>
          <p:cNvPr id="18" name="图片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08055" y="4600821"/>
            <a:ext cx="2676128" cy="1557419"/>
          </a:xfrm>
          <a:prstGeom prst="rect">
            <a:avLst/>
          </a:prstGeom>
        </p:spPr>
      </p:pic>
      <p:sp>
        <p:nvSpPr>
          <p:cNvPr id="20" name="TextBox 19"/>
          <p:cNvSpPr txBox="1"/>
          <p:nvPr/>
        </p:nvSpPr>
        <p:spPr>
          <a:xfrm>
            <a:off x="611560" y="6309320"/>
            <a:ext cx="8136904" cy="369332"/>
          </a:xfrm>
          <a:prstGeom prst="rect">
            <a:avLst/>
          </a:prstGeom>
          <a:noFill/>
        </p:spPr>
        <p:txBody>
          <a:bodyPr wrap="square" rtlCol="0">
            <a:spAutoFit/>
          </a:bodyPr>
          <a:lstStyle/>
          <a:p>
            <a:r>
              <a:rPr lang="zh-CN" altLang="en-US" dirty="0"/>
              <a:t>注：图片来自百度文库：股市形态分析</a:t>
            </a:r>
            <a:endParaRPr lang="zh-CN" altLang="en-US" dirty="0"/>
          </a:p>
        </p:txBody>
      </p:sp>
      <p:sp>
        <p:nvSpPr>
          <p:cNvPr id="21" name="TextBox 20"/>
          <p:cNvSpPr txBox="1"/>
          <p:nvPr/>
        </p:nvSpPr>
        <p:spPr>
          <a:xfrm>
            <a:off x="-324544" y="106179"/>
            <a:ext cx="1224136"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.1</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188641"/>
            <a:ext cx="7235244" cy="288032"/>
          </a:xfrm>
        </p:spPr>
        <p:txBody>
          <a:bodyPr/>
          <a:lstStyle/>
          <a:p>
            <a:r>
              <a:rPr lang="zh-CN" altLang="en-US" sz="2000" kern="1200" dirty="0">
                <a:solidFill>
                  <a:schemeClr val="accent2"/>
                </a:solidFill>
                <a:latin typeface="+mn-lt"/>
                <a:ea typeface="+mn-ea"/>
                <a:cs typeface="+mn-cs"/>
              </a:rPr>
              <a:t>案例背景</a:t>
            </a:r>
            <a:endParaRPr lang="zh-CN" altLang="en-US" sz="2000" kern="1200" dirty="0">
              <a:solidFill>
                <a:schemeClr val="accent2"/>
              </a:solidFill>
              <a:latin typeface="+mn-lt"/>
              <a:ea typeface="+mn-ea"/>
              <a:cs typeface="+mn-cs"/>
            </a:endParaRPr>
          </a:p>
        </p:txBody>
      </p:sp>
      <p:sp>
        <p:nvSpPr>
          <p:cNvPr id="3" name="内容占位符 2"/>
          <p:cNvSpPr>
            <a:spLocks noGrp="1"/>
          </p:cNvSpPr>
          <p:nvPr>
            <p:ph idx="1"/>
          </p:nvPr>
        </p:nvSpPr>
        <p:spPr/>
        <p:txBody>
          <a:bodyPr>
            <a:normAutofit fontScale="92500" lnSpcReduction="10000"/>
          </a:bodyPr>
          <a:lstStyle/>
          <a:p>
            <a:r>
              <a:rPr lang="zh-CN" altLang="en-US" dirty="0"/>
              <a:t>然而投资者的经验是有限的，特别是新进股市的投资者。进一步地，常用的股票形态已经为广大投资者熟知，一定程度上降低了这些形态的有效性。同时，一些新的形态或许隐藏在其中而没有被发现。本案例通过实际的股票交易数据，提取价格形态特征，采用聚类分析的方法，对其形态特征数据进行自动聚类分析，并根据聚类的结果计算每类股票未来持有期为一个月的平均收益率。然后将类平均收益率排名前</a:t>
            </a:r>
            <a:r>
              <a:rPr lang="en-US" altLang="zh-CN" dirty="0"/>
              <a:t>5</a:t>
            </a:r>
            <a:r>
              <a:rPr lang="zh-CN" altLang="en-US" dirty="0"/>
              <a:t>的股票记为</a:t>
            </a:r>
            <a:r>
              <a:rPr lang="en-US" altLang="zh-CN" dirty="0"/>
              <a:t>+1</a:t>
            </a:r>
            <a:r>
              <a:rPr lang="zh-CN" altLang="en-US" dirty="0"/>
              <a:t>类，其余股票记为</a:t>
            </a:r>
            <a:r>
              <a:rPr lang="en-US" altLang="zh-CN" dirty="0"/>
              <a:t>-1</a:t>
            </a:r>
            <a:r>
              <a:rPr lang="zh-CN" altLang="en-US" dirty="0"/>
              <a:t>类，作为训练样本，采用支持向量机模型进行训练。最后，利用训练好的支持向量机模型对新的股票价格形态特征数据进行预测。如果预测结果为</a:t>
            </a:r>
            <a:r>
              <a:rPr lang="en-US" altLang="zh-CN" dirty="0"/>
              <a:t>+1</a:t>
            </a:r>
            <a:r>
              <a:rPr lang="zh-CN" altLang="en-US" dirty="0"/>
              <a:t>，表示该只股票在未来一个月内会得到较好的投资回报率，即设计一个量化投资策略：以未来一个月为持有周期，以期初收盘价买入，期末收盘价卖出，计算其收益率。这里采用第</a:t>
            </a:r>
            <a:r>
              <a:rPr lang="en-US" altLang="zh-CN" dirty="0"/>
              <a:t>8</a:t>
            </a:r>
            <a:r>
              <a:rPr lang="zh-CN" altLang="en-US" dirty="0"/>
              <a:t>章中基于总体规模与投资效率指标的综合评价方法，获取其排名前</a:t>
            </a:r>
            <a:r>
              <a:rPr lang="en-US" altLang="zh-CN" dirty="0"/>
              <a:t>400</a:t>
            </a:r>
            <a:r>
              <a:rPr lang="zh-CN" altLang="en-US" dirty="0"/>
              <a:t>的股票作为研究样本；用于聚类的股票价格数据周期取三个月，每类股票平均收益率</a:t>
            </a:r>
            <a:r>
              <a:rPr lang="en-US" altLang="zh-CN" dirty="0"/>
              <a:t>=</a:t>
            </a:r>
            <a:r>
              <a:rPr lang="zh-CN" altLang="en-US" dirty="0"/>
              <a:t>该类中各个股票收益率之和</a:t>
            </a:r>
            <a:r>
              <a:rPr lang="en-US" altLang="zh-CN" dirty="0"/>
              <a:t>/</a:t>
            </a:r>
            <a:r>
              <a:rPr lang="zh-CN" altLang="en-US" dirty="0"/>
              <a:t>该类股票总数，单只股票的收益率</a:t>
            </a:r>
            <a:r>
              <a:rPr lang="en-US" altLang="zh-CN" dirty="0"/>
              <a:t>=</a:t>
            </a:r>
            <a:r>
              <a:rPr lang="zh-CN" altLang="en-US" dirty="0"/>
              <a:t>（该股票期末收盘价</a:t>
            </a:r>
            <a:r>
              <a:rPr lang="en-US" altLang="zh-CN" dirty="0"/>
              <a:t>-</a:t>
            </a:r>
            <a:r>
              <a:rPr lang="zh-CN" altLang="en-US" dirty="0"/>
              <a:t>该股票期初收盘价）</a:t>
            </a:r>
            <a:r>
              <a:rPr lang="en-US" altLang="zh-CN" dirty="0"/>
              <a:t>/</a:t>
            </a:r>
            <a:r>
              <a:rPr lang="zh-CN" altLang="en-US" dirty="0"/>
              <a:t>该股票期初收盘价。</a:t>
            </a:r>
            <a:endParaRPr lang="zh-CN" altLang="en-US" dirty="0"/>
          </a:p>
        </p:txBody>
      </p:sp>
      <p:sp>
        <p:nvSpPr>
          <p:cNvPr id="4" name="TextBox 3"/>
          <p:cNvSpPr txBox="1"/>
          <p:nvPr/>
        </p:nvSpPr>
        <p:spPr>
          <a:xfrm>
            <a:off x="-324544" y="106179"/>
            <a:ext cx="1224136"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.1</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116633"/>
            <a:ext cx="7379260" cy="360039"/>
          </a:xfrm>
        </p:spPr>
        <p:txBody>
          <a:bodyPr/>
          <a:lstStyle/>
          <a:p>
            <a:r>
              <a:rPr lang="zh-CN" altLang="en-US" sz="2000" kern="1200" dirty="0">
                <a:solidFill>
                  <a:schemeClr val="accent2"/>
                </a:solidFill>
                <a:latin typeface="+mn-lt"/>
                <a:ea typeface="+mn-ea"/>
                <a:cs typeface="+mn-cs"/>
              </a:rPr>
              <a:t>案例</a:t>
            </a:r>
            <a:r>
              <a:rPr lang="zh-CN" altLang="en-US" sz="2000" kern="1200" dirty="0">
                <a:solidFill>
                  <a:schemeClr val="accent2"/>
                </a:solidFill>
                <a:latin typeface="+mn-lt"/>
                <a:ea typeface="+mn-ea"/>
                <a:cs typeface="+mn-cs"/>
              </a:rPr>
              <a:t>目标及实现思路</a:t>
            </a:r>
            <a:endParaRPr lang="zh-CN" altLang="en-US" sz="2000" kern="1200" dirty="0">
              <a:solidFill>
                <a:schemeClr val="accent2"/>
              </a:solidFill>
              <a:latin typeface="+mn-lt"/>
              <a:ea typeface="+mn-ea"/>
              <a:cs typeface="+mn-cs"/>
            </a:endParaRPr>
          </a:p>
        </p:txBody>
      </p:sp>
      <p:sp>
        <p:nvSpPr>
          <p:cNvPr id="3" name="内容占位符 2"/>
          <p:cNvSpPr>
            <a:spLocks noGrp="1"/>
          </p:cNvSpPr>
          <p:nvPr>
            <p:ph idx="1"/>
          </p:nvPr>
        </p:nvSpPr>
        <p:spPr/>
        <p:txBody>
          <a:bodyPr/>
          <a:lstStyle/>
          <a:p>
            <a:r>
              <a:rPr lang="zh-CN" altLang="en-US" dirty="0"/>
              <a:t>案例主要目标是采用数量化的方法，找出未来具有较好投资回报率的股票价格走势形态，从而为投资者提供一定的参考价值。案例实现的思路及流程如下</a:t>
            </a:r>
            <a:r>
              <a:rPr lang="zh-CN" altLang="en-US" dirty="0" smtClean="0"/>
              <a:t>：</a:t>
            </a:r>
            <a:endParaRPr lang="zh-CN" altLang="en-US" dirty="0"/>
          </a:p>
        </p:txBody>
      </p:sp>
      <p:sp>
        <p:nvSpPr>
          <p:cNvPr id="4" name="TextBox 3"/>
          <p:cNvSpPr txBox="1"/>
          <p:nvPr/>
        </p:nvSpPr>
        <p:spPr>
          <a:xfrm>
            <a:off x="-324544" y="106179"/>
            <a:ext cx="1224136"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.2</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06179"/>
            <a:ext cx="7307252" cy="442502"/>
          </a:xfrm>
        </p:spPr>
        <p:txBody>
          <a:bodyPr/>
          <a:lstStyle/>
          <a:p>
            <a:r>
              <a:rPr lang="zh-CN" altLang="en-US" sz="2000" kern="1200" dirty="0">
                <a:solidFill>
                  <a:schemeClr val="accent2"/>
                </a:solidFill>
                <a:latin typeface="+mn-lt"/>
                <a:ea typeface="+mn-ea"/>
                <a:cs typeface="+mn-cs"/>
              </a:rPr>
              <a:t>案例目标及实现思路</a:t>
            </a:r>
            <a:endParaRPr lang="zh-CN" altLang="en-US" sz="2000" kern="1200" dirty="0">
              <a:solidFill>
                <a:schemeClr val="accent2"/>
              </a:solidFill>
              <a:latin typeface="+mn-lt"/>
              <a:ea typeface="+mn-ea"/>
              <a:cs typeface="+mn-cs"/>
            </a:endParaRPr>
          </a:p>
        </p:txBody>
      </p:sp>
      <p:pic>
        <p:nvPicPr>
          <p:cNvPr id="102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907540" y="845820"/>
            <a:ext cx="5433060" cy="530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24544" y="106179"/>
            <a:ext cx="1224136"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.2</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06180"/>
            <a:ext cx="7307252" cy="370492"/>
          </a:xfrm>
        </p:spPr>
        <p:txBody>
          <a:bodyPr/>
          <a:lstStyle/>
          <a:p>
            <a:r>
              <a:rPr lang="zh-CN" altLang="en-US" sz="2000" kern="1200" dirty="0">
                <a:solidFill>
                  <a:schemeClr val="accent2"/>
                </a:solidFill>
                <a:latin typeface="+mn-lt"/>
                <a:ea typeface="+mn-ea"/>
                <a:cs typeface="+mn-cs"/>
              </a:rPr>
              <a:t>数据获取</a:t>
            </a:r>
            <a:endParaRPr lang="zh-CN" altLang="en-US" sz="2000" kern="1200" dirty="0">
              <a:solidFill>
                <a:schemeClr val="accent2"/>
              </a:solidFill>
              <a:latin typeface="+mn-lt"/>
              <a:ea typeface="+mn-ea"/>
              <a:cs typeface="+mn-cs"/>
            </a:endParaRPr>
          </a:p>
        </p:txBody>
      </p:sp>
      <p:sp>
        <p:nvSpPr>
          <p:cNvPr id="3" name="内容占位符 2"/>
          <p:cNvSpPr>
            <a:spLocks noGrp="1"/>
          </p:cNvSpPr>
          <p:nvPr>
            <p:ph idx="1"/>
          </p:nvPr>
        </p:nvSpPr>
        <p:spPr/>
        <p:txBody>
          <a:bodyPr/>
          <a:lstStyle/>
          <a:p>
            <a:r>
              <a:rPr lang="zh-CN" altLang="en-US" dirty="0"/>
              <a:t>案例获取的数据包括中国股票市场</a:t>
            </a:r>
            <a:r>
              <a:rPr lang="en-US" altLang="zh-CN" dirty="0"/>
              <a:t>A</a:t>
            </a:r>
            <a:r>
              <a:rPr lang="zh-CN" altLang="en-US" dirty="0"/>
              <a:t>股</a:t>
            </a:r>
            <a:r>
              <a:rPr lang="en-US" altLang="zh-CN" dirty="0"/>
              <a:t>2017</a:t>
            </a:r>
            <a:r>
              <a:rPr lang="zh-CN" altLang="en-US" dirty="0"/>
              <a:t>年度日行情交易数据（</a:t>
            </a:r>
            <a:r>
              <a:rPr lang="en-US" altLang="zh-CN" dirty="0"/>
              <a:t>DA.xlsx</a:t>
            </a:r>
            <a:r>
              <a:rPr lang="zh-CN" altLang="en-US" dirty="0"/>
              <a:t>，表结构同第</a:t>
            </a:r>
            <a:r>
              <a:rPr lang="en-US" altLang="zh-CN" dirty="0"/>
              <a:t>9</a:t>
            </a:r>
            <a:r>
              <a:rPr lang="zh-CN" altLang="en-US" dirty="0"/>
              <a:t>章表</a:t>
            </a:r>
            <a:r>
              <a:rPr lang="en-US" altLang="zh-CN" dirty="0"/>
              <a:t>9-2</a:t>
            </a:r>
            <a:r>
              <a:rPr lang="zh-CN" altLang="en-US" dirty="0"/>
              <a:t>）、交易日历数据表</a:t>
            </a:r>
            <a:r>
              <a:rPr lang="en-US" altLang="zh-CN" dirty="0"/>
              <a:t>.</a:t>
            </a:r>
            <a:r>
              <a:rPr lang="en-US" altLang="zh-CN" dirty="0" err="1"/>
              <a:t>xlsx</a:t>
            </a:r>
            <a:r>
              <a:rPr lang="zh-CN" altLang="en-US" dirty="0"/>
              <a:t>（表结构同第</a:t>
            </a:r>
            <a:r>
              <a:rPr lang="en-US" altLang="zh-CN" dirty="0"/>
              <a:t>11</a:t>
            </a:r>
            <a:r>
              <a:rPr lang="zh-CN" altLang="en-US" dirty="0"/>
              <a:t>章表</a:t>
            </a:r>
            <a:r>
              <a:rPr lang="en-US" altLang="zh-CN" dirty="0"/>
              <a:t>11-1</a:t>
            </a:r>
            <a:r>
              <a:rPr lang="zh-CN" altLang="en-US" dirty="0"/>
              <a:t>）、沪深</a:t>
            </a:r>
            <a:r>
              <a:rPr lang="en-US" altLang="zh-CN" dirty="0"/>
              <a:t>300</a:t>
            </a:r>
            <a:r>
              <a:rPr lang="zh-CN" altLang="en-US" dirty="0"/>
              <a:t>指数交易数据表（</a:t>
            </a:r>
            <a:r>
              <a:rPr lang="en-US" altLang="zh-CN" dirty="0"/>
              <a:t>index300.xlsx</a:t>
            </a:r>
            <a:r>
              <a:rPr lang="zh-CN" altLang="en-US" dirty="0"/>
              <a:t>，表结构同第</a:t>
            </a:r>
            <a:r>
              <a:rPr lang="en-US" altLang="zh-CN" dirty="0"/>
              <a:t>8</a:t>
            </a:r>
            <a:r>
              <a:rPr lang="zh-CN" altLang="en-US" dirty="0"/>
              <a:t>章表</a:t>
            </a:r>
            <a:r>
              <a:rPr lang="en-US" altLang="zh-CN" dirty="0"/>
              <a:t>8-4</a:t>
            </a:r>
            <a:r>
              <a:rPr lang="zh-CN" altLang="en-US" dirty="0"/>
              <a:t>）。</a:t>
            </a:r>
            <a:endParaRPr lang="zh-CN" altLang="en-US" dirty="0"/>
          </a:p>
        </p:txBody>
      </p:sp>
      <p:sp>
        <p:nvSpPr>
          <p:cNvPr id="4" name="TextBox 3"/>
          <p:cNvSpPr txBox="1"/>
          <p:nvPr/>
        </p:nvSpPr>
        <p:spPr>
          <a:xfrm>
            <a:off x="-324544" y="106179"/>
            <a:ext cx="1224136"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.3</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672" y="106179"/>
            <a:ext cx="6947212" cy="370493"/>
          </a:xfrm>
        </p:spPr>
        <p:txBody>
          <a:bodyPr/>
          <a:lstStyle/>
          <a:p>
            <a:r>
              <a:rPr lang="zh-CN" altLang="en-US" sz="2000" kern="1200" dirty="0">
                <a:solidFill>
                  <a:schemeClr val="accent2"/>
                </a:solidFill>
                <a:latin typeface="+mn-lt"/>
                <a:ea typeface="+mn-ea"/>
                <a:cs typeface="+mn-cs"/>
              </a:rPr>
              <a:t>股票</a:t>
            </a:r>
            <a:r>
              <a:rPr lang="zh-CN" altLang="en-US" sz="2000" kern="1200" dirty="0">
                <a:solidFill>
                  <a:schemeClr val="accent2"/>
                </a:solidFill>
                <a:latin typeface="+mn-lt"/>
                <a:ea typeface="+mn-ea"/>
                <a:cs typeface="+mn-cs"/>
              </a:rPr>
              <a:t>价格形态特征提取</a:t>
            </a:r>
            <a:endParaRPr lang="zh-CN" altLang="en-US" sz="2000" kern="1200" dirty="0">
              <a:solidFill>
                <a:schemeClr val="accent2"/>
              </a:solidFill>
              <a:latin typeface="+mn-lt"/>
              <a:ea typeface="+mn-ea"/>
              <a:cs typeface="+mn-cs"/>
            </a:endParaRPr>
          </a:p>
        </p:txBody>
      </p:sp>
      <p:sp>
        <p:nvSpPr>
          <p:cNvPr id="3" name="内容占位符 2"/>
          <p:cNvSpPr>
            <a:spLocks noGrp="1"/>
          </p:cNvSpPr>
          <p:nvPr>
            <p:ph idx="1"/>
          </p:nvPr>
        </p:nvSpPr>
        <p:spPr/>
        <p:txBody>
          <a:bodyPr>
            <a:normAutofit/>
          </a:bodyPr>
          <a:lstStyle/>
          <a:p>
            <a:r>
              <a:rPr lang="zh-CN" altLang="en-US" dirty="0"/>
              <a:t>由于用于聚类的股票价格数据周期取三个月，其交易日期一般都在</a:t>
            </a:r>
            <a:r>
              <a:rPr lang="en-US" altLang="zh-CN" dirty="0"/>
              <a:t>60</a:t>
            </a:r>
            <a:r>
              <a:rPr lang="zh-CN" altLang="en-US" dirty="0"/>
              <a:t>个以上，如果以收盘价数据直接进行聚类，则数据维度较高。特别地如果周期取半年、一年或者更长，其维度更高，会严重影响聚类的效果，因此在进行聚类之前需要做降维处理。降维的方法则是取能代表股票价格走势的关键价格点，并基于提取的关键价格点计算股票价格走势形态特征，从而进行聚类。这里关键价格点的提取是关键，下面详细介绍关键价格点的概念、提取算法和形态特征的计算方法。</a:t>
            </a:r>
            <a:endParaRPr lang="zh-CN" altLang="en-US" dirty="0"/>
          </a:p>
        </p:txBody>
      </p:sp>
      <p:sp>
        <p:nvSpPr>
          <p:cNvPr id="4" name="TextBox 3"/>
          <p:cNvSpPr txBox="1"/>
          <p:nvPr/>
        </p:nvSpPr>
        <p:spPr>
          <a:xfrm>
            <a:off x="-324544" y="106179"/>
            <a:ext cx="1224136"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91680" y="1"/>
            <a:ext cx="6875204" cy="548680"/>
          </a:xfrm>
        </p:spPr>
        <p:txBody>
          <a:bodyPr>
            <a:normAutofit/>
          </a:bodyPr>
          <a:lstStyle/>
          <a:p>
            <a:r>
              <a:rPr lang="en-US" altLang="zh-CN" dirty="0" smtClean="0"/>
              <a:t> </a:t>
            </a:r>
            <a:r>
              <a:rPr lang="zh-CN" altLang="en-US" sz="2000" kern="1200" dirty="0">
                <a:solidFill>
                  <a:schemeClr val="accent2"/>
                </a:solidFill>
                <a:latin typeface="+mn-lt"/>
                <a:ea typeface="+mn-ea"/>
                <a:cs typeface="+mn-cs"/>
              </a:rPr>
              <a:t>关键价格点概念及提取算法</a:t>
            </a:r>
            <a:endParaRPr lang="zh-CN" altLang="en-US" sz="2000" kern="1200" dirty="0">
              <a:solidFill>
                <a:schemeClr val="accent2"/>
              </a:solidFill>
              <a:latin typeface="+mn-lt"/>
              <a:ea typeface="+mn-ea"/>
              <a:cs typeface="+mn-cs"/>
            </a:endParaRPr>
          </a:p>
        </p:txBody>
      </p:sp>
      <p:sp>
        <p:nvSpPr>
          <p:cNvPr id="3" name="内容占位符 2"/>
          <p:cNvSpPr>
            <a:spLocks noGrp="1"/>
          </p:cNvSpPr>
          <p:nvPr>
            <p:ph idx="1"/>
          </p:nvPr>
        </p:nvSpPr>
        <p:spPr/>
        <p:txBody>
          <a:bodyPr/>
          <a:lstStyle/>
          <a:p>
            <a:r>
              <a:rPr lang="zh-CN" altLang="en-US" dirty="0"/>
              <a:t>通过分析我们可以发现，股票价格走势主要由一些关键价格点构成，因为我们选择其关键的价格点作为聚类特征即可。由文献</a:t>
            </a:r>
            <a:r>
              <a:rPr lang="en-US" altLang="zh-CN" dirty="0"/>
              <a:t>[14]</a:t>
            </a:r>
            <a:r>
              <a:rPr lang="zh-CN" altLang="en-US" dirty="0"/>
              <a:t>， 构成的序列模式， 越大， 成为关键点的可能性就大。下面我们给出关键价格点提取算法。</a:t>
            </a:r>
            <a:endParaRPr lang="zh-CN" altLang="en-US" dirty="0"/>
          </a:p>
        </p:txBody>
      </p:sp>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.4.1</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35696" y="106179"/>
            <a:ext cx="6731188" cy="442501"/>
          </a:xfrm>
        </p:spPr>
        <p:txBody>
          <a:bodyPr/>
          <a:lstStyle/>
          <a:p>
            <a:r>
              <a:rPr lang="zh-CN" altLang="en-US" sz="2000" kern="1200" dirty="0">
                <a:solidFill>
                  <a:srgbClr val="FFFFFF"/>
                </a:solidFill>
              </a:rPr>
              <a:t>关键价格点概念及提取算法</a:t>
            </a:r>
            <a:endParaRPr lang="zh-CN" altLang="en-US" dirty="0"/>
          </a:p>
        </p:txBody>
      </p:sp>
      <p:graphicFrame>
        <p:nvGraphicFramePr>
          <p:cNvPr id="5" name="内容占位符 4"/>
          <p:cNvGraphicFramePr>
            <a:graphicFrameLocks noGrp="1"/>
          </p:cNvGraphicFramePr>
          <p:nvPr>
            <p:ph idx="1"/>
          </p:nvPr>
        </p:nvGraphicFramePr>
        <p:xfrm>
          <a:off x="619125" y="836712"/>
          <a:ext cx="7947026" cy="5983224"/>
        </p:xfrm>
        <a:graphic>
          <a:graphicData uri="http://schemas.openxmlformats.org/drawingml/2006/table">
            <a:tbl>
              <a:tblPr firstRow="1" bandRow="1">
                <a:tableStyleId>{5C22544A-7EE6-4342-B048-85BDC9FD1C3A}</a:tableStyleId>
              </a:tblPr>
              <a:tblGrid>
                <a:gridCol w="3973513"/>
                <a:gridCol w="3973513"/>
              </a:tblGrid>
              <a:tr h="5400600">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输入：原始价格序列</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x=(x1,x2,……,</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xp</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，提取关键点个数</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num</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输出：关键价格点序列、对应下标序列</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step1</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：对</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x2,……</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x(p-1),</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按公式计算其与相邻两个价格点均值的绝对值大小，并按从大到小进行排序，取排名前</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num-2</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对应的价格点，记为</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L1</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，对应的下标序列记为</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S1.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step2</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：记</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x1,xp</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对应的价格点记为</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L2</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，对应的下标序列记为</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S2</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step3</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：记</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L=L1∪L2</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S=S1∪S2</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，并按</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S</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进行从小到大进行排序，则</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L</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即为关键价格点序列，</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S</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即为对应的下标序列。</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关键点提取算法函数如下（函数定义在</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df.py</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文件中）：</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def</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get_keydata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x,num</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import pandas as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import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numpy</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as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np</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计算</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x2,……</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x(p-1)</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各点减去相邻两点平均值的绝对值</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d=abs(x[1:len(x)-1].values-(x[0:len(x)-2].</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values+x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[2:len(x)].values)/2)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以</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为值，对应的下标为</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index</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，构建序列，并按降序排序</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Sd</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pd.Series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np.arange</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(1,len(x)-1)).</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sort_values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(ascending=False)</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L1=</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Sd</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[0:num-2]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L2=</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pd.Series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([x[0],x[</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(x)-1]],index=[0,len(x)-1])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L=L1.append(L2)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sort_index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return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其中函数输入参数为价格数组</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X</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、提取的关键点个数</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num</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，返回值为关键点序列（</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index</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为下标、</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value</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为对应的关键点价格点）。作为一个例子，取股票代码</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600000</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2017</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年</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6</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月</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1</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日至</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2017</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年</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8</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月</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31</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日的收盘价数据，提取</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10</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个关键点，并在同一坐标轴上绘制原始价格点与关键价格点拟合图，示例代码如下：</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import pandas as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import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df</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import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matplotlib.pyplot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as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plt</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data=</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pd.read_excel</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('DA.xlsx')</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提取满足日期条件的数据</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I1=data['</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Trddt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'].values&gt;='2017-06-01'</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I2=data['</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Trddt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'].values=&lt;'2017-08-31'</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I=I1&amp;I2</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data1=</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data.iloc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提取代码</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600000</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的收盘价</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=data1.loc[data1['</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Stkcd</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']==600000,['</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Clsprc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Clsprc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收盘价序列的</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index</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重排，从</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0</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开始</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pd.Series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dt.values,index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=range(</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调用关键点获取函数</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df.get_keydata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(dt,10)</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zh-CN" sz="1100" b="0" i="0" u="none" strike="noStrike" kern="0" cap="none" spc="0" normalizeH="0" baseline="0" noProof="0" dirty="0" smtClean="0">
                          <a:ln>
                            <a:noFill/>
                          </a:ln>
                          <a:solidFill>
                            <a:srgbClr val="484849"/>
                          </a:solidFill>
                          <a:effectLst/>
                          <a:uLnTx/>
                          <a:uFillTx/>
                          <a:latin typeface="+mn-lt"/>
                          <a:ea typeface="+mn-ea"/>
                          <a:cs typeface="+mn-cs"/>
                        </a:rPr>
                        <a:t>绘图</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plt.plot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dt.index,dt.values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zh-CN"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plt.plot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keydata.index,keydata.values,'r</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r>
            </a:tbl>
          </a:graphicData>
        </a:graphic>
      </p:graphicFrame>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.4.1</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79712" y="106179"/>
            <a:ext cx="6587172" cy="442501"/>
          </a:xfrm>
        </p:spPr>
        <p:txBody>
          <a:bodyPr>
            <a:normAutofit/>
          </a:bodyPr>
          <a:lstStyle/>
          <a:p>
            <a:r>
              <a:rPr lang="zh-CN" altLang="en-US" sz="2000" kern="1200" dirty="0">
                <a:solidFill>
                  <a:srgbClr val="FFFFFF"/>
                </a:solidFill>
              </a:rPr>
              <a:t>关键价格点概念及提取算法</a:t>
            </a:r>
            <a:endParaRPr lang="zh-CN" altLang="en-US" dirty="0"/>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699792" y="1988840"/>
            <a:ext cx="3677163" cy="2381583"/>
          </a:xfrm>
        </p:spPr>
      </p:pic>
      <p:sp>
        <p:nvSpPr>
          <p:cNvPr id="5" name="TextBox 4"/>
          <p:cNvSpPr txBox="1"/>
          <p:nvPr/>
        </p:nvSpPr>
        <p:spPr>
          <a:xfrm>
            <a:off x="3995936" y="4437112"/>
            <a:ext cx="936104" cy="369332"/>
          </a:xfrm>
          <a:prstGeom prst="rect">
            <a:avLst/>
          </a:prstGeom>
          <a:noFill/>
        </p:spPr>
        <p:txBody>
          <a:bodyPr wrap="square" rtlCol="0">
            <a:spAutoFit/>
          </a:bodyPr>
          <a:lstStyle/>
          <a:p>
            <a:r>
              <a:rPr lang="zh-CN" altLang="en-US" dirty="0"/>
              <a:t>图</a:t>
            </a:r>
            <a:r>
              <a:rPr lang="en-US" altLang="zh-CN" dirty="0"/>
              <a:t>10-1</a:t>
            </a:r>
            <a:endParaRPr lang="zh-CN" altLang="en-US" dirty="0"/>
          </a:p>
        </p:txBody>
      </p:sp>
      <p:sp>
        <p:nvSpPr>
          <p:cNvPr id="6" name="TextBox 5"/>
          <p:cNvSpPr txBox="1"/>
          <p:nvPr/>
        </p:nvSpPr>
        <p:spPr>
          <a:xfrm>
            <a:off x="1043608" y="4806444"/>
            <a:ext cx="7128792" cy="1754326"/>
          </a:xfrm>
          <a:prstGeom prst="rect">
            <a:avLst/>
          </a:prstGeom>
          <a:noFill/>
        </p:spPr>
        <p:txBody>
          <a:bodyPr wrap="square" rtlCol="0">
            <a:spAutoFit/>
          </a:bodyPr>
          <a:lstStyle/>
          <a:p>
            <a:r>
              <a:rPr lang="zh-CN" altLang="en-US" dirty="0"/>
              <a:t>关键价格点（</a:t>
            </a:r>
            <a:r>
              <a:rPr lang="en-US" altLang="zh-CN" dirty="0" err="1"/>
              <a:t>keydata.values</a:t>
            </a:r>
            <a:r>
              <a:rPr lang="zh-CN" altLang="en-US" dirty="0"/>
              <a:t>）为：</a:t>
            </a:r>
            <a:endParaRPr lang="zh-CN" altLang="en-US" dirty="0"/>
          </a:p>
          <a:p>
            <a:r>
              <a:rPr lang="en-US" altLang="zh-CN" dirty="0"/>
              <a:t>[ 12.92  12.53  12.86  13.76  13.55  13.45  13.67  13.44    12.47  12.71]</a:t>
            </a:r>
            <a:endParaRPr lang="en-US" altLang="zh-CN" dirty="0"/>
          </a:p>
          <a:p>
            <a:r>
              <a:rPr lang="zh-CN" altLang="en-US" dirty="0"/>
              <a:t>对应的下标（</a:t>
            </a:r>
            <a:r>
              <a:rPr lang="en-US" altLang="zh-CN" dirty="0" err="1"/>
              <a:t>keydata.index</a:t>
            </a:r>
            <a:r>
              <a:rPr lang="zh-CN" altLang="en-US" dirty="0"/>
              <a:t>）为：</a:t>
            </a:r>
            <a:endParaRPr lang="zh-CN" altLang="en-US" dirty="0"/>
          </a:p>
          <a:p>
            <a:r>
              <a:rPr lang="en-US" altLang="zh-CN" dirty="0"/>
              <a:t>[0, 27, 29, 32, 33, 36, 37, 44, 60, 65]</a:t>
            </a:r>
            <a:endParaRPr lang="en-US" altLang="zh-CN" dirty="0"/>
          </a:p>
          <a:p>
            <a:r>
              <a:rPr lang="zh-CN" altLang="en-US" dirty="0"/>
              <a:t>从拟合的效果可以看出，关键点基本能表示原来的价格走势，因此采用关键点进行分析即可。</a:t>
            </a:r>
            <a:endParaRPr lang="zh-CN" altLang="en-US" dirty="0"/>
          </a:p>
        </p:txBody>
      </p:sp>
      <p:sp>
        <p:nvSpPr>
          <p:cNvPr id="7" name="TextBox 6"/>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.4.1</a:t>
            </a:r>
            <a:endParaRPr lang="zh-CN" altLang="en-US" sz="1400" dirty="0">
              <a:solidFill>
                <a:schemeClr val="accent2"/>
              </a:solidFill>
            </a:endParaRPr>
          </a:p>
        </p:txBody>
      </p:sp>
      <p:sp>
        <p:nvSpPr>
          <p:cNvPr id="8" name="TextBox 7"/>
          <p:cNvSpPr txBox="1"/>
          <p:nvPr/>
        </p:nvSpPr>
        <p:spPr>
          <a:xfrm>
            <a:off x="1691680" y="1052736"/>
            <a:ext cx="6264696" cy="369332"/>
          </a:xfrm>
          <a:prstGeom prst="rect">
            <a:avLst/>
          </a:prstGeom>
          <a:noFill/>
        </p:spPr>
        <p:txBody>
          <a:bodyPr wrap="square" rtlCol="0">
            <a:spAutoFit/>
          </a:bodyPr>
          <a:lstStyle/>
          <a:p>
            <a:r>
              <a:rPr lang="zh-CN" altLang="en-US" dirty="0"/>
              <a:t>最终得到拟合效果图如图</a:t>
            </a:r>
            <a:r>
              <a:rPr lang="en-US" altLang="zh-CN" dirty="0"/>
              <a:t>10-1</a:t>
            </a:r>
            <a:r>
              <a:rPr lang="zh-CN" altLang="en-US" dirty="0"/>
              <a:t>及关键点如下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47664" y="106179"/>
            <a:ext cx="7019220" cy="442501"/>
          </a:xfrm>
        </p:spPr>
        <p:txBody>
          <a:bodyPr>
            <a:normAutofit/>
          </a:bodyPr>
          <a:lstStyle/>
          <a:p>
            <a:r>
              <a:rPr lang="zh-CN" altLang="en-US" sz="2000" kern="1200" dirty="0">
                <a:solidFill>
                  <a:srgbClr val="FFFFFF"/>
                </a:solidFill>
              </a:rPr>
              <a:t>基于</a:t>
            </a:r>
            <a:r>
              <a:rPr lang="zh-CN" altLang="en-US" sz="2000" kern="1200" dirty="0">
                <a:solidFill>
                  <a:srgbClr val="FFFFFF"/>
                </a:solidFill>
              </a:rPr>
              <a:t>关键价格点的形态特征表示</a:t>
            </a:r>
            <a:endParaRPr lang="zh-CN" altLang="en-US" sz="2000" kern="1200" dirty="0">
              <a:solidFill>
                <a:srgbClr val="FFFFFF"/>
              </a:solidFill>
            </a:endParaRPr>
          </a:p>
        </p:txBody>
      </p:sp>
      <p:sp>
        <p:nvSpPr>
          <p:cNvPr id="3" name="内容占位符 2"/>
          <p:cNvSpPr>
            <a:spLocks noGrp="1"/>
          </p:cNvSpPr>
          <p:nvPr>
            <p:ph idx="1"/>
          </p:nvPr>
        </p:nvSpPr>
        <p:spPr/>
        <p:txBody>
          <a:bodyPr>
            <a:normAutofit fontScale="92500" lnSpcReduction="20000"/>
          </a:bodyPr>
          <a:lstStyle/>
          <a:p>
            <a:r>
              <a:rPr lang="zh-CN" altLang="en-US" dirty="0"/>
              <a:t>关键价格点的提取降低了维度，但是直接用价格点进行聚类还是存在较大的误差，因此我们需要对关键价格点的走势情况进行特征化表示，采用两个关键价格点之间连线的斜率来确定其涨跌情况，即特征化表示为两个关键点连线之间的夹角 的</a:t>
            </a:r>
            <a:r>
              <a:rPr lang="en-US" altLang="zh-CN" dirty="0"/>
              <a:t>tan</a:t>
            </a:r>
            <a:r>
              <a:rPr lang="zh-CN" altLang="en-US" dirty="0"/>
              <a:t>值，其计算公式如下：</a:t>
            </a:r>
            <a:endParaRPr lang="zh-CN" altLang="en-US" dirty="0"/>
          </a:p>
          <a:p>
            <a:r>
              <a:rPr lang="zh-CN" altLang="en-US" dirty="0"/>
              <a:t> </a:t>
            </a:r>
            <a:endParaRPr lang="zh-CN" altLang="en-US" dirty="0"/>
          </a:p>
          <a:p>
            <a:r>
              <a:rPr lang="zh-CN" altLang="en-US" dirty="0"/>
              <a:t>   其中 和 分别表示前后两个关键点， 和 为关键点对应的下标。涨跌幅的划分标准如下：</a:t>
            </a:r>
            <a:endParaRPr lang="zh-CN" altLang="en-US" dirty="0"/>
          </a:p>
          <a:p>
            <a:r>
              <a:rPr lang="zh-CN" altLang="en-US" dirty="0"/>
              <a:t>上涨幅度大：   </a:t>
            </a:r>
            <a:r>
              <a:rPr lang="en-US" altLang="zh-CN" dirty="0"/>
              <a:t>tan</a:t>
            </a:r>
            <a:r>
              <a:rPr lang="zh-CN" altLang="en-US" dirty="0"/>
              <a:t>值</a:t>
            </a:r>
            <a:r>
              <a:rPr lang="en-US" altLang="zh-CN" dirty="0"/>
              <a:t>&gt;0.5                   </a:t>
            </a:r>
            <a:endParaRPr lang="en-US" altLang="zh-CN" dirty="0"/>
          </a:p>
          <a:p>
            <a:r>
              <a:rPr lang="zh-CN" altLang="en-US" dirty="0"/>
              <a:t>上涨幅度较大： </a:t>
            </a:r>
            <a:r>
              <a:rPr lang="en-US" altLang="zh-CN" dirty="0"/>
              <a:t>tan</a:t>
            </a:r>
            <a:r>
              <a:rPr lang="zh-CN" altLang="en-US" dirty="0"/>
              <a:t>值介于</a:t>
            </a:r>
            <a:r>
              <a:rPr lang="en-US" altLang="zh-CN" dirty="0"/>
              <a:t>0.2~0.5</a:t>
            </a:r>
            <a:r>
              <a:rPr lang="zh-CN" altLang="en-US" dirty="0"/>
              <a:t>之间        </a:t>
            </a:r>
            <a:endParaRPr lang="zh-CN" altLang="en-US" dirty="0"/>
          </a:p>
          <a:p>
            <a:r>
              <a:rPr lang="zh-CN" altLang="en-US" dirty="0"/>
              <a:t>上涨：         </a:t>
            </a:r>
            <a:r>
              <a:rPr lang="en-US" altLang="zh-CN" dirty="0"/>
              <a:t>tan</a:t>
            </a:r>
            <a:r>
              <a:rPr lang="zh-CN" altLang="en-US" dirty="0"/>
              <a:t>值介于</a:t>
            </a:r>
            <a:r>
              <a:rPr lang="en-US" altLang="zh-CN" dirty="0"/>
              <a:t>0.1~0.2</a:t>
            </a:r>
            <a:r>
              <a:rPr lang="zh-CN" altLang="en-US" dirty="0"/>
              <a:t>之间</a:t>
            </a:r>
            <a:endParaRPr lang="zh-CN" altLang="en-US" dirty="0"/>
          </a:p>
          <a:p>
            <a:r>
              <a:rPr lang="zh-CN" altLang="en-US" dirty="0"/>
              <a:t>平缓：         </a:t>
            </a:r>
            <a:r>
              <a:rPr lang="en-US" altLang="zh-CN" dirty="0"/>
              <a:t>tan</a:t>
            </a:r>
            <a:r>
              <a:rPr lang="zh-CN" altLang="en-US" dirty="0"/>
              <a:t>值介于</a:t>
            </a:r>
            <a:r>
              <a:rPr lang="en-US" altLang="zh-CN" dirty="0"/>
              <a:t>-0.1~0.1</a:t>
            </a:r>
            <a:r>
              <a:rPr lang="zh-CN" altLang="en-US" dirty="0"/>
              <a:t>之间</a:t>
            </a:r>
            <a:endParaRPr lang="zh-CN" altLang="en-US" dirty="0"/>
          </a:p>
          <a:p>
            <a:r>
              <a:rPr lang="zh-CN" altLang="en-US" dirty="0"/>
              <a:t>下跌：         </a:t>
            </a:r>
            <a:r>
              <a:rPr lang="en-US" altLang="zh-CN" dirty="0"/>
              <a:t>tan</a:t>
            </a:r>
            <a:r>
              <a:rPr lang="zh-CN" altLang="en-US" dirty="0"/>
              <a:t>值介于</a:t>
            </a:r>
            <a:r>
              <a:rPr lang="en-US" altLang="zh-CN" dirty="0"/>
              <a:t>-0.2~-0.1</a:t>
            </a:r>
            <a:r>
              <a:rPr lang="zh-CN" altLang="en-US" dirty="0"/>
              <a:t>之间</a:t>
            </a:r>
            <a:endParaRPr lang="zh-CN" altLang="en-US" dirty="0"/>
          </a:p>
          <a:p>
            <a:r>
              <a:rPr lang="zh-CN" altLang="en-US" dirty="0"/>
              <a:t>下跌幅度较大： </a:t>
            </a:r>
            <a:r>
              <a:rPr lang="en-US" altLang="zh-CN" dirty="0"/>
              <a:t>tan</a:t>
            </a:r>
            <a:r>
              <a:rPr lang="zh-CN" altLang="en-US" dirty="0"/>
              <a:t>值介于</a:t>
            </a:r>
            <a:r>
              <a:rPr lang="en-US" altLang="zh-CN" dirty="0"/>
              <a:t>-0.5~-0.2</a:t>
            </a:r>
            <a:r>
              <a:rPr lang="zh-CN" altLang="en-US" dirty="0"/>
              <a:t>之间</a:t>
            </a:r>
            <a:endParaRPr lang="zh-CN" altLang="en-US" dirty="0"/>
          </a:p>
          <a:p>
            <a:r>
              <a:rPr lang="zh-CN" altLang="en-US" dirty="0"/>
              <a:t>下跌幅度大：   </a:t>
            </a:r>
            <a:r>
              <a:rPr lang="en-US" altLang="zh-CN" dirty="0"/>
              <a:t>tan</a:t>
            </a:r>
            <a:r>
              <a:rPr lang="zh-CN" altLang="en-US" dirty="0"/>
              <a:t>值</a:t>
            </a:r>
            <a:r>
              <a:rPr lang="en-US" altLang="zh-CN" dirty="0"/>
              <a:t>&lt;-0.5</a:t>
            </a:r>
            <a:endParaRPr lang="en-US" altLang="zh-CN" dirty="0"/>
          </a:p>
          <a:p>
            <a:r>
              <a:rPr lang="zh-CN" altLang="en-US" dirty="0"/>
              <a:t>分别记为：     </a:t>
            </a:r>
            <a:r>
              <a:rPr lang="en-US" altLang="zh-CN" dirty="0"/>
              <a:t>7</a:t>
            </a:r>
            <a:r>
              <a:rPr lang="zh-CN" altLang="en-US" dirty="0"/>
              <a:t>、</a:t>
            </a:r>
            <a:r>
              <a:rPr lang="en-US" altLang="zh-CN" dirty="0"/>
              <a:t>6</a:t>
            </a:r>
            <a:r>
              <a:rPr lang="zh-CN" altLang="en-US" dirty="0"/>
              <a:t>、</a:t>
            </a:r>
            <a:r>
              <a:rPr lang="en-US" altLang="zh-CN" dirty="0"/>
              <a:t>5</a:t>
            </a:r>
            <a:r>
              <a:rPr lang="zh-CN" altLang="en-US" dirty="0"/>
              <a:t>、</a:t>
            </a:r>
            <a:r>
              <a:rPr lang="en-US" altLang="zh-CN" dirty="0"/>
              <a:t>4</a:t>
            </a:r>
            <a:r>
              <a:rPr lang="zh-CN" altLang="en-US" dirty="0"/>
              <a:t>、</a:t>
            </a:r>
            <a:r>
              <a:rPr lang="en-US" altLang="zh-CN" dirty="0"/>
              <a:t>3</a:t>
            </a:r>
            <a:r>
              <a:rPr lang="zh-CN" altLang="en-US" dirty="0"/>
              <a:t>、</a:t>
            </a:r>
            <a:r>
              <a:rPr lang="en-US" altLang="zh-CN" dirty="0"/>
              <a:t>2</a:t>
            </a:r>
            <a:r>
              <a:rPr lang="zh-CN" altLang="en-US" dirty="0"/>
              <a:t>、</a:t>
            </a:r>
            <a:r>
              <a:rPr lang="en-US" altLang="zh-CN" dirty="0"/>
              <a:t>1</a:t>
            </a:r>
            <a:endParaRPr lang="en-US" altLang="zh-CN" dirty="0"/>
          </a:p>
          <a:p>
            <a:endParaRPr lang="zh-CN" altLang="en-US" dirty="0"/>
          </a:p>
        </p:txBody>
      </p:sp>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.4.2</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47664" y="106179"/>
            <a:ext cx="7011803" cy="442501"/>
          </a:xfrm>
        </p:spPr>
        <p:txBody>
          <a:bodyPr/>
          <a:lstStyle/>
          <a:p>
            <a:r>
              <a:rPr lang="zh-CN" altLang="en-US" sz="2000" kern="1200" dirty="0">
                <a:solidFill>
                  <a:srgbClr val="FFFFFF"/>
                </a:solidFill>
              </a:rPr>
              <a:t>基于关键价格点的形态特征表示</a:t>
            </a:r>
            <a:endParaRPr lang="zh-CN" altLang="en-US" sz="2000" kern="1200" dirty="0">
              <a:solidFill>
                <a:srgbClr val="FFFFFF"/>
              </a:solidFill>
            </a:endParaRPr>
          </a:p>
        </p:txBody>
      </p:sp>
      <p:graphicFrame>
        <p:nvGraphicFramePr>
          <p:cNvPr id="5" name="内容占位符 4"/>
          <p:cNvGraphicFramePr>
            <a:graphicFrameLocks noGrp="1"/>
          </p:cNvGraphicFramePr>
          <p:nvPr>
            <p:ph idx="1"/>
          </p:nvPr>
        </p:nvGraphicFramePr>
        <p:xfrm>
          <a:off x="619125" y="692696"/>
          <a:ext cx="7947026" cy="5472608"/>
        </p:xfrm>
        <a:graphic>
          <a:graphicData uri="http://schemas.openxmlformats.org/drawingml/2006/table">
            <a:tbl>
              <a:tblPr firstRow="1" bandRow="1">
                <a:tableStyleId>{5C22544A-7EE6-4342-B048-85BDC9FD1C3A}</a:tableStyleId>
              </a:tblPr>
              <a:tblGrid>
                <a:gridCol w="3973513"/>
                <a:gridCol w="3973513"/>
              </a:tblGrid>
              <a:tr h="5472608">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特征化表示函数如下（函数也定义在</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df.py</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文件中）：</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def</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get_tz</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import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numpy</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as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np</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y1=</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keydata.values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y2=</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keydata.values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[0:-1]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x1=</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x2=</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[0:-1]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计算</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tan</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值</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tan=list((y2-y1)/(x2-x1))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np.array</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(tan)</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I7=T&gt;0.5</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i1=T&gt;0.2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i2=T&lt;=0.5</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I6=i1&amp;i2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i1=T&gt;0.1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i2=T&lt;=0.2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I5=i1&amp;i2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i1=T&gt;-0.1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i2=T&lt;=0.1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I4=i1&amp;i2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i1=T&gt;-0.2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i2=T&lt;=-0.1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I3=i1&amp;i2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i1=T&gt;=-0.5</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i2=T&lt;=-0.2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I2=i1&amp;i2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I1=T&lt;-0.5</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T[I1]=1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T[I2]=2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T[I3]=3</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T[I4]=4</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T[I5]=5</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T[I6]=6</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T[I7]=7</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return 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函数输入参数为关键点序列，返回结果为特征化数组，示例代码如下：</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df.get_tz</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print(T)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则可以看到，图</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10.1</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的关键点价格走势图，其特征化表示为：</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[ 4.  5.  6.  2.  4.  6.  4.  4.  4.]</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r>
            </a:tbl>
          </a:graphicData>
        </a:graphic>
      </p:graphicFrame>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.4.2</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3648" y="0"/>
            <a:ext cx="7163236" cy="692695"/>
          </a:xfrm>
        </p:spPr>
        <p:txBody>
          <a:bodyPr>
            <a:normAutofit/>
          </a:bodyPr>
          <a:lstStyle/>
          <a:p>
            <a:r>
              <a:rPr lang="zh-CN" altLang="en-US" sz="2000" kern="1200" dirty="0">
                <a:solidFill>
                  <a:srgbClr val="FFFFFF"/>
                </a:solidFill>
              </a:rPr>
              <a:t>基于</a:t>
            </a:r>
            <a:r>
              <a:rPr lang="zh-CN" altLang="en-US" sz="2000" kern="1200" dirty="0">
                <a:solidFill>
                  <a:srgbClr val="FFFFFF"/>
                </a:solidFill>
              </a:rPr>
              <a:t>关键价格点的形态特征提取</a:t>
            </a:r>
            <a:endParaRPr lang="zh-CN" altLang="en-US" sz="2000" kern="1200" dirty="0">
              <a:solidFill>
                <a:srgbClr val="FFFFFF"/>
              </a:solidFill>
            </a:endParaRPr>
          </a:p>
        </p:txBody>
      </p:sp>
      <p:sp>
        <p:nvSpPr>
          <p:cNvPr id="3" name="内容占位符 2"/>
          <p:cNvSpPr>
            <a:spLocks noGrp="1"/>
          </p:cNvSpPr>
          <p:nvPr>
            <p:ph idx="1"/>
          </p:nvPr>
        </p:nvSpPr>
        <p:spPr/>
        <p:txBody>
          <a:bodyPr>
            <a:normAutofit/>
          </a:bodyPr>
          <a:lstStyle/>
          <a:p>
            <a:r>
              <a:rPr lang="zh-CN" altLang="en-US" dirty="0"/>
              <a:t>前面我们分析了股票价格走势中的关键价格点问题以及相关的特征提取算法，下面我们根据第</a:t>
            </a:r>
            <a:r>
              <a:rPr lang="en-US" altLang="zh-CN" dirty="0"/>
              <a:t>8</a:t>
            </a:r>
            <a:r>
              <a:rPr lang="zh-CN" altLang="en-US" dirty="0"/>
              <a:t>章中基于总体规模与投资效率指标的综合评价方法，获取</a:t>
            </a:r>
            <a:r>
              <a:rPr lang="en-US" altLang="zh-CN" dirty="0"/>
              <a:t>2016</a:t>
            </a:r>
            <a:r>
              <a:rPr lang="zh-CN" altLang="en-US" dirty="0"/>
              <a:t>年排名前</a:t>
            </a:r>
            <a:r>
              <a:rPr lang="en-US" altLang="zh-CN" dirty="0"/>
              <a:t>400</a:t>
            </a:r>
            <a:r>
              <a:rPr lang="zh-CN" altLang="en-US" dirty="0"/>
              <a:t>的股票，作为研究样本，并提取其交易数据区间在</a:t>
            </a:r>
            <a:r>
              <a:rPr lang="en-US" altLang="zh-CN" dirty="0"/>
              <a:t>2017-05-01~2017-07-31</a:t>
            </a:r>
            <a:r>
              <a:rPr lang="zh-CN" altLang="en-US" dirty="0"/>
              <a:t>的股票关键价格点和形态特征。</a:t>
            </a:r>
            <a:endParaRPr lang="zh-CN" altLang="en-US" dirty="0"/>
          </a:p>
          <a:p>
            <a:r>
              <a:rPr lang="zh-CN" altLang="en-US" dirty="0"/>
              <a:t>首先基于总体规模与投资效率指标的综合评价方法，获取</a:t>
            </a:r>
            <a:r>
              <a:rPr lang="en-US" altLang="zh-CN" dirty="0"/>
              <a:t>2016</a:t>
            </a:r>
            <a:r>
              <a:rPr lang="zh-CN" altLang="en-US" dirty="0"/>
              <a:t>年排名前</a:t>
            </a:r>
            <a:r>
              <a:rPr lang="en-US" altLang="zh-CN" dirty="0"/>
              <a:t>400</a:t>
            </a:r>
            <a:r>
              <a:rPr lang="zh-CN" altLang="en-US" dirty="0"/>
              <a:t>的股票，包括其股票代码和股票简称，示例代码如下：</a:t>
            </a:r>
            <a:endParaRPr lang="zh-CN" altLang="en-US" dirty="0"/>
          </a:p>
          <a:p>
            <a:endParaRPr lang="zh-CN" altLang="en-US" dirty="0"/>
          </a:p>
        </p:txBody>
      </p:sp>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.4.3</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672" y="0"/>
            <a:ext cx="6947212" cy="692695"/>
          </a:xfrm>
        </p:spPr>
        <p:txBody>
          <a:bodyPr/>
          <a:lstStyle/>
          <a:p>
            <a:r>
              <a:rPr lang="zh-CN" altLang="en-US" sz="2000" kern="1200" dirty="0">
                <a:solidFill>
                  <a:srgbClr val="FFFFFF"/>
                </a:solidFill>
              </a:rPr>
              <a:t>基于关键价格点的形态特征提取</a:t>
            </a:r>
            <a:endParaRPr lang="zh-CN" altLang="en-US" dirty="0"/>
          </a:p>
        </p:txBody>
      </p:sp>
      <p:graphicFrame>
        <p:nvGraphicFramePr>
          <p:cNvPr id="5" name="内容占位符 4"/>
          <p:cNvGraphicFramePr>
            <a:graphicFrameLocks noGrp="1"/>
          </p:cNvGraphicFramePr>
          <p:nvPr>
            <p:ph idx="1"/>
          </p:nvPr>
        </p:nvGraphicFramePr>
        <p:xfrm>
          <a:off x="619125" y="764704"/>
          <a:ext cx="7947026" cy="5660136"/>
        </p:xfrm>
        <a:graphic>
          <a:graphicData uri="http://schemas.openxmlformats.org/drawingml/2006/table">
            <a:tbl>
              <a:tblPr firstRow="1" bandRow="1">
                <a:tableStyleId>{5C22544A-7EE6-4342-B048-85BDC9FD1C3A}</a:tableStyleId>
              </a:tblPr>
              <a:tblGrid>
                <a:gridCol w="3973513"/>
                <a:gridCol w="3973513"/>
              </a:tblGrid>
              <a:tr h="5616624">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import pandas as </a:t>
                      </a:r>
                      <a:r>
                        <a:rPr kumimoji="0" lang="en-US" altLang="zh-CN" sz="2600" b="0" i="0" u="none" strike="noStrike" kern="0" cap="none" spc="0" normalizeH="0" baseline="0" noProof="0" dirty="0" err="1" smtClean="0">
                          <a:ln>
                            <a:noFill/>
                          </a:ln>
                          <a:solidFill>
                            <a:srgbClr val="484849"/>
                          </a:solidFill>
                          <a:effectLst/>
                          <a:uLnTx/>
                          <a:uFillTx/>
                          <a:latin typeface="+mn-lt"/>
                          <a:ea typeface="+mn-ea"/>
                          <a:cs typeface="+mn-cs"/>
                        </a:rPr>
                        <a:t>pd</a:t>
                      </a: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  </a:t>
                      </a:r>
                      <a:endParaRPr kumimoji="0" lang="en-US" altLang="zh-CN" sz="26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import fun</a:t>
                      </a:r>
                      <a:endParaRPr kumimoji="0" lang="en-US" altLang="zh-CN" sz="26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600" b="0" i="0" u="none" strike="noStrike" kern="0" cap="none" spc="0" normalizeH="0" baseline="0" noProof="0" dirty="0" err="1" smtClean="0">
                          <a:ln>
                            <a:noFill/>
                          </a:ln>
                          <a:solidFill>
                            <a:srgbClr val="484849"/>
                          </a:solidFill>
                          <a:effectLst/>
                          <a:uLnTx/>
                          <a:uFillTx/>
                          <a:latin typeface="+mn-lt"/>
                          <a:ea typeface="+mn-ea"/>
                          <a:cs typeface="+mn-cs"/>
                        </a:rPr>
                        <a:t>dta</a:t>
                      </a: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2600" b="0" i="0" u="none" strike="noStrike" kern="0" cap="none" spc="0" normalizeH="0" baseline="0" noProof="0" dirty="0" err="1" smtClean="0">
                          <a:ln>
                            <a:noFill/>
                          </a:ln>
                          <a:solidFill>
                            <a:srgbClr val="484849"/>
                          </a:solidFill>
                          <a:effectLst/>
                          <a:uLnTx/>
                          <a:uFillTx/>
                          <a:latin typeface="+mn-lt"/>
                          <a:ea typeface="+mn-ea"/>
                          <a:cs typeface="+mn-cs"/>
                        </a:rPr>
                        <a:t>pd.read_excel</a:t>
                      </a: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('ddata.xlsx')</a:t>
                      </a:r>
                      <a:endParaRPr kumimoji="0" lang="en-US" altLang="zh-CN" sz="26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r=</a:t>
                      </a:r>
                      <a:r>
                        <a:rPr kumimoji="0" lang="en-US" altLang="zh-CN" sz="2600" b="0" i="0" u="none" strike="noStrike" kern="0" cap="none" spc="0" normalizeH="0" baseline="0" noProof="0" dirty="0" err="1" smtClean="0">
                          <a:ln>
                            <a:noFill/>
                          </a:ln>
                          <a:solidFill>
                            <a:srgbClr val="484849"/>
                          </a:solidFill>
                          <a:effectLst/>
                          <a:uLnTx/>
                          <a:uFillTx/>
                          <a:latin typeface="+mn-lt"/>
                          <a:ea typeface="+mn-ea"/>
                          <a:cs typeface="+mn-cs"/>
                        </a:rPr>
                        <a:t>fun.Fr</a:t>
                      </a: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(dta,'2016')</a:t>
                      </a:r>
                      <a:endParaRPr kumimoji="0" lang="en-US" altLang="zh-CN" sz="26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c=r[0][0:400]</a:t>
                      </a:r>
                      <a:endParaRPr kumimoji="0" lang="en-US" altLang="zh-CN" sz="26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600" b="0" i="0" u="none" strike="noStrike" kern="0" cap="none" spc="0" normalizeH="0" baseline="0" noProof="0" dirty="0" err="1" smtClean="0">
                          <a:ln>
                            <a:noFill/>
                          </a:ln>
                          <a:solidFill>
                            <a:srgbClr val="484849"/>
                          </a:solidFill>
                          <a:effectLst/>
                          <a:uLnTx/>
                          <a:uFillTx/>
                          <a:latin typeface="+mn-lt"/>
                          <a:ea typeface="+mn-ea"/>
                          <a:cs typeface="+mn-cs"/>
                        </a:rPr>
                        <a:t>cn</a:t>
                      </a: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=r[1][0:400]</a:t>
                      </a:r>
                      <a:endParaRPr kumimoji="0" lang="en-US" altLang="zh-CN" sz="26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code=list(</a:t>
                      </a:r>
                      <a:r>
                        <a:rPr kumimoji="0" lang="en-US" altLang="zh-CN" sz="2600" b="0" i="0" u="none" strike="noStrike" kern="0" cap="none" spc="0" normalizeH="0" baseline="0" noProof="0" dirty="0" err="1" smtClean="0">
                          <a:ln>
                            <a:noFill/>
                          </a:ln>
                          <a:solidFill>
                            <a:srgbClr val="484849"/>
                          </a:solidFill>
                          <a:effectLst/>
                          <a:uLnTx/>
                          <a:uFillTx/>
                          <a:latin typeface="+mn-lt"/>
                          <a:ea typeface="+mn-ea"/>
                          <a:cs typeface="+mn-cs"/>
                        </a:rPr>
                        <a:t>c.index</a:t>
                      </a: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  #</a:t>
                      </a:r>
                      <a:r>
                        <a:rPr kumimoji="0" lang="zh-CN" altLang="en-US" sz="2600" b="0" i="0" u="none" strike="noStrike" kern="0" cap="none" spc="0" normalizeH="0" baseline="0" noProof="0" dirty="0" smtClean="0">
                          <a:ln>
                            <a:noFill/>
                          </a:ln>
                          <a:solidFill>
                            <a:srgbClr val="484849"/>
                          </a:solidFill>
                          <a:effectLst/>
                          <a:uLnTx/>
                          <a:uFillTx/>
                          <a:latin typeface="+mn-lt"/>
                          <a:ea typeface="+mn-ea"/>
                          <a:cs typeface="+mn-cs"/>
                        </a:rPr>
                        <a:t>将股票代码转化为列表的形式</a:t>
                      </a:r>
                      <a:endParaRPr kumimoji="0" lang="zh-CN" altLang="en-US" sz="26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2600" b="0" i="0" u="none" strike="noStrike" kern="0" cap="none" spc="0" normalizeH="0" baseline="0" noProof="0" dirty="0" smtClean="0">
                          <a:ln>
                            <a:noFill/>
                          </a:ln>
                          <a:solidFill>
                            <a:srgbClr val="484849"/>
                          </a:solidFill>
                          <a:effectLst/>
                          <a:uLnTx/>
                          <a:uFillTx/>
                          <a:latin typeface="+mn-lt"/>
                          <a:ea typeface="+mn-ea"/>
                          <a:cs typeface="+mn-cs"/>
                        </a:rPr>
                        <a:t>执行结果（部分）如图</a:t>
                      </a:r>
                      <a:r>
                        <a:rPr kumimoji="0" lang="en-US" altLang="zh-CN" sz="2600" b="0" i="0" u="none" strike="noStrike" kern="0" cap="none" spc="0" normalizeH="0" baseline="0" noProof="0" dirty="0" smtClean="0">
                          <a:ln>
                            <a:noFill/>
                          </a:ln>
                          <a:solidFill>
                            <a:srgbClr val="484849"/>
                          </a:solidFill>
                          <a:effectLst/>
                          <a:uLnTx/>
                          <a:uFillTx/>
                          <a:latin typeface="+mn-lt"/>
                          <a:ea typeface="+mn-ea"/>
                          <a:cs typeface="+mn-cs"/>
                        </a:rPr>
                        <a:t>10-2</a:t>
                      </a:r>
                      <a:r>
                        <a:rPr kumimoji="0" lang="zh-CN" altLang="en-US" sz="2600" b="0" i="0" u="none" strike="noStrike" kern="0" cap="none" spc="0" normalizeH="0" baseline="0" noProof="0" dirty="0" smtClean="0">
                          <a:ln>
                            <a:noFill/>
                          </a:ln>
                          <a:solidFill>
                            <a:srgbClr val="484849"/>
                          </a:solidFill>
                          <a:effectLst/>
                          <a:uLnTx/>
                          <a:uFillTx/>
                          <a:latin typeface="+mn-lt"/>
                          <a:ea typeface="+mn-ea"/>
                          <a:cs typeface="+mn-cs"/>
                        </a:rPr>
                        <a:t>所示。</a:t>
                      </a:r>
                      <a:endParaRPr kumimoji="0" lang="zh-CN" altLang="en-US" sz="26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c>
                  <a:txBody>
                    <a:bodyPr/>
                    <a:lstStyle/>
                    <a:p>
                      <a:endParaRPr lang="zh-CN" altLang="en-US" dirty="0"/>
                    </a:p>
                  </a:txBody>
                  <a:tcPr>
                    <a:noFill/>
                  </a:tcPr>
                </a:tc>
              </a:tr>
            </a:tbl>
          </a:graphicData>
        </a:graphic>
      </p:graphicFrame>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.4.3</a:t>
            </a:r>
            <a:endParaRPr lang="zh-CN" altLang="en-US" sz="1400" dirty="0">
              <a:solidFill>
                <a:schemeClr val="accent2"/>
              </a:solidFill>
            </a:endParaRPr>
          </a:p>
        </p:txBody>
      </p:sp>
      <p:pic>
        <p:nvPicPr>
          <p:cNvPr id="6"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12940" y="1796859"/>
            <a:ext cx="3747492" cy="2496237"/>
          </a:xfrm>
          <a:prstGeom prst="rect">
            <a:avLst/>
          </a:prstGeom>
        </p:spPr>
      </p:pic>
      <p:sp>
        <p:nvSpPr>
          <p:cNvPr id="7" name="TextBox 6"/>
          <p:cNvSpPr txBox="1"/>
          <p:nvPr/>
        </p:nvSpPr>
        <p:spPr>
          <a:xfrm>
            <a:off x="6444208" y="4293096"/>
            <a:ext cx="1296144" cy="369332"/>
          </a:xfrm>
          <a:prstGeom prst="rect">
            <a:avLst/>
          </a:prstGeom>
          <a:noFill/>
        </p:spPr>
        <p:txBody>
          <a:bodyPr wrap="square" rtlCol="0">
            <a:spAutoFit/>
          </a:bodyPr>
          <a:lstStyle/>
          <a:p>
            <a:r>
              <a:rPr lang="zh-CN" altLang="en-US" dirty="0"/>
              <a:t>图</a:t>
            </a:r>
            <a:r>
              <a:rPr lang="en-US" altLang="zh-CN" dirty="0"/>
              <a:t>10-2</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1720" y="106179"/>
            <a:ext cx="6515164" cy="442501"/>
          </a:xfrm>
        </p:spPr>
        <p:txBody>
          <a:bodyPr>
            <a:normAutofit/>
          </a:bodyPr>
          <a:lstStyle/>
          <a:p>
            <a:r>
              <a:rPr lang="zh-CN" altLang="en-US" sz="2000" kern="1200" dirty="0">
                <a:solidFill>
                  <a:srgbClr val="FFFFFF"/>
                </a:solidFill>
              </a:rPr>
              <a:t>基于关键价格点的形态特征提取</a:t>
            </a:r>
            <a:endParaRPr lang="zh-CN" altLang="en-US" dirty="0"/>
          </a:p>
        </p:txBody>
      </p:sp>
      <p:sp>
        <p:nvSpPr>
          <p:cNvPr id="3" name="内容占位符 2"/>
          <p:cNvSpPr>
            <a:spLocks noGrp="1"/>
          </p:cNvSpPr>
          <p:nvPr>
            <p:ph idx="1"/>
          </p:nvPr>
        </p:nvSpPr>
        <p:spPr/>
        <p:txBody>
          <a:bodyPr>
            <a:normAutofit/>
          </a:bodyPr>
          <a:lstStyle/>
          <a:p>
            <a:r>
              <a:rPr lang="zh-CN" altLang="en-US" dirty="0"/>
              <a:t>其次确定在</a:t>
            </a:r>
            <a:r>
              <a:rPr lang="en-US" altLang="zh-CN" dirty="0"/>
              <a:t>2017-05-01~2017-07-31</a:t>
            </a:r>
            <a:r>
              <a:rPr lang="zh-CN" altLang="en-US" dirty="0"/>
              <a:t>之间的交易所实际交易天数</a:t>
            </a:r>
            <a:r>
              <a:rPr lang="en-US" altLang="zh-CN" dirty="0"/>
              <a:t>M</a:t>
            </a:r>
            <a:r>
              <a:rPr lang="zh-CN" altLang="en-US" dirty="0"/>
              <a:t>，示例代码如下：</a:t>
            </a:r>
            <a:endParaRPr lang="zh-CN" altLang="en-US" dirty="0"/>
          </a:p>
          <a:p>
            <a:r>
              <a:rPr lang="en-US" altLang="zh-CN" dirty="0"/>
              <a:t>td=</a:t>
            </a:r>
            <a:r>
              <a:rPr lang="en-US" altLang="zh-CN" dirty="0" err="1"/>
              <a:t>pd.read_excel</a:t>
            </a:r>
            <a:r>
              <a:rPr lang="en-US" altLang="zh-CN" dirty="0"/>
              <a:t>('</a:t>
            </a:r>
            <a:r>
              <a:rPr lang="zh-CN" altLang="en-US" dirty="0"/>
              <a:t>交易日历数据表</a:t>
            </a:r>
            <a:r>
              <a:rPr lang="en-US" altLang="zh-CN" dirty="0"/>
              <a:t>.</a:t>
            </a:r>
            <a:r>
              <a:rPr lang="en-US" altLang="zh-CN" dirty="0" err="1"/>
              <a:t>xlsx</a:t>
            </a:r>
            <a:r>
              <a:rPr lang="en-US" altLang="zh-CN" dirty="0"/>
              <a:t>')</a:t>
            </a:r>
            <a:endParaRPr lang="en-US" altLang="zh-CN" dirty="0"/>
          </a:p>
          <a:p>
            <a:r>
              <a:rPr lang="en-US" altLang="zh-CN" dirty="0"/>
              <a:t>I1=td['</a:t>
            </a:r>
            <a:r>
              <a:rPr lang="en-US" altLang="zh-CN" dirty="0" err="1"/>
              <a:t>Clddt</a:t>
            </a:r>
            <a:r>
              <a:rPr lang="en-US" altLang="zh-CN" dirty="0"/>
              <a:t>'].values&gt;='2017-05-01'</a:t>
            </a:r>
            <a:endParaRPr lang="en-US" altLang="zh-CN" dirty="0"/>
          </a:p>
          <a:p>
            <a:r>
              <a:rPr lang="en-US" altLang="zh-CN" dirty="0"/>
              <a:t>I2=td['</a:t>
            </a:r>
            <a:r>
              <a:rPr lang="en-US" altLang="zh-CN" dirty="0" err="1"/>
              <a:t>Clddt</a:t>
            </a:r>
            <a:r>
              <a:rPr lang="en-US" altLang="zh-CN" dirty="0"/>
              <a:t>'].values&lt;='2017-07-30'</a:t>
            </a:r>
            <a:endParaRPr lang="en-US" altLang="zh-CN" dirty="0"/>
          </a:p>
          <a:p>
            <a:r>
              <a:rPr lang="en-US" altLang="zh-CN" dirty="0"/>
              <a:t>I=I1&amp;I2</a:t>
            </a:r>
            <a:endParaRPr lang="en-US" altLang="zh-CN" dirty="0"/>
          </a:p>
          <a:p>
            <a:r>
              <a:rPr lang="en-US" altLang="zh-CN" dirty="0" err="1"/>
              <a:t>ddt</a:t>
            </a:r>
            <a:r>
              <a:rPr lang="en-US" altLang="zh-CN" dirty="0"/>
              <a:t>=</a:t>
            </a:r>
            <a:r>
              <a:rPr lang="en-US" altLang="zh-CN" dirty="0" err="1"/>
              <a:t>td.loc</a:t>
            </a:r>
            <a:r>
              <a:rPr lang="en-US" altLang="zh-CN" dirty="0"/>
              <a:t>[I,['</a:t>
            </a:r>
            <a:r>
              <a:rPr lang="en-US" altLang="zh-CN" dirty="0" err="1"/>
              <a:t>Clddt</a:t>
            </a:r>
            <a:r>
              <a:rPr lang="en-US" altLang="zh-CN" dirty="0"/>
              <a:t>']]</a:t>
            </a:r>
            <a:endParaRPr lang="en-US" altLang="zh-CN" dirty="0"/>
          </a:p>
          <a:p>
            <a:r>
              <a:rPr lang="en-US" altLang="zh-CN" dirty="0"/>
              <a:t>M=</a:t>
            </a:r>
            <a:r>
              <a:rPr lang="en-US" altLang="zh-CN" dirty="0" err="1"/>
              <a:t>len</a:t>
            </a:r>
            <a:r>
              <a:rPr lang="en-US" altLang="zh-CN" dirty="0"/>
              <a:t>(</a:t>
            </a:r>
            <a:r>
              <a:rPr lang="en-US" altLang="zh-CN" dirty="0" err="1"/>
              <a:t>ddt</a:t>
            </a:r>
            <a:r>
              <a:rPr lang="en-US" altLang="zh-CN" dirty="0"/>
              <a:t>)</a:t>
            </a:r>
            <a:endParaRPr lang="en-US" altLang="zh-CN" dirty="0"/>
          </a:p>
          <a:p>
            <a:endParaRPr lang="zh-CN" altLang="en-US" dirty="0"/>
          </a:p>
        </p:txBody>
      </p:sp>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.4.3</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35696" y="106179"/>
            <a:ext cx="6731188" cy="442501"/>
          </a:xfrm>
        </p:spPr>
        <p:txBody>
          <a:bodyPr/>
          <a:lstStyle/>
          <a:p>
            <a:r>
              <a:rPr lang="zh-CN" altLang="en-US" sz="2000" kern="1200" dirty="0">
                <a:solidFill>
                  <a:srgbClr val="FFFFFF"/>
                </a:solidFill>
              </a:rPr>
              <a:t>基于关键价格点的形态特征提取</a:t>
            </a:r>
            <a:endParaRPr lang="zh-CN" altLang="en-US" dirty="0"/>
          </a:p>
        </p:txBody>
      </p:sp>
      <p:graphicFrame>
        <p:nvGraphicFramePr>
          <p:cNvPr id="6" name="内容占位符 5"/>
          <p:cNvGraphicFramePr>
            <a:graphicFrameLocks noGrp="1"/>
          </p:cNvGraphicFramePr>
          <p:nvPr>
            <p:ph idx="1"/>
          </p:nvPr>
        </p:nvGraphicFramePr>
        <p:xfrm>
          <a:off x="611560" y="1052736"/>
          <a:ext cx="8019034" cy="4824536"/>
        </p:xfrm>
        <a:graphic>
          <a:graphicData uri="http://schemas.openxmlformats.org/drawingml/2006/table">
            <a:tbl>
              <a:tblPr firstRow="1" bandRow="1">
                <a:tableStyleId>{5C22544A-7EE6-4342-B048-85BDC9FD1C3A}</a:tableStyleId>
              </a:tblPr>
              <a:tblGrid>
                <a:gridCol w="4032448"/>
                <a:gridCol w="3986586"/>
              </a:tblGrid>
              <a:tr h="4824536">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最后我们计算</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400</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只股票样本的关键价格点数据和对应的下标，并根据关键价格点和对应下标数据计算形态特征，这里需要说明的是，如果存在股票交易天数不足</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M</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天，则做剔除处理。关键点价格数据和对应的下标以及计算形态特征均通过调用前面定义的</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get_keydata</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get_tz</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函数实现。示例代码如下：</a:t>
                      </a: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import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df</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import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numpy</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as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np</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num</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=10</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p=-1</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DA=</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pd.read_excel</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('DA.xlsx') </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预定义股票价格走势特征化数据，第</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0</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列为股票代码，其余为特征化数据（</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num-1</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个）</a:t>
                      </a: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Data=</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np.zeros</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(code),</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num</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预定义股票价格走势关键点数据，第</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0</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列为股票代码，其余为关键点数据（</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num</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个）</a:t>
                      </a: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np.zeros</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(code),num+1))</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预定义股票价格走势关键点下标，第</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0</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列为股票代码，其余为关键点下标（</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num</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个）</a:t>
                      </a: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np.zeros</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(code),num+1))</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对每一个股票代码，提取其关键点数据、计算其特征化数据，同时对关键点数据标准化处</a:t>
                      </a: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理（极差法）</a:t>
                      </a: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for t in range(</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(code)):</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data=</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DA.loc</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DA.iloc</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[:,0].values==code[t],['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Trddt</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Clsprc</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I1=data['</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Trddt</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'].values&gt;='2017-05-01'</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I2=data['</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Trddt</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'].values&lt;='2017-07-31'</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I=I1&amp;I2</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提取第</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t</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个股票代码的价格数据，同时下标重排，从</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0</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开始</a:t>
                      </a: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data.loc</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[I,['</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Clsprc</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Clsprc</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pd.Series</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dt.values,index</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=range(</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if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)==M:</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p=p+1</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df.get_keydata</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dt,num</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df.get_tz</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y=</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[p,0]=code[t]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Data[p,0]=code[t]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Data[p,1:]=T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[p,0]=code[t]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a:t>
                      </a: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对关键点数据做极差化处理</a:t>
                      </a: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9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[p,1:]=(</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y.values</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-min(</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y.values</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))/(max(</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y.values</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)-min(</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y.values</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[p,1:]=</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y.index</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Data=Data[0:p,:]</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[0:p,:]</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9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900" b="0" i="0" u="none" strike="noStrike" kern="0" cap="none" spc="0" normalizeH="0" baseline="0" noProof="0" dirty="0" smtClean="0">
                          <a:ln>
                            <a:noFill/>
                          </a:ln>
                          <a:solidFill>
                            <a:srgbClr val="484849"/>
                          </a:solidFill>
                          <a:effectLst/>
                          <a:uLnTx/>
                          <a:uFillTx/>
                          <a:latin typeface="+mn-lt"/>
                          <a:ea typeface="+mn-ea"/>
                          <a:cs typeface="+mn-cs"/>
                        </a:rPr>
                        <a:t>[0:p,:]</a:t>
                      </a:r>
                      <a:endParaRPr kumimoji="0" lang="en-US" altLang="zh-CN" sz="9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9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r>
            </a:tbl>
          </a:graphicData>
        </a:graphic>
      </p:graphicFrame>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.4.3</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1720" y="0"/>
            <a:ext cx="6515164" cy="620689"/>
          </a:xfrm>
        </p:spPr>
        <p:txBody>
          <a:bodyPr>
            <a:normAutofit/>
          </a:bodyPr>
          <a:lstStyle/>
          <a:p>
            <a:r>
              <a:rPr lang="zh-CN" altLang="en-US" sz="2000" kern="1200" dirty="0">
                <a:solidFill>
                  <a:srgbClr val="FFFFFF"/>
                </a:solidFill>
              </a:rPr>
              <a:t>基于关键价格点的形态特征提取</a:t>
            </a:r>
            <a:endParaRPr lang="zh-CN" altLang="en-US" dirty="0"/>
          </a:p>
        </p:txBody>
      </p:sp>
      <p:sp>
        <p:nvSpPr>
          <p:cNvPr id="3" name="内容占位符 2"/>
          <p:cNvSpPr>
            <a:spLocks noGrp="1"/>
          </p:cNvSpPr>
          <p:nvPr>
            <p:ph idx="1"/>
          </p:nvPr>
        </p:nvSpPr>
        <p:spPr/>
        <p:txBody>
          <a:bodyPr>
            <a:normAutofit/>
          </a:bodyPr>
          <a:lstStyle/>
          <a:p>
            <a:r>
              <a:rPr lang="zh-CN" altLang="en-US" dirty="0"/>
              <a:t>最终得到股票形态特征数据</a:t>
            </a:r>
            <a:r>
              <a:rPr lang="en-US" altLang="zh-CN" dirty="0"/>
              <a:t>Data</a:t>
            </a:r>
            <a:r>
              <a:rPr lang="zh-CN" altLang="en-US" dirty="0"/>
              <a:t>、关键价格点数据</a:t>
            </a:r>
            <a:r>
              <a:rPr lang="en-US" altLang="zh-CN" dirty="0" err="1"/>
              <a:t>KeyData</a:t>
            </a:r>
            <a:r>
              <a:rPr lang="zh-CN" altLang="en-US" dirty="0"/>
              <a:t>、关键价格点数据对应的序号</a:t>
            </a:r>
            <a:r>
              <a:rPr lang="en-US" altLang="zh-CN" dirty="0" err="1"/>
              <a:t>KeyData_index</a:t>
            </a:r>
            <a:r>
              <a:rPr lang="zh-CN" altLang="en-US" dirty="0"/>
              <a:t>。其中关键价格点数据</a:t>
            </a:r>
            <a:r>
              <a:rPr lang="en-US" altLang="zh-CN" dirty="0" err="1"/>
              <a:t>KeyData</a:t>
            </a:r>
            <a:r>
              <a:rPr lang="zh-CN" altLang="en-US" dirty="0"/>
              <a:t>已做极差化处理，即数据标准化为</a:t>
            </a:r>
            <a:r>
              <a:rPr lang="en-US" altLang="zh-CN" dirty="0"/>
              <a:t>[0,1]</a:t>
            </a:r>
            <a:r>
              <a:rPr lang="zh-CN" altLang="en-US" dirty="0"/>
              <a:t>之间。</a:t>
            </a:r>
            <a:endParaRPr lang="zh-CN" altLang="en-US" dirty="0"/>
          </a:p>
          <a:p>
            <a:r>
              <a:rPr lang="zh-CN" altLang="en-US" dirty="0"/>
              <a:t>部分结果如下图所示：形态特征数据</a:t>
            </a:r>
            <a:r>
              <a:rPr lang="en-US" altLang="zh-CN" dirty="0"/>
              <a:t>Data</a:t>
            </a:r>
            <a:r>
              <a:rPr lang="zh-CN" altLang="en-US" dirty="0"/>
              <a:t>（图</a:t>
            </a:r>
            <a:r>
              <a:rPr lang="en-US" altLang="zh-CN" dirty="0"/>
              <a:t>10-3</a:t>
            </a:r>
            <a:r>
              <a:rPr lang="zh-CN" altLang="en-US" dirty="0"/>
              <a:t>）、关键价格点数据</a:t>
            </a:r>
            <a:r>
              <a:rPr lang="en-US" altLang="zh-CN" dirty="0" err="1"/>
              <a:t>KeyData</a:t>
            </a:r>
            <a:r>
              <a:rPr lang="zh-CN" altLang="en-US" dirty="0"/>
              <a:t>（图</a:t>
            </a:r>
            <a:r>
              <a:rPr lang="en-US" altLang="zh-CN" dirty="0"/>
              <a:t>10-4</a:t>
            </a:r>
            <a:r>
              <a:rPr lang="zh-CN" altLang="en-US" dirty="0"/>
              <a:t>）、关键价格点数据对应的序号</a:t>
            </a:r>
            <a:r>
              <a:rPr lang="en-US" altLang="zh-CN" dirty="0" err="1"/>
              <a:t>KeyData_index</a:t>
            </a:r>
            <a:r>
              <a:rPr lang="zh-CN" altLang="en-US" dirty="0"/>
              <a:t>（图</a:t>
            </a:r>
            <a:r>
              <a:rPr lang="en-US" altLang="zh-CN" dirty="0"/>
              <a:t>10-5</a:t>
            </a:r>
            <a:r>
              <a:rPr lang="zh-CN" altLang="en-US" dirty="0"/>
              <a:t>）。</a:t>
            </a:r>
            <a:endParaRPr lang="zh-CN" altLang="en-US" dirty="0"/>
          </a:p>
          <a:p>
            <a:endParaRPr lang="zh-CN" altLang="en-US" dirty="0"/>
          </a:p>
        </p:txBody>
      </p:sp>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.4.3</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3648" y="106179"/>
            <a:ext cx="7879276" cy="442501"/>
          </a:xfrm>
        </p:spPr>
        <p:txBody>
          <a:bodyPr>
            <a:normAutofit/>
          </a:bodyPr>
          <a:lstStyle/>
          <a:p>
            <a:r>
              <a:rPr lang="zh-CN" altLang="en-US" sz="2000" kern="1200" dirty="0">
                <a:solidFill>
                  <a:srgbClr val="FFFFFF"/>
                </a:solidFill>
              </a:rPr>
              <a:t>基于关键价格点的形态特征提取</a:t>
            </a:r>
            <a:endParaRPr lang="zh-CN" altLang="en-US" dirty="0"/>
          </a:p>
        </p:txBody>
      </p:sp>
      <p:graphicFrame>
        <p:nvGraphicFramePr>
          <p:cNvPr id="4" name="内容占位符 3"/>
          <p:cNvGraphicFramePr>
            <a:graphicFrameLocks noGrp="1"/>
          </p:cNvGraphicFramePr>
          <p:nvPr>
            <p:ph idx="1"/>
          </p:nvPr>
        </p:nvGraphicFramePr>
        <p:xfrm>
          <a:off x="395536" y="1340769"/>
          <a:ext cx="8291264" cy="5184576"/>
        </p:xfrm>
        <a:graphic>
          <a:graphicData uri="http://schemas.openxmlformats.org/drawingml/2006/table">
            <a:tbl>
              <a:tblPr firstRow="1" bandRow="1">
                <a:tableStyleId>{5C22544A-7EE6-4342-B048-85BDC9FD1C3A}</a:tableStyleId>
              </a:tblPr>
              <a:tblGrid>
                <a:gridCol w="8291264"/>
              </a:tblGrid>
              <a:tr h="1728192">
                <a:tc>
                  <a:txBody>
                    <a:bodyPr/>
                    <a:lstStyle/>
                    <a:p>
                      <a:r>
                        <a:rPr lang="zh-CN" altLang="en-US" dirty="0" smtClean="0"/>
                        <a:t> 图</a:t>
                      </a:r>
                      <a:r>
                        <a:rPr lang="en-US" altLang="zh-CN" dirty="0" smtClean="0"/>
                        <a:t>10-3</a:t>
                      </a:r>
                      <a:endParaRPr lang="zh-CN" altLang="en-US" dirty="0"/>
                    </a:p>
                  </a:txBody>
                  <a:tcPr/>
                </a:tc>
              </a:tr>
              <a:tr h="1728192">
                <a:tc>
                  <a:txBody>
                    <a:bodyPr/>
                    <a:lstStyle/>
                    <a:p>
                      <a:r>
                        <a:rPr lang="zh-CN" altLang="en-US" dirty="0" smtClean="0"/>
                        <a:t> 图</a:t>
                      </a:r>
                      <a:r>
                        <a:rPr lang="en-US" altLang="zh-CN" dirty="0" smtClean="0"/>
                        <a:t>10-4</a:t>
                      </a:r>
                      <a:endParaRPr lang="zh-CN" altLang="en-US" dirty="0"/>
                    </a:p>
                  </a:txBody>
                  <a:tcPr/>
                </a:tc>
              </a:tr>
              <a:tr h="1728192">
                <a:tc>
                  <a:txBody>
                    <a:bodyPr/>
                    <a:lstStyle/>
                    <a:p>
                      <a:r>
                        <a:rPr lang="zh-CN" altLang="en-US" dirty="0" smtClean="0"/>
                        <a:t> 图</a:t>
                      </a:r>
                      <a:r>
                        <a:rPr lang="en-US" altLang="zh-CN" dirty="0" smtClean="0"/>
                        <a:t>10-5</a:t>
                      </a:r>
                      <a:endParaRPr lang="zh-CN" altLang="en-US" dirty="0"/>
                    </a:p>
                  </a:txBody>
                  <a:tcPr/>
                </a:tc>
              </a:tr>
            </a:tbl>
          </a:graphicData>
        </a:graphic>
      </p:graphicFrame>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87824" y="1399200"/>
            <a:ext cx="4408374" cy="1597133"/>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3078869"/>
            <a:ext cx="4441514" cy="1617722"/>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1063" y="4797152"/>
            <a:ext cx="4425265" cy="1629598"/>
          </a:xfrm>
          <a:prstGeom prst="rect">
            <a:avLst/>
          </a:prstGeom>
        </p:spPr>
      </p:pic>
      <p:sp>
        <p:nvSpPr>
          <p:cNvPr id="8" name="TextBox 7"/>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.4.3</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19672" y="106179"/>
            <a:ext cx="6947212" cy="442501"/>
          </a:xfrm>
        </p:spPr>
        <p:txBody>
          <a:bodyPr/>
          <a:lstStyle/>
          <a:p>
            <a:r>
              <a:rPr lang="zh-CN" altLang="en-US" sz="2000" kern="1200" dirty="0">
                <a:solidFill>
                  <a:srgbClr val="FFFFFF"/>
                </a:solidFill>
              </a:rPr>
              <a:t>基于关键价格点的形态特征提取</a:t>
            </a:r>
            <a:endParaRPr lang="zh-CN" altLang="en-US" dirty="0"/>
          </a:p>
        </p:txBody>
      </p:sp>
      <p:graphicFrame>
        <p:nvGraphicFramePr>
          <p:cNvPr id="5" name="内容占位符 4"/>
          <p:cNvGraphicFramePr>
            <a:graphicFrameLocks noGrp="1"/>
          </p:cNvGraphicFramePr>
          <p:nvPr>
            <p:ph idx="1"/>
          </p:nvPr>
        </p:nvGraphicFramePr>
        <p:xfrm>
          <a:off x="619125" y="1052736"/>
          <a:ext cx="7947026" cy="5413248"/>
        </p:xfrm>
        <a:graphic>
          <a:graphicData uri="http://schemas.openxmlformats.org/drawingml/2006/table">
            <a:tbl>
              <a:tblPr firstRow="1" bandRow="1">
                <a:tableStyleId>{5C22544A-7EE6-4342-B048-85BDC9FD1C3A}</a:tableStyleId>
              </a:tblPr>
              <a:tblGrid>
                <a:gridCol w="3952875"/>
                <a:gridCol w="3994151"/>
              </a:tblGrid>
              <a:tr h="4896544">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本节完整的示例代码如下：</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import pandas as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import fun</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pd.read_excel</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('ddata.xlsx')</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r=</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fun.Fr</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(dta,'2016')</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c=r[0][0:400]</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=r[1][0:400]</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code=list(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td=</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pd.read_excel</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交易日历数据表</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xlsx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I1=td['</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Clddt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'].values&gt;='2017-05-01'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I2=td['</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Clddt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'].values&lt;='2017-07-31'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I=I1&amp;I2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td.loc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Clddt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M=</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import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df</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import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numpy</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as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np</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num</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=10</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p=-1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pd.read_excel</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('DA.xlsx') </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Data=</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np.zeros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(code),</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num</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np.zeros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(code),num+1))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np.zeros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(code),num+1))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c>
                  <a:txBody>
                    <a:bodyPr/>
                    <a:lstStyle/>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for t in range(</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(code)):</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data=</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DA.loc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DA.iloc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[:,0].values==code[t],['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Trddt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Clsprc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I1=data['</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Trddt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'].values&gt;='2017-05-01'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I2=data['</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Trddt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'].values&lt;'=2017-07-31'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I=I1&amp;I2</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提取第</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t</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个股票代码的价格数据，同时下标重排，从</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0</a:t>
                      </a: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开始</a:t>
                      </a:r>
                      <a:endParaRPr kumimoji="0" lang="zh-CN" altLang="en-US"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zh-CN" altLang="en-US"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data.loc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[I,['</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Clsprc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Clsprc</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pd.Series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dt.values,index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=range(</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if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len</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)==M:</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p=p+1</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df.get_keydata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dt,num</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df.get_tz</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y=</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[p,0]=code[t]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Data[p,0]=code[t]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Data[p,1:]=T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[p,0]=code[t]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[p,1:]=(</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y.values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-min(</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y.values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))/(max(</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y.values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)-min(</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y.values</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        </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[p,1:]=</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y.index</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Data=Data[0:p,:]</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[0:p,:]</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a:t>
                      </a:r>
                      <a:r>
                        <a:rPr kumimoji="0" lang="en-US" altLang="zh-CN" sz="1100" b="0" i="0" u="none" strike="noStrike" kern="0" cap="none" spc="0" normalizeH="0" baseline="0" noProof="0" dirty="0" err="1" smtClean="0">
                          <a:ln>
                            <a:noFill/>
                          </a:ln>
                          <a:solidFill>
                            <a:srgbClr val="484849"/>
                          </a:solidFill>
                          <a:effectLst/>
                          <a:uLnTx/>
                          <a:uFillTx/>
                          <a:latin typeface="+mn-lt"/>
                          <a:ea typeface="+mn-ea"/>
                          <a:cs typeface="+mn-cs"/>
                        </a:rPr>
                        <a:t>KeyData_index</a:t>
                      </a:r>
                      <a:r>
                        <a:rPr kumimoji="0" lang="en-US" altLang="zh-CN" sz="1100" b="0" i="0" u="none" strike="noStrike" kern="0" cap="none" spc="0" normalizeH="0" baseline="0" noProof="0" dirty="0" smtClean="0">
                          <a:ln>
                            <a:noFill/>
                          </a:ln>
                          <a:solidFill>
                            <a:srgbClr val="484849"/>
                          </a:solidFill>
                          <a:effectLst/>
                          <a:uLnTx/>
                          <a:uFillTx/>
                          <a:latin typeface="+mn-lt"/>
                          <a:ea typeface="+mn-ea"/>
                          <a:cs typeface="+mn-cs"/>
                        </a:rPr>
                        <a:t>[0:p,:]</a:t>
                      </a:r>
                      <a:endParaRPr kumimoji="0" lang="en-US" altLang="zh-CN" sz="1100" b="0" i="0" u="none" strike="noStrike" kern="0" cap="none" spc="0" normalizeH="0" baseline="0" noProof="0" dirty="0" smtClean="0">
                        <a:ln>
                          <a:noFill/>
                        </a:ln>
                        <a:solidFill>
                          <a:srgbClr val="484849"/>
                        </a:solidFill>
                        <a:effectLst/>
                        <a:uLnTx/>
                        <a:uFillTx/>
                        <a:latin typeface="+mn-lt"/>
                        <a:ea typeface="+mn-ea"/>
                        <a:cs typeface="+mn-cs"/>
                      </a:endParaRPr>
                    </a:p>
                    <a:p>
                      <a:endParaRPr lang="zh-CN" altLang="en-US" dirty="0"/>
                    </a:p>
                  </a:txBody>
                  <a:tcPr>
                    <a:noFill/>
                  </a:tcPr>
                </a:tc>
              </a:tr>
            </a:tbl>
          </a:graphicData>
        </a:graphic>
      </p:graphicFrame>
      <p:sp>
        <p:nvSpPr>
          <p:cNvPr id="4" name="TextBox 3"/>
          <p:cNvSpPr txBox="1"/>
          <p:nvPr/>
        </p:nvSpPr>
        <p:spPr>
          <a:xfrm>
            <a:off x="-324544" y="106179"/>
            <a:ext cx="1368152" cy="307771"/>
          </a:xfrm>
          <a:prstGeom prst="rect">
            <a:avLst/>
          </a:prstGeom>
          <a:noFill/>
        </p:spPr>
        <p:txBody>
          <a:bodyPr wrap="square" lIns="91434" tIns="45717" rIns="91434" bIns="45717" rtlCol="0">
            <a:spAutoFit/>
          </a:bodyPr>
          <a:lstStyle/>
          <a:p>
            <a:pPr algn="r"/>
            <a:r>
              <a:rPr lang="en-US" altLang="zh-CN" sz="1400" dirty="0">
                <a:solidFill>
                  <a:schemeClr val="accent2"/>
                </a:solidFill>
              </a:rPr>
              <a:t>Part </a:t>
            </a:r>
            <a:r>
              <a:rPr lang="en-US" altLang="zh-CN" sz="1400" dirty="0" smtClean="0">
                <a:solidFill>
                  <a:schemeClr val="accent2"/>
                </a:solidFill>
              </a:rPr>
              <a:t>10</a:t>
            </a:r>
            <a:r>
              <a:rPr lang="en-US" altLang="zh-CN" sz="1400" dirty="0" smtClean="0">
                <a:solidFill>
                  <a:schemeClr val="accent2"/>
                </a:solidFill>
              </a:rPr>
              <a:t>.4.3</a:t>
            </a:r>
            <a:endParaRPr lang="zh-CN" altLang="en-US" sz="1400" dirty="0">
              <a:solidFill>
                <a:schemeClr val="accent2"/>
              </a:solidFill>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以大数据应用开发为特色的信息与计算科学专业新工科改造探讨--黄恒秋</Template>
  <TotalTime>0</TotalTime>
  <Words>7350</Words>
  <Application>WPS 演示</Application>
  <PresentationFormat>全屏显示(4:3)</PresentationFormat>
  <Paragraphs>345</Paragraphs>
  <Slides>20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宋体</vt:lpstr>
      <vt:lpstr>Wingdings</vt:lpstr>
      <vt:lpstr>微软雅黑</vt:lpstr>
      <vt:lpstr>仿宋_GB2312</vt:lpstr>
      <vt:lpstr>Calibri</vt:lpstr>
      <vt:lpstr>Arial Unicode MS</vt:lpstr>
      <vt:lpstr>仿宋</vt:lpstr>
      <vt:lpstr>第一PPT，www.1ppt.com</vt:lpstr>
      <vt:lpstr> 综合案例三：股票价格形态聚类与收益分析</vt:lpstr>
      <vt:lpstr> 案例背景</vt:lpstr>
      <vt:lpstr>案例背景</vt:lpstr>
      <vt:lpstr>案例背景</vt:lpstr>
      <vt:lpstr>案例目标及实现思路</vt:lpstr>
      <vt:lpstr>案例目标及实现思路</vt:lpstr>
      <vt:lpstr>数据获取</vt:lpstr>
      <vt:lpstr>股票价格形态特征提取</vt:lpstr>
      <vt:lpstr> 关键价格点概念及提取算法</vt:lpstr>
      <vt:lpstr>关键价格点概念及提取算法</vt:lpstr>
      <vt:lpstr>关键价格点概念及提取算法</vt:lpstr>
      <vt:lpstr>基于关键价格点的形态特征表示</vt:lpstr>
      <vt:lpstr>基于关键价格点的形态特征表示</vt:lpstr>
      <vt:lpstr>基于关键价格点的形态特征提取</vt:lpstr>
      <vt:lpstr>基于关键价格点的形态特征提取</vt:lpstr>
      <vt:lpstr>基于关键价格点的形态特征提取</vt:lpstr>
      <vt:lpstr>基于关键价格点的形态特征提取</vt:lpstr>
      <vt:lpstr>基于关键价格点的形态特征提取</vt:lpstr>
      <vt:lpstr>基于关键价格点的形态特征提取</vt:lpstr>
      <vt:lpstr>基于关键价格点的形态特征提取</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综合案例三：股票价格形态聚类与收益分析</dc:title>
  <dc:creator>lenovo</dc:creator>
  <cp:lastModifiedBy>Administrator</cp:lastModifiedBy>
  <cp:revision>12</cp:revision>
  <dcterms:created xsi:type="dcterms:W3CDTF">2019-12-04T08:17:00Z</dcterms:created>
  <dcterms:modified xsi:type="dcterms:W3CDTF">2020-01-12T13:12:34Z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