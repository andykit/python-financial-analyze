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61" r:id="rId3"/>
  </p:sldMasterIdLst>
  <p:notesMasterIdLst>
    <p:notesMasterId r:id="rId5"/>
  </p:notesMasterIdLst>
  <p:sldIdLst>
    <p:sldId id="258" r:id="rId4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BBD71-8A85-45CB-85BF-9B579945E6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4B37F-7567-43A4-A44C-F5526F0D57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625985" y="134946"/>
            <a:ext cx="581125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977" y="908051"/>
            <a:ext cx="7947907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977" y="1600202"/>
            <a:ext cx="7947907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/>
        </p:nvSpPr>
        <p:spPr bwMode="auto">
          <a:xfrm>
            <a:off x="47859" y="73174"/>
            <a:ext cx="920005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/>
        </p:nvSpPr>
        <p:spPr bwMode="auto">
          <a:xfrm>
            <a:off x="897276" y="73174"/>
            <a:ext cx="7658865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/>
        </p:nvSpPr>
        <p:spPr bwMode="auto">
          <a:xfrm>
            <a:off x="8486728" y="73174"/>
            <a:ext cx="609415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8589991" y="116634"/>
            <a:ext cx="474798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29" y="4406902"/>
            <a:ext cx="777174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29" y="2906713"/>
            <a:ext cx="777174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021" y="1600202"/>
            <a:ext cx="405725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8533" y="1600202"/>
            <a:ext cx="405844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79" y="6309321"/>
            <a:ext cx="688300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23" y="274637"/>
            <a:ext cx="822995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022" y="1535114"/>
            <a:ext cx="4040594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022" y="2174875"/>
            <a:ext cx="404059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196" y="1535114"/>
            <a:ext cx="4041784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196" y="2174875"/>
            <a:ext cx="40417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22" y="273050"/>
            <a:ext cx="3008725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241" y="273053"/>
            <a:ext cx="511173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022" y="1435103"/>
            <a:ext cx="3008725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381" y="4800601"/>
            <a:ext cx="5486638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381" y="612775"/>
            <a:ext cx="548663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381" y="5367339"/>
            <a:ext cx="5486638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383" y="908053"/>
            <a:ext cx="2056597" cy="5218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023" y="908053"/>
            <a:ext cx="6059105" cy="5218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08972" y="2886611"/>
            <a:ext cx="794951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20377" y="2758266"/>
            <a:ext cx="822289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0034" y="1447781"/>
            <a:ext cx="2259416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3349270" y="3771071"/>
            <a:ext cx="392942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5530095" y="2904248"/>
            <a:ext cx="30075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3956818" y="2574151"/>
            <a:ext cx="73601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45501" y="3206630"/>
            <a:ext cx="1107794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12735" y="3446016"/>
            <a:ext cx="1375296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7411681" y="2725340"/>
            <a:ext cx="837268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5954774" y="3624922"/>
            <a:ext cx="39143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8437863" y="2365003"/>
            <a:ext cx="391430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540226" y="2795896"/>
            <a:ext cx="1272527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986554" y="2785815"/>
            <a:ext cx="327956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87011" y="3325062"/>
            <a:ext cx="527449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926551" y="2909287"/>
            <a:ext cx="270525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305888" y="3446015"/>
            <a:ext cx="211584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4625985" y="134946"/>
            <a:ext cx="581125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977" y="908051"/>
            <a:ext cx="7947907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977" y="1600202"/>
            <a:ext cx="7947907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47859" y="73174"/>
            <a:ext cx="920005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897276" y="73174"/>
            <a:ext cx="7658865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8486728" y="73174"/>
            <a:ext cx="609415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8589991" y="116634"/>
            <a:ext cx="474798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B879B013-EF15-44F9-9A4C-93BE492C244C}" type="slidenum">
              <a:rPr lang="zh-CN" altLang="en-US" sz="1700" smtClean="0">
                <a:solidFill>
                  <a:srgbClr val="FFFFFF"/>
                </a:solidFill>
                <a:latin typeface="微软雅黑" panose="020B0503020204020204" pitchFamily="34" charset="-122"/>
              </a:rPr>
            </a:fld>
            <a:endParaRPr lang="zh-CN" altLang="en-US" sz="17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29" y="4406902"/>
            <a:ext cx="777174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29" y="2906713"/>
            <a:ext cx="777174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021" y="1600202"/>
            <a:ext cx="405725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8533" y="1600202"/>
            <a:ext cx="405844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79" y="6309321"/>
            <a:ext cx="688300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23" y="274637"/>
            <a:ext cx="822995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022" y="1535114"/>
            <a:ext cx="4040594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022" y="2174875"/>
            <a:ext cx="404059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196" y="1535114"/>
            <a:ext cx="4041784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196" y="2174875"/>
            <a:ext cx="40417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22" y="273050"/>
            <a:ext cx="3008725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241" y="273053"/>
            <a:ext cx="511173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022" y="1435103"/>
            <a:ext cx="3008725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381" y="4800601"/>
            <a:ext cx="5486638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381" y="612775"/>
            <a:ext cx="548663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381" y="5367339"/>
            <a:ext cx="5486638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383" y="908053"/>
            <a:ext cx="2056597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023" y="908053"/>
            <a:ext cx="6059105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08972" y="2886611"/>
            <a:ext cx="794951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20377" y="2758266"/>
            <a:ext cx="822289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0034" y="1447781"/>
            <a:ext cx="2259416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3349270" y="3771071"/>
            <a:ext cx="392942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5530095" y="2904248"/>
            <a:ext cx="30075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3956818" y="2574151"/>
            <a:ext cx="73601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45501" y="3206630"/>
            <a:ext cx="1107794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12735" y="3446016"/>
            <a:ext cx="1375296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7411681" y="2725340"/>
            <a:ext cx="837268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5954774" y="3624922"/>
            <a:ext cx="39143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8437863" y="2365003"/>
            <a:ext cx="391430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540226" y="2795896"/>
            <a:ext cx="1272527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986554" y="2785815"/>
            <a:ext cx="327956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87011" y="3325062"/>
            <a:ext cx="527449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926551" y="2909287"/>
            <a:ext cx="270525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305888" y="3446015"/>
            <a:ext cx="211584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023" y="908051"/>
            <a:ext cx="8229957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023" y="1600202"/>
            <a:ext cx="822995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023" y="908051"/>
            <a:ext cx="8229957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023" y="1600202"/>
            <a:ext cx="822995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2454498"/>
            <a:ext cx="9144028" cy="440350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709134" y="1328710"/>
            <a:ext cx="1725732" cy="2308227"/>
            <a:chOff x="6609209" y="790981"/>
            <a:chExt cx="2301875" cy="2308226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6609209" y="790981"/>
              <a:ext cx="2301875" cy="23082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6733034" y="914806"/>
              <a:ext cx="2054225" cy="2058988"/>
            </a:xfrm>
            <a:custGeom>
              <a:avLst/>
              <a:gdLst>
                <a:gd name="T0" fmla="*/ 1653 w 3306"/>
                <a:gd name="T1" fmla="*/ 0 h 3306"/>
                <a:gd name="T2" fmla="*/ 3306 w 3306"/>
                <a:gd name="T3" fmla="*/ 1653 h 3306"/>
                <a:gd name="T4" fmla="*/ 1653 w 3306"/>
                <a:gd name="T5" fmla="*/ 3306 h 3306"/>
                <a:gd name="T6" fmla="*/ 0 w 3306"/>
                <a:gd name="T7" fmla="*/ 1653 h 3306"/>
                <a:gd name="T8" fmla="*/ 1653 w 3306"/>
                <a:gd name="T9" fmla="*/ 0 h 3306"/>
                <a:gd name="T10" fmla="*/ 1653 w 3306"/>
                <a:gd name="T11" fmla="*/ 112 h 3306"/>
                <a:gd name="T12" fmla="*/ 3193 w 3306"/>
                <a:gd name="T13" fmla="*/ 1653 h 3306"/>
                <a:gd name="T14" fmla="*/ 1653 w 3306"/>
                <a:gd name="T15" fmla="*/ 3193 h 3306"/>
                <a:gd name="T16" fmla="*/ 112 w 3306"/>
                <a:gd name="T17" fmla="*/ 1653 h 3306"/>
                <a:gd name="T18" fmla="*/ 1653 w 3306"/>
                <a:gd name="T19" fmla="*/ 112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06" h="3306">
                  <a:moveTo>
                    <a:pt x="1653" y="0"/>
                  </a:moveTo>
                  <a:cubicBezTo>
                    <a:pt x="2565" y="0"/>
                    <a:pt x="3306" y="740"/>
                    <a:pt x="3306" y="1653"/>
                  </a:cubicBezTo>
                  <a:cubicBezTo>
                    <a:pt x="3306" y="2565"/>
                    <a:pt x="2565" y="3306"/>
                    <a:pt x="1653" y="3306"/>
                  </a:cubicBezTo>
                  <a:cubicBezTo>
                    <a:pt x="740" y="3306"/>
                    <a:pt x="0" y="2565"/>
                    <a:pt x="0" y="1653"/>
                  </a:cubicBezTo>
                  <a:cubicBezTo>
                    <a:pt x="0" y="740"/>
                    <a:pt x="740" y="0"/>
                    <a:pt x="1653" y="0"/>
                  </a:cubicBezTo>
                  <a:close/>
                  <a:moveTo>
                    <a:pt x="1653" y="112"/>
                  </a:moveTo>
                  <a:cubicBezTo>
                    <a:pt x="2503" y="112"/>
                    <a:pt x="3193" y="802"/>
                    <a:pt x="3193" y="1653"/>
                  </a:cubicBezTo>
                  <a:cubicBezTo>
                    <a:pt x="3193" y="2503"/>
                    <a:pt x="2503" y="3193"/>
                    <a:pt x="1653" y="3193"/>
                  </a:cubicBezTo>
                  <a:cubicBezTo>
                    <a:pt x="802" y="3193"/>
                    <a:pt x="112" y="2503"/>
                    <a:pt x="112" y="1653"/>
                  </a:cubicBezTo>
                  <a:cubicBezTo>
                    <a:pt x="112" y="802"/>
                    <a:pt x="802" y="112"/>
                    <a:pt x="1653" y="1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872754" y="3754916"/>
            <a:ext cx="6731694" cy="646325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zh-CN" sz="3600" b="1" dirty="0">
                <a:solidFill>
                  <a:schemeClr val="accent2"/>
                </a:solidFill>
              </a:rPr>
              <a:t>第</a:t>
            </a:r>
            <a:r>
              <a:rPr lang="en-US" altLang="zh-CN" sz="3600" b="1" dirty="0">
                <a:solidFill>
                  <a:schemeClr val="accent2"/>
                </a:solidFill>
              </a:rPr>
              <a:t>4</a:t>
            </a:r>
            <a:r>
              <a:rPr lang="zh-CN" altLang="zh-CN" sz="3600" b="1" dirty="0">
                <a:solidFill>
                  <a:schemeClr val="accent2"/>
                </a:solidFill>
              </a:rPr>
              <a:t>章 数据</a:t>
            </a:r>
            <a:r>
              <a:rPr lang="zh-CN" altLang="zh-CN" sz="3600" b="1" dirty="0" smtClean="0">
                <a:solidFill>
                  <a:schemeClr val="accent2"/>
                </a:solidFill>
              </a:rPr>
              <a:t>可视化包</a:t>
            </a:r>
            <a:r>
              <a:rPr lang="en-US" altLang="zh-CN" sz="3600" b="1" dirty="0" smtClean="0">
                <a:solidFill>
                  <a:schemeClr val="accent2"/>
                </a:solidFill>
              </a:rPr>
              <a:t>Matplotlib</a:t>
            </a:r>
            <a:endParaRPr lang="zh-CN" altLang="zh-CN" sz="3600" b="1" dirty="0">
              <a:solidFill>
                <a:schemeClr val="accent2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1980725" y="4570915"/>
            <a:ext cx="593833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39"/>
          <p:cNvSpPr>
            <a:spLocks noChangeAspect="1" noChangeArrowheads="1"/>
          </p:cNvSpPr>
          <p:nvPr/>
        </p:nvSpPr>
        <p:spPr bwMode="auto">
          <a:xfrm>
            <a:off x="2412603" y="4855190"/>
            <a:ext cx="161937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8" name="Oval 42"/>
          <p:cNvSpPr>
            <a:spLocks noChangeAspect="1" noChangeArrowheads="1"/>
          </p:cNvSpPr>
          <p:nvPr/>
        </p:nvSpPr>
        <p:spPr bwMode="auto">
          <a:xfrm>
            <a:off x="4841924" y="4855190"/>
            <a:ext cx="161937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28543" y="4763747"/>
            <a:ext cx="1698003" cy="132343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en-US" altLang="zh-CN" sz="2000" b="1" dirty="0" smtClean="0">
                <a:solidFill>
                  <a:schemeClr val="accent2"/>
                </a:solidFill>
              </a:rPr>
              <a:t>4.1 </a:t>
            </a:r>
            <a:r>
              <a:rPr lang="en-US" altLang="zh-CN" sz="2000" b="1" dirty="0">
                <a:solidFill>
                  <a:schemeClr val="accent2"/>
                </a:solidFill>
              </a:rPr>
              <a:t>Matplotlib</a:t>
            </a:r>
            <a:r>
              <a:rPr lang="zh-CN" altLang="zh-CN" sz="2000" b="1" dirty="0">
                <a:solidFill>
                  <a:schemeClr val="accent2"/>
                </a:solidFill>
              </a:rPr>
              <a:t>绘图基础</a:t>
            </a:r>
            <a:endParaRPr lang="zh-CN" altLang="zh-CN" sz="2000" dirty="0">
              <a:solidFill>
                <a:schemeClr val="accent2"/>
              </a:solidFill>
            </a:endParaRPr>
          </a:p>
          <a:p>
            <a:endParaRPr lang="zh-CN" altLang="en-US" sz="20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87378" y="4763747"/>
            <a:ext cx="1698003" cy="1015657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</a:rPr>
              <a:t>4.2 Matplotlib</a:t>
            </a:r>
            <a:r>
              <a:rPr lang="zh-CN" altLang="zh-CN" sz="2000" b="1" dirty="0">
                <a:solidFill>
                  <a:schemeClr val="accent2"/>
                </a:solidFill>
              </a:rPr>
              <a:t>常用图形绘制</a:t>
            </a:r>
            <a:endParaRPr lang="zh-CN" altLang="zh-CN" sz="2000" dirty="0">
              <a:solidFill>
                <a:schemeClr val="accent2"/>
              </a:solidFill>
            </a:endParaRPr>
          </a:p>
        </p:txBody>
      </p:sp>
      <p:sp>
        <p:nvSpPr>
          <p:cNvPr id="17" name="Freeform 10"/>
          <p:cNvSpPr>
            <a:spLocks noEditPoints="1"/>
          </p:cNvSpPr>
          <p:nvPr/>
        </p:nvSpPr>
        <p:spPr bwMode="auto">
          <a:xfrm>
            <a:off x="4032151" y="1825605"/>
            <a:ext cx="1026405" cy="1320696"/>
          </a:xfrm>
          <a:custGeom>
            <a:avLst/>
            <a:gdLst>
              <a:gd name="T0" fmla="*/ 760 w 1139"/>
              <a:gd name="T1" fmla="*/ 420 h 1088"/>
              <a:gd name="T2" fmla="*/ 745 w 1139"/>
              <a:gd name="T3" fmla="*/ 452 h 1088"/>
              <a:gd name="T4" fmla="*/ 741 w 1139"/>
              <a:gd name="T5" fmla="*/ 473 h 1088"/>
              <a:gd name="T6" fmla="*/ 742 w 1139"/>
              <a:gd name="T7" fmla="*/ 513 h 1088"/>
              <a:gd name="T8" fmla="*/ 756 w 1139"/>
              <a:gd name="T9" fmla="*/ 552 h 1088"/>
              <a:gd name="T10" fmla="*/ 769 w 1139"/>
              <a:gd name="T11" fmla="*/ 571 h 1088"/>
              <a:gd name="T12" fmla="*/ 801 w 1139"/>
              <a:gd name="T13" fmla="*/ 598 h 1088"/>
              <a:gd name="T14" fmla="*/ 822 w 1139"/>
              <a:gd name="T15" fmla="*/ 608 h 1088"/>
              <a:gd name="T16" fmla="*/ 866 w 1139"/>
              <a:gd name="T17" fmla="*/ 363 h 1088"/>
              <a:gd name="T18" fmla="*/ 814 w 1139"/>
              <a:gd name="T19" fmla="*/ 374 h 1088"/>
              <a:gd name="T20" fmla="*/ 785 w 1139"/>
              <a:gd name="T21" fmla="*/ 392 h 1088"/>
              <a:gd name="T22" fmla="*/ 771 w 1139"/>
              <a:gd name="T23" fmla="*/ 406 h 1088"/>
              <a:gd name="T24" fmla="*/ 696 w 1139"/>
              <a:gd name="T25" fmla="*/ 127 h 1088"/>
              <a:gd name="T26" fmla="*/ 570 w 1139"/>
              <a:gd name="T27" fmla="*/ 253 h 1088"/>
              <a:gd name="T28" fmla="*/ 688 w 1139"/>
              <a:gd name="T29" fmla="*/ 513 h 1088"/>
              <a:gd name="T30" fmla="*/ 688 w 1139"/>
              <a:gd name="T31" fmla="*/ 461 h 1088"/>
              <a:gd name="T32" fmla="*/ 651 w 1139"/>
              <a:gd name="T33" fmla="*/ 279 h 1088"/>
              <a:gd name="T34" fmla="*/ 453 w 1139"/>
              <a:gd name="T35" fmla="*/ 490 h 1088"/>
              <a:gd name="T36" fmla="*/ 570 w 1139"/>
              <a:gd name="T37" fmla="*/ 718 h 1088"/>
              <a:gd name="T38" fmla="*/ 512 w 1139"/>
              <a:gd name="T39" fmla="*/ 725 h 1088"/>
              <a:gd name="T40" fmla="*/ 484 w 1139"/>
              <a:gd name="T41" fmla="*/ 693 h 1088"/>
              <a:gd name="T42" fmla="*/ 466 w 1139"/>
              <a:gd name="T43" fmla="*/ 678 h 1088"/>
              <a:gd name="T44" fmla="*/ 388 w 1139"/>
              <a:gd name="T45" fmla="*/ 645 h 1088"/>
              <a:gd name="T46" fmla="*/ 355 w 1139"/>
              <a:gd name="T47" fmla="*/ 642 h 1088"/>
              <a:gd name="T48" fmla="*/ 0 w 1139"/>
              <a:gd name="T49" fmla="*/ 1088 h 1088"/>
              <a:gd name="T50" fmla="*/ 151 w 1139"/>
              <a:gd name="T51" fmla="*/ 824 h 1088"/>
              <a:gd name="T52" fmla="*/ 391 w 1139"/>
              <a:gd name="T53" fmla="*/ 824 h 1088"/>
              <a:gd name="T54" fmla="*/ 546 w 1139"/>
              <a:gd name="T55" fmla="*/ 1088 h 1088"/>
              <a:gd name="T56" fmla="*/ 512 w 1139"/>
              <a:gd name="T57" fmla="*/ 725 h 1088"/>
              <a:gd name="T58" fmla="*/ 785 w 1139"/>
              <a:gd name="T59" fmla="*/ 642 h 1088"/>
              <a:gd name="T60" fmla="*/ 750 w 1139"/>
              <a:gd name="T61" fmla="*/ 646 h 1088"/>
              <a:gd name="T62" fmla="*/ 655 w 1139"/>
              <a:gd name="T63" fmla="*/ 693 h 1088"/>
              <a:gd name="T64" fmla="*/ 639 w 1139"/>
              <a:gd name="T65" fmla="*/ 709 h 1088"/>
              <a:gd name="T66" fmla="*/ 705 w 1139"/>
              <a:gd name="T67" fmla="*/ 1088 h 1088"/>
              <a:gd name="T68" fmla="*/ 744 w 1139"/>
              <a:gd name="T69" fmla="*/ 1088 h 1088"/>
              <a:gd name="T70" fmla="*/ 1024 w 1139"/>
              <a:gd name="T71" fmla="*/ 824 h 1088"/>
              <a:gd name="T72" fmla="*/ 1139 w 1139"/>
              <a:gd name="T73" fmla="*/ 833 h 1088"/>
              <a:gd name="T74" fmla="*/ 273 w 1139"/>
              <a:gd name="T75" fmla="*/ 616 h 1088"/>
              <a:gd name="T76" fmla="*/ 337 w 1139"/>
              <a:gd name="T77" fmla="*/ 599 h 1088"/>
              <a:gd name="T78" fmla="*/ 355 w 1139"/>
              <a:gd name="T79" fmla="*/ 586 h 1088"/>
              <a:gd name="T80" fmla="*/ 391 w 1139"/>
              <a:gd name="T81" fmla="*/ 535 h 1088"/>
              <a:gd name="T82" fmla="*/ 398 w 1139"/>
              <a:gd name="T83" fmla="*/ 510 h 1088"/>
              <a:gd name="T84" fmla="*/ 398 w 1139"/>
              <a:gd name="T85" fmla="*/ 468 h 1088"/>
              <a:gd name="T86" fmla="*/ 388 w 1139"/>
              <a:gd name="T87" fmla="*/ 437 h 1088"/>
              <a:gd name="T88" fmla="*/ 378 w 1139"/>
              <a:gd name="T89" fmla="*/ 419 h 1088"/>
              <a:gd name="T90" fmla="*/ 354 w 1139"/>
              <a:gd name="T91" fmla="*/ 393 h 1088"/>
              <a:gd name="T92" fmla="*/ 338 w 1139"/>
              <a:gd name="T93" fmla="*/ 381 h 1088"/>
              <a:gd name="T94" fmla="*/ 273 w 1139"/>
              <a:gd name="T95" fmla="*/ 363 h 10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39" h="1088">
                <a:moveTo>
                  <a:pt x="771" y="406"/>
                </a:moveTo>
                <a:cubicBezTo>
                  <a:pt x="767" y="411"/>
                  <a:pt x="764" y="415"/>
                  <a:pt x="761" y="419"/>
                </a:cubicBezTo>
                <a:cubicBezTo>
                  <a:pt x="761" y="420"/>
                  <a:pt x="761" y="420"/>
                  <a:pt x="760" y="420"/>
                </a:cubicBezTo>
                <a:cubicBezTo>
                  <a:pt x="758" y="424"/>
                  <a:pt x="755" y="429"/>
                  <a:pt x="753" y="433"/>
                </a:cubicBezTo>
                <a:cubicBezTo>
                  <a:pt x="752" y="435"/>
                  <a:pt x="752" y="436"/>
                  <a:pt x="751" y="437"/>
                </a:cubicBezTo>
                <a:cubicBezTo>
                  <a:pt x="749" y="442"/>
                  <a:pt x="747" y="447"/>
                  <a:pt x="745" y="452"/>
                </a:cubicBezTo>
                <a:cubicBezTo>
                  <a:pt x="745" y="452"/>
                  <a:pt x="745" y="453"/>
                  <a:pt x="745" y="453"/>
                </a:cubicBezTo>
                <a:cubicBezTo>
                  <a:pt x="744" y="458"/>
                  <a:pt x="742" y="463"/>
                  <a:pt x="741" y="468"/>
                </a:cubicBezTo>
                <a:cubicBezTo>
                  <a:pt x="741" y="470"/>
                  <a:pt x="741" y="471"/>
                  <a:pt x="741" y="473"/>
                </a:cubicBezTo>
                <a:cubicBezTo>
                  <a:pt x="740" y="478"/>
                  <a:pt x="740" y="484"/>
                  <a:pt x="740" y="490"/>
                </a:cubicBezTo>
                <a:cubicBezTo>
                  <a:pt x="740" y="497"/>
                  <a:pt x="740" y="504"/>
                  <a:pt x="741" y="510"/>
                </a:cubicBezTo>
                <a:cubicBezTo>
                  <a:pt x="742" y="511"/>
                  <a:pt x="742" y="512"/>
                  <a:pt x="742" y="513"/>
                </a:cubicBezTo>
                <a:cubicBezTo>
                  <a:pt x="743" y="520"/>
                  <a:pt x="745" y="526"/>
                  <a:pt x="747" y="532"/>
                </a:cubicBezTo>
                <a:cubicBezTo>
                  <a:pt x="747" y="533"/>
                  <a:pt x="748" y="534"/>
                  <a:pt x="748" y="535"/>
                </a:cubicBezTo>
                <a:cubicBezTo>
                  <a:pt x="750" y="541"/>
                  <a:pt x="753" y="547"/>
                  <a:pt x="756" y="552"/>
                </a:cubicBezTo>
                <a:cubicBezTo>
                  <a:pt x="757" y="553"/>
                  <a:pt x="757" y="554"/>
                  <a:pt x="758" y="555"/>
                </a:cubicBezTo>
                <a:cubicBezTo>
                  <a:pt x="761" y="560"/>
                  <a:pt x="765" y="566"/>
                  <a:pt x="769" y="571"/>
                </a:cubicBezTo>
                <a:cubicBezTo>
                  <a:pt x="769" y="571"/>
                  <a:pt x="769" y="571"/>
                  <a:pt x="769" y="571"/>
                </a:cubicBezTo>
                <a:cubicBezTo>
                  <a:pt x="774" y="576"/>
                  <a:pt x="778" y="581"/>
                  <a:pt x="783" y="585"/>
                </a:cubicBezTo>
                <a:cubicBezTo>
                  <a:pt x="784" y="586"/>
                  <a:pt x="784" y="586"/>
                  <a:pt x="784" y="586"/>
                </a:cubicBezTo>
                <a:cubicBezTo>
                  <a:pt x="789" y="591"/>
                  <a:pt x="795" y="594"/>
                  <a:pt x="801" y="598"/>
                </a:cubicBezTo>
                <a:cubicBezTo>
                  <a:pt x="801" y="598"/>
                  <a:pt x="802" y="599"/>
                  <a:pt x="802" y="599"/>
                </a:cubicBezTo>
                <a:cubicBezTo>
                  <a:pt x="808" y="602"/>
                  <a:pt x="814" y="605"/>
                  <a:pt x="820" y="608"/>
                </a:cubicBezTo>
                <a:cubicBezTo>
                  <a:pt x="821" y="608"/>
                  <a:pt x="821" y="608"/>
                  <a:pt x="822" y="608"/>
                </a:cubicBezTo>
                <a:cubicBezTo>
                  <a:pt x="836" y="613"/>
                  <a:pt x="851" y="616"/>
                  <a:pt x="866" y="616"/>
                </a:cubicBezTo>
                <a:cubicBezTo>
                  <a:pt x="936" y="616"/>
                  <a:pt x="993" y="559"/>
                  <a:pt x="993" y="490"/>
                </a:cubicBezTo>
                <a:cubicBezTo>
                  <a:pt x="993" y="420"/>
                  <a:pt x="936" y="363"/>
                  <a:pt x="866" y="363"/>
                </a:cubicBezTo>
                <a:cubicBezTo>
                  <a:pt x="848" y="363"/>
                  <a:pt x="831" y="367"/>
                  <a:pt x="816" y="374"/>
                </a:cubicBezTo>
                <a:cubicBezTo>
                  <a:pt x="816" y="374"/>
                  <a:pt x="816" y="374"/>
                  <a:pt x="816" y="374"/>
                </a:cubicBezTo>
                <a:cubicBezTo>
                  <a:pt x="815" y="374"/>
                  <a:pt x="815" y="374"/>
                  <a:pt x="814" y="374"/>
                </a:cubicBezTo>
                <a:cubicBezTo>
                  <a:pt x="810" y="376"/>
                  <a:pt x="806" y="379"/>
                  <a:pt x="802" y="381"/>
                </a:cubicBezTo>
                <a:cubicBezTo>
                  <a:pt x="800" y="382"/>
                  <a:pt x="799" y="382"/>
                  <a:pt x="798" y="383"/>
                </a:cubicBezTo>
                <a:cubicBezTo>
                  <a:pt x="794" y="386"/>
                  <a:pt x="789" y="389"/>
                  <a:pt x="785" y="392"/>
                </a:cubicBezTo>
                <a:cubicBezTo>
                  <a:pt x="785" y="393"/>
                  <a:pt x="784" y="393"/>
                  <a:pt x="784" y="393"/>
                </a:cubicBezTo>
                <a:cubicBezTo>
                  <a:pt x="780" y="397"/>
                  <a:pt x="777" y="400"/>
                  <a:pt x="773" y="404"/>
                </a:cubicBezTo>
                <a:cubicBezTo>
                  <a:pt x="773" y="405"/>
                  <a:pt x="772" y="406"/>
                  <a:pt x="771" y="406"/>
                </a:cubicBezTo>
                <a:close/>
                <a:moveTo>
                  <a:pt x="570" y="253"/>
                </a:moveTo>
                <a:lnTo>
                  <a:pt x="570" y="253"/>
                </a:lnTo>
                <a:cubicBezTo>
                  <a:pt x="639" y="253"/>
                  <a:pt x="696" y="196"/>
                  <a:pt x="696" y="127"/>
                </a:cubicBezTo>
                <a:cubicBezTo>
                  <a:pt x="696" y="57"/>
                  <a:pt x="639" y="0"/>
                  <a:pt x="570" y="0"/>
                </a:cubicBezTo>
                <a:cubicBezTo>
                  <a:pt x="500" y="0"/>
                  <a:pt x="443" y="57"/>
                  <a:pt x="443" y="127"/>
                </a:cubicBezTo>
                <a:cubicBezTo>
                  <a:pt x="443" y="196"/>
                  <a:pt x="500" y="253"/>
                  <a:pt x="570" y="253"/>
                </a:cubicBezTo>
                <a:close/>
                <a:moveTo>
                  <a:pt x="688" y="609"/>
                </a:moveTo>
                <a:lnTo>
                  <a:pt x="688" y="609"/>
                </a:lnTo>
                <a:lnTo>
                  <a:pt x="688" y="513"/>
                </a:lnTo>
                <a:cubicBezTo>
                  <a:pt x="687" y="505"/>
                  <a:pt x="686" y="497"/>
                  <a:pt x="686" y="490"/>
                </a:cubicBezTo>
                <a:cubicBezTo>
                  <a:pt x="686" y="482"/>
                  <a:pt x="687" y="474"/>
                  <a:pt x="688" y="467"/>
                </a:cubicBezTo>
                <a:lnTo>
                  <a:pt x="688" y="461"/>
                </a:lnTo>
                <a:lnTo>
                  <a:pt x="689" y="461"/>
                </a:lnTo>
                <a:cubicBezTo>
                  <a:pt x="698" y="405"/>
                  <a:pt x="733" y="357"/>
                  <a:pt x="782" y="331"/>
                </a:cubicBezTo>
                <a:cubicBezTo>
                  <a:pt x="748" y="299"/>
                  <a:pt x="702" y="279"/>
                  <a:pt x="651" y="279"/>
                </a:cubicBezTo>
                <a:lnTo>
                  <a:pt x="488" y="279"/>
                </a:lnTo>
                <a:cubicBezTo>
                  <a:pt x="437" y="279"/>
                  <a:pt x="391" y="299"/>
                  <a:pt x="357" y="331"/>
                </a:cubicBezTo>
                <a:cubicBezTo>
                  <a:pt x="414" y="361"/>
                  <a:pt x="453" y="421"/>
                  <a:pt x="453" y="490"/>
                </a:cubicBezTo>
                <a:cubicBezTo>
                  <a:pt x="453" y="504"/>
                  <a:pt x="451" y="518"/>
                  <a:pt x="448" y="531"/>
                </a:cubicBezTo>
                <a:lnTo>
                  <a:pt x="448" y="608"/>
                </a:lnTo>
                <a:cubicBezTo>
                  <a:pt x="500" y="629"/>
                  <a:pt x="543" y="668"/>
                  <a:pt x="570" y="718"/>
                </a:cubicBezTo>
                <a:cubicBezTo>
                  <a:pt x="595" y="669"/>
                  <a:pt x="638" y="631"/>
                  <a:pt x="688" y="609"/>
                </a:cubicBezTo>
                <a:close/>
                <a:moveTo>
                  <a:pt x="512" y="725"/>
                </a:moveTo>
                <a:lnTo>
                  <a:pt x="512" y="725"/>
                </a:lnTo>
                <a:cubicBezTo>
                  <a:pt x="508" y="719"/>
                  <a:pt x="504" y="714"/>
                  <a:pt x="499" y="709"/>
                </a:cubicBezTo>
                <a:cubicBezTo>
                  <a:pt x="499" y="708"/>
                  <a:pt x="498" y="707"/>
                  <a:pt x="497" y="707"/>
                </a:cubicBezTo>
                <a:cubicBezTo>
                  <a:pt x="493" y="702"/>
                  <a:pt x="489" y="698"/>
                  <a:pt x="484" y="693"/>
                </a:cubicBezTo>
                <a:cubicBezTo>
                  <a:pt x="484" y="693"/>
                  <a:pt x="483" y="692"/>
                  <a:pt x="482" y="691"/>
                </a:cubicBezTo>
                <a:cubicBezTo>
                  <a:pt x="477" y="687"/>
                  <a:pt x="473" y="683"/>
                  <a:pt x="467" y="679"/>
                </a:cubicBezTo>
                <a:cubicBezTo>
                  <a:pt x="467" y="679"/>
                  <a:pt x="466" y="679"/>
                  <a:pt x="466" y="678"/>
                </a:cubicBezTo>
                <a:cubicBezTo>
                  <a:pt x="449" y="666"/>
                  <a:pt x="429" y="656"/>
                  <a:pt x="409" y="650"/>
                </a:cubicBezTo>
                <a:cubicBezTo>
                  <a:pt x="404" y="649"/>
                  <a:pt x="400" y="648"/>
                  <a:pt x="395" y="647"/>
                </a:cubicBezTo>
                <a:cubicBezTo>
                  <a:pt x="393" y="646"/>
                  <a:pt x="390" y="646"/>
                  <a:pt x="388" y="645"/>
                </a:cubicBezTo>
                <a:cubicBezTo>
                  <a:pt x="385" y="645"/>
                  <a:pt x="381" y="644"/>
                  <a:pt x="378" y="644"/>
                </a:cubicBezTo>
                <a:cubicBezTo>
                  <a:pt x="376" y="644"/>
                  <a:pt x="374" y="643"/>
                  <a:pt x="372" y="643"/>
                </a:cubicBezTo>
                <a:cubicBezTo>
                  <a:pt x="366" y="643"/>
                  <a:pt x="360" y="642"/>
                  <a:pt x="355" y="642"/>
                </a:cubicBezTo>
                <a:lnTo>
                  <a:pt x="191" y="642"/>
                </a:lnTo>
                <a:cubicBezTo>
                  <a:pt x="86" y="642"/>
                  <a:pt x="0" y="728"/>
                  <a:pt x="0" y="833"/>
                </a:cubicBezTo>
                <a:lnTo>
                  <a:pt x="0" y="1088"/>
                </a:lnTo>
                <a:lnTo>
                  <a:pt x="112" y="1088"/>
                </a:lnTo>
                <a:lnTo>
                  <a:pt x="112" y="824"/>
                </a:lnTo>
                <a:lnTo>
                  <a:pt x="151" y="824"/>
                </a:lnTo>
                <a:lnTo>
                  <a:pt x="151" y="1088"/>
                </a:lnTo>
                <a:lnTo>
                  <a:pt x="391" y="1088"/>
                </a:lnTo>
                <a:lnTo>
                  <a:pt x="391" y="824"/>
                </a:lnTo>
                <a:lnTo>
                  <a:pt x="430" y="824"/>
                </a:lnTo>
                <a:lnTo>
                  <a:pt x="430" y="1088"/>
                </a:lnTo>
                <a:lnTo>
                  <a:pt x="546" y="1088"/>
                </a:lnTo>
                <a:lnTo>
                  <a:pt x="546" y="833"/>
                </a:lnTo>
                <a:cubicBezTo>
                  <a:pt x="546" y="793"/>
                  <a:pt x="533" y="756"/>
                  <a:pt x="512" y="725"/>
                </a:cubicBezTo>
                <a:cubicBezTo>
                  <a:pt x="512" y="725"/>
                  <a:pt x="512" y="725"/>
                  <a:pt x="512" y="725"/>
                </a:cubicBezTo>
                <a:close/>
                <a:moveTo>
                  <a:pt x="948" y="642"/>
                </a:moveTo>
                <a:lnTo>
                  <a:pt x="948" y="642"/>
                </a:lnTo>
                <a:lnTo>
                  <a:pt x="785" y="642"/>
                </a:lnTo>
                <a:cubicBezTo>
                  <a:pt x="779" y="642"/>
                  <a:pt x="773" y="643"/>
                  <a:pt x="767" y="643"/>
                </a:cubicBezTo>
                <a:cubicBezTo>
                  <a:pt x="765" y="643"/>
                  <a:pt x="763" y="644"/>
                  <a:pt x="761" y="644"/>
                </a:cubicBezTo>
                <a:cubicBezTo>
                  <a:pt x="758" y="644"/>
                  <a:pt x="754" y="645"/>
                  <a:pt x="750" y="646"/>
                </a:cubicBezTo>
                <a:cubicBezTo>
                  <a:pt x="748" y="646"/>
                  <a:pt x="746" y="646"/>
                  <a:pt x="743" y="647"/>
                </a:cubicBezTo>
                <a:cubicBezTo>
                  <a:pt x="739" y="648"/>
                  <a:pt x="735" y="649"/>
                  <a:pt x="731" y="650"/>
                </a:cubicBezTo>
                <a:cubicBezTo>
                  <a:pt x="703" y="658"/>
                  <a:pt x="676" y="673"/>
                  <a:pt x="655" y="693"/>
                </a:cubicBezTo>
                <a:cubicBezTo>
                  <a:pt x="655" y="694"/>
                  <a:pt x="654" y="694"/>
                  <a:pt x="654" y="694"/>
                </a:cubicBezTo>
                <a:cubicBezTo>
                  <a:pt x="649" y="698"/>
                  <a:pt x="645" y="703"/>
                  <a:pt x="641" y="708"/>
                </a:cubicBezTo>
                <a:cubicBezTo>
                  <a:pt x="640" y="708"/>
                  <a:pt x="640" y="709"/>
                  <a:pt x="639" y="709"/>
                </a:cubicBezTo>
                <a:cubicBezTo>
                  <a:pt x="611" y="743"/>
                  <a:pt x="593" y="786"/>
                  <a:pt x="593" y="833"/>
                </a:cubicBezTo>
                <a:lnTo>
                  <a:pt x="593" y="1088"/>
                </a:lnTo>
                <a:lnTo>
                  <a:pt x="705" y="1088"/>
                </a:lnTo>
                <a:lnTo>
                  <a:pt x="705" y="824"/>
                </a:lnTo>
                <a:lnTo>
                  <a:pt x="744" y="824"/>
                </a:lnTo>
                <a:lnTo>
                  <a:pt x="744" y="1088"/>
                </a:lnTo>
                <a:lnTo>
                  <a:pt x="985" y="1088"/>
                </a:lnTo>
                <a:lnTo>
                  <a:pt x="985" y="824"/>
                </a:lnTo>
                <a:lnTo>
                  <a:pt x="1024" y="824"/>
                </a:lnTo>
                <a:lnTo>
                  <a:pt x="1024" y="1088"/>
                </a:lnTo>
                <a:lnTo>
                  <a:pt x="1139" y="1088"/>
                </a:lnTo>
                <a:lnTo>
                  <a:pt x="1139" y="833"/>
                </a:lnTo>
                <a:cubicBezTo>
                  <a:pt x="1139" y="728"/>
                  <a:pt x="1053" y="642"/>
                  <a:pt x="948" y="642"/>
                </a:cubicBezTo>
                <a:close/>
                <a:moveTo>
                  <a:pt x="273" y="616"/>
                </a:moveTo>
                <a:lnTo>
                  <a:pt x="273" y="616"/>
                </a:lnTo>
                <a:cubicBezTo>
                  <a:pt x="289" y="616"/>
                  <a:pt x="304" y="613"/>
                  <a:pt x="317" y="608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325" y="605"/>
                  <a:pt x="331" y="602"/>
                  <a:pt x="337" y="599"/>
                </a:cubicBezTo>
                <a:cubicBezTo>
                  <a:pt x="337" y="599"/>
                  <a:pt x="338" y="598"/>
                  <a:pt x="338" y="598"/>
                </a:cubicBezTo>
                <a:cubicBezTo>
                  <a:pt x="344" y="594"/>
                  <a:pt x="350" y="591"/>
                  <a:pt x="355" y="586"/>
                </a:cubicBezTo>
                <a:cubicBezTo>
                  <a:pt x="355" y="586"/>
                  <a:pt x="355" y="586"/>
                  <a:pt x="355" y="586"/>
                </a:cubicBezTo>
                <a:cubicBezTo>
                  <a:pt x="366" y="577"/>
                  <a:pt x="374" y="566"/>
                  <a:pt x="381" y="554"/>
                </a:cubicBezTo>
                <a:cubicBezTo>
                  <a:pt x="382" y="554"/>
                  <a:pt x="382" y="553"/>
                  <a:pt x="383" y="552"/>
                </a:cubicBezTo>
                <a:cubicBezTo>
                  <a:pt x="386" y="547"/>
                  <a:pt x="389" y="541"/>
                  <a:pt x="391" y="535"/>
                </a:cubicBezTo>
                <a:cubicBezTo>
                  <a:pt x="391" y="534"/>
                  <a:pt x="392" y="533"/>
                  <a:pt x="392" y="532"/>
                </a:cubicBezTo>
                <a:cubicBezTo>
                  <a:pt x="394" y="526"/>
                  <a:pt x="396" y="520"/>
                  <a:pt x="397" y="513"/>
                </a:cubicBezTo>
                <a:cubicBezTo>
                  <a:pt x="397" y="512"/>
                  <a:pt x="398" y="511"/>
                  <a:pt x="398" y="510"/>
                </a:cubicBezTo>
                <a:cubicBezTo>
                  <a:pt x="399" y="504"/>
                  <a:pt x="399" y="497"/>
                  <a:pt x="399" y="490"/>
                </a:cubicBezTo>
                <a:cubicBezTo>
                  <a:pt x="399" y="484"/>
                  <a:pt x="399" y="478"/>
                  <a:pt x="398" y="472"/>
                </a:cubicBezTo>
                <a:cubicBezTo>
                  <a:pt x="398" y="471"/>
                  <a:pt x="398" y="470"/>
                  <a:pt x="398" y="468"/>
                </a:cubicBezTo>
                <a:cubicBezTo>
                  <a:pt x="397" y="463"/>
                  <a:pt x="395" y="458"/>
                  <a:pt x="394" y="453"/>
                </a:cubicBezTo>
                <a:cubicBezTo>
                  <a:pt x="394" y="452"/>
                  <a:pt x="394" y="452"/>
                  <a:pt x="394" y="452"/>
                </a:cubicBezTo>
                <a:cubicBezTo>
                  <a:pt x="392" y="447"/>
                  <a:pt x="390" y="442"/>
                  <a:pt x="388" y="437"/>
                </a:cubicBezTo>
                <a:cubicBezTo>
                  <a:pt x="387" y="436"/>
                  <a:pt x="387" y="435"/>
                  <a:pt x="386" y="434"/>
                </a:cubicBezTo>
                <a:cubicBezTo>
                  <a:pt x="384" y="429"/>
                  <a:pt x="381" y="424"/>
                  <a:pt x="378" y="419"/>
                </a:cubicBezTo>
                <a:lnTo>
                  <a:pt x="378" y="419"/>
                </a:lnTo>
                <a:cubicBezTo>
                  <a:pt x="375" y="415"/>
                  <a:pt x="372" y="410"/>
                  <a:pt x="368" y="406"/>
                </a:cubicBezTo>
                <a:cubicBezTo>
                  <a:pt x="367" y="405"/>
                  <a:pt x="367" y="405"/>
                  <a:pt x="366" y="404"/>
                </a:cubicBezTo>
                <a:cubicBezTo>
                  <a:pt x="362" y="400"/>
                  <a:pt x="358" y="396"/>
                  <a:pt x="354" y="393"/>
                </a:cubicBezTo>
                <a:cubicBezTo>
                  <a:pt x="354" y="393"/>
                  <a:pt x="354" y="393"/>
                  <a:pt x="354" y="393"/>
                </a:cubicBezTo>
                <a:cubicBezTo>
                  <a:pt x="350" y="389"/>
                  <a:pt x="345" y="386"/>
                  <a:pt x="341" y="383"/>
                </a:cubicBezTo>
                <a:cubicBezTo>
                  <a:pt x="340" y="382"/>
                  <a:pt x="339" y="382"/>
                  <a:pt x="338" y="381"/>
                </a:cubicBezTo>
                <a:cubicBezTo>
                  <a:pt x="334" y="379"/>
                  <a:pt x="329" y="376"/>
                  <a:pt x="324" y="374"/>
                </a:cubicBezTo>
                <a:cubicBezTo>
                  <a:pt x="324" y="374"/>
                  <a:pt x="324" y="374"/>
                  <a:pt x="323" y="374"/>
                </a:cubicBezTo>
                <a:cubicBezTo>
                  <a:pt x="308" y="367"/>
                  <a:pt x="291" y="363"/>
                  <a:pt x="273" y="363"/>
                </a:cubicBezTo>
                <a:cubicBezTo>
                  <a:pt x="203" y="363"/>
                  <a:pt x="146" y="420"/>
                  <a:pt x="146" y="490"/>
                </a:cubicBezTo>
                <a:cubicBezTo>
                  <a:pt x="146" y="559"/>
                  <a:pt x="203" y="616"/>
                  <a:pt x="273" y="6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Matplotlib</a:t>
            </a:r>
            <a:r>
              <a:rPr lang="zh-CN" altLang="zh-CN" sz="2800" dirty="0"/>
              <a:t>是</a:t>
            </a:r>
            <a:r>
              <a:rPr lang="en-US" altLang="zh-CN" sz="2800" dirty="0"/>
              <a:t>Python</a:t>
            </a:r>
            <a:r>
              <a:rPr lang="zh-CN" altLang="zh-CN" sz="2800" dirty="0"/>
              <a:t>中一个二维绘图包，能够非常简单的实现数据可视化。</a:t>
            </a:r>
            <a:r>
              <a:rPr lang="en-US" altLang="zh-CN" sz="2800" dirty="0"/>
              <a:t>Matplotlib</a:t>
            </a:r>
            <a:r>
              <a:rPr lang="zh-CN" altLang="zh-CN" sz="2800" dirty="0"/>
              <a:t>最早由</a:t>
            </a:r>
            <a:r>
              <a:rPr lang="en-US" altLang="zh-CN" sz="2800" dirty="0"/>
              <a:t>John Hunter</a:t>
            </a:r>
            <a:r>
              <a:rPr lang="zh-CN" altLang="zh-CN" sz="2800" dirty="0"/>
              <a:t>于</a:t>
            </a:r>
            <a:r>
              <a:rPr lang="en-US" altLang="zh-CN" sz="2800" dirty="0"/>
              <a:t>2002</a:t>
            </a:r>
            <a:r>
              <a:rPr lang="zh-CN" altLang="zh-CN" sz="2800" dirty="0"/>
              <a:t>年启动开发，其目的是为了构建一个</a:t>
            </a:r>
            <a:r>
              <a:rPr lang="en-US" altLang="zh-CN" sz="2800" dirty="0" err="1"/>
              <a:t>Matlab</a:t>
            </a:r>
            <a:r>
              <a:rPr lang="zh-CN" altLang="zh-CN" sz="2800" dirty="0"/>
              <a:t>式的绘图函数接口。下面详细介绍</a:t>
            </a:r>
            <a:r>
              <a:rPr lang="en-US" altLang="zh-CN" sz="2800" dirty="0"/>
              <a:t>Matplotlib</a:t>
            </a:r>
            <a:r>
              <a:rPr lang="zh-CN" altLang="zh-CN" sz="2800" dirty="0"/>
              <a:t>图像构成、</a:t>
            </a:r>
            <a:r>
              <a:rPr lang="en-US" altLang="zh-CN" sz="2800" dirty="0"/>
              <a:t>Matplotlib</a:t>
            </a:r>
            <a:r>
              <a:rPr lang="zh-CN" altLang="zh-CN" sz="2800" dirty="0"/>
              <a:t>图像基本绘图流程、中文字符显示、坐标轴字符刻度标注等基本绘图知识。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171891" y="3244334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2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455" y="188640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>
                <a:solidFill>
                  <a:schemeClr val="accent2"/>
                </a:solidFill>
              </a:rPr>
              <a:t>4.1 Matplotlib</a:t>
            </a:r>
            <a:r>
              <a:rPr lang="zh-CN" altLang="zh-CN" sz="2800" b="1" dirty="0">
                <a:solidFill>
                  <a:schemeClr val="accent2"/>
                </a:solidFill>
              </a:rPr>
              <a:t>绘图基础</a:t>
            </a:r>
            <a:endParaRPr lang="zh-CN" altLang="zh-CN" sz="2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76852"/>
            <a:ext cx="7488832" cy="400128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4.1.1 Matplotlib</a:t>
            </a:r>
            <a:r>
              <a:rPr lang="zh-CN" altLang="zh-CN" b="1" dirty="0">
                <a:solidFill>
                  <a:schemeClr val="accent2"/>
                </a:solidFill>
              </a:rPr>
              <a:t>图像</a:t>
            </a:r>
            <a:r>
              <a:rPr lang="zh-CN" altLang="zh-CN" b="1" dirty="0" smtClean="0">
                <a:solidFill>
                  <a:schemeClr val="accent2"/>
                </a:solidFill>
              </a:rPr>
              <a:t>构成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Matplotlib</a:t>
            </a:r>
            <a:r>
              <a:rPr lang="zh-CN" altLang="zh-CN" dirty="0"/>
              <a:t>图像大致可以分为如下</a:t>
            </a:r>
            <a:r>
              <a:rPr lang="en-US" altLang="zh-CN" dirty="0"/>
              <a:t>4</a:t>
            </a:r>
            <a:r>
              <a:rPr lang="zh-CN" altLang="zh-CN" dirty="0"/>
              <a:t>个层次结构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zh-CN" altLang="zh-CN" dirty="0"/>
          </a:p>
          <a:p>
            <a:pPr marL="0" indent="0" fontAlgn="ctr">
              <a:buNone/>
            </a:pPr>
            <a:endParaRPr lang="en-US" altLang="zh-CN" dirty="0" smtClean="0"/>
          </a:p>
          <a:p>
            <a:pPr marL="0" indent="0" fontAlgn="ctr">
              <a:buNone/>
            </a:pPr>
            <a:endParaRPr lang="en-US" altLang="zh-CN" dirty="0" smtClean="0"/>
          </a:p>
          <a:p>
            <a:pPr marL="0" indent="0" fontAlgn="ctr">
              <a:buNone/>
            </a:pPr>
            <a:r>
              <a:rPr lang="zh-CN" altLang="zh-CN" dirty="0" smtClean="0"/>
              <a:t>位于</a:t>
            </a:r>
            <a:r>
              <a:rPr lang="zh-CN" altLang="zh-CN" dirty="0"/>
              <a:t>最底层</a:t>
            </a:r>
            <a:r>
              <a:rPr lang="zh-CN" altLang="zh-CN" dirty="0" smtClean="0"/>
              <a:t>，导</a:t>
            </a:r>
            <a:r>
              <a:rPr lang="zh-CN" altLang="zh-CN" dirty="0"/>
              <a:t>入</a:t>
            </a:r>
            <a:r>
              <a:rPr lang="en-US" altLang="zh-CN" dirty="0" err="1"/>
              <a:t>matplotlib</a:t>
            </a:r>
            <a:r>
              <a:rPr lang="zh-CN" altLang="zh-CN" dirty="0" smtClean="0"/>
              <a:t>库</a:t>
            </a:r>
            <a:endParaRPr lang="en-US" altLang="zh-CN" dirty="0" smtClean="0"/>
          </a:p>
          <a:p>
            <a:pPr marL="0" indent="0" fontAlgn="ctr">
              <a:buNone/>
            </a:pPr>
            <a:r>
              <a:rPr lang="zh-CN" altLang="zh-CN" dirty="0" smtClean="0"/>
              <a:t>时就</a:t>
            </a:r>
            <a:r>
              <a:rPr lang="zh-CN" altLang="zh-CN" dirty="0"/>
              <a:t>自动存在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 fontAlgn="ctr">
              <a:buNone/>
            </a:pPr>
            <a:endParaRPr lang="en-US" altLang="zh-CN" dirty="0"/>
          </a:p>
          <a:p>
            <a:pPr marL="0" indent="0" fontAlgn="ctr">
              <a:buNone/>
            </a:pPr>
            <a:endParaRPr lang="en-US" altLang="zh-CN" dirty="0" smtClean="0"/>
          </a:p>
          <a:p>
            <a:pPr marL="0" indent="0" fontAlgn="ctr">
              <a:buNone/>
            </a:pPr>
            <a:endParaRPr lang="en-US" altLang="zh-CN" dirty="0" smtClean="0"/>
          </a:p>
          <a:p>
            <a:pPr marL="0" indent="0" fontAlgn="ctr">
              <a:buNone/>
            </a:pPr>
            <a:endParaRPr lang="en-US" altLang="zh-CN" dirty="0" smtClean="0"/>
          </a:p>
          <a:p>
            <a:pPr marL="0" indent="0" fontAlgn="ctr">
              <a:buNone/>
            </a:pPr>
            <a:r>
              <a:rPr lang="zh-CN" altLang="zh-CN" dirty="0" smtClean="0"/>
              <a:t>将</a:t>
            </a:r>
            <a:r>
              <a:rPr lang="en-US" altLang="zh-CN" dirty="0"/>
              <a:t>figure</a:t>
            </a:r>
            <a:r>
              <a:rPr lang="zh-CN" altLang="zh-CN" dirty="0"/>
              <a:t>分成不同块</a:t>
            </a:r>
            <a:r>
              <a:rPr lang="zh-CN" altLang="zh-CN" dirty="0" smtClean="0"/>
              <a:t>，</a:t>
            </a:r>
            <a:endParaRPr lang="en-US" altLang="zh-CN" dirty="0" smtClean="0"/>
          </a:p>
          <a:p>
            <a:pPr marL="0" indent="0" fontAlgn="ctr">
              <a:buNone/>
            </a:pPr>
            <a:r>
              <a:rPr lang="zh-CN" altLang="zh-CN" dirty="0" smtClean="0"/>
              <a:t>实现</a:t>
            </a:r>
            <a:r>
              <a:rPr lang="zh-CN" altLang="zh-CN" dirty="0"/>
              <a:t>分面绘图。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476" y="107648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1114502" y="2276872"/>
            <a:ext cx="2160000" cy="540000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1. canvas</a:t>
            </a:r>
            <a:r>
              <a:rPr lang="zh-CN" altLang="zh-CN" sz="2000" dirty="0">
                <a:solidFill>
                  <a:schemeClr val="accent2"/>
                </a:solidFill>
              </a:rPr>
              <a:t>（画板）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10"/>
          <p:cNvSpPr>
            <a:spLocks noChangeArrowheads="1"/>
          </p:cNvSpPr>
          <p:nvPr/>
        </p:nvSpPr>
        <p:spPr bwMode="auto">
          <a:xfrm>
            <a:off x="5429592" y="2253288"/>
            <a:ext cx="2160000" cy="540000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2. figure</a:t>
            </a:r>
            <a:r>
              <a:rPr lang="zh-CN" altLang="zh-CN" sz="2000" dirty="0">
                <a:solidFill>
                  <a:schemeClr val="accent2"/>
                </a:solidFill>
              </a:rPr>
              <a:t>（画布）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5404784" y="5301208"/>
            <a:ext cx="4283968" cy="5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ctr"/>
            <a:r>
              <a:rPr lang="zh-CN" altLang="zh-CN" sz="2000" dirty="0"/>
              <a:t>添加或修改</a:t>
            </a:r>
            <a:r>
              <a:rPr lang="en-US" altLang="zh-CN" sz="2000" dirty="0"/>
              <a:t>axes</a:t>
            </a:r>
            <a:r>
              <a:rPr lang="zh-CN" altLang="zh-CN" sz="2000" dirty="0"/>
              <a:t>上的图形信息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fontAlgn="ctr"/>
            <a:r>
              <a:rPr lang="zh-CN" altLang="zh-CN" sz="2000" dirty="0" smtClean="0"/>
              <a:t>优化</a:t>
            </a:r>
            <a:r>
              <a:rPr lang="zh-CN" altLang="zh-CN" sz="2000" dirty="0"/>
              <a:t>图表的显示效果。</a:t>
            </a:r>
            <a:endParaRPr lang="zh-CN" altLang="zh-CN" sz="2000" dirty="0"/>
          </a:p>
        </p:txBody>
      </p:sp>
      <p:sp>
        <p:nvSpPr>
          <p:cNvPr id="12" name="矩形 10"/>
          <p:cNvSpPr>
            <a:spLocks noChangeArrowheads="1"/>
          </p:cNvSpPr>
          <p:nvPr/>
        </p:nvSpPr>
        <p:spPr bwMode="auto">
          <a:xfrm>
            <a:off x="1114502" y="4227904"/>
            <a:ext cx="2160000" cy="540000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dirty="0" smtClean="0"/>
              <a:t> </a:t>
            </a:r>
            <a:r>
              <a:rPr lang="en-US" altLang="zh-CN" sz="2000" dirty="0">
                <a:solidFill>
                  <a:schemeClr val="accent2"/>
                </a:solidFill>
              </a:rPr>
              <a:t>3.axes</a:t>
            </a:r>
            <a:r>
              <a:rPr lang="zh-CN" altLang="zh-CN" sz="2000" dirty="0">
                <a:solidFill>
                  <a:schemeClr val="accent2"/>
                </a:solidFill>
              </a:rPr>
              <a:t>（子图）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矩形 10"/>
          <p:cNvSpPr>
            <a:spLocks noChangeArrowheads="1"/>
          </p:cNvSpPr>
          <p:nvPr/>
        </p:nvSpPr>
        <p:spPr bwMode="auto">
          <a:xfrm>
            <a:off x="5429592" y="4206888"/>
            <a:ext cx="2952328" cy="540000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dirty="0" smtClean="0">
                <a:solidFill>
                  <a:schemeClr val="accent2"/>
                </a:solidFill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</a:rPr>
              <a:t>4.</a:t>
            </a:r>
            <a:r>
              <a:rPr lang="zh-CN" altLang="zh-CN" sz="2000" dirty="0">
                <a:solidFill>
                  <a:schemeClr val="accent2"/>
                </a:solidFill>
              </a:rPr>
              <a:t>图表信息（构图元素）</a:t>
            </a:r>
            <a:endParaRPr kumimoji="0" lang="zh-CN" altLang="en-US" sz="2100" b="1" dirty="0">
              <a:solidFill>
                <a:schemeClr val="accent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标题 1"/>
          <p:cNvSpPr txBox="1"/>
          <p:nvPr/>
        </p:nvSpPr>
        <p:spPr bwMode="auto">
          <a:xfrm>
            <a:off x="5300464" y="3337904"/>
            <a:ext cx="6048672" cy="400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fontAlgn="ctr">
              <a:spcBef>
                <a:spcPct val="20000"/>
              </a:spcBef>
            </a:pPr>
            <a:r>
              <a:rPr lang="zh-CN" altLang="zh-CN" sz="2000" dirty="0">
                <a:latin typeface="+mn-lt"/>
                <a:ea typeface="+mn-ea"/>
                <a:cs typeface="+mn-cs"/>
              </a:rPr>
              <a:t>建立在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canvas</a:t>
            </a:r>
            <a:r>
              <a:rPr lang="zh-CN" altLang="zh-CN" sz="2000" dirty="0">
                <a:latin typeface="+mn-lt"/>
                <a:ea typeface="+mn-ea"/>
                <a:cs typeface="+mn-cs"/>
              </a:rPr>
              <a:t>之上，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fontAlgn="ctr">
              <a:spcBef>
                <a:spcPct val="20000"/>
              </a:spcBef>
            </a:pPr>
            <a:r>
              <a:rPr lang="zh-CN" altLang="zh-CN" sz="2000" dirty="0">
                <a:latin typeface="+mn-lt"/>
                <a:ea typeface="+mn-ea"/>
                <a:cs typeface="+mn-cs"/>
              </a:rPr>
              <a:t>从这一层就能开始设置其参数。</a:t>
            </a:r>
            <a:endParaRPr lang="zh-CN" altLang="zh-CN" sz="20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76852"/>
            <a:ext cx="7488832" cy="400128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4.1.1 Matplotlib</a:t>
            </a:r>
            <a:r>
              <a:rPr lang="zh-CN" altLang="zh-CN" b="1" dirty="0">
                <a:solidFill>
                  <a:schemeClr val="accent2"/>
                </a:solidFill>
              </a:rPr>
              <a:t>图像</a:t>
            </a:r>
            <a:r>
              <a:rPr lang="zh-CN" altLang="zh-CN" b="1" dirty="0" smtClean="0">
                <a:solidFill>
                  <a:schemeClr val="accent2"/>
                </a:solidFill>
              </a:rPr>
              <a:t>构成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为了方便快速绘图，</a:t>
            </a:r>
            <a:r>
              <a:rPr lang="en-US" altLang="zh-CN" dirty="0"/>
              <a:t>Matplotlib</a:t>
            </a:r>
            <a:r>
              <a:rPr lang="zh-CN" altLang="zh-CN" dirty="0"/>
              <a:t>通过</a:t>
            </a:r>
            <a:r>
              <a:rPr lang="en-US" altLang="zh-CN" dirty="0" err="1"/>
              <a:t>pyplot</a:t>
            </a:r>
            <a:r>
              <a:rPr lang="zh-CN" altLang="zh-CN" dirty="0"/>
              <a:t>模块提供了一套和</a:t>
            </a:r>
            <a:r>
              <a:rPr lang="en-US" altLang="zh-CN" dirty="0" err="1"/>
              <a:t>Matlab</a:t>
            </a:r>
            <a:r>
              <a:rPr lang="zh-CN" altLang="zh-CN" dirty="0"/>
              <a:t>类似的命令</a:t>
            </a:r>
            <a:r>
              <a:rPr lang="en-US" altLang="zh-CN" dirty="0"/>
              <a:t>API,</a:t>
            </a:r>
            <a:r>
              <a:rPr lang="zh-CN" altLang="zh-CN" dirty="0"/>
              <a:t>将众多绘图对象所构成的复杂结构隐藏在这套</a:t>
            </a:r>
            <a:r>
              <a:rPr lang="en-US" altLang="zh-CN" dirty="0"/>
              <a:t>API</a:t>
            </a:r>
            <a:r>
              <a:rPr lang="zh-CN" altLang="zh-CN" dirty="0"/>
              <a:t>内部，这些对象对应图形的一个个图形元素（如坐标轴、曲线、文字等），模块给每个对象分配函数，以此对该图形元素进行操作，而不影响其他部分。创建好画布后，只需调用</a:t>
            </a:r>
            <a:r>
              <a:rPr lang="en-US" altLang="zh-CN" dirty="0" err="1"/>
              <a:t>pyplot</a:t>
            </a:r>
            <a:r>
              <a:rPr lang="zh-CN" altLang="zh-CN" dirty="0"/>
              <a:t>模块所提供的函数，仅几行代码就可以实现添加、修改图形元素或在原有图形上绘制新图形。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476" y="107648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76852"/>
            <a:ext cx="7488832" cy="400128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4.1.2 Matplotlib</a:t>
            </a:r>
            <a:r>
              <a:rPr lang="zh-CN" altLang="zh-CN" b="1" dirty="0">
                <a:solidFill>
                  <a:schemeClr val="accent2"/>
                </a:solidFill>
              </a:rPr>
              <a:t>绘图基本流程</a:t>
            </a:r>
            <a:endParaRPr lang="zh-CN" altLang="zh-CN" dirty="0">
              <a:solidFill>
                <a:schemeClr val="accent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1476" y="107648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45314" y="2132856"/>
            <a:ext cx="7272808" cy="295232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254326" y="5110971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/>
              <a:t> </a:t>
            </a:r>
            <a:r>
              <a:rPr lang="zh-CN" altLang="zh-CN" dirty="0"/>
              <a:t>图</a:t>
            </a:r>
            <a:r>
              <a:rPr lang="en-US" altLang="zh-CN" dirty="0"/>
              <a:t>4-1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916432" y="836712"/>
            <a:ext cx="748883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zh-CN" dirty="0"/>
              <a:t>在</a:t>
            </a:r>
            <a:r>
              <a:rPr lang="en-US" altLang="zh-CN" dirty="0"/>
              <a:t>Anaconda</a:t>
            </a:r>
            <a:r>
              <a:rPr lang="zh-CN" altLang="zh-CN" dirty="0"/>
              <a:t>发行版中已经集成了</a:t>
            </a:r>
            <a:r>
              <a:rPr lang="en-US" altLang="zh-CN" dirty="0"/>
              <a:t>Matplotlib</a:t>
            </a:r>
            <a:r>
              <a:rPr lang="zh-CN" altLang="zh-CN" dirty="0"/>
              <a:t>库，直接导入</a:t>
            </a:r>
            <a:r>
              <a:rPr lang="en-US" altLang="zh-CN" dirty="0" err="1"/>
              <a:t>pyplot</a:t>
            </a:r>
            <a:r>
              <a:rPr lang="zh-CN" altLang="zh-CN" dirty="0"/>
              <a:t>模块就可以使用了。导入方法为：</a:t>
            </a:r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r>
              <a:rPr lang="zh-CN" altLang="zh-CN" dirty="0"/>
              <a:t>，如图</a:t>
            </a:r>
            <a:r>
              <a:rPr lang="en-US" altLang="zh-CN" dirty="0"/>
              <a:t>4-1</a:t>
            </a:r>
            <a:r>
              <a:rPr lang="zh-CN" altLang="zh-CN" dirty="0"/>
              <a:t>所示。</a:t>
            </a:r>
            <a:endParaRPr lang="en-US" altLang="zh-CN" dirty="0"/>
          </a:p>
        </p:txBody>
      </p:sp>
      <p:sp>
        <p:nvSpPr>
          <p:cNvPr id="10" name="标题 1"/>
          <p:cNvSpPr txBox="1"/>
          <p:nvPr/>
        </p:nvSpPr>
        <p:spPr bwMode="auto">
          <a:xfrm>
            <a:off x="829290" y="5589240"/>
            <a:ext cx="748883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zh-CN" dirty="0"/>
              <a:t>图</a:t>
            </a:r>
            <a:r>
              <a:rPr lang="en-US" altLang="zh-CN" dirty="0"/>
              <a:t>4-1</a:t>
            </a:r>
            <a:r>
              <a:rPr lang="zh-CN" altLang="zh-CN" dirty="0"/>
              <a:t>显示了在</a:t>
            </a:r>
            <a:r>
              <a:rPr lang="en-US" altLang="zh-CN" dirty="0"/>
              <a:t>temp.py</a:t>
            </a:r>
            <a:r>
              <a:rPr lang="zh-CN" altLang="zh-CN" dirty="0"/>
              <a:t>脚本文件中导入了</a:t>
            </a:r>
            <a:r>
              <a:rPr lang="en-US" altLang="zh-CN" dirty="0"/>
              <a:t>Matplotlib</a:t>
            </a:r>
            <a:r>
              <a:rPr lang="zh-CN" altLang="zh-CN" dirty="0"/>
              <a:t>包的</a:t>
            </a:r>
            <a:r>
              <a:rPr lang="en-US" altLang="zh-CN" dirty="0" err="1"/>
              <a:t>pyplot</a:t>
            </a:r>
            <a:r>
              <a:rPr lang="zh-CN" altLang="zh-CN" dirty="0"/>
              <a:t>模块，并简称为</a:t>
            </a:r>
            <a:r>
              <a:rPr lang="en-US" altLang="zh-CN" dirty="0" err="1"/>
              <a:t>plt</a:t>
            </a:r>
            <a:r>
              <a:rPr lang="zh-CN" altLang="zh-CN" dirty="0"/>
              <a:t>。导入</a:t>
            </a:r>
            <a:r>
              <a:rPr lang="en-US" altLang="zh-CN" dirty="0" err="1"/>
              <a:t>pyplot</a:t>
            </a:r>
            <a:r>
              <a:rPr lang="zh-CN" altLang="zh-CN" dirty="0"/>
              <a:t>模块后就可以绘图了，利用</a:t>
            </a:r>
            <a:r>
              <a:rPr lang="en-US" altLang="zh-CN" dirty="0" err="1"/>
              <a:t>pyplot</a:t>
            </a:r>
            <a:r>
              <a:rPr lang="zh-CN" altLang="zh-CN" dirty="0"/>
              <a:t>模块绘图的基本流程如图</a:t>
            </a:r>
            <a:r>
              <a:rPr lang="en-US" altLang="zh-CN" dirty="0"/>
              <a:t>4-2</a:t>
            </a:r>
            <a:r>
              <a:rPr lang="zh-CN" altLang="zh-CN" dirty="0"/>
              <a:t>所示。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76852"/>
            <a:ext cx="7488832" cy="400128"/>
          </a:xfrm>
        </p:spPr>
        <p:txBody>
          <a:bodyPr/>
          <a:lstStyle/>
          <a:p>
            <a:r>
              <a:rPr lang="en-US" altLang="zh-CN" b="1" dirty="0">
                <a:solidFill>
                  <a:schemeClr val="accent2"/>
                </a:solidFill>
              </a:rPr>
              <a:t>4.1.2 Matplotlib</a:t>
            </a:r>
            <a:r>
              <a:rPr lang="zh-CN" altLang="zh-CN" b="1" dirty="0">
                <a:solidFill>
                  <a:schemeClr val="accent2"/>
                </a:solidFill>
              </a:rPr>
              <a:t>绘图基本流程</a:t>
            </a:r>
            <a:endParaRPr lang="zh-CN" altLang="zh-CN" dirty="0">
              <a:solidFill>
                <a:schemeClr val="accent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476" y="107648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05" y="1628775"/>
            <a:ext cx="6939280" cy="3644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27984" y="5733927"/>
            <a:ext cx="118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图</a:t>
            </a:r>
            <a:r>
              <a:rPr lang="en-US" altLang="zh-CN" dirty="0"/>
              <a:t> 4‑2 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 </a:t>
            </a:r>
            <a:r>
              <a:rPr lang="en-US" altLang="zh-CN" dirty="0" err="1"/>
              <a:t>pyplot</a:t>
            </a:r>
            <a:r>
              <a:rPr lang="zh-CN" altLang="zh-CN" dirty="0"/>
              <a:t>基本绘图</a:t>
            </a:r>
            <a:r>
              <a:rPr lang="zh-CN" altLang="zh-CN" dirty="0" smtClean="0"/>
              <a:t>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首先</a:t>
            </a:r>
            <a:r>
              <a:rPr lang="zh-CN" altLang="zh-CN" dirty="0"/>
              <a:t>是创建画布与创建子图。第一部分主要是构建出一张空白的画布，如果需要同时展示几个图形，可将画布划分为多个部分。然后使用对象方法来完成其余的工作，示例代码如下：</a:t>
            </a:r>
            <a:endParaRPr lang="zh-CN" altLang="zh-CN" dirty="0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(1)               # </a:t>
            </a:r>
            <a:r>
              <a:rPr lang="zh-CN" altLang="zh-CN" dirty="0"/>
              <a:t>创建第一个画布</a:t>
            </a:r>
            <a:endParaRPr lang="zh-CN" altLang="zh-CN" dirty="0"/>
          </a:p>
          <a:p>
            <a:r>
              <a:rPr lang="en-US" altLang="zh-CN" dirty="0" err="1"/>
              <a:t>plt.subplot</a:t>
            </a:r>
            <a:r>
              <a:rPr lang="en-US" altLang="zh-CN" dirty="0"/>
              <a:t>(2, 1, 1)         # </a:t>
            </a:r>
            <a:r>
              <a:rPr lang="zh-CN" altLang="zh-CN" dirty="0"/>
              <a:t>画布划分为</a:t>
            </a:r>
            <a:r>
              <a:rPr lang="en-US" altLang="zh-CN" dirty="0"/>
              <a:t>2</a:t>
            </a:r>
            <a:r>
              <a:rPr lang="zh-CN" altLang="zh-CN" dirty="0"/>
              <a:t>×</a:t>
            </a:r>
            <a:r>
              <a:rPr lang="en-US" altLang="zh-CN" dirty="0"/>
              <a:t>1</a:t>
            </a:r>
            <a:r>
              <a:rPr lang="zh-CN" altLang="zh-CN" dirty="0"/>
              <a:t>图形阵，选择第</a:t>
            </a:r>
            <a:r>
              <a:rPr lang="en-US" altLang="zh-CN" dirty="0"/>
              <a:t>1</a:t>
            </a:r>
            <a:r>
              <a:rPr lang="zh-CN" altLang="zh-CN" dirty="0"/>
              <a:t>张图片</a:t>
            </a:r>
            <a:endParaRPr lang="zh-CN" altLang="zh-CN" dirty="0"/>
          </a:p>
          <a:p>
            <a:r>
              <a:rPr lang="zh-CN" altLang="zh-CN" dirty="0"/>
              <a:t>其次是添加画布内容。第二部分是绘图的主体部分。添加标题、坐标轴名称等步骤与绘制图形是并列的，没有先后顺序，可以先绘制图形，也可以先添加各类标签，但是添加图例一定要在绘制图形之后</a:t>
            </a:r>
            <a:r>
              <a:rPr lang="zh-CN" altLang="zh-CN" dirty="0" smtClean="0"/>
              <a:t>。</a:t>
            </a:r>
            <a:r>
              <a:rPr lang="zh-CN" altLang="zh-CN" dirty="0"/>
              <a:t> </a:t>
            </a:r>
            <a:r>
              <a:rPr lang="en-US" altLang="zh-CN" dirty="0" err="1"/>
              <a:t>pyplot</a:t>
            </a:r>
            <a:r>
              <a:rPr lang="zh-CN" altLang="zh-CN" dirty="0"/>
              <a:t>模块中添加各类标签和图例的函数如表</a:t>
            </a:r>
            <a:r>
              <a:rPr lang="en-US" altLang="zh-CN" dirty="0"/>
              <a:t>4-1</a:t>
            </a:r>
            <a:r>
              <a:rPr lang="zh-CN" altLang="zh-CN" dirty="0"/>
              <a:t>所示</a:t>
            </a:r>
            <a:r>
              <a:rPr lang="zh-CN" altLang="zh-CN" dirty="0" smtClean="0"/>
              <a:t>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9512" y="116632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1187624" y="76852"/>
            <a:ext cx="7488832" cy="400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smtClean="0">
                <a:solidFill>
                  <a:schemeClr val="accent2"/>
                </a:solidFill>
              </a:rPr>
              <a:t>4.1.2 Matplotlib</a:t>
            </a:r>
            <a:r>
              <a:rPr lang="zh-CN" altLang="zh-CN" b="1" smtClean="0">
                <a:solidFill>
                  <a:schemeClr val="accent2"/>
                </a:solidFill>
              </a:rPr>
              <a:t>绘图基本流程</a:t>
            </a:r>
            <a:endParaRPr lang="zh-CN" altLang="zh-CN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表</a:t>
            </a:r>
            <a:r>
              <a:rPr lang="en-US" altLang="zh-CN" dirty="0"/>
              <a:t> 4‑1 </a:t>
            </a:r>
            <a:r>
              <a:rPr lang="en-US" altLang="zh-CN" dirty="0" err="1"/>
              <a:t>pyplot</a:t>
            </a:r>
            <a:r>
              <a:rPr lang="zh-CN" altLang="zh-CN" dirty="0"/>
              <a:t>添加各类标签的常用函数</a:t>
            </a:r>
            <a:endParaRPr lang="zh-CN" altLang="zh-CN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559550" y="2060850"/>
          <a:ext cx="7376755" cy="3672405"/>
        </p:xfrm>
        <a:graphic>
          <a:graphicData uri="http://schemas.openxmlformats.org/drawingml/2006/table">
            <a:tbl>
              <a:tblPr firstRow="1" firstCol="1" bandRow="1"/>
              <a:tblGrid>
                <a:gridCol w="1238483"/>
                <a:gridCol w="6138272"/>
              </a:tblGrid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zh-CN" sz="105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函数名称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zh-CN" sz="105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函数作用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title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在当前图形中添加标题，可以指定标题的名称、位置、颜色、字体大小等参数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xlabel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在当前图形中添加</a:t>
                      </a: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轴名称，可以指定位置、颜色、字体大小等参数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ylabel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在当前图形中添加</a:t>
                      </a: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y</a:t>
                      </a: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轴名称，可以指定位置、颜色、字体大小等参数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xlim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指定当前图形</a:t>
                      </a: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轴的范围，只能确定一个数值区间，而无法使用字符串标识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ylim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指定当前图形</a:t>
                      </a: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y</a:t>
                      </a: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轴的范围，只能确定一个数值区间，而无法使用字符串标识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xticks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指定</a:t>
                      </a: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</a:t>
                      </a: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轴刻度的数目与取值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yticks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指定</a:t>
                      </a: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y</a:t>
                      </a:r>
                      <a:r>
                        <a:rPr lang="zh-CN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轴刻度的数目与取值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legend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指定当前图形的图例，可以指定图例的大小、位置、标签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79512" y="116632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1187624" y="76852"/>
            <a:ext cx="7488832" cy="400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 smtClean="0">
                <a:solidFill>
                  <a:schemeClr val="accent2"/>
                </a:solidFill>
              </a:rPr>
              <a:t>4.1.2 Matplotlib</a:t>
            </a:r>
            <a:r>
              <a:rPr lang="zh-CN" altLang="zh-CN" b="1" dirty="0" smtClean="0">
                <a:solidFill>
                  <a:schemeClr val="accent2"/>
                </a:solidFill>
              </a:rPr>
              <a:t>绘图基本流程</a:t>
            </a:r>
            <a:endParaRPr lang="zh-CN" altLang="zh-CN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997684" y="44626"/>
            <a:ext cx="713732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4.1.2 Matplotlib</a:t>
            </a:r>
            <a:r>
              <a:rPr lang="zh-CN" altLang="zh-CN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绘图基本</a:t>
            </a:r>
            <a:r>
              <a:rPr lang="zh-CN" altLang="zh-CN" sz="2400" b="1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流程</a:t>
            </a:r>
            <a:endParaRPr lang="zh-CN" altLang="zh-CN" sz="24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-42038" y="106181"/>
            <a:ext cx="797883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ea typeface="宋体" panose="02010600030101010101" pitchFamily="2" charset="-122"/>
              </a:rPr>
              <a:t>Part</a:t>
            </a:r>
            <a:r>
              <a:rPr lang="en-US" altLang="zh-CN" dirty="0" smtClean="0">
                <a:solidFill>
                  <a:srgbClr val="FFFFFF"/>
                </a:solidFill>
                <a:ea typeface="宋体" panose="02010600030101010101" pitchFamily="2" charset="-122"/>
              </a:rPr>
              <a:t>4</a:t>
            </a:r>
            <a:endParaRPr lang="zh-CN" altLang="en-US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6903" y="980728"/>
            <a:ext cx="37832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最后是图形保存与展示。绘制图形之后，</a:t>
            </a:r>
            <a:r>
              <a:rPr lang="zh-CN" altLang="zh-CN" dirty="0" smtClean="0"/>
              <a:t>可使用</a:t>
            </a:r>
            <a:r>
              <a:rPr lang="en-US" altLang="zh-CN" dirty="0" err="1"/>
              <a:t>matplotlib.pyplot.savefig</a:t>
            </a:r>
            <a:r>
              <a:rPr lang="en-US" altLang="zh-CN" dirty="0"/>
              <a:t>()</a:t>
            </a:r>
            <a:r>
              <a:rPr lang="zh-CN" altLang="zh-CN" dirty="0"/>
              <a:t>函数保存</a:t>
            </a:r>
            <a:r>
              <a:rPr lang="zh-CN" altLang="zh-CN" dirty="0" smtClean="0"/>
              <a:t>图片</a:t>
            </a:r>
            <a:r>
              <a:rPr lang="zh-CN" altLang="zh-CN" dirty="0"/>
              <a:t>到指定路径，使用</a:t>
            </a:r>
            <a:r>
              <a:rPr lang="en-US" altLang="zh-CN" dirty="0" err="1"/>
              <a:t>matplotlib.pyplot.show</a:t>
            </a:r>
            <a:r>
              <a:rPr lang="en-US" altLang="zh-CN" dirty="0"/>
              <a:t>()</a:t>
            </a:r>
            <a:r>
              <a:rPr lang="zh-CN" altLang="zh-CN" dirty="0"/>
              <a:t>函数展示图形。综合整体流程绘制函数“</a:t>
            </a:r>
            <a:r>
              <a:rPr lang="en-US" altLang="zh-CN" dirty="0"/>
              <a:t>y=x^2</a:t>
            </a:r>
            <a:r>
              <a:rPr lang="zh-CN" altLang="zh-CN" dirty="0"/>
              <a:t>”与“</a:t>
            </a:r>
            <a:r>
              <a:rPr lang="en-US" altLang="zh-CN" dirty="0"/>
              <a:t>y=x</a:t>
            </a:r>
            <a:r>
              <a:rPr lang="zh-CN" altLang="zh-CN" dirty="0" smtClean="0"/>
              <a:t>”</a:t>
            </a:r>
            <a:endParaRPr lang="zh-CN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4788024" y="980728"/>
            <a:ext cx="403244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图像示例代码如下：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(1)  # </a:t>
            </a:r>
            <a:r>
              <a:rPr lang="zh-CN" altLang="zh-CN" dirty="0"/>
              <a:t>创建画布</a:t>
            </a:r>
            <a:endParaRPr lang="zh-CN" altLang="zh-CN" dirty="0"/>
          </a:p>
          <a:p>
            <a:r>
              <a:rPr lang="en-US" altLang="zh-CN" dirty="0"/>
              <a:t>x = </a:t>
            </a:r>
            <a:r>
              <a:rPr lang="en-US" altLang="zh-CN" dirty="0" err="1"/>
              <a:t>np.linspace</a:t>
            </a:r>
            <a:r>
              <a:rPr lang="en-US" altLang="zh-CN" dirty="0"/>
              <a:t>(0, 1, 1000)</a:t>
            </a:r>
            <a:endParaRPr lang="zh-CN" altLang="zh-CN" dirty="0"/>
          </a:p>
          <a:p>
            <a:r>
              <a:rPr lang="en-US" altLang="zh-CN" dirty="0" err="1"/>
              <a:t>plt.subplot</a:t>
            </a:r>
            <a:r>
              <a:rPr lang="en-US" altLang="zh-CN" dirty="0"/>
              <a:t>(2, 1, 1)  # </a:t>
            </a:r>
            <a:r>
              <a:rPr lang="zh-CN" altLang="zh-CN" dirty="0"/>
              <a:t>分为</a:t>
            </a:r>
            <a:r>
              <a:rPr lang="en-US" altLang="zh-CN" dirty="0"/>
              <a:t>2</a:t>
            </a:r>
            <a:r>
              <a:rPr lang="zh-CN" altLang="zh-CN" dirty="0"/>
              <a:t>×</a:t>
            </a:r>
            <a:r>
              <a:rPr lang="en-US" altLang="zh-CN" dirty="0"/>
              <a:t>1</a:t>
            </a:r>
            <a:r>
              <a:rPr lang="zh-CN" altLang="zh-CN" dirty="0"/>
              <a:t>图形阵，选择第</a:t>
            </a:r>
            <a:r>
              <a:rPr lang="en-US" altLang="zh-CN" dirty="0"/>
              <a:t>1</a:t>
            </a:r>
            <a:r>
              <a:rPr lang="zh-CN" altLang="zh-CN" dirty="0"/>
              <a:t>张图片绘图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('y=x^2 &amp; y=x')  # </a:t>
            </a:r>
            <a:r>
              <a:rPr lang="zh-CN" altLang="zh-CN" dirty="0"/>
              <a:t>添加标题</a:t>
            </a:r>
            <a:endParaRPr lang="zh-CN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('x')  # </a:t>
            </a:r>
            <a:r>
              <a:rPr lang="zh-CN" altLang="zh-CN" dirty="0"/>
              <a:t>添加</a:t>
            </a:r>
            <a:r>
              <a:rPr lang="en-US" altLang="zh-CN" dirty="0"/>
              <a:t>x</a:t>
            </a:r>
            <a:r>
              <a:rPr lang="zh-CN" altLang="zh-CN" dirty="0"/>
              <a:t>轴名称‘</a:t>
            </a:r>
            <a:r>
              <a:rPr lang="en-US" altLang="zh-CN" dirty="0"/>
              <a:t>x</a:t>
            </a:r>
            <a:r>
              <a:rPr lang="zh-CN" altLang="zh-CN" dirty="0"/>
              <a:t>’</a:t>
            </a:r>
            <a:endParaRPr lang="zh-CN" altLang="zh-CN" dirty="0"/>
          </a:p>
          <a:p>
            <a:r>
              <a:rPr lang="en-US" altLang="zh-CN" dirty="0" err="1"/>
              <a:t>plt.ylabel</a:t>
            </a:r>
            <a:r>
              <a:rPr lang="en-US" altLang="zh-CN" dirty="0"/>
              <a:t>('y')  # </a:t>
            </a:r>
            <a:r>
              <a:rPr lang="zh-CN" altLang="zh-CN" dirty="0"/>
              <a:t>添加</a:t>
            </a:r>
            <a:r>
              <a:rPr lang="en-US" altLang="zh-CN" dirty="0"/>
              <a:t>y</a:t>
            </a:r>
            <a:r>
              <a:rPr lang="zh-CN" altLang="zh-CN" dirty="0"/>
              <a:t>轴名称‘</a:t>
            </a:r>
            <a:r>
              <a:rPr lang="en-US" altLang="zh-CN" dirty="0"/>
              <a:t>y</a:t>
            </a:r>
            <a:r>
              <a:rPr lang="zh-CN" altLang="zh-CN" dirty="0"/>
              <a:t>’</a:t>
            </a:r>
            <a:endParaRPr lang="zh-CN" altLang="zh-CN" dirty="0"/>
          </a:p>
          <a:p>
            <a:r>
              <a:rPr lang="en-US" altLang="zh-CN" dirty="0" err="1"/>
              <a:t>plt.xlim</a:t>
            </a:r>
            <a:r>
              <a:rPr lang="en-US" altLang="zh-CN" dirty="0"/>
              <a:t>((0, 1))  # </a:t>
            </a:r>
            <a:r>
              <a:rPr lang="zh-CN" altLang="zh-CN" dirty="0"/>
              <a:t>指定</a:t>
            </a:r>
            <a:r>
              <a:rPr lang="en-US" altLang="zh-CN" dirty="0"/>
              <a:t>x</a:t>
            </a:r>
            <a:r>
              <a:rPr lang="zh-CN" altLang="zh-CN" dirty="0"/>
              <a:t>轴范围（</a:t>
            </a:r>
            <a:r>
              <a:rPr lang="en-US" altLang="zh-CN" dirty="0"/>
              <a:t>0,1</a:t>
            </a:r>
            <a:r>
              <a:rPr lang="zh-CN" altLang="zh-CN" dirty="0"/>
              <a:t>）</a:t>
            </a:r>
            <a:endParaRPr lang="zh-CN" altLang="zh-CN" dirty="0"/>
          </a:p>
          <a:p>
            <a:r>
              <a:rPr lang="en-US" altLang="zh-CN" dirty="0" err="1"/>
              <a:t>plt.ylim</a:t>
            </a:r>
            <a:r>
              <a:rPr lang="en-US" altLang="zh-CN" dirty="0"/>
              <a:t>((0, 1))  # </a:t>
            </a:r>
            <a:r>
              <a:rPr lang="zh-CN" altLang="zh-CN" dirty="0"/>
              <a:t>指定</a:t>
            </a:r>
            <a:r>
              <a:rPr lang="en-US" altLang="zh-CN" dirty="0"/>
              <a:t>y</a:t>
            </a:r>
            <a:r>
              <a:rPr lang="zh-CN" altLang="zh-CN" dirty="0"/>
              <a:t>轴范围（</a:t>
            </a:r>
            <a:r>
              <a:rPr lang="en-US" altLang="zh-CN" dirty="0"/>
              <a:t>0,1</a:t>
            </a:r>
            <a:r>
              <a:rPr lang="zh-CN" altLang="zh-CN" dirty="0"/>
              <a:t>）</a:t>
            </a:r>
            <a:endParaRPr lang="zh-CN" altLang="zh-CN" dirty="0"/>
          </a:p>
          <a:p>
            <a:r>
              <a:rPr lang="en-US" altLang="zh-CN" dirty="0" err="1"/>
              <a:t>plt.xticks</a:t>
            </a:r>
            <a:r>
              <a:rPr lang="en-US" altLang="zh-CN" dirty="0"/>
              <a:t>([0, 0.3, 0.6, 1])  # </a:t>
            </a:r>
            <a:r>
              <a:rPr lang="zh-CN" altLang="zh-CN" dirty="0"/>
              <a:t>设置</a:t>
            </a:r>
            <a:r>
              <a:rPr lang="en-US" altLang="zh-CN" dirty="0"/>
              <a:t>x</a:t>
            </a:r>
            <a:r>
              <a:rPr lang="zh-CN" altLang="zh-CN" dirty="0"/>
              <a:t>轴刻度</a:t>
            </a:r>
            <a:endParaRPr lang="zh-CN" altLang="zh-CN" dirty="0"/>
          </a:p>
          <a:p>
            <a:r>
              <a:rPr lang="en-US" altLang="zh-CN" dirty="0" err="1"/>
              <a:t>plt.yticks</a:t>
            </a:r>
            <a:r>
              <a:rPr lang="en-US" altLang="zh-CN" dirty="0"/>
              <a:t>([0, 0.5, 1])  # </a:t>
            </a:r>
            <a:r>
              <a:rPr lang="zh-CN" altLang="zh-CN" dirty="0"/>
              <a:t>设置</a:t>
            </a:r>
            <a:r>
              <a:rPr lang="en-US" altLang="zh-CN" dirty="0"/>
              <a:t>y</a:t>
            </a:r>
            <a:r>
              <a:rPr lang="zh-CN" altLang="zh-CN" dirty="0"/>
              <a:t>轴刻度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 x ** 2)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 x)</a:t>
            </a:r>
            <a:endParaRPr lang="zh-CN" altLang="zh-CN" dirty="0"/>
          </a:p>
          <a:p>
            <a:r>
              <a:rPr lang="en-US" altLang="zh-CN" dirty="0" err="1"/>
              <a:t>plt.legend</a:t>
            </a:r>
            <a:r>
              <a:rPr lang="en-US" altLang="zh-CN" dirty="0"/>
              <a:t>(['y=x^2', 'y=x'])  # </a:t>
            </a:r>
            <a:r>
              <a:rPr lang="zh-CN" altLang="zh-CN" dirty="0"/>
              <a:t>添加图例</a:t>
            </a:r>
            <a:endParaRPr lang="zh-CN" altLang="zh-CN" dirty="0"/>
          </a:p>
          <a:p>
            <a:r>
              <a:rPr lang="en-US" altLang="zh-CN" dirty="0" err="1"/>
              <a:t>plt.savefig</a:t>
            </a:r>
            <a:r>
              <a:rPr lang="en-US" altLang="zh-CN" dirty="0"/>
              <a:t>('1.png')  # </a:t>
            </a:r>
            <a:r>
              <a:rPr lang="zh-CN" altLang="zh-CN" dirty="0"/>
              <a:t>保存图片</a:t>
            </a:r>
            <a:endParaRPr lang="zh-CN" altLang="zh-CN" dirty="0"/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  <a:endParaRPr lang="zh-CN" altLang="zh-CN" dirty="0"/>
          </a:p>
          <a:p>
            <a:r>
              <a:rPr lang="zh-CN" altLang="zh-CN" dirty="0" smtClean="0"/>
              <a:t>执行结果如图</a:t>
            </a:r>
            <a:r>
              <a:rPr lang="en-US" altLang="zh-CN" dirty="0" smtClean="0"/>
              <a:t>4-3</a:t>
            </a:r>
            <a:r>
              <a:rPr lang="zh-CN" altLang="zh-CN" dirty="0" smtClean="0"/>
              <a:t>所示。</a:t>
            </a:r>
            <a:endParaRPr lang="zh-CN" altLang="zh-CN" dirty="0" smtClean="0"/>
          </a:p>
          <a:p>
            <a:endParaRPr lang="zh-CN" altLang="zh-CN" dirty="0"/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396216" y="3429000"/>
            <a:ext cx="3704590" cy="202322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07704" y="5949280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 图</a:t>
            </a:r>
            <a:r>
              <a:rPr lang="en-US" altLang="zh-CN" dirty="0"/>
              <a:t>4-3  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977" y="908050"/>
            <a:ext cx="7947907" cy="1656853"/>
          </a:xfrm>
        </p:spPr>
        <p:txBody>
          <a:bodyPr/>
          <a:lstStyle/>
          <a:p>
            <a:r>
              <a:rPr lang="zh-CN" altLang="zh-CN" dirty="0"/>
              <a:t>值得注意的是默认的</a:t>
            </a:r>
            <a:r>
              <a:rPr lang="en-US" altLang="zh-CN" dirty="0" err="1"/>
              <a:t>pyplot</a:t>
            </a:r>
            <a:r>
              <a:rPr lang="zh-CN" altLang="zh-CN" dirty="0"/>
              <a:t>字体并不支持中文字符的显示，因此需要通过修改</a:t>
            </a:r>
            <a:r>
              <a:rPr lang="en-US" altLang="zh-CN" dirty="0" err="1"/>
              <a:t>font.sans</a:t>
            </a:r>
            <a:r>
              <a:rPr lang="en-US" altLang="zh-CN" dirty="0"/>
              <a:t>-serif</a:t>
            </a:r>
            <a:r>
              <a:rPr lang="zh-CN" altLang="zh-CN" dirty="0"/>
              <a:t>参数来修改绘图时的字体，使得图形可以正常显示中文。同时，由于修改字体后，会导致坐标轴中负号“</a:t>
            </a:r>
            <a:r>
              <a:rPr lang="en-US" altLang="zh-CN" dirty="0"/>
              <a:t>-</a:t>
            </a:r>
            <a:r>
              <a:rPr lang="zh-CN" altLang="zh-CN" dirty="0"/>
              <a:t>”无法正常显示，因此需要同时修改</a:t>
            </a:r>
            <a:r>
              <a:rPr lang="en-US" altLang="zh-CN" dirty="0" err="1"/>
              <a:t>axes.unicode_minus</a:t>
            </a:r>
            <a:r>
              <a:rPr lang="zh-CN" altLang="zh-CN" dirty="0"/>
              <a:t>参数。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977" y="2852936"/>
            <a:ext cx="4169047" cy="3273229"/>
          </a:xfrm>
        </p:spPr>
        <p:txBody>
          <a:bodyPr/>
          <a:lstStyle/>
          <a:p>
            <a:r>
              <a:rPr lang="zh-CN" altLang="zh-CN" dirty="0"/>
              <a:t>示例代码如下：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zh-CN" altLang="zh-CN" dirty="0"/>
          </a:p>
          <a:p>
            <a:r>
              <a:rPr lang="en-US" altLang="zh-CN" dirty="0"/>
              <a:t>x = </a:t>
            </a:r>
            <a:r>
              <a:rPr lang="en-US" altLang="zh-CN" dirty="0" err="1"/>
              <a:t>np.arange</a:t>
            </a:r>
            <a:r>
              <a:rPr lang="en-US" altLang="zh-CN" dirty="0"/>
              <a:t>(0, 10, 0.2)</a:t>
            </a:r>
            <a:endParaRPr lang="zh-CN" altLang="zh-CN" dirty="0"/>
          </a:p>
          <a:p>
            <a:r>
              <a:rPr lang="en-US" altLang="zh-CN" dirty="0"/>
              <a:t>y = </a:t>
            </a:r>
            <a:r>
              <a:rPr lang="en-US" altLang="zh-CN" dirty="0" err="1"/>
              <a:t>np.sin</a:t>
            </a:r>
            <a:r>
              <a:rPr lang="en-US" altLang="zh-CN" dirty="0"/>
              <a:t>(x)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('sin</a:t>
            </a:r>
            <a:r>
              <a:rPr lang="zh-CN" altLang="zh-CN" dirty="0"/>
              <a:t>曲线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 y)</a:t>
            </a:r>
            <a:endParaRPr lang="zh-CN" altLang="zh-CN" dirty="0"/>
          </a:p>
          <a:p>
            <a:r>
              <a:rPr lang="en-US" altLang="zh-CN" dirty="0" err="1"/>
              <a:t>plt.savefig</a:t>
            </a:r>
            <a:r>
              <a:rPr lang="en-US" altLang="zh-CN" dirty="0"/>
              <a:t>('2.png')</a:t>
            </a:r>
            <a:endParaRPr lang="zh-CN" altLang="zh-CN" dirty="0"/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9512" y="116632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1187624" y="76852"/>
            <a:ext cx="7488832" cy="400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>
                <a:solidFill>
                  <a:schemeClr val="accent2"/>
                </a:solidFill>
              </a:rPr>
              <a:t>4.1.3 </a:t>
            </a:r>
            <a:r>
              <a:rPr lang="zh-CN" altLang="zh-CN" b="1" dirty="0">
                <a:solidFill>
                  <a:schemeClr val="accent2"/>
                </a:solidFill>
              </a:rPr>
              <a:t>中文字符显示</a:t>
            </a:r>
            <a:endParaRPr lang="zh-CN" altLang="zh-CN" dirty="0">
              <a:solidFill>
                <a:schemeClr val="accent2"/>
              </a:solidFill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5076056" y="3645024"/>
            <a:ext cx="3276600" cy="1930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8104" y="2852936"/>
            <a:ext cx="328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执行结果如图</a:t>
            </a:r>
            <a:r>
              <a:rPr lang="en-US" altLang="zh-CN" dirty="0"/>
              <a:t>4-4</a:t>
            </a:r>
            <a:r>
              <a:rPr lang="zh-CN" altLang="zh-CN" dirty="0"/>
              <a:t>所示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8" name="矩形 7"/>
          <p:cNvSpPr/>
          <p:nvPr/>
        </p:nvSpPr>
        <p:spPr>
          <a:xfrm>
            <a:off x="6577018" y="6021288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图</a:t>
            </a:r>
            <a:r>
              <a:rPr lang="en-US" altLang="zh-CN" dirty="0"/>
              <a:t>4-4 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8977" y="908050"/>
            <a:ext cx="7947907" cy="1656853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har char="•"/>
            </a:pPr>
            <a:r>
              <a:rPr lang="zh-CN" altLang="zh-CN" sz="2000" dirty="0">
                <a:latin typeface="+mn-lt"/>
                <a:ea typeface="+mn-ea"/>
                <a:cs typeface="+mn-cs"/>
              </a:rPr>
              <a:t>从图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4-4</a:t>
            </a:r>
            <a:r>
              <a:rPr lang="zh-CN" altLang="zh-CN" sz="2000" dirty="0">
                <a:latin typeface="+mn-lt"/>
                <a:ea typeface="+mn-ea"/>
                <a:cs typeface="+mn-cs"/>
              </a:rPr>
              <a:t>可以看出，中文字符没有能显示出来。同时应该注意到在示例代码中，并没有创建画布的命令，实际上只要调用了绘图命令系统就会默认创建一个画布，并在该画布上绘图。为了显示中文字符可以对示例代码修改如下：</a:t>
            </a:r>
            <a:endParaRPr lang="zh-CN" altLang="zh-CN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3" y="2636912"/>
            <a:ext cx="4608512" cy="4392488"/>
          </a:xfrm>
        </p:spPr>
        <p:txBody>
          <a:bodyPr/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zh-CN" altLang="zh-CN" dirty="0"/>
          </a:p>
          <a:p>
            <a:r>
              <a:rPr lang="en-US" altLang="zh-CN" dirty="0"/>
              <a:t>x = </a:t>
            </a:r>
            <a:r>
              <a:rPr lang="en-US" altLang="zh-CN" dirty="0" err="1"/>
              <a:t>np.arange</a:t>
            </a:r>
            <a:r>
              <a:rPr lang="en-US" altLang="zh-CN" dirty="0"/>
              <a:t>(0, 10, 0.2)</a:t>
            </a:r>
            <a:endParaRPr lang="zh-CN" altLang="zh-CN" dirty="0"/>
          </a:p>
          <a:p>
            <a:r>
              <a:rPr lang="en-US" altLang="zh-CN" dirty="0"/>
              <a:t>y = </a:t>
            </a:r>
            <a:r>
              <a:rPr lang="en-US" altLang="zh-CN" dirty="0" err="1"/>
              <a:t>np.sin</a:t>
            </a:r>
            <a:r>
              <a:rPr lang="en-US" altLang="zh-CN" dirty="0"/>
              <a:t>(x)</a:t>
            </a:r>
            <a:endParaRPr lang="zh-CN" altLang="zh-CN" dirty="0"/>
          </a:p>
          <a:p>
            <a:r>
              <a:rPr lang="en-US" altLang="zh-CN" dirty="0" err="1"/>
              <a:t>plt.rcParams</a:t>
            </a:r>
            <a:r>
              <a:rPr lang="en-US" altLang="zh-CN" dirty="0"/>
              <a:t>['</a:t>
            </a:r>
            <a:r>
              <a:rPr lang="en-US" altLang="zh-CN" dirty="0" err="1"/>
              <a:t>font.sans</a:t>
            </a:r>
            <a:r>
              <a:rPr lang="en-US" altLang="zh-CN" dirty="0"/>
              <a:t>-serif'] = '</a:t>
            </a:r>
            <a:r>
              <a:rPr lang="en-US" altLang="zh-CN" dirty="0" err="1"/>
              <a:t>SimHei</a:t>
            </a:r>
            <a:r>
              <a:rPr lang="en-US" altLang="zh-CN" dirty="0"/>
              <a:t>'  # </a:t>
            </a:r>
            <a:r>
              <a:rPr lang="zh-CN" altLang="zh-CN" dirty="0"/>
              <a:t>设置字体为</a:t>
            </a:r>
            <a:r>
              <a:rPr lang="en-US" altLang="zh-CN" dirty="0" err="1"/>
              <a:t>SimHei</a:t>
            </a:r>
            <a:endParaRPr lang="zh-CN" altLang="zh-CN" dirty="0"/>
          </a:p>
          <a:p>
            <a:r>
              <a:rPr lang="en-US" altLang="zh-CN" dirty="0" err="1"/>
              <a:t>plt.rcParams</a:t>
            </a:r>
            <a:r>
              <a:rPr lang="en-US" altLang="zh-CN" dirty="0"/>
              <a:t>['</a:t>
            </a:r>
            <a:r>
              <a:rPr lang="en-US" altLang="zh-CN" dirty="0" err="1"/>
              <a:t>axes.unicode_minus</a:t>
            </a:r>
            <a:r>
              <a:rPr lang="en-US" altLang="zh-CN" dirty="0"/>
              <a:t>'] = False  # </a:t>
            </a:r>
            <a:r>
              <a:rPr lang="zh-CN" altLang="zh-CN" dirty="0"/>
              <a:t>解决负号“</a:t>
            </a:r>
            <a:r>
              <a:rPr lang="en-US" altLang="zh-CN" dirty="0"/>
              <a:t>-</a:t>
            </a:r>
            <a:r>
              <a:rPr lang="zh-CN" altLang="zh-CN" dirty="0"/>
              <a:t>”显示异常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('sin</a:t>
            </a:r>
            <a:r>
              <a:rPr lang="zh-CN" altLang="zh-CN" dirty="0"/>
              <a:t>曲线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 y)</a:t>
            </a:r>
            <a:endParaRPr lang="zh-CN" altLang="zh-CN" dirty="0"/>
          </a:p>
          <a:p>
            <a:r>
              <a:rPr lang="en-US" altLang="zh-CN" dirty="0" err="1"/>
              <a:t>plt.savefig</a:t>
            </a:r>
            <a:r>
              <a:rPr lang="en-US" altLang="zh-CN" dirty="0"/>
              <a:t>('2.png')</a:t>
            </a:r>
            <a:endParaRPr lang="zh-CN" altLang="zh-CN" dirty="0"/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9512" y="116632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2"/>
                </a:solidFill>
              </a:rPr>
              <a:t>Part 4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1187624" y="76852"/>
            <a:ext cx="7488832" cy="400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>
                <a:solidFill>
                  <a:schemeClr val="accent2"/>
                </a:solidFill>
              </a:rPr>
              <a:t>4.1.3 </a:t>
            </a:r>
            <a:r>
              <a:rPr lang="zh-CN" altLang="zh-CN" b="1" dirty="0">
                <a:solidFill>
                  <a:schemeClr val="accent2"/>
                </a:solidFill>
              </a:rPr>
              <a:t>中文字符显示</a:t>
            </a:r>
            <a:endParaRPr lang="zh-CN" altLang="zh-CN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08104" y="2852936"/>
            <a:ext cx="328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修改后的程序代码执行结果如图</a:t>
            </a:r>
            <a:r>
              <a:rPr lang="en-US" altLang="zh-CN" dirty="0"/>
              <a:t>4-5</a:t>
            </a:r>
            <a:r>
              <a:rPr lang="zh-CN" altLang="zh-CN" dirty="0"/>
              <a:t>所示。</a:t>
            </a:r>
            <a:endParaRPr lang="zh-CN" altLang="zh-CN" dirty="0"/>
          </a:p>
        </p:txBody>
      </p:sp>
      <p:sp>
        <p:nvSpPr>
          <p:cNvPr id="8" name="矩形 7"/>
          <p:cNvSpPr/>
          <p:nvPr/>
        </p:nvSpPr>
        <p:spPr>
          <a:xfrm>
            <a:off x="6577018" y="6021288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图</a:t>
            </a:r>
            <a:r>
              <a:rPr lang="en-US" altLang="zh-CN" dirty="0" smtClean="0"/>
              <a:t>4-5 </a:t>
            </a:r>
            <a:endParaRPr lang="zh-CN" altLang="zh-CN" dirty="0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5405562" y="3499267"/>
            <a:ext cx="3495040" cy="2384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997684" y="44626"/>
            <a:ext cx="713732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400" b="1" dirty="0">
                <a:solidFill>
                  <a:schemeClr val="accent2"/>
                </a:solidFill>
              </a:rPr>
              <a:t>4.1.4 </a:t>
            </a:r>
            <a:r>
              <a:rPr lang="zh-CN" altLang="zh-CN" sz="2400" b="1" dirty="0">
                <a:solidFill>
                  <a:schemeClr val="accent2"/>
                </a:solidFill>
              </a:rPr>
              <a:t>坐标轴字符刻度标注</a:t>
            </a:r>
            <a:endParaRPr lang="zh-CN" altLang="zh-CN" sz="24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-42038" y="106181"/>
            <a:ext cx="797883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ea typeface="宋体" panose="02010600030101010101" pitchFamily="2" charset="-122"/>
              </a:rPr>
              <a:t>Part</a:t>
            </a:r>
            <a:r>
              <a:rPr lang="en-US" altLang="zh-CN" dirty="0" smtClean="0">
                <a:solidFill>
                  <a:srgbClr val="FFFFFF"/>
                </a:solidFill>
                <a:ea typeface="宋体" panose="02010600030101010101" pitchFamily="2" charset="-122"/>
              </a:rPr>
              <a:t>4</a:t>
            </a:r>
            <a:endParaRPr lang="zh-CN" altLang="en-US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6903" y="980728"/>
            <a:ext cx="37832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绘图过程中还有一个关键的问题就是坐标轴的字符刻度表示问题，比如绘制</a:t>
            </a:r>
            <a:r>
              <a:rPr lang="en-US" altLang="zh-CN" dirty="0"/>
              <a:t>2018</a:t>
            </a:r>
            <a:r>
              <a:rPr lang="zh-CN" altLang="zh-CN" dirty="0"/>
              <a:t>年</a:t>
            </a:r>
            <a:r>
              <a:rPr lang="en-US" altLang="zh-CN" dirty="0"/>
              <a:t>-2019</a:t>
            </a:r>
            <a:r>
              <a:rPr lang="zh-CN" altLang="zh-CN" dirty="0"/>
              <a:t>年某产品各个季度的销售额走势图，两年各季度的销售数据依次为：</a:t>
            </a:r>
            <a:r>
              <a:rPr lang="en-US" altLang="zh-CN" dirty="0"/>
              <a:t>100</a:t>
            </a:r>
            <a:r>
              <a:rPr lang="zh-CN" altLang="zh-CN" dirty="0"/>
              <a:t>、</a:t>
            </a:r>
            <a:r>
              <a:rPr lang="en-US" altLang="zh-CN" dirty="0"/>
              <a:t>104</a:t>
            </a:r>
            <a:r>
              <a:rPr lang="zh-CN" altLang="zh-CN" dirty="0"/>
              <a:t>、</a:t>
            </a:r>
            <a:r>
              <a:rPr lang="en-US" altLang="zh-CN" dirty="0"/>
              <a:t>106</a:t>
            </a:r>
            <a:r>
              <a:rPr lang="zh-CN" altLang="zh-CN" dirty="0"/>
              <a:t>、</a:t>
            </a:r>
            <a:r>
              <a:rPr lang="en-US" altLang="zh-CN" dirty="0"/>
              <a:t>95</a:t>
            </a:r>
            <a:r>
              <a:rPr lang="zh-CN" altLang="zh-CN" dirty="0"/>
              <a:t>、</a:t>
            </a:r>
            <a:r>
              <a:rPr lang="en-US" altLang="zh-CN" dirty="0"/>
              <a:t>103</a:t>
            </a:r>
            <a:r>
              <a:rPr lang="zh-CN" altLang="zh-CN" dirty="0"/>
              <a:t>、</a:t>
            </a:r>
            <a:r>
              <a:rPr lang="en-US" altLang="zh-CN" dirty="0"/>
              <a:t>105</a:t>
            </a:r>
            <a:r>
              <a:rPr lang="zh-CN" altLang="zh-CN" dirty="0"/>
              <a:t>、</a:t>
            </a:r>
            <a:r>
              <a:rPr lang="en-US" altLang="zh-CN" dirty="0"/>
              <a:t>115</a:t>
            </a:r>
            <a:r>
              <a:rPr lang="zh-CN" altLang="zh-CN" dirty="0"/>
              <a:t>、</a:t>
            </a:r>
            <a:r>
              <a:rPr lang="en-US" altLang="zh-CN" dirty="0"/>
              <a:t>100</a:t>
            </a:r>
            <a:r>
              <a:rPr lang="zh-CN" altLang="zh-CN" dirty="0"/>
              <a:t>（单位：万元）。一般的绘图代码如下：</a:t>
            </a:r>
            <a:endParaRPr lang="zh-CN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4788024" y="980728"/>
            <a:ext cx="4032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zh-CN" altLang="zh-CN" dirty="0"/>
          </a:p>
          <a:p>
            <a:r>
              <a:rPr lang="en-US" altLang="zh-CN" dirty="0"/>
              <a:t>x = </a:t>
            </a:r>
            <a:r>
              <a:rPr lang="en-US" altLang="zh-CN" dirty="0" err="1"/>
              <a:t>np.array</a:t>
            </a:r>
            <a:r>
              <a:rPr lang="en-US" altLang="zh-CN" dirty="0"/>
              <a:t>([1,2,3,4,5,6,7,8])                #</a:t>
            </a:r>
            <a:r>
              <a:rPr lang="zh-CN" altLang="zh-CN" dirty="0"/>
              <a:t>季度标号</a:t>
            </a:r>
            <a:endParaRPr lang="zh-CN" altLang="zh-CN" dirty="0"/>
          </a:p>
          <a:p>
            <a:r>
              <a:rPr lang="en-US" altLang="zh-CN" dirty="0"/>
              <a:t>y = </a:t>
            </a:r>
            <a:r>
              <a:rPr lang="en-US" altLang="zh-CN" dirty="0" err="1"/>
              <a:t>np.array</a:t>
            </a:r>
            <a:r>
              <a:rPr lang="en-US" altLang="zh-CN" dirty="0"/>
              <a:t>([100,104,106,95,103,105,115,100]) #</a:t>
            </a:r>
            <a:r>
              <a:rPr lang="zh-CN" altLang="zh-CN" dirty="0"/>
              <a:t>销售额</a:t>
            </a:r>
            <a:endParaRPr lang="zh-CN" altLang="zh-CN" dirty="0"/>
          </a:p>
          <a:p>
            <a:r>
              <a:rPr lang="en-US" altLang="zh-CN" dirty="0" err="1"/>
              <a:t>plt.rcParams</a:t>
            </a:r>
            <a:r>
              <a:rPr lang="en-US" altLang="zh-CN" dirty="0"/>
              <a:t>['</a:t>
            </a:r>
            <a:r>
              <a:rPr lang="en-US" altLang="zh-CN" dirty="0" err="1"/>
              <a:t>font.sans</a:t>
            </a:r>
            <a:r>
              <a:rPr lang="en-US" altLang="zh-CN" dirty="0"/>
              <a:t>-serif'] = '</a:t>
            </a:r>
            <a:r>
              <a:rPr lang="en-US" altLang="zh-CN" dirty="0" err="1"/>
              <a:t>SimHei</a:t>
            </a:r>
            <a:r>
              <a:rPr lang="en-US" altLang="zh-CN" dirty="0"/>
              <a:t>'     # </a:t>
            </a:r>
            <a:r>
              <a:rPr lang="zh-CN" altLang="zh-CN" dirty="0"/>
              <a:t>设置字体为</a:t>
            </a:r>
            <a:r>
              <a:rPr lang="en-US" altLang="zh-CN" dirty="0" err="1"/>
              <a:t>SimHei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</a:t>
            </a:r>
            <a:r>
              <a:rPr lang="zh-CN" altLang="zh-CN" dirty="0"/>
              <a:t>某产品</a:t>
            </a:r>
            <a:r>
              <a:rPr lang="en-US" altLang="zh-CN" dirty="0"/>
              <a:t>2018-2019</a:t>
            </a:r>
            <a:r>
              <a:rPr lang="zh-CN" altLang="zh-CN" dirty="0"/>
              <a:t>各季度销售额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 y)</a:t>
            </a:r>
            <a:endParaRPr lang="zh-CN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('</a:t>
            </a:r>
            <a:r>
              <a:rPr lang="zh-CN" altLang="zh-CN" dirty="0"/>
              <a:t>季度标号</a:t>
            </a:r>
            <a:r>
              <a:rPr lang="en-US" altLang="zh-CN" dirty="0"/>
              <a:t>')  </a:t>
            </a:r>
            <a:endParaRPr lang="zh-CN" altLang="zh-CN" dirty="0"/>
          </a:p>
          <a:p>
            <a:r>
              <a:rPr lang="en-US" altLang="zh-CN" dirty="0" err="1"/>
              <a:t>plt.ylabel</a:t>
            </a:r>
            <a:r>
              <a:rPr lang="en-US" altLang="zh-CN" dirty="0"/>
              <a:t>('</a:t>
            </a:r>
            <a:r>
              <a:rPr lang="zh-CN" altLang="zh-CN" dirty="0"/>
              <a:t>销售额（万元）</a:t>
            </a:r>
            <a:r>
              <a:rPr lang="en-US" altLang="zh-CN" dirty="0"/>
              <a:t>')  </a:t>
            </a:r>
            <a:endParaRPr lang="zh-CN" altLang="zh-CN" dirty="0"/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  <a:endParaRPr lang="zh-CN" altLang="zh-CN" dirty="0"/>
          </a:p>
          <a:p>
            <a:r>
              <a:rPr lang="zh-CN" altLang="zh-CN" dirty="0"/>
              <a:t>执行结果如图</a:t>
            </a:r>
            <a:r>
              <a:rPr lang="en-US" altLang="zh-CN" dirty="0"/>
              <a:t>4-6</a:t>
            </a:r>
            <a:r>
              <a:rPr lang="zh-CN" altLang="zh-CN" dirty="0"/>
              <a:t>所示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5" name="矩形 4"/>
          <p:cNvSpPr/>
          <p:nvPr/>
        </p:nvSpPr>
        <p:spPr>
          <a:xfrm>
            <a:off x="1907704" y="5949280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294A5A"/>
                </a:solidFill>
              </a:rPr>
              <a:t> 图</a:t>
            </a:r>
            <a:r>
              <a:rPr lang="en-US" altLang="zh-CN" dirty="0" smtClean="0">
                <a:solidFill>
                  <a:srgbClr val="294A5A"/>
                </a:solidFill>
              </a:rPr>
              <a:t>4-6</a:t>
            </a:r>
            <a:endParaRPr lang="zh-CN" altLang="zh-CN" dirty="0">
              <a:solidFill>
                <a:srgbClr val="294A5A"/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356903" y="3508539"/>
            <a:ext cx="3714115" cy="2186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997684" y="44626"/>
            <a:ext cx="7137320" cy="46165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400" b="1" dirty="0">
                <a:solidFill>
                  <a:schemeClr val="accent2"/>
                </a:solidFill>
              </a:rPr>
              <a:t>4.1.4 </a:t>
            </a:r>
            <a:r>
              <a:rPr lang="zh-CN" altLang="zh-CN" sz="2400" b="1" dirty="0">
                <a:solidFill>
                  <a:schemeClr val="accent2"/>
                </a:solidFill>
              </a:rPr>
              <a:t>坐标轴字符刻度标注</a:t>
            </a:r>
            <a:endParaRPr lang="zh-CN" altLang="zh-CN" sz="2400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-42038" y="106181"/>
            <a:ext cx="797883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ea typeface="宋体" panose="02010600030101010101" pitchFamily="2" charset="-122"/>
              </a:rPr>
              <a:t>Part</a:t>
            </a:r>
            <a:r>
              <a:rPr lang="en-US" altLang="zh-CN" dirty="0" smtClean="0">
                <a:solidFill>
                  <a:srgbClr val="FFFFFF"/>
                </a:solidFill>
                <a:ea typeface="宋体" panose="02010600030101010101" pitchFamily="2" charset="-122"/>
              </a:rPr>
              <a:t>4</a:t>
            </a:r>
            <a:endParaRPr lang="zh-CN" altLang="en-US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6903" y="980728"/>
            <a:ext cx="37832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 smtClean="0"/>
              <a:t>从图</a:t>
            </a:r>
            <a:r>
              <a:rPr lang="en-US" altLang="zh-CN" dirty="0" smtClean="0"/>
              <a:t>4-6</a:t>
            </a:r>
            <a:r>
              <a:rPr lang="zh-CN" altLang="zh-CN" dirty="0" smtClean="0"/>
              <a:t>可以看出，横轴的意义没有突显出来，造成了图像的可读性比较差。实际上可以用</a:t>
            </a:r>
            <a:r>
              <a:rPr lang="en-US" altLang="zh-CN" dirty="0" smtClean="0"/>
              <a:t>xxx</a:t>
            </a:r>
            <a:r>
              <a:rPr lang="zh-CN" altLang="zh-CN" dirty="0" smtClean="0"/>
              <a:t>年</a:t>
            </a:r>
            <a:r>
              <a:rPr lang="en-US" altLang="zh-CN" dirty="0" smtClean="0"/>
              <a:t>xxx</a:t>
            </a:r>
            <a:r>
              <a:rPr lang="zh-CN" altLang="zh-CN" dirty="0" smtClean="0"/>
              <a:t>季度来表示，这样图像的可读性就更强。对横轴进行字符刻度标注可以通过表</a:t>
            </a:r>
            <a:r>
              <a:rPr lang="en-US" altLang="zh-CN" dirty="0" smtClean="0"/>
              <a:t>4-1</a:t>
            </a:r>
            <a:r>
              <a:rPr lang="zh-CN" altLang="zh-CN" dirty="0" smtClean="0"/>
              <a:t>中的</a:t>
            </a:r>
            <a:r>
              <a:rPr lang="en-US" altLang="zh-CN" dirty="0" err="1" smtClean="0"/>
              <a:t>xticks</a:t>
            </a:r>
            <a:r>
              <a:rPr lang="zh-CN" altLang="zh-CN" dirty="0" smtClean="0"/>
              <a:t>函数来实现。示例代码如下：</a:t>
            </a:r>
            <a:endParaRPr lang="zh-CN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4788024" y="980728"/>
            <a:ext cx="403244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zh-CN" altLang="zh-CN" dirty="0"/>
          </a:p>
          <a:p>
            <a:r>
              <a:rPr lang="en-US" altLang="zh-CN" dirty="0"/>
              <a:t>x = </a:t>
            </a:r>
            <a:r>
              <a:rPr lang="en-US" altLang="zh-CN" dirty="0" err="1"/>
              <a:t>np.array</a:t>
            </a:r>
            <a:r>
              <a:rPr lang="en-US" altLang="zh-CN" dirty="0"/>
              <a:t>([1,2,3,4,5,6,7,8])                #</a:t>
            </a:r>
            <a:r>
              <a:rPr lang="zh-CN" altLang="zh-CN" dirty="0"/>
              <a:t>季度标号</a:t>
            </a:r>
            <a:endParaRPr lang="zh-CN" altLang="zh-CN" dirty="0"/>
          </a:p>
          <a:p>
            <a:r>
              <a:rPr lang="en-US" altLang="zh-CN" dirty="0"/>
              <a:t>y = </a:t>
            </a:r>
            <a:r>
              <a:rPr lang="en-US" altLang="zh-CN" dirty="0" err="1"/>
              <a:t>np.array</a:t>
            </a:r>
            <a:r>
              <a:rPr lang="en-US" altLang="zh-CN" dirty="0"/>
              <a:t>([100,104,106,95,103,105,115,100]) #</a:t>
            </a:r>
            <a:r>
              <a:rPr lang="zh-CN" altLang="zh-CN" dirty="0"/>
              <a:t>销售额</a:t>
            </a:r>
            <a:endParaRPr lang="zh-CN" altLang="zh-CN" dirty="0"/>
          </a:p>
          <a:p>
            <a:r>
              <a:rPr lang="en-US" altLang="zh-CN" dirty="0"/>
              <a:t>v=['2018</a:t>
            </a:r>
            <a:r>
              <a:rPr lang="zh-CN" altLang="zh-CN" dirty="0"/>
              <a:t>年一季度</a:t>
            </a:r>
            <a:r>
              <a:rPr lang="en-US" altLang="zh-CN" dirty="0"/>
              <a:t>','2018</a:t>
            </a:r>
            <a:r>
              <a:rPr lang="zh-CN" altLang="zh-CN" dirty="0"/>
              <a:t>年二季度</a:t>
            </a:r>
            <a:r>
              <a:rPr lang="en-US" altLang="zh-CN" dirty="0"/>
              <a:t>','2018</a:t>
            </a:r>
            <a:r>
              <a:rPr lang="zh-CN" altLang="zh-CN" dirty="0"/>
              <a:t>年三季度</a:t>
            </a:r>
            <a:r>
              <a:rPr lang="en-US" altLang="zh-CN" dirty="0"/>
              <a:t>','2018</a:t>
            </a:r>
            <a:r>
              <a:rPr lang="zh-CN" altLang="zh-CN" dirty="0"/>
              <a:t>年四季度</a:t>
            </a:r>
            <a:r>
              <a:rPr lang="en-US" altLang="zh-CN" dirty="0"/>
              <a:t>',</a:t>
            </a:r>
            <a:endParaRPr lang="zh-CN" altLang="zh-CN" dirty="0"/>
          </a:p>
          <a:p>
            <a:r>
              <a:rPr lang="en-US" altLang="zh-CN" dirty="0"/>
              <a:t>   '2019</a:t>
            </a:r>
            <a:r>
              <a:rPr lang="zh-CN" altLang="zh-CN" dirty="0"/>
              <a:t>年一季度</a:t>
            </a:r>
            <a:r>
              <a:rPr lang="en-US" altLang="zh-CN" dirty="0"/>
              <a:t>','2019</a:t>
            </a:r>
            <a:r>
              <a:rPr lang="zh-CN" altLang="zh-CN" dirty="0"/>
              <a:t>年二季度</a:t>
            </a:r>
            <a:r>
              <a:rPr lang="en-US" altLang="zh-CN" dirty="0"/>
              <a:t>','2019</a:t>
            </a:r>
            <a:r>
              <a:rPr lang="zh-CN" altLang="zh-CN" dirty="0"/>
              <a:t>年三季度</a:t>
            </a:r>
            <a:r>
              <a:rPr lang="en-US" altLang="zh-CN" dirty="0"/>
              <a:t>','2019</a:t>
            </a:r>
            <a:r>
              <a:rPr lang="zh-CN" altLang="zh-CN" dirty="0"/>
              <a:t>年四季度</a:t>
            </a:r>
            <a:r>
              <a:rPr lang="en-US" altLang="zh-CN" dirty="0"/>
              <a:t>']</a:t>
            </a:r>
            <a:endParaRPr lang="zh-CN" altLang="zh-CN" dirty="0"/>
          </a:p>
          <a:p>
            <a:r>
              <a:rPr lang="en-US" altLang="zh-CN" dirty="0" err="1"/>
              <a:t>plt.rcParams</a:t>
            </a:r>
            <a:r>
              <a:rPr lang="en-US" altLang="zh-CN" dirty="0"/>
              <a:t>['</a:t>
            </a:r>
            <a:r>
              <a:rPr lang="en-US" altLang="zh-CN" dirty="0" err="1"/>
              <a:t>font.sans</a:t>
            </a:r>
            <a:r>
              <a:rPr lang="en-US" altLang="zh-CN" dirty="0"/>
              <a:t>-serif'] = '</a:t>
            </a:r>
            <a:r>
              <a:rPr lang="en-US" altLang="zh-CN" dirty="0" err="1"/>
              <a:t>SimHei</a:t>
            </a:r>
            <a:r>
              <a:rPr lang="en-US" altLang="zh-CN" dirty="0"/>
              <a:t>'     # </a:t>
            </a:r>
            <a:r>
              <a:rPr lang="zh-CN" altLang="zh-CN" dirty="0"/>
              <a:t>设置字体为</a:t>
            </a:r>
            <a:r>
              <a:rPr lang="en-US" altLang="zh-CN" dirty="0" err="1"/>
              <a:t>SimHei</a:t>
            </a:r>
            <a:endParaRPr lang="zh-CN" altLang="zh-CN" dirty="0"/>
          </a:p>
          <a:p>
            <a:r>
              <a:rPr lang="en-US" altLang="zh-CN" dirty="0" err="1"/>
              <a:t>plt.title</a:t>
            </a:r>
            <a:r>
              <a:rPr lang="en-US" altLang="zh-CN" dirty="0"/>
              <a:t>('</a:t>
            </a:r>
            <a:r>
              <a:rPr lang="zh-CN" altLang="zh-CN" dirty="0"/>
              <a:t>某产品</a:t>
            </a:r>
            <a:r>
              <a:rPr lang="en-US" altLang="zh-CN" dirty="0"/>
              <a:t>2018-2019</a:t>
            </a:r>
            <a:r>
              <a:rPr lang="zh-CN" altLang="zh-CN" dirty="0"/>
              <a:t>各季度销售额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plt.plot</a:t>
            </a:r>
            <a:r>
              <a:rPr lang="en-US" altLang="zh-CN" dirty="0"/>
              <a:t>(x, y)</a:t>
            </a:r>
            <a:endParaRPr lang="zh-CN" altLang="zh-CN" dirty="0"/>
          </a:p>
          <a:p>
            <a:r>
              <a:rPr lang="en-US" altLang="zh-CN" dirty="0" err="1"/>
              <a:t>plt.xlabel</a:t>
            </a:r>
            <a:r>
              <a:rPr lang="en-US" altLang="zh-CN" dirty="0"/>
              <a:t>('</a:t>
            </a:r>
            <a:r>
              <a:rPr lang="zh-CN" altLang="zh-CN" dirty="0"/>
              <a:t>季度</a:t>
            </a:r>
            <a:r>
              <a:rPr lang="en-US" altLang="zh-CN" dirty="0"/>
              <a:t>')  </a:t>
            </a:r>
            <a:endParaRPr lang="zh-CN" altLang="zh-CN" dirty="0"/>
          </a:p>
          <a:p>
            <a:r>
              <a:rPr lang="en-US" altLang="zh-CN" dirty="0" err="1"/>
              <a:t>plt.xticks</a:t>
            </a:r>
            <a:r>
              <a:rPr lang="en-US" altLang="zh-CN" dirty="0"/>
              <a:t>(x, v, rotation = 45) #v</a:t>
            </a:r>
            <a:r>
              <a:rPr lang="zh-CN" altLang="zh-CN" dirty="0"/>
              <a:t>为与</a:t>
            </a:r>
            <a:r>
              <a:rPr lang="en-US" altLang="zh-CN" dirty="0"/>
              <a:t>x</a:t>
            </a:r>
            <a:r>
              <a:rPr lang="zh-CN" altLang="zh-CN" dirty="0"/>
              <a:t>对应的字符刻度，</a:t>
            </a:r>
            <a:r>
              <a:rPr lang="en-US" altLang="zh-CN" dirty="0"/>
              <a:t>rotation</a:t>
            </a:r>
            <a:r>
              <a:rPr lang="zh-CN" altLang="zh-CN" dirty="0"/>
              <a:t>为旋转角度</a:t>
            </a:r>
            <a:endParaRPr lang="zh-CN" altLang="zh-CN" dirty="0"/>
          </a:p>
          <a:p>
            <a:r>
              <a:rPr lang="en-US" altLang="zh-CN" dirty="0" err="1"/>
              <a:t>plt.ylabel</a:t>
            </a:r>
            <a:r>
              <a:rPr lang="en-US" altLang="zh-CN" dirty="0"/>
              <a:t>('</a:t>
            </a:r>
            <a:r>
              <a:rPr lang="zh-CN" altLang="zh-CN" dirty="0"/>
              <a:t>销售额（万元）</a:t>
            </a:r>
            <a:r>
              <a:rPr lang="en-US" altLang="zh-CN" dirty="0"/>
              <a:t>')  </a:t>
            </a:r>
            <a:endParaRPr lang="zh-CN" altLang="zh-CN" dirty="0"/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  <a:endParaRPr lang="zh-CN" altLang="zh-CN" dirty="0"/>
          </a:p>
        </p:txBody>
      </p:sp>
      <p:sp>
        <p:nvSpPr>
          <p:cNvPr id="5" name="矩形 4"/>
          <p:cNvSpPr/>
          <p:nvPr/>
        </p:nvSpPr>
        <p:spPr>
          <a:xfrm>
            <a:off x="1907704" y="5949280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294A5A"/>
                </a:solidFill>
              </a:rPr>
              <a:t> 图</a:t>
            </a:r>
            <a:r>
              <a:rPr lang="en-US" altLang="zh-CN" dirty="0" smtClean="0">
                <a:solidFill>
                  <a:srgbClr val="294A5A"/>
                </a:solidFill>
              </a:rPr>
              <a:t>4-7</a:t>
            </a:r>
            <a:endParaRPr lang="zh-CN" altLang="zh-CN" dirty="0">
              <a:solidFill>
                <a:srgbClr val="294A5A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380967" y="3724602"/>
            <a:ext cx="3866515" cy="22171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616" y="3225043"/>
            <a:ext cx="2630921" cy="369326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dirty="0">
                <a:solidFill>
                  <a:schemeClr val="tx1"/>
                </a:solidFill>
                <a:latin typeface="+mn-lt"/>
                <a:ea typeface="+mn-ea"/>
              </a:rPr>
              <a:t>执行结果如图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4-7</a:t>
            </a:r>
            <a:r>
              <a:rPr lang="zh-CN" altLang="zh-CN" sz="1800" dirty="0">
                <a:solidFill>
                  <a:schemeClr val="tx1"/>
                </a:solidFill>
                <a:latin typeface="+mn-lt"/>
                <a:ea typeface="+mn-ea"/>
              </a:rPr>
              <a:t>所示。</a:t>
            </a:r>
            <a:endParaRPr lang="zh-CN" altLang="zh-CN" sz="1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2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0</TotalTime>
  <Words>4017</Words>
  <Application>WPS 演示</Application>
  <PresentationFormat>全屏显示(4:3)</PresentationFormat>
  <Paragraphs>242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仿宋_GB2312</vt:lpstr>
      <vt:lpstr>Calibri</vt:lpstr>
      <vt:lpstr>方正卡通简体</vt:lpstr>
      <vt:lpstr>Times New Roman</vt:lpstr>
      <vt:lpstr>Arial Unicode MS</vt:lpstr>
      <vt:lpstr>仿宋</vt:lpstr>
      <vt:lpstr>主题2</vt:lpstr>
      <vt:lpstr>第一PPT，www.1ppt.com</vt:lpstr>
      <vt:lpstr>PowerPoint 演示文稿</vt:lpstr>
      <vt:lpstr>PowerPoint 演示文稿</vt:lpstr>
      <vt:lpstr>4.1.1 Matplotlib图像构成</vt:lpstr>
      <vt:lpstr>4.1.1 Matplotlib图像构成</vt:lpstr>
      <vt:lpstr>4.1.2 Matplotlib绘图基本流程</vt:lpstr>
      <vt:lpstr>4.1.2 Matplotlib绘图基本流程</vt:lpstr>
      <vt:lpstr> pyplot基本绘图流程</vt:lpstr>
      <vt:lpstr>表 4‑1 pyplot添加各类标签的常用函数</vt:lpstr>
      <vt:lpstr>PowerPoint 演示文稿</vt:lpstr>
      <vt:lpstr>值得注意的是默认的pyplot字体并不支持中文字符的显示，因此需要通过修改font.sans-serif参数来修改绘图时的字体，使得图形可以正常显示中文。同时，由于修改字体后，会导致坐标轴中负号“-”无法正常显示，因此需要同时修改axes.unicode_minus参数。</vt:lpstr>
      <vt:lpstr>从图4-4可以看出，中文字符没有能显示出来。同时应该注意到在示例代码中，并没有创建画布的命令，实际上只要调用了绘图命令系统就会默认创建一个画布，并在该画布上绘图。为了显示中文字符可以对示例代码修改如下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11</cp:revision>
  <dcterms:created xsi:type="dcterms:W3CDTF">2019-11-30T02:43:00Z</dcterms:created>
  <dcterms:modified xsi:type="dcterms:W3CDTF">2020-01-12T12:44:09Z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