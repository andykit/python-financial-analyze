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828" r:id="rId2"/>
    <p:sldId id="914" r:id="rId3"/>
    <p:sldId id="952" r:id="rId4"/>
    <p:sldId id="933" r:id="rId5"/>
    <p:sldId id="953" r:id="rId6"/>
    <p:sldId id="954" r:id="rId7"/>
    <p:sldId id="955" r:id="rId8"/>
    <p:sldId id="956" r:id="rId9"/>
    <p:sldId id="957" r:id="rId10"/>
    <p:sldId id="958" r:id="rId11"/>
    <p:sldId id="959" r:id="rId12"/>
    <p:sldId id="960" r:id="rId13"/>
    <p:sldId id="961" r:id="rId14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32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516" y="-108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3733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t>2020/1/12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5509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75443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12.1.1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盈利状况可视化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分析课题内容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sz="2000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913805" y="1124744"/>
          <a:ext cx="5082541" cy="2520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02151"/>
                <a:gridCol w="902151"/>
                <a:gridCol w="927564"/>
                <a:gridCol w="1410405"/>
                <a:gridCol w="940270"/>
              </a:tblGrid>
              <a:tr h="2520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行业名称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股票代码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股票名称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起始日期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结束日期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520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采掘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000552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靖远煤电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2008/6/2 0:00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　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520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采掘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000571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新大洲</a:t>
                      </a:r>
                      <a:r>
                        <a:rPr lang="en-US" sz="1100" kern="0">
                          <a:effectLst/>
                        </a:rPr>
                        <a:t>A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2011/10/10 0:00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　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520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采掘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000629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攀钢钒钛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2015/10/31 0:00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　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520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采掘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000655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*ST</a:t>
                      </a:r>
                      <a:r>
                        <a:rPr lang="zh-CN" sz="1100" kern="0">
                          <a:effectLst/>
                        </a:rPr>
                        <a:t>金岭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2015/10/31 0:00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　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520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采掘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000723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美锦能源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2008/6/2 0:00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　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520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采掘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000762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西藏矿业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2008/6/2 0:00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　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520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采掘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000780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平庄能源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2016/9/14 0:00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　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520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采掘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000937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冀中能源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2016/9/14 0:00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　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  <a:tr h="25202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993925" y="799646"/>
            <a:ext cx="3744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/>
              <a:t>表</a:t>
            </a:r>
            <a:r>
              <a:rPr lang="en-US" altLang="zh-CN" sz="1400" dirty="0"/>
              <a:t>1</a:t>
            </a:r>
            <a:r>
              <a:rPr lang="zh-CN" altLang="zh-CN" sz="1400" dirty="0"/>
              <a:t>：申银万国行业分类表</a:t>
            </a:r>
          </a:p>
          <a:p>
            <a:endParaRPr lang="zh-CN" alt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6286217" y="1196751"/>
          <a:ext cx="4316719" cy="245487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20274"/>
                <a:gridCol w="1433822"/>
                <a:gridCol w="1662623"/>
              </a:tblGrid>
              <a:tr h="161034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Stkcd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Accper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B002000101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355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2011-12-31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10278631000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355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2012-12-31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13402701000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355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2013-12-31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15231000000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355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2014-12-31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19802000000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355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2015-12-31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21865000000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355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2016-12-31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22599000000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355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2017-12-31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23189000000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355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2011-12-31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9624875268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3551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2012-12-31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12551182392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610549" y="836712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/>
              <a:t>表</a:t>
            </a:r>
            <a:r>
              <a:rPr lang="en-US" altLang="zh-CN" sz="1400" dirty="0"/>
              <a:t>2</a:t>
            </a:r>
            <a:r>
              <a:rPr lang="zh-CN" altLang="zh-CN" sz="1400" dirty="0"/>
              <a:t>：公司净利润数据表</a:t>
            </a:r>
          </a:p>
          <a:p>
            <a:endParaRPr lang="zh-CN" altLang="en-US" dirty="0"/>
          </a:p>
        </p:txBody>
      </p:sp>
      <p:sp>
        <p:nvSpPr>
          <p:cNvPr id="13" name="矩形 12"/>
          <p:cNvSpPr/>
          <p:nvPr/>
        </p:nvSpPr>
        <p:spPr>
          <a:xfrm>
            <a:off x="625773" y="4149080"/>
            <a:ext cx="1022513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dirty="0"/>
              <a:t>问题如下：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1</a:t>
            </a:r>
            <a:r>
              <a:rPr lang="zh-CN" altLang="zh-CN" dirty="0"/>
              <a:t>）计算申银万国行业分类表中的每个行业</a:t>
            </a:r>
            <a:r>
              <a:rPr lang="en-US" altLang="zh-CN" dirty="0"/>
              <a:t>2012~2017</a:t>
            </a:r>
            <a:r>
              <a:rPr lang="zh-CN" altLang="zh-CN" dirty="0"/>
              <a:t>年（共</a:t>
            </a:r>
            <a:r>
              <a:rPr lang="en-US" altLang="zh-CN" dirty="0"/>
              <a:t>6</a:t>
            </a:r>
            <a:r>
              <a:rPr lang="zh-CN" altLang="zh-CN" dirty="0"/>
              <a:t>个年度）的净利润增长率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2</a:t>
            </a:r>
            <a:r>
              <a:rPr lang="zh-CN" altLang="zh-CN" dirty="0"/>
              <a:t>）对每个年度，找出净利润增长率最大的</a:t>
            </a:r>
            <a:r>
              <a:rPr lang="en-US" altLang="zh-CN" dirty="0"/>
              <a:t>8</a:t>
            </a:r>
            <a:r>
              <a:rPr lang="zh-CN" altLang="zh-CN" dirty="0"/>
              <a:t>个行业，并绘制其柱状图，其中横轴为行业名称，纵轴为净利润增长率。</a:t>
            </a:r>
          </a:p>
          <a:p>
            <a:r>
              <a:rPr lang="zh-CN" altLang="zh-CN" dirty="0"/>
              <a:t>（</a:t>
            </a:r>
            <a:r>
              <a:rPr lang="en-US" altLang="zh-CN" dirty="0"/>
              <a:t>3</a:t>
            </a:r>
            <a:r>
              <a:rPr lang="zh-CN" altLang="zh-CN" dirty="0"/>
              <a:t>）将每个年度分别绘制的柱状图，用一个子图的形式表示出来，子图为</a:t>
            </a:r>
            <a:r>
              <a:rPr lang="en-US" altLang="zh-CN" dirty="0"/>
              <a:t>3*2</a:t>
            </a:r>
            <a:r>
              <a:rPr lang="zh-CN" altLang="zh-CN" dirty="0"/>
              <a:t>划分</a:t>
            </a:r>
          </a:p>
          <a:p>
            <a:r>
              <a:rPr lang="zh-CN" altLang="zh-CN" dirty="0"/>
              <a:t>注：这里的利润采用归属于母公司所有者的净利润，行业的净利润</a:t>
            </a:r>
            <a:r>
              <a:rPr lang="en-US" altLang="zh-CN" dirty="0"/>
              <a:t>=</a:t>
            </a:r>
            <a:r>
              <a:rPr lang="zh-CN" altLang="zh-CN" dirty="0"/>
              <a:t>所在行业的上市公司净利润之和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263" y="567839"/>
            <a:ext cx="6091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/>
              <a:t>今有申银万国行业分类表和公司净利润数据表，其表结构和字段说明</a:t>
            </a:r>
            <a:r>
              <a:rPr lang="zh-CN" altLang="zh-CN" sz="1200" dirty="0" smtClean="0"/>
              <a:t>如下</a:t>
            </a:r>
            <a:r>
              <a:rPr lang="zh-CN" altLang="en-US" sz="1200" dirty="0" smtClean="0"/>
              <a:t>：</a:t>
            </a:r>
            <a:endParaRPr lang="zh-CN" alt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4874245" y="3717032"/>
            <a:ext cx="6120680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dirty="0">
                <a:solidFill>
                  <a:schemeClr val="accent1"/>
                </a:solidFill>
              </a:rPr>
              <a:t>注：申银万国行业分类表数据来源于申万指数官网，公司净利润数据来源于国泰安</a:t>
            </a:r>
            <a:r>
              <a:rPr lang="en-US" altLang="zh-CN" sz="1050" dirty="0">
                <a:solidFill>
                  <a:schemeClr val="accent1"/>
                </a:solidFill>
              </a:rPr>
              <a:t>CSMAR</a:t>
            </a:r>
            <a:r>
              <a:rPr lang="zh-CN" altLang="zh-CN" sz="1050" dirty="0">
                <a:solidFill>
                  <a:schemeClr val="accent1"/>
                </a:solidFill>
              </a:rPr>
              <a:t>数据库</a:t>
            </a:r>
          </a:p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30765" y="44625"/>
            <a:ext cx="675443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12.1.2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盈利状况可视化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分析实训指导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5733" y="586866"/>
            <a:ext cx="113103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本课题的关键技术是循环计算和绘图中的中文显示，特别是图像中的横轴中文显示，为了避免重叠，可以考虑对中文字符按照一定的规则旋转，比如</a:t>
            </a:r>
            <a:r>
              <a:rPr lang="en-US" altLang="zh-CN" dirty="0"/>
              <a:t>45</a:t>
            </a:r>
            <a:r>
              <a:rPr lang="zh-CN" altLang="zh-CN" dirty="0"/>
              <a:t>°倾斜显示。大概思路如下：</a:t>
            </a:r>
          </a:p>
          <a:p>
            <a:r>
              <a:rPr lang="zh-CN" altLang="zh-CN" dirty="0"/>
              <a:t>首先是计算行业净利润增长率指标，可以分两步</a:t>
            </a:r>
            <a:r>
              <a:rPr lang="zh-CN" altLang="zh-CN" dirty="0" smtClean="0"/>
              <a:t>：</a:t>
            </a:r>
            <a:endParaRPr lang="zh-CN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366111" y="1772817"/>
            <a:ext cx="112099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1.</a:t>
            </a:r>
            <a:r>
              <a:rPr lang="zh-CN" altLang="zh-CN" dirty="0" smtClean="0"/>
              <a:t>计算</a:t>
            </a:r>
            <a:r>
              <a:rPr lang="zh-CN" altLang="zh-CN" dirty="0"/>
              <a:t>获得每个行业</a:t>
            </a:r>
            <a:r>
              <a:rPr lang="en-US" altLang="zh-CN" dirty="0"/>
              <a:t>2011~2017</a:t>
            </a:r>
            <a:r>
              <a:rPr lang="zh-CN" altLang="zh-CN" dirty="0"/>
              <a:t>年共</a:t>
            </a:r>
            <a:r>
              <a:rPr lang="en-US" altLang="zh-CN" dirty="0"/>
              <a:t>7</a:t>
            </a:r>
            <a:r>
              <a:rPr lang="zh-CN" altLang="zh-CN" dirty="0"/>
              <a:t>个年度的净利润，可以用一个</a:t>
            </a:r>
            <a:r>
              <a:rPr lang="en-US" altLang="zh-CN" dirty="0" err="1"/>
              <a:t>numpy</a:t>
            </a:r>
            <a:r>
              <a:rPr lang="zh-CN" altLang="zh-CN" dirty="0"/>
              <a:t>数组</a:t>
            </a:r>
            <a:r>
              <a:rPr lang="en-US" altLang="zh-CN" dirty="0"/>
              <a:t>D</a:t>
            </a:r>
            <a:r>
              <a:rPr lang="zh-CN" altLang="zh-CN" dirty="0"/>
              <a:t>来表示，每行代表一个行业，共有</a:t>
            </a:r>
            <a:r>
              <a:rPr lang="en-US" altLang="zh-CN" dirty="0"/>
              <a:t>7</a:t>
            </a:r>
            <a:r>
              <a:rPr lang="zh-CN" altLang="zh-CN" dirty="0"/>
              <a:t>个元素（</a:t>
            </a:r>
            <a:r>
              <a:rPr lang="en-US" altLang="zh-CN" dirty="0"/>
              <a:t>7</a:t>
            </a:r>
            <a:r>
              <a:rPr lang="zh-CN" altLang="zh-CN" dirty="0"/>
              <a:t>年的净利润</a:t>
            </a:r>
            <a:r>
              <a:rPr lang="zh-CN" altLang="zh-CN" dirty="0" smtClean="0"/>
              <a:t>）</a:t>
            </a:r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09749" y="2514636"/>
            <a:ext cx="11521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</a:t>
            </a:r>
            <a:r>
              <a:rPr lang="zh-CN" altLang="zh-CN" dirty="0" smtClean="0"/>
              <a:t>计算</a:t>
            </a:r>
            <a:r>
              <a:rPr lang="en-US" altLang="zh-CN" dirty="0"/>
              <a:t>2012~2017</a:t>
            </a:r>
            <a:r>
              <a:rPr lang="zh-CN" altLang="zh-CN" dirty="0"/>
              <a:t>年的净利润增长率，比如计算第</a:t>
            </a:r>
            <a:r>
              <a:rPr lang="en-US" altLang="zh-CN" dirty="0"/>
              <a:t>k</a:t>
            </a:r>
            <a:r>
              <a:rPr lang="zh-CN" altLang="zh-CN" dirty="0"/>
              <a:t>个行业的净利润增长率可以用</a:t>
            </a:r>
            <a:r>
              <a:rPr lang="en-US" altLang="zh-CN" dirty="0"/>
              <a:t>(D[k,1:]-D[k,:-1])/D[k,:-1]</a:t>
            </a:r>
            <a:r>
              <a:rPr lang="zh-CN" altLang="zh-CN" dirty="0"/>
              <a:t>来计算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09749" y="3284984"/>
            <a:ext cx="112332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 smtClean="0"/>
              <a:t>注</a:t>
            </a:r>
            <a:r>
              <a:rPr lang="zh-CN" altLang="en-US" dirty="0" smtClean="0"/>
              <a:t>：</a:t>
            </a:r>
            <a:r>
              <a:rPr lang="zh-CN" altLang="en-US" dirty="0" smtClean="0">
                <a:sym typeface="Wingdings" panose="05000000000000000000" pitchFamily="2" charset="2"/>
              </a:rPr>
              <a:t>（</a:t>
            </a:r>
            <a:r>
              <a:rPr lang="en-US" altLang="zh-CN" dirty="0" smtClean="0">
                <a:sym typeface="Wingdings" panose="05000000000000000000" pitchFamily="2" charset="2"/>
              </a:rPr>
              <a:t>1</a:t>
            </a:r>
            <a:r>
              <a:rPr lang="zh-CN" altLang="en-US" dirty="0" smtClean="0">
                <a:sym typeface="Wingdings" panose="05000000000000000000" pitchFamily="2" charset="2"/>
              </a:rPr>
              <a:t>）</a:t>
            </a:r>
            <a:r>
              <a:rPr lang="zh-CN" altLang="zh-CN" dirty="0" smtClean="0"/>
              <a:t>每个</a:t>
            </a:r>
            <a:r>
              <a:rPr lang="zh-CN" altLang="zh-CN" dirty="0"/>
              <a:t>行业的净利润等于该行业所有上市公司的净利润之和，</a:t>
            </a:r>
            <a:r>
              <a:rPr lang="en-US" altLang="zh-CN" dirty="0"/>
              <a:t>D</a:t>
            </a:r>
            <a:r>
              <a:rPr lang="zh-CN" altLang="zh-CN" dirty="0"/>
              <a:t>的计算通过两个循环来实现：</a:t>
            </a:r>
          </a:p>
          <a:p>
            <a:r>
              <a:rPr lang="en-US" altLang="zh-CN" dirty="0"/>
              <a:t>for k in range(</a:t>
            </a:r>
            <a:r>
              <a:rPr lang="en-US" altLang="zh-CN" dirty="0" err="1"/>
              <a:t>len</a:t>
            </a:r>
            <a:r>
              <a:rPr lang="en-US" altLang="zh-CN" dirty="0"/>
              <a:t>(</a:t>
            </a:r>
            <a:r>
              <a:rPr lang="en-US" altLang="zh-CN" dirty="0" err="1"/>
              <a:t>Indnme</a:t>
            </a:r>
            <a:r>
              <a:rPr lang="en-US" altLang="zh-CN" dirty="0"/>
              <a:t>)):</a:t>
            </a:r>
            <a:endParaRPr lang="zh-CN" altLang="zh-CN" dirty="0"/>
          </a:p>
          <a:p>
            <a:r>
              <a:rPr lang="en-US" altLang="zh-CN" dirty="0"/>
              <a:t>   for year in range(2011,2018):</a:t>
            </a:r>
            <a:endParaRPr lang="zh-CN" altLang="zh-CN" dirty="0"/>
          </a:p>
          <a:p>
            <a:r>
              <a:rPr lang="en-US" altLang="zh-CN" dirty="0"/>
              <a:t>      D[k,year-2011]=</a:t>
            </a:r>
            <a:r>
              <a:rPr lang="zh-CN" altLang="zh-CN" dirty="0"/>
              <a:t>第</a:t>
            </a:r>
            <a:r>
              <a:rPr lang="en-US" altLang="zh-CN" dirty="0"/>
              <a:t>k</a:t>
            </a:r>
            <a:r>
              <a:rPr lang="zh-CN" altLang="zh-CN" dirty="0"/>
              <a:t>个行业第</a:t>
            </a:r>
            <a:r>
              <a:rPr lang="en-US" altLang="zh-CN" dirty="0"/>
              <a:t>year</a:t>
            </a:r>
            <a:r>
              <a:rPr lang="zh-CN" altLang="zh-CN" dirty="0"/>
              <a:t>年的净利润</a:t>
            </a:r>
          </a:p>
          <a:p>
            <a:r>
              <a:rPr lang="en-US" altLang="zh-CN" dirty="0" err="1"/>
              <a:t>Indnme</a:t>
            </a:r>
            <a:r>
              <a:rPr lang="zh-CN" altLang="zh-CN" dirty="0"/>
              <a:t>为行业名称列表，可以通过读取申银万国行业分类表转化为数据框之后，对行业名称字段采用</a:t>
            </a:r>
            <a:r>
              <a:rPr lang="en-US" altLang="zh-CN" dirty="0" err="1"/>
              <a:t>value_counts</a:t>
            </a:r>
            <a:r>
              <a:rPr lang="en-US" altLang="zh-CN" dirty="0"/>
              <a:t>()</a:t>
            </a:r>
            <a:r>
              <a:rPr lang="zh-CN" altLang="zh-CN" dirty="0"/>
              <a:t>函数实现。</a:t>
            </a:r>
          </a:p>
          <a:p>
            <a:r>
              <a:rPr lang="en-US" altLang="zh-CN" dirty="0"/>
              <a:t>td=</a:t>
            </a:r>
            <a:r>
              <a:rPr lang="en-US" altLang="zh-CN" dirty="0" err="1"/>
              <a:t>pd.read_excel</a:t>
            </a:r>
            <a:r>
              <a:rPr lang="en-US" altLang="zh-CN" dirty="0"/>
              <a:t>('</a:t>
            </a:r>
            <a:r>
              <a:rPr lang="zh-CN" altLang="zh-CN" dirty="0"/>
              <a:t>申万行业分类表</a:t>
            </a:r>
            <a:r>
              <a:rPr lang="en-US" altLang="zh-CN" dirty="0"/>
              <a:t>.</a:t>
            </a:r>
            <a:r>
              <a:rPr lang="en-US" altLang="zh-CN" dirty="0" err="1"/>
              <a:t>xlsx</a:t>
            </a:r>
            <a:r>
              <a:rPr lang="en-US" altLang="zh-CN" dirty="0"/>
              <a:t>')</a:t>
            </a:r>
            <a:endParaRPr lang="zh-CN" altLang="zh-CN" dirty="0"/>
          </a:p>
          <a:p>
            <a:r>
              <a:rPr lang="en-US" altLang="zh-CN" dirty="0" err="1"/>
              <a:t>Indnme</a:t>
            </a:r>
            <a:r>
              <a:rPr lang="en-US" altLang="zh-CN" dirty="0"/>
              <a:t>=td['</a:t>
            </a:r>
            <a:r>
              <a:rPr lang="zh-CN" altLang="zh-CN" dirty="0"/>
              <a:t>行业名称</a:t>
            </a:r>
            <a:r>
              <a:rPr lang="en-US" altLang="zh-CN" dirty="0"/>
              <a:t>'].</a:t>
            </a:r>
            <a:r>
              <a:rPr lang="en-US" altLang="zh-CN" dirty="0" err="1"/>
              <a:t>value_counts</a:t>
            </a:r>
            <a:r>
              <a:rPr lang="en-US" altLang="zh-CN" dirty="0"/>
              <a:t>()</a:t>
            </a:r>
            <a:endParaRPr lang="zh-CN" altLang="zh-CN" dirty="0"/>
          </a:p>
          <a:p>
            <a:r>
              <a:rPr lang="en-US" altLang="zh-CN" dirty="0" err="1"/>
              <a:t>Indnme</a:t>
            </a:r>
            <a:r>
              <a:rPr lang="en-US" altLang="zh-CN" dirty="0"/>
              <a:t>=list(</a:t>
            </a:r>
            <a:r>
              <a:rPr lang="en-US" altLang="zh-CN" dirty="0" err="1"/>
              <a:t>name.index</a:t>
            </a:r>
            <a:r>
              <a:rPr lang="en-US" altLang="zh-CN" dirty="0"/>
              <a:t>)</a:t>
            </a:r>
            <a:endParaRPr lang="zh-CN" altLang="zh-CN" dirty="0"/>
          </a:p>
          <a:p>
            <a:r>
              <a:rPr lang="zh-CN" altLang="zh-CN" dirty="0"/>
              <a:t>第</a:t>
            </a:r>
            <a:r>
              <a:rPr lang="en-US" altLang="zh-CN" dirty="0"/>
              <a:t>k</a:t>
            </a:r>
            <a:r>
              <a:rPr lang="zh-CN" altLang="zh-CN" dirty="0"/>
              <a:t>个行业第</a:t>
            </a:r>
            <a:r>
              <a:rPr lang="en-US" altLang="zh-CN" dirty="0"/>
              <a:t>year</a:t>
            </a:r>
            <a:r>
              <a:rPr lang="zh-CN" altLang="zh-CN" dirty="0"/>
              <a:t>年的净利润计算，可以通过读取公司净利润数据转化为数据框之后，筛选第</a:t>
            </a:r>
            <a:r>
              <a:rPr lang="en-US" altLang="zh-CN" dirty="0"/>
              <a:t>year</a:t>
            </a:r>
            <a:r>
              <a:rPr lang="zh-CN" altLang="zh-CN" dirty="0"/>
              <a:t>年的数据并且股票代码为</a:t>
            </a:r>
            <a:r>
              <a:rPr lang="en-US" altLang="zh-CN" dirty="0" err="1"/>
              <a:t>Indnme</a:t>
            </a:r>
            <a:r>
              <a:rPr lang="en-US" altLang="zh-CN" dirty="0"/>
              <a:t>[k]</a:t>
            </a:r>
            <a:r>
              <a:rPr lang="zh-CN" altLang="zh-CN" dirty="0"/>
              <a:t>行业对应的股票代码的净利润数据求和获得。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30765" y="44625"/>
            <a:ext cx="675443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12.1.2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盈利状况可视化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分析实训指导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1757" y="1124744"/>
            <a:ext cx="1029714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（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</a:t>
            </a:r>
            <a:r>
              <a:rPr lang="zh-CN" altLang="zh-CN" dirty="0" smtClean="0"/>
              <a:t>绘图</a:t>
            </a:r>
            <a:r>
              <a:rPr lang="zh-CN" altLang="zh-CN" dirty="0"/>
              <a:t>，普通的绘图比较容易实现，这里关键是要横轴显示中文并且为了避免重叠对其进行旋转，相关设置代码参考如下：</a:t>
            </a:r>
          </a:p>
          <a:p>
            <a:r>
              <a:rPr lang="en-US" altLang="zh-CN" dirty="0"/>
              <a:t>#</a:t>
            </a:r>
            <a:r>
              <a:rPr lang="zh-CN" altLang="zh-CN" dirty="0"/>
              <a:t>显示中文设置</a:t>
            </a:r>
          </a:p>
          <a:p>
            <a:r>
              <a:rPr lang="en-US" altLang="zh-CN" dirty="0"/>
              <a:t>import </a:t>
            </a:r>
            <a:r>
              <a:rPr lang="en-US" altLang="zh-CN" dirty="0" err="1"/>
              <a:t>matplotlib</a:t>
            </a:r>
            <a:endParaRPr lang="zh-CN" altLang="zh-CN" dirty="0"/>
          </a:p>
          <a:p>
            <a:r>
              <a:rPr lang="en-US" altLang="zh-CN" dirty="0"/>
              <a:t>font={'family':'</a:t>
            </a:r>
            <a:r>
              <a:rPr lang="en-US" altLang="zh-CN" dirty="0" err="1"/>
              <a:t>SimHei</a:t>
            </a:r>
            <a:r>
              <a:rPr lang="en-US" altLang="zh-CN" dirty="0"/>
              <a:t>'}</a:t>
            </a:r>
            <a:endParaRPr lang="zh-CN" altLang="zh-CN" dirty="0"/>
          </a:p>
          <a:p>
            <a:r>
              <a:rPr lang="en-US" altLang="zh-CN" dirty="0" err="1"/>
              <a:t>matplotlib.rc</a:t>
            </a:r>
            <a:r>
              <a:rPr lang="en-US" altLang="zh-CN" dirty="0"/>
              <a:t>('font',**font)</a:t>
            </a:r>
            <a:endParaRPr lang="zh-CN" altLang="zh-CN" dirty="0"/>
          </a:p>
          <a:p>
            <a:r>
              <a:rPr lang="en-US" altLang="zh-CN" dirty="0"/>
              <a:t>#</a:t>
            </a:r>
            <a:r>
              <a:rPr lang="zh-CN" altLang="zh-CN" dirty="0"/>
              <a:t>旋转</a:t>
            </a:r>
            <a:r>
              <a:rPr lang="en-US" altLang="zh-CN" dirty="0"/>
              <a:t>45</a:t>
            </a:r>
            <a:r>
              <a:rPr lang="zh-CN" altLang="zh-CN" dirty="0"/>
              <a:t>°设置</a:t>
            </a:r>
          </a:p>
          <a:p>
            <a:r>
              <a:rPr lang="en-US" altLang="zh-CN" dirty="0" err="1"/>
              <a:t>plt.bar</a:t>
            </a:r>
            <a:r>
              <a:rPr lang="en-US" altLang="zh-CN" dirty="0"/>
              <a:t>([1,2,3,4,5,6,7,8],</a:t>
            </a:r>
            <a:r>
              <a:rPr lang="en-US" altLang="zh-CN" dirty="0" err="1"/>
              <a:t>q.values</a:t>
            </a:r>
            <a:r>
              <a:rPr lang="en-US" altLang="zh-CN" dirty="0"/>
              <a:t>) #</a:t>
            </a:r>
            <a:r>
              <a:rPr lang="zh-CN" altLang="zh-CN" dirty="0"/>
              <a:t>绘制柱状图</a:t>
            </a:r>
          </a:p>
          <a:p>
            <a:r>
              <a:rPr lang="en-US" altLang="zh-CN" dirty="0" err="1"/>
              <a:t>plt.xticks</a:t>
            </a:r>
            <a:r>
              <a:rPr lang="en-US" altLang="zh-CN" dirty="0"/>
              <a:t>([1,2,3,4,5,6,7,8],</a:t>
            </a:r>
            <a:r>
              <a:rPr lang="en-US" altLang="zh-CN" dirty="0" err="1"/>
              <a:t>q.index,rotation</a:t>
            </a:r>
            <a:r>
              <a:rPr lang="en-US" altLang="zh-CN" dirty="0"/>
              <a:t>=45) #</a:t>
            </a:r>
            <a:r>
              <a:rPr lang="zh-CN" altLang="zh-CN" dirty="0"/>
              <a:t>对柱状图横轴刻度添加中文标签并旋转</a:t>
            </a:r>
            <a:r>
              <a:rPr lang="en-US" altLang="zh-CN" dirty="0"/>
              <a:t>45</a:t>
            </a:r>
            <a:r>
              <a:rPr lang="zh-CN" altLang="zh-CN" dirty="0"/>
              <a:t>°。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 smtClean="0">
                <a:solidFill>
                  <a:schemeClr val="accent2"/>
                </a:solidFill>
              </a:rPr>
              <a:t>12.2.1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上市</a:t>
            </a:r>
            <a:r>
              <a:rPr lang="zh-CN" altLang="zh-CN" sz="2800" b="1" dirty="0">
                <a:solidFill>
                  <a:schemeClr val="accent2"/>
                </a:solidFill>
              </a:rPr>
              <a:t>公司透明度综合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评价</a:t>
            </a:r>
            <a:r>
              <a:rPr lang="zh-CN" altLang="en-US" sz="2800" b="1" dirty="0" smtClean="0">
                <a:solidFill>
                  <a:schemeClr val="accent2"/>
                </a:solidFill>
              </a:rPr>
              <a:t>课题内容</a:t>
            </a:r>
            <a:endParaRPr lang="zh-CN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9749" y="764704"/>
            <a:ext cx="10225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上市公司的透明度可以从经营状况，股权结构和治理结构方面进行综合评价，选取的指标如下表所示：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90398" y="1415536"/>
            <a:ext cx="360067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dirty="0"/>
              <a:t>表</a:t>
            </a:r>
            <a:r>
              <a:rPr lang="en-US" altLang="zh-CN" sz="1050" dirty="0"/>
              <a:t>3  </a:t>
            </a:r>
            <a:r>
              <a:rPr lang="zh-CN" altLang="zh-CN" sz="1050" dirty="0"/>
              <a:t>上市公司透明度指标数据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/>
        </p:nvGraphicFramePr>
        <p:xfrm>
          <a:off x="1417861" y="1700809"/>
          <a:ext cx="8928992" cy="18001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7659"/>
                <a:gridCol w="7181333"/>
              </a:tblGrid>
              <a:tr h="36003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 smtClean="0">
                          <a:effectLst/>
                        </a:rPr>
                        <a:t>指标</a:t>
                      </a:r>
                      <a:r>
                        <a:rPr lang="zh-CN" sz="1050" kern="100" dirty="0">
                          <a:effectLst/>
                        </a:rPr>
                        <a:t>类型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 smtClean="0">
                          <a:effectLst/>
                        </a:rPr>
                        <a:t>指标</a:t>
                      </a:r>
                      <a:r>
                        <a:rPr lang="zh-CN" sz="1050" kern="100" dirty="0">
                          <a:effectLst/>
                        </a:rPr>
                        <a:t>名称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43204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 smtClean="0">
                          <a:effectLst/>
                        </a:rPr>
                        <a:t>公司</a:t>
                      </a:r>
                      <a:r>
                        <a:rPr lang="zh-CN" sz="1050" kern="100" dirty="0">
                          <a:effectLst/>
                        </a:rPr>
                        <a:t>经营状况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 smtClean="0">
                          <a:effectLst/>
                        </a:rPr>
                        <a:t>总</a:t>
                      </a:r>
                      <a:r>
                        <a:rPr lang="zh-CN" sz="1050" kern="100" dirty="0">
                          <a:effectLst/>
                        </a:rPr>
                        <a:t>资产净利润率（</a:t>
                      </a:r>
                      <a:r>
                        <a:rPr lang="en-US" sz="1050" kern="100" dirty="0">
                          <a:effectLst/>
                        </a:rPr>
                        <a:t>X1</a:t>
                      </a:r>
                      <a:r>
                        <a:rPr lang="zh-CN" sz="1050" kern="100" dirty="0">
                          <a:effectLst/>
                        </a:rPr>
                        <a:t>）、速动比率（</a:t>
                      </a:r>
                      <a:r>
                        <a:rPr lang="en-US" sz="1050" kern="100" dirty="0">
                          <a:effectLst/>
                        </a:rPr>
                        <a:t>X2</a:t>
                      </a:r>
                      <a:r>
                        <a:rPr lang="zh-CN" sz="1050" kern="100" dirty="0">
                          <a:effectLst/>
                        </a:rPr>
                        <a:t>）、总资产增长率（</a:t>
                      </a:r>
                      <a:r>
                        <a:rPr lang="en-US" sz="1050" kern="100" dirty="0">
                          <a:effectLst/>
                        </a:rPr>
                        <a:t>X3</a:t>
                      </a:r>
                      <a:r>
                        <a:rPr lang="zh-CN" sz="1050" kern="100" dirty="0">
                          <a:effectLst/>
                        </a:rPr>
                        <a:t>）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5040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 smtClean="0">
                          <a:effectLst/>
                        </a:rPr>
                        <a:t>股权</a:t>
                      </a:r>
                      <a:r>
                        <a:rPr lang="zh-CN" sz="1050" kern="100" dirty="0">
                          <a:effectLst/>
                        </a:rPr>
                        <a:t>结构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 smtClean="0">
                          <a:effectLst/>
                        </a:rPr>
                        <a:t>两</a:t>
                      </a:r>
                      <a:r>
                        <a:rPr lang="zh-CN" sz="1050" kern="100" dirty="0">
                          <a:effectLst/>
                        </a:rPr>
                        <a:t>权分离度（</a:t>
                      </a:r>
                      <a:r>
                        <a:rPr lang="en-US" sz="1050" kern="100" dirty="0">
                          <a:effectLst/>
                        </a:rPr>
                        <a:t>X4</a:t>
                      </a:r>
                      <a:r>
                        <a:rPr lang="zh-CN" sz="1050" kern="100" dirty="0">
                          <a:effectLst/>
                        </a:rPr>
                        <a:t>）、实际控制人性质（</a:t>
                      </a:r>
                      <a:r>
                        <a:rPr lang="en-US" sz="1050" kern="100" dirty="0">
                          <a:effectLst/>
                        </a:rPr>
                        <a:t>X5</a:t>
                      </a:r>
                      <a:r>
                        <a:rPr lang="zh-CN" sz="1050" kern="100" dirty="0">
                          <a:effectLst/>
                        </a:rPr>
                        <a:t>）、高管持股数量（</a:t>
                      </a:r>
                      <a:r>
                        <a:rPr lang="en-US" sz="1050" kern="100" dirty="0">
                          <a:effectLst/>
                        </a:rPr>
                        <a:t>X6</a:t>
                      </a:r>
                      <a:r>
                        <a:rPr lang="zh-CN" sz="1050" kern="100" dirty="0">
                          <a:effectLst/>
                        </a:rPr>
                        <a:t>）、股东总数（</a:t>
                      </a:r>
                      <a:r>
                        <a:rPr lang="en-US" sz="1050" kern="100" dirty="0">
                          <a:effectLst/>
                        </a:rPr>
                        <a:t>X7</a:t>
                      </a:r>
                      <a:r>
                        <a:rPr lang="zh-CN" sz="1050" kern="100" dirty="0">
                          <a:effectLst/>
                        </a:rPr>
                        <a:t>）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504056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 smtClean="0">
                          <a:effectLst/>
                        </a:rPr>
                        <a:t>治理</a:t>
                      </a:r>
                      <a:r>
                        <a:rPr lang="zh-CN" sz="1050" kern="100" dirty="0">
                          <a:effectLst/>
                        </a:rPr>
                        <a:t>结构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endParaRPr lang="en-US" altLang="zh-CN" sz="1050" kern="100" dirty="0" smtClean="0">
                        <a:effectLst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 smtClean="0">
                          <a:effectLst/>
                        </a:rPr>
                        <a:t>董事长</a:t>
                      </a:r>
                      <a:r>
                        <a:rPr lang="zh-CN" sz="1050" kern="100" dirty="0">
                          <a:effectLst/>
                        </a:rPr>
                        <a:t>与总经理兼任情况（</a:t>
                      </a:r>
                      <a:r>
                        <a:rPr lang="en-US" sz="1050" kern="100" dirty="0">
                          <a:effectLst/>
                        </a:rPr>
                        <a:t>X8</a:t>
                      </a:r>
                      <a:r>
                        <a:rPr lang="zh-CN" sz="1050" kern="100" dirty="0">
                          <a:effectLst/>
                        </a:rPr>
                        <a:t>）、董事会规模（</a:t>
                      </a:r>
                      <a:r>
                        <a:rPr lang="en-US" sz="1050" kern="100" dirty="0">
                          <a:effectLst/>
                        </a:rPr>
                        <a:t>X9</a:t>
                      </a:r>
                      <a:r>
                        <a:rPr lang="zh-CN" sz="1050" kern="100" dirty="0">
                          <a:effectLst/>
                        </a:rPr>
                        <a:t>）、独立董事人数（</a:t>
                      </a:r>
                      <a:r>
                        <a:rPr lang="en-US" sz="1050" kern="100" dirty="0">
                          <a:effectLst/>
                        </a:rPr>
                        <a:t>X10</a:t>
                      </a:r>
                      <a:r>
                        <a:rPr lang="zh-CN" sz="1050" kern="100" dirty="0">
                          <a:effectLst/>
                        </a:rPr>
                        <a:t>）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70589" y="3645024"/>
            <a:ext cx="25202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900" dirty="0"/>
              <a:t>注：数据来源于国泰安</a:t>
            </a:r>
            <a:r>
              <a:rPr lang="en-US" altLang="zh-CN" sz="900" dirty="0"/>
              <a:t>CSMAR</a:t>
            </a:r>
            <a:r>
              <a:rPr lang="zh-CN" altLang="zh-CN" sz="900" dirty="0"/>
              <a:t>数据库</a:t>
            </a:r>
          </a:p>
          <a:p>
            <a:endParaRPr lang="zh-CN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672393" y="3898939"/>
            <a:ext cx="10898596" cy="2516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dirty="0"/>
              <a:t>指标说明如下：</a:t>
            </a:r>
          </a:p>
          <a:p>
            <a:r>
              <a:rPr lang="zh-CN" altLang="zh-CN" sz="1050" dirty="0"/>
              <a:t>总资产净利润率（</a:t>
            </a:r>
            <a:r>
              <a:rPr lang="en-US" altLang="zh-CN" sz="1050" dirty="0"/>
              <a:t>X1</a:t>
            </a:r>
            <a:r>
              <a:rPr lang="zh-CN" altLang="zh-CN" sz="1050" dirty="0"/>
              <a:t>）： 净利润／总资产余额</a:t>
            </a:r>
          </a:p>
          <a:p>
            <a:r>
              <a:rPr lang="zh-CN" altLang="zh-CN" sz="1050" dirty="0"/>
              <a:t>速动比率（</a:t>
            </a:r>
            <a:r>
              <a:rPr lang="en-US" altLang="zh-CN" sz="1050" dirty="0"/>
              <a:t>X2</a:t>
            </a:r>
            <a:r>
              <a:rPr lang="zh-CN" altLang="zh-CN" sz="1050" dirty="0"/>
              <a:t>）：（流动资产－存货）／流动负债。</a:t>
            </a:r>
          </a:p>
          <a:p>
            <a:r>
              <a:rPr lang="zh-CN" altLang="zh-CN" sz="1050" dirty="0"/>
              <a:t>总资产增长率 （</a:t>
            </a:r>
            <a:r>
              <a:rPr lang="en-US" altLang="zh-CN" sz="1050" dirty="0"/>
              <a:t>X3</a:t>
            </a:r>
            <a:r>
              <a:rPr lang="zh-CN" altLang="zh-CN" sz="1050" dirty="0"/>
              <a:t>）：（资产总计本期期末值—资产总计本期期初值）</a:t>
            </a:r>
            <a:r>
              <a:rPr lang="en-US" altLang="zh-CN" sz="1050" dirty="0"/>
              <a:t> /</a:t>
            </a:r>
            <a:r>
              <a:rPr lang="zh-CN" altLang="zh-CN" sz="1050" dirty="0"/>
              <a:t>（资产总计本期期初值）。</a:t>
            </a:r>
          </a:p>
          <a:p>
            <a:r>
              <a:rPr lang="zh-CN" altLang="zh-CN" sz="1050" dirty="0"/>
              <a:t>两权分离度（</a:t>
            </a:r>
            <a:r>
              <a:rPr lang="en-US" altLang="zh-CN" sz="1050" dirty="0"/>
              <a:t>X4</a:t>
            </a:r>
            <a:r>
              <a:rPr lang="zh-CN" altLang="zh-CN" sz="1050" dirty="0"/>
              <a:t>）：控制权与所有权之间的差值。</a:t>
            </a:r>
          </a:p>
          <a:p>
            <a:r>
              <a:rPr lang="zh-CN" altLang="zh-CN" sz="1050" dirty="0"/>
              <a:t>实际控制人性质（</a:t>
            </a:r>
            <a:r>
              <a:rPr lang="en-US" altLang="zh-CN" sz="1050" dirty="0"/>
              <a:t>X5</a:t>
            </a:r>
            <a:r>
              <a:rPr lang="zh-CN" altLang="zh-CN" sz="1050" dirty="0"/>
              <a:t>）：实际控制人性质分为国有企业、民营企业、自然人、非自然人、组织或个人等。</a:t>
            </a:r>
          </a:p>
          <a:p>
            <a:r>
              <a:rPr lang="zh-CN" altLang="zh-CN" sz="1050" dirty="0"/>
              <a:t>高管持股数量（</a:t>
            </a:r>
            <a:r>
              <a:rPr lang="en-US" altLang="zh-CN" sz="1050" dirty="0"/>
              <a:t>X6</a:t>
            </a:r>
            <a:r>
              <a:rPr lang="zh-CN" altLang="zh-CN" sz="1050" dirty="0"/>
              <a:t>）：高级管理人员持有股数量，包括兼任情况。</a:t>
            </a:r>
          </a:p>
          <a:p>
            <a:r>
              <a:rPr lang="zh-CN" altLang="zh-CN" sz="1050" dirty="0"/>
              <a:t>董事长与总经理兼任情况（</a:t>
            </a:r>
            <a:r>
              <a:rPr lang="en-US" altLang="zh-CN" sz="1050" dirty="0"/>
              <a:t>X8</a:t>
            </a:r>
            <a:r>
              <a:rPr lang="zh-CN" altLang="zh-CN" sz="1050" dirty="0"/>
              <a:t>）：</a:t>
            </a:r>
            <a:r>
              <a:rPr lang="en-US" altLang="zh-CN" sz="1050" dirty="0"/>
              <a:t>1=</a:t>
            </a:r>
            <a:r>
              <a:rPr lang="zh-CN" altLang="zh-CN" sz="1050" dirty="0"/>
              <a:t>同一人；</a:t>
            </a:r>
            <a:r>
              <a:rPr lang="en-US" altLang="zh-CN" sz="1050" dirty="0"/>
              <a:t> 2=</a:t>
            </a:r>
            <a:r>
              <a:rPr lang="zh-CN" altLang="zh-CN" sz="1050" dirty="0"/>
              <a:t>不同一人</a:t>
            </a:r>
          </a:p>
          <a:p>
            <a:r>
              <a:rPr lang="zh-CN" altLang="zh-CN" sz="1050" dirty="0"/>
              <a:t>董事会人数（规模）（</a:t>
            </a:r>
            <a:r>
              <a:rPr lang="en-US" altLang="zh-CN" sz="1050" dirty="0"/>
              <a:t>X9</a:t>
            </a:r>
            <a:r>
              <a:rPr lang="zh-CN" altLang="zh-CN" sz="1050" dirty="0"/>
              <a:t>）：董事会中董事总人数，包括独立董事</a:t>
            </a:r>
            <a:r>
              <a:rPr lang="zh-CN" altLang="zh-CN" sz="1050" dirty="0" smtClean="0"/>
              <a:t>。</a:t>
            </a:r>
            <a:endParaRPr lang="en-US" altLang="zh-CN" sz="1050" dirty="0" smtClean="0"/>
          </a:p>
          <a:p>
            <a:endParaRPr lang="en-US" altLang="zh-CN" sz="1050" dirty="0"/>
          </a:p>
          <a:p>
            <a:endParaRPr lang="zh-CN" altLang="zh-CN" sz="1050" dirty="0"/>
          </a:p>
          <a:p>
            <a:r>
              <a:rPr lang="zh-CN" altLang="zh-CN" sz="1400" dirty="0">
                <a:solidFill>
                  <a:srgbClr val="000000"/>
                </a:solidFill>
              </a:rPr>
              <a:t>今有工业企业上市公司</a:t>
            </a:r>
            <a:r>
              <a:rPr lang="en-US" altLang="zh-CN" sz="1400" dirty="0">
                <a:solidFill>
                  <a:srgbClr val="000000"/>
                </a:solidFill>
              </a:rPr>
              <a:t>34</a:t>
            </a:r>
            <a:r>
              <a:rPr lang="zh-CN" altLang="zh-CN" sz="1400" dirty="0">
                <a:solidFill>
                  <a:srgbClr val="000000"/>
                </a:solidFill>
              </a:rPr>
              <a:t>家，具体指标数据见</a:t>
            </a:r>
            <a:r>
              <a:rPr lang="en-US" altLang="zh-CN" sz="1400" dirty="0">
                <a:solidFill>
                  <a:srgbClr val="000000"/>
                </a:solidFill>
              </a:rPr>
              <a:t>Excel</a:t>
            </a:r>
            <a:r>
              <a:rPr lang="zh-CN" altLang="zh-CN" sz="1400" dirty="0">
                <a:solidFill>
                  <a:srgbClr val="000000"/>
                </a:solidFill>
              </a:rPr>
              <a:t>数据文件</a:t>
            </a:r>
            <a:r>
              <a:rPr lang="en-US" altLang="zh-CN" sz="1400" dirty="0">
                <a:solidFill>
                  <a:srgbClr val="000000"/>
                </a:solidFill>
              </a:rPr>
              <a:t>data.xlsx</a:t>
            </a:r>
            <a:r>
              <a:rPr lang="zh-CN" altLang="zh-CN" sz="1400" dirty="0">
                <a:solidFill>
                  <a:srgbClr val="000000"/>
                </a:solidFill>
              </a:rPr>
              <a:t>和股票简称数据表</a:t>
            </a:r>
            <a:r>
              <a:rPr lang="en-US" altLang="zh-CN" sz="1400" dirty="0">
                <a:solidFill>
                  <a:srgbClr val="000000"/>
                </a:solidFill>
              </a:rPr>
              <a:t>TRD_Co.xlsx</a:t>
            </a:r>
            <a:r>
              <a:rPr lang="zh-CN" altLang="zh-CN" sz="1400" dirty="0">
                <a:solidFill>
                  <a:srgbClr val="000000"/>
                </a:solidFill>
              </a:rPr>
              <a:t>，问题如下：</a:t>
            </a:r>
          </a:p>
          <a:p>
            <a:r>
              <a:rPr lang="zh-CN" altLang="zh-CN" sz="1400" dirty="0">
                <a:solidFill>
                  <a:srgbClr val="000000"/>
                </a:solidFill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</a:rPr>
              <a:t>1</a:t>
            </a:r>
            <a:r>
              <a:rPr lang="zh-CN" altLang="zh-CN" sz="1400" dirty="0">
                <a:solidFill>
                  <a:srgbClr val="000000"/>
                </a:solidFill>
              </a:rPr>
              <a:t>）对指标数据作主成分分析，并基于提取的主成分进行综合排名（要求提取的主成分累计贡献率在</a:t>
            </a:r>
            <a:r>
              <a:rPr lang="en-US" altLang="zh-CN" sz="1400" dirty="0">
                <a:solidFill>
                  <a:srgbClr val="000000"/>
                </a:solidFill>
              </a:rPr>
              <a:t>95%</a:t>
            </a:r>
            <a:r>
              <a:rPr lang="zh-CN" altLang="zh-CN" sz="1400" dirty="0">
                <a:solidFill>
                  <a:srgbClr val="000000"/>
                </a:solidFill>
              </a:rPr>
              <a:t>以上）</a:t>
            </a:r>
          </a:p>
          <a:p>
            <a:r>
              <a:rPr lang="zh-CN" altLang="zh-CN" sz="1400" dirty="0">
                <a:solidFill>
                  <a:srgbClr val="000000"/>
                </a:solidFill>
              </a:rPr>
              <a:t>（</a:t>
            </a:r>
            <a:r>
              <a:rPr lang="en-US" altLang="zh-CN" sz="1400" dirty="0">
                <a:solidFill>
                  <a:srgbClr val="000000"/>
                </a:solidFill>
              </a:rPr>
              <a:t>2</a:t>
            </a:r>
            <a:r>
              <a:rPr lang="zh-CN" altLang="zh-CN" sz="1400" dirty="0">
                <a:solidFill>
                  <a:srgbClr val="000000"/>
                </a:solidFill>
              </a:rPr>
              <a:t>）返回排名结果，并输出到</a:t>
            </a:r>
            <a:r>
              <a:rPr lang="en-US" altLang="zh-CN" sz="1400" dirty="0">
                <a:solidFill>
                  <a:srgbClr val="000000"/>
                </a:solidFill>
              </a:rPr>
              <a:t>Excel</a:t>
            </a:r>
            <a:r>
              <a:rPr lang="zh-CN" altLang="zh-CN" sz="1400" dirty="0">
                <a:solidFill>
                  <a:srgbClr val="000000"/>
                </a:solidFill>
              </a:rPr>
              <a:t>表格中。（注：排名结果采用股票简称的形式）。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77199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 smtClean="0">
                <a:solidFill>
                  <a:schemeClr val="accent2"/>
                </a:solidFill>
              </a:rPr>
              <a:t>12.2.2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上市</a:t>
            </a:r>
            <a:r>
              <a:rPr lang="zh-CN" altLang="zh-CN" sz="2800" b="1" dirty="0">
                <a:solidFill>
                  <a:schemeClr val="accent2"/>
                </a:solidFill>
              </a:rPr>
              <a:t>公司透明度综合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评价</a:t>
            </a:r>
            <a:r>
              <a:rPr lang="zh-CN" altLang="en-US" sz="2800" b="1" dirty="0" smtClean="0">
                <a:solidFill>
                  <a:schemeClr val="accent2"/>
                </a:solidFill>
              </a:rPr>
              <a:t>实训指导</a:t>
            </a:r>
            <a:endParaRPr lang="zh-CN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9749" y="980728"/>
            <a:ext cx="102251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本课题的实现可以参考第</a:t>
            </a:r>
            <a:r>
              <a:rPr lang="en-US" altLang="zh-CN" sz="2000" dirty="0"/>
              <a:t>8</a:t>
            </a:r>
            <a:r>
              <a:rPr lang="zh-CN" altLang="zh-CN" sz="2000" dirty="0"/>
              <a:t>章中主成分综合排名相关内容，相关理论介绍及应用可以参考第</a:t>
            </a:r>
            <a:r>
              <a:rPr lang="en-US" altLang="zh-CN" sz="2000" dirty="0"/>
              <a:t>5</a:t>
            </a:r>
            <a:r>
              <a:rPr lang="zh-CN" altLang="zh-CN" sz="2000" dirty="0"/>
              <a:t>章中主成分分析部分。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952192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 smtClean="0">
                <a:solidFill>
                  <a:schemeClr val="accent2"/>
                </a:solidFill>
              </a:rPr>
              <a:t>12.3.1</a:t>
            </a:r>
            <a:r>
              <a:rPr lang="zh-CN" altLang="zh-CN" sz="2800" b="1" dirty="0">
                <a:solidFill>
                  <a:schemeClr val="accent2"/>
                </a:solidFill>
              </a:rPr>
              <a:t>基于支持向量机的量化择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时</a:t>
            </a:r>
            <a:r>
              <a:rPr lang="zh-CN" altLang="en-US" sz="2800" b="1" dirty="0" smtClean="0">
                <a:solidFill>
                  <a:schemeClr val="accent2"/>
                </a:solidFill>
              </a:rPr>
              <a:t>课题内容</a:t>
            </a:r>
            <a:endParaRPr lang="zh-CN" altLang="zh-CN" sz="2800" b="1" dirty="0">
              <a:solidFill>
                <a:schemeClr val="accent2"/>
              </a:solidFill>
            </a:endParaRPr>
          </a:p>
          <a:p>
            <a:endParaRPr lang="zh-CN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5733" y="836712"/>
            <a:ext cx="11521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今有沪深</a:t>
            </a:r>
            <a:r>
              <a:rPr lang="en-US" altLang="zh-CN" sz="1600" dirty="0"/>
              <a:t>300</a:t>
            </a:r>
            <a:r>
              <a:rPr lang="zh-CN" altLang="zh-CN" sz="1600" dirty="0"/>
              <a:t>指数</a:t>
            </a:r>
            <a:r>
              <a:rPr lang="en-US" altLang="zh-CN" sz="1600" dirty="0"/>
              <a:t>2016</a:t>
            </a:r>
            <a:r>
              <a:rPr lang="zh-CN" altLang="zh-CN" sz="1600" dirty="0"/>
              <a:t>年</a:t>
            </a:r>
            <a:r>
              <a:rPr lang="en-US" altLang="zh-CN" sz="1600" dirty="0"/>
              <a:t>~2017</a:t>
            </a:r>
            <a:r>
              <a:rPr lang="zh-CN" altLang="zh-CN" sz="1600" dirty="0"/>
              <a:t>年的交易数据表和交易日历数据表，其表结构及字段说明</a:t>
            </a:r>
            <a:r>
              <a:rPr lang="zh-CN" altLang="zh-CN" sz="1600" dirty="0" smtClean="0"/>
              <a:t>如下</a:t>
            </a:r>
            <a:r>
              <a:rPr lang="zh-CN" altLang="en-US" sz="1600" dirty="0" smtClean="0"/>
              <a:t>：</a:t>
            </a:r>
            <a:endParaRPr lang="zh-CN" altLang="en-US" sz="1600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89870" y="1484785"/>
          <a:ext cx="8424935" cy="20553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3652"/>
                <a:gridCol w="1298420"/>
                <a:gridCol w="972829"/>
                <a:gridCol w="972829"/>
                <a:gridCol w="986642"/>
                <a:gridCol w="1006374"/>
                <a:gridCol w="972829"/>
                <a:gridCol w="1081360"/>
              </a:tblGrid>
              <a:tr h="14805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指数代码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交易日期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开盘价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最高价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最低价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收盘价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成交量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成交额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457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000300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3725.86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3726.25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3468.95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3469.07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1153707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14596821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457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000300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3382.18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3518.22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3377.28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3478.78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1621170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19601709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457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000300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2016-01-06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3482.41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3543.74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3468.47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3539.81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1459661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16094720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457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000300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2016-01-07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3481.15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3481.15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3284.74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3294.38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441026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4713080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457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000300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2016-01-08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3371.87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3418.85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3237.93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3361.56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1859595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20349887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457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000300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2016-01-11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3303.13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3342.48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3192.45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3192.45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1746384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18446405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4573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000300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2016-01-12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3214.82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3242.25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3174.55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3215.71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1282258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14204891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48053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930029" y="1223174"/>
            <a:ext cx="511256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100" dirty="0"/>
              <a:t>表</a:t>
            </a:r>
            <a:r>
              <a:rPr lang="en-US" altLang="zh-CN" sz="1100" dirty="0"/>
              <a:t>4 </a:t>
            </a:r>
            <a:r>
              <a:rPr lang="zh-CN" altLang="zh-CN" sz="1100" dirty="0"/>
              <a:t>沪深</a:t>
            </a:r>
            <a:r>
              <a:rPr lang="en-US" altLang="zh-CN" sz="1100" dirty="0"/>
              <a:t>300</a:t>
            </a:r>
            <a:r>
              <a:rPr lang="zh-CN" altLang="zh-CN" sz="1100" dirty="0"/>
              <a:t>指数</a:t>
            </a:r>
            <a:r>
              <a:rPr lang="en-US" altLang="zh-CN" sz="1100" dirty="0"/>
              <a:t>2016</a:t>
            </a:r>
            <a:r>
              <a:rPr lang="zh-CN" altLang="zh-CN" sz="1100" dirty="0"/>
              <a:t>年</a:t>
            </a:r>
            <a:r>
              <a:rPr lang="en-US" altLang="zh-CN" sz="1100" dirty="0"/>
              <a:t>~2017</a:t>
            </a:r>
            <a:r>
              <a:rPr lang="zh-CN" altLang="zh-CN" sz="1100" dirty="0"/>
              <a:t>年的交易数据表</a:t>
            </a:r>
            <a:endParaRPr lang="zh-CN" alt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3218061" y="3615440"/>
            <a:ext cx="44644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/>
              <a:t>              </a:t>
            </a:r>
            <a:r>
              <a:rPr lang="zh-CN" altLang="zh-CN" sz="1050" dirty="0" smtClean="0"/>
              <a:t>表</a:t>
            </a:r>
            <a:r>
              <a:rPr lang="en-US" altLang="zh-CN" sz="1050" dirty="0"/>
              <a:t>5 </a:t>
            </a:r>
            <a:r>
              <a:rPr lang="zh-CN" altLang="zh-CN" sz="1050" dirty="0"/>
              <a:t>交易日历数据表</a:t>
            </a:r>
            <a:endParaRPr lang="zh-CN" altLang="en-US" sz="1050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/>
        </p:nvGraphicFramePr>
        <p:xfrm>
          <a:off x="2353965" y="3877050"/>
          <a:ext cx="6264697" cy="2011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59142"/>
                <a:gridCol w="1662993"/>
                <a:gridCol w="1412403"/>
                <a:gridCol w="1230159"/>
              </a:tblGrid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Markettype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Clddt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Daywk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State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2016-01-06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1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2016-01-07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2016-01-08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2016-01-11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2016-01-12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2016-01-13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2016-01-14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2016-01-15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24681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3805" y="5949280"/>
            <a:ext cx="10729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其中</a:t>
            </a:r>
            <a:r>
              <a:rPr lang="en-US" altLang="zh-CN" sz="1600" dirty="0" err="1"/>
              <a:t>Markettype</a:t>
            </a:r>
            <a:r>
              <a:rPr lang="zh-CN" altLang="zh-CN" sz="1600" dirty="0"/>
              <a:t>表示市场类型，</a:t>
            </a:r>
            <a:r>
              <a:rPr lang="en-US" altLang="zh-CN" sz="1600" dirty="0"/>
              <a:t>1-</a:t>
            </a:r>
            <a:r>
              <a:rPr lang="zh-CN" altLang="zh-CN" sz="1600" dirty="0"/>
              <a:t>表示上海市场（上交所）；</a:t>
            </a:r>
            <a:r>
              <a:rPr lang="en-US" altLang="zh-CN" sz="1600" dirty="0" err="1"/>
              <a:t>Clddt</a:t>
            </a:r>
            <a:r>
              <a:rPr lang="zh-CN" altLang="zh-CN" sz="1600" dirty="0"/>
              <a:t>表示日期；</a:t>
            </a:r>
            <a:r>
              <a:rPr lang="en-US" altLang="zh-CN" sz="1600" dirty="0" err="1"/>
              <a:t>Daywk</a:t>
            </a:r>
            <a:r>
              <a:rPr lang="zh-CN" altLang="zh-CN" sz="1600" dirty="0"/>
              <a:t>表示星期；</a:t>
            </a:r>
            <a:r>
              <a:rPr lang="en-US" altLang="zh-CN" sz="1600" dirty="0"/>
              <a:t>State</a:t>
            </a:r>
            <a:r>
              <a:rPr lang="zh-CN" altLang="zh-CN" sz="1600" dirty="0"/>
              <a:t>表示开市状态，</a:t>
            </a:r>
            <a:r>
              <a:rPr lang="en-US" altLang="zh-CN" sz="1600" dirty="0"/>
              <a:t>O-</a:t>
            </a:r>
            <a:r>
              <a:rPr lang="zh-CN" altLang="zh-CN" sz="1600" dirty="0"/>
              <a:t>表示开市。本数据表选择了上交所</a:t>
            </a:r>
            <a:r>
              <a:rPr lang="en-US" altLang="zh-CN" sz="1600" dirty="0"/>
              <a:t>2016</a:t>
            </a:r>
            <a:r>
              <a:rPr lang="zh-CN" altLang="zh-CN" sz="1600" dirty="0"/>
              <a:t>年</a:t>
            </a:r>
            <a:r>
              <a:rPr lang="en-US" altLang="zh-CN" sz="1600" dirty="0"/>
              <a:t>1</a:t>
            </a:r>
            <a:r>
              <a:rPr lang="zh-CN" altLang="zh-CN" sz="1600" dirty="0"/>
              <a:t>月</a:t>
            </a:r>
            <a:r>
              <a:rPr lang="en-US" altLang="zh-CN" sz="1600" dirty="0"/>
              <a:t>4</a:t>
            </a:r>
            <a:r>
              <a:rPr lang="zh-CN" altLang="zh-CN" sz="1600" dirty="0"/>
              <a:t>日至</a:t>
            </a:r>
            <a:r>
              <a:rPr lang="en-US" altLang="zh-CN" sz="1600" dirty="0"/>
              <a:t>2017</a:t>
            </a:r>
            <a:r>
              <a:rPr lang="zh-CN" altLang="zh-CN" sz="1600" dirty="0"/>
              <a:t>年</a:t>
            </a:r>
            <a:r>
              <a:rPr lang="en-US" altLang="zh-CN" sz="1600" dirty="0"/>
              <a:t>12</a:t>
            </a:r>
            <a:r>
              <a:rPr lang="zh-CN" altLang="zh-CN" sz="1600" dirty="0"/>
              <a:t>月</a:t>
            </a:r>
            <a:r>
              <a:rPr lang="en-US" altLang="zh-CN" sz="1600" dirty="0"/>
              <a:t>29</a:t>
            </a:r>
            <a:r>
              <a:rPr lang="zh-CN" altLang="zh-CN" sz="1600" dirty="0"/>
              <a:t>日每日开市日期数据</a:t>
            </a:r>
          </a:p>
          <a:p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952192" cy="954101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 smtClean="0">
                <a:solidFill>
                  <a:schemeClr val="accent2"/>
                </a:solidFill>
              </a:rPr>
              <a:t>12.3.1</a:t>
            </a:r>
            <a:r>
              <a:rPr lang="zh-CN" altLang="zh-CN" sz="2800" b="1" dirty="0">
                <a:solidFill>
                  <a:schemeClr val="accent2"/>
                </a:solidFill>
              </a:rPr>
              <a:t>基于支持向量机的量化择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时</a:t>
            </a:r>
            <a:r>
              <a:rPr lang="zh-CN" altLang="en-US" sz="2800" b="1" dirty="0" smtClean="0">
                <a:solidFill>
                  <a:schemeClr val="accent2"/>
                </a:solidFill>
              </a:rPr>
              <a:t>课题内容</a:t>
            </a:r>
            <a:endParaRPr lang="zh-CN" altLang="zh-CN" sz="2800" b="1" dirty="0">
              <a:solidFill>
                <a:schemeClr val="accent2"/>
              </a:solidFill>
            </a:endParaRPr>
          </a:p>
          <a:p>
            <a:endParaRPr lang="zh-CN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5733" y="836712"/>
            <a:ext cx="11665296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1.</a:t>
            </a:r>
            <a:r>
              <a:rPr lang="zh-CN" altLang="zh-CN" sz="1600" dirty="0" smtClean="0"/>
              <a:t>请</a:t>
            </a:r>
            <a:r>
              <a:rPr lang="zh-CN" altLang="zh-CN" sz="1600" dirty="0"/>
              <a:t>计算以下标指：</a:t>
            </a:r>
          </a:p>
          <a:p>
            <a:r>
              <a:rPr lang="en-US" altLang="zh-CN" b="1" dirty="0"/>
              <a:t>A1</a:t>
            </a:r>
            <a:r>
              <a:rPr lang="zh-CN" altLang="zh-CN" b="1" dirty="0"/>
              <a:t>周最高价：</a:t>
            </a:r>
            <a:r>
              <a:rPr lang="zh-CN" altLang="zh-CN" dirty="0"/>
              <a:t>周内指数成交的最高价。</a:t>
            </a:r>
          </a:p>
          <a:p>
            <a:r>
              <a:rPr lang="en-US" altLang="zh-CN" b="1" dirty="0"/>
              <a:t>A2</a:t>
            </a:r>
            <a:r>
              <a:rPr lang="zh-CN" altLang="zh-CN" b="1" dirty="0"/>
              <a:t>周最低价</a:t>
            </a:r>
            <a:r>
              <a:rPr lang="zh-CN" altLang="zh-CN" dirty="0"/>
              <a:t>：周内指数成交的最低价。</a:t>
            </a:r>
          </a:p>
          <a:p>
            <a:r>
              <a:rPr lang="en-US" altLang="zh-CN" b="1" dirty="0"/>
              <a:t>A3</a:t>
            </a:r>
            <a:r>
              <a:rPr lang="zh-CN" altLang="zh-CN" b="1" dirty="0"/>
              <a:t>成交额：一</a:t>
            </a:r>
            <a:r>
              <a:rPr lang="zh-CN" altLang="zh-CN" dirty="0"/>
              <a:t>周内指数成交额。</a:t>
            </a:r>
          </a:p>
          <a:p>
            <a:r>
              <a:rPr lang="en-US" altLang="zh-CN" b="1" dirty="0"/>
              <a:t>A4</a:t>
            </a:r>
            <a:r>
              <a:rPr lang="zh-CN" altLang="zh-CN" b="1" dirty="0"/>
              <a:t>周收益率</a:t>
            </a:r>
            <a:r>
              <a:rPr lang="zh-CN" altLang="zh-CN" dirty="0"/>
              <a:t>：（本周收盘价</a:t>
            </a:r>
            <a:r>
              <a:rPr lang="en-US" altLang="zh-CN" dirty="0"/>
              <a:t>-</a:t>
            </a:r>
            <a:r>
              <a:rPr lang="zh-CN" altLang="zh-CN" dirty="0"/>
              <a:t>上周收盘价）</a:t>
            </a:r>
            <a:r>
              <a:rPr lang="en-US" altLang="zh-CN" dirty="0"/>
              <a:t>/</a:t>
            </a:r>
            <a:r>
              <a:rPr lang="zh-CN" altLang="zh-CN" dirty="0"/>
              <a:t>上周收盘价。</a:t>
            </a:r>
          </a:p>
          <a:p>
            <a:r>
              <a:rPr lang="en-US" altLang="zh-CN" b="1" dirty="0"/>
              <a:t>A5</a:t>
            </a:r>
            <a:r>
              <a:rPr lang="zh-CN" altLang="zh-CN" b="1" dirty="0"/>
              <a:t>上周收益率：</a:t>
            </a:r>
            <a:r>
              <a:rPr lang="zh-CN" altLang="zh-CN" dirty="0"/>
              <a:t>上一周的周收益率。</a:t>
            </a:r>
          </a:p>
          <a:p>
            <a:r>
              <a:rPr lang="en-US" altLang="zh-CN" b="1" dirty="0"/>
              <a:t>A6</a:t>
            </a:r>
            <a:r>
              <a:rPr lang="zh-CN" altLang="zh-CN" b="1" dirty="0"/>
              <a:t>前周收益率：</a:t>
            </a:r>
            <a:r>
              <a:rPr lang="zh-CN" altLang="zh-CN" dirty="0"/>
              <a:t>上上周的周收益率。</a:t>
            </a:r>
          </a:p>
          <a:p>
            <a:r>
              <a:rPr lang="en-US" altLang="zh-CN" b="1" dirty="0"/>
              <a:t>A7</a:t>
            </a:r>
            <a:r>
              <a:rPr lang="zh-CN" altLang="zh-CN" b="1" dirty="0"/>
              <a:t>上周成交额：</a:t>
            </a:r>
            <a:r>
              <a:rPr lang="zh-CN" altLang="zh-CN" dirty="0"/>
              <a:t>上一周的成交额。</a:t>
            </a:r>
          </a:p>
          <a:p>
            <a:r>
              <a:rPr lang="en-US" altLang="zh-CN" b="1" dirty="0"/>
              <a:t>A8</a:t>
            </a:r>
            <a:r>
              <a:rPr lang="zh-CN" altLang="zh-CN" b="1" dirty="0"/>
              <a:t>近四周平均成交额：</a:t>
            </a:r>
            <a:r>
              <a:rPr lang="zh-CN" altLang="zh-CN" dirty="0"/>
              <a:t>在最近的四周内的平均成交额。</a:t>
            </a:r>
          </a:p>
          <a:p>
            <a:r>
              <a:rPr lang="en-US" altLang="zh-CN" b="1" dirty="0"/>
              <a:t>Y</a:t>
            </a:r>
            <a:r>
              <a:rPr lang="zh-CN" altLang="zh-CN" b="1" dirty="0"/>
              <a:t>（决策变量）</a:t>
            </a:r>
            <a:r>
              <a:rPr lang="zh-CN" altLang="zh-CN" dirty="0"/>
              <a:t>：下周收盘价 </a:t>
            </a:r>
            <a:r>
              <a:rPr lang="en-US" altLang="zh-CN" dirty="0"/>
              <a:t>– </a:t>
            </a:r>
            <a:r>
              <a:rPr lang="zh-CN" altLang="zh-CN" dirty="0"/>
              <a:t>本周收盘价，如果大于</a:t>
            </a:r>
            <a:r>
              <a:rPr lang="en-US" altLang="zh-CN" dirty="0"/>
              <a:t> 0</a:t>
            </a:r>
            <a:r>
              <a:rPr lang="zh-CN" altLang="zh-CN" dirty="0"/>
              <a:t>，记为</a:t>
            </a:r>
            <a:r>
              <a:rPr lang="en-US" altLang="zh-CN" dirty="0"/>
              <a:t> 1</a:t>
            </a:r>
            <a:r>
              <a:rPr lang="zh-CN" altLang="zh-CN" dirty="0"/>
              <a:t>；如果小于等于</a:t>
            </a:r>
            <a:r>
              <a:rPr lang="en-US" altLang="zh-CN" dirty="0"/>
              <a:t> 0</a:t>
            </a:r>
            <a:r>
              <a:rPr lang="zh-CN" altLang="zh-CN" dirty="0"/>
              <a:t>，记为</a:t>
            </a:r>
            <a:r>
              <a:rPr lang="en-US" altLang="zh-CN" dirty="0"/>
              <a:t> -1</a:t>
            </a:r>
            <a:r>
              <a:rPr lang="zh-CN" altLang="zh-CN" dirty="0"/>
              <a:t>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9749" y="3861048"/>
            <a:ext cx="112332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2.</a:t>
            </a:r>
            <a:r>
              <a:rPr lang="zh-CN" altLang="zh-CN" dirty="0" smtClean="0"/>
              <a:t> 对</a:t>
            </a:r>
            <a:r>
              <a:rPr lang="zh-CN" altLang="zh-CN" dirty="0"/>
              <a:t>指标</a:t>
            </a:r>
            <a:r>
              <a:rPr lang="en-US" altLang="zh-CN" dirty="0"/>
              <a:t>A1~A8</a:t>
            </a:r>
            <a:r>
              <a:rPr lang="zh-CN" altLang="zh-CN" dirty="0"/>
              <a:t>作标准化处理：</a:t>
            </a:r>
            <a:r>
              <a:rPr lang="en-US" altLang="zh-CN" dirty="0"/>
              <a:t>( </a:t>
            </a:r>
            <a:r>
              <a:rPr lang="zh-CN" altLang="zh-CN" dirty="0"/>
              <a:t>当前值</a:t>
            </a:r>
            <a:r>
              <a:rPr lang="en-US" altLang="zh-CN" dirty="0"/>
              <a:t> - </a:t>
            </a:r>
            <a:r>
              <a:rPr lang="zh-CN" altLang="zh-CN" dirty="0"/>
              <a:t>均值</a:t>
            </a:r>
            <a:r>
              <a:rPr lang="en-US" altLang="zh-CN" dirty="0"/>
              <a:t> )/ </a:t>
            </a:r>
            <a:r>
              <a:rPr lang="zh-CN" altLang="zh-CN" dirty="0"/>
              <a:t>标准差，最终得到以下标准的数据结构形式：</a:t>
            </a:r>
          </a:p>
          <a:p>
            <a:r>
              <a:rPr lang="en-US" altLang="zh-CN" dirty="0"/>
              <a:t>ID     A1      A2     A3     A4     A5     A6     A7     A8    Y</a:t>
            </a:r>
            <a:endParaRPr lang="zh-CN" altLang="zh-CN" dirty="0"/>
          </a:p>
          <a:p>
            <a:r>
              <a:rPr lang="en-US" altLang="zh-CN" dirty="0"/>
              <a:t>1</a:t>
            </a:r>
            <a:endParaRPr lang="zh-CN" altLang="zh-CN" dirty="0"/>
          </a:p>
          <a:p>
            <a:r>
              <a:rPr lang="en-US" altLang="zh-CN" dirty="0"/>
              <a:t>2</a:t>
            </a:r>
            <a:endParaRPr lang="zh-CN" altLang="zh-CN" dirty="0"/>
          </a:p>
          <a:p>
            <a:r>
              <a:rPr lang="en-US" altLang="zh-CN" dirty="0"/>
              <a:t>3</a:t>
            </a:r>
            <a:endParaRPr lang="zh-CN" altLang="zh-CN" dirty="0"/>
          </a:p>
          <a:p>
            <a:r>
              <a:rPr lang="zh-CN" altLang="zh-CN" dirty="0"/>
              <a:t>……</a:t>
            </a:r>
          </a:p>
          <a:p>
            <a:r>
              <a:rPr lang="zh-CN" altLang="zh-CN" dirty="0"/>
              <a:t>取后</a:t>
            </a:r>
            <a:r>
              <a:rPr lang="en-US" altLang="zh-CN" dirty="0"/>
              <a:t>12</a:t>
            </a:r>
            <a:r>
              <a:rPr lang="zh-CN" altLang="zh-CN" dirty="0"/>
              <a:t>行数据（即后面的</a:t>
            </a:r>
            <a:r>
              <a:rPr lang="en-US" altLang="zh-CN" dirty="0"/>
              <a:t>12</a:t>
            </a:r>
            <a:r>
              <a:rPr lang="zh-CN" altLang="zh-CN" dirty="0"/>
              <a:t>个周）作为测试样本，剩下数据的作为训练样本，利用支持向量机模型进行训练及测试。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952192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 smtClean="0">
                <a:solidFill>
                  <a:schemeClr val="accent2"/>
                </a:solidFill>
              </a:rPr>
              <a:t>12.3.2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基于</a:t>
            </a:r>
            <a:r>
              <a:rPr lang="zh-CN" altLang="zh-CN" sz="2800" b="1" dirty="0">
                <a:solidFill>
                  <a:schemeClr val="accent2"/>
                </a:solidFill>
              </a:rPr>
              <a:t>支持向量机的量化择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时</a:t>
            </a:r>
            <a:r>
              <a:rPr lang="zh-CN" altLang="zh-CN" sz="2800" b="1" dirty="0">
                <a:solidFill>
                  <a:schemeClr val="accent2"/>
                </a:solidFill>
              </a:rPr>
              <a:t>实训指导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5733" y="836712"/>
            <a:ext cx="11665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本课题的关键地方有两</a:t>
            </a:r>
            <a:r>
              <a:rPr lang="zh-CN" altLang="zh-CN" sz="2000" dirty="0" smtClean="0"/>
              <a:t>个</a:t>
            </a:r>
            <a:endParaRPr lang="en-US" altLang="zh-CN" sz="2000" dirty="0" smtClean="0"/>
          </a:p>
          <a:p>
            <a:r>
              <a:rPr lang="en-US" altLang="zh-CN" sz="2000" dirty="0" smtClean="0"/>
              <a:t>1.</a:t>
            </a:r>
            <a:r>
              <a:rPr lang="zh-CN" altLang="zh-CN" sz="2000" dirty="0" smtClean="0"/>
              <a:t>将</a:t>
            </a:r>
            <a:r>
              <a:rPr lang="zh-CN" altLang="zh-CN" sz="2000" dirty="0"/>
              <a:t>日度交易数据转化为周频率的统计数据并计算</a:t>
            </a:r>
            <a:r>
              <a:rPr lang="zh-CN" altLang="zh-CN" sz="2000" dirty="0" smtClean="0"/>
              <a:t>指标</a:t>
            </a:r>
            <a:endParaRPr lang="en-US" altLang="zh-CN" sz="2000" dirty="0" smtClean="0"/>
          </a:p>
          <a:p>
            <a:r>
              <a:rPr lang="en-US" altLang="zh-CN" sz="2000" dirty="0" smtClean="0"/>
              <a:t>2.</a:t>
            </a:r>
            <a:r>
              <a:rPr lang="zh-CN" altLang="zh-CN" sz="2000" dirty="0" smtClean="0"/>
              <a:t>另</a:t>
            </a:r>
            <a:r>
              <a:rPr lang="zh-CN" altLang="zh-CN" sz="2000" dirty="0"/>
              <a:t>一个是对应指标的</a:t>
            </a:r>
            <a:r>
              <a:rPr lang="en-US" altLang="zh-CN" sz="2000" dirty="0"/>
              <a:t>index</a:t>
            </a:r>
            <a:r>
              <a:rPr lang="zh-CN" altLang="zh-CN" sz="2000" dirty="0"/>
              <a:t>截取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741" y="1916832"/>
            <a:ext cx="108732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基本思路如下：</a:t>
            </a:r>
          </a:p>
          <a:p>
            <a:r>
              <a:rPr lang="en-US" altLang="zh-CN" sz="2000" dirty="0" smtClean="0"/>
              <a:t>      </a:t>
            </a:r>
            <a:r>
              <a:rPr lang="zh-CN" altLang="zh-CN" sz="2000" dirty="0" smtClean="0"/>
              <a:t>首先</a:t>
            </a:r>
            <a:r>
              <a:rPr lang="zh-CN" altLang="zh-CN" sz="2000" dirty="0"/>
              <a:t>基于交易日历数据表，找出每周的最小交易日和最大交易日，这里可以参考</a:t>
            </a:r>
            <a:r>
              <a:rPr lang="en-US" altLang="zh-CN" sz="2000" dirty="0"/>
              <a:t>7.2</a:t>
            </a:r>
            <a:r>
              <a:rPr lang="zh-CN" altLang="zh-CN" sz="2000" dirty="0"/>
              <a:t>的案例。假设每周的最小交易日和最大交易日分别用</a:t>
            </a:r>
            <a:r>
              <a:rPr lang="en-US" altLang="zh-CN" sz="2000" dirty="0"/>
              <a:t>list1</a:t>
            </a:r>
            <a:r>
              <a:rPr lang="zh-CN" altLang="zh-CN" sz="2000" dirty="0"/>
              <a:t>和</a:t>
            </a:r>
            <a:r>
              <a:rPr lang="en-US" altLang="zh-CN" sz="2000" dirty="0"/>
              <a:t>list2</a:t>
            </a:r>
            <a:r>
              <a:rPr lang="zh-CN" altLang="zh-CN" sz="2000" dirty="0"/>
              <a:t>来存储。</a:t>
            </a:r>
          </a:p>
          <a:p>
            <a:r>
              <a:rPr lang="en-US" altLang="zh-CN" sz="2000" dirty="0" smtClean="0"/>
              <a:t>       </a:t>
            </a:r>
            <a:r>
              <a:rPr lang="zh-CN" altLang="zh-CN" sz="2000" dirty="0" smtClean="0"/>
              <a:t>其次</a:t>
            </a:r>
            <a:r>
              <a:rPr lang="zh-CN" altLang="zh-CN" sz="2000" dirty="0"/>
              <a:t>，就是利用日交易数据表计算各个指标，对于</a:t>
            </a:r>
            <a:r>
              <a:rPr lang="en-US" altLang="zh-CN" sz="2000" dirty="0"/>
              <a:t>A1~A3</a:t>
            </a:r>
            <a:r>
              <a:rPr lang="zh-CN" altLang="zh-CN" sz="2000" dirty="0"/>
              <a:t>，第</a:t>
            </a:r>
            <a:r>
              <a:rPr lang="en-US" altLang="zh-CN" sz="2000" dirty="0"/>
              <a:t>i</a:t>
            </a:r>
            <a:r>
              <a:rPr lang="zh-CN" altLang="zh-CN" sz="2000" dirty="0"/>
              <a:t>周的最高价、最低价和成交额，可以分别用</a:t>
            </a:r>
            <a:r>
              <a:rPr lang="en-US" altLang="zh-CN" sz="2000" dirty="0"/>
              <a:t>max</a:t>
            </a:r>
            <a:r>
              <a:rPr lang="zh-CN" altLang="zh-CN" sz="2000" dirty="0"/>
              <a:t>、</a:t>
            </a:r>
            <a:r>
              <a:rPr lang="en-US" altLang="zh-CN" sz="2000" dirty="0"/>
              <a:t>min</a:t>
            </a:r>
            <a:r>
              <a:rPr lang="zh-CN" altLang="zh-CN" sz="2000" dirty="0"/>
              <a:t>、</a:t>
            </a:r>
            <a:r>
              <a:rPr lang="en-US" altLang="zh-CN" sz="2000" dirty="0"/>
              <a:t>sum</a:t>
            </a:r>
            <a:r>
              <a:rPr lang="zh-CN" altLang="zh-CN" sz="2000" dirty="0"/>
              <a:t>函数计算交易日期在</a:t>
            </a:r>
            <a:r>
              <a:rPr lang="en-US" altLang="zh-CN" sz="2000" dirty="0"/>
              <a:t>list1[i]</a:t>
            </a:r>
            <a:r>
              <a:rPr lang="zh-CN" altLang="zh-CN" sz="2000" dirty="0"/>
              <a:t>和</a:t>
            </a:r>
            <a:r>
              <a:rPr lang="en-US" altLang="zh-CN" sz="2000" dirty="0"/>
              <a:t>list2[i]</a:t>
            </a:r>
            <a:r>
              <a:rPr lang="zh-CN" altLang="zh-CN" sz="2000" dirty="0"/>
              <a:t>之间最高价、最低价和成交额获得；对于</a:t>
            </a:r>
            <a:r>
              <a:rPr lang="en-US" altLang="zh-CN" sz="2000" dirty="0"/>
              <a:t>A4</a:t>
            </a:r>
            <a:r>
              <a:rPr lang="zh-CN" altLang="zh-CN" sz="2000" dirty="0"/>
              <a:t>，第</a:t>
            </a:r>
            <a:r>
              <a:rPr lang="en-US" altLang="zh-CN" sz="2000" dirty="0"/>
              <a:t>i</a:t>
            </a:r>
            <a:r>
              <a:rPr lang="zh-CN" altLang="zh-CN" sz="2000" dirty="0"/>
              <a:t>周的收益率</a:t>
            </a:r>
            <a:r>
              <a:rPr lang="en-US" altLang="zh-CN" sz="2000" dirty="0"/>
              <a:t>=</a:t>
            </a:r>
            <a:r>
              <a:rPr lang="zh-CN" altLang="zh-CN" sz="2000" dirty="0"/>
              <a:t>（</a:t>
            </a:r>
            <a:r>
              <a:rPr lang="en-US" altLang="zh-CN" sz="2000" dirty="0"/>
              <a:t>list2[i]</a:t>
            </a:r>
            <a:r>
              <a:rPr lang="zh-CN" altLang="zh-CN" sz="2000" dirty="0"/>
              <a:t>对应的收盘价</a:t>
            </a:r>
            <a:r>
              <a:rPr lang="en-US" altLang="zh-CN" sz="2000" dirty="0"/>
              <a:t>-list2[i-1]</a:t>
            </a:r>
            <a:r>
              <a:rPr lang="zh-CN" altLang="zh-CN" sz="2000" dirty="0"/>
              <a:t>对应的收盘价）</a:t>
            </a:r>
            <a:r>
              <a:rPr lang="en-US" altLang="zh-CN" sz="2000" dirty="0"/>
              <a:t>/ list2[i-1]</a:t>
            </a:r>
            <a:r>
              <a:rPr lang="zh-CN" altLang="zh-CN" sz="2000" dirty="0"/>
              <a:t>对应的收盘价，需要注意是是从第二周开始计算；对于</a:t>
            </a:r>
            <a:r>
              <a:rPr lang="en-US" altLang="zh-CN" sz="2000" dirty="0"/>
              <a:t>A5</a:t>
            </a:r>
            <a:r>
              <a:rPr lang="zh-CN" altLang="zh-CN" sz="2000" dirty="0"/>
              <a:t>、</a:t>
            </a:r>
            <a:r>
              <a:rPr lang="en-US" altLang="zh-CN" sz="2000" dirty="0"/>
              <a:t>A6</a:t>
            </a:r>
            <a:r>
              <a:rPr lang="zh-CN" altLang="zh-CN" sz="2000" dirty="0"/>
              <a:t>，则是基于</a:t>
            </a:r>
            <a:r>
              <a:rPr lang="en-US" altLang="zh-CN" sz="2000" dirty="0"/>
              <a:t>A4</a:t>
            </a:r>
            <a:r>
              <a:rPr lang="zh-CN" altLang="zh-CN" sz="2000" dirty="0"/>
              <a:t>进行计算的，而</a:t>
            </a:r>
            <a:r>
              <a:rPr lang="en-US" altLang="zh-CN" sz="2000" dirty="0"/>
              <a:t>A7</a:t>
            </a:r>
            <a:r>
              <a:rPr lang="zh-CN" altLang="zh-CN" sz="2000" dirty="0"/>
              <a:t>、</a:t>
            </a:r>
            <a:r>
              <a:rPr lang="en-US" altLang="zh-CN" sz="2000" dirty="0"/>
              <a:t>A8</a:t>
            </a:r>
            <a:r>
              <a:rPr lang="zh-CN" altLang="zh-CN" sz="2000" dirty="0"/>
              <a:t>则是基于</a:t>
            </a:r>
            <a:r>
              <a:rPr lang="en-US" altLang="zh-CN" sz="2000" dirty="0"/>
              <a:t>A3</a:t>
            </a:r>
            <a:r>
              <a:rPr lang="zh-CN" altLang="zh-CN" sz="2000" dirty="0"/>
              <a:t>进行计算的；对于决策变量</a:t>
            </a:r>
            <a:r>
              <a:rPr lang="en-US" altLang="zh-CN" sz="2000" dirty="0"/>
              <a:t>Y</a:t>
            </a:r>
            <a:r>
              <a:rPr lang="zh-CN" altLang="zh-CN" sz="2000" dirty="0"/>
              <a:t>，第</a:t>
            </a:r>
            <a:r>
              <a:rPr lang="en-US" altLang="zh-CN" sz="2000" dirty="0"/>
              <a:t>i</a:t>
            </a:r>
            <a:r>
              <a:rPr lang="zh-CN" altLang="zh-CN" sz="2000" dirty="0"/>
              <a:t>周取决于</a:t>
            </a:r>
            <a:r>
              <a:rPr lang="en-US" altLang="zh-CN" sz="2000" dirty="0"/>
              <a:t>list2[i+1]-list2[i]</a:t>
            </a:r>
            <a:r>
              <a:rPr lang="zh-CN" altLang="zh-CN" sz="2000" dirty="0"/>
              <a:t>，如果大于</a:t>
            </a:r>
            <a:r>
              <a:rPr lang="en-US" altLang="zh-CN" sz="2000" dirty="0"/>
              <a:t>0</a:t>
            </a:r>
            <a:r>
              <a:rPr lang="zh-CN" altLang="zh-CN" sz="2000" dirty="0"/>
              <a:t>，记为</a:t>
            </a:r>
            <a:r>
              <a:rPr lang="en-US" altLang="zh-CN" sz="2000" dirty="0"/>
              <a:t>+1</a:t>
            </a:r>
            <a:r>
              <a:rPr lang="zh-CN" altLang="zh-CN" sz="2000" dirty="0"/>
              <a:t>，否则为</a:t>
            </a:r>
            <a:r>
              <a:rPr lang="en-US" altLang="zh-CN" sz="2000" dirty="0"/>
              <a:t>-1</a:t>
            </a:r>
            <a:r>
              <a:rPr lang="zh-CN" altLang="zh-CN" sz="2000" dirty="0"/>
              <a:t>，需要注意的是最后一周不计算。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952192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 smtClean="0">
                <a:solidFill>
                  <a:schemeClr val="accent2"/>
                </a:solidFill>
              </a:rPr>
              <a:t>12.4</a:t>
            </a:r>
            <a:r>
              <a:rPr lang="en-US" altLang="zh-CN" sz="2800" b="1" dirty="0" smtClean="0">
                <a:solidFill>
                  <a:schemeClr val="accent2"/>
                </a:solidFill>
              </a:rPr>
              <a:t>.1</a:t>
            </a:r>
            <a:r>
              <a:rPr lang="zh-CN" altLang="zh-CN" sz="2800" b="1" dirty="0">
                <a:solidFill>
                  <a:schemeClr val="accent2"/>
                </a:solidFill>
              </a:rPr>
              <a:t>上市公司综合能力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聚类分析</a:t>
            </a:r>
            <a:r>
              <a:rPr lang="zh-CN" altLang="en-US" sz="2800" b="1" dirty="0" smtClean="0">
                <a:solidFill>
                  <a:schemeClr val="accent2"/>
                </a:solidFill>
              </a:rPr>
              <a:t>课题介绍</a:t>
            </a:r>
            <a:endParaRPr lang="zh-CN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5733" y="567839"/>
            <a:ext cx="115212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/>
              <a:t>提取上市公司</a:t>
            </a:r>
            <a:r>
              <a:rPr lang="en-US" altLang="zh-CN" sz="1200" dirty="0"/>
              <a:t>2015</a:t>
            </a:r>
            <a:r>
              <a:rPr lang="zh-CN" altLang="zh-CN" sz="1200" dirty="0"/>
              <a:t>年的总体规模与投资效率指标：营业收入、营业利润、利润总额、净利润、资产总计、固定资产净额，净资产收益率、每股净资产、每股资本公积、每股收益，一共</a:t>
            </a:r>
            <a:r>
              <a:rPr lang="en-US" altLang="zh-CN" sz="1200" dirty="0"/>
              <a:t>10</a:t>
            </a:r>
            <a:r>
              <a:rPr lang="zh-CN" altLang="zh-CN" sz="1200" dirty="0"/>
              <a:t>个，具体信息如下所示。</a:t>
            </a:r>
            <a:endParaRPr lang="zh-CN" altLang="en-US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3722117" y="902546"/>
            <a:ext cx="302433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dirty="0"/>
              <a:t>表</a:t>
            </a:r>
            <a:r>
              <a:rPr lang="en-US" altLang="zh-CN" sz="1050" dirty="0"/>
              <a:t>6 </a:t>
            </a:r>
            <a:r>
              <a:rPr lang="zh-CN" altLang="zh-CN" sz="1050" dirty="0"/>
              <a:t>上市公司</a:t>
            </a:r>
            <a:r>
              <a:rPr lang="en-US" altLang="zh-CN" sz="1050" dirty="0"/>
              <a:t>2015</a:t>
            </a:r>
            <a:r>
              <a:rPr lang="zh-CN" altLang="zh-CN" sz="1050" dirty="0"/>
              <a:t>年的总体规模与投资效率指标</a:t>
            </a:r>
            <a:endParaRPr lang="zh-CN" altLang="en-US" sz="1050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417861" y="1156462"/>
          <a:ext cx="8424937" cy="19735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8237"/>
                <a:gridCol w="1541244"/>
                <a:gridCol w="5515456"/>
              </a:tblGrid>
              <a:tr h="160019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字段名称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字段中文名称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字段说明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1955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B001101000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营业收入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企业经营过程中确认的营业收入。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1955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B001300000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营业利润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与经营业务有关的利润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1955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 dirty="0">
                          <a:effectLst/>
                        </a:rPr>
                        <a:t>B001000000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利润总额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公司实现的利润总额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1955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B002000000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净利润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公司实现的净利润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1955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A001000000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资产总计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资产各项目之总计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19556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A001212000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固定资产净额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固定资产原价除去累计折旧和固定资产减值准备之后的净额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F050501B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净资产收益率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净利润／股东权益余额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F091001A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每股净资产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所有者权益合计期末值</a:t>
                      </a:r>
                      <a:r>
                        <a:rPr lang="en-US" sz="1050" kern="100">
                          <a:effectLst/>
                        </a:rPr>
                        <a:t> / </a:t>
                      </a:r>
                      <a:r>
                        <a:rPr lang="zh-CN" sz="1050" kern="100">
                          <a:effectLst/>
                        </a:rPr>
                        <a:t>实收资本期末值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F091301A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每股资本公积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资本公积期末值</a:t>
                      </a:r>
                      <a:r>
                        <a:rPr lang="en-US" sz="1050" kern="100">
                          <a:effectLst/>
                        </a:rPr>
                        <a:t> / </a:t>
                      </a:r>
                      <a:r>
                        <a:rPr lang="zh-CN" sz="1050" kern="100">
                          <a:effectLst/>
                        </a:rPr>
                        <a:t>实收资本期末值； 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050" kern="100">
                          <a:effectLst/>
                        </a:rPr>
                        <a:t>F090101B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>
                          <a:effectLst/>
                        </a:rPr>
                        <a:t>每股收益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050" kern="100" dirty="0">
                          <a:effectLst/>
                        </a:rPr>
                        <a:t>净利润本期值</a:t>
                      </a:r>
                      <a:r>
                        <a:rPr lang="en-US" sz="1050" kern="100" dirty="0">
                          <a:effectLst/>
                        </a:rPr>
                        <a:t> / </a:t>
                      </a:r>
                      <a:r>
                        <a:rPr lang="zh-CN" sz="1050" kern="100" dirty="0">
                          <a:effectLst/>
                        </a:rPr>
                        <a:t>实收资本期末值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159" y="3129970"/>
            <a:ext cx="3096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dirty="0"/>
              <a:t>注：指标同</a:t>
            </a:r>
            <a:r>
              <a:rPr lang="en-US" altLang="zh-CN" sz="1050" dirty="0"/>
              <a:t>8.3.1</a:t>
            </a:r>
            <a:r>
              <a:rPr lang="zh-CN" altLang="zh-CN" sz="1050" dirty="0"/>
              <a:t>，具体数据见《</a:t>
            </a:r>
            <a:r>
              <a:rPr lang="en-US" altLang="zh-CN" sz="1050" dirty="0"/>
              <a:t>data.xlsx</a:t>
            </a:r>
            <a:r>
              <a:rPr lang="zh-CN" altLang="zh-CN" sz="1050" dirty="0"/>
              <a:t>》</a:t>
            </a:r>
          </a:p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97366" y="3291553"/>
            <a:ext cx="106571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400" dirty="0"/>
              <a:t>对提取的指标作聚类分析，将上市公司分为</a:t>
            </a:r>
            <a:r>
              <a:rPr lang="en-US" altLang="zh-CN" sz="1400" dirty="0"/>
              <a:t>5</a:t>
            </a:r>
            <a:r>
              <a:rPr lang="zh-CN" altLang="zh-CN" sz="1400" dirty="0"/>
              <a:t>类，并以每一类股票作为投资组合，计算持有期为</a:t>
            </a:r>
            <a:r>
              <a:rPr lang="en-US" altLang="zh-CN" sz="1400" dirty="0"/>
              <a:t>2016-05-01~2016-12-31</a:t>
            </a:r>
            <a:r>
              <a:rPr lang="zh-CN" altLang="zh-CN" sz="1400" dirty="0"/>
              <a:t>日的总收益率。其中股票的收益率</a:t>
            </a:r>
            <a:r>
              <a:rPr lang="en-US" altLang="zh-CN" sz="1400" dirty="0"/>
              <a:t>=</a:t>
            </a:r>
            <a:r>
              <a:rPr lang="zh-CN" altLang="zh-CN" sz="1400" dirty="0"/>
              <a:t>（持有期最大交易日的收盘价</a:t>
            </a:r>
            <a:r>
              <a:rPr lang="en-US" altLang="zh-CN" sz="1400" dirty="0"/>
              <a:t>-</a:t>
            </a:r>
            <a:r>
              <a:rPr lang="zh-CN" altLang="zh-CN" sz="1400" dirty="0"/>
              <a:t>持有期最小交易日的收盘价）</a:t>
            </a:r>
            <a:r>
              <a:rPr lang="en-US" altLang="zh-CN" sz="1400" dirty="0"/>
              <a:t>/</a:t>
            </a:r>
            <a:r>
              <a:rPr lang="zh-CN" altLang="zh-CN" sz="1400" dirty="0"/>
              <a:t>持有期最小交易日的收盘价。投资组合的收益率</a:t>
            </a:r>
            <a:r>
              <a:rPr lang="en-US" altLang="zh-CN" sz="1400" dirty="0"/>
              <a:t>=</a:t>
            </a:r>
            <a:r>
              <a:rPr lang="zh-CN" altLang="zh-CN" sz="1400" dirty="0"/>
              <a:t>投资组合中持有期内各股票收益率之和。收盘价采用考虑现金红利再投资的收盘价可比价进行计算，数据表结构及字段说明如下：</a:t>
            </a:r>
            <a:endParaRPr lang="zh-CN" altLang="en-US" sz="1400" dirty="0"/>
          </a:p>
        </p:txBody>
      </p:sp>
      <p:sp>
        <p:nvSpPr>
          <p:cNvPr id="9" name="TextBox 8"/>
          <p:cNvSpPr txBox="1"/>
          <p:nvPr/>
        </p:nvSpPr>
        <p:spPr>
          <a:xfrm>
            <a:off x="3829238" y="4030217"/>
            <a:ext cx="38884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00" dirty="0"/>
              <a:t>表</a:t>
            </a:r>
            <a:r>
              <a:rPr lang="en-US" altLang="zh-CN" sz="1000" dirty="0"/>
              <a:t>7  </a:t>
            </a:r>
            <a:r>
              <a:rPr lang="zh-CN" altLang="zh-CN" sz="1000" dirty="0"/>
              <a:t>考虑现金红利再投资的收盘价可比价数据表</a:t>
            </a:r>
            <a:endParaRPr lang="zh-CN" altLang="en-US" sz="1000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3146053" y="4365104"/>
          <a:ext cx="5112568" cy="1844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78670"/>
                <a:gridCol w="1876523"/>
                <a:gridCol w="1857375"/>
              </a:tblGrid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Stkcd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Trddt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Adjprcwd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300261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2016-05-04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76.185622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300262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2016-05-04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83.200346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300263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2016-05-04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78.304973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300264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2016-05-04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59.362441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300268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2016-05-04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46.049653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300269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2016-05-04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98.707705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300270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2016-05-04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104.054555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300271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2016-05-04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158.728554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300272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2016-05-04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53.565361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13805" y="6453336"/>
            <a:ext cx="91450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字段依次表示股票代码、交易日期、考虑现金红利再投资的收盘价可比价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952192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 smtClean="0">
                <a:solidFill>
                  <a:schemeClr val="accent2"/>
                </a:solidFill>
              </a:rPr>
              <a:t>12.4.2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上市</a:t>
            </a:r>
            <a:r>
              <a:rPr lang="zh-CN" altLang="zh-CN" sz="2800" b="1" dirty="0">
                <a:solidFill>
                  <a:schemeClr val="accent2"/>
                </a:solidFill>
              </a:rPr>
              <a:t>公司综合能力聚类分析</a:t>
            </a:r>
            <a:r>
              <a:rPr lang="zh-CN" altLang="zh-CN" sz="2800" b="1" dirty="0" smtClean="0">
                <a:solidFill>
                  <a:schemeClr val="accent2"/>
                </a:solidFill>
              </a:rPr>
              <a:t>实</a:t>
            </a:r>
            <a:r>
              <a:rPr lang="zh-CN" altLang="zh-CN" sz="2800" b="1" dirty="0">
                <a:solidFill>
                  <a:schemeClr val="accent2"/>
                </a:solidFill>
              </a:rPr>
              <a:t>训指导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5733" y="836712"/>
            <a:ext cx="1166529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本课题实现主要分两个阶段</a:t>
            </a:r>
            <a:r>
              <a:rPr lang="zh-CN" altLang="zh-CN" sz="2000" dirty="0" smtClean="0"/>
              <a:t>，</a:t>
            </a:r>
            <a:endParaRPr lang="en-US" altLang="zh-CN" sz="2000" dirty="0" smtClean="0"/>
          </a:p>
          <a:p>
            <a:r>
              <a:rPr lang="en-US" altLang="zh-CN" sz="2000" dirty="0" smtClean="0"/>
              <a:t>1.</a:t>
            </a:r>
            <a:r>
              <a:rPr lang="zh-CN" altLang="zh-CN" sz="2000" dirty="0" smtClean="0"/>
              <a:t>对</a:t>
            </a:r>
            <a:r>
              <a:rPr lang="zh-CN" altLang="zh-CN" sz="2000" dirty="0"/>
              <a:t>上市公司进行</a:t>
            </a:r>
            <a:r>
              <a:rPr lang="zh-CN" altLang="zh-CN" sz="2000" dirty="0" smtClean="0"/>
              <a:t>聚类</a:t>
            </a:r>
            <a:r>
              <a:rPr lang="zh-CN" altLang="en-US" sz="2000" dirty="0"/>
              <a:t>。</a:t>
            </a:r>
            <a:endParaRPr lang="en-US" altLang="zh-CN" sz="2000" dirty="0" smtClean="0"/>
          </a:p>
          <a:p>
            <a:r>
              <a:rPr lang="en-US" altLang="zh-CN" sz="2000" dirty="0" smtClean="0"/>
              <a:t>2.</a:t>
            </a:r>
            <a:r>
              <a:rPr lang="zh-CN" altLang="zh-CN" sz="2000" dirty="0" smtClean="0"/>
              <a:t>对</a:t>
            </a:r>
            <a:r>
              <a:rPr lang="zh-CN" altLang="zh-CN" sz="2000" dirty="0"/>
              <a:t>每类公司发行的股票组合（</a:t>
            </a:r>
            <a:r>
              <a:rPr lang="en-US" altLang="zh-CN" sz="2000" dirty="0"/>
              <a:t>A</a:t>
            </a:r>
            <a:r>
              <a:rPr lang="zh-CN" altLang="zh-CN" sz="2000" dirty="0"/>
              <a:t>股）计算收益率。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7741" y="1916832"/>
            <a:ext cx="108732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基本思路如下：</a:t>
            </a:r>
          </a:p>
          <a:p>
            <a:r>
              <a:rPr lang="en-US" altLang="zh-CN" sz="2000" dirty="0" smtClean="0"/>
              <a:t>       </a:t>
            </a:r>
            <a:r>
              <a:rPr lang="zh-CN" altLang="zh-CN" sz="2000" dirty="0" smtClean="0"/>
              <a:t>首先</a:t>
            </a:r>
            <a:r>
              <a:rPr lang="zh-CN" altLang="zh-CN" sz="2000" dirty="0"/>
              <a:t>，在进行聚类之前，需要对指标数据进行预处理，包括去掉指标值小于</a:t>
            </a:r>
            <a:r>
              <a:rPr lang="en-US" altLang="zh-CN" sz="2000" dirty="0"/>
              <a:t>0</a:t>
            </a:r>
            <a:r>
              <a:rPr lang="zh-CN" altLang="zh-CN" sz="2000" dirty="0"/>
              <a:t>、存在空值和异常值的样本以及对指标数据作标准化处理，经过数据预处理的指标数据即可以采用</a:t>
            </a:r>
            <a:r>
              <a:rPr lang="en-US" altLang="zh-CN" sz="2000" dirty="0"/>
              <a:t>K-</a:t>
            </a:r>
            <a:r>
              <a:rPr lang="zh-CN" altLang="zh-CN" sz="2000" dirty="0"/>
              <a:t>均值聚类算法进行聚类了，从而获得每类公司的股票组合</a:t>
            </a:r>
            <a:r>
              <a:rPr lang="zh-CN" altLang="zh-CN" sz="2000" dirty="0" smtClean="0"/>
              <a:t>。</a:t>
            </a:r>
            <a:endParaRPr lang="zh-CN" altLang="zh-CN" sz="2000" dirty="0"/>
          </a:p>
          <a:p>
            <a:r>
              <a:rPr lang="en-US" altLang="zh-CN" sz="2000" dirty="0" smtClean="0"/>
              <a:t>       </a:t>
            </a:r>
            <a:r>
              <a:rPr lang="zh-CN" altLang="zh-CN" sz="2000" dirty="0" smtClean="0"/>
              <a:t>其次</a:t>
            </a:r>
            <a:r>
              <a:rPr lang="zh-CN" altLang="zh-CN" sz="2000" dirty="0"/>
              <a:t>，就是计算组合的</a:t>
            </a:r>
            <a:r>
              <a:rPr lang="zh-CN" altLang="zh-CN" sz="2000" dirty="0" smtClean="0"/>
              <a:t>收益率</a:t>
            </a:r>
            <a:r>
              <a:rPr lang="zh-CN" altLang="en-US" sz="2000" dirty="0" smtClean="0"/>
              <a:t>。</a:t>
            </a:r>
            <a:endParaRPr lang="zh-CN" altLang="zh-CN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952192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 smtClean="0">
                <a:solidFill>
                  <a:schemeClr val="accent2"/>
                </a:solidFill>
              </a:rPr>
              <a:t>12.5.1</a:t>
            </a:r>
            <a:r>
              <a:rPr lang="zh-CN" altLang="zh-CN" sz="2800" dirty="0">
                <a:solidFill>
                  <a:schemeClr val="accent2"/>
                </a:solidFill>
              </a:rPr>
              <a:t>股票联动与轮动分析</a:t>
            </a:r>
            <a:r>
              <a:rPr lang="zh-CN" altLang="en-US" sz="2800" b="1" dirty="0" smtClean="0">
                <a:solidFill>
                  <a:schemeClr val="accent2"/>
                </a:solidFill>
              </a:rPr>
              <a:t>课题介绍</a:t>
            </a:r>
            <a:endParaRPr lang="zh-CN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65733" y="567839"/>
            <a:ext cx="11521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200" dirty="0"/>
              <a:t>今有</a:t>
            </a:r>
            <a:r>
              <a:rPr lang="en-US" altLang="zh-CN" sz="1200" dirty="0"/>
              <a:t>2017</a:t>
            </a:r>
            <a:r>
              <a:rPr lang="zh-CN" altLang="zh-CN" sz="1200" dirty="0"/>
              <a:t>年中国</a:t>
            </a:r>
            <a:r>
              <a:rPr lang="en-US" altLang="zh-CN" sz="1200" dirty="0"/>
              <a:t>A</a:t>
            </a:r>
            <a:r>
              <a:rPr lang="zh-CN" altLang="zh-CN" sz="1200" dirty="0"/>
              <a:t>股交易数据、交易日历数据表和股票简称数据表，其表结构和字段说明如下：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22117" y="902546"/>
            <a:ext cx="302433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dirty="0"/>
              <a:t>表</a:t>
            </a:r>
            <a:r>
              <a:rPr lang="en-US" altLang="zh-CN" sz="1050" dirty="0"/>
              <a:t>8   2017</a:t>
            </a:r>
            <a:r>
              <a:rPr lang="zh-CN" altLang="zh-CN" sz="1050" dirty="0"/>
              <a:t>年中国</a:t>
            </a:r>
            <a:r>
              <a:rPr lang="en-US" altLang="zh-CN" sz="1050" dirty="0"/>
              <a:t>A</a:t>
            </a:r>
            <a:r>
              <a:rPr lang="zh-CN" altLang="zh-CN" sz="1050" dirty="0"/>
              <a:t>股交易数据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37337" y="2935222"/>
            <a:ext cx="5919541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dirty="0"/>
              <a:t>注：具体见《</a:t>
            </a:r>
            <a:r>
              <a:rPr lang="en-US" altLang="zh-CN" sz="1050" dirty="0"/>
              <a:t>DA.xlsx</a:t>
            </a:r>
            <a:r>
              <a:rPr lang="zh-CN" altLang="zh-CN" sz="1050" dirty="0"/>
              <a:t>》文件，共</a:t>
            </a:r>
            <a:r>
              <a:rPr lang="en-US" altLang="zh-CN" sz="1050" dirty="0"/>
              <a:t>747430</a:t>
            </a:r>
            <a:r>
              <a:rPr lang="zh-CN" altLang="zh-CN" sz="1050" dirty="0"/>
              <a:t>条记录，数据来源于国泰安</a:t>
            </a:r>
            <a:r>
              <a:rPr lang="en-US" altLang="zh-CN" sz="1050" dirty="0"/>
              <a:t>CSMAR</a:t>
            </a:r>
            <a:r>
              <a:rPr lang="zh-CN" altLang="zh-CN" sz="1050" dirty="0" smtClean="0"/>
              <a:t>数据库</a:t>
            </a:r>
            <a:endParaRPr lang="zh-CN" altLang="zh-CN" sz="1050" dirty="0"/>
          </a:p>
          <a:p>
            <a:endParaRPr lang="zh-CN" altLang="en-US" dirty="0"/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1417861" y="1165163"/>
          <a:ext cx="7632849" cy="17700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23887"/>
                <a:gridCol w="1281600"/>
                <a:gridCol w="801916"/>
                <a:gridCol w="1299910"/>
                <a:gridCol w="1121279"/>
                <a:gridCol w="889003"/>
                <a:gridCol w="701219"/>
                <a:gridCol w="714035"/>
              </a:tblGrid>
              <a:tr h="2289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Stkcd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Trddt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Clsprc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Dnshrtrd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Dnvaltrd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Opnprc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Hiprc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Loprc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289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45984049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420595176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9.09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289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44932953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411503444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9.18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289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34437291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315769694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9.18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289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35815420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327176434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289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36108157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329994604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9.17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228917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2017-01-10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24105395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220575132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9.14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57362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81757" y="3200679"/>
            <a:ext cx="90730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600" dirty="0"/>
              <a:t>字段依次表示股票代码、交易日期、收盘价、交易量、交易金额、开盘价、最高价、最低价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861" y="3609624"/>
            <a:ext cx="211362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dirty="0"/>
              <a:t>表</a:t>
            </a:r>
            <a:r>
              <a:rPr lang="en-US" altLang="zh-CN" sz="1050" dirty="0"/>
              <a:t>9 </a:t>
            </a:r>
            <a:r>
              <a:rPr lang="zh-CN" altLang="zh-CN" sz="1050" dirty="0"/>
              <a:t>交易日历数据表 </a:t>
            </a:r>
            <a:endParaRPr lang="zh-CN" altLang="en-US" sz="1050" dirty="0"/>
          </a:p>
        </p:txBody>
      </p:sp>
      <p:sp>
        <p:nvSpPr>
          <p:cNvPr id="13" name="TextBox 12"/>
          <p:cNvSpPr txBox="1"/>
          <p:nvPr/>
        </p:nvSpPr>
        <p:spPr>
          <a:xfrm>
            <a:off x="6746453" y="3539233"/>
            <a:ext cx="25202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dirty="0"/>
              <a:t>表</a:t>
            </a:r>
            <a:r>
              <a:rPr lang="en-US" altLang="zh-CN" sz="1050" dirty="0"/>
              <a:t>10 </a:t>
            </a:r>
            <a:r>
              <a:rPr lang="zh-CN" altLang="en-US" sz="1050" dirty="0"/>
              <a:t>股票简称数据表</a:t>
            </a:r>
          </a:p>
        </p:txBody>
      </p: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97781" y="3832438"/>
          <a:ext cx="4295513" cy="1371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92925"/>
                <a:gridCol w="1540540"/>
                <a:gridCol w="831024"/>
                <a:gridCol w="831024"/>
              </a:tblGrid>
              <a:tr h="171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Markettype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Clddt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Daywk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State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 dirty="0">
                          <a:effectLst/>
                        </a:rPr>
                        <a:t>2017-01-03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2017-01-09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2017-01-10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O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……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graphicFrame>
        <p:nvGraphicFramePr>
          <p:cNvPr id="16" name="表格 15"/>
          <p:cNvGraphicFramePr>
            <a:graphicFrameLocks noGrp="1"/>
          </p:cNvGraphicFramePr>
          <p:nvPr/>
        </p:nvGraphicFramePr>
        <p:xfrm>
          <a:off x="5450309" y="3832438"/>
          <a:ext cx="4808220" cy="14436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81881"/>
                <a:gridCol w="2626339"/>
              </a:tblGrid>
              <a:tr h="243458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 dirty="0" err="1">
                          <a:effectLst/>
                        </a:rPr>
                        <a:t>Stkcd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Stknme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000001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平安银行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000002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万科</a:t>
                      </a:r>
                      <a:r>
                        <a:rPr lang="en-US" sz="1100" kern="0">
                          <a:effectLst/>
                        </a:rPr>
                        <a:t>A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000003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PT </a:t>
                      </a:r>
                      <a:r>
                        <a:rPr lang="zh-CN" sz="1100" kern="0">
                          <a:effectLst/>
                        </a:rPr>
                        <a:t>金田</a:t>
                      </a:r>
                      <a:r>
                        <a:rPr lang="en-US" sz="1100" kern="0">
                          <a:effectLst/>
                        </a:rPr>
                        <a:t>A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000004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国农科技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000005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世纪星源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100" kern="0">
                          <a:effectLst/>
                        </a:rPr>
                        <a:t>000006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>
                          <a:effectLst/>
                        </a:rPr>
                        <a:t>深振业</a:t>
                      </a:r>
                      <a:r>
                        <a:rPr lang="en-US" sz="1100" kern="0">
                          <a:effectLst/>
                        </a:rPr>
                        <a:t>A</a:t>
                      </a:r>
                      <a:endParaRPr lang="zh-CN" sz="1050" kern="10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  <a:tr h="17145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100" kern="0" dirty="0">
                          <a:effectLst/>
                        </a:rPr>
                        <a:t>……</a:t>
                      </a:r>
                      <a:endParaRPr lang="zh-CN" sz="1050" kern="100" dirty="0">
                        <a:effectLst/>
                        <a:latin typeface="Calibri" panose="020F05020202040302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b"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034485" y="5276046"/>
            <a:ext cx="424847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1050" dirty="0"/>
              <a:t>注：数据来源于国泰安</a:t>
            </a:r>
            <a:r>
              <a:rPr lang="en-US" altLang="zh-CN" sz="1050" dirty="0"/>
              <a:t>CSMAR</a:t>
            </a:r>
            <a:r>
              <a:rPr lang="zh-CN" altLang="zh-CN" sz="1050" dirty="0"/>
              <a:t>数据库</a:t>
            </a:r>
          </a:p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481757" y="5753918"/>
            <a:ext cx="94887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其中</a:t>
            </a:r>
            <a:r>
              <a:rPr lang="en-US" altLang="zh-CN" dirty="0" err="1"/>
              <a:t>Markettype</a:t>
            </a:r>
            <a:r>
              <a:rPr lang="zh-CN" altLang="zh-CN" dirty="0"/>
              <a:t>表示市场类型，</a:t>
            </a:r>
            <a:r>
              <a:rPr lang="en-US" altLang="zh-CN" dirty="0"/>
              <a:t>1-</a:t>
            </a:r>
            <a:r>
              <a:rPr lang="zh-CN" altLang="zh-CN" dirty="0"/>
              <a:t>表示上海市场（上交所）；</a:t>
            </a:r>
            <a:r>
              <a:rPr lang="en-US" altLang="zh-CN" dirty="0" err="1"/>
              <a:t>Clddt</a:t>
            </a:r>
            <a:r>
              <a:rPr lang="zh-CN" altLang="zh-CN" dirty="0"/>
              <a:t>表示日期；</a:t>
            </a:r>
            <a:r>
              <a:rPr lang="en-US" altLang="zh-CN" dirty="0" err="1"/>
              <a:t>Daywk</a:t>
            </a:r>
            <a:r>
              <a:rPr lang="zh-CN" altLang="zh-CN" dirty="0"/>
              <a:t>表示星期；</a:t>
            </a:r>
            <a:r>
              <a:rPr lang="en-US" altLang="zh-CN" dirty="0"/>
              <a:t>State</a:t>
            </a:r>
            <a:r>
              <a:rPr lang="zh-CN" altLang="zh-CN" dirty="0"/>
              <a:t>表示开市状态，</a:t>
            </a:r>
            <a:r>
              <a:rPr lang="en-US" altLang="zh-CN" dirty="0"/>
              <a:t>O-</a:t>
            </a:r>
            <a:r>
              <a:rPr lang="zh-CN" altLang="zh-CN" dirty="0"/>
              <a:t>表示开市，表</a:t>
            </a:r>
            <a:r>
              <a:rPr lang="en-US" altLang="zh-CN" dirty="0"/>
              <a:t>9</a:t>
            </a:r>
            <a:r>
              <a:rPr lang="zh-CN" altLang="zh-CN" dirty="0"/>
              <a:t>选择了上交所</a:t>
            </a:r>
            <a:r>
              <a:rPr lang="en-US" altLang="zh-CN" dirty="0"/>
              <a:t>2017</a:t>
            </a:r>
            <a:r>
              <a:rPr lang="zh-CN" altLang="zh-CN" dirty="0"/>
              <a:t>年</a:t>
            </a:r>
            <a:r>
              <a:rPr lang="en-US" altLang="zh-CN" dirty="0"/>
              <a:t>1</a:t>
            </a:r>
            <a:r>
              <a:rPr lang="zh-CN" altLang="zh-CN" dirty="0"/>
              <a:t>月</a:t>
            </a:r>
            <a:r>
              <a:rPr lang="en-US" altLang="zh-CN" dirty="0"/>
              <a:t>3</a:t>
            </a:r>
            <a:r>
              <a:rPr lang="zh-CN" altLang="zh-CN" dirty="0"/>
              <a:t>日至</a:t>
            </a:r>
            <a:r>
              <a:rPr lang="en-US" altLang="zh-CN" dirty="0"/>
              <a:t>2017</a:t>
            </a:r>
            <a:r>
              <a:rPr lang="zh-CN" altLang="zh-CN" dirty="0"/>
              <a:t>年</a:t>
            </a:r>
            <a:r>
              <a:rPr lang="en-US" altLang="zh-CN" dirty="0"/>
              <a:t>12</a:t>
            </a:r>
            <a:r>
              <a:rPr lang="zh-CN" altLang="zh-CN" dirty="0"/>
              <a:t>月</a:t>
            </a:r>
            <a:r>
              <a:rPr lang="en-US" altLang="zh-CN" dirty="0"/>
              <a:t>29</a:t>
            </a:r>
            <a:r>
              <a:rPr lang="zh-CN" altLang="zh-CN" dirty="0"/>
              <a:t>日每日开市日期数据，表</a:t>
            </a:r>
            <a:r>
              <a:rPr lang="en-US" altLang="zh-CN" dirty="0"/>
              <a:t>10</a:t>
            </a:r>
            <a:r>
              <a:rPr lang="zh-CN" altLang="zh-CN" dirty="0"/>
              <a:t>中</a:t>
            </a:r>
            <a:r>
              <a:rPr lang="en-US" altLang="zh-CN" dirty="0" err="1"/>
              <a:t>Stkcd</a:t>
            </a:r>
            <a:r>
              <a:rPr lang="zh-CN" altLang="zh-CN" dirty="0"/>
              <a:t>、</a:t>
            </a:r>
            <a:r>
              <a:rPr lang="en-US" altLang="zh-CN" dirty="0" err="1"/>
              <a:t>Stknme</a:t>
            </a:r>
            <a:r>
              <a:rPr lang="zh-CN" altLang="zh-CN" dirty="0"/>
              <a:t>依次表示股票代码、股票简称。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952192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 smtClean="0">
                <a:solidFill>
                  <a:schemeClr val="accent2"/>
                </a:solidFill>
              </a:rPr>
              <a:t>12.5.1</a:t>
            </a:r>
            <a:r>
              <a:rPr lang="zh-CN" altLang="zh-CN" sz="2800" dirty="0">
                <a:solidFill>
                  <a:schemeClr val="accent2"/>
                </a:solidFill>
              </a:rPr>
              <a:t>股票联动与轮动</a:t>
            </a:r>
            <a:r>
              <a:rPr lang="zh-CN" altLang="zh-CN" sz="2800" dirty="0" smtClean="0">
                <a:solidFill>
                  <a:schemeClr val="accent2"/>
                </a:solidFill>
              </a:rPr>
              <a:t>分析</a:t>
            </a:r>
            <a:r>
              <a:rPr lang="zh-CN" altLang="en-US" sz="2800" dirty="0" smtClean="0">
                <a:solidFill>
                  <a:schemeClr val="accent2"/>
                </a:solidFill>
              </a:rPr>
              <a:t>课题介绍</a:t>
            </a:r>
            <a:endParaRPr lang="zh-CN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84029" y="1556792"/>
            <a:ext cx="116652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任务如下：</a:t>
            </a:r>
          </a:p>
          <a:p>
            <a:r>
              <a:rPr lang="zh-CN" altLang="zh-CN" sz="2000" dirty="0"/>
              <a:t>（</a:t>
            </a:r>
            <a:r>
              <a:rPr lang="en-US" altLang="zh-CN" sz="2000" dirty="0"/>
              <a:t>1</a:t>
            </a:r>
            <a:r>
              <a:rPr lang="zh-CN" altLang="zh-CN" sz="2000" dirty="0"/>
              <a:t>）计算每只股票的涨跌指标，其中涨跌指标</a:t>
            </a:r>
            <a:r>
              <a:rPr lang="en-US" altLang="zh-CN" sz="2000" dirty="0"/>
              <a:t>=</a:t>
            </a:r>
            <a:r>
              <a:rPr lang="zh-CN" altLang="zh-CN" sz="2000" dirty="0"/>
              <a:t>当日收盘价</a:t>
            </a:r>
            <a:r>
              <a:rPr lang="en-US" altLang="zh-CN" sz="2000" dirty="0"/>
              <a:t>-</a:t>
            </a:r>
            <a:r>
              <a:rPr lang="zh-CN" altLang="zh-CN" sz="2000" dirty="0"/>
              <a:t>前日收盘价，如果大于</a:t>
            </a:r>
            <a:r>
              <a:rPr lang="en-US" altLang="zh-CN" sz="2000" dirty="0"/>
              <a:t>0</a:t>
            </a:r>
            <a:r>
              <a:rPr lang="zh-CN" altLang="zh-CN" sz="2000" dirty="0"/>
              <a:t>，表示上涨，</a:t>
            </a:r>
            <a:r>
              <a:rPr lang="zh-CN" altLang="zh-CN" sz="2000" dirty="0" smtClean="0"/>
              <a:t>记为</a:t>
            </a:r>
            <a:r>
              <a:rPr lang="en-US" altLang="zh-CN" sz="2000" dirty="0" smtClean="0"/>
              <a:t>1</a:t>
            </a:r>
            <a:r>
              <a:rPr lang="zh-CN" altLang="zh-CN" sz="2000" dirty="0" smtClean="0"/>
              <a:t>，否则</a:t>
            </a:r>
            <a:r>
              <a:rPr lang="zh-CN" altLang="zh-CN" sz="2000" dirty="0"/>
              <a:t>记为</a:t>
            </a:r>
            <a:r>
              <a:rPr lang="en-US" altLang="zh-CN" sz="2000" dirty="0"/>
              <a:t>0</a:t>
            </a:r>
            <a:endParaRPr lang="zh-CN" altLang="zh-CN" sz="2000" dirty="0"/>
          </a:p>
          <a:p>
            <a:r>
              <a:rPr lang="zh-CN" altLang="zh-CN" sz="2000" dirty="0"/>
              <a:t>（</a:t>
            </a:r>
            <a:r>
              <a:rPr lang="en-US" altLang="zh-CN" sz="2000" dirty="0"/>
              <a:t>2</a:t>
            </a:r>
            <a:r>
              <a:rPr lang="zh-CN" altLang="zh-CN" sz="2000" dirty="0"/>
              <a:t>）获取两两股票之间的涨跌轮动关联规则（注：要求关联规则的置信度</a:t>
            </a:r>
            <a:r>
              <a:rPr lang="en-US" altLang="zh-CN" sz="2000" dirty="0"/>
              <a:t>&gt;0.67</a:t>
            </a:r>
            <a:r>
              <a:rPr lang="zh-CN" altLang="zh-CN" sz="2000" dirty="0"/>
              <a:t>，支持度</a:t>
            </a:r>
            <a:r>
              <a:rPr lang="en-US" altLang="zh-CN" sz="2000" dirty="0"/>
              <a:t>&gt;0.3</a:t>
            </a:r>
            <a:r>
              <a:rPr lang="zh-CN" altLang="zh-CN" sz="2000" dirty="0"/>
              <a:t>）</a:t>
            </a:r>
          </a:p>
          <a:p>
            <a:r>
              <a:rPr lang="zh-CN" altLang="zh-CN" sz="2000" dirty="0"/>
              <a:t>（</a:t>
            </a:r>
            <a:r>
              <a:rPr lang="en-US" altLang="zh-CN" sz="2000" dirty="0"/>
              <a:t>3</a:t>
            </a:r>
            <a:r>
              <a:rPr lang="zh-CN" altLang="zh-CN" sz="2000" dirty="0"/>
              <a:t>）将符合条件的关联规则输出到</a:t>
            </a:r>
            <a:r>
              <a:rPr lang="en-US" altLang="zh-CN" sz="2000" dirty="0"/>
              <a:t>Excel</a:t>
            </a:r>
            <a:r>
              <a:rPr lang="zh-CN" altLang="zh-CN" sz="2000" dirty="0"/>
              <a:t>表格中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9952192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b="1" dirty="0" smtClean="0">
                <a:solidFill>
                  <a:schemeClr val="accent2"/>
                </a:solidFill>
              </a:rPr>
              <a:t>12.5</a:t>
            </a:r>
            <a:r>
              <a:rPr lang="en-US" altLang="zh-CN" sz="2800" b="1" dirty="0" smtClean="0">
                <a:solidFill>
                  <a:schemeClr val="accent2"/>
                </a:solidFill>
              </a:rPr>
              <a:t>.2</a:t>
            </a:r>
            <a:r>
              <a:rPr lang="zh-CN" altLang="zh-CN" sz="2800" dirty="0" smtClean="0">
                <a:solidFill>
                  <a:schemeClr val="accent2"/>
                </a:solidFill>
              </a:rPr>
              <a:t>股票</a:t>
            </a:r>
            <a:r>
              <a:rPr lang="zh-CN" altLang="zh-CN" sz="2800" dirty="0">
                <a:solidFill>
                  <a:schemeClr val="accent2"/>
                </a:solidFill>
              </a:rPr>
              <a:t>联动与轮动</a:t>
            </a:r>
            <a:r>
              <a:rPr lang="zh-CN" altLang="zh-CN" sz="2800" dirty="0" smtClean="0">
                <a:solidFill>
                  <a:schemeClr val="accent2"/>
                </a:solidFill>
              </a:rPr>
              <a:t>分析</a:t>
            </a:r>
            <a:r>
              <a:rPr lang="zh-CN" altLang="en-US" sz="2800" dirty="0" smtClean="0">
                <a:solidFill>
                  <a:schemeClr val="accent2"/>
                </a:solidFill>
              </a:rPr>
              <a:t>实训指导</a:t>
            </a:r>
            <a:endParaRPr lang="zh-CN" altLang="zh-CN" sz="2800" b="1" dirty="0">
              <a:solidFill>
                <a:schemeClr val="accent2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 smtClean="0">
                <a:solidFill>
                  <a:schemeClr val="accent2"/>
                </a:solidFill>
              </a:rPr>
              <a:t>12</a:t>
            </a:r>
            <a:r>
              <a:rPr lang="en-US" altLang="zh-CN" dirty="0" smtClean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40262" y="1052736"/>
            <a:ext cx="115250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首先是股票样本的选择，这里要求选择的股票样本全年均都正常交易（可以通过交易日历数据表获知</a:t>
            </a:r>
            <a:r>
              <a:rPr lang="en-US" altLang="zh-CN" sz="2000" dirty="0"/>
              <a:t>2017</a:t>
            </a:r>
            <a:r>
              <a:rPr lang="zh-CN" altLang="zh-CN" sz="2000" dirty="0"/>
              <a:t>年度正常交易的天数为</a:t>
            </a:r>
            <a:r>
              <a:rPr lang="en-US" altLang="zh-CN" sz="2000" dirty="0"/>
              <a:t>244</a:t>
            </a:r>
            <a:r>
              <a:rPr lang="zh-CN" altLang="zh-CN" sz="2000" dirty="0"/>
              <a:t>天，故选择的每只股票均有</a:t>
            </a:r>
            <a:r>
              <a:rPr lang="en-US" altLang="zh-CN" sz="2000" dirty="0"/>
              <a:t>244</a:t>
            </a:r>
            <a:r>
              <a:rPr lang="zh-CN" altLang="zh-CN" sz="2000" dirty="0"/>
              <a:t>条交易记录）</a:t>
            </a:r>
          </a:p>
          <a:p>
            <a:r>
              <a:rPr lang="zh-CN" altLang="zh-CN" sz="2000" dirty="0"/>
              <a:t>其次，涨跌指标的计算可以参考</a:t>
            </a:r>
            <a:r>
              <a:rPr lang="en-US" altLang="zh-CN" sz="2000" dirty="0"/>
              <a:t>11.4.1</a:t>
            </a:r>
            <a:r>
              <a:rPr lang="zh-CN" altLang="zh-CN" sz="2000" dirty="0"/>
              <a:t>，轮动关联规则的挖掘可以参考</a:t>
            </a:r>
            <a:r>
              <a:rPr lang="en-US" altLang="zh-CN" sz="2000" dirty="0"/>
              <a:t>11.4.3.</a:t>
            </a:r>
            <a:endParaRPr lang="zh-CN" altLang="zh-CN" sz="2000" dirty="0"/>
          </a:p>
          <a:p>
            <a:endParaRPr lang="zh-CN" altLang="zh-CN" sz="20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2805</Words>
  <Application>Microsoft Office PowerPoint</Application>
  <PresentationFormat>自定义</PresentationFormat>
  <Paragraphs>536</Paragraphs>
  <Slides>13</Slides>
  <Notes>12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4" baseType="lpstr"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lenovo</cp:lastModifiedBy>
  <cp:revision>1590</cp:revision>
  <dcterms:created xsi:type="dcterms:W3CDTF">2013-01-25T01:44:00Z</dcterms:created>
  <dcterms:modified xsi:type="dcterms:W3CDTF">2020-01-12T08:27:47Z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