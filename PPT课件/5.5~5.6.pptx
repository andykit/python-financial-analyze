
<file path=[Content_Types].xml><?xml version="1.0" encoding="utf-8"?>
<Types xmlns="http://schemas.openxmlformats.org/package/2006/content-types">
  <Default Extension="jpeg" ContentType="image/jpeg"/>
  <Default Extension="png" ContentType="image/png"/>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1"/>
  </p:handoutMasterIdLst>
  <p:sldIdLst>
    <p:sldId id="826" r:id="rId3"/>
    <p:sldId id="828" r:id="rId5"/>
    <p:sldId id="952" r:id="rId6"/>
    <p:sldId id="953" r:id="rId7"/>
    <p:sldId id="954" r:id="rId8"/>
    <p:sldId id="955" r:id="rId9"/>
    <p:sldId id="956" r:id="rId10"/>
    <p:sldId id="957" r:id="rId11"/>
    <p:sldId id="958" r:id="rId12"/>
    <p:sldId id="959" r:id="rId13"/>
    <p:sldId id="960" r:id="rId14"/>
    <p:sldId id="961" r:id="rId15"/>
    <p:sldId id="962" r:id="rId16"/>
    <p:sldId id="963" r:id="rId17"/>
    <p:sldId id="964" r:id="rId18"/>
    <p:sldId id="965" r:id="rId19"/>
    <p:sldId id="823" r:id="rId20"/>
    <p:sldId id="968" r:id="rId21"/>
    <p:sldId id="972" r:id="rId22"/>
    <p:sldId id="973" r:id="rId23"/>
    <p:sldId id="974" r:id="rId24"/>
    <p:sldId id="855" r:id="rId25"/>
    <p:sldId id="966" r:id="rId26"/>
    <p:sldId id="967" r:id="rId27"/>
    <p:sldId id="969" r:id="rId28"/>
    <p:sldId id="970" r:id="rId29"/>
    <p:sldId id="971" r:id="rId30"/>
  </p:sldIdLst>
  <p:sldSz cx="12196445" cy="6858000"/>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 尚佳" initials="张"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8F8F8"/>
    <a:srgbClr val="17DCF1"/>
    <a:srgbClr val="0DC2D5"/>
    <a:srgbClr val="006BBC"/>
    <a:srgbClr val="00AAA2"/>
    <a:srgbClr val="EFEFEF"/>
    <a:srgbClr val="FFFFFF"/>
    <a:srgbClr val="F0F0F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9044" autoAdjust="0"/>
    <p:restoredTop sz="94270" autoAdjust="0"/>
  </p:normalViewPr>
  <p:slideViewPr>
    <p:cSldViewPr snapToObjects="1">
      <p:cViewPr varScale="1">
        <p:scale>
          <a:sx n="89" d="100"/>
          <a:sy n="89" d="100"/>
        </p:scale>
        <p:origin x="-222" y="-108"/>
      </p:cViewPr>
      <p:guideLst>
        <p:guide orient="horz" pos="2143"/>
        <p:guide pos="3842"/>
      </p:guideLst>
    </p:cSldViewPr>
  </p:slideViewPr>
  <p:outlineViewPr>
    <p:cViewPr>
      <p:scale>
        <a:sx n="33" d="100"/>
        <a:sy n="33" d="100"/>
      </p:scale>
      <p:origin x="0" y="0"/>
    </p:cViewPr>
  </p:outlineViewPr>
  <p:notesTextViewPr>
    <p:cViewPr>
      <p:scale>
        <a:sx n="1" d="1"/>
        <a:sy n="1" d="1"/>
      </p:scale>
      <p:origin x="0" y="0"/>
    </p:cViewPr>
  </p:notesTextViewPr>
  <p:sorterViewPr>
    <p:cViewPr>
      <p:scale>
        <a:sx n="139" d="100"/>
        <a:sy n="139" d="100"/>
      </p:scale>
      <p:origin x="0" y="0"/>
    </p:cViewPr>
  </p:sorterViewPr>
  <p:notesViewPr>
    <p:cSldViewPr snapToObjects="1">
      <p:cViewPr varScale="1">
        <p:scale>
          <a:sx n="69" d="100"/>
          <a:sy n="69" d="100"/>
        </p:scale>
        <p:origin x="-283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E610686-844B-4A1B-87C8-BB90DB4BAB84}"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defRPr sz="1200"/>
            </a:lvl1pPr>
          </a:lstStyle>
          <a:p>
            <a:endParaRPr lang="zh-CN" altLang="en-US"/>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defRPr sz="1200"/>
            </a:lvl1pPr>
          </a:lstStyle>
          <a:p>
            <a:fld id="{B9EEDA17-7CE7-49CA-897E-A1888A19DA62}" type="datetimeFigureOut">
              <a:rPr lang="zh-CN" altLang="en-US"/>
            </a:fld>
            <a:endParaRPr lang="en-US"/>
          </a:p>
        </p:txBody>
      </p:sp>
      <p:sp>
        <p:nvSpPr>
          <p:cNvPr id="3076" name="Rectangle 4"/>
          <p:cNvSpPr>
            <a:spLocks noGrp="1" noRot="1" noChangeAspect="1" noChangeArrowheads="1"/>
          </p:cNvSpPr>
          <p:nvPr>
            <p:ph type="sldImg" idx="2"/>
          </p:nvPr>
        </p:nvSpPr>
        <p:spPr bwMode="auto">
          <a:xfrm>
            <a:off x="381000" y="685800"/>
            <a:ext cx="6096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defRPr sz="1200"/>
            </a:lvl1pPr>
          </a:lstStyle>
          <a:p>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0" hangingPunct="0">
              <a:defRPr sz="1200"/>
            </a:lvl1pPr>
          </a:lstStyle>
          <a:p>
            <a:fld id="{CE1689F0-D8FB-450F-A36F-553F26501FEE}" type="slidenum">
              <a:rPr lang="zh-CN" alt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4" Type="http://schemas.openxmlformats.org/officeDocument/2006/relationships/image" Target="../media/image15.png"/><Relationship Id="rId13" Type="http://schemas.openxmlformats.org/officeDocument/2006/relationships/image" Target="../media/image1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2" name="矩形 11"/>
          <p:cNvSpPr/>
          <p:nvPr userDrawn="1"/>
        </p:nvSpPr>
        <p:spPr>
          <a:xfrm>
            <a:off x="6170389" y="134946"/>
            <a:ext cx="775136" cy="246221"/>
          </a:xfrm>
          <a:prstGeom prst="rect">
            <a:avLst/>
          </a:prstGeom>
        </p:spPr>
        <p:txBody>
          <a:bodyPr wrap="square">
            <a:spAutoFit/>
          </a:bodyPr>
          <a:lstStyle/>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
        <p:nvSpPr>
          <p:cNvPr id="2" name="标题 1"/>
          <p:cNvSpPr>
            <a:spLocks noGrp="1"/>
          </p:cNvSpPr>
          <p:nvPr>
            <p:ph type="title"/>
          </p:nvPr>
        </p:nvSpPr>
        <p:spPr>
          <a:xfrm>
            <a:off x="825625" y="908051"/>
            <a:ext cx="10601349" cy="635000"/>
          </a:xfrm>
        </p:spPr>
        <p:txBody>
          <a:bodyPr/>
          <a:lstStyle>
            <a:lvl1pPr>
              <a:defRPr>
                <a:solidFill>
                  <a:schemeClr val="accent1"/>
                </a:solidFill>
              </a:defRPr>
            </a:lvl1pPr>
          </a:lstStyle>
          <a:p>
            <a:r>
              <a:rPr lang="zh-CN" altLang="en-US"/>
              <a:t>单击此处编辑母版标题样式</a:t>
            </a:r>
            <a:endParaRPr lang="zh-CN" altLang="en-US"/>
          </a:p>
        </p:txBody>
      </p:sp>
      <p:sp>
        <p:nvSpPr>
          <p:cNvPr id="3" name="内容占位符 2"/>
          <p:cNvSpPr>
            <a:spLocks noGrp="1"/>
          </p:cNvSpPr>
          <p:nvPr>
            <p:ph idx="1"/>
          </p:nvPr>
        </p:nvSpPr>
        <p:spPr>
          <a:xfrm>
            <a:off x="825625" y="1600201"/>
            <a:ext cx="10601349" cy="4525963"/>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Freeform 5"/>
          <p:cNvSpPr/>
          <p:nvPr userDrawn="1"/>
        </p:nvSpPr>
        <p:spPr bwMode="auto">
          <a:xfrm>
            <a:off x="63836" y="73173"/>
            <a:ext cx="1227153" cy="486467"/>
          </a:xfrm>
          <a:custGeom>
            <a:avLst/>
            <a:gdLst>
              <a:gd name="T0" fmla="*/ 0 w 1600"/>
              <a:gd name="T1" fmla="*/ 0 h 617"/>
              <a:gd name="T2" fmla="*/ 1429 w 1600"/>
              <a:gd name="T3" fmla="*/ 0 h 617"/>
              <a:gd name="T4" fmla="*/ 1600 w 1600"/>
              <a:gd name="T5" fmla="*/ 308 h 617"/>
              <a:gd name="T6" fmla="*/ 1429 w 1600"/>
              <a:gd name="T7" fmla="*/ 617 h 617"/>
              <a:gd name="T8" fmla="*/ 0 w 1600"/>
              <a:gd name="T9" fmla="*/ 617 h 617"/>
              <a:gd name="T10" fmla="*/ 0 w 1600"/>
              <a:gd name="T11" fmla="*/ 0 h 617"/>
            </a:gdLst>
            <a:ahLst/>
            <a:cxnLst>
              <a:cxn ang="0">
                <a:pos x="T0" y="T1"/>
              </a:cxn>
              <a:cxn ang="0">
                <a:pos x="T2" y="T3"/>
              </a:cxn>
              <a:cxn ang="0">
                <a:pos x="T4" y="T5"/>
              </a:cxn>
              <a:cxn ang="0">
                <a:pos x="T6" y="T7"/>
              </a:cxn>
              <a:cxn ang="0">
                <a:pos x="T8" y="T9"/>
              </a:cxn>
              <a:cxn ang="0">
                <a:pos x="T10" y="T11"/>
              </a:cxn>
            </a:cxnLst>
            <a:rect l="0" t="0" r="r" b="b"/>
            <a:pathLst>
              <a:path w="1600" h="617">
                <a:moveTo>
                  <a:pt x="0" y="0"/>
                </a:moveTo>
                <a:lnTo>
                  <a:pt x="1429" y="0"/>
                </a:lnTo>
                <a:lnTo>
                  <a:pt x="1600" y="308"/>
                </a:lnTo>
                <a:lnTo>
                  <a:pt x="1429" y="617"/>
                </a:lnTo>
                <a:lnTo>
                  <a:pt x="0" y="617"/>
                </a:lnTo>
                <a:lnTo>
                  <a:pt x="0" y="0"/>
                </a:lnTo>
                <a:close/>
              </a:path>
            </a:pathLst>
          </a:custGeom>
          <a:solidFill>
            <a:schemeClr val="tx1"/>
          </a:solidFill>
          <a:ln>
            <a:noFill/>
          </a:ln>
        </p:spPr>
        <p:txBody>
          <a:bodyPr vert="horz" wrap="square" lIns="91434" tIns="45717" rIns="91434" bIns="45717" numCol="1" anchor="t" anchorCtr="0" compatLnSpc="1"/>
          <a:lstStyle/>
          <a:p>
            <a:endParaRPr lang="zh-CN" altLang="en-US"/>
          </a:p>
        </p:txBody>
      </p:sp>
      <p:sp>
        <p:nvSpPr>
          <p:cNvPr id="9" name="Freeform 6"/>
          <p:cNvSpPr/>
          <p:nvPr userDrawn="1"/>
        </p:nvSpPr>
        <p:spPr bwMode="auto">
          <a:xfrm>
            <a:off x="1196835" y="73173"/>
            <a:ext cx="10215809" cy="486467"/>
          </a:xfrm>
          <a:custGeom>
            <a:avLst/>
            <a:gdLst>
              <a:gd name="T0" fmla="*/ 0 w 13327"/>
              <a:gd name="T1" fmla="*/ 0 h 617"/>
              <a:gd name="T2" fmla="*/ 13155 w 13327"/>
              <a:gd name="T3" fmla="*/ 0 h 617"/>
              <a:gd name="T4" fmla="*/ 13327 w 13327"/>
              <a:gd name="T5" fmla="*/ 308 h 617"/>
              <a:gd name="T6" fmla="*/ 13155 w 13327"/>
              <a:gd name="T7" fmla="*/ 617 h 617"/>
              <a:gd name="T8" fmla="*/ 0 w 13327"/>
              <a:gd name="T9" fmla="*/ 617 h 617"/>
              <a:gd name="T10" fmla="*/ 171 w 13327"/>
              <a:gd name="T11" fmla="*/ 308 h 617"/>
              <a:gd name="T12" fmla="*/ 0 w 13327"/>
              <a:gd name="T13" fmla="*/ 0 h 617"/>
            </a:gdLst>
            <a:ahLst/>
            <a:cxnLst>
              <a:cxn ang="0">
                <a:pos x="T0" y="T1"/>
              </a:cxn>
              <a:cxn ang="0">
                <a:pos x="T2" y="T3"/>
              </a:cxn>
              <a:cxn ang="0">
                <a:pos x="T4" y="T5"/>
              </a:cxn>
              <a:cxn ang="0">
                <a:pos x="T6" y="T7"/>
              </a:cxn>
              <a:cxn ang="0">
                <a:pos x="T8" y="T9"/>
              </a:cxn>
              <a:cxn ang="0">
                <a:pos x="T10" y="T11"/>
              </a:cxn>
              <a:cxn ang="0">
                <a:pos x="T12" y="T13"/>
              </a:cxn>
            </a:cxnLst>
            <a:rect l="0" t="0" r="r" b="b"/>
            <a:pathLst>
              <a:path w="13327" h="617">
                <a:moveTo>
                  <a:pt x="0" y="0"/>
                </a:moveTo>
                <a:lnTo>
                  <a:pt x="13155" y="0"/>
                </a:lnTo>
                <a:lnTo>
                  <a:pt x="13327" y="308"/>
                </a:lnTo>
                <a:lnTo>
                  <a:pt x="13155" y="617"/>
                </a:lnTo>
                <a:lnTo>
                  <a:pt x="0" y="617"/>
                </a:lnTo>
                <a:lnTo>
                  <a:pt x="171"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0" name="Freeform 7"/>
          <p:cNvSpPr/>
          <p:nvPr userDrawn="1"/>
        </p:nvSpPr>
        <p:spPr bwMode="auto">
          <a:xfrm>
            <a:off x="11320057" y="73173"/>
            <a:ext cx="812871" cy="486467"/>
          </a:xfrm>
          <a:custGeom>
            <a:avLst/>
            <a:gdLst>
              <a:gd name="T0" fmla="*/ 0 w 1060"/>
              <a:gd name="T1" fmla="*/ 0 h 617"/>
              <a:gd name="T2" fmla="*/ 1060 w 1060"/>
              <a:gd name="T3" fmla="*/ 0 h 617"/>
              <a:gd name="T4" fmla="*/ 1060 w 1060"/>
              <a:gd name="T5" fmla="*/ 617 h 617"/>
              <a:gd name="T6" fmla="*/ 0 w 1060"/>
              <a:gd name="T7" fmla="*/ 617 h 617"/>
              <a:gd name="T8" fmla="*/ 172 w 1060"/>
              <a:gd name="T9" fmla="*/ 308 h 617"/>
              <a:gd name="T10" fmla="*/ 0 w 1060"/>
              <a:gd name="T11" fmla="*/ 0 h 617"/>
            </a:gdLst>
            <a:ahLst/>
            <a:cxnLst>
              <a:cxn ang="0">
                <a:pos x="T0" y="T1"/>
              </a:cxn>
              <a:cxn ang="0">
                <a:pos x="T2" y="T3"/>
              </a:cxn>
              <a:cxn ang="0">
                <a:pos x="T4" y="T5"/>
              </a:cxn>
              <a:cxn ang="0">
                <a:pos x="T6" y="T7"/>
              </a:cxn>
              <a:cxn ang="0">
                <a:pos x="T8" y="T9"/>
              </a:cxn>
              <a:cxn ang="0">
                <a:pos x="T10" y="T11"/>
              </a:cxn>
            </a:cxnLst>
            <a:rect l="0" t="0" r="r" b="b"/>
            <a:pathLst>
              <a:path w="1060" h="617">
                <a:moveTo>
                  <a:pt x="0" y="0"/>
                </a:moveTo>
                <a:lnTo>
                  <a:pt x="1060" y="0"/>
                </a:lnTo>
                <a:lnTo>
                  <a:pt x="1060" y="617"/>
                </a:lnTo>
                <a:lnTo>
                  <a:pt x="0" y="617"/>
                </a:lnTo>
                <a:lnTo>
                  <a:pt x="172"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5" name="TextBox 14"/>
          <p:cNvSpPr txBox="1"/>
          <p:nvPr userDrawn="1"/>
        </p:nvSpPr>
        <p:spPr>
          <a:xfrm>
            <a:off x="11537052" y="116633"/>
            <a:ext cx="474797" cy="353937"/>
          </a:xfrm>
          <a:prstGeom prst="rect">
            <a:avLst/>
          </a:prstGeom>
          <a:noFill/>
        </p:spPr>
        <p:txBody>
          <a:bodyPr wrap="none" lIns="91434" tIns="45717" rIns="91434" bIns="45717" rtlCol="0">
            <a:spAutoFit/>
          </a:bodyPr>
          <a:lstStyle/>
          <a:p>
            <a:pPr algn="ctr"/>
            <a:fld id="{B879B013-EF15-44F9-9A4C-93BE492C244C}" type="slidenum">
              <a:rPr lang="zh-CN" altLang="en-US" sz="1700" smtClean="0">
                <a:solidFill>
                  <a:schemeClr val="accent2"/>
                </a:solidFill>
                <a:latin typeface="+mn-ea"/>
                <a:ea typeface="+mn-ea"/>
              </a:rPr>
            </a:fld>
            <a:endParaRPr lang="zh-CN" altLang="en-US" sz="1700" dirty="0">
              <a:solidFill>
                <a:schemeClr val="accent2"/>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33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33000">
                                          <p:cBhvr additive="base">
                                            <p:cTn id="7" dur="300" fill="hold"/>
                                            <p:tgtEl>
                                              <p:spTgt spid="8"/>
                                            </p:tgtEl>
                                            <p:attrNameLst>
                                              <p:attrName>ppt_x</p:attrName>
                                            </p:attrNameLst>
                                          </p:cBhvr>
                                          <p:tavLst>
                                            <p:tav tm="0">
                                              <p:val>
                                                <p:strVal val="0-#ppt_w/2"/>
                                              </p:val>
                                            </p:tav>
                                            <p:tav tm="100000">
                                              <p:val>
                                                <p:strVal val="#ppt_x"/>
                                              </p:val>
                                            </p:tav>
                                          </p:tavLst>
                                        </p:anim>
                                        <p:anim calcmode="lin" valueType="num" p14:bounceEnd="33000">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14:presetBounceEnd="33000">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14:bounceEnd="33000">
                                          <p:cBhvr additive="base">
                                            <p:cTn id="16" dur="300" fill="hold"/>
                                            <p:tgtEl>
                                              <p:spTgt spid="10"/>
                                            </p:tgtEl>
                                            <p:attrNameLst>
                                              <p:attrName>ppt_x</p:attrName>
                                            </p:attrNameLst>
                                          </p:cBhvr>
                                          <p:tavLst>
                                            <p:tav tm="0">
                                              <p:val>
                                                <p:strVal val="1+#ppt_w/2"/>
                                              </p:val>
                                            </p:tav>
                                            <p:tav tm="100000">
                                              <p:val>
                                                <p:strVal val="#ppt_x"/>
                                              </p:val>
                                            </p:tav>
                                          </p:tavLst>
                                        </p:anim>
                                        <p:anim calcmode="lin" valueType="num" p14:bounceEnd="33000">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300" fill="hold"/>
                                            <p:tgtEl>
                                              <p:spTgt spid="8"/>
                                            </p:tgtEl>
                                            <p:attrNameLst>
                                              <p:attrName>ppt_x</p:attrName>
                                            </p:attrNameLst>
                                          </p:cBhvr>
                                          <p:tavLst>
                                            <p:tav tm="0">
                                              <p:val>
                                                <p:strVal val="0-#ppt_w/2"/>
                                              </p:val>
                                            </p:tav>
                                            <p:tav tm="100000">
                                              <p:val>
                                                <p:strVal val="#ppt_x"/>
                                              </p:val>
                                            </p:tav>
                                          </p:tavLst>
                                        </p:anim>
                                        <p:anim calcmode="lin" valueType="num">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300" fill="hold"/>
                                            <p:tgtEl>
                                              <p:spTgt spid="10"/>
                                            </p:tgtEl>
                                            <p:attrNameLst>
                                              <p:attrName>ppt_x</p:attrName>
                                            </p:attrNameLst>
                                          </p:cBhvr>
                                          <p:tavLst>
                                            <p:tav tm="0">
                                              <p:val>
                                                <p:strVal val="1+#ppt_w/2"/>
                                              </p:val>
                                            </p:tav>
                                            <p:tav tm="100000">
                                              <p:val>
                                                <p:strVal val="#ppt_x"/>
                                              </p:val>
                                            </p:tav>
                                          </p:tavLst>
                                        </p:anim>
                                        <p:anim calcmode="lin" valueType="num">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63614" y="4406901"/>
            <a:ext cx="10366375" cy="1362075"/>
          </a:xfrm>
        </p:spPr>
        <p:txBody>
          <a:bodyPr anchor="t"/>
          <a:lstStyle>
            <a:lvl1pPr algn="l">
              <a:defRPr sz="4000" b="1" cap="all">
                <a:solidFill>
                  <a:srgbClr val="F8F8F8"/>
                </a:solidFill>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614" y="2906713"/>
            <a:ext cx="10366375" cy="1500187"/>
          </a:xfrm>
        </p:spPr>
        <p:txBody>
          <a:bodyPr anchor="b"/>
          <a:lstStyle>
            <a:lvl1pPr marL="0" indent="0">
              <a:buNone/>
              <a:defRPr sz="2000">
                <a:solidFill>
                  <a:srgbClr val="F8F8F8"/>
                </a:solidFill>
              </a:defRPr>
            </a:lvl1pPr>
            <a:lvl2pPr marL="457200" indent="0">
              <a:buNone/>
              <a:defRPr sz="1700"/>
            </a:lvl2pPr>
            <a:lvl3pPr marL="914400" indent="0">
              <a:buNone/>
              <a:defRPr sz="1600"/>
            </a:lvl3pPr>
            <a:lvl4pPr marL="1371600" indent="0">
              <a:buNone/>
              <a:defRPr sz="1300"/>
            </a:lvl4pPr>
            <a:lvl5pPr marL="1828800" indent="0">
              <a:buNone/>
              <a:defRPr sz="1300"/>
            </a:lvl5pPr>
            <a:lvl6pPr marL="2286000" indent="0">
              <a:buNone/>
              <a:defRPr sz="1300"/>
            </a:lvl6pPr>
            <a:lvl7pPr marL="2743200" indent="0">
              <a:buNone/>
              <a:defRPr sz="1300"/>
            </a:lvl7pPr>
            <a:lvl8pPr marL="3200400" indent="0">
              <a:buNone/>
              <a:defRPr sz="1300"/>
            </a:lvl8pPr>
            <a:lvl9pPr marL="3657600" indent="0">
              <a:buNone/>
              <a:defRPr sz="13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99" y="1600201"/>
            <a:ext cx="5411788"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3788" y="1600201"/>
            <a:ext cx="5413375"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5" name="图片 13" descr="泰迪logo无底色.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01940" y="6309320"/>
            <a:ext cx="918092" cy="24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7"/>
            <a:ext cx="10977563"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1" y="1535113"/>
            <a:ext cx="5389563"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1" y="2174875"/>
            <a:ext cx="5389563"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6013" y="1535113"/>
            <a:ext cx="5391151"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6013" y="2174875"/>
            <a:ext cx="5391151"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49"/>
            <a:ext cx="4013201" cy="1162051"/>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8850" y="273052"/>
            <a:ext cx="681831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2"/>
            <a:ext cx="4013201" cy="46910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8375" cy="566739"/>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90775" y="612775"/>
            <a:ext cx="731837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90775" y="5367338"/>
            <a:ext cx="7318375" cy="8048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2"/>
            <a:ext cx="2743201" cy="52181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1" y="908052"/>
            <a:ext cx="8081963" cy="521811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pic>
        <p:nvPicPr>
          <p:cNvPr id="4" name="Picture 2" descr="PPECLOGO-eff-0-1"/>
          <p:cNvPicPr>
            <a:picLocks noChangeAspect="1" noChangeArrowheads="1"/>
          </p:cNvPicPr>
          <p:nvPr userDrawn="1"/>
        </p:nvPicPr>
        <p:blipFill>
          <a:blip r:embed="rId2" cstate="screen"/>
          <a:srcRect/>
          <a:stretch>
            <a:fillRect/>
          </a:stretch>
        </p:blipFill>
        <p:spPr bwMode="auto">
          <a:xfrm>
            <a:off x="4146915" y="2886610"/>
            <a:ext cx="1060349" cy="7987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PPECLOGO-eff-0-2"/>
          <p:cNvPicPr>
            <a:picLocks noChangeAspect="1" noChangeArrowheads="1"/>
          </p:cNvPicPr>
          <p:nvPr userDrawn="1"/>
        </p:nvPicPr>
        <p:blipFill>
          <a:blip r:embed="rId3" cstate="screen"/>
          <a:srcRect/>
          <a:stretch>
            <a:fillRect/>
          </a:stretch>
        </p:blipFill>
        <p:spPr bwMode="auto">
          <a:xfrm>
            <a:off x="8430462" y="2758265"/>
            <a:ext cx="1096814" cy="83893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PECLOGO-eff-0-3"/>
          <p:cNvPicPr>
            <a:picLocks noChangeAspect="1" noChangeArrowheads="1"/>
          </p:cNvPicPr>
          <p:nvPr userDrawn="1"/>
        </p:nvPicPr>
        <p:blipFill>
          <a:blip r:embed="rId4" cstate="print"/>
          <a:srcRect/>
          <a:stretch>
            <a:fillRect/>
          </a:stretch>
        </p:blipFill>
        <p:spPr bwMode="auto">
          <a:xfrm>
            <a:off x="1040451" y="1447780"/>
            <a:ext cx="3013732" cy="23762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PPECLOGO-eff-0-1"/>
          <p:cNvPicPr>
            <a:picLocks noChangeAspect="1" noChangeArrowheads="1"/>
          </p:cNvPicPr>
          <p:nvPr userDrawn="1"/>
        </p:nvPicPr>
        <p:blipFill>
          <a:blip r:embed="rId5" cstate="screen"/>
          <a:srcRect/>
          <a:stretch>
            <a:fillRect/>
          </a:stretch>
        </p:blipFill>
        <p:spPr bwMode="auto">
          <a:xfrm>
            <a:off x="4467437" y="3771071"/>
            <a:ext cx="524127" cy="395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PECLOGO-eff-0-1"/>
          <p:cNvPicPr>
            <a:picLocks noChangeAspect="1" noChangeArrowheads="1"/>
          </p:cNvPicPr>
          <p:nvPr userDrawn="1"/>
        </p:nvPicPr>
        <p:blipFill>
          <a:blip r:embed="rId6" cstate="screen"/>
          <a:srcRect/>
          <a:stretch>
            <a:fillRect/>
          </a:stretch>
        </p:blipFill>
        <p:spPr bwMode="auto">
          <a:xfrm>
            <a:off x="7376341" y="2904247"/>
            <a:ext cx="401158" cy="302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PECLOGO-eff-0-2"/>
          <p:cNvPicPr>
            <a:picLocks noChangeAspect="1" noChangeArrowheads="1"/>
          </p:cNvPicPr>
          <p:nvPr userDrawn="1"/>
        </p:nvPicPr>
        <p:blipFill>
          <a:blip r:embed="rId7" cstate="screen"/>
          <a:srcRect/>
          <a:stretch>
            <a:fillRect/>
          </a:stretch>
        </p:blipFill>
        <p:spPr bwMode="auto">
          <a:xfrm>
            <a:off x="5277818" y="2574150"/>
            <a:ext cx="981731" cy="7509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PPECLOGO-eff-5-4"/>
          <p:cNvPicPr>
            <a:picLocks noChangeAspect="1" noChangeArrowheads="1"/>
          </p:cNvPicPr>
          <p:nvPr userDrawn="1"/>
        </p:nvPicPr>
        <p:blipFill>
          <a:blip r:embed="rId8" cstate="print"/>
          <a:srcRect/>
          <a:stretch>
            <a:fillRect/>
          </a:stretch>
        </p:blipFill>
        <p:spPr bwMode="auto">
          <a:xfrm>
            <a:off x="3261942" y="3206629"/>
            <a:ext cx="1477636" cy="112384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PPECLOGO-eff-5-2"/>
          <p:cNvPicPr>
            <a:picLocks noChangeAspect="1" noChangeArrowheads="1"/>
          </p:cNvPicPr>
          <p:nvPr userDrawn="1"/>
        </p:nvPicPr>
        <p:blipFill>
          <a:blip r:embed="rId9" cstate="print"/>
          <a:srcRect/>
          <a:stretch>
            <a:fillRect/>
          </a:stretch>
        </p:blipFill>
        <p:spPr bwMode="auto">
          <a:xfrm>
            <a:off x="5352404" y="3446015"/>
            <a:ext cx="1834444" cy="14363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PPECLOGO-eff-5-4"/>
          <p:cNvPicPr>
            <a:picLocks noChangeAspect="1" noChangeArrowheads="1"/>
          </p:cNvPicPr>
          <p:nvPr userDrawn="1"/>
        </p:nvPicPr>
        <p:blipFill>
          <a:blip r:embed="rId10" cstate="screen"/>
          <a:srcRect/>
          <a:stretch>
            <a:fillRect/>
          </a:stretch>
        </p:blipFill>
        <p:spPr bwMode="auto">
          <a:xfrm>
            <a:off x="9886102" y="2725339"/>
            <a:ext cx="1116793" cy="85170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PPECLOGO-eff-0-1"/>
          <p:cNvPicPr>
            <a:picLocks noChangeAspect="1" noChangeArrowheads="1"/>
          </p:cNvPicPr>
          <p:nvPr userDrawn="1"/>
        </p:nvPicPr>
        <p:blipFill>
          <a:blip r:embed="rId11" cstate="screen"/>
          <a:srcRect/>
          <a:stretch>
            <a:fillRect/>
          </a:stretch>
        </p:blipFill>
        <p:spPr bwMode="auto">
          <a:xfrm>
            <a:off x="7942801" y="3624922"/>
            <a:ext cx="522112" cy="3930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PPECLOGO-eff-0-1"/>
          <p:cNvPicPr>
            <a:picLocks noChangeAspect="1" noChangeArrowheads="1"/>
          </p:cNvPicPr>
          <p:nvPr userDrawn="1"/>
        </p:nvPicPr>
        <p:blipFill>
          <a:blip r:embed="rId11" cstate="screen"/>
          <a:srcRect/>
          <a:stretch>
            <a:fillRect/>
          </a:stretch>
        </p:blipFill>
        <p:spPr bwMode="auto">
          <a:xfrm>
            <a:off x="11254879" y="2365002"/>
            <a:ext cx="522111" cy="3930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PPECLOGO-eff2-1-2"/>
          <p:cNvPicPr>
            <a:picLocks noChangeAspect="1" noChangeArrowheads="1"/>
          </p:cNvPicPr>
          <p:nvPr userDrawn="1"/>
        </p:nvPicPr>
        <p:blipFill>
          <a:blip r:embed="rId12" cstate="print"/>
          <a:srcRect/>
          <a:stretch>
            <a:fillRect/>
          </a:stretch>
        </p:blipFill>
        <p:spPr bwMode="auto">
          <a:xfrm>
            <a:off x="2054437" y="2795895"/>
            <a:ext cx="1697366" cy="142874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PPECLOGO-eff2-1-3"/>
          <p:cNvPicPr>
            <a:picLocks noChangeAspect="1" noChangeArrowheads="1"/>
          </p:cNvPicPr>
          <p:nvPr userDrawn="1"/>
        </p:nvPicPr>
        <p:blipFill>
          <a:blip r:embed="rId13" cstate="print"/>
          <a:srcRect/>
          <a:stretch>
            <a:fillRect/>
          </a:stretch>
        </p:blipFill>
        <p:spPr bwMode="auto">
          <a:xfrm>
            <a:off x="3983627" y="2785815"/>
            <a:ext cx="437445" cy="3653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PPECLOGO-eff2-1-4"/>
          <p:cNvPicPr>
            <a:picLocks noChangeAspect="1" noChangeArrowheads="1"/>
          </p:cNvPicPr>
          <p:nvPr userDrawn="1"/>
        </p:nvPicPr>
        <p:blipFill>
          <a:blip r:embed="rId14" cstate="print"/>
          <a:srcRect/>
          <a:stretch>
            <a:fillRect/>
          </a:stretch>
        </p:blipFill>
        <p:spPr bwMode="auto">
          <a:xfrm>
            <a:off x="8519341" y="3325061"/>
            <a:ext cx="703540" cy="58712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PPECLOGO-eff2-1-3"/>
          <p:cNvPicPr>
            <a:picLocks noChangeAspect="1" noChangeArrowheads="1"/>
          </p:cNvPicPr>
          <p:nvPr userDrawn="1"/>
        </p:nvPicPr>
        <p:blipFill>
          <a:blip r:embed="rId13" cstate="print"/>
          <a:srcRect/>
          <a:stretch>
            <a:fillRect/>
          </a:stretch>
        </p:blipFill>
        <p:spPr bwMode="auto">
          <a:xfrm>
            <a:off x="9239009" y="2909286"/>
            <a:ext cx="360841" cy="30238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PPECLOGO-eff2-1-3"/>
          <p:cNvPicPr>
            <a:picLocks noChangeAspect="1" noChangeArrowheads="1"/>
          </p:cNvPicPr>
          <p:nvPr userDrawn="1"/>
        </p:nvPicPr>
        <p:blipFill>
          <a:blip r:embed="rId13" cstate="print"/>
          <a:srcRect/>
          <a:stretch>
            <a:fillRect/>
          </a:stretch>
        </p:blipFill>
        <p:spPr bwMode="auto">
          <a:xfrm>
            <a:off x="9744990" y="3446014"/>
            <a:ext cx="282222" cy="2368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35" presetClass="path" presetSubtype="0" fill="hold" nodeType="withEffect">
                                  <p:stCondLst>
                                    <p:cond delay="0"/>
                                  </p:stCondLst>
                                  <p:childTnLst>
                                    <p:animMotion origin="layout" path="M 0 0  L -0.25 0  E" pathEditMode="relative" rAng="0" ptsTypes="">
                                      <p:cBhvr>
                                        <p:cTn id="39" dur="3000" fill="hold"/>
                                        <p:tgtEl>
                                          <p:spTgt spid="12"/>
                                        </p:tgtEl>
                                        <p:attrNameLst>
                                          <p:attrName>ppt_x</p:attrName>
                                          <p:attrName>ppt_y</p:attrName>
                                        </p:attrNameLst>
                                      </p:cBhvr>
                                      <p:rCtr x="0" y="0"/>
                                    </p:animMotion>
                                  </p:childTnLst>
                                </p:cTn>
                              </p:par>
                              <p:par>
                                <p:cTn id="40" presetID="35" presetClass="path" presetSubtype="0" fill="hold" nodeType="withEffect">
                                  <p:stCondLst>
                                    <p:cond delay="0"/>
                                  </p:stCondLst>
                                  <p:childTnLst>
                                    <p:animMotion origin="layout" path="M 4.16667E-6 3.33333E-6 L -0.31632 3.33333E-6 " pathEditMode="relative" rAng="0" ptsTypes="AA">
                                      <p:cBhvr>
                                        <p:cTn id="41" dur="3000" fill="hold"/>
                                        <p:tgtEl>
                                          <p:spTgt spid="5"/>
                                        </p:tgtEl>
                                        <p:attrNameLst>
                                          <p:attrName>ppt_x</p:attrName>
                                          <p:attrName>ppt_y</p:attrName>
                                        </p:attrNameLst>
                                      </p:cBhvr>
                                      <p:rCtr x="-15816" y="0"/>
                                    </p:animMotion>
                                  </p:childTnLst>
                                </p:cTn>
                              </p:par>
                              <p:par>
                                <p:cTn id="42" presetID="35" presetClass="path" presetSubtype="0" fill="hold" nodeType="withEffect">
                                  <p:stCondLst>
                                    <p:cond delay="0"/>
                                  </p:stCondLst>
                                  <p:childTnLst>
                                    <p:animMotion origin="layout" path="M 0.00504 -1.85185E-6 L -0.46684 -1.85185E-6 " pathEditMode="relative" rAng="0" ptsTypes="AA">
                                      <p:cBhvr>
                                        <p:cTn id="43" dur="3000" fill="hold"/>
                                        <p:tgtEl>
                                          <p:spTgt spid="8"/>
                                        </p:tgtEl>
                                        <p:attrNameLst>
                                          <p:attrName>ppt_x</p:attrName>
                                          <p:attrName>ppt_y</p:attrName>
                                        </p:attrNameLst>
                                      </p:cBhvr>
                                      <p:rCtr x="-23594" y="0"/>
                                    </p:animMotion>
                                  </p:childTnLst>
                                </p:cTn>
                              </p:par>
                              <p:par>
                                <p:cTn id="44" presetID="35" presetClass="path" presetSubtype="0" fill="hold" nodeType="withEffect">
                                  <p:stCondLst>
                                    <p:cond delay="0"/>
                                  </p:stCondLst>
                                  <p:childTnLst>
                                    <p:animMotion origin="layout" path="M -3.05556E-6 1.11111E-6 L -0.19531 1.11111E-6 " pathEditMode="relative" rAng="0" ptsTypes="AA">
                                      <p:cBhvr>
                                        <p:cTn id="45" dur="3000" fill="hold"/>
                                        <p:tgtEl>
                                          <p:spTgt spid="9"/>
                                        </p:tgtEl>
                                        <p:attrNameLst>
                                          <p:attrName>ppt_x</p:attrName>
                                          <p:attrName>ppt_y</p:attrName>
                                        </p:attrNameLst>
                                      </p:cBhvr>
                                      <p:rCtr x="-9774" y="0"/>
                                    </p:animMotion>
                                  </p:childTnLst>
                                </p:cTn>
                              </p:par>
                              <p:par>
                                <p:cTn id="46" presetID="35" presetClass="path" presetSubtype="0" fill="hold" nodeType="withEffect">
                                  <p:stCondLst>
                                    <p:cond delay="0"/>
                                  </p:stCondLst>
                                  <p:childTnLst>
                                    <p:animMotion origin="layout" path="M 5.55556E-7 2.59259E-6 L -0.43594 2.59259E-6 " pathEditMode="relative" rAng="0" ptsTypes="AA">
                                      <p:cBhvr>
                                        <p:cTn id="47" dur="3000" fill="hold"/>
                                        <p:tgtEl>
                                          <p:spTgt spid="7"/>
                                        </p:tgtEl>
                                        <p:attrNameLst>
                                          <p:attrName>ppt_x</p:attrName>
                                          <p:attrName>ppt_y</p:attrName>
                                        </p:attrNameLst>
                                      </p:cBhvr>
                                      <p:rCtr x="-21806" y="0"/>
                                    </p:animMotion>
                                  </p:childTnLst>
                                </p:cTn>
                              </p:par>
                              <p:par>
                                <p:cTn id="48" presetID="35" presetClass="path" presetSubtype="0" fill="hold" nodeType="withEffect">
                                  <p:stCondLst>
                                    <p:cond delay="0"/>
                                  </p:stCondLst>
                                  <p:childTnLst>
                                    <p:animMotion origin="layout" path="M 3.05556E-6 -1.85185E-6 L -0.33577 -1.85185E-6 " pathEditMode="relative" rAng="0" ptsTypes="AA">
                                      <p:cBhvr>
                                        <p:cTn id="49" dur="3000" fill="hold"/>
                                        <p:tgtEl>
                                          <p:spTgt spid="4"/>
                                        </p:tgtEl>
                                        <p:attrNameLst>
                                          <p:attrName>ppt_x</p:attrName>
                                          <p:attrName>ppt_y</p:attrName>
                                        </p:attrNameLst>
                                      </p:cBhvr>
                                      <p:rCtr x="-16788" y="0"/>
                                    </p:animMotion>
                                  </p:childTnLst>
                                </p:cTn>
                              </p:par>
                              <p:par>
                                <p:cTn id="50" presetID="35" presetClass="path" presetSubtype="0" fill="hold" nodeType="withEffect">
                                  <p:stCondLst>
                                    <p:cond delay="0"/>
                                  </p:stCondLst>
                                  <p:childTnLst>
                                    <p:animMotion origin="layout" path="M 1.66667E-6 -1.85185E-6 L -0.57188 -1.85185E-6 " pathEditMode="relative" rAng="0" ptsTypes="AA">
                                      <p:cBhvr>
                                        <p:cTn id="51" dur="3000" fill="hold"/>
                                        <p:tgtEl>
                                          <p:spTgt spid="13"/>
                                        </p:tgtEl>
                                        <p:attrNameLst>
                                          <p:attrName>ppt_x</p:attrName>
                                          <p:attrName>ppt_y</p:attrName>
                                        </p:attrNameLst>
                                      </p:cBhvr>
                                      <p:rCtr x="-28594" y="0"/>
                                    </p:animMotion>
                                  </p:childTnLst>
                                </p:cTn>
                              </p:par>
                              <p:par>
                                <p:cTn id="52" presetID="35" presetClass="path" presetSubtype="0" fill="hold" nodeType="withEffect">
                                  <p:stCondLst>
                                    <p:cond delay="0"/>
                                  </p:stCondLst>
                                  <p:childTnLst>
                                    <p:animMotion origin="layout" path="M 1.66667E-6 -1.85185E-6 L -0.57188 -1.85185E-6 " pathEditMode="relative" rAng="0" ptsTypes="AA">
                                      <p:cBhvr>
                                        <p:cTn id="53" dur="3000" fill="hold"/>
                                        <p:tgtEl>
                                          <p:spTgt spid="14"/>
                                        </p:tgtEl>
                                        <p:attrNameLst>
                                          <p:attrName>ppt_x</p:attrName>
                                          <p:attrName>ppt_y</p:attrName>
                                        </p:attrNameLst>
                                      </p:cBhvr>
                                      <p:rCtr x="-28594" y="0"/>
                                    </p:animMotion>
                                  </p:childTnLst>
                                </p:cTn>
                              </p:par>
                              <p:par>
                                <p:cTn id="54" presetID="63" presetClass="path" presetSubtype="0" fill="hold" nodeType="withEffect">
                                  <p:stCondLst>
                                    <p:cond delay="0"/>
                                  </p:stCondLst>
                                  <p:childTnLst>
                                    <p:animMotion origin="layout" path="M 5.55556E-7 2.59259E-6 L 0.43906 2.59259E-6 " pathEditMode="relative" rAng="0" ptsTypes="AA">
                                      <p:cBhvr>
                                        <p:cTn id="55" dur="3000" fill="hold"/>
                                        <p:tgtEl>
                                          <p:spTgt spid="11"/>
                                        </p:tgtEl>
                                        <p:attrNameLst>
                                          <p:attrName>ppt_x</p:attrName>
                                          <p:attrName>ppt_y</p:attrName>
                                        </p:attrNameLst>
                                      </p:cBhvr>
                                      <p:rCtr x="21944" y="0"/>
                                    </p:animMotion>
                                  </p:childTnLst>
                                </p:cTn>
                              </p:par>
                              <p:par>
                                <p:cTn id="56" presetID="63" presetClass="path" presetSubtype="0" fill="hold" nodeType="withEffect">
                                  <p:stCondLst>
                                    <p:cond delay="0"/>
                                  </p:stCondLst>
                                  <p:childTnLst>
                                    <p:animMotion origin="layout" path="M -1.38889E-6 2.96296E-6 L 0.62813 2.96296E-6 " pathEditMode="relative" rAng="0" ptsTypes="AA">
                                      <p:cBhvr>
                                        <p:cTn id="57" dur="3000" fill="hold"/>
                                        <p:tgtEl>
                                          <p:spTgt spid="10"/>
                                        </p:tgtEl>
                                        <p:attrNameLst>
                                          <p:attrName>ppt_x</p:attrName>
                                          <p:attrName>ppt_y</p:attrName>
                                        </p:attrNameLst>
                                      </p:cBhvr>
                                      <p:rCtr x="31406" y="0"/>
                                    </p:animMotion>
                                  </p:childTnLst>
                                </p:cTn>
                              </p:par>
                              <p:par>
                                <p:cTn id="58" presetID="63" presetClass="path" presetSubtype="0" fill="hold" nodeType="withEffect">
                                  <p:stCondLst>
                                    <p:cond delay="0"/>
                                  </p:stCondLst>
                                  <p:childTnLst>
                                    <p:animMotion origin="layout" path="M 2.77778E-6 -2.96296E-6 L 0.42465 -2.96296E-6 " pathEditMode="relative" rAng="0" ptsTypes="AA">
                                      <p:cBhvr>
                                        <p:cTn id="59" dur="3000" fill="hold"/>
                                        <p:tgtEl>
                                          <p:spTgt spid="6"/>
                                        </p:tgtEl>
                                        <p:attrNameLst>
                                          <p:attrName>ppt_x</p:attrName>
                                          <p:attrName>ppt_y</p:attrName>
                                        </p:attrNameLst>
                                      </p:cBhvr>
                                      <p:rCtr x="21233" y="0"/>
                                    </p:animMotion>
                                  </p:childTnLst>
                                </p:cTn>
                              </p:par>
                              <p:par>
                                <p:cTn id="60" presetID="10" presetClass="exit" presetSubtype="0" fill="hold" nodeType="withEffect">
                                  <p:stCondLst>
                                    <p:cond delay="2500"/>
                                  </p:stCondLst>
                                  <p:childTnLst>
                                    <p:animEffect transition="out" filter="fade">
                                      <p:cBhvr>
                                        <p:cTn id="61" dur="500"/>
                                        <p:tgtEl>
                                          <p:spTgt spid="10"/>
                                        </p:tgtEl>
                                      </p:cBhvr>
                                    </p:animEffect>
                                    <p:set>
                                      <p:cBhvr>
                                        <p:cTn id="62" dur="1" fill="hold">
                                          <p:stCondLst>
                                            <p:cond delay="499"/>
                                          </p:stCondLst>
                                        </p:cTn>
                                        <p:tgtEl>
                                          <p:spTgt spid="10"/>
                                        </p:tgtEl>
                                        <p:attrNameLst>
                                          <p:attrName>style.visibility</p:attrName>
                                        </p:attrNameLst>
                                      </p:cBhvr>
                                      <p:to>
                                        <p:strVal val="hidden"/>
                                      </p:to>
                                    </p:set>
                                  </p:childTnLst>
                                </p:cTn>
                              </p:par>
                              <p:par>
                                <p:cTn id="63" presetID="10" presetClass="exit" presetSubtype="0" fill="hold" nodeType="withEffect">
                                  <p:stCondLst>
                                    <p:cond delay="2500"/>
                                  </p:stCondLst>
                                  <p:childTnLst>
                                    <p:animEffect transition="out" filter="fade">
                                      <p:cBhvr>
                                        <p:cTn id="64" dur="500"/>
                                        <p:tgtEl>
                                          <p:spTgt spid="11"/>
                                        </p:tgtEl>
                                      </p:cBhvr>
                                    </p:animEffect>
                                    <p:set>
                                      <p:cBhvr>
                                        <p:cTn id="65" dur="1" fill="hold">
                                          <p:stCondLst>
                                            <p:cond delay="499"/>
                                          </p:stCondLst>
                                        </p:cTn>
                                        <p:tgtEl>
                                          <p:spTgt spid="11"/>
                                        </p:tgtEl>
                                        <p:attrNameLst>
                                          <p:attrName>style.visibility</p:attrName>
                                        </p:attrNameLst>
                                      </p:cBhvr>
                                      <p:to>
                                        <p:strVal val="hidden"/>
                                      </p:to>
                                    </p:set>
                                  </p:childTnLst>
                                </p:cTn>
                              </p:par>
                              <p:par>
                                <p:cTn id="66" presetID="10" presetClass="exit" presetSubtype="0" fill="hold" nodeType="withEffect">
                                  <p:stCondLst>
                                    <p:cond delay="2500"/>
                                  </p:stCondLst>
                                  <p:childTnLst>
                                    <p:animEffect transition="out" filter="fade">
                                      <p:cBhvr>
                                        <p:cTn id="67" dur="500"/>
                                        <p:tgtEl>
                                          <p:spTgt spid="13"/>
                                        </p:tgtEl>
                                      </p:cBhvr>
                                    </p:animEffect>
                                    <p:set>
                                      <p:cBhvr>
                                        <p:cTn id="68" dur="1" fill="hold">
                                          <p:stCondLst>
                                            <p:cond delay="499"/>
                                          </p:stCondLst>
                                        </p:cTn>
                                        <p:tgtEl>
                                          <p:spTgt spid="13"/>
                                        </p:tgtEl>
                                        <p:attrNameLst>
                                          <p:attrName>style.visibility</p:attrName>
                                        </p:attrNameLst>
                                      </p:cBhvr>
                                      <p:to>
                                        <p:strVal val="hidden"/>
                                      </p:to>
                                    </p:set>
                                  </p:childTnLst>
                                </p:cTn>
                              </p:par>
                              <p:par>
                                <p:cTn id="69" presetID="10" presetClass="exit" presetSubtype="0" fill="hold" nodeType="withEffect">
                                  <p:stCondLst>
                                    <p:cond delay="2500"/>
                                  </p:stCondLst>
                                  <p:childTnLst>
                                    <p:animEffect transition="out" filter="fade">
                                      <p:cBhvr>
                                        <p:cTn id="70" dur="500"/>
                                        <p:tgtEl>
                                          <p:spTgt spid="7"/>
                                        </p:tgtEl>
                                      </p:cBhvr>
                                    </p:animEffect>
                                    <p:set>
                                      <p:cBhvr>
                                        <p:cTn id="71" dur="1" fill="hold">
                                          <p:stCondLst>
                                            <p:cond delay="499"/>
                                          </p:stCondLst>
                                        </p:cTn>
                                        <p:tgtEl>
                                          <p:spTgt spid="7"/>
                                        </p:tgtEl>
                                        <p:attrNameLst>
                                          <p:attrName>style.visibility</p:attrName>
                                        </p:attrNameLst>
                                      </p:cBhvr>
                                      <p:to>
                                        <p:strVal val="hidden"/>
                                      </p:to>
                                    </p:set>
                                  </p:childTnLst>
                                </p:cTn>
                              </p:par>
                              <p:par>
                                <p:cTn id="72" presetID="10" presetClass="exit" presetSubtype="0" fill="hold" nodeType="withEffect">
                                  <p:stCondLst>
                                    <p:cond delay="2500"/>
                                  </p:stCondLst>
                                  <p:childTnLst>
                                    <p:animEffect transition="out" filter="fade">
                                      <p:cBhvr>
                                        <p:cTn id="73" dur="500"/>
                                        <p:tgtEl>
                                          <p:spTgt spid="9"/>
                                        </p:tgtEl>
                                      </p:cBhvr>
                                    </p:animEffect>
                                    <p:set>
                                      <p:cBhvr>
                                        <p:cTn id="74" dur="1" fill="hold">
                                          <p:stCondLst>
                                            <p:cond delay="499"/>
                                          </p:stCondLst>
                                        </p:cTn>
                                        <p:tgtEl>
                                          <p:spTgt spid="9"/>
                                        </p:tgtEl>
                                        <p:attrNameLst>
                                          <p:attrName>style.visibility</p:attrName>
                                        </p:attrNameLst>
                                      </p:cBhvr>
                                      <p:to>
                                        <p:strVal val="hidden"/>
                                      </p:to>
                                    </p:set>
                                  </p:childTnLst>
                                </p:cTn>
                              </p:par>
                              <p:par>
                                <p:cTn id="75" presetID="10" presetClass="exit" presetSubtype="0" fill="hold" nodeType="withEffect">
                                  <p:stCondLst>
                                    <p:cond delay="2500"/>
                                  </p:stCondLst>
                                  <p:childTnLst>
                                    <p:animEffect transition="out" filter="fade">
                                      <p:cBhvr>
                                        <p:cTn id="76" dur="500"/>
                                        <p:tgtEl>
                                          <p:spTgt spid="5"/>
                                        </p:tgtEl>
                                      </p:cBhvr>
                                    </p:animEffect>
                                    <p:set>
                                      <p:cBhvr>
                                        <p:cTn id="77" dur="1" fill="hold">
                                          <p:stCondLst>
                                            <p:cond delay="499"/>
                                          </p:stCondLst>
                                        </p:cTn>
                                        <p:tgtEl>
                                          <p:spTgt spid="5"/>
                                        </p:tgtEl>
                                        <p:attrNameLst>
                                          <p:attrName>style.visibility</p:attrName>
                                        </p:attrNameLst>
                                      </p:cBhvr>
                                      <p:to>
                                        <p:strVal val="hidden"/>
                                      </p:to>
                                    </p:set>
                                  </p:childTnLst>
                                </p:cTn>
                              </p:par>
                              <p:par>
                                <p:cTn id="78" presetID="10" presetClass="exit" presetSubtype="0" fill="hold" nodeType="withEffect">
                                  <p:stCondLst>
                                    <p:cond delay="2500"/>
                                  </p:stCondLst>
                                  <p:childTnLst>
                                    <p:animEffect transition="out" filter="fade">
                                      <p:cBhvr>
                                        <p:cTn id="79" dur="500"/>
                                        <p:tgtEl>
                                          <p:spTgt spid="12"/>
                                        </p:tgtEl>
                                      </p:cBhvr>
                                    </p:animEffect>
                                    <p:set>
                                      <p:cBhvr>
                                        <p:cTn id="80" dur="1" fill="hold">
                                          <p:stCondLst>
                                            <p:cond delay="499"/>
                                          </p:stCondLst>
                                        </p:cTn>
                                        <p:tgtEl>
                                          <p:spTgt spid="12"/>
                                        </p:tgtEl>
                                        <p:attrNameLst>
                                          <p:attrName>style.visibility</p:attrName>
                                        </p:attrNameLst>
                                      </p:cBhvr>
                                      <p:to>
                                        <p:strVal val="hidden"/>
                                      </p:to>
                                    </p:set>
                                  </p:childTnLst>
                                </p:cTn>
                              </p:par>
                              <p:par>
                                <p:cTn id="81" presetID="10" presetClass="exit" presetSubtype="0" fill="hold" nodeType="withEffect">
                                  <p:stCondLst>
                                    <p:cond delay="2500"/>
                                  </p:stCondLst>
                                  <p:childTnLst>
                                    <p:animEffect transition="out" filter="fade">
                                      <p:cBhvr>
                                        <p:cTn id="82" dur="500"/>
                                        <p:tgtEl>
                                          <p:spTgt spid="14"/>
                                        </p:tgtEl>
                                      </p:cBhvr>
                                    </p:animEffect>
                                    <p:set>
                                      <p:cBhvr>
                                        <p:cTn id="83" dur="1" fill="hold">
                                          <p:stCondLst>
                                            <p:cond delay="499"/>
                                          </p:stCondLst>
                                        </p:cTn>
                                        <p:tgtEl>
                                          <p:spTgt spid="14"/>
                                        </p:tgtEl>
                                        <p:attrNameLst>
                                          <p:attrName>style.visibility</p:attrName>
                                        </p:attrNameLst>
                                      </p:cBhvr>
                                      <p:to>
                                        <p:strVal val="hidden"/>
                                      </p:to>
                                    </p:set>
                                  </p:childTnLst>
                                </p:cTn>
                              </p:par>
                              <p:par>
                                <p:cTn id="84" presetID="10" presetClass="exit" presetSubtype="0" fill="hold" nodeType="withEffect">
                                  <p:stCondLst>
                                    <p:cond delay="2500"/>
                                  </p:stCondLst>
                                  <p:childTnLst>
                                    <p:animEffect transition="out" filter="fade">
                                      <p:cBhvr>
                                        <p:cTn id="85" dur="500"/>
                                        <p:tgtEl>
                                          <p:spTgt spid="6"/>
                                        </p:tgtEl>
                                      </p:cBhvr>
                                    </p:animEffect>
                                    <p:set>
                                      <p:cBhvr>
                                        <p:cTn id="86" dur="1" fill="hold">
                                          <p:stCondLst>
                                            <p:cond delay="499"/>
                                          </p:stCondLst>
                                        </p:cTn>
                                        <p:tgtEl>
                                          <p:spTgt spid="6"/>
                                        </p:tgtEl>
                                        <p:attrNameLst>
                                          <p:attrName>style.visibility</p:attrName>
                                        </p:attrNameLst>
                                      </p:cBhvr>
                                      <p:to>
                                        <p:strVal val="hidden"/>
                                      </p:to>
                                    </p:set>
                                  </p:childTnLst>
                                </p:cTn>
                              </p:par>
                              <p:par>
                                <p:cTn id="87" presetID="10" presetClass="exit" presetSubtype="0" fill="hold" nodeType="withEffect">
                                  <p:stCondLst>
                                    <p:cond delay="2500"/>
                                  </p:stCondLst>
                                  <p:childTnLst>
                                    <p:animEffect transition="out" filter="fade">
                                      <p:cBhvr>
                                        <p:cTn id="88" dur="500"/>
                                        <p:tgtEl>
                                          <p:spTgt spid="4"/>
                                        </p:tgtEl>
                                      </p:cBhvr>
                                    </p:animEffect>
                                    <p:set>
                                      <p:cBhvr>
                                        <p:cTn id="89" dur="1" fill="hold">
                                          <p:stCondLst>
                                            <p:cond delay="499"/>
                                          </p:stCondLst>
                                        </p:cTn>
                                        <p:tgtEl>
                                          <p:spTgt spid="4"/>
                                        </p:tgtEl>
                                        <p:attrNameLst>
                                          <p:attrName>style.visibility</p:attrName>
                                        </p:attrNameLst>
                                      </p:cBhvr>
                                      <p:to>
                                        <p:strVal val="hidden"/>
                                      </p:to>
                                    </p:set>
                                  </p:childTnLst>
                                </p:cTn>
                              </p:par>
                              <p:par>
                                <p:cTn id="90" presetID="10" presetClass="exit" presetSubtype="0" fill="hold" nodeType="withEffect">
                                  <p:stCondLst>
                                    <p:cond delay="2500"/>
                                  </p:stCondLst>
                                  <p:childTnLst>
                                    <p:animEffect transition="out" filter="fade">
                                      <p:cBhvr>
                                        <p:cTn id="91" dur="500"/>
                                        <p:tgtEl>
                                          <p:spTgt spid="8"/>
                                        </p:tgtEl>
                                      </p:cBhvr>
                                    </p:animEffect>
                                    <p:set>
                                      <p:cBhvr>
                                        <p:cTn id="92" dur="1" fill="hold">
                                          <p:stCondLst>
                                            <p:cond delay="499"/>
                                          </p:stCondLst>
                                        </p:cTn>
                                        <p:tgtEl>
                                          <p:spTgt spid="8"/>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100"/>
                                        <p:tgtEl>
                                          <p:spTgt spid="15"/>
                                        </p:tgtEl>
                                      </p:cBhvr>
                                    </p:animEffect>
                                  </p:childTnLst>
                                </p:cTn>
                              </p:par>
                              <p:par>
                                <p:cTn id="96" presetID="10" presetClass="entr" presetSubtype="0" fill="hold" nodeType="withEffect">
                                  <p:stCondLst>
                                    <p:cond delay="60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
                                        <p:tgtEl>
                                          <p:spTgt spid="16"/>
                                        </p:tgtEl>
                                      </p:cBhvr>
                                    </p:animEffect>
                                  </p:childTnLst>
                                </p:cTn>
                              </p:par>
                              <p:par>
                                <p:cTn id="99" presetID="10" presetClass="entr" presetSubtype="0" fill="hold" nodeType="withEffect">
                                  <p:stCondLst>
                                    <p:cond delay="200"/>
                                  </p:stCondLst>
                                  <p:childTnLst>
                                    <p:set>
                                      <p:cBhvr>
                                        <p:cTn id="100" dur="1" fill="hold">
                                          <p:stCondLst>
                                            <p:cond delay="0"/>
                                          </p:stCondLst>
                                        </p:cTn>
                                        <p:tgtEl>
                                          <p:spTgt spid="17"/>
                                        </p:tgtEl>
                                        <p:attrNameLst>
                                          <p:attrName>style.visibility</p:attrName>
                                        </p:attrNameLst>
                                      </p:cBhvr>
                                      <p:to>
                                        <p:strVal val="visible"/>
                                      </p:to>
                                    </p:set>
                                    <p:animEffect transition="in" filter="fade">
                                      <p:cBhvr>
                                        <p:cTn id="101" dur="100"/>
                                        <p:tgtEl>
                                          <p:spTgt spid="17"/>
                                        </p:tgtEl>
                                      </p:cBhvr>
                                    </p:animEffect>
                                  </p:childTnLst>
                                </p:cTn>
                              </p:par>
                              <p:par>
                                <p:cTn id="102" presetID="10" presetClass="entr" presetSubtype="0" fill="hold" nodeType="withEffect">
                                  <p:stCondLst>
                                    <p:cond delay="180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100"/>
                                        <p:tgtEl>
                                          <p:spTgt spid="18"/>
                                        </p:tgtEl>
                                      </p:cBhvr>
                                    </p:animEffect>
                                  </p:childTnLst>
                                </p:cTn>
                              </p:par>
                              <p:par>
                                <p:cTn id="105" presetID="10" presetClass="entr" presetSubtype="0" fill="hold" nodeType="withEffect">
                                  <p:stCondLst>
                                    <p:cond delay="220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100"/>
                                        <p:tgtEl>
                                          <p:spTgt spid="19"/>
                                        </p:tgtEl>
                                      </p:cBhvr>
                                    </p:animEffect>
                                  </p:childTnLst>
                                </p:cTn>
                              </p:par>
                              <p:par>
                                <p:cTn id="108" presetID="53" presetClass="exit" presetSubtype="16" fill="hold" nodeType="withEffect">
                                  <p:stCondLst>
                                    <p:cond delay="100"/>
                                  </p:stCondLst>
                                  <p:childTnLst>
                                    <p:anim calcmode="lin" valueType="num">
                                      <p:cBhvr>
                                        <p:cTn id="109" dur="1000"/>
                                        <p:tgtEl>
                                          <p:spTgt spid="15"/>
                                        </p:tgtEl>
                                        <p:attrNameLst>
                                          <p:attrName>ppt_w</p:attrName>
                                        </p:attrNameLst>
                                      </p:cBhvr>
                                      <p:tavLst>
                                        <p:tav tm="0">
                                          <p:val>
                                            <p:strVal val="ppt_w"/>
                                          </p:val>
                                        </p:tav>
                                        <p:tav tm="100000">
                                          <p:val>
                                            <p:fltVal val="0"/>
                                          </p:val>
                                        </p:tav>
                                      </p:tavLst>
                                    </p:anim>
                                    <p:anim calcmode="lin" valueType="num">
                                      <p:cBhvr>
                                        <p:cTn id="110" dur="1000"/>
                                        <p:tgtEl>
                                          <p:spTgt spid="15"/>
                                        </p:tgtEl>
                                        <p:attrNameLst>
                                          <p:attrName>ppt_h</p:attrName>
                                        </p:attrNameLst>
                                      </p:cBhvr>
                                      <p:tavLst>
                                        <p:tav tm="0">
                                          <p:val>
                                            <p:strVal val="ppt_h"/>
                                          </p:val>
                                        </p:tav>
                                        <p:tav tm="100000">
                                          <p:val>
                                            <p:fltVal val="0"/>
                                          </p:val>
                                        </p:tav>
                                      </p:tavLst>
                                    </p:anim>
                                    <p:animEffect transition="out" filter="fade">
                                      <p:cBhvr>
                                        <p:cTn id="111" dur="1000"/>
                                        <p:tgtEl>
                                          <p:spTgt spid="15"/>
                                        </p:tgtEl>
                                      </p:cBhvr>
                                    </p:animEffect>
                                    <p:set>
                                      <p:cBhvr>
                                        <p:cTn id="112" dur="1" fill="hold">
                                          <p:stCondLst>
                                            <p:cond delay="999"/>
                                          </p:stCondLst>
                                        </p:cTn>
                                        <p:tgtEl>
                                          <p:spTgt spid="15"/>
                                        </p:tgtEl>
                                        <p:attrNameLst>
                                          <p:attrName>style.visibility</p:attrName>
                                        </p:attrNameLst>
                                      </p:cBhvr>
                                      <p:to>
                                        <p:strVal val="hidden"/>
                                      </p:to>
                                    </p:set>
                                  </p:childTnLst>
                                </p:cTn>
                              </p:par>
                              <p:par>
                                <p:cTn id="113" presetID="53" presetClass="exit" presetSubtype="16" fill="hold" nodeType="withEffect">
                                  <p:stCondLst>
                                    <p:cond delay="700"/>
                                  </p:stCondLst>
                                  <p:childTnLst>
                                    <p:anim calcmode="lin" valueType="num">
                                      <p:cBhvr>
                                        <p:cTn id="114" dur="500"/>
                                        <p:tgtEl>
                                          <p:spTgt spid="16"/>
                                        </p:tgtEl>
                                        <p:attrNameLst>
                                          <p:attrName>ppt_w</p:attrName>
                                        </p:attrNameLst>
                                      </p:cBhvr>
                                      <p:tavLst>
                                        <p:tav tm="0">
                                          <p:val>
                                            <p:strVal val="ppt_w"/>
                                          </p:val>
                                        </p:tav>
                                        <p:tav tm="100000">
                                          <p:val>
                                            <p:fltVal val="0"/>
                                          </p:val>
                                        </p:tav>
                                      </p:tavLst>
                                    </p:anim>
                                    <p:anim calcmode="lin" valueType="num">
                                      <p:cBhvr>
                                        <p:cTn id="115" dur="500"/>
                                        <p:tgtEl>
                                          <p:spTgt spid="16"/>
                                        </p:tgtEl>
                                        <p:attrNameLst>
                                          <p:attrName>ppt_h</p:attrName>
                                        </p:attrNameLst>
                                      </p:cBhvr>
                                      <p:tavLst>
                                        <p:tav tm="0">
                                          <p:val>
                                            <p:strVal val="ppt_h"/>
                                          </p:val>
                                        </p:tav>
                                        <p:tav tm="100000">
                                          <p:val>
                                            <p:fltVal val="0"/>
                                          </p:val>
                                        </p:tav>
                                      </p:tavLst>
                                    </p:anim>
                                    <p:animEffect transition="out" filter="fade">
                                      <p:cBhvr>
                                        <p:cTn id="116" dur="500"/>
                                        <p:tgtEl>
                                          <p:spTgt spid="16"/>
                                        </p:tgtEl>
                                      </p:cBhvr>
                                    </p:animEffect>
                                    <p:set>
                                      <p:cBhvr>
                                        <p:cTn id="117" dur="1" fill="hold">
                                          <p:stCondLst>
                                            <p:cond delay="499"/>
                                          </p:stCondLst>
                                        </p:cTn>
                                        <p:tgtEl>
                                          <p:spTgt spid="16"/>
                                        </p:tgtEl>
                                        <p:attrNameLst>
                                          <p:attrName>style.visibility</p:attrName>
                                        </p:attrNameLst>
                                      </p:cBhvr>
                                      <p:to>
                                        <p:strVal val="hidden"/>
                                      </p:to>
                                    </p:set>
                                  </p:childTnLst>
                                </p:cTn>
                              </p:par>
                              <p:par>
                                <p:cTn id="118" presetID="53" presetClass="exit" presetSubtype="16" fill="hold" nodeType="withEffect">
                                  <p:stCondLst>
                                    <p:cond delay="300"/>
                                  </p:stCondLst>
                                  <p:childTnLst>
                                    <p:anim calcmode="lin" valueType="num">
                                      <p:cBhvr>
                                        <p:cTn id="119" dur="500"/>
                                        <p:tgtEl>
                                          <p:spTgt spid="17"/>
                                        </p:tgtEl>
                                        <p:attrNameLst>
                                          <p:attrName>ppt_w</p:attrName>
                                        </p:attrNameLst>
                                      </p:cBhvr>
                                      <p:tavLst>
                                        <p:tav tm="0">
                                          <p:val>
                                            <p:strVal val="ppt_w"/>
                                          </p:val>
                                        </p:tav>
                                        <p:tav tm="100000">
                                          <p:val>
                                            <p:fltVal val="0"/>
                                          </p:val>
                                        </p:tav>
                                      </p:tavLst>
                                    </p:anim>
                                    <p:anim calcmode="lin" valueType="num">
                                      <p:cBhvr>
                                        <p:cTn id="120" dur="500"/>
                                        <p:tgtEl>
                                          <p:spTgt spid="17"/>
                                        </p:tgtEl>
                                        <p:attrNameLst>
                                          <p:attrName>ppt_h</p:attrName>
                                        </p:attrNameLst>
                                      </p:cBhvr>
                                      <p:tavLst>
                                        <p:tav tm="0">
                                          <p:val>
                                            <p:strVal val="ppt_h"/>
                                          </p:val>
                                        </p:tav>
                                        <p:tav tm="100000">
                                          <p:val>
                                            <p:fltVal val="0"/>
                                          </p:val>
                                        </p:tav>
                                      </p:tavLst>
                                    </p:anim>
                                    <p:animEffect transition="out" filter="fade">
                                      <p:cBhvr>
                                        <p:cTn id="121" dur="500"/>
                                        <p:tgtEl>
                                          <p:spTgt spid="17"/>
                                        </p:tgtEl>
                                      </p:cBhvr>
                                    </p:animEffect>
                                    <p:set>
                                      <p:cBhvr>
                                        <p:cTn id="122" dur="1" fill="hold">
                                          <p:stCondLst>
                                            <p:cond delay="499"/>
                                          </p:stCondLst>
                                        </p:cTn>
                                        <p:tgtEl>
                                          <p:spTgt spid="17"/>
                                        </p:tgtEl>
                                        <p:attrNameLst>
                                          <p:attrName>style.visibility</p:attrName>
                                        </p:attrNameLst>
                                      </p:cBhvr>
                                      <p:to>
                                        <p:strVal val="hidden"/>
                                      </p:to>
                                    </p:set>
                                  </p:childTnLst>
                                </p:cTn>
                              </p:par>
                              <p:par>
                                <p:cTn id="123" presetID="53" presetClass="exit" presetSubtype="16" fill="hold" nodeType="withEffect">
                                  <p:stCondLst>
                                    <p:cond delay="1900"/>
                                  </p:stCondLst>
                                  <p:childTnLst>
                                    <p:anim calcmode="lin" valueType="num">
                                      <p:cBhvr>
                                        <p:cTn id="124" dur="500"/>
                                        <p:tgtEl>
                                          <p:spTgt spid="18"/>
                                        </p:tgtEl>
                                        <p:attrNameLst>
                                          <p:attrName>ppt_w</p:attrName>
                                        </p:attrNameLst>
                                      </p:cBhvr>
                                      <p:tavLst>
                                        <p:tav tm="0">
                                          <p:val>
                                            <p:strVal val="ppt_w"/>
                                          </p:val>
                                        </p:tav>
                                        <p:tav tm="100000">
                                          <p:val>
                                            <p:fltVal val="0"/>
                                          </p:val>
                                        </p:tav>
                                      </p:tavLst>
                                    </p:anim>
                                    <p:anim calcmode="lin" valueType="num">
                                      <p:cBhvr>
                                        <p:cTn id="125" dur="500"/>
                                        <p:tgtEl>
                                          <p:spTgt spid="18"/>
                                        </p:tgtEl>
                                        <p:attrNameLst>
                                          <p:attrName>ppt_h</p:attrName>
                                        </p:attrNameLst>
                                      </p:cBhvr>
                                      <p:tavLst>
                                        <p:tav tm="0">
                                          <p:val>
                                            <p:strVal val="ppt_h"/>
                                          </p:val>
                                        </p:tav>
                                        <p:tav tm="100000">
                                          <p:val>
                                            <p:fltVal val="0"/>
                                          </p:val>
                                        </p:tav>
                                      </p:tavLst>
                                    </p:anim>
                                    <p:animEffect transition="out" filter="fade">
                                      <p:cBhvr>
                                        <p:cTn id="126" dur="500"/>
                                        <p:tgtEl>
                                          <p:spTgt spid="18"/>
                                        </p:tgtEl>
                                      </p:cBhvr>
                                    </p:animEffect>
                                    <p:set>
                                      <p:cBhvr>
                                        <p:cTn id="127" dur="1" fill="hold">
                                          <p:stCondLst>
                                            <p:cond delay="499"/>
                                          </p:stCondLst>
                                        </p:cTn>
                                        <p:tgtEl>
                                          <p:spTgt spid="18"/>
                                        </p:tgtEl>
                                        <p:attrNameLst>
                                          <p:attrName>style.visibility</p:attrName>
                                        </p:attrNameLst>
                                      </p:cBhvr>
                                      <p:to>
                                        <p:strVal val="hidden"/>
                                      </p:to>
                                    </p:set>
                                  </p:childTnLst>
                                </p:cTn>
                              </p:par>
                              <p:par>
                                <p:cTn id="128" presetID="53" presetClass="exit" presetSubtype="16" fill="hold" nodeType="withEffect">
                                  <p:stCondLst>
                                    <p:cond delay="2300"/>
                                  </p:stCondLst>
                                  <p:childTnLst>
                                    <p:anim calcmode="lin" valueType="num">
                                      <p:cBhvr>
                                        <p:cTn id="129" dur="500"/>
                                        <p:tgtEl>
                                          <p:spTgt spid="19"/>
                                        </p:tgtEl>
                                        <p:attrNameLst>
                                          <p:attrName>ppt_w</p:attrName>
                                        </p:attrNameLst>
                                      </p:cBhvr>
                                      <p:tavLst>
                                        <p:tav tm="0">
                                          <p:val>
                                            <p:strVal val="ppt_w"/>
                                          </p:val>
                                        </p:tav>
                                        <p:tav tm="100000">
                                          <p:val>
                                            <p:fltVal val="0"/>
                                          </p:val>
                                        </p:tav>
                                      </p:tavLst>
                                    </p:anim>
                                    <p:anim calcmode="lin" valueType="num">
                                      <p:cBhvr>
                                        <p:cTn id="130" dur="500"/>
                                        <p:tgtEl>
                                          <p:spTgt spid="19"/>
                                        </p:tgtEl>
                                        <p:attrNameLst>
                                          <p:attrName>ppt_h</p:attrName>
                                        </p:attrNameLst>
                                      </p:cBhvr>
                                      <p:tavLst>
                                        <p:tav tm="0">
                                          <p:val>
                                            <p:strVal val="ppt_h"/>
                                          </p:val>
                                        </p:tav>
                                        <p:tav tm="100000">
                                          <p:val>
                                            <p:fltVal val="0"/>
                                          </p:val>
                                        </p:tav>
                                      </p:tavLst>
                                    </p:anim>
                                    <p:animEffect transition="out" filter="fade">
                                      <p:cBhvr>
                                        <p:cTn id="131" dur="500"/>
                                        <p:tgtEl>
                                          <p:spTgt spid="19"/>
                                        </p:tgtEl>
                                      </p:cBhvr>
                                    </p:animEffect>
                                    <p:set>
                                      <p:cBhvr>
                                        <p:cTn id="1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6.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cstate="print">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1" y="908051"/>
            <a:ext cx="109775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609601" y="1600201"/>
            <a:ext cx="109775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t" anchorCtr="0" compatLnSpc="1"/>
          <a:lstStyle/>
          <a:p>
            <a:pPr lvl="0"/>
            <a:r>
              <a:rPr lang="zh-CN" dirty="0"/>
              <a:t>单击此处编辑母版文本样式</a:t>
            </a:r>
            <a:endParaRPr lang="zh-CN" dirty="0"/>
          </a:p>
          <a:p>
            <a:pPr lvl="1"/>
            <a:r>
              <a:rPr lang="zh-CN" dirty="0"/>
              <a:t>第二级</a:t>
            </a:r>
            <a:endParaRPr 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p14:dur="10" advTm="9437"/>
    </mc:Choice>
    <mc:Fallback>
      <p:transition advTm="9437"/>
    </mc:Fallback>
  </mc:AlternateContent>
  <p:txStyles>
    <p:titleStyle>
      <a:lvl1pPr algn="l" rtl="0" fontAlgn="base">
        <a:spcBef>
          <a:spcPct val="0"/>
        </a:spcBef>
        <a:spcAft>
          <a:spcPct val="0"/>
        </a:spcAft>
        <a:defRPr sz="2400">
          <a:solidFill>
            <a:schemeClr val="accent1"/>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p:titleStyle>
    <p:bodyStyle>
      <a:lvl1pPr marL="342900" indent="-342900" algn="l" rtl="0" fontAlgn="base">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1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png"/><Relationship Id="rId2" Type="http://schemas.microsoft.com/office/2007/relationships/hdphoto" Target="../media/image23.wdp"/><Relationship Id="rId1" Type="http://schemas.openxmlformats.org/officeDocument/2006/relationships/image" Target="../media/image2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17.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emf"/></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p:cNvPicPr>
            <a:picLocks noChangeAspect="1"/>
          </p:cNvPicPr>
          <p:nvPr/>
        </p:nvPicPr>
        <p:blipFill>
          <a:blip r:embed="rId1" cstate="print"/>
          <a:srcRect/>
          <a:stretch>
            <a:fillRect/>
          </a:stretch>
        </p:blipFill>
        <p:spPr>
          <a:xfrm>
            <a:off x="0" y="2454498"/>
            <a:ext cx="12196800" cy="4403503"/>
          </a:xfrm>
          <a:prstGeom prst="rect">
            <a:avLst/>
          </a:prstGeom>
        </p:spPr>
      </p:pic>
      <p:grpSp>
        <p:nvGrpSpPr>
          <p:cNvPr id="8" name="组合 7"/>
          <p:cNvGrpSpPr/>
          <p:nvPr/>
        </p:nvGrpSpPr>
        <p:grpSpPr>
          <a:xfrm>
            <a:off x="4947444" y="1328709"/>
            <a:ext cx="2301875" cy="2308227"/>
            <a:chOff x="6609209" y="790981"/>
            <a:chExt cx="2301875" cy="2308226"/>
          </a:xfrm>
        </p:grpSpPr>
        <p:sp>
          <p:nvSpPr>
            <p:cNvPr id="9" name="Oval 5"/>
            <p:cNvSpPr>
              <a:spLocks noChangeArrowheads="1"/>
            </p:cNvSpPr>
            <p:nvPr/>
          </p:nvSpPr>
          <p:spPr bwMode="auto">
            <a:xfrm>
              <a:off x="6609209" y="790981"/>
              <a:ext cx="2301875" cy="230822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6"/>
            <p:cNvSpPr>
              <a:spLocks noEditPoints="1"/>
            </p:cNvSpPr>
            <p:nvPr/>
          </p:nvSpPr>
          <p:spPr bwMode="auto">
            <a:xfrm>
              <a:off x="6733034" y="914806"/>
              <a:ext cx="2054225" cy="2058988"/>
            </a:xfrm>
            <a:custGeom>
              <a:avLst/>
              <a:gdLst>
                <a:gd name="T0" fmla="*/ 1653 w 3306"/>
                <a:gd name="T1" fmla="*/ 0 h 3306"/>
                <a:gd name="T2" fmla="*/ 3306 w 3306"/>
                <a:gd name="T3" fmla="*/ 1653 h 3306"/>
                <a:gd name="T4" fmla="*/ 1653 w 3306"/>
                <a:gd name="T5" fmla="*/ 3306 h 3306"/>
                <a:gd name="T6" fmla="*/ 0 w 3306"/>
                <a:gd name="T7" fmla="*/ 1653 h 3306"/>
                <a:gd name="T8" fmla="*/ 1653 w 3306"/>
                <a:gd name="T9" fmla="*/ 0 h 3306"/>
                <a:gd name="T10" fmla="*/ 1653 w 3306"/>
                <a:gd name="T11" fmla="*/ 112 h 3306"/>
                <a:gd name="T12" fmla="*/ 3193 w 3306"/>
                <a:gd name="T13" fmla="*/ 1653 h 3306"/>
                <a:gd name="T14" fmla="*/ 1653 w 3306"/>
                <a:gd name="T15" fmla="*/ 3193 h 3306"/>
                <a:gd name="T16" fmla="*/ 112 w 3306"/>
                <a:gd name="T17" fmla="*/ 1653 h 3306"/>
                <a:gd name="T18" fmla="*/ 1653 w 3306"/>
                <a:gd name="T19" fmla="*/ 112 h 3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6" h="3306">
                  <a:moveTo>
                    <a:pt x="1653" y="0"/>
                  </a:moveTo>
                  <a:cubicBezTo>
                    <a:pt x="2565" y="0"/>
                    <a:pt x="3306" y="740"/>
                    <a:pt x="3306" y="1653"/>
                  </a:cubicBezTo>
                  <a:cubicBezTo>
                    <a:pt x="3306" y="2565"/>
                    <a:pt x="2565" y="3306"/>
                    <a:pt x="1653" y="3306"/>
                  </a:cubicBezTo>
                  <a:cubicBezTo>
                    <a:pt x="740" y="3306"/>
                    <a:pt x="0" y="2565"/>
                    <a:pt x="0" y="1653"/>
                  </a:cubicBezTo>
                  <a:cubicBezTo>
                    <a:pt x="0" y="740"/>
                    <a:pt x="740" y="0"/>
                    <a:pt x="1653" y="0"/>
                  </a:cubicBezTo>
                  <a:close/>
                  <a:moveTo>
                    <a:pt x="1653" y="112"/>
                  </a:moveTo>
                  <a:cubicBezTo>
                    <a:pt x="2503" y="112"/>
                    <a:pt x="3193" y="802"/>
                    <a:pt x="3193" y="1653"/>
                  </a:cubicBezTo>
                  <a:cubicBezTo>
                    <a:pt x="3193" y="2503"/>
                    <a:pt x="2503" y="3193"/>
                    <a:pt x="1653" y="3193"/>
                  </a:cubicBezTo>
                  <a:cubicBezTo>
                    <a:pt x="802" y="3193"/>
                    <a:pt x="112" y="2503"/>
                    <a:pt x="112" y="1653"/>
                  </a:cubicBezTo>
                  <a:cubicBezTo>
                    <a:pt x="112" y="802"/>
                    <a:pt x="802" y="112"/>
                    <a:pt x="1653" y="112"/>
                  </a:cubicBezTo>
                  <a:close/>
                </a:path>
              </a:pathLst>
            </a:custGeom>
            <a:solidFill>
              <a:schemeClr val="tx1"/>
            </a:solidFill>
            <a:ln>
              <a:noFill/>
            </a:ln>
          </p:spPr>
          <p:txBody>
            <a:bodyPr vert="horz" wrap="square" lIns="91440" tIns="45720" rIns="91440" bIns="45720" numCol="1" anchor="t" anchorCtr="0" compatLnSpc="1"/>
            <a:lstStyle/>
            <a:p>
              <a:endParaRPr lang="zh-CN" altLang="en-US"/>
            </a:p>
          </p:txBody>
        </p:sp>
      </p:grpSp>
      <p:sp>
        <p:nvSpPr>
          <p:cNvPr id="13" name="TextBox 12"/>
          <p:cNvSpPr txBox="1"/>
          <p:nvPr/>
        </p:nvSpPr>
        <p:spPr>
          <a:xfrm>
            <a:off x="2969397" y="3754915"/>
            <a:ext cx="6257970" cy="830991"/>
          </a:xfrm>
          <a:prstGeom prst="rect">
            <a:avLst/>
          </a:prstGeom>
          <a:noFill/>
        </p:spPr>
        <p:txBody>
          <a:bodyPr wrap="square" lIns="91434" tIns="45717" rIns="91434" bIns="45717" rtlCol="0">
            <a:spAutoFit/>
          </a:bodyPr>
          <a:lstStyle/>
          <a:p>
            <a:pPr algn="ctr"/>
            <a:r>
              <a:rPr lang="en-US" altLang="zh-CN" sz="4800" b="1" dirty="0">
                <a:solidFill>
                  <a:schemeClr val="accent2"/>
                </a:solidFill>
                <a:latin typeface="微软雅黑" panose="020B0503020204020204" pitchFamily="34" charset="-122"/>
                <a:ea typeface="微软雅黑" panose="020B0503020204020204" pitchFamily="34" charset="-122"/>
              </a:rPr>
              <a:t>5.5 </a:t>
            </a:r>
            <a:r>
              <a:rPr lang="zh-CN" altLang="zh-CN" sz="4800" dirty="0">
                <a:solidFill>
                  <a:schemeClr val="accent2"/>
                </a:solidFill>
                <a:latin typeface="+mn-ea"/>
                <a:ea typeface="+mn-ea"/>
              </a:rPr>
              <a:t>神经网络</a:t>
            </a:r>
            <a:endParaRPr lang="zh-CN" altLang="en-US" sz="4800" b="1" dirty="0">
              <a:solidFill>
                <a:schemeClr val="accent2"/>
              </a:solidFill>
              <a:latin typeface="+mn-ea"/>
              <a:ea typeface="+mn-ea"/>
            </a:endParaRPr>
          </a:p>
        </p:txBody>
      </p:sp>
      <p:cxnSp>
        <p:nvCxnSpPr>
          <p:cNvPr id="14" name="直接连接符 13"/>
          <p:cNvCxnSpPr/>
          <p:nvPr/>
        </p:nvCxnSpPr>
        <p:spPr bwMode="auto">
          <a:xfrm>
            <a:off x="2641998" y="4570915"/>
            <a:ext cx="6912768" cy="0"/>
          </a:xfrm>
          <a:prstGeom prst="line">
            <a:avLst/>
          </a:prstGeom>
          <a:solidFill>
            <a:schemeClr val="accent1"/>
          </a:solidFill>
          <a:ln w="9525" cap="flat" cmpd="sng" algn="ctr">
            <a:solidFill>
              <a:schemeClr val="accent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Freeform 12"/>
          <p:cNvSpPr>
            <a:spLocks noEditPoints="1"/>
          </p:cNvSpPr>
          <p:nvPr/>
        </p:nvSpPr>
        <p:spPr bwMode="auto">
          <a:xfrm>
            <a:off x="5517801" y="1904686"/>
            <a:ext cx="1161161" cy="1156273"/>
          </a:xfrm>
          <a:custGeom>
            <a:avLst/>
            <a:gdLst>
              <a:gd name="T0" fmla="*/ 862 w 954"/>
              <a:gd name="T1" fmla="*/ 813 h 944"/>
              <a:gd name="T2" fmla="*/ 763 w 954"/>
              <a:gd name="T3" fmla="*/ 813 h 944"/>
              <a:gd name="T4" fmla="*/ 625 w 954"/>
              <a:gd name="T5" fmla="*/ 549 h 944"/>
              <a:gd name="T6" fmla="*/ 611 w 954"/>
              <a:gd name="T7" fmla="*/ 601 h 944"/>
              <a:gd name="T8" fmla="*/ 535 w 954"/>
              <a:gd name="T9" fmla="*/ 658 h 944"/>
              <a:gd name="T10" fmla="*/ 782 w 954"/>
              <a:gd name="T11" fmla="*/ 932 h 944"/>
              <a:gd name="T12" fmla="*/ 941 w 954"/>
              <a:gd name="T13" fmla="*/ 826 h 944"/>
              <a:gd name="T14" fmla="*/ 824 w 954"/>
              <a:gd name="T15" fmla="*/ 704 h 944"/>
              <a:gd name="T16" fmla="*/ 650 w 954"/>
              <a:gd name="T17" fmla="*/ 561 h 944"/>
              <a:gd name="T18" fmla="*/ 345 w 954"/>
              <a:gd name="T19" fmla="*/ 335 h 944"/>
              <a:gd name="T20" fmla="*/ 397 w 954"/>
              <a:gd name="T21" fmla="*/ 321 h 944"/>
              <a:gd name="T22" fmla="*/ 411 w 954"/>
              <a:gd name="T23" fmla="*/ 269 h 944"/>
              <a:gd name="T24" fmla="*/ 423 w 954"/>
              <a:gd name="T25" fmla="*/ 221 h 944"/>
              <a:gd name="T26" fmla="*/ 184 w 954"/>
              <a:gd name="T27" fmla="*/ 21 h 944"/>
              <a:gd name="T28" fmla="*/ 151 w 954"/>
              <a:gd name="T29" fmla="*/ 267 h 944"/>
              <a:gd name="T30" fmla="*/ 1 w 954"/>
              <a:gd name="T31" fmla="*/ 204 h 944"/>
              <a:gd name="T32" fmla="*/ 284 w 954"/>
              <a:gd name="T33" fmla="*/ 406 h 944"/>
              <a:gd name="T34" fmla="*/ 320 w 954"/>
              <a:gd name="T35" fmla="*/ 360 h 944"/>
              <a:gd name="T36" fmla="*/ 920 w 954"/>
              <a:gd name="T37" fmla="*/ 91 h 944"/>
              <a:gd name="T38" fmla="*/ 791 w 954"/>
              <a:gd name="T39" fmla="*/ 0 h 944"/>
              <a:gd name="T40" fmla="*/ 448 w 954"/>
              <a:gd name="T41" fmla="*/ 306 h 944"/>
              <a:gd name="T42" fmla="*/ 399 w 954"/>
              <a:gd name="T43" fmla="*/ 376 h 944"/>
              <a:gd name="T44" fmla="*/ 357 w 954"/>
              <a:gd name="T45" fmla="*/ 397 h 944"/>
              <a:gd name="T46" fmla="*/ 362 w 954"/>
              <a:gd name="T47" fmla="*/ 527 h 944"/>
              <a:gd name="T48" fmla="*/ 85 w 954"/>
              <a:gd name="T49" fmla="*/ 768 h 944"/>
              <a:gd name="T50" fmla="*/ 55 w 954"/>
              <a:gd name="T51" fmla="*/ 944 h 944"/>
              <a:gd name="T52" fmla="*/ 198 w 954"/>
              <a:gd name="T53" fmla="*/ 800 h 944"/>
              <a:gd name="T54" fmla="*/ 423 w 954"/>
              <a:gd name="T55" fmla="*/ 588 h 944"/>
              <a:gd name="T56" fmla="*/ 549 w 954"/>
              <a:gd name="T57" fmla="*/ 588 h 944"/>
              <a:gd name="T58" fmla="*/ 585 w 954"/>
              <a:gd name="T59" fmla="*/ 509 h 944"/>
              <a:gd name="T60" fmla="*/ 639 w 954"/>
              <a:gd name="T61" fmla="*/ 498 h 944"/>
              <a:gd name="T62" fmla="*/ 920 w 954"/>
              <a:gd name="T63" fmla="*/ 91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54" h="944">
                <a:moveTo>
                  <a:pt x="813" y="764"/>
                </a:moveTo>
                <a:cubicBezTo>
                  <a:pt x="840" y="764"/>
                  <a:pt x="862" y="786"/>
                  <a:pt x="862" y="813"/>
                </a:cubicBezTo>
                <a:cubicBezTo>
                  <a:pt x="862" y="841"/>
                  <a:pt x="840" y="863"/>
                  <a:pt x="813" y="863"/>
                </a:cubicBezTo>
                <a:cubicBezTo>
                  <a:pt x="786" y="863"/>
                  <a:pt x="763" y="841"/>
                  <a:pt x="763" y="813"/>
                </a:cubicBezTo>
                <a:cubicBezTo>
                  <a:pt x="763" y="786"/>
                  <a:pt x="786" y="764"/>
                  <a:pt x="813" y="764"/>
                </a:cubicBezTo>
                <a:close/>
                <a:moveTo>
                  <a:pt x="625" y="549"/>
                </a:moveTo>
                <a:lnTo>
                  <a:pt x="637" y="574"/>
                </a:lnTo>
                <a:lnTo>
                  <a:pt x="611" y="601"/>
                </a:lnTo>
                <a:lnTo>
                  <a:pt x="586" y="625"/>
                </a:lnTo>
                <a:cubicBezTo>
                  <a:pt x="571" y="640"/>
                  <a:pt x="554" y="651"/>
                  <a:pt x="535" y="658"/>
                </a:cubicBezTo>
                <a:lnTo>
                  <a:pt x="703" y="826"/>
                </a:lnTo>
                <a:lnTo>
                  <a:pt x="782" y="932"/>
                </a:lnTo>
                <a:lnTo>
                  <a:pt x="824" y="943"/>
                </a:lnTo>
                <a:lnTo>
                  <a:pt x="941" y="826"/>
                </a:lnTo>
                <a:lnTo>
                  <a:pt x="930" y="783"/>
                </a:lnTo>
                <a:lnTo>
                  <a:pt x="824" y="704"/>
                </a:lnTo>
                <a:lnTo>
                  <a:pt x="666" y="546"/>
                </a:lnTo>
                <a:lnTo>
                  <a:pt x="650" y="561"/>
                </a:lnTo>
                <a:lnTo>
                  <a:pt x="625" y="549"/>
                </a:lnTo>
                <a:close/>
                <a:moveTo>
                  <a:pt x="345" y="335"/>
                </a:moveTo>
                <a:lnTo>
                  <a:pt x="372" y="308"/>
                </a:lnTo>
                <a:lnTo>
                  <a:pt x="397" y="321"/>
                </a:lnTo>
                <a:lnTo>
                  <a:pt x="384" y="296"/>
                </a:lnTo>
                <a:lnTo>
                  <a:pt x="411" y="269"/>
                </a:lnTo>
                <a:lnTo>
                  <a:pt x="414" y="266"/>
                </a:lnTo>
                <a:cubicBezTo>
                  <a:pt x="420" y="251"/>
                  <a:pt x="423" y="235"/>
                  <a:pt x="423" y="221"/>
                </a:cubicBezTo>
                <a:cubicBezTo>
                  <a:pt x="423" y="108"/>
                  <a:pt x="316" y="0"/>
                  <a:pt x="204" y="1"/>
                </a:cubicBezTo>
                <a:cubicBezTo>
                  <a:pt x="203" y="1"/>
                  <a:pt x="191" y="14"/>
                  <a:pt x="184" y="21"/>
                </a:cubicBezTo>
                <a:cubicBezTo>
                  <a:pt x="274" y="111"/>
                  <a:pt x="266" y="96"/>
                  <a:pt x="266" y="151"/>
                </a:cubicBezTo>
                <a:cubicBezTo>
                  <a:pt x="266" y="196"/>
                  <a:pt x="195" y="267"/>
                  <a:pt x="151" y="267"/>
                </a:cubicBezTo>
                <a:cubicBezTo>
                  <a:pt x="94" y="267"/>
                  <a:pt x="112" y="276"/>
                  <a:pt x="20" y="184"/>
                </a:cubicBezTo>
                <a:cubicBezTo>
                  <a:pt x="13" y="191"/>
                  <a:pt x="1" y="204"/>
                  <a:pt x="1" y="204"/>
                </a:cubicBezTo>
                <a:cubicBezTo>
                  <a:pt x="2" y="316"/>
                  <a:pt x="108" y="424"/>
                  <a:pt x="220" y="424"/>
                </a:cubicBezTo>
                <a:cubicBezTo>
                  <a:pt x="240" y="424"/>
                  <a:pt x="262" y="417"/>
                  <a:pt x="284" y="406"/>
                </a:cubicBezTo>
                <a:lnTo>
                  <a:pt x="288" y="411"/>
                </a:lnTo>
                <a:cubicBezTo>
                  <a:pt x="295" y="392"/>
                  <a:pt x="305" y="375"/>
                  <a:pt x="320" y="360"/>
                </a:cubicBezTo>
                <a:lnTo>
                  <a:pt x="345" y="335"/>
                </a:lnTo>
                <a:close/>
                <a:moveTo>
                  <a:pt x="920" y="91"/>
                </a:moveTo>
                <a:lnTo>
                  <a:pt x="854" y="26"/>
                </a:lnTo>
                <a:cubicBezTo>
                  <a:pt x="837" y="9"/>
                  <a:pt x="814" y="0"/>
                  <a:pt x="791" y="0"/>
                </a:cubicBezTo>
                <a:cubicBezTo>
                  <a:pt x="768" y="0"/>
                  <a:pt x="746" y="9"/>
                  <a:pt x="728" y="26"/>
                </a:cubicBezTo>
                <a:lnTo>
                  <a:pt x="448" y="306"/>
                </a:lnTo>
                <a:cubicBezTo>
                  <a:pt x="457" y="323"/>
                  <a:pt x="450" y="348"/>
                  <a:pt x="437" y="361"/>
                </a:cubicBezTo>
                <a:cubicBezTo>
                  <a:pt x="428" y="370"/>
                  <a:pt x="413" y="376"/>
                  <a:pt x="399" y="376"/>
                </a:cubicBezTo>
                <a:cubicBezTo>
                  <a:pt x="393" y="376"/>
                  <a:pt x="387" y="375"/>
                  <a:pt x="382" y="372"/>
                </a:cubicBezTo>
                <a:lnTo>
                  <a:pt x="357" y="397"/>
                </a:lnTo>
                <a:cubicBezTo>
                  <a:pt x="323" y="432"/>
                  <a:pt x="323" y="488"/>
                  <a:pt x="357" y="523"/>
                </a:cubicBezTo>
                <a:lnTo>
                  <a:pt x="362" y="527"/>
                </a:lnTo>
                <a:lnTo>
                  <a:pt x="143" y="746"/>
                </a:lnTo>
                <a:lnTo>
                  <a:pt x="85" y="768"/>
                </a:lnTo>
                <a:lnTo>
                  <a:pt x="0" y="889"/>
                </a:lnTo>
                <a:lnTo>
                  <a:pt x="55" y="944"/>
                </a:lnTo>
                <a:lnTo>
                  <a:pt x="176" y="859"/>
                </a:lnTo>
                <a:lnTo>
                  <a:pt x="198" y="800"/>
                </a:lnTo>
                <a:lnTo>
                  <a:pt x="416" y="582"/>
                </a:lnTo>
                <a:lnTo>
                  <a:pt x="423" y="588"/>
                </a:lnTo>
                <a:cubicBezTo>
                  <a:pt x="440" y="606"/>
                  <a:pt x="463" y="614"/>
                  <a:pt x="486" y="614"/>
                </a:cubicBezTo>
                <a:cubicBezTo>
                  <a:pt x="509" y="614"/>
                  <a:pt x="531" y="606"/>
                  <a:pt x="549" y="588"/>
                </a:cubicBezTo>
                <a:lnTo>
                  <a:pt x="574" y="564"/>
                </a:lnTo>
                <a:cubicBezTo>
                  <a:pt x="565" y="547"/>
                  <a:pt x="572" y="522"/>
                  <a:pt x="585" y="509"/>
                </a:cubicBezTo>
                <a:cubicBezTo>
                  <a:pt x="594" y="500"/>
                  <a:pt x="609" y="494"/>
                  <a:pt x="622" y="494"/>
                </a:cubicBezTo>
                <a:cubicBezTo>
                  <a:pt x="629" y="494"/>
                  <a:pt x="634" y="495"/>
                  <a:pt x="639" y="498"/>
                </a:cubicBezTo>
                <a:lnTo>
                  <a:pt x="920" y="217"/>
                </a:lnTo>
                <a:cubicBezTo>
                  <a:pt x="954" y="183"/>
                  <a:pt x="954" y="126"/>
                  <a:pt x="920" y="91"/>
                </a:cubicBezTo>
                <a:close/>
              </a:path>
            </a:pathLst>
          </a:custGeom>
          <a:solidFill>
            <a:schemeClr val="tx1"/>
          </a:solidFill>
          <a:ln>
            <a:noFill/>
          </a:ln>
        </p:spPr>
        <p:txBody>
          <a:bodyPr vert="horz" wrap="square" lIns="91434" tIns="45717" rIns="91434" bIns="45717" numCol="1" anchor="t" anchorCtr="0" compatLnSpc="1"/>
          <a:lstStyle/>
          <a:p>
            <a:endParaRPr lang="zh-CN" altLang="en-US"/>
          </a:p>
        </p:txBody>
      </p:sp>
      <p:sp>
        <p:nvSpPr>
          <p:cNvPr id="16" name="Oval 39"/>
          <p:cNvSpPr>
            <a:spLocks noChangeAspect="1" noChangeArrowheads="1"/>
          </p:cNvSpPr>
          <p:nvPr/>
        </p:nvSpPr>
        <p:spPr bwMode="auto">
          <a:xfrm>
            <a:off x="3841074" y="4855189"/>
            <a:ext cx="216000" cy="217227"/>
          </a:xfrm>
          <a:prstGeom prst="ellipse">
            <a:avLst/>
          </a:prstGeom>
          <a:solidFill>
            <a:schemeClr val="tx1"/>
          </a:solidFill>
          <a:ln w="28575" cap="flat">
            <a:solidFill>
              <a:schemeClr val="accent2"/>
            </a:solidFill>
            <a:prstDash val="solid"/>
            <a:miter lim="800000"/>
          </a:ln>
        </p:spPr>
        <p:txBody>
          <a:bodyPr vert="horz" wrap="square" lIns="91434" tIns="45717" rIns="91434" bIns="45717" numCol="1" anchor="t" anchorCtr="0" compatLnSpc="1"/>
          <a:lstStyle/>
          <a:p>
            <a:endParaRPr lang="zh-CN" altLang="en-US" sz="2000">
              <a:solidFill>
                <a:schemeClr val="accent1"/>
              </a:solidFill>
            </a:endParaRPr>
          </a:p>
        </p:txBody>
      </p:sp>
      <p:sp>
        <p:nvSpPr>
          <p:cNvPr id="19" name="Oval 42"/>
          <p:cNvSpPr>
            <a:spLocks noChangeAspect="1" noChangeArrowheads="1"/>
          </p:cNvSpPr>
          <p:nvPr/>
        </p:nvSpPr>
        <p:spPr bwMode="auto">
          <a:xfrm>
            <a:off x="6494612" y="4855189"/>
            <a:ext cx="216000" cy="217227"/>
          </a:xfrm>
          <a:prstGeom prst="ellipse">
            <a:avLst/>
          </a:prstGeom>
          <a:solidFill>
            <a:schemeClr val="tx1"/>
          </a:solidFill>
          <a:ln w="28575" cap="flat">
            <a:solidFill>
              <a:schemeClr val="accent2"/>
            </a:solidFill>
            <a:prstDash val="solid"/>
            <a:miter lim="800000"/>
          </a:ln>
        </p:spPr>
        <p:txBody>
          <a:bodyPr vert="horz" wrap="square" lIns="91434" tIns="45717" rIns="91434" bIns="45717" numCol="1" anchor="t" anchorCtr="0" compatLnSpc="1"/>
          <a:lstStyle/>
          <a:p>
            <a:endParaRPr lang="zh-CN" altLang="en-US" sz="2000">
              <a:solidFill>
                <a:schemeClr val="accent1"/>
              </a:solidFill>
            </a:endParaRPr>
          </a:p>
        </p:txBody>
      </p:sp>
      <p:sp>
        <p:nvSpPr>
          <p:cNvPr id="20" name="TextBox 19"/>
          <p:cNvSpPr txBox="1"/>
          <p:nvPr/>
        </p:nvSpPr>
        <p:spPr>
          <a:xfrm>
            <a:off x="4204292" y="4763746"/>
            <a:ext cx="2264888" cy="400103"/>
          </a:xfrm>
          <a:prstGeom prst="rect">
            <a:avLst/>
          </a:prstGeom>
          <a:noFill/>
        </p:spPr>
        <p:txBody>
          <a:bodyPr wrap="square" lIns="91434" tIns="45717" rIns="91434" bIns="45717" rtlCol="0">
            <a:spAutoFit/>
          </a:bodyPr>
          <a:lstStyle/>
          <a:p>
            <a:r>
              <a:rPr lang="zh-CN" altLang="zh-CN" sz="2000" dirty="0">
                <a:solidFill>
                  <a:schemeClr val="accent2"/>
                </a:solidFill>
                <a:latin typeface="微软雅黑" panose="020B0503020204020204" pitchFamily="34" charset="-122"/>
                <a:ea typeface="微软雅黑" panose="020B0503020204020204" pitchFamily="34" charset="-122"/>
              </a:rPr>
              <a:t>神经网络模拟思想</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22" name="TextBox 21"/>
          <p:cNvSpPr txBox="1"/>
          <p:nvPr/>
        </p:nvSpPr>
        <p:spPr>
          <a:xfrm>
            <a:off x="6824109" y="4678673"/>
            <a:ext cx="3594752" cy="499618"/>
          </a:xfrm>
          <a:prstGeom prst="rect">
            <a:avLst/>
          </a:prstGeom>
          <a:noFill/>
        </p:spPr>
        <p:txBody>
          <a:bodyPr wrap="square" lIns="91434" tIns="45717" rIns="91434" bIns="45717" rtlCol="0">
            <a:spAutoFit/>
          </a:bodyPr>
          <a:lstStyle>
            <a:defPPr>
              <a:defRPr lang="zh-CN"/>
            </a:defPPr>
            <a:lvl1pPr>
              <a:lnSpc>
                <a:spcPct val="150000"/>
              </a:lnSpc>
              <a:defRPr>
                <a:solidFill>
                  <a:schemeClr val="accent1"/>
                </a:solidFill>
                <a:latin typeface="+mn-ea"/>
                <a:ea typeface="+mn-ea"/>
              </a:defRPr>
            </a:lvl1pPr>
          </a:lstStyle>
          <a:p>
            <a:r>
              <a:rPr lang="zh-CN" altLang="zh-CN" sz="2000" dirty="0">
                <a:solidFill>
                  <a:schemeClr val="accent2"/>
                </a:solidFill>
              </a:rPr>
              <a:t>神经网络结构及数学模型</a:t>
            </a:r>
            <a:endParaRPr lang="zh-CN" altLang="en-US" sz="2000" dirty="0">
              <a:solidFill>
                <a:schemeClr val="accent2"/>
              </a:solidFill>
            </a:endParaRPr>
          </a:p>
        </p:txBody>
      </p:sp>
      <p:sp>
        <p:nvSpPr>
          <p:cNvPr id="15" name="Oval 39"/>
          <p:cNvSpPr>
            <a:spLocks noChangeAspect="1" noChangeArrowheads="1"/>
          </p:cNvSpPr>
          <p:nvPr/>
        </p:nvSpPr>
        <p:spPr bwMode="auto">
          <a:xfrm>
            <a:off x="3841074" y="5444021"/>
            <a:ext cx="216000" cy="217227"/>
          </a:xfrm>
          <a:prstGeom prst="ellipse">
            <a:avLst/>
          </a:prstGeom>
          <a:solidFill>
            <a:schemeClr val="tx1"/>
          </a:solidFill>
          <a:ln w="28575" cap="flat">
            <a:solidFill>
              <a:schemeClr val="accent2"/>
            </a:solidFill>
            <a:prstDash val="solid"/>
            <a:miter lim="800000"/>
          </a:ln>
        </p:spPr>
        <p:txBody>
          <a:bodyPr vert="horz" wrap="square" lIns="91434" tIns="45717" rIns="91434" bIns="45717" numCol="1" anchor="t" anchorCtr="0" compatLnSpc="1"/>
          <a:lstStyle/>
          <a:p>
            <a:endParaRPr lang="zh-CN" altLang="en-US" sz="2000">
              <a:solidFill>
                <a:schemeClr val="accent1"/>
              </a:solidFill>
            </a:endParaRPr>
          </a:p>
        </p:txBody>
      </p:sp>
      <p:sp>
        <p:nvSpPr>
          <p:cNvPr id="17" name="TextBox 16"/>
          <p:cNvSpPr txBox="1"/>
          <p:nvPr/>
        </p:nvSpPr>
        <p:spPr>
          <a:xfrm>
            <a:off x="4226173" y="5333153"/>
            <a:ext cx="3600400" cy="400103"/>
          </a:xfrm>
          <a:prstGeom prst="rect">
            <a:avLst/>
          </a:prstGeom>
          <a:noFill/>
        </p:spPr>
        <p:txBody>
          <a:bodyPr wrap="square" lIns="91434" tIns="45717" rIns="91434" bIns="45717" rtlCol="0">
            <a:spAutoFit/>
          </a:bodyPr>
          <a:lstStyle/>
          <a:p>
            <a:r>
              <a:rPr lang="zh-CN" altLang="en-US" sz="2000" dirty="0">
                <a:solidFill>
                  <a:schemeClr val="accent2"/>
                </a:solidFill>
                <a:latin typeface="+mn-ea"/>
                <a:ea typeface="+mn-ea"/>
              </a:rPr>
              <a:t>神经网络分类应用举例</a:t>
            </a:r>
            <a:endParaRPr lang="zh-CN" altLang="en-US" sz="2000" dirty="0">
              <a:solidFill>
                <a:schemeClr val="accent2"/>
              </a:solidFill>
              <a:latin typeface="+mn-ea"/>
              <a:ea typeface="+mn-ea"/>
            </a:endParaRPr>
          </a:p>
        </p:txBody>
      </p:sp>
      <p:sp>
        <p:nvSpPr>
          <p:cNvPr id="18" name="Oval 39"/>
          <p:cNvSpPr>
            <a:spLocks noChangeAspect="1" noChangeArrowheads="1"/>
          </p:cNvSpPr>
          <p:nvPr/>
        </p:nvSpPr>
        <p:spPr bwMode="auto">
          <a:xfrm>
            <a:off x="6984339" y="5430853"/>
            <a:ext cx="216000" cy="217227"/>
          </a:xfrm>
          <a:prstGeom prst="ellipse">
            <a:avLst/>
          </a:prstGeom>
          <a:solidFill>
            <a:schemeClr val="tx1"/>
          </a:solidFill>
          <a:ln w="28575" cap="flat">
            <a:solidFill>
              <a:schemeClr val="accent2"/>
            </a:solidFill>
            <a:prstDash val="solid"/>
            <a:miter lim="800000"/>
          </a:ln>
        </p:spPr>
        <p:txBody>
          <a:bodyPr vert="horz" wrap="square" lIns="91434" tIns="45717" rIns="91434" bIns="45717" numCol="1" anchor="t" anchorCtr="0" compatLnSpc="1"/>
          <a:lstStyle/>
          <a:p>
            <a:endParaRPr lang="zh-CN" altLang="en-US" sz="2000">
              <a:solidFill>
                <a:schemeClr val="accent1"/>
              </a:solidFill>
            </a:endParaRPr>
          </a:p>
        </p:txBody>
      </p:sp>
      <p:sp>
        <p:nvSpPr>
          <p:cNvPr id="2" name="TextBox 1"/>
          <p:cNvSpPr txBox="1"/>
          <p:nvPr/>
        </p:nvSpPr>
        <p:spPr>
          <a:xfrm>
            <a:off x="7339911" y="5318882"/>
            <a:ext cx="3240360" cy="400110"/>
          </a:xfrm>
          <a:prstGeom prst="rect">
            <a:avLst/>
          </a:prstGeom>
          <a:noFill/>
        </p:spPr>
        <p:txBody>
          <a:bodyPr wrap="square" rtlCol="0">
            <a:spAutoFit/>
          </a:bodyPr>
          <a:lstStyle/>
          <a:p>
            <a:r>
              <a:rPr lang="zh-CN" altLang="en-US" sz="2000" dirty="0">
                <a:solidFill>
                  <a:schemeClr val="accent2"/>
                </a:solidFill>
                <a:latin typeface="+mn-ea"/>
                <a:ea typeface="+mn-ea"/>
              </a:rPr>
              <a:t>神经网络回归应用举例</a:t>
            </a:r>
            <a:endParaRPr lang="zh-CN" altLang="en-US" sz="2000" dirty="0">
              <a:solidFill>
                <a:schemeClr val="accent2"/>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5.5.1 </a:t>
            </a:r>
            <a:r>
              <a:rPr lang="zh-CN" altLang="en-US" sz="2800" dirty="0">
                <a:solidFill>
                  <a:schemeClr val="accent2"/>
                </a:solidFill>
                <a:latin typeface="微软雅黑" panose="020B0503020204020204" pitchFamily="34" charset="-122"/>
                <a:ea typeface="微软雅黑" panose="020B0503020204020204" pitchFamily="34" charset="-122"/>
              </a:rPr>
              <a:t>神经网络的模拟思路</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5</a:t>
            </a:r>
            <a:r>
              <a:rPr lang="en-US" altLang="zh-CN" dirty="0" smtClean="0">
                <a:solidFill>
                  <a:schemeClr val="accent2"/>
                </a:solidFill>
              </a:rPr>
              <a:t> </a:t>
            </a:r>
            <a:endParaRPr lang="zh-CN" altLang="en-US" dirty="0">
              <a:solidFill>
                <a:schemeClr val="accent2"/>
              </a:solidFill>
            </a:endParaRPr>
          </a:p>
        </p:txBody>
      </p:sp>
      <p:sp>
        <p:nvSpPr>
          <p:cNvPr id="24" name="内容占位符 2"/>
          <p:cNvSpPr>
            <a:spLocks noGrp="1"/>
          </p:cNvSpPr>
          <p:nvPr>
            <p:ph idx="1"/>
          </p:nvPr>
        </p:nvSpPr>
        <p:spPr>
          <a:xfrm>
            <a:off x="825625" y="1600201"/>
            <a:ext cx="10601349" cy="4525963"/>
          </a:xfrm>
        </p:spPr>
        <p:txBody>
          <a:bodyPr/>
          <a:lstStyle/>
          <a:p>
            <a:pPr marL="0" indent="0" algn="just">
              <a:spcAft>
                <a:spcPts val="0"/>
              </a:spcAft>
              <a:buNone/>
            </a:pPr>
            <a:r>
              <a:rPr lang="en-US" altLang="zh-CN" sz="2800" b="1" kern="100" dirty="0">
                <a:latin typeface="宋体" panose="02010600030101010101" pitchFamily="2" charset="-122"/>
                <a:ea typeface="宋体" panose="02010600030101010101" pitchFamily="2" charset="-122"/>
                <a:cs typeface="Times New Roman" panose="02020603050405020304"/>
              </a:rPr>
              <a:t>1. </a:t>
            </a:r>
            <a:r>
              <a:rPr lang="zh-CN" altLang="zh-CN" sz="2800" b="1" kern="100" dirty="0">
                <a:latin typeface="宋体" panose="02010600030101010101" pitchFamily="2" charset="-122"/>
                <a:ea typeface="宋体" panose="02010600030101010101" pitchFamily="2" charset="-122"/>
                <a:cs typeface="Times New Roman" panose="02020603050405020304"/>
              </a:rPr>
              <a:t>孩子的日常辨识能力</a:t>
            </a:r>
            <a:endParaRPr lang="zh-CN" altLang="zh-CN" sz="2800" kern="100" dirty="0">
              <a:latin typeface="宋体" panose="02010600030101010101" pitchFamily="2" charset="-122"/>
              <a:ea typeface="宋体" panose="02010600030101010101" pitchFamily="2" charset="-122"/>
              <a:cs typeface="Times New Roman" panose="02020603050405020304"/>
            </a:endParaRPr>
          </a:p>
          <a:p>
            <a:pPr marL="0" indent="457200" algn="just">
              <a:spcAft>
                <a:spcPts val="0"/>
              </a:spcAft>
              <a:buNone/>
            </a:pPr>
            <a:r>
              <a:rPr lang="zh-CN" altLang="zh-CN" sz="2400" kern="100" dirty="0">
                <a:latin typeface="Calibri" panose="020F0502020204030204"/>
                <a:ea typeface="宋体" panose="02010600030101010101" pitchFamily="2" charset="-122"/>
                <a:cs typeface="Times New Roman" panose="02020603050405020304"/>
              </a:rPr>
              <a:t>一个孩子生下来，他就已经在不断的学习了。他的大脑就好比一个能不断接受新事物同时能识别事物的庞大而复杂的模型，大脑模型不断的接受外界的信息，处理信息及判断。小孩开始会说话了，总喜欢问这问那，并不断的说出这是什么那是什么，即使很多是错误的，但经过大人的不断纠正后，终于能识别一些日常中常见的事物了，这就是一个不断的监督学习过程。某一天，大人带着小孩，来到一个农场，远远就看到一大片绿油油的稻田，孩子兴奋地说出了“好大的一片稻田”，大人乐了。因为小孩的大脑已经是一个经过长时间学习训练的模型了，已经具备一定的辨识能力。</a:t>
            </a:r>
            <a:endParaRPr lang="zh-CN" altLang="zh-CN" sz="2400" kern="100" dirty="0">
              <a:latin typeface="Calibri" panose="020F0502020204030204"/>
              <a:ea typeface="宋体" panose="02010600030101010101" pitchFamily="2" charset="-122"/>
              <a:cs typeface="Times New Roman" panose="02020603050405020304"/>
            </a:endParaRPr>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25625" y="836712"/>
                <a:ext cx="10601349" cy="5832647"/>
              </a:xfrm>
            </p:spPr>
            <p:txBody>
              <a:bodyPr/>
              <a:lstStyle/>
              <a:p>
                <a:pPr marL="0" indent="0">
                  <a:buNone/>
                </a:pPr>
                <a:r>
                  <a:rPr lang="en-US" altLang="zh-CN" sz="2800" b="1" dirty="0">
                    <a:latin typeface="宋体" pitchFamily="2" charset="-122"/>
                    <a:ea typeface="宋体" pitchFamily="2" charset="-122"/>
                  </a:rPr>
                  <a:t>2. </a:t>
                </a:r>
                <a:r>
                  <a:rPr lang="zh-CN" altLang="zh-CN" sz="2800" b="1" dirty="0">
                    <a:latin typeface="宋体" pitchFamily="2" charset="-122"/>
                    <a:ea typeface="宋体" pitchFamily="2" charset="-122"/>
                  </a:rPr>
                  <a:t>孩子大脑学习训练的模拟</a:t>
                </a:r>
                <a:endParaRPr lang="zh-CN" altLang="zh-CN" sz="2800" dirty="0">
                  <a:latin typeface="宋体" pitchFamily="2" charset="-122"/>
                  <a:ea typeface="宋体" pitchFamily="2" charset="-122"/>
                </a:endParaRPr>
              </a:p>
              <a:p>
                <a:pPr marL="0" indent="457200">
                  <a:buNone/>
                </a:pPr>
                <a:r>
                  <a:rPr lang="zh-CN" altLang="zh-CN" sz="2400" dirty="0">
                    <a:latin typeface="宋体" pitchFamily="2" charset="-122"/>
                    <a:ea typeface="宋体" pitchFamily="2" charset="-122"/>
                  </a:rPr>
                  <a:t>大脑由非常非常多的神经元组成，各个神经元之间相互连接，形成一个非常复杂的神经网络。人工模拟大脑的学习训练模型，称其为人工神经网络模型。以下是大脑中一个神经元的学习训练模拟模型</a:t>
                </a:r>
                <a:endParaRPr lang="en-US" altLang="zh-CN" sz="2400" dirty="0">
                  <a:latin typeface="宋体" pitchFamily="2" charset="-122"/>
                  <a:ea typeface="宋体" pitchFamily="2" charset="-122"/>
                </a:endParaRPr>
              </a:p>
              <a:p>
                <a:pPr marL="0" indent="457200">
                  <a:buNone/>
                </a:pPr>
                <a:endParaRPr lang="en-US" altLang="zh-CN" sz="2400" dirty="0">
                  <a:latin typeface="宋体" pitchFamily="2" charset="-122"/>
                  <a:ea typeface="宋体" pitchFamily="2" charset="-122"/>
                </a:endParaRPr>
              </a:p>
              <a:p>
                <a:pPr marL="0" indent="457200">
                  <a:buNone/>
                </a:pPr>
                <a:endParaRPr lang="en-US" altLang="zh-CN" sz="2400" dirty="0">
                  <a:latin typeface="宋体" pitchFamily="2" charset="-122"/>
                  <a:ea typeface="宋体" pitchFamily="2" charset="-122"/>
                </a:endParaRPr>
              </a:p>
              <a:p>
                <a:pPr marL="0" indent="457200">
                  <a:buNone/>
                </a:pPr>
                <a:endParaRPr lang="en-US" altLang="zh-CN" sz="2400" dirty="0">
                  <a:latin typeface="宋体" pitchFamily="2" charset="-122"/>
                  <a:ea typeface="宋体" pitchFamily="2" charset="-122"/>
                </a:endParaRPr>
              </a:p>
              <a:p>
                <a:pPr marL="0" indent="457200">
                  <a:buNone/>
                </a:pPr>
                <a:endParaRPr lang="en-US" altLang="zh-CN" sz="2400" dirty="0">
                  <a:latin typeface="宋体" pitchFamily="2" charset="-122"/>
                  <a:ea typeface="宋体" pitchFamily="2" charset="-122"/>
                </a:endParaRPr>
              </a:p>
              <a:p>
                <a:pPr marL="0" indent="457200">
                  <a:buNone/>
                </a:pPr>
                <a:endParaRPr lang="en-US" altLang="zh-CN" sz="2400" dirty="0">
                  <a:latin typeface="宋体" pitchFamily="2" charset="-122"/>
                  <a:ea typeface="宋体" pitchFamily="2" charset="-122"/>
                </a:endParaRPr>
              </a:p>
              <a:p>
                <a:pPr marL="0" indent="457200">
                  <a:buNone/>
                </a:pPr>
                <a14:m>
                  <m:oMath xmlns:m="http://schemas.openxmlformats.org/officeDocument/2006/math">
                    <m:sSub>
                      <m:sSubPr>
                        <m:ctrlPr>
                          <a:rPr lang="en-US" altLang="zh-CN" sz="2400" i="1" kern="100" smtClean="0">
                            <a:latin typeface="Cambria Math"/>
                            <a:ea typeface="宋体"/>
                            <a:cs typeface="Times New Roman"/>
                          </a:rPr>
                        </m:ctrlPr>
                      </m:sSubPr>
                      <m:e>
                        <m:r>
                          <a:rPr lang="en-US" altLang="zh-CN" sz="2400" b="0" i="1" kern="100" smtClean="0">
                            <a:latin typeface="Cambria Math"/>
                            <a:ea typeface="宋体"/>
                            <a:cs typeface="Times New Roman"/>
                          </a:rPr>
                          <m:t>𝑥</m:t>
                        </m:r>
                      </m:e>
                      <m:sub>
                        <m:r>
                          <a:rPr lang="en-US" altLang="zh-CN" sz="2400" b="0" i="1" kern="100" smtClean="0">
                            <a:latin typeface="Cambria Math"/>
                            <a:ea typeface="宋体"/>
                            <a:cs typeface="Times New Roman"/>
                          </a:rPr>
                          <m:t>1</m:t>
                        </m:r>
                      </m:sub>
                    </m:sSub>
                    <m:r>
                      <a:rPr lang="en-US" altLang="zh-CN" sz="2400" b="0" i="1" kern="100" smtClean="0">
                        <a:latin typeface="Cambria Math"/>
                        <a:ea typeface="宋体"/>
                        <a:cs typeface="Times New Roman"/>
                      </a:rPr>
                      <m:t>,</m:t>
                    </m:r>
                    <m:sSub>
                      <m:sSubPr>
                        <m:ctrlPr>
                          <a:rPr lang="en-US" altLang="zh-CN" sz="2400" b="0" i="1" kern="100" smtClean="0">
                            <a:latin typeface="Cambria Math"/>
                            <a:ea typeface="宋体"/>
                            <a:cs typeface="Times New Roman"/>
                          </a:rPr>
                        </m:ctrlPr>
                      </m:sSubPr>
                      <m:e>
                        <m:r>
                          <a:rPr lang="en-US" altLang="zh-CN" sz="2400" b="0" i="1" kern="100" smtClean="0">
                            <a:latin typeface="Cambria Math"/>
                            <a:ea typeface="宋体"/>
                            <a:cs typeface="Times New Roman"/>
                          </a:rPr>
                          <m:t>𝑥</m:t>
                        </m:r>
                      </m:e>
                      <m:sub>
                        <m:r>
                          <a:rPr lang="en-US" altLang="zh-CN" sz="2400" b="0" i="1" kern="100" smtClean="0">
                            <a:latin typeface="Cambria Math"/>
                            <a:ea typeface="宋体"/>
                            <a:cs typeface="Times New Roman"/>
                          </a:rPr>
                          <m:t>2</m:t>
                        </m:r>
                      </m:sub>
                    </m:sSub>
                    <m:r>
                      <a:rPr lang="en-US" altLang="zh-CN" sz="2400" b="0" i="1" kern="100" smtClean="0">
                        <a:latin typeface="Cambria Math"/>
                        <a:ea typeface="宋体"/>
                        <a:cs typeface="Times New Roman"/>
                      </a:rPr>
                      <m:t>,…</m:t>
                    </m:r>
                    <m:sSub>
                      <m:sSubPr>
                        <m:ctrlPr>
                          <a:rPr lang="en-US" altLang="zh-CN" sz="2400" b="0" i="1" kern="100" smtClean="0">
                            <a:latin typeface="Cambria Math"/>
                            <a:ea typeface="宋体"/>
                            <a:cs typeface="Times New Roman"/>
                          </a:rPr>
                        </m:ctrlPr>
                      </m:sSubPr>
                      <m:e>
                        <m:r>
                          <a:rPr lang="en-US" altLang="zh-CN" sz="2400" b="0" i="1" kern="100" smtClean="0">
                            <a:latin typeface="Cambria Math"/>
                            <a:ea typeface="宋体"/>
                            <a:cs typeface="Times New Roman"/>
                          </a:rPr>
                          <m:t>𝑥</m:t>
                        </m:r>
                      </m:e>
                      <m:sub>
                        <m:r>
                          <a:rPr lang="en-US" altLang="zh-CN" sz="2400" b="0" i="1" kern="100" smtClean="0">
                            <a:latin typeface="Cambria Math"/>
                            <a:ea typeface="宋体"/>
                            <a:cs typeface="Times New Roman"/>
                          </a:rPr>
                          <m:t>𝑛</m:t>
                        </m:r>
                      </m:sub>
                    </m:sSub>
                  </m:oMath>
                </a14:m>
                <a:r>
                  <a:rPr lang="en-US" altLang="zh-CN" sz="2400" kern="100" dirty="0">
                    <a:latin typeface="Calibri"/>
                    <a:ea typeface="宋体"/>
                    <a:cs typeface="Times New Roman"/>
                  </a:rPr>
                  <a:t> </a:t>
                </a:r>
                <a:r>
                  <a:rPr lang="zh-CN" altLang="zh-CN" sz="2400" kern="100" dirty="0">
                    <a:latin typeface="Calibri"/>
                    <a:ea typeface="宋体"/>
                    <a:cs typeface="Times New Roman"/>
                  </a:rPr>
                  <a:t>可以理解为</a:t>
                </a:r>
                <a:r>
                  <a:rPr lang="en-US" altLang="zh-CN" sz="2400" kern="100" dirty="0">
                    <a:latin typeface="Calibri"/>
                    <a:ea typeface="宋体"/>
                    <a:cs typeface="Times New Roman"/>
                  </a:rPr>
                  <a:t>n</a:t>
                </a:r>
                <a:r>
                  <a:rPr lang="zh-CN" altLang="zh-CN" sz="2400" kern="100" dirty="0">
                    <a:latin typeface="Calibri"/>
                    <a:ea typeface="宋体"/>
                    <a:cs typeface="Times New Roman"/>
                  </a:rPr>
                  <a:t>个输入信号（信息），</a:t>
                </a:r>
                <a14:m>
                  <m:oMath xmlns:m="http://schemas.openxmlformats.org/officeDocument/2006/math">
                    <m:sSub>
                      <m:sSubPr>
                        <m:ctrlPr>
                          <a:rPr lang="en-US" altLang="zh-CN" sz="2400" i="1" kern="100" smtClean="0">
                            <a:latin typeface="Cambria Math"/>
                            <a:ea typeface="宋体"/>
                            <a:cs typeface="Times New Roman"/>
                          </a:rPr>
                        </m:ctrlPr>
                      </m:sSubPr>
                      <m:e>
                        <m:r>
                          <a:rPr lang="en-US" altLang="zh-CN" sz="2400" b="0" i="1" kern="100" smtClean="0">
                            <a:latin typeface="Cambria Math"/>
                            <a:ea typeface="宋体"/>
                            <a:cs typeface="Times New Roman"/>
                          </a:rPr>
                          <m:t>𝑤</m:t>
                        </m:r>
                      </m:e>
                      <m:sub>
                        <m:r>
                          <a:rPr lang="en-US" altLang="zh-CN" sz="2400" b="0" i="1" kern="100" smtClean="0">
                            <a:latin typeface="Cambria Math"/>
                            <a:ea typeface="宋体"/>
                            <a:cs typeface="Times New Roman"/>
                          </a:rPr>
                          <m:t>1</m:t>
                        </m:r>
                      </m:sub>
                    </m:sSub>
                    <m:r>
                      <a:rPr lang="en-US" altLang="zh-CN" sz="2400" b="0" i="1" kern="100" smtClean="0">
                        <a:latin typeface="Cambria Math"/>
                        <a:ea typeface="宋体"/>
                        <a:cs typeface="Times New Roman"/>
                      </a:rPr>
                      <m:t>,</m:t>
                    </m:r>
                    <m:sSub>
                      <m:sSubPr>
                        <m:ctrlPr>
                          <a:rPr lang="en-US" altLang="zh-CN" sz="2400" b="0" i="1" kern="100" smtClean="0">
                            <a:latin typeface="Cambria Math"/>
                            <a:ea typeface="宋体"/>
                            <a:cs typeface="Times New Roman"/>
                          </a:rPr>
                        </m:ctrlPr>
                      </m:sSubPr>
                      <m:e>
                        <m:r>
                          <a:rPr lang="en-US" altLang="zh-CN" sz="2400" b="0" i="1" kern="100" smtClean="0">
                            <a:latin typeface="Cambria Math"/>
                            <a:ea typeface="宋体"/>
                            <a:cs typeface="Times New Roman"/>
                          </a:rPr>
                          <m:t>𝑤</m:t>
                        </m:r>
                      </m:e>
                      <m:sub>
                        <m:r>
                          <a:rPr lang="en-US" altLang="zh-CN" sz="2400" b="0" i="1" kern="100" smtClean="0">
                            <a:latin typeface="Cambria Math"/>
                            <a:ea typeface="宋体"/>
                            <a:cs typeface="Times New Roman"/>
                          </a:rPr>
                          <m:t>2</m:t>
                        </m:r>
                      </m:sub>
                    </m:sSub>
                    <m:r>
                      <a:rPr lang="en-US" altLang="zh-CN" sz="2400" b="0" i="1" kern="100" smtClean="0">
                        <a:latin typeface="Cambria Math"/>
                        <a:ea typeface="宋体"/>
                        <a:cs typeface="Times New Roman"/>
                      </a:rPr>
                      <m:t>,..</m:t>
                    </m:r>
                    <m:sSub>
                      <m:sSubPr>
                        <m:ctrlPr>
                          <a:rPr lang="en-US" altLang="zh-CN" sz="2400" b="0" i="1" kern="100" smtClean="0">
                            <a:latin typeface="Cambria Math"/>
                            <a:ea typeface="宋体"/>
                            <a:cs typeface="Times New Roman"/>
                          </a:rPr>
                        </m:ctrlPr>
                      </m:sSubPr>
                      <m:e>
                        <m:r>
                          <a:rPr lang="en-US" altLang="zh-CN" sz="2400" b="0" i="1" kern="100" smtClean="0">
                            <a:latin typeface="Cambria Math"/>
                            <a:ea typeface="宋体"/>
                            <a:cs typeface="Times New Roman"/>
                          </a:rPr>
                          <m:t>𝑤</m:t>
                        </m:r>
                      </m:e>
                      <m:sub>
                        <m:r>
                          <a:rPr lang="en-US" altLang="zh-CN" sz="2400" b="0" i="1" kern="100" smtClean="0">
                            <a:latin typeface="Cambria Math"/>
                            <a:ea typeface="宋体"/>
                            <a:cs typeface="Times New Roman"/>
                          </a:rPr>
                          <m:t>𝑛</m:t>
                        </m:r>
                      </m:sub>
                    </m:sSub>
                  </m:oMath>
                </a14:m>
                <a:r>
                  <a:rPr lang="en-US" altLang="zh-CN" sz="2400" kern="100" dirty="0">
                    <a:latin typeface="Calibri"/>
                    <a:ea typeface="宋体"/>
                    <a:cs typeface="Times New Roman"/>
                  </a:rPr>
                  <a:t> </a:t>
                </a:r>
                <a:r>
                  <a:rPr lang="zh-CN" altLang="zh-CN" sz="2400" kern="100" dirty="0">
                    <a:latin typeface="Calibri"/>
                    <a:ea typeface="宋体"/>
                    <a:cs typeface="Times New Roman"/>
                  </a:rPr>
                  <a:t>可以理解为对</a:t>
                </a:r>
                <a:r>
                  <a:rPr lang="en-US" altLang="zh-CN" sz="2400" kern="100" dirty="0">
                    <a:latin typeface="Calibri"/>
                    <a:ea typeface="宋体"/>
                    <a:cs typeface="Times New Roman"/>
                  </a:rPr>
                  <a:t>n</a:t>
                </a:r>
                <a:r>
                  <a:rPr lang="zh-CN" altLang="zh-CN" sz="2400" kern="100" dirty="0">
                    <a:latin typeface="Calibri"/>
                    <a:ea typeface="宋体"/>
                    <a:cs typeface="Times New Roman"/>
                  </a:rPr>
                  <a:t>个信号的加权，从而得到一个综合信号</a:t>
                </a:r>
                <a:r>
                  <a:rPr lang="en-US" altLang="zh-CN" sz="2400" kern="100" dirty="0">
                    <a:latin typeface="Calibri"/>
                    <a:ea typeface="宋体"/>
                    <a:cs typeface="Times New Roman"/>
                  </a:rPr>
                  <a:t> </a:t>
                </a:r>
                <a14:m>
                  <m:oMath xmlns:m="http://schemas.openxmlformats.org/officeDocument/2006/math">
                    <m:nary>
                      <m:naryPr>
                        <m:chr m:val="∑"/>
                        <m:subHide m:val="on"/>
                        <m:supHide m:val="on"/>
                        <m:ctrlPr>
                          <a:rPr lang="en-US" altLang="zh-CN" sz="2400" i="1" kern="100" smtClean="0">
                            <a:latin typeface="Cambria Math"/>
                            <a:ea typeface="宋体"/>
                            <a:cs typeface="Times New Roman"/>
                          </a:rPr>
                        </m:ctrlPr>
                      </m:naryPr>
                      <m:sub/>
                      <m:sup/>
                      <m:e>
                        <m:r>
                          <a:rPr lang="en-US" altLang="zh-CN" sz="2400" b="0" i="1" kern="100" smtClean="0">
                            <a:latin typeface="Cambria Math"/>
                            <a:ea typeface="宋体"/>
                            <a:cs typeface="Times New Roman"/>
                          </a:rPr>
                          <m:t>=</m:t>
                        </m:r>
                      </m:e>
                    </m:nary>
                    <m:nary>
                      <m:naryPr>
                        <m:chr m:val="∑"/>
                        <m:ctrlPr>
                          <a:rPr lang="en-US" altLang="zh-CN" sz="2400" i="1" kern="100" smtClean="0">
                            <a:latin typeface="Cambria Math"/>
                            <a:ea typeface="宋体"/>
                            <a:cs typeface="Times New Roman"/>
                          </a:rPr>
                        </m:ctrlPr>
                      </m:naryPr>
                      <m:sub>
                        <m:r>
                          <m:rPr>
                            <m:brk m:alnAt="23"/>
                          </m:rPr>
                          <a:rPr lang="en-US" altLang="zh-CN" sz="2400" b="0" i="1" kern="100" smtClean="0">
                            <a:latin typeface="Cambria Math"/>
                            <a:ea typeface="宋体"/>
                            <a:cs typeface="Times New Roman"/>
                          </a:rPr>
                          <m:t>𝑖</m:t>
                        </m:r>
                        <m:r>
                          <a:rPr lang="en-US" altLang="zh-CN" sz="2400" b="0" i="1" kern="100" smtClean="0">
                            <a:latin typeface="Cambria Math"/>
                            <a:ea typeface="宋体"/>
                            <a:cs typeface="Times New Roman"/>
                          </a:rPr>
                          <m:t>=1</m:t>
                        </m:r>
                      </m:sub>
                      <m:sup>
                        <m:r>
                          <a:rPr lang="en-US" altLang="zh-CN" sz="2400" b="0" i="1" kern="100" smtClean="0">
                            <a:latin typeface="Cambria Math"/>
                            <a:ea typeface="宋体"/>
                            <a:cs typeface="Times New Roman"/>
                          </a:rPr>
                          <m:t>𝑛</m:t>
                        </m:r>
                      </m:sup>
                      <m:e>
                        <m:sSub>
                          <m:sSubPr>
                            <m:ctrlPr>
                              <a:rPr lang="en-US" altLang="zh-CN" sz="2400" i="1" kern="100" smtClean="0">
                                <a:latin typeface="Cambria Math"/>
                                <a:ea typeface="宋体"/>
                                <a:cs typeface="Times New Roman"/>
                              </a:rPr>
                            </m:ctrlPr>
                          </m:sSubPr>
                          <m:e>
                            <m:r>
                              <a:rPr lang="en-US" altLang="zh-CN" sz="2400" b="0" i="1" kern="100" smtClean="0">
                                <a:latin typeface="Cambria Math"/>
                                <a:ea typeface="宋体"/>
                                <a:cs typeface="Times New Roman"/>
                              </a:rPr>
                              <m:t>𝑤</m:t>
                            </m:r>
                          </m:e>
                          <m:sub>
                            <m:r>
                              <a:rPr lang="en-US" altLang="zh-CN" sz="2400" b="0" i="1" kern="100" smtClean="0">
                                <a:latin typeface="Cambria Math"/>
                                <a:ea typeface="宋体"/>
                                <a:cs typeface="Times New Roman"/>
                              </a:rPr>
                              <m:t>𝑖</m:t>
                            </m:r>
                          </m:sub>
                        </m:sSub>
                        <m:sSub>
                          <m:sSubPr>
                            <m:ctrlPr>
                              <a:rPr lang="en-US" altLang="zh-CN" sz="2400" i="1" kern="100" smtClean="0">
                                <a:latin typeface="Cambria Math"/>
                                <a:ea typeface="宋体"/>
                                <a:cs typeface="Times New Roman"/>
                              </a:rPr>
                            </m:ctrlPr>
                          </m:sSubPr>
                          <m:e>
                            <m:r>
                              <a:rPr lang="en-US" altLang="zh-CN" sz="2400" b="0" i="1" kern="100" smtClean="0">
                                <a:latin typeface="Cambria Math"/>
                                <a:ea typeface="宋体"/>
                                <a:cs typeface="Times New Roman"/>
                              </a:rPr>
                              <m:t>𝑥</m:t>
                            </m:r>
                          </m:e>
                          <m:sub>
                            <m:r>
                              <a:rPr lang="en-US" altLang="zh-CN" sz="2400" b="0" i="1" kern="100" smtClean="0">
                                <a:latin typeface="Cambria Math"/>
                                <a:ea typeface="宋体"/>
                                <a:cs typeface="Times New Roman"/>
                              </a:rPr>
                              <m:t>𝑖</m:t>
                            </m:r>
                          </m:sub>
                        </m:sSub>
                      </m:e>
                    </m:nary>
                  </m:oMath>
                </a14:m>
                <a:r>
                  <a:rPr lang="zh-CN" altLang="zh-CN" sz="2400" kern="100" dirty="0">
                    <a:latin typeface="Calibri"/>
                    <a:ea typeface="宋体"/>
                    <a:cs typeface="Times New Roman"/>
                  </a:rPr>
                  <a:t>（对输入信号进行加权求和）。神经元需要对这个综合信号做出反应，即引入一个阈值</a:t>
                </a:r>
                <a:r>
                  <a:rPr lang="en-US" altLang="zh-CN" sz="2400" kern="100" dirty="0">
                    <a:latin typeface="Calibri"/>
                    <a:ea typeface="宋体"/>
                    <a:cs typeface="Times New Roman"/>
                  </a:rPr>
                  <a:t> </a:t>
                </a:r>
                <a14:m>
                  <m:oMath xmlns:m="http://schemas.openxmlformats.org/officeDocument/2006/math">
                    <m:r>
                      <a:rPr lang="zh-CN" altLang="en-US" sz="2400" i="1" kern="100" smtClean="0">
                        <a:latin typeface="Cambria Math"/>
                        <a:ea typeface="宋体"/>
                        <a:cs typeface="Times New Roman"/>
                      </a:rPr>
                      <m:t>𝜃</m:t>
                    </m:r>
                  </m:oMath>
                </a14:m>
                <a:r>
                  <a:rPr lang="en-US" altLang="zh-CN" sz="2400" kern="100" dirty="0">
                    <a:latin typeface="Calibri"/>
                    <a:ea typeface="宋体"/>
                    <a:cs typeface="Times New Roman"/>
                  </a:rPr>
                  <a:t> </a:t>
                </a:r>
                <a:r>
                  <a:rPr lang="zh-CN" altLang="zh-CN" sz="2400" kern="100" dirty="0">
                    <a:latin typeface="Calibri"/>
                    <a:ea typeface="宋体"/>
                    <a:cs typeface="Times New Roman"/>
                  </a:rPr>
                  <a:t>并与综合信号比较，根据比较的不同做出不同的反应，即输出</a:t>
                </a:r>
                <a:r>
                  <a:rPr lang="en-US" altLang="zh-CN" sz="2400" kern="100" dirty="0">
                    <a:latin typeface="Calibri"/>
                    <a:ea typeface="宋体"/>
                    <a:cs typeface="Times New Roman"/>
                  </a:rPr>
                  <a:t> </a:t>
                </a:r>
                <a:r>
                  <a:rPr lang="zh-CN" altLang="zh-CN" sz="2400" kern="100" dirty="0">
                    <a:latin typeface="Calibri"/>
                    <a:ea typeface="宋体"/>
                    <a:cs typeface="Times New Roman"/>
                  </a:rPr>
                  <a:t>。这里用一个被称为激发函数</a:t>
                </a:r>
                <a14:m>
                  <m:oMath xmlns:m="http://schemas.openxmlformats.org/officeDocument/2006/math">
                    <m:r>
                      <a:rPr lang="en-US" altLang="zh-CN" sz="2400" b="0" i="1" kern="100" smtClean="0">
                        <a:latin typeface="Cambria Math"/>
                        <a:ea typeface="宋体"/>
                        <a:cs typeface="Times New Roman"/>
                      </a:rPr>
                      <m:t>𝑓</m:t>
                    </m:r>
                    <m:r>
                      <a:rPr lang="en-US" altLang="zh-CN" sz="2400" b="0" i="1" kern="100" smtClean="0">
                        <a:latin typeface="Cambria Math"/>
                        <a:ea typeface="宋体"/>
                        <a:cs typeface="Times New Roman"/>
                      </a:rPr>
                      <m:t>(</m:t>
                    </m:r>
                    <m:nary>
                      <m:naryPr>
                        <m:chr m:val="∑"/>
                        <m:subHide m:val="on"/>
                        <m:supHide m:val="on"/>
                        <m:ctrlPr>
                          <a:rPr lang="en-US" altLang="zh-CN" sz="2400" b="0" i="1" kern="100" smtClean="0">
                            <a:latin typeface="Cambria Math"/>
                            <a:ea typeface="宋体"/>
                            <a:cs typeface="Times New Roman"/>
                          </a:rPr>
                        </m:ctrlPr>
                      </m:naryPr>
                      <m:sub/>
                      <m:sup/>
                      <m:e>
                        <m:r>
                          <a:rPr lang="en-US" altLang="zh-CN" sz="2400" b="0" i="1" kern="100" smtClean="0">
                            <a:latin typeface="Cambria Math"/>
                            <a:ea typeface="宋体"/>
                            <a:cs typeface="Times New Roman"/>
                          </a:rPr>
                          <m:t>−</m:t>
                        </m:r>
                        <m:r>
                          <a:rPr lang="zh-CN" altLang="en-US" sz="2400" b="0" i="1" kern="100" smtClean="0">
                            <a:latin typeface="Cambria Math"/>
                            <a:ea typeface="宋体"/>
                            <a:cs typeface="Times New Roman"/>
                          </a:rPr>
                          <m:t>𝜃</m:t>
                        </m:r>
                      </m:e>
                    </m:nary>
                    <m:r>
                      <a:rPr lang="en-US" altLang="zh-CN" sz="2400" b="0" i="1" kern="100" smtClean="0">
                        <a:latin typeface="Cambria Math"/>
                        <a:ea typeface="宋体"/>
                        <a:cs typeface="Times New Roman"/>
                      </a:rPr>
                      <m:t>)</m:t>
                    </m:r>
                  </m:oMath>
                </a14:m>
                <a:r>
                  <a:rPr lang="en-US" altLang="zh-CN" sz="2400" kern="100" dirty="0">
                    <a:latin typeface="Calibri"/>
                    <a:ea typeface="宋体"/>
                    <a:cs typeface="Times New Roman"/>
                  </a:rPr>
                  <a:t> </a:t>
                </a:r>
                <a:r>
                  <a:rPr lang="zh-CN" altLang="zh-CN" sz="2400" kern="100" dirty="0">
                    <a:latin typeface="Calibri"/>
                    <a:ea typeface="宋体"/>
                    <a:cs typeface="Times New Roman"/>
                  </a:rPr>
                  <a:t>来模拟其反应，从而获得反应值，进而进行判别。</a:t>
                </a:r>
                <a:r>
                  <a:rPr lang="en-US" altLang="zh-CN" sz="2400" dirty="0">
                    <a:latin typeface="宋体" pitchFamily="2" charset="-122"/>
                    <a:ea typeface="宋体" pitchFamily="2" charset="-122"/>
                  </a:rPr>
                  <a:t>                </a:t>
                </a:r>
                <a:endParaRPr lang="zh-CN" altLang="zh-CN" sz="2400" dirty="0">
                  <a:latin typeface="宋体" pitchFamily="2" charset="-122"/>
                  <a:ea typeface="宋体" pitchFamily="2" charset="-122"/>
                </a:endParaRP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25625" y="836712"/>
                <a:ext cx="10601349" cy="5832647"/>
              </a:xfrm>
              <a:blipFill rotWithShape="1">
                <a:blip r:embed="rId1"/>
                <a:stretch>
                  <a:fillRect l="-1149" t="-1045" r="-3218" b="-14838"/>
                </a:stretch>
              </a:blipFill>
            </p:spPr>
            <p:txBody>
              <a:bodyPr/>
              <a:lstStyle/>
              <a:p>
                <a:r>
                  <a:rPr lang="zh-CN" altLang="en-US">
                    <a:noFill/>
                  </a:rPr>
                  <a:t> </a:t>
                </a:r>
                <a:endParaRPr lang="zh-CN" altLang="en-US">
                  <a:noFill/>
                </a:endParaRPr>
              </a:p>
            </p:txBody>
          </p:sp>
        </mc:Fallback>
      </mc:AlternateContent>
      <p:sp>
        <p:nvSpPr>
          <p:cNvPr id="6" name="TextBox 5"/>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5.5.1 </a:t>
            </a:r>
            <a:r>
              <a:rPr lang="zh-CN" altLang="en-US" sz="2800" dirty="0">
                <a:solidFill>
                  <a:schemeClr val="accent2"/>
                </a:solidFill>
                <a:latin typeface="微软雅黑" panose="020B0503020204020204" pitchFamily="34" charset="-122"/>
                <a:ea typeface="微软雅黑" panose="020B0503020204020204" pitchFamily="34" charset="-122"/>
              </a:rPr>
              <a:t>神经网络的模拟思路</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1917" y="2487612"/>
            <a:ext cx="4392488" cy="2089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29758" y="98455"/>
            <a:ext cx="1180795" cy="400110"/>
          </a:xfrm>
          <a:prstGeom prst="rect">
            <a:avLst/>
          </a:prstGeom>
          <a:noFill/>
        </p:spPr>
        <p:txBody>
          <a:bodyPr wrap="square" rtlCol="0">
            <a:spAutoFit/>
          </a:bodyPr>
          <a:lstStyle/>
          <a:p>
            <a:pPr lvl="0" algn="r"/>
            <a:r>
              <a:rPr lang="en-US" altLang="zh-CN" sz="2000" dirty="0">
                <a:solidFill>
                  <a:schemeClr val="accent2"/>
                </a:solidFill>
              </a:rPr>
              <a:t>Part </a:t>
            </a:r>
            <a:r>
              <a:rPr lang="en-US" altLang="zh-CN" sz="2000" dirty="0" smtClean="0">
                <a:solidFill>
                  <a:schemeClr val="accent2"/>
                </a:solidFill>
              </a:rPr>
              <a:t>5</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47428" y="1124744"/>
                <a:ext cx="10601349" cy="5361460"/>
              </a:xfrm>
            </p:spPr>
            <p:txBody>
              <a:bodyPr/>
              <a:lstStyle/>
              <a:p>
                <a:pPr marL="0" indent="457200">
                  <a:buNone/>
                </a:pPr>
                <a:r>
                  <a:rPr lang="zh-CN" altLang="zh-CN" sz="2400" kern="100" dirty="0">
                    <a:latin typeface="宋体" pitchFamily="2" charset="-122"/>
                    <a:ea typeface="宋体" pitchFamily="2" charset="-122"/>
                    <a:cs typeface="Times New Roman"/>
                  </a:rPr>
                  <a:t>比如你蒙上眼睛，要判断面前的人是男孩还是女孩。我们可以作一个简单的假设（大脑只有一个神经元），只用一个输入信号</a:t>
                </a:r>
                <a:r>
                  <a:rPr lang="en-US" altLang="zh-CN" sz="2400" kern="100" dirty="0">
                    <a:latin typeface="宋体" pitchFamily="2" charset="-122"/>
                    <a:ea typeface="宋体" pitchFamily="2" charset="-122"/>
                    <a:cs typeface="Times New Roman"/>
                  </a:rPr>
                  <a:t>x1=</a:t>
                </a:r>
                <a:r>
                  <a:rPr lang="zh-CN" altLang="zh-CN" sz="2400" kern="100" dirty="0">
                    <a:latin typeface="宋体" pitchFamily="2" charset="-122"/>
                    <a:ea typeface="宋体" pitchFamily="2" charset="-122"/>
                    <a:cs typeface="Times New Roman"/>
                  </a:rPr>
                  <a:t>头发长度（比如是</a:t>
                </a:r>
                <a:r>
                  <a:rPr lang="en-US" altLang="zh-CN" sz="2400" kern="100" dirty="0">
                    <a:latin typeface="宋体" pitchFamily="2" charset="-122"/>
                    <a:ea typeface="宋体" pitchFamily="2" charset="-122"/>
                    <a:cs typeface="Times New Roman"/>
                  </a:rPr>
                  <a:t>50</a:t>
                </a:r>
                <a:r>
                  <a:rPr lang="zh-CN" altLang="zh-CN" sz="2400" kern="100" dirty="0">
                    <a:latin typeface="宋体" pitchFamily="2" charset="-122"/>
                    <a:ea typeface="宋体" pitchFamily="2" charset="-122"/>
                    <a:cs typeface="Times New Roman"/>
                  </a:rPr>
                  <a:t>厘米），权重为</a:t>
                </a:r>
                <a:r>
                  <a:rPr lang="en-US" altLang="zh-CN" sz="2400" kern="100" dirty="0">
                    <a:latin typeface="宋体" pitchFamily="2" charset="-122"/>
                    <a:ea typeface="宋体" pitchFamily="2" charset="-122"/>
                    <a:cs typeface="Times New Roman"/>
                  </a:rPr>
                  <a:t>1</a:t>
                </a:r>
                <a:r>
                  <a:rPr lang="zh-CN" altLang="zh-CN" sz="2400" kern="100" dirty="0">
                    <a:latin typeface="宋体" pitchFamily="2" charset="-122"/>
                    <a:ea typeface="宋体" pitchFamily="2" charset="-122"/>
                    <a:cs typeface="Times New Roman"/>
                  </a:rPr>
                  <a:t>，则其综合信号</a:t>
                </a:r>
                <a14:m>
                  <m:oMath xmlns:m="http://schemas.openxmlformats.org/officeDocument/2006/math">
                    <m:nary>
                      <m:naryPr>
                        <m:chr m:val="∑"/>
                        <m:subHide m:val="on"/>
                        <m:supHide m:val="on"/>
                        <m:ctrlPr>
                          <a:rPr lang="zh-CN" altLang="en-US" sz="2400" i="1" kern="100" smtClean="0">
                            <a:latin typeface="Cambria Math"/>
                            <a:ea typeface="宋体" pitchFamily="2" charset="-122"/>
                            <a:cs typeface="Times New Roman"/>
                          </a:rPr>
                        </m:ctrlPr>
                      </m:naryPr>
                      <m:sub/>
                      <m:sup/>
                      <m:e>
                        <m:r>
                          <a:rPr lang="en-US" altLang="zh-CN" sz="2400" b="0" i="1" kern="100" smtClean="0">
                            <a:latin typeface="Cambria Math"/>
                            <a:ea typeface="宋体" pitchFamily="2" charset="-122"/>
                            <a:cs typeface="Times New Roman"/>
                          </a:rPr>
                          <m:t>=</m:t>
                        </m:r>
                        <m:sSub>
                          <m:sSubPr>
                            <m:ctrlPr>
                              <a:rPr lang="en-US" altLang="zh-CN" sz="2400" b="0" i="1" kern="100" smtClean="0">
                                <a:latin typeface="Cambria Math"/>
                                <a:ea typeface="宋体" pitchFamily="2" charset="-122"/>
                                <a:cs typeface="Times New Roman"/>
                              </a:rPr>
                            </m:ctrlPr>
                          </m:sSubPr>
                          <m:e>
                            <m:r>
                              <a:rPr lang="en-US" altLang="zh-CN" sz="2400" b="0" i="1" kern="100" smtClean="0">
                                <a:latin typeface="Cambria Math"/>
                                <a:ea typeface="宋体" pitchFamily="2" charset="-122"/>
                                <a:cs typeface="Times New Roman"/>
                              </a:rPr>
                              <m:t>𝑥</m:t>
                            </m:r>
                          </m:e>
                          <m:sub>
                            <m:r>
                              <a:rPr lang="en-US" altLang="zh-CN" sz="2400" b="0" i="1" kern="100" smtClean="0">
                                <a:latin typeface="Cambria Math"/>
                                <a:ea typeface="宋体" pitchFamily="2" charset="-122"/>
                                <a:cs typeface="Times New Roman"/>
                              </a:rPr>
                              <m:t>1</m:t>
                            </m:r>
                          </m:sub>
                        </m:sSub>
                        <m:r>
                          <a:rPr lang="en-US" altLang="zh-CN" sz="2400" b="0" i="1" kern="100" smtClean="0">
                            <a:latin typeface="Cambria Math"/>
                            <a:ea typeface="宋体" pitchFamily="2" charset="-122"/>
                            <a:cs typeface="Times New Roman"/>
                          </a:rPr>
                          <m:t>=50</m:t>
                        </m:r>
                      </m:e>
                    </m:nary>
                  </m:oMath>
                </a14:m>
                <a:r>
                  <a:rPr lang="en-US" altLang="zh-CN" sz="2400" kern="100" dirty="0">
                    <a:latin typeface="宋体" pitchFamily="2" charset="-122"/>
                    <a:ea typeface="宋体" pitchFamily="2" charset="-122"/>
                    <a:cs typeface="Times New Roman"/>
                  </a:rPr>
                  <a:t> </a:t>
                </a:r>
                <a:r>
                  <a:rPr lang="zh-CN" altLang="zh-CN" sz="2400" kern="100" dirty="0">
                    <a:latin typeface="宋体" pitchFamily="2" charset="-122"/>
                    <a:ea typeface="宋体" pitchFamily="2" charset="-122"/>
                    <a:cs typeface="Times New Roman"/>
                  </a:rPr>
                  <a:t>，我们用一个二值函数为激发函数</a:t>
                </a:r>
                <a:endParaRPr lang="en-US" altLang="zh-CN" sz="2400" kern="100" dirty="0">
                  <a:latin typeface="宋体" pitchFamily="2" charset="-122"/>
                  <a:ea typeface="宋体" pitchFamily="2" charset="-122"/>
                  <a:cs typeface="Times New Roman"/>
                </a:endParaRPr>
              </a:p>
              <a:p>
                <a:pPr marL="0" indent="457200">
                  <a:buNone/>
                </a:pPr>
                <a14:m>
                  <m:oMathPara xmlns:m="http://schemas.openxmlformats.org/officeDocument/2006/math">
                    <m:oMathParaPr>
                      <m:jc m:val="centerGroup"/>
                    </m:oMathParaPr>
                    <m:oMath xmlns:m="http://schemas.openxmlformats.org/officeDocument/2006/math">
                      <m:r>
                        <a:rPr lang="en-US" altLang="zh-CN" sz="2400" b="0" i="1" smtClean="0">
                          <a:latin typeface="Cambria Math"/>
                          <a:ea typeface="宋体" pitchFamily="2" charset="-122"/>
                        </a:rPr>
                        <m:t>𝑓</m:t>
                      </m:r>
                      <m:d>
                        <m:dPr>
                          <m:ctrlPr>
                            <a:rPr lang="en-US" altLang="zh-CN" sz="2400" b="0" i="1" smtClean="0">
                              <a:latin typeface="Cambria Math"/>
                              <a:ea typeface="宋体" pitchFamily="2" charset="-122"/>
                            </a:rPr>
                          </m:ctrlPr>
                        </m:dPr>
                        <m:e>
                          <m:r>
                            <a:rPr lang="en-US" altLang="zh-CN" sz="2400" b="0" i="1" smtClean="0">
                              <a:latin typeface="Cambria Math"/>
                              <a:ea typeface="宋体" pitchFamily="2" charset="-122"/>
                            </a:rPr>
                            <m:t>𝑥</m:t>
                          </m:r>
                        </m:e>
                      </m:d>
                      <m:r>
                        <a:rPr lang="en-US" altLang="zh-CN" sz="2400" b="0" i="1" smtClean="0">
                          <a:latin typeface="Cambria Math"/>
                          <a:ea typeface="宋体" pitchFamily="2" charset="-122"/>
                        </a:rPr>
                        <m:t>=</m:t>
                      </m:r>
                      <m:d>
                        <m:dPr>
                          <m:begChr m:val="{"/>
                          <m:endChr m:val=""/>
                          <m:ctrlPr>
                            <a:rPr lang="en-US" altLang="zh-CN" sz="2400" b="0" i="1" smtClean="0">
                              <a:latin typeface="Cambria Math"/>
                              <a:ea typeface="宋体" pitchFamily="2" charset="-122"/>
                            </a:rPr>
                          </m:ctrlPr>
                        </m:dPr>
                        <m:e>
                          <m:eqArr>
                            <m:eqArrPr>
                              <m:ctrlPr>
                                <a:rPr lang="en-US" altLang="zh-CN" sz="2400" b="0" i="1" smtClean="0">
                                  <a:latin typeface="Cambria Math"/>
                                  <a:ea typeface="宋体" pitchFamily="2" charset="-122"/>
                                </a:rPr>
                              </m:ctrlPr>
                            </m:eqArrPr>
                            <m:e>
                              <m:r>
                                <a:rPr lang="en-US" altLang="zh-CN" sz="2400" b="0" i="1" smtClean="0">
                                  <a:latin typeface="Cambria Math"/>
                                  <a:ea typeface="宋体" pitchFamily="2" charset="-122"/>
                                </a:rPr>
                                <m:t>1,</m:t>
                              </m:r>
                              <m:r>
                                <a:rPr lang="en-US" altLang="zh-CN" sz="2400" b="0" i="1" smtClean="0">
                                  <a:latin typeface="Cambria Math"/>
                                  <a:ea typeface="宋体" pitchFamily="2" charset="-122"/>
                                </a:rPr>
                                <m:t>𝑥</m:t>
                              </m:r>
                              <m:r>
                                <a:rPr lang="en-US" altLang="zh-CN" sz="2400" b="0" i="1" smtClean="0">
                                  <a:latin typeface="Cambria Math"/>
                                  <a:ea typeface="宋体" pitchFamily="2" charset="-122"/>
                                </a:rPr>
                                <m:t>&gt;0</m:t>
                              </m:r>
                            </m:e>
                            <m:e>
                              <m:r>
                                <a:rPr lang="en-US" altLang="zh-CN" sz="2400" b="0" i="1" smtClean="0">
                                  <a:latin typeface="Cambria Math"/>
                                  <a:ea typeface="宋体" pitchFamily="2" charset="-122"/>
                                </a:rPr>
                                <m:t>0,</m:t>
                              </m:r>
                              <m:r>
                                <a:rPr lang="en-US" altLang="zh-CN" sz="2400" b="0" i="1" smtClean="0">
                                  <a:latin typeface="Cambria Math"/>
                                  <a:ea typeface="宋体" pitchFamily="2" charset="-122"/>
                                </a:rPr>
                                <m:t>𝑥</m:t>
                              </m:r>
                              <m:r>
                                <a:rPr lang="en-US" altLang="zh-CN" sz="2400" b="0" i="1" smtClean="0">
                                  <a:latin typeface="Cambria Math"/>
                                  <a:ea typeface="宋体" pitchFamily="2" charset="-122"/>
                                </a:rPr>
                                <m:t>&lt;0</m:t>
                              </m:r>
                            </m:e>
                          </m:eqArr>
                        </m:e>
                      </m:d>
                    </m:oMath>
                  </m:oMathPara>
                </a14:m>
                <a:endParaRPr lang="en-US" altLang="zh-CN" sz="2400" dirty="0">
                  <a:latin typeface="宋体" pitchFamily="2" charset="-122"/>
                  <a:ea typeface="宋体" pitchFamily="2" charset="-122"/>
                </a:endParaRPr>
              </a:p>
              <a:p>
                <a:pPr marL="0" indent="0">
                  <a:buNone/>
                </a:pPr>
                <a:r>
                  <a:rPr lang="zh-CN" altLang="zh-CN" sz="2400" dirty="0">
                    <a:latin typeface="宋体" pitchFamily="2" charset="-122"/>
                    <a:ea typeface="宋体" pitchFamily="2" charset="-122"/>
                  </a:rPr>
                  <a:t>假设阈值</a:t>
                </a:r>
                <a14:m>
                  <m:oMath xmlns:m="http://schemas.openxmlformats.org/officeDocument/2006/math">
                    <m:r>
                      <a:rPr lang="zh-CN" altLang="en-US" sz="2400" i="1" smtClean="0">
                        <a:latin typeface="Cambria Math"/>
                        <a:ea typeface="宋体" pitchFamily="2" charset="-122"/>
                      </a:rPr>
                      <m:t>𝜃</m:t>
                    </m:r>
                    <m:r>
                      <a:rPr lang="en-US" altLang="zh-CN" sz="2400" b="0" i="1" smtClean="0">
                        <a:latin typeface="Cambria Math"/>
                        <a:ea typeface="宋体" pitchFamily="2" charset="-122"/>
                      </a:rPr>
                      <m:t>=12</m:t>
                    </m:r>
                  </m:oMath>
                </a14:m>
                <a:r>
                  <a:rPr lang="en-US" altLang="zh-CN" sz="2400" dirty="0">
                    <a:latin typeface="宋体" pitchFamily="2" charset="-122"/>
                    <a:ea typeface="宋体" pitchFamily="2" charset="-122"/>
                  </a:rPr>
                  <a:t> </a:t>
                </a:r>
                <a:r>
                  <a:rPr lang="zh-CN" altLang="en-US" sz="2400" dirty="0">
                    <a:latin typeface="宋体" pitchFamily="2" charset="-122"/>
                    <a:ea typeface="宋体" pitchFamily="2" charset="-122"/>
                  </a:rPr>
                  <a:t>，</a:t>
                </a:r>
                <a:r>
                  <a:rPr lang="zh-CN" altLang="zh-CN" sz="2400" dirty="0">
                    <a:latin typeface="宋体" pitchFamily="2" charset="-122"/>
                    <a:ea typeface="宋体" pitchFamily="2" charset="-122"/>
                  </a:rPr>
                  <a:t>由于</a:t>
                </a:r>
                <a14:m>
                  <m:oMath xmlns:m="http://schemas.openxmlformats.org/officeDocument/2006/math">
                    <m:nary>
                      <m:naryPr>
                        <m:chr m:val="∑"/>
                        <m:subHide m:val="on"/>
                        <m:supHide m:val="on"/>
                        <m:ctrlPr>
                          <a:rPr lang="zh-CN" altLang="en-US" sz="2400" i="1" smtClean="0">
                            <a:latin typeface="Cambria Math"/>
                            <a:ea typeface="宋体" pitchFamily="2" charset="-122"/>
                          </a:rPr>
                        </m:ctrlPr>
                      </m:naryPr>
                      <m:sub/>
                      <m:sup/>
                      <m:e>
                        <m:r>
                          <a:rPr lang="en-US" altLang="zh-CN" sz="2400" b="0" i="1" smtClean="0">
                            <a:latin typeface="Cambria Math"/>
                            <a:ea typeface="宋体" pitchFamily="2" charset="-122"/>
                          </a:rPr>
                          <m:t>=</m:t>
                        </m:r>
                        <m:sSub>
                          <m:sSubPr>
                            <m:ctrlPr>
                              <a:rPr lang="en-US" altLang="zh-CN" sz="2400" b="0" i="1" smtClean="0">
                                <a:latin typeface="Cambria Math"/>
                                <a:ea typeface="宋体" pitchFamily="2" charset="-122"/>
                              </a:rPr>
                            </m:ctrlPr>
                          </m:sSubPr>
                          <m:e>
                            <m:r>
                              <a:rPr lang="en-US" altLang="zh-CN" sz="2400" b="0" i="1" smtClean="0">
                                <a:latin typeface="Cambria Math"/>
                                <a:ea typeface="宋体" pitchFamily="2" charset="-122"/>
                              </a:rPr>
                              <m:t>𝑥</m:t>
                            </m:r>
                          </m:e>
                          <m:sub>
                            <m:r>
                              <a:rPr lang="en-US" altLang="zh-CN" sz="2400" b="0" i="1" smtClean="0">
                                <a:latin typeface="Cambria Math"/>
                                <a:ea typeface="宋体" pitchFamily="2" charset="-122"/>
                              </a:rPr>
                              <m:t>1</m:t>
                            </m:r>
                          </m:sub>
                        </m:sSub>
                        <m:r>
                          <a:rPr lang="en-US" altLang="zh-CN" sz="2400" b="0" i="1" smtClean="0">
                            <a:latin typeface="Cambria Math"/>
                            <a:ea typeface="宋体" pitchFamily="2" charset="-122"/>
                          </a:rPr>
                          <m:t>=50</m:t>
                        </m:r>
                      </m:e>
                    </m:nary>
                  </m:oMath>
                </a14:m>
                <a:r>
                  <a:rPr lang="en-US" altLang="zh-CN" sz="2400" dirty="0">
                    <a:latin typeface="宋体" pitchFamily="2" charset="-122"/>
                    <a:ea typeface="宋体" pitchFamily="2" charset="-122"/>
                  </a:rPr>
                  <a:t> </a:t>
                </a:r>
                <a:r>
                  <a:rPr lang="zh-CN" altLang="zh-CN" sz="2400" dirty="0">
                    <a:latin typeface="宋体" pitchFamily="2" charset="-122"/>
                    <a:ea typeface="宋体" pitchFamily="2" charset="-122"/>
                  </a:rPr>
                  <a:t>，故</a:t>
                </a:r>
                <a14:m>
                  <m:oMath xmlns:m="http://schemas.openxmlformats.org/officeDocument/2006/math">
                    <m:r>
                      <a:rPr lang="en-US" altLang="zh-CN" sz="2400" b="0" i="1" smtClean="0">
                        <a:latin typeface="Cambria Math"/>
                        <a:ea typeface="宋体" pitchFamily="2" charset="-122"/>
                      </a:rPr>
                      <m:t>𝑓</m:t>
                    </m:r>
                    <m:d>
                      <m:dPr>
                        <m:ctrlPr>
                          <a:rPr lang="en-US" altLang="zh-CN" sz="2400" b="0" i="1" smtClean="0">
                            <a:latin typeface="Cambria Math"/>
                            <a:ea typeface="宋体" pitchFamily="2" charset="-122"/>
                          </a:rPr>
                        </m:ctrlPr>
                      </m:dPr>
                      <m:e>
                        <m:nary>
                          <m:naryPr>
                            <m:chr m:val="∑"/>
                            <m:subHide m:val="on"/>
                            <m:supHide m:val="on"/>
                            <m:ctrlPr>
                              <a:rPr lang="en-US" altLang="zh-CN" sz="2400" b="0" i="1" smtClean="0">
                                <a:latin typeface="Cambria Math"/>
                                <a:ea typeface="宋体" pitchFamily="2" charset="-122"/>
                              </a:rPr>
                            </m:ctrlPr>
                          </m:naryPr>
                          <m:sub/>
                          <m:sup/>
                          <m:e>
                            <m:r>
                              <a:rPr lang="en-US" altLang="zh-CN" sz="2400" b="0" i="1" smtClean="0">
                                <a:latin typeface="Cambria Math"/>
                                <a:ea typeface="宋体" pitchFamily="2" charset="-122"/>
                              </a:rPr>
                              <m:t>−12</m:t>
                            </m:r>
                          </m:e>
                        </m:nary>
                      </m:e>
                    </m:d>
                    <m:r>
                      <a:rPr lang="en-US" altLang="zh-CN" sz="2400" b="0" i="1" smtClean="0">
                        <a:latin typeface="Cambria Math"/>
                        <a:ea typeface="宋体" pitchFamily="2" charset="-122"/>
                      </a:rPr>
                      <m:t>=</m:t>
                    </m:r>
                    <m:r>
                      <a:rPr lang="en-US" altLang="zh-CN" sz="2400" b="0" i="1" smtClean="0">
                        <a:latin typeface="Cambria Math"/>
                        <a:ea typeface="宋体" pitchFamily="2" charset="-122"/>
                      </a:rPr>
                      <m:t>𝑓</m:t>
                    </m:r>
                    <m:d>
                      <m:dPr>
                        <m:ctrlPr>
                          <a:rPr lang="en-US" altLang="zh-CN" sz="2400" b="0" i="1" smtClean="0">
                            <a:latin typeface="Cambria Math"/>
                            <a:ea typeface="宋体" pitchFamily="2" charset="-122"/>
                          </a:rPr>
                        </m:ctrlPr>
                      </m:dPr>
                      <m:e>
                        <m:r>
                          <a:rPr lang="en-US" altLang="zh-CN" sz="2400" b="0" i="1" smtClean="0">
                            <a:latin typeface="Cambria Math"/>
                            <a:ea typeface="宋体" pitchFamily="2" charset="-122"/>
                          </a:rPr>
                          <m:t>38</m:t>
                        </m:r>
                      </m:e>
                    </m:d>
                    <m:r>
                      <a:rPr lang="en-US" altLang="zh-CN" sz="2400" b="0" i="1" smtClean="0">
                        <a:latin typeface="Cambria Math"/>
                        <a:ea typeface="宋体" pitchFamily="2" charset="-122"/>
                      </a:rPr>
                      <m:t>=1</m:t>
                    </m:r>
                  </m:oMath>
                </a14:m>
                <a:r>
                  <a:rPr lang="en-US" altLang="zh-CN" sz="2400" dirty="0">
                    <a:latin typeface="宋体" pitchFamily="2" charset="-122"/>
                    <a:ea typeface="宋体" pitchFamily="2" charset="-122"/>
                  </a:rPr>
                  <a:t> </a:t>
                </a:r>
                <a:r>
                  <a:rPr lang="zh-CN" altLang="zh-CN" sz="2400" dirty="0">
                    <a:latin typeface="宋体" pitchFamily="2" charset="-122"/>
                    <a:ea typeface="宋体" pitchFamily="2" charset="-122"/>
                  </a:rPr>
                  <a:t>，由此我们可以得到输出</a:t>
                </a:r>
                <a:r>
                  <a:rPr lang="en-US" altLang="zh-CN" sz="2400" dirty="0">
                    <a:latin typeface="宋体" pitchFamily="2" charset="-122"/>
                    <a:ea typeface="宋体" pitchFamily="2" charset="-122"/>
                  </a:rPr>
                  <a:t>1</a:t>
                </a:r>
                <a:r>
                  <a:rPr lang="zh-CN" altLang="zh-CN" sz="2400" dirty="0">
                    <a:latin typeface="宋体" pitchFamily="2" charset="-122"/>
                    <a:ea typeface="宋体" pitchFamily="2" charset="-122"/>
                  </a:rPr>
                  <a:t>为女孩，</a:t>
                </a:r>
                <a:r>
                  <a:rPr lang="en-US" altLang="zh-CN" sz="2400" dirty="0">
                    <a:latin typeface="宋体" pitchFamily="2" charset="-122"/>
                    <a:ea typeface="宋体" pitchFamily="2" charset="-122"/>
                  </a:rPr>
                  <a:t>0</a:t>
                </a:r>
                <a:r>
                  <a:rPr lang="zh-CN" altLang="zh-CN" sz="2400" dirty="0">
                    <a:latin typeface="宋体" pitchFamily="2" charset="-122"/>
                    <a:ea typeface="宋体" pitchFamily="2" charset="-122"/>
                  </a:rPr>
                  <a:t>为男孩。</a:t>
                </a:r>
              </a:p>
              <a:p>
                <a:pPr marL="0" indent="0">
                  <a:buNone/>
                </a:pPr>
                <a:r>
                  <a:rPr lang="zh-CN" altLang="zh-CN" sz="2400" dirty="0">
                    <a:latin typeface="宋体" pitchFamily="2" charset="-122"/>
                    <a:ea typeface="宋体" pitchFamily="2" charset="-122"/>
                  </a:rPr>
                  <a:t>那么如何确定阈值是</a:t>
                </a:r>
                <a:r>
                  <a:rPr lang="en-US" altLang="zh-CN" sz="2400" dirty="0">
                    <a:latin typeface="宋体" pitchFamily="2" charset="-122"/>
                    <a:ea typeface="宋体" pitchFamily="2" charset="-122"/>
                  </a:rPr>
                  <a:t>12</a:t>
                </a:r>
                <a:r>
                  <a:rPr lang="zh-CN" altLang="zh-CN" sz="2400" dirty="0">
                    <a:latin typeface="宋体" pitchFamily="2" charset="-122"/>
                    <a:ea typeface="宋体" pitchFamily="2" charset="-122"/>
                  </a:rPr>
                  <a:t>，输出</a:t>
                </a:r>
                <a:r>
                  <a:rPr lang="en-US" altLang="zh-CN" sz="2400" dirty="0">
                    <a:latin typeface="宋体" pitchFamily="2" charset="-122"/>
                    <a:ea typeface="宋体" pitchFamily="2" charset="-122"/>
                  </a:rPr>
                  <a:t>1</a:t>
                </a:r>
                <a:r>
                  <a:rPr lang="zh-CN" altLang="zh-CN" sz="2400" dirty="0">
                    <a:latin typeface="宋体" pitchFamily="2" charset="-122"/>
                    <a:ea typeface="宋体" pitchFamily="2" charset="-122"/>
                  </a:rPr>
                  <a:t>表示女孩，而</a:t>
                </a:r>
                <a:r>
                  <a:rPr lang="en-US" altLang="zh-CN" sz="2400" dirty="0">
                    <a:latin typeface="宋体" pitchFamily="2" charset="-122"/>
                    <a:ea typeface="宋体" pitchFamily="2" charset="-122"/>
                  </a:rPr>
                  <a:t>0</a:t>
                </a:r>
                <a:r>
                  <a:rPr lang="zh-CN" altLang="zh-CN" sz="2400" dirty="0">
                    <a:latin typeface="宋体" pitchFamily="2" charset="-122"/>
                    <a:ea typeface="宋体" pitchFamily="2" charset="-122"/>
                  </a:rPr>
                  <a:t>表示男孩呢？这就是通过日常生活中的大量实践认识。</a:t>
                </a:r>
              </a:p>
              <a:p>
                <a:pPr marL="0" indent="0">
                  <a:buNone/>
                </a:pPr>
                <a:r>
                  <a:rPr lang="zh-CN" altLang="zh-CN" sz="2400" dirty="0">
                    <a:latin typeface="宋体" pitchFamily="2" charset="-122"/>
                    <a:ea typeface="宋体" pitchFamily="2" charset="-122"/>
                  </a:rPr>
                  <a:t>数学模型不像人可以通过日常中漫长的学习和实践训练，只能通过样本数据来训练其模型，从而获得模型的参数并应用。比如可以通过选择</a:t>
                </a:r>
                <a:r>
                  <a:rPr lang="en-US" altLang="zh-CN" sz="2400" dirty="0">
                    <a:latin typeface="宋体" pitchFamily="2" charset="-122"/>
                    <a:ea typeface="宋体" pitchFamily="2" charset="-122"/>
                  </a:rPr>
                  <a:t>1000</a:t>
                </a:r>
                <a:r>
                  <a:rPr lang="zh-CN" altLang="zh-CN" sz="2400" dirty="0">
                    <a:latin typeface="宋体" pitchFamily="2" charset="-122"/>
                    <a:ea typeface="宋体" pitchFamily="2" charset="-122"/>
                  </a:rPr>
                  <a:t>个人，其中</a:t>
                </a:r>
                <a:r>
                  <a:rPr lang="en-US" altLang="zh-CN" sz="2400" dirty="0">
                    <a:latin typeface="宋体" pitchFamily="2" charset="-122"/>
                    <a:ea typeface="宋体" pitchFamily="2" charset="-122"/>
                  </a:rPr>
                  <a:t>500</a:t>
                </a:r>
                <a:r>
                  <a:rPr lang="zh-CN" altLang="zh-CN" sz="2400" dirty="0">
                    <a:latin typeface="宋体" pitchFamily="2" charset="-122"/>
                    <a:ea typeface="宋体" pitchFamily="2" charset="-122"/>
                  </a:rPr>
                  <a:t>是男孩，</a:t>
                </a:r>
                <a:r>
                  <a:rPr lang="en-US" altLang="zh-CN" sz="2400" dirty="0">
                    <a:latin typeface="宋体" pitchFamily="2" charset="-122"/>
                    <a:ea typeface="宋体" pitchFamily="2" charset="-122"/>
                  </a:rPr>
                  <a:t>500</a:t>
                </a:r>
                <a:r>
                  <a:rPr lang="zh-CN" altLang="zh-CN" sz="2400" dirty="0">
                    <a:latin typeface="宋体" pitchFamily="2" charset="-122"/>
                    <a:ea typeface="宋体" pitchFamily="2" charset="-122"/>
                  </a:rPr>
                  <a:t>是女孩，分别量其头发长度，输入以上模型进行训练，其训练的准则是判别正确率最大化</a:t>
                </a:r>
                <a:r>
                  <a:rPr lang="zh-CN" altLang="zh-CN" sz="2400" dirty="0"/>
                  <a:t>。</a:t>
                </a:r>
              </a:p>
              <a:p>
                <a:pPr marL="0" indent="457200">
                  <a:buNone/>
                </a:pPr>
                <a:endParaRPr lang="zh-CN" altLang="en-US" sz="2400" dirty="0">
                  <a:latin typeface="宋体" pitchFamily="2" charset="-122"/>
                  <a:ea typeface="宋体" pitchFamily="2" charset="-122"/>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47428" y="1124744"/>
                <a:ext cx="10601349" cy="5361460"/>
              </a:xfrm>
              <a:blipFill rotWithShape="1">
                <a:blip r:embed="rId1"/>
                <a:stretch>
                  <a:fillRect l="-863" t="-910" r="-403" b="-2617"/>
                </a:stretch>
              </a:blipFill>
            </p:spPr>
            <p:txBody>
              <a:bodyPr/>
              <a:lstStyle/>
              <a:p>
                <a:r>
                  <a:rPr lang="zh-CN" altLang="en-US">
                    <a:noFill/>
                  </a:rPr>
                  <a:t> </a:t>
                </a:r>
                <a:endParaRPr lang="zh-CN" altLang="en-US">
                  <a:noFill/>
                </a:endParaRPr>
              </a:p>
            </p:txBody>
          </p:sp>
        </mc:Fallback>
      </mc:AlternateContent>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5</a:t>
            </a:r>
            <a:r>
              <a:rPr lang="en-US" altLang="zh-CN" dirty="0" smtClean="0">
                <a:solidFill>
                  <a:schemeClr val="accent2"/>
                </a:solidFill>
              </a:rPr>
              <a:t> </a:t>
            </a:r>
            <a:endParaRPr lang="zh-CN" altLang="en-US" dirty="0">
              <a:solidFill>
                <a:schemeClr val="accent2"/>
              </a:solidFill>
            </a:endParaRPr>
          </a:p>
        </p:txBody>
      </p:sp>
      <p:sp>
        <p:nvSpPr>
          <p:cNvPr id="5" name="TextBox 4"/>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5.5.1 </a:t>
            </a:r>
            <a:r>
              <a:rPr lang="zh-CN" altLang="en-US" sz="2800" dirty="0">
                <a:solidFill>
                  <a:schemeClr val="accent2"/>
                </a:solidFill>
                <a:latin typeface="微软雅黑" panose="020B0503020204020204" pitchFamily="34" charset="-122"/>
                <a:ea typeface="微软雅黑" panose="020B0503020204020204" pitchFamily="34" charset="-122"/>
              </a:rPr>
              <a:t>神经网络的模拟思路</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25625" y="1052737"/>
                <a:ext cx="10601349" cy="5073428"/>
              </a:xfrm>
            </p:spPr>
            <p:txBody>
              <a:bodyPr/>
              <a:lstStyle/>
              <a:p>
                <a:pPr marL="0" indent="0">
                  <a:buNone/>
                </a:pPr>
                <a:r>
                  <a:rPr lang="zh-CN" altLang="zh-CN" sz="2400" dirty="0">
                    <a:latin typeface="宋体" pitchFamily="2" charset="-122"/>
                    <a:ea typeface="宋体" pitchFamily="2" charset="-122"/>
                  </a:rPr>
                  <a:t>（</a:t>
                </a:r>
                <a:r>
                  <a:rPr lang="en-US" altLang="zh-CN" sz="2400" dirty="0">
                    <a:latin typeface="宋体" pitchFamily="2" charset="-122"/>
                    <a:ea typeface="宋体" pitchFamily="2" charset="-122"/>
                  </a:rPr>
                  <a:t>1</a:t>
                </a:r>
                <a:r>
                  <a:rPr lang="zh-CN" altLang="zh-CN" sz="2400" dirty="0">
                    <a:latin typeface="宋体" pitchFamily="2" charset="-122"/>
                    <a:ea typeface="宋体" pitchFamily="2" charset="-122"/>
                  </a:rPr>
                  <a:t>）取</a:t>
                </a:r>
                <a:r>
                  <a:rPr lang="en-US" altLang="zh-CN" sz="2400" dirty="0">
                    <a:latin typeface="宋体" pitchFamily="2" charset="-122"/>
                    <a:ea typeface="宋体" pitchFamily="2" charset="-122"/>
                  </a:rPr>
                  <a:t> </a:t>
                </a:r>
                <a14:m>
                  <m:oMath xmlns:m="http://schemas.openxmlformats.org/officeDocument/2006/math">
                    <m:nary>
                      <m:naryPr>
                        <m:chr m:val="∑"/>
                        <m:subHide m:val="on"/>
                        <m:supHide m:val="on"/>
                        <m:ctrlPr>
                          <a:rPr lang="en-US" altLang="zh-CN" sz="2400" i="1" smtClean="0">
                            <a:latin typeface="Cambria Math"/>
                            <a:ea typeface="宋体" pitchFamily="2" charset="-122"/>
                          </a:rPr>
                        </m:ctrlPr>
                      </m:naryPr>
                      <m:sub/>
                      <m:sup/>
                      <m:e>
                        <m:r>
                          <a:rPr lang="en-US" altLang="zh-CN" sz="2400" b="0" i="1" smtClean="0">
                            <a:latin typeface="Cambria Math"/>
                            <a:ea typeface="宋体" pitchFamily="2" charset="-122"/>
                          </a:rPr>
                          <m:t>=1</m:t>
                        </m:r>
                      </m:e>
                    </m:nary>
                  </m:oMath>
                </a14:m>
                <a:r>
                  <a:rPr lang="zh-CN" altLang="zh-CN" sz="2400" dirty="0">
                    <a:latin typeface="宋体" pitchFamily="2" charset="-122"/>
                    <a:ea typeface="宋体" pitchFamily="2" charset="-122"/>
                  </a:rPr>
                  <a:t>，这时判别正确率应该非常低</a:t>
                </a:r>
              </a:p>
              <a:p>
                <a:pPr marL="0" indent="0">
                  <a:buNone/>
                </a:pPr>
                <a:r>
                  <a:rPr lang="zh-CN" altLang="zh-CN" sz="2400" dirty="0">
                    <a:latin typeface="宋体" pitchFamily="2" charset="-122"/>
                    <a:ea typeface="宋体" pitchFamily="2" charset="-122"/>
                  </a:rPr>
                  <a:t>（</a:t>
                </a:r>
                <a:r>
                  <a:rPr lang="en-US" altLang="zh-CN" sz="2400" dirty="0">
                    <a:latin typeface="宋体" pitchFamily="2" charset="-122"/>
                    <a:ea typeface="宋体" pitchFamily="2" charset="-122"/>
                  </a:rPr>
                  <a:t>2</a:t>
                </a:r>
                <a:r>
                  <a:rPr lang="zh-CN" altLang="zh-CN" sz="2400" dirty="0">
                    <a:latin typeface="宋体" pitchFamily="2" charset="-122"/>
                    <a:ea typeface="宋体" pitchFamily="2" charset="-122"/>
                  </a:rPr>
                  <a:t>）取值依次增加，假设</a:t>
                </a:r>
                <a14:m>
                  <m:oMath xmlns:m="http://schemas.openxmlformats.org/officeDocument/2006/math">
                    <m:r>
                      <a:rPr lang="zh-CN" altLang="en-US" sz="2400" i="1" smtClean="0">
                        <a:latin typeface="Cambria Math"/>
                        <a:ea typeface="宋体" pitchFamily="2" charset="-122"/>
                      </a:rPr>
                      <m:t>𝜃</m:t>
                    </m:r>
                    <m:r>
                      <a:rPr lang="en-US" altLang="zh-CN" sz="2400" b="0" i="1" smtClean="0">
                        <a:latin typeface="Cambria Math"/>
                        <a:ea typeface="宋体" pitchFamily="2" charset="-122"/>
                      </a:rPr>
                      <m:t>=12  </m:t>
                    </m:r>
                  </m:oMath>
                </a14:m>
                <a:r>
                  <a:rPr lang="zh-CN" altLang="zh-CN" sz="2400" dirty="0">
                    <a:latin typeface="宋体" pitchFamily="2" charset="-122"/>
                    <a:ea typeface="宋体" pitchFamily="2" charset="-122"/>
                  </a:rPr>
                  <a:t>时候为最大，达到</a:t>
                </a:r>
                <a:r>
                  <a:rPr lang="en-US" altLang="zh-CN" sz="2400" dirty="0">
                    <a:latin typeface="宋体" pitchFamily="2" charset="-122"/>
                    <a:ea typeface="宋体" pitchFamily="2" charset="-122"/>
                  </a:rPr>
                  <a:t>95%</a:t>
                </a:r>
                <a:r>
                  <a:rPr lang="zh-CN" altLang="zh-CN" sz="2400" dirty="0">
                    <a:latin typeface="宋体" pitchFamily="2" charset="-122"/>
                    <a:ea typeface="宋体" pitchFamily="2" charset="-122"/>
                  </a:rPr>
                  <a:t>，当</a:t>
                </a:r>
                <a14:m>
                  <m:oMath xmlns:m="http://schemas.openxmlformats.org/officeDocument/2006/math">
                    <m:r>
                      <a:rPr lang="zh-CN" altLang="en-US" sz="2400" i="1" smtClean="0">
                        <a:latin typeface="Cambria Math"/>
                        <a:ea typeface="宋体" pitchFamily="2" charset="-122"/>
                      </a:rPr>
                      <m:t>𝜃</m:t>
                    </m:r>
                    <m:r>
                      <a:rPr lang="en-US" altLang="zh-CN" sz="2400" b="0" i="1" smtClean="0">
                        <a:latin typeface="Cambria Math"/>
                        <a:ea typeface="宋体" pitchFamily="2" charset="-122"/>
                      </a:rPr>
                      <m:t>&gt;12</m:t>
                    </m:r>
                  </m:oMath>
                </a14:m>
                <a:r>
                  <a:rPr lang="zh-CN" altLang="zh-CN" sz="2400" dirty="0">
                    <a:latin typeface="宋体" pitchFamily="2" charset="-122"/>
                    <a:ea typeface="宋体" pitchFamily="2" charset="-122"/>
                  </a:rPr>
                  <a:t>时判别的正确率开始下降，故可以认为</a:t>
                </a:r>
                <a14:m>
                  <m:oMath xmlns:m="http://schemas.openxmlformats.org/officeDocument/2006/math">
                    <m:r>
                      <a:rPr lang="zh-CN" altLang="en-US" sz="2400" i="1" smtClean="0">
                        <a:latin typeface="Cambria Math"/>
                        <a:ea typeface="宋体" pitchFamily="2" charset="-122"/>
                      </a:rPr>
                      <m:t>𝜃</m:t>
                    </m:r>
                    <m:r>
                      <a:rPr lang="en-US" altLang="zh-CN" sz="2400" b="0" i="1" smtClean="0">
                        <a:latin typeface="Cambria Math"/>
                        <a:ea typeface="宋体" pitchFamily="2" charset="-122"/>
                      </a:rPr>
                      <m:t>=12  </m:t>
                    </m:r>
                  </m:oMath>
                </a14:m>
                <a:r>
                  <a:rPr lang="zh-CN" altLang="zh-CN" sz="2400" dirty="0">
                    <a:latin typeface="宋体" pitchFamily="2" charset="-122"/>
                    <a:ea typeface="宋体" pitchFamily="2" charset="-122"/>
                  </a:rPr>
                  <a:t>时达到判别正确率最大。这个时候，</a:t>
                </a:r>
                <a:r>
                  <a:rPr lang="en-US" altLang="zh-CN" sz="2400" dirty="0">
                    <a:latin typeface="宋体" pitchFamily="2" charset="-122"/>
                    <a:ea typeface="宋体" pitchFamily="2" charset="-122"/>
                  </a:rPr>
                  <a:t>95%</a:t>
                </a:r>
                <a:r>
                  <a:rPr lang="zh-CN" altLang="zh-CN" sz="2400" dirty="0">
                    <a:latin typeface="宋体" pitchFamily="2" charset="-122"/>
                    <a:ea typeface="宋体" pitchFamily="2" charset="-122"/>
                  </a:rPr>
                  <a:t>的男孩对应的函数值为</a:t>
                </a:r>
                <a:r>
                  <a:rPr lang="en-US" altLang="zh-CN" sz="2400" dirty="0">
                    <a:latin typeface="宋体" pitchFamily="2" charset="-122"/>
                    <a:ea typeface="宋体" pitchFamily="2" charset="-122"/>
                  </a:rPr>
                  <a:t>0,</a:t>
                </a:r>
                <a:r>
                  <a:rPr lang="zh-CN" altLang="zh-CN" sz="2400" dirty="0">
                    <a:latin typeface="宋体" pitchFamily="2" charset="-122"/>
                    <a:ea typeface="宋体" pitchFamily="2" charset="-122"/>
                  </a:rPr>
                  <a:t>同样</a:t>
                </a:r>
                <a:r>
                  <a:rPr lang="en-US" altLang="zh-CN" sz="2400" dirty="0">
                    <a:latin typeface="宋体" pitchFamily="2" charset="-122"/>
                    <a:ea typeface="宋体" pitchFamily="2" charset="-122"/>
                  </a:rPr>
                  <a:t>95%</a:t>
                </a:r>
                <a:r>
                  <a:rPr lang="zh-CN" altLang="zh-CN" sz="2400" dirty="0">
                    <a:latin typeface="宋体" pitchFamily="2" charset="-122"/>
                    <a:ea typeface="宋体" pitchFamily="2" charset="-122"/>
                  </a:rPr>
                  <a:t>的女孩对应的函数值为</a:t>
                </a:r>
                <a:r>
                  <a:rPr lang="en-US" altLang="zh-CN" sz="2400" dirty="0">
                    <a:latin typeface="宋体" pitchFamily="2" charset="-122"/>
                    <a:ea typeface="宋体" pitchFamily="2" charset="-122"/>
                  </a:rPr>
                  <a:t>1</a:t>
                </a:r>
                <a:r>
                  <a:rPr lang="zh-CN" altLang="zh-CN" sz="2400" dirty="0">
                    <a:latin typeface="宋体" pitchFamily="2" charset="-122"/>
                    <a:ea typeface="宋体" pitchFamily="2" charset="-122"/>
                  </a:rPr>
                  <a:t>。如果选用这个模型进行判别，其准确率达</a:t>
                </a:r>
                <a:r>
                  <a:rPr lang="en-US" altLang="zh-CN" sz="2400" dirty="0">
                    <a:latin typeface="宋体" pitchFamily="2" charset="-122"/>
                    <a:ea typeface="宋体" pitchFamily="2" charset="-122"/>
                  </a:rPr>
                  <a:t>95%</a:t>
                </a:r>
                <a:r>
                  <a:rPr lang="zh-CN" altLang="zh-CN" sz="2400" dirty="0">
                    <a:latin typeface="宋体" pitchFamily="2" charset="-122"/>
                    <a:ea typeface="宋体" pitchFamily="2" charset="-122"/>
                  </a:rPr>
                  <a:t>。</a:t>
                </a:r>
              </a:p>
              <a:p>
                <a:pPr marL="0" indent="0">
                  <a:buNone/>
                </a:pPr>
                <a:r>
                  <a:rPr lang="zh-CN" altLang="zh-CN" sz="2400" dirty="0">
                    <a:latin typeface="宋体" pitchFamily="2" charset="-122"/>
                    <a:ea typeface="宋体" pitchFamily="2" charset="-122"/>
                  </a:rPr>
                  <a:t>以上两步训练完成即得到参数</a:t>
                </a:r>
                <a:r>
                  <a:rPr lang="en-US" altLang="zh-CN" sz="2400" dirty="0">
                    <a:latin typeface="宋体" pitchFamily="2" charset="-122"/>
                    <a:ea typeface="宋体" pitchFamily="2" charset="-122"/>
                  </a:rPr>
                  <a:t> =12</a:t>
                </a:r>
                <a:r>
                  <a:rPr lang="zh-CN" altLang="zh-CN" sz="2400" dirty="0">
                    <a:latin typeface="宋体" pitchFamily="2" charset="-122"/>
                    <a:ea typeface="宋体" pitchFamily="2" charset="-122"/>
                  </a:rPr>
                  <a:t>，有</a:t>
                </a:r>
                <a:r>
                  <a:rPr lang="en-US" altLang="zh-CN" sz="2400" dirty="0">
                    <a:latin typeface="宋体" pitchFamily="2" charset="-122"/>
                    <a:ea typeface="宋体" pitchFamily="2" charset="-122"/>
                  </a:rPr>
                  <a:t>95%</a:t>
                </a:r>
                <a:r>
                  <a:rPr lang="zh-CN" altLang="zh-CN" sz="2400" dirty="0">
                    <a:latin typeface="宋体" pitchFamily="2" charset="-122"/>
                    <a:ea typeface="宋体" pitchFamily="2" charset="-122"/>
                  </a:rPr>
                  <a:t>的可能性输出</a:t>
                </a:r>
                <a:r>
                  <a:rPr lang="en-US" altLang="zh-CN" sz="2400" dirty="0">
                    <a:latin typeface="宋体" pitchFamily="2" charset="-122"/>
                    <a:ea typeface="宋体" pitchFamily="2" charset="-122"/>
                  </a:rPr>
                  <a:t>1</a:t>
                </a:r>
                <a:r>
                  <a:rPr lang="zh-CN" altLang="zh-CN" sz="2400" dirty="0">
                    <a:latin typeface="宋体" pitchFamily="2" charset="-122"/>
                    <a:ea typeface="宋体" pitchFamily="2" charset="-122"/>
                  </a:rPr>
                  <a:t>表示判别为女孩，输出</a:t>
                </a:r>
                <a:r>
                  <a:rPr lang="en-US" altLang="zh-CN" sz="2400" dirty="0">
                    <a:latin typeface="宋体" pitchFamily="2" charset="-122"/>
                    <a:ea typeface="宋体" pitchFamily="2" charset="-122"/>
                  </a:rPr>
                  <a:t>0</a:t>
                </a:r>
                <a:r>
                  <a:rPr lang="zh-CN" altLang="zh-CN" sz="2400" dirty="0">
                    <a:latin typeface="宋体" pitchFamily="2" charset="-122"/>
                    <a:ea typeface="宋体" pitchFamily="2" charset="-122"/>
                  </a:rPr>
                  <a:t>判别为男孩。</a:t>
                </a:r>
              </a:p>
              <a:p>
                <a:pPr marL="0" indent="457200">
                  <a:buNone/>
                </a:pPr>
                <a:r>
                  <a:rPr lang="en-US" altLang="zh-CN" sz="2400" dirty="0">
                    <a:latin typeface="宋体" pitchFamily="2" charset="-122"/>
                    <a:ea typeface="宋体" pitchFamily="2" charset="-122"/>
                  </a:rPr>
                  <a:t> </a:t>
                </a:r>
                <a:r>
                  <a:rPr lang="zh-CN" altLang="zh-CN" sz="2400" dirty="0">
                    <a:latin typeface="宋体" pitchFamily="2" charset="-122"/>
                    <a:ea typeface="宋体" pitchFamily="2" charset="-122"/>
                  </a:rPr>
                  <a:t>以上的分析只是便于理解，实际情况中比这复杂得多，人脑由上亿个神经元组成，其网络结构也非常复杂。借鉴人脑的工作机理和活动规律，简化其网络结构，并用数学模型来模拟，从而提出了神经网络模型，比较常用的如</a:t>
                </a:r>
                <a:r>
                  <a:rPr lang="en-US" altLang="zh-CN" sz="2400" dirty="0">
                    <a:latin typeface="宋体" pitchFamily="2" charset="-122"/>
                    <a:ea typeface="宋体" pitchFamily="2" charset="-122"/>
                  </a:rPr>
                  <a:t>BP</a:t>
                </a:r>
                <a:r>
                  <a:rPr lang="zh-CN" altLang="zh-CN" sz="2400" dirty="0">
                    <a:latin typeface="宋体" pitchFamily="2" charset="-122"/>
                    <a:ea typeface="宋体" pitchFamily="2" charset="-122"/>
                  </a:rPr>
                  <a:t>神经网络模型</a:t>
                </a: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25625" y="1052737"/>
                <a:ext cx="10601349" cy="5073428"/>
              </a:xfrm>
              <a:blipFill rotWithShape="1">
                <a:blip r:embed="rId1"/>
                <a:stretch>
                  <a:fillRect l="-862" t="-11659" r="-345"/>
                </a:stretch>
              </a:blipFill>
            </p:spPr>
            <p:txBody>
              <a:bodyPr/>
              <a:lstStyle/>
              <a:p>
                <a:r>
                  <a:rPr lang="zh-CN" altLang="en-US">
                    <a:noFill/>
                  </a:rPr>
                  <a:t> </a:t>
                </a:r>
                <a:endParaRPr lang="zh-CN" altLang="en-US">
                  <a:noFill/>
                </a:endParaRPr>
              </a:p>
            </p:txBody>
          </p:sp>
        </mc:Fallback>
      </mc:AlternateContent>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5</a:t>
            </a:r>
            <a:r>
              <a:rPr lang="en-US" altLang="zh-CN" dirty="0" smtClean="0">
                <a:solidFill>
                  <a:schemeClr val="accent2"/>
                </a:solidFill>
              </a:rPr>
              <a:t> </a:t>
            </a:r>
            <a:endParaRPr lang="zh-CN" altLang="en-US" dirty="0">
              <a:solidFill>
                <a:schemeClr val="accent2"/>
              </a:solidFill>
            </a:endParaRPr>
          </a:p>
        </p:txBody>
      </p:sp>
      <p:sp>
        <p:nvSpPr>
          <p:cNvPr id="5" name="TextBox 4"/>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5.5.1 </a:t>
            </a:r>
            <a:r>
              <a:rPr lang="zh-CN" altLang="en-US" sz="2800" dirty="0">
                <a:solidFill>
                  <a:schemeClr val="accent2"/>
                </a:solidFill>
                <a:latin typeface="微软雅黑" panose="020B0503020204020204" pitchFamily="34" charset="-122"/>
                <a:ea typeface="微软雅黑" panose="020B0503020204020204" pitchFamily="34" charset="-122"/>
              </a:rPr>
              <a:t>神经网络的模拟思路</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5625" y="1124409"/>
            <a:ext cx="10601349" cy="432717"/>
          </a:xfrm>
        </p:spPr>
        <p:txBody>
          <a:bodyPr/>
          <a:lstStyle/>
          <a:p>
            <a:r>
              <a:rPr lang="zh-CN" altLang="zh-CN" dirty="0"/>
              <a:t>这里介绍目前常用的</a:t>
            </a:r>
            <a:r>
              <a:rPr lang="en-US" altLang="zh-CN" dirty="0"/>
              <a:t>BP</a:t>
            </a:r>
            <a:r>
              <a:rPr lang="zh-CN" altLang="zh-CN" dirty="0"/>
              <a:t>神经网络，其网络结构及数学模型如下：</a:t>
            </a:r>
            <a:br>
              <a:rPr lang="zh-CN" altLang="zh-CN" dirty="0"/>
            </a:br>
            <a:endParaRPr lang="zh-CN" altLang="en-US" dirty="0"/>
          </a:p>
        </p:txBody>
      </p:sp>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5</a:t>
            </a:r>
            <a:r>
              <a:rPr lang="en-US" altLang="zh-CN" dirty="0" smtClean="0">
                <a:solidFill>
                  <a:schemeClr val="accent2"/>
                </a:solidFill>
              </a:rPr>
              <a:t> </a:t>
            </a:r>
            <a:endParaRPr lang="zh-CN" altLang="en-US" dirty="0">
              <a:solidFill>
                <a:schemeClr val="accent2"/>
              </a:solidFill>
            </a:endParaRPr>
          </a:p>
        </p:txBody>
      </p:sp>
      <p:sp>
        <p:nvSpPr>
          <p:cNvPr id="5" name="TextBox 4"/>
          <p:cNvSpPr txBox="1"/>
          <p:nvPr/>
        </p:nvSpPr>
        <p:spPr>
          <a:xfrm>
            <a:off x="1330765" y="44625"/>
            <a:ext cx="555970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5.5.2  </a:t>
            </a:r>
            <a:r>
              <a:rPr lang="zh-CN" altLang="en-US" sz="2800" dirty="0">
                <a:solidFill>
                  <a:schemeClr val="accent2"/>
                </a:solidFill>
                <a:latin typeface="微软雅黑" panose="020B0503020204020204" pitchFamily="34" charset="-122"/>
                <a:ea typeface="微软雅黑" panose="020B0503020204020204" pitchFamily="34" charset="-122"/>
              </a:rPr>
              <a:t>神经网络结构及数学模型</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pic>
        <p:nvPicPr>
          <p:cNvPr id="2050" name="Picture 2"/>
          <p:cNvPicPr>
            <a:picLocks noGrp="1" noChangeAspect="1" noChangeArrowheads="1"/>
          </p:cNvPicPr>
          <p:nvPr>
            <p:ph idx="1"/>
          </p:nvPr>
        </p:nvPicPr>
        <p:blipFill>
          <a:blip r:embed="rId1">
            <a:extLst>
              <a:ext uri="{BEBA8EAE-BF5A-486C-A8C5-ECC9F3942E4B}">
                <a14:imgProps xmlns:a14="http://schemas.microsoft.com/office/drawing/2010/main">
                  <a14:imgLayer r:embed="rId2">
                    <a14:imgEffect>
                      <a14:brightnessContrast contrast="-20000"/>
                    </a14:imgEffect>
                    <a14:imgEffect>
                      <a14:colorTemperature colorTemp="7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637752" y="1800400"/>
            <a:ext cx="6840759" cy="263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a14="http://schemas.microsoft.com/office/drawing/2010/main" Requires="a14">
          <p:sp>
            <p:nvSpPr>
              <p:cNvPr id="19" name="TextBox 18"/>
              <p:cNvSpPr txBox="1"/>
              <p:nvPr/>
            </p:nvSpPr>
            <p:spPr>
              <a:xfrm>
                <a:off x="985813" y="4437112"/>
                <a:ext cx="10225136" cy="1569660"/>
              </a:xfrm>
              <a:prstGeom prst="rect">
                <a:avLst/>
              </a:prstGeom>
              <a:noFill/>
            </p:spPr>
            <p:txBody>
              <a:bodyPr wrap="square" rtlCol="0">
                <a:spAutoFit/>
              </a:bodyPr>
              <a:lstStyle/>
              <a:p>
                <a14:m>
                  <m:oMath xmlns:m="http://schemas.openxmlformats.org/officeDocument/2006/math">
                    <m:r>
                      <a:rPr lang="en-US" altLang="zh-CN" sz="2400" b="0" i="1" smtClean="0">
                        <a:solidFill>
                          <a:schemeClr val="accent1"/>
                        </a:solidFill>
                        <a:latin typeface="Cambria Math"/>
                      </a:rPr>
                      <m:t>𝑥</m:t>
                    </m:r>
                  </m:oMath>
                </a14:m>
                <a:r>
                  <a:rPr lang="en-US" altLang="zh-CN" sz="2400" dirty="0" err="1">
                    <a:solidFill>
                      <a:schemeClr val="accent1"/>
                    </a:solidFill>
                    <a:latin typeface="宋体" pitchFamily="2" charset="-122"/>
                  </a:rPr>
                  <a:t>为</a:t>
                </a:r>
                <a14:m>
                  <m:oMath xmlns:m="http://schemas.openxmlformats.org/officeDocument/2006/math">
                    <m:r>
                      <a:rPr lang="en-US" altLang="zh-CN" sz="2400" b="0" i="0" dirty="0" smtClean="0">
                        <a:solidFill>
                          <a:schemeClr val="accent1"/>
                        </a:solidFill>
                        <a:latin typeface="Cambria Math"/>
                      </a:rPr>
                      <m:t> </m:t>
                    </m:r>
                    <m:r>
                      <a:rPr lang="en-US" altLang="zh-CN" sz="2400" b="0" i="1" dirty="0" smtClean="0">
                        <a:solidFill>
                          <a:schemeClr val="accent1"/>
                        </a:solidFill>
                        <a:latin typeface="Cambria Math"/>
                      </a:rPr>
                      <m:t>𝑛</m:t>
                    </m:r>
                    <m:r>
                      <a:rPr lang="en-US" altLang="zh-CN" sz="2400" b="0" i="1" dirty="0" smtClean="0">
                        <a:solidFill>
                          <a:schemeClr val="accent1"/>
                        </a:solidFill>
                        <a:latin typeface="Cambria Math"/>
                      </a:rPr>
                      <m:t> </m:t>
                    </m:r>
                  </m:oMath>
                </a14:m>
                <a:r>
                  <a:rPr lang="en-US" altLang="zh-CN" sz="2400" dirty="0" err="1">
                    <a:solidFill>
                      <a:schemeClr val="accent1"/>
                    </a:solidFill>
                    <a:latin typeface="宋体" pitchFamily="2" charset="-122"/>
                  </a:rPr>
                  <a:t>维向量</a:t>
                </a:r>
                <a:r>
                  <a:rPr lang="en-US" altLang="zh-CN" sz="2400" dirty="0">
                    <a:solidFill>
                      <a:schemeClr val="accent1"/>
                    </a:solidFill>
                    <a:latin typeface="宋体" pitchFamily="2" charset="-122"/>
                  </a:rPr>
                  <a:t>， </a:t>
                </a:r>
                <a14:m>
                  <m:oMath xmlns:m="http://schemas.openxmlformats.org/officeDocument/2006/math">
                    <m:r>
                      <a:rPr lang="en-US" altLang="zh-CN" sz="2400" b="0" i="1" smtClean="0">
                        <a:solidFill>
                          <a:schemeClr val="accent1"/>
                        </a:solidFill>
                        <a:latin typeface="Cambria Math"/>
                      </a:rPr>
                      <m:t>𝑦</m:t>
                    </m:r>
                    <m:r>
                      <a:rPr lang="en-US" altLang="zh-CN" sz="2400" b="0" i="0" smtClean="0">
                        <a:solidFill>
                          <a:schemeClr val="accent1"/>
                        </a:solidFill>
                        <a:latin typeface="Cambria Math"/>
                      </a:rPr>
                      <m:t> </m:t>
                    </m:r>
                  </m:oMath>
                </a14:m>
                <a:r>
                  <a:rPr lang="en-US" altLang="zh-CN" sz="2400" dirty="0">
                    <a:solidFill>
                      <a:schemeClr val="accent1"/>
                    </a:solidFill>
                    <a:latin typeface="宋体" pitchFamily="2" charset="-122"/>
                  </a:rPr>
                  <a:t>为</a:t>
                </a:r>
                <a14:m>
                  <m:oMath xmlns:m="http://schemas.openxmlformats.org/officeDocument/2006/math">
                    <m:r>
                      <a:rPr lang="en-US" altLang="zh-CN" sz="2400" b="0" i="0" smtClean="0">
                        <a:solidFill>
                          <a:schemeClr val="accent1"/>
                        </a:solidFill>
                        <a:latin typeface="Cambria Math"/>
                      </a:rPr>
                      <m:t> </m:t>
                    </m:r>
                    <m:r>
                      <a:rPr lang="en-US" altLang="zh-CN" sz="2400" b="0" i="1" smtClean="0">
                        <a:solidFill>
                          <a:schemeClr val="accent1"/>
                        </a:solidFill>
                        <a:latin typeface="Cambria Math"/>
                      </a:rPr>
                      <m:t>𝑛</m:t>
                    </m:r>
                    <m:r>
                      <a:rPr lang="en-US" altLang="zh-CN" sz="2400" b="0" i="1" smtClean="0">
                        <a:solidFill>
                          <a:schemeClr val="accent1"/>
                        </a:solidFill>
                        <a:latin typeface="Cambria Math"/>
                      </a:rPr>
                      <m:t> </m:t>
                    </m:r>
                  </m:oMath>
                </a14:m>
                <a:r>
                  <a:rPr lang="en-US" altLang="zh-CN" sz="2400" dirty="0">
                    <a:solidFill>
                      <a:schemeClr val="accent1"/>
                    </a:solidFill>
                    <a:latin typeface="宋体" pitchFamily="2" charset="-122"/>
                  </a:rPr>
                  <a:t>维向量</a:t>
                </a:r>
                <a:r>
                  <a:rPr lang="en-US" altLang="zh-CN" sz="2400" dirty="0" err="1">
                    <a:solidFill>
                      <a:schemeClr val="accent1"/>
                    </a:solidFill>
                    <a:latin typeface="宋体" pitchFamily="2" charset="-122"/>
                  </a:rPr>
                  <a:t>，隐含层有</a:t>
                </a:r>
                <a14:m>
                  <m:oMath xmlns:m="http://schemas.openxmlformats.org/officeDocument/2006/math">
                    <m:r>
                      <a:rPr lang="en-US" altLang="zh-CN" sz="2400" b="0" i="0" smtClean="0">
                        <a:solidFill>
                          <a:schemeClr val="accent1"/>
                        </a:solidFill>
                        <a:latin typeface="Cambria Math"/>
                      </a:rPr>
                      <m:t> </m:t>
                    </m:r>
                    <m:r>
                      <a:rPr lang="en-US" altLang="zh-CN" sz="2400" b="0" i="1" smtClean="0">
                        <a:solidFill>
                          <a:schemeClr val="accent1"/>
                        </a:solidFill>
                        <a:latin typeface="Cambria Math"/>
                      </a:rPr>
                      <m:t>𝑞</m:t>
                    </m:r>
                    <m:r>
                      <a:rPr lang="en-US" altLang="zh-CN" sz="2400" b="0" i="1" smtClean="0">
                        <a:solidFill>
                          <a:schemeClr val="accent1"/>
                        </a:solidFill>
                        <a:latin typeface="Cambria Math"/>
                      </a:rPr>
                      <m:t> </m:t>
                    </m:r>
                  </m:oMath>
                </a14:m>
                <a:r>
                  <a:rPr lang="en-US" altLang="zh-CN" sz="2400" dirty="0" err="1">
                    <a:solidFill>
                      <a:schemeClr val="accent1"/>
                    </a:solidFill>
                    <a:latin typeface="宋体" pitchFamily="2" charset="-122"/>
                  </a:rPr>
                  <a:t>个神经元</a:t>
                </a:r>
                <a:r>
                  <a:rPr lang="en-US" altLang="zh-CN" sz="2400" dirty="0">
                    <a:solidFill>
                      <a:schemeClr val="accent1"/>
                    </a:solidFill>
                    <a:latin typeface="宋体" pitchFamily="2" charset="-122"/>
                  </a:rPr>
                  <a:t>。</a:t>
                </a:r>
                <a:r>
                  <a:rPr lang="zh-CN" altLang="zh-CN" sz="2400" dirty="0">
                    <a:solidFill>
                      <a:schemeClr val="accent1"/>
                    </a:solidFill>
                    <a:latin typeface="宋体" pitchFamily="2" charset="-122"/>
                  </a:rPr>
                  <a:t>假设</a:t>
                </a:r>
                <a14:m>
                  <m:oMath xmlns:m="http://schemas.openxmlformats.org/officeDocument/2006/math">
                    <m:r>
                      <a:rPr lang="en-US" altLang="zh-CN" sz="2400" b="0" i="0" smtClean="0">
                        <a:solidFill>
                          <a:schemeClr val="accent1"/>
                        </a:solidFill>
                        <a:latin typeface="Cambria Math"/>
                      </a:rPr>
                      <m:t> </m:t>
                    </m:r>
                    <m:r>
                      <a:rPr lang="en-US" altLang="zh-CN" sz="2400" b="0" i="1" smtClean="0">
                        <a:solidFill>
                          <a:schemeClr val="accent1"/>
                        </a:solidFill>
                        <a:latin typeface="Cambria Math"/>
                      </a:rPr>
                      <m:t>𝑁</m:t>
                    </m:r>
                    <m:r>
                      <a:rPr lang="en-US" altLang="zh-CN" sz="2400" b="0" i="1" smtClean="0">
                        <a:solidFill>
                          <a:schemeClr val="accent1"/>
                        </a:solidFill>
                        <a:latin typeface="Cambria Math"/>
                      </a:rPr>
                      <m:t> </m:t>
                    </m:r>
                  </m:oMath>
                </a14:m>
                <a:r>
                  <a:rPr lang="zh-CN" altLang="zh-CN" sz="2400" dirty="0">
                    <a:solidFill>
                      <a:schemeClr val="accent1"/>
                    </a:solidFill>
                    <a:latin typeface="宋体" pitchFamily="2" charset="-122"/>
                  </a:rPr>
                  <a:t>有个样本数据，</a:t>
                </a:r>
                <a14:m>
                  <m:oMath xmlns:m="http://schemas.openxmlformats.org/officeDocument/2006/math">
                    <m:d>
                      <m:dPr>
                        <m:begChr m:val="{"/>
                        <m:endChr m:val="}"/>
                        <m:ctrlPr>
                          <a:rPr lang="en-US" altLang="zh-CN" sz="2400" i="1" smtClean="0">
                            <a:solidFill>
                              <a:schemeClr val="accent1"/>
                            </a:solidFill>
                            <a:latin typeface="Cambria Math"/>
                          </a:rPr>
                        </m:ctrlPr>
                      </m:dPr>
                      <m:e>
                        <m:r>
                          <a:rPr lang="en-US" altLang="zh-CN" sz="2400" b="0" i="1" smtClean="0">
                            <a:solidFill>
                              <a:schemeClr val="accent1"/>
                            </a:solidFill>
                            <a:latin typeface="Cambria Math"/>
                          </a:rPr>
                          <m:t>𝑦</m:t>
                        </m:r>
                        <m:d>
                          <m:dPr>
                            <m:ctrlPr>
                              <a:rPr lang="en-US" altLang="zh-CN" sz="2400" b="0" i="1" smtClean="0">
                                <a:solidFill>
                                  <a:schemeClr val="accent1"/>
                                </a:solidFill>
                                <a:latin typeface="Cambria Math"/>
                              </a:rPr>
                            </m:ctrlPr>
                          </m:dPr>
                          <m:e>
                            <m:r>
                              <a:rPr lang="en-US" altLang="zh-CN" sz="2400" b="0" i="1" smtClean="0">
                                <a:solidFill>
                                  <a:schemeClr val="accent1"/>
                                </a:solidFill>
                                <a:latin typeface="Cambria Math"/>
                              </a:rPr>
                              <m:t>𝑡</m:t>
                            </m:r>
                          </m:e>
                        </m:d>
                        <m:r>
                          <a:rPr lang="en-US" altLang="zh-CN" sz="2400" b="0" i="1" smtClean="0">
                            <a:solidFill>
                              <a:schemeClr val="accent1"/>
                            </a:solidFill>
                            <a:latin typeface="Cambria Math"/>
                          </a:rPr>
                          <m:t>,</m:t>
                        </m:r>
                        <m:r>
                          <a:rPr lang="en-US" altLang="zh-CN" sz="2400" b="0" i="1" smtClean="0">
                            <a:solidFill>
                              <a:schemeClr val="accent1"/>
                            </a:solidFill>
                            <a:latin typeface="Cambria Math"/>
                          </a:rPr>
                          <m:t>𝑥</m:t>
                        </m:r>
                        <m:d>
                          <m:dPr>
                            <m:ctrlPr>
                              <a:rPr lang="en-US" altLang="zh-CN" sz="2400" b="0" i="1" smtClean="0">
                                <a:solidFill>
                                  <a:schemeClr val="accent1"/>
                                </a:solidFill>
                                <a:latin typeface="Cambria Math"/>
                              </a:rPr>
                            </m:ctrlPr>
                          </m:dPr>
                          <m:e>
                            <m:r>
                              <a:rPr lang="en-US" altLang="zh-CN" sz="2400" b="0" i="1" smtClean="0">
                                <a:solidFill>
                                  <a:schemeClr val="accent1"/>
                                </a:solidFill>
                                <a:latin typeface="Cambria Math"/>
                              </a:rPr>
                              <m:t>𝑡</m:t>
                            </m:r>
                          </m:e>
                        </m:d>
                        <m:r>
                          <a:rPr lang="en-US" altLang="zh-CN" sz="2400" b="0" i="1" smtClean="0">
                            <a:solidFill>
                              <a:schemeClr val="accent1"/>
                            </a:solidFill>
                            <a:latin typeface="Cambria Math"/>
                          </a:rPr>
                          <m:t>,</m:t>
                        </m:r>
                        <m:r>
                          <a:rPr lang="en-US" altLang="zh-CN" sz="2400" b="0" i="1" smtClean="0">
                            <a:solidFill>
                              <a:schemeClr val="accent1"/>
                            </a:solidFill>
                            <a:latin typeface="Cambria Math"/>
                          </a:rPr>
                          <m:t>𝑡</m:t>
                        </m:r>
                        <m:r>
                          <a:rPr lang="en-US" altLang="zh-CN" sz="2400" b="0" i="1" smtClean="0">
                            <a:solidFill>
                              <a:schemeClr val="accent1"/>
                            </a:solidFill>
                            <a:latin typeface="Cambria Math"/>
                          </a:rPr>
                          <m:t>=1,2,…</m:t>
                        </m:r>
                        <m:r>
                          <a:rPr lang="en-US" altLang="zh-CN" sz="2400" b="0" i="1" smtClean="0">
                            <a:solidFill>
                              <a:schemeClr val="accent1"/>
                            </a:solidFill>
                            <a:latin typeface="Cambria Math"/>
                          </a:rPr>
                          <m:t>𝑁</m:t>
                        </m:r>
                      </m:e>
                    </m:d>
                  </m:oMath>
                </a14:m>
                <a:r>
                  <a:rPr lang="zh-CN" altLang="zh-CN" sz="2400" dirty="0">
                    <a:solidFill>
                      <a:schemeClr val="accent1"/>
                    </a:solidFill>
                    <a:latin typeface="宋体" pitchFamily="2" charset="-122"/>
                  </a:rPr>
                  <a:t>。从输入层到隐含层的权重记为：</a:t>
                </a:r>
                <a:r>
                  <a:rPr lang="en-US" altLang="zh-CN" sz="2400" dirty="0">
                    <a:solidFill>
                      <a:schemeClr val="accent1"/>
                    </a:solidFill>
                    <a:latin typeface="宋体" pitchFamily="2" charset="-122"/>
                  </a:rPr>
                  <a:t> </a:t>
                </a:r>
                <a14:m>
                  <m:oMath xmlns:m="http://schemas.openxmlformats.org/officeDocument/2006/math">
                    <m:sSub>
                      <m:sSubPr>
                        <m:ctrlPr>
                          <a:rPr lang="en-US" altLang="zh-CN" sz="2400" i="1" smtClean="0">
                            <a:solidFill>
                              <a:schemeClr val="accent1"/>
                            </a:solidFill>
                            <a:latin typeface="Cambria Math"/>
                          </a:rPr>
                        </m:ctrlPr>
                      </m:sSubPr>
                      <m:e>
                        <m:r>
                          <a:rPr lang="en-US" altLang="zh-CN" sz="2400" b="0" i="1" smtClean="0">
                            <a:solidFill>
                              <a:schemeClr val="accent1"/>
                            </a:solidFill>
                            <a:latin typeface="Cambria Math"/>
                          </a:rPr>
                          <m:t>𝑊</m:t>
                        </m:r>
                      </m:e>
                      <m:sub>
                        <m:r>
                          <a:rPr lang="en-US" altLang="zh-CN" sz="2400" b="0" i="1" smtClean="0">
                            <a:solidFill>
                              <a:schemeClr val="accent1"/>
                            </a:solidFill>
                            <a:latin typeface="Cambria Math"/>
                          </a:rPr>
                          <m:t>𝑘𝑖</m:t>
                        </m:r>
                      </m:sub>
                    </m:sSub>
                    <m:r>
                      <a:rPr lang="en-US" altLang="zh-CN" sz="2400" b="0" i="1" smtClean="0">
                        <a:solidFill>
                          <a:schemeClr val="accent1"/>
                        </a:solidFill>
                        <a:latin typeface="Cambria Math"/>
                      </a:rPr>
                      <m:t>(</m:t>
                    </m:r>
                    <m:r>
                      <a:rPr lang="en-US" altLang="zh-CN" sz="2400" b="0" i="1" smtClean="0">
                        <a:solidFill>
                          <a:schemeClr val="accent1"/>
                        </a:solidFill>
                        <a:latin typeface="Cambria Math"/>
                      </a:rPr>
                      <m:t>𝑘</m:t>
                    </m:r>
                    <m:r>
                      <a:rPr lang="en-US" altLang="zh-CN" sz="2400" b="0" i="1" smtClean="0">
                        <a:solidFill>
                          <a:schemeClr val="accent1"/>
                        </a:solidFill>
                        <a:latin typeface="Cambria Math"/>
                      </a:rPr>
                      <m:t>=1,2,..,</m:t>
                    </m:r>
                    <m:r>
                      <a:rPr lang="en-US" altLang="zh-CN" sz="2400" b="0" i="1" smtClean="0">
                        <a:solidFill>
                          <a:schemeClr val="accent1"/>
                        </a:solidFill>
                        <a:latin typeface="Cambria Math"/>
                      </a:rPr>
                      <m:t>𝑞</m:t>
                    </m:r>
                    <m:r>
                      <a:rPr lang="en-US" altLang="zh-CN" sz="2400" b="0" i="1" smtClean="0">
                        <a:solidFill>
                          <a:schemeClr val="accent1"/>
                        </a:solidFill>
                        <a:latin typeface="Cambria Math"/>
                      </a:rPr>
                      <m:t>,</m:t>
                    </m:r>
                    <m:r>
                      <a:rPr lang="en-US" altLang="zh-CN" sz="2400" b="0" i="1" smtClean="0">
                        <a:solidFill>
                          <a:schemeClr val="accent1"/>
                        </a:solidFill>
                        <a:latin typeface="Cambria Math"/>
                      </a:rPr>
                      <m:t>𝑖</m:t>
                    </m:r>
                    <m:r>
                      <a:rPr lang="en-US" altLang="zh-CN" sz="2400" b="0" i="1" smtClean="0">
                        <a:solidFill>
                          <a:schemeClr val="accent1"/>
                        </a:solidFill>
                        <a:latin typeface="Cambria Math"/>
                      </a:rPr>
                      <m:t>=1,2,…</m:t>
                    </m:r>
                    <m:r>
                      <a:rPr lang="en-US" altLang="zh-CN" sz="2400" b="0" i="1" smtClean="0">
                        <a:solidFill>
                          <a:schemeClr val="accent1"/>
                        </a:solidFill>
                        <a:latin typeface="Cambria Math"/>
                      </a:rPr>
                      <m:t>𝑛</m:t>
                    </m:r>
                    <m:r>
                      <a:rPr lang="en-US" altLang="zh-CN" sz="2400" b="0" i="1" smtClean="0">
                        <a:solidFill>
                          <a:schemeClr val="accent1"/>
                        </a:solidFill>
                        <a:latin typeface="Cambria Math"/>
                      </a:rPr>
                      <m:t>)</m:t>
                    </m:r>
                  </m:oMath>
                </a14:m>
                <a:r>
                  <a:rPr lang="zh-CN" altLang="zh-CN" sz="2400" dirty="0">
                    <a:solidFill>
                      <a:schemeClr val="accent1"/>
                    </a:solidFill>
                    <a:latin typeface="宋体" pitchFamily="2" charset="-122"/>
                  </a:rPr>
                  <a:t>，从隐含层到输出层的权重记为：</a:t>
                </a:r>
                <a14:m>
                  <m:oMath xmlns:m="http://schemas.openxmlformats.org/officeDocument/2006/math">
                    <m:sSub>
                      <m:sSubPr>
                        <m:ctrlPr>
                          <a:rPr lang="en-US" altLang="zh-CN" sz="2400" i="1" smtClean="0">
                            <a:solidFill>
                              <a:schemeClr val="accent1"/>
                            </a:solidFill>
                            <a:latin typeface="Cambria Math"/>
                          </a:rPr>
                        </m:ctrlPr>
                      </m:sSubPr>
                      <m:e>
                        <m:r>
                          <a:rPr lang="en-US" altLang="zh-CN" sz="2400" b="0" i="1" smtClean="0">
                            <a:solidFill>
                              <a:schemeClr val="accent1"/>
                            </a:solidFill>
                            <a:latin typeface="Cambria Math"/>
                          </a:rPr>
                          <m:t>𝑊</m:t>
                        </m:r>
                      </m:e>
                      <m:sub>
                        <m:r>
                          <a:rPr lang="en-US" altLang="zh-CN" sz="2400" b="0" i="1" smtClean="0">
                            <a:solidFill>
                              <a:schemeClr val="accent1"/>
                            </a:solidFill>
                            <a:latin typeface="Cambria Math"/>
                          </a:rPr>
                          <m:t>𝑘𝑖</m:t>
                        </m:r>
                      </m:sub>
                    </m:sSub>
                    <m:d>
                      <m:dPr>
                        <m:ctrlPr>
                          <a:rPr lang="en-US" altLang="zh-CN" sz="2400" b="0" i="1" smtClean="0">
                            <a:solidFill>
                              <a:schemeClr val="accent1"/>
                            </a:solidFill>
                            <a:latin typeface="Cambria Math"/>
                          </a:rPr>
                        </m:ctrlPr>
                      </m:dPr>
                      <m:e>
                        <m:r>
                          <a:rPr lang="en-US" altLang="zh-CN" sz="2400" b="0" i="1" smtClean="0">
                            <a:solidFill>
                              <a:schemeClr val="accent1"/>
                            </a:solidFill>
                            <a:latin typeface="Cambria Math"/>
                          </a:rPr>
                          <m:t>𝑘</m:t>
                        </m:r>
                        <m:r>
                          <a:rPr lang="en-US" altLang="zh-CN" sz="2400" b="0" i="1" smtClean="0">
                            <a:solidFill>
                              <a:schemeClr val="accent1"/>
                            </a:solidFill>
                            <a:latin typeface="Cambria Math"/>
                          </a:rPr>
                          <m:t>=1,2,…</m:t>
                        </m:r>
                        <m:r>
                          <a:rPr lang="en-US" altLang="zh-CN" sz="2400" b="0" i="1" smtClean="0">
                            <a:solidFill>
                              <a:schemeClr val="accent1"/>
                            </a:solidFill>
                            <a:latin typeface="Cambria Math"/>
                          </a:rPr>
                          <m:t>𝑞</m:t>
                        </m:r>
                        <m:r>
                          <a:rPr lang="en-US" altLang="zh-CN" sz="2400" b="0" i="1" smtClean="0">
                            <a:solidFill>
                              <a:schemeClr val="accent1"/>
                            </a:solidFill>
                            <a:latin typeface="Cambria Math"/>
                          </a:rPr>
                          <m:t>,</m:t>
                        </m:r>
                        <m:r>
                          <a:rPr lang="en-US" altLang="zh-CN" sz="2400" b="0" i="1" smtClean="0">
                            <a:solidFill>
                              <a:schemeClr val="accent1"/>
                            </a:solidFill>
                            <a:latin typeface="Cambria Math"/>
                          </a:rPr>
                          <m:t>𝑖</m:t>
                        </m:r>
                        <m:r>
                          <a:rPr lang="en-US" altLang="zh-CN" sz="2400" b="0" i="1" smtClean="0">
                            <a:solidFill>
                              <a:schemeClr val="accent1"/>
                            </a:solidFill>
                            <a:latin typeface="Cambria Math"/>
                          </a:rPr>
                          <m:t>=1,2,…</m:t>
                        </m:r>
                        <m:r>
                          <a:rPr lang="en-US" altLang="zh-CN" sz="2400" b="0" i="1" smtClean="0">
                            <a:solidFill>
                              <a:schemeClr val="accent1"/>
                            </a:solidFill>
                            <a:latin typeface="Cambria Math"/>
                          </a:rPr>
                          <m:t>𝑛</m:t>
                        </m:r>
                      </m:e>
                    </m:d>
                    <m:r>
                      <a:rPr lang="en-US" altLang="zh-CN" sz="2400" b="0" i="0" smtClean="0">
                        <a:solidFill>
                          <a:schemeClr val="accent1"/>
                        </a:solidFill>
                        <a:latin typeface="Cambria Math"/>
                      </a:rPr>
                      <m:t> </m:t>
                    </m:r>
                  </m:oMath>
                </a14:m>
                <a:r>
                  <a:rPr lang="zh-CN" altLang="en-US" sz="2000" dirty="0">
                    <a:solidFill>
                      <a:schemeClr val="accent1"/>
                    </a:solidFill>
                    <a:latin typeface="宋体" pitchFamily="2" charset="-122"/>
                  </a:rPr>
                  <a:t>。</a:t>
                </a:r>
              </a:p>
            </p:txBody>
          </p:sp>
        </mc:Choice>
        <mc:Fallback>
          <p:sp>
            <p:nvSpPr>
              <p:cNvPr id="19" name="TextBox 18"/>
              <p:cNvSpPr txBox="1">
                <a:spLocks noRot="1" noChangeAspect="1" noMove="1" noResize="1" noEditPoints="1" noAdjustHandles="1" noChangeArrowheads="1" noChangeShapeType="1" noTextEdit="1"/>
              </p:cNvSpPr>
              <p:nvPr/>
            </p:nvSpPr>
            <p:spPr>
              <a:xfrm>
                <a:off x="985813" y="4437112"/>
                <a:ext cx="10225136" cy="1569660"/>
              </a:xfrm>
              <a:prstGeom prst="rect">
                <a:avLst/>
              </a:prstGeom>
              <a:blipFill rotWithShape="1">
                <a:blip r:embed="rId3"/>
                <a:stretch>
                  <a:fillRect l="-954" t="-4280" b="-4280"/>
                </a:stretch>
              </a:blipFill>
            </p:spPr>
            <p:txBody>
              <a:bodyPr/>
              <a:lstStyle/>
              <a:p>
                <a:r>
                  <a:rPr lang="zh-CN" altLang="en-US">
                    <a:noFill/>
                  </a:rPr>
                  <a:t> </a:t>
                </a:r>
                <a:endParaRPr lang="zh-CN" altLang="en-US">
                  <a:noFill/>
                </a:endParaRPr>
              </a:p>
            </p:txBody>
          </p:sp>
        </mc:Fallback>
      </mc:AlternateContent>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25625" y="980729"/>
                <a:ext cx="10601349" cy="5145436"/>
              </a:xfrm>
            </p:spPr>
            <p:txBody>
              <a:bodyPr/>
              <a:lstStyle/>
              <a:p>
                <a:pPr marL="0" indent="0">
                  <a:buNone/>
                </a:pPr>
                <a:r>
                  <a:rPr lang="zh-CN" altLang="zh-CN" dirty="0"/>
                  <a:t>记第</a:t>
                </a:r>
                <a:r>
                  <a:rPr lang="en-US" altLang="zh-CN" dirty="0"/>
                  <a:t>t</a:t>
                </a:r>
                <a:r>
                  <a:rPr lang="zh-CN" altLang="zh-CN" dirty="0"/>
                  <a:t>个样本</a:t>
                </a:r>
                <a14:m>
                  <m:oMath xmlns:m="http://schemas.openxmlformats.org/officeDocument/2006/math">
                    <m:r>
                      <m:rPr>
                        <m:sty m:val="p"/>
                      </m:rPr>
                      <a:rPr lang="en-US" altLang="zh-CN" dirty="0">
                        <a:latin typeface="Cambria Math"/>
                      </a:rPr>
                      <m:t>x</m:t>
                    </m:r>
                    <m:d>
                      <m:dPr>
                        <m:ctrlPr>
                          <a:rPr lang="en-US" altLang="zh-CN" b="0" i="1" dirty="0" smtClean="0">
                            <a:latin typeface="Cambria Math"/>
                          </a:rPr>
                        </m:ctrlPr>
                      </m:dPr>
                      <m:e>
                        <m:r>
                          <m:rPr>
                            <m:sty m:val="p"/>
                          </m:rPr>
                          <a:rPr lang="en-US" altLang="zh-CN" b="0" i="0" dirty="0" smtClean="0">
                            <a:latin typeface="Cambria Math"/>
                          </a:rPr>
                          <m:t>t</m:t>
                        </m:r>
                      </m:e>
                    </m:d>
                    <m:r>
                      <a:rPr lang="en-US" altLang="zh-CN" b="0" i="0" dirty="0" smtClean="0">
                        <a:latin typeface="Cambria Math"/>
                      </a:rPr>
                      <m:t>={</m:t>
                    </m:r>
                    <m:sSub>
                      <m:sSubPr>
                        <m:ctrlPr>
                          <a:rPr lang="en-US" altLang="zh-CN" b="0" i="1" dirty="0" smtClean="0">
                            <a:latin typeface="Cambria Math"/>
                          </a:rPr>
                        </m:ctrlPr>
                      </m:sSubPr>
                      <m:e>
                        <m:r>
                          <a:rPr lang="en-US" altLang="zh-CN" b="0" i="1" dirty="0" smtClean="0">
                            <a:latin typeface="Cambria Math"/>
                          </a:rPr>
                          <m:t>𝑥</m:t>
                        </m:r>
                      </m:e>
                      <m:sub>
                        <m:r>
                          <a:rPr lang="en-US" altLang="zh-CN" b="0" i="1" dirty="0" smtClean="0">
                            <a:latin typeface="Cambria Math"/>
                          </a:rPr>
                          <m:t>1</m:t>
                        </m:r>
                      </m:sub>
                    </m:sSub>
                    <m:d>
                      <m:dPr>
                        <m:ctrlPr>
                          <a:rPr lang="en-US" altLang="zh-CN" b="0" i="1" dirty="0" smtClean="0">
                            <a:latin typeface="Cambria Math"/>
                          </a:rPr>
                        </m:ctrlPr>
                      </m:dPr>
                      <m:e>
                        <m:r>
                          <a:rPr lang="en-US" altLang="zh-CN" b="0" i="1" dirty="0" smtClean="0">
                            <a:latin typeface="Cambria Math"/>
                          </a:rPr>
                          <m:t>𝑡</m:t>
                        </m:r>
                      </m:e>
                    </m:d>
                    <m:r>
                      <a:rPr lang="en-US" altLang="zh-CN" b="0" i="1" dirty="0" smtClean="0">
                        <a:latin typeface="Cambria Math"/>
                      </a:rPr>
                      <m:t>,</m:t>
                    </m:r>
                    <m:sSub>
                      <m:sSubPr>
                        <m:ctrlPr>
                          <a:rPr lang="en-US" altLang="zh-CN" b="0" i="1" dirty="0" smtClean="0">
                            <a:latin typeface="Cambria Math"/>
                          </a:rPr>
                        </m:ctrlPr>
                      </m:sSubPr>
                      <m:e>
                        <m:r>
                          <a:rPr lang="en-US" altLang="zh-CN" b="0" i="1" dirty="0" smtClean="0">
                            <a:latin typeface="Cambria Math"/>
                          </a:rPr>
                          <m:t>𝑥</m:t>
                        </m:r>
                      </m:e>
                      <m:sub>
                        <m:r>
                          <a:rPr lang="en-US" altLang="zh-CN" b="0" i="1" dirty="0" smtClean="0">
                            <a:latin typeface="Cambria Math"/>
                          </a:rPr>
                          <m:t>2</m:t>
                        </m:r>
                      </m:sub>
                    </m:sSub>
                    <m:d>
                      <m:dPr>
                        <m:ctrlPr>
                          <a:rPr lang="en-US" altLang="zh-CN" b="0" i="1" dirty="0" smtClean="0">
                            <a:latin typeface="Cambria Math"/>
                          </a:rPr>
                        </m:ctrlPr>
                      </m:dPr>
                      <m:e>
                        <m:r>
                          <a:rPr lang="en-US" altLang="zh-CN" b="0" i="1" dirty="0" smtClean="0">
                            <a:latin typeface="Cambria Math"/>
                          </a:rPr>
                          <m:t>𝑡</m:t>
                        </m:r>
                      </m:e>
                    </m:d>
                    <m:r>
                      <a:rPr lang="en-US" altLang="zh-CN" b="0" i="1" dirty="0" smtClean="0">
                        <a:latin typeface="Cambria Math"/>
                      </a:rPr>
                      <m:t>,…</m:t>
                    </m:r>
                    <m:sSub>
                      <m:sSubPr>
                        <m:ctrlPr>
                          <a:rPr lang="en-US" altLang="zh-CN" b="0" i="1" dirty="0" smtClean="0">
                            <a:latin typeface="Cambria Math"/>
                          </a:rPr>
                        </m:ctrlPr>
                      </m:sSubPr>
                      <m:e>
                        <m:r>
                          <a:rPr lang="en-US" altLang="zh-CN" b="0" i="1" dirty="0" smtClean="0">
                            <a:latin typeface="Cambria Math"/>
                          </a:rPr>
                          <m:t>𝑥</m:t>
                        </m:r>
                      </m:e>
                      <m:sub>
                        <m:r>
                          <a:rPr lang="en-US" altLang="zh-CN" b="0" i="1" dirty="0" smtClean="0">
                            <a:latin typeface="Cambria Math"/>
                          </a:rPr>
                          <m:t>𝑚</m:t>
                        </m:r>
                      </m:sub>
                    </m:sSub>
                    <m:r>
                      <a:rPr lang="en-US" altLang="zh-CN" b="0" i="1" dirty="0" smtClean="0">
                        <a:latin typeface="Cambria Math"/>
                      </a:rPr>
                      <m:t>(</m:t>
                    </m:r>
                    <m:r>
                      <a:rPr lang="en-US" altLang="zh-CN" b="0" i="1" dirty="0" smtClean="0">
                        <a:latin typeface="Cambria Math"/>
                      </a:rPr>
                      <m:t>𝑡</m:t>
                    </m:r>
                    <m:r>
                      <a:rPr lang="en-US" altLang="zh-CN" b="0" i="1" dirty="0" smtClean="0">
                        <a:latin typeface="Cambria Math"/>
                      </a:rPr>
                      <m:t>)</m:t>
                    </m:r>
                    <m:r>
                      <a:rPr lang="en-US" altLang="zh-CN" b="0" i="0" dirty="0" smtClean="0">
                        <a:latin typeface="Cambria Math"/>
                      </a:rPr>
                      <m:t>}</m:t>
                    </m:r>
                  </m:oMath>
                </a14:m>
                <a:r>
                  <a:rPr lang="en-US" altLang="zh-CN" dirty="0"/>
                  <a:t> </a:t>
                </a:r>
                <a:r>
                  <a:rPr lang="zh-CN" altLang="zh-CN" dirty="0"/>
                  <a:t>输入网络时，隐含层单元的输出为</a:t>
                </a:r>
                <a14:m>
                  <m:oMath xmlns:m="http://schemas.openxmlformats.org/officeDocument/2006/math">
                    <m:sSub>
                      <m:sSubPr>
                        <m:ctrlPr>
                          <a:rPr lang="en-US" altLang="zh-CN" i="1" smtClean="0">
                            <a:latin typeface="Cambria Math"/>
                          </a:rPr>
                        </m:ctrlPr>
                      </m:sSubPr>
                      <m:e>
                        <m:r>
                          <a:rPr lang="en-US" altLang="zh-CN" b="0" i="1" smtClean="0">
                            <a:latin typeface="Cambria Math"/>
                          </a:rPr>
                          <m:t>𝐻</m:t>
                        </m:r>
                      </m:e>
                      <m:sub>
                        <m:r>
                          <a:rPr lang="en-US" altLang="zh-CN" b="0" i="1" smtClean="0">
                            <a:latin typeface="Cambria Math"/>
                          </a:rPr>
                          <m:t>𝑘</m:t>
                        </m:r>
                      </m:sub>
                    </m:sSub>
                    <m:r>
                      <a:rPr lang="en-US" altLang="zh-CN" b="0" i="1" smtClean="0">
                        <a:latin typeface="Cambria Math"/>
                      </a:rPr>
                      <m:t>(</m:t>
                    </m:r>
                    <m:r>
                      <a:rPr lang="en-US" altLang="zh-CN" b="0" i="1" smtClean="0">
                        <a:latin typeface="Cambria Math"/>
                      </a:rPr>
                      <m:t>𝑡</m:t>
                    </m:r>
                    <m:r>
                      <a:rPr lang="en-US" altLang="zh-CN" b="0" i="1" smtClean="0">
                        <a:latin typeface="Cambria Math"/>
                      </a:rPr>
                      <m:t>)(</m:t>
                    </m:r>
                    <m:r>
                      <a:rPr lang="en-US" altLang="zh-CN" b="0" i="1" smtClean="0">
                        <a:latin typeface="Cambria Math"/>
                      </a:rPr>
                      <m:t>𝑘</m:t>
                    </m:r>
                    <m:r>
                      <a:rPr lang="en-US" altLang="zh-CN" b="0" i="1" smtClean="0">
                        <a:latin typeface="Cambria Math"/>
                      </a:rPr>
                      <m:t>=1,2,..</m:t>
                    </m:r>
                    <m:r>
                      <a:rPr lang="en-US" altLang="zh-CN" b="0" i="1" smtClean="0">
                        <a:latin typeface="Cambria Math"/>
                      </a:rPr>
                      <m:t>𝑞</m:t>
                    </m:r>
                    <m:r>
                      <a:rPr lang="en-US" altLang="zh-CN" b="0" i="1" smtClean="0">
                        <a:latin typeface="Cambria Math"/>
                      </a:rPr>
                      <m:t>)</m:t>
                    </m:r>
                  </m:oMath>
                </a14:m>
                <a:r>
                  <a:rPr lang="en-US" altLang="zh-CN" dirty="0"/>
                  <a:t> </a:t>
                </a:r>
                <a:r>
                  <a:rPr lang="zh-CN" altLang="zh-CN" dirty="0"/>
                  <a:t>，输出层单元的输出为</a:t>
                </a:r>
                <a:r>
                  <a:rPr lang="en-US" altLang="zh-CN" dirty="0"/>
                  <a:t> </a:t>
                </a:r>
                <a14:m>
                  <m:oMath xmlns:m="http://schemas.openxmlformats.org/officeDocument/2006/math">
                    <m:acc>
                      <m:accPr>
                        <m:chr m:val="̂"/>
                        <m:ctrlPr>
                          <a:rPr lang="en-US" altLang="zh-CN" i="1" smtClean="0">
                            <a:latin typeface="Cambria Math"/>
                          </a:rPr>
                        </m:ctrlPr>
                      </m:accPr>
                      <m:e>
                        <m:r>
                          <a:rPr lang="en-US" altLang="zh-CN" b="0" i="1" smtClean="0">
                            <a:latin typeface="Cambria Math"/>
                          </a:rPr>
                          <m:t>𝑓</m:t>
                        </m:r>
                      </m:e>
                    </m:acc>
                    <m:d>
                      <m:dPr>
                        <m:ctrlPr>
                          <a:rPr lang="en-US" altLang="zh-CN" b="0" i="1" smtClean="0">
                            <a:latin typeface="Cambria Math"/>
                          </a:rPr>
                        </m:ctrlPr>
                      </m:dPr>
                      <m:e>
                        <m:r>
                          <a:rPr lang="en-US" altLang="zh-CN" b="0" i="1" smtClean="0">
                            <a:latin typeface="Cambria Math"/>
                          </a:rPr>
                          <m:t>𝑡</m:t>
                        </m:r>
                      </m:e>
                    </m:d>
                    <m:r>
                      <a:rPr lang="en-US" altLang="zh-CN" b="0" i="1" smtClean="0">
                        <a:latin typeface="Cambria Math"/>
                      </a:rPr>
                      <m:t>={</m:t>
                    </m:r>
                    <m:sSub>
                      <m:sSubPr>
                        <m:ctrlPr>
                          <a:rPr lang="en-US" altLang="zh-CN" b="1" i="1" smtClean="0">
                            <a:latin typeface="Cambria Math"/>
                          </a:rPr>
                        </m:ctrlPr>
                      </m:sSubPr>
                      <m:e>
                        <m:acc>
                          <m:accPr>
                            <m:chr m:val="̂"/>
                            <m:ctrlPr>
                              <a:rPr lang="en-US" altLang="zh-CN" b="1" i="1" smtClean="0">
                                <a:latin typeface="Cambria Math"/>
                              </a:rPr>
                            </m:ctrlPr>
                          </m:accPr>
                          <m:e>
                            <m:r>
                              <a:rPr lang="en-US" altLang="zh-CN" b="1" i="1" smtClean="0">
                                <a:latin typeface="Cambria Math"/>
                              </a:rPr>
                              <m:t>𝒇</m:t>
                            </m:r>
                          </m:e>
                        </m:acc>
                      </m:e>
                      <m:sub>
                        <m:r>
                          <a:rPr lang="en-US" altLang="zh-CN" b="1" i="1" smtClean="0">
                            <a:latin typeface="Cambria Math"/>
                          </a:rPr>
                          <m:t>𝟏</m:t>
                        </m:r>
                      </m:sub>
                    </m:sSub>
                    <m:d>
                      <m:dPr>
                        <m:ctrlPr>
                          <a:rPr lang="en-US" altLang="zh-CN" b="1" i="1" smtClean="0">
                            <a:latin typeface="Cambria Math"/>
                          </a:rPr>
                        </m:ctrlPr>
                      </m:dPr>
                      <m:e>
                        <m:r>
                          <a:rPr lang="en-US" altLang="zh-CN" b="1" i="1" smtClean="0">
                            <a:latin typeface="Cambria Math"/>
                          </a:rPr>
                          <m:t>𝒕</m:t>
                        </m:r>
                      </m:e>
                    </m:d>
                    <m:r>
                      <a:rPr lang="en-US" altLang="zh-CN" b="1" i="1" smtClean="0">
                        <a:latin typeface="Cambria Math"/>
                      </a:rPr>
                      <m:t>.</m:t>
                    </m:r>
                    <m:sSub>
                      <m:sSubPr>
                        <m:ctrlPr>
                          <a:rPr lang="en-US" altLang="zh-CN" b="1" i="1">
                            <a:latin typeface="Cambria Math"/>
                          </a:rPr>
                        </m:ctrlPr>
                      </m:sSubPr>
                      <m:e>
                        <m:acc>
                          <m:accPr>
                            <m:chr m:val="̂"/>
                            <m:ctrlPr>
                              <a:rPr lang="en-US" altLang="zh-CN" b="1" i="1">
                                <a:latin typeface="Cambria Math"/>
                              </a:rPr>
                            </m:ctrlPr>
                          </m:accPr>
                          <m:e>
                            <m:r>
                              <a:rPr lang="en-US" altLang="zh-CN" b="1" i="1">
                                <a:latin typeface="Cambria Math"/>
                              </a:rPr>
                              <m:t>𝒇</m:t>
                            </m:r>
                          </m:e>
                        </m:acc>
                      </m:e>
                      <m:sub>
                        <m:r>
                          <a:rPr lang="en-US" altLang="zh-CN" b="1" i="1" smtClean="0">
                            <a:latin typeface="Cambria Math"/>
                          </a:rPr>
                          <m:t>𝟐</m:t>
                        </m:r>
                      </m:sub>
                    </m:sSub>
                    <m:d>
                      <m:dPr>
                        <m:ctrlPr>
                          <a:rPr lang="en-US" altLang="zh-CN" b="1" i="1">
                            <a:latin typeface="Cambria Math"/>
                          </a:rPr>
                        </m:ctrlPr>
                      </m:dPr>
                      <m:e>
                        <m:r>
                          <a:rPr lang="en-US" altLang="zh-CN" b="1" i="1">
                            <a:latin typeface="Cambria Math"/>
                          </a:rPr>
                          <m:t>𝒕</m:t>
                        </m:r>
                      </m:e>
                    </m:d>
                    <m:r>
                      <a:rPr lang="en-US" altLang="zh-CN" b="1" i="1" smtClean="0">
                        <a:latin typeface="Cambria Math"/>
                      </a:rPr>
                      <m:t>,…</m:t>
                    </m:r>
                    <m:sSub>
                      <m:sSubPr>
                        <m:ctrlPr>
                          <a:rPr lang="en-US" altLang="zh-CN" b="1" i="1">
                            <a:latin typeface="Cambria Math"/>
                          </a:rPr>
                        </m:ctrlPr>
                      </m:sSubPr>
                      <m:e>
                        <m:acc>
                          <m:accPr>
                            <m:chr m:val="̂"/>
                            <m:ctrlPr>
                              <a:rPr lang="en-US" altLang="zh-CN" b="1" i="1">
                                <a:latin typeface="Cambria Math"/>
                              </a:rPr>
                            </m:ctrlPr>
                          </m:accPr>
                          <m:e>
                            <m:r>
                              <a:rPr lang="en-US" altLang="zh-CN" b="1" i="1">
                                <a:latin typeface="Cambria Math"/>
                              </a:rPr>
                              <m:t>𝒇</m:t>
                            </m:r>
                          </m:e>
                        </m:acc>
                      </m:e>
                      <m:sub>
                        <m:r>
                          <a:rPr lang="en-US" altLang="zh-CN" b="1" i="1" smtClean="0">
                            <a:latin typeface="Cambria Math"/>
                          </a:rPr>
                          <m:t>𝒎</m:t>
                        </m:r>
                      </m:sub>
                    </m:sSub>
                    <m:d>
                      <m:dPr>
                        <m:ctrlPr>
                          <a:rPr lang="en-US" altLang="zh-CN" b="1" i="1">
                            <a:latin typeface="Cambria Math"/>
                          </a:rPr>
                        </m:ctrlPr>
                      </m:dPr>
                      <m:e>
                        <m:r>
                          <a:rPr lang="en-US" altLang="zh-CN" b="1" i="1">
                            <a:latin typeface="Cambria Math"/>
                          </a:rPr>
                          <m:t>𝒕</m:t>
                        </m:r>
                      </m:e>
                    </m:d>
                    <m:r>
                      <a:rPr lang="en-US" altLang="zh-CN" b="1" i="1" smtClean="0">
                        <a:latin typeface="Cambria Math"/>
                      </a:rPr>
                      <m:t>}</m:t>
                    </m:r>
                  </m:oMath>
                </a14:m>
                <a:r>
                  <a:rPr lang="zh-CN" altLang="zh-CN" dirty="0"/>
                  <a:t>，即：</a:t>
                </a:r>
                <a:endParaRPr lang="en-US" altLang="zh-CN" dirty="0"/>
              </a:p>
              <a:p>
                <a:pPr marL="0" indent="0">
                  <a:buNone/>
                </a:pP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a:rPr>
                          </m:ctrlPr>
                        </m:sSubPr>
                        <m:e>
                          <m:r>
                            <a:rPr lang="en-US" altLang="zh-CN" b="0" i="1" smtClean="0">
                              <a:latin typeface="Cambria Math"/>
                            </a:rPr>
                            <m:t>𝐻</m:t>
                          </m:r>
                        </m:e>
                        <m:sub>
                          <m:r>
                            <a:rPr lang="en-US" altLang="zh-CN" b="0" i="1" smtClean="0">
                              <a:latin typeface="Cambria Math"/>
                            </a:rPr>
                            <m:t>𝑘</m:t>
                          </m:r>
                        </m:sub>
                      </m:sSub>
                      <m:d>
                        <m:dPr>
                          <m:ctrlPr>
                            <a:rPr lang="en-US" altLang="zh-CN" b="0" i="1" smtClean="0">
                              <a:latin typeface="Cambria Math"/>
                            </a:rPr>
                          </m:ctrlPr>
                        </m:dPr>
                        <m:e>
                          <m:r>
                            <a:rPr lang="en-US" altLang="zh-CN" b="0" i="1" smtClean="0">
                              <a:latin typeface="Cambria Math"/>
                            </a:rPr>
                            <m:t>𝑡</m:t>
                          </m:r>
                        </m:e>
                      </m:d>
                      <m:r>
                        <a:rPr lang="en-US" altLang="zh-CN" b="0" i="1" smtClean="0">
                          <a:latin typeface="Cambria Math"/>
                        </a:rPr>
                        <m:t>=</m:t>
                      </m:r>
                      <m:r>
                        <a:rPr lang="en-US" altLang="zh-CN" b="0" i="1" smtClean="0">
                          <a:latin typeface="Cambria Math"/>
                        </a:rPr>
                        <m:t>𝑔</m:t>
                      </m:r>
                      <m:d>
                        <m:dPr>
                          <m:ctrlPr>
                            <a:rPr lang="en-US" altLang="zh-CN" b="0" i="1" smtClean="0">
                              <a:latin typeface="Cambria Math"/>
                            </a:rPr>
                          </m:ctrlPr>
                        </m:dPr>
                        <m:e>
                          <m:nary>
                            <m:naryPr>
                              <m:chr m:val="∑"/>
                              <m:ctrlPr>
                                <a:rPr lang="en-US" altLang="zh-CN" b="0" i="1" smtClean="0">
                                  <a:latin typeface="Cambria Math"/>
                                </a:rPr>
                              </m:ctrlPr>
                            </m:naryPr>
                            <m:sub>
                              <m:r>
                                <m:rPr>
                                  <m:brk m:alnAt="23"/>
                                </m:rPr>
                                <a:rPr lang="en-US" altLang="zh-CN" b="0" i="1" smtClean="0">
                                  <a:latin typeface="Cambria Math"/>
                                </a:rPr>
                                <m:t>𝑗</m:t>
                              </m:r>
                              <m:r>
                                <a:rPr lang="en-US" altLang="zh-CN" b="0" i="1" smtClean="0">
                                  <a:latin typeface="Cambria Math"/>
                                </a:rPr>
                                <m:t>=0</m:t>
                              </m:r>
                            </m:sub>
                            <m:sup>
                              <m:r>
                                <a:rPr lang="en-US" altLang="zh-CN" b="0" i="1" smtClean="0">
                                  <a:latin typeface="Cambria Math"/>
                                </a:rPr>
                                <m:t>𝑚</m:t>
                              </m:r>
                            </m:sup>
                            <m:e>
                              <m:sSub>
                                <m:sSubPr>
                                  <m:ctrlPr>
                                    <a:rPr lang="en-US" altLang="zh-CN" b="0" i="1" smtClean="0">
                                      <a:latin typeface="Cambria Math"/>
                                    </a:rPr>
                                  </m:ctrlPr>
                                </m:sSubPr>
                                <m:e>
                                  <m:r>
                                    <a:rPr lang="en-US" altLang="zh-CN" b="0" i="1" smtClean="0">
                                      <a:latin typeface="Cambria Math"/>
                                    </a:rPr>
                                    <m:t>𝑉</m:t>
                                  </m:r>
                                </m:e>
                                <m:sub>
                                  <m:r>
                                    <a:rPr lang="en-US" altLang="zh-CN" b="0" i="1" smtClean="0">
                                      <a:latin typeface="Cambria Math"/>
                                    </a:rPr>
                                    <m:t>𝑗𝑘</m:t>
                                  </m:r>
                                </m:sub>
                              </m:sSub>
                              <m:sSub>
                                <m:sSubPr>
                                  <m:ctrlPr>
                                    <a:rPr lang="en-US" altLang="zh-CN" b="0" i="1" smtClean="0">
                                      <a:latin typeface="Cambria Math"/>
                                    </a:rPr>
                                  </m:ctrlPr>
                                </m:sSubPr>
                                <m:e>
                                  <m:r>
                                    <a:rPr lang="en-US" altLang="zh-CN" b="0" i="1" smtClean="0">
                                      <a:latin typeface="Cambria Math"/>
                                    </a:rPr>
                                    <m:t>𝑥</m:t>
                                  </m:r>
                                </m:e>
                                <m:sub>
                                  <m:r>
                                    <a:rPr lang="en-US" altLang="zh-CN" b="0" i="1" smtClean="0">
                                      <a:latin typeface="Cambria Math"/>
                                    </a:rPr>
                                    <m:t>𝑗</m:t>
                                  </m:r>
                                </m:sub>
                              </m:sSub>
                              <m:d>
                                <m:dPr>
                                  <m:ctrlPr>
                                    <a:rPr lang="en-US" altLang="zh-CN" b="0" i="1" smtClean="0">
                                      <a:latin typeface="Cambria Math"/>
                                    </a:rPr>
                                  </m:ctrlPr>
                                </m:dPr>
                                <m:e>
                                  <m:r>
                                    <a:rPr lang="en-US" altLang="zh-CN" b="0" i="1" smtClean="0">
                                      <a:latin typeface="Cambria Math"/>
                                    </a:rPr>
                                    <m:t>𝑡</m:t>
                                  </m:r>
                                </m:e>
                              </m:d>
                            </m:e>
                          </m:nary>
                        </m:e>
                      </m:d>
                      <m:r>
                        <a:rPr lang="en-US" altLang="zh-CN" b="0" i="1" smtClean="0">
                          <a:latin typeface="Cambria Math"/>
                        </a:rPr>
                        <m:t>,</m:t>
                      </m:r>
                      <m:r>
                        <a:rPr lang="en-US" altLang="zh-CN" b="0" i="1" smtClean="0">
                          <a:latin typeface="Cambria Math"/>
                        </a:rPr>
                        <m:t>𝑘</m:t>
                      </m:r>
                      <m:r>
                        <a:rPr lang="en-US" altLang="zh-CN" b="0" i="1" smtClean="0">
                          <a:latin typeface="Cambria Math"/>
                        </a:rPr>
                        <m:t>=1,2,…</m:t>
                      </m:r>
                      <m:r>
                        <a:rPr lang="en-US" altLang="zh-CN" b="0" i="1" smtClean="0">
                          <a:latin typeface="Cambria Math"/>
                        </a:rPr>
                        <m:t>𝑞</m:t>
                      </m:r>
                    </m:oMath>
                  </m:oMathPara>
                </a14:m>
                <a:endParaRPr lang="en-US" altLang="zh-CN" dirty="0"/>
              </a:p>
              <a:p>
                <a:pPr marL="0" indent="0">
                  <a:buNone/>
                </a:pP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a:rPr>
                          </m:ctrlPr>
                        </m:sSubPr>
                        <m:e>
                          <m:acc>
                            <m:accPr>
                              <m:chr m:val="̂"/>
                              <m:ctrlPr>
                                <a:rPr lang="en-US" altLang="zh-CN" i="1" smtClean="0">
                                  <a:latin typeface="Cambria Math"/>
                                </a:rPr>
                              </m:ctrlPr>
                            </m:accPr>
                            <m:e>
                              <m:r>
                                <a:rPr lang="en-US" altLang="zh-CN" b="0" i="1" smtClean="0">
                                  <a:latin typeface="Cambria Math"/>
                                </a:rPr>
                                <m:t>𝑓</m:t>
                              </m:r>
                            </m:e>
                          </m:acc>
                        </m:e>
                        <m:sub>
                          <m:r>
                            <a:rPr lang="en-US" altLang="zh-CN" b="0" i="1" smtClean="0">
                              <a:latin typeface="Cambria Math"/>
                            </a:rPr>
                            <m:t>𝑖</m:t>
                          </m:r>
                        </m:sub>
                      </m:sSub>
                      <m:d>
                        <m:dPr>
                          <m:ctrlPr>
                            <a:rPr lang="en-US" altLang="zh-CN" i="1">
                              <a:latin typeface="Cambria Math"/>
                            </a:rPr>
                          </m:ctrlPr>
                        </m:dPr>
                        <m:e>
                          <m:r>
                            <a:rPr lang="en-US" altLang="zh-CN" i="1">
                              <a:latin typeface="Cambria Math"/>
                            </a:rPr>
                            <m:t>𝑡</m:t>
                          </m:r>
                        </m:e>
                      </m:d>
                      <m:r>
                        <a:rPr lang="en-US" altLang="zh-CN" i="1">
                          <a:latin typeface="Cambria Math"/>
                        </a:rPr>
                        <m:t>=</m:t>
                      </m:r>
                      <m:r>
                        <a:rPr lang="en-US" altLang="zh-CN" b="0" i="1" smtClean="0">
                          <a:latin typeface="Cambria Math"/>
                        </a:rPr>
                        <m:t>𝑓</m:t>
                      </m:r>
                      <m:d>
                        <m:dPr>
                          <m:ctrlPr>
                            <a:rPr lang="en-US" altLang="zh-CN" i="1">
                              <a:latin typeface="Cambria Math"/>
                            </a:rPr>
                          </m:ctrlPr>
                        </m:dPr>
                        <m:e>
                          <m:nary>
                            <m:naryPr>
                              <m:chr m:val="∑"/>
                              <m:ctrlPr>
                                <a:rPr lang="en-US" altLang="zh-CN" i="1">
                                  <a:latin typeface="Cambria Math"/>
                                </a:rPr>
                              </m:ctrlPr>
                            </m:naryPr>
                            <m:sub>
                              <m:r>
                                <a:rPr lang="en-US" altLang="zh-CN" b="0" i="1" smtClean="0">
                                  <a:latin typeface="Cambria Math"/>
                                </a:rPr>
                                <m:t>𝑘</m:t>
                              </m:r>
                              <m:r>
                                <a:rPr lang="en-US" altLang="zh-CN" i="1">
                                  <a:latin typeface="Cambria Math"/>
                                </a:rPr>
                                <m:t>=0</m:t>
                              </m:r>
                            </m:sub>
                            <m:sup>
                              <m:r>
                                <a:rPr lang="en-US" altLang="zh-CN" b="0" i="1" smtClean="0">
                                  <a:latin typeface="Cambria Math"/>
                                </a:rPr>
                                <m:t>𝑞</m:t>
                              </m:r>
                            </m:sup>
                            <m:e>
                              <m:sSub>
                                <m:sSubPr>
                                  <m:ctrlPr>
                                    <a:rPr lang="en-US" altLang="zh-CN" i="1">
                                      <a:latin typeface="Cambria Math"/>
                                    </a:rPr>
                                  </m:ctrlPr>
                                </m:sSubPr>
                                <m:e>
                                  <m:r>
                                    <a:rPr lang="en-US" altLang="zh-CN" i="1">
                                      <a:latin typeface="Cambria Math"/>
                                    </a:rPr>
                                    <m:t>𝑉</m:t>
                                  </m:r>
                                </m:e>
                                <m:sub>
                                  <m:r>
                                    <a:rPr lang="en-US" altLang="zh-CN" b="0" i="1" smtClean="0">
                                      <a:latin typeface="Cambria Math"/>
                                    </a:rPr>
                                    <m:t>𝑘𝑖</m:t>
                                  </m:r>
                                </m:sub>
                              </m:sSub>
                              <m:sSub>
                                <m:sSubPr>
                                  <m:ctrlPr>
                                    <a:rPr lang="en-US" altLang="zh-CN" i="1" smtClean="0">
                                      <a:latin typeface="Cambria Math"/>
                                    </a:rPr>
                                  </m:ctrlPr>
                                </m:sSubPr>
                                <m:e>
                                  <m:r>
                                    <a:rPr lang="en-US" altLang="zh-CN" b="0" i="1" smtClean="0">
                                      <a:latin typeface="Cambria Math"/>
                                    </a:rPr>
                                    <m:t>𝐻</m:t>
                                  </m:r>
                                </m:e>
                                <m:sub>
                                  <m:r>
                                    <a:rPr lang="en-US" altLang="zh-CN" b="0" i="1" smtClean="0">
                                      <a:latin typeface="Cambria Math"/>
                                    </a:rPr>
                                    <m:t>𝑘</m:t>
                                  </m:r>
                                </m:sub>
                              </m:sSub>
                              <m:d>
                                <m:dPr>
                                  <m:ctrlPr>
                                    <a:rPr lang="en-US" altLang="zh-CN" i="1">
                                      <a:latin typeface="Cambria Math"/>
                                    </a:rPr>
                                  </m:ctrlPr>
                                </m:dPr>
                                <m:e>
                                  <m:r>
                                    <a:rPr lang="en-US" altLang="zh-CN" i="1">
                                      <a:latin typeface="Cambria Math"/>
                                    </a:rPr>
                                    <m:t>𝑡</m:t>
                                  </m:r>
                                </m:e>
                              </m:d>
                            </m:e>
                          </m:nary>
                        </m:e>
                      </m:d>
                      <m:r>
                        <a:rPr lang="en-US" altLang="zh-CN" i="1">
                          <a:latin typeface="Cambria Math"/>
                        </a:rPr>
                        <m:t>,</m:t>
                      </m:r>
                      <m:r>
                        <a:rPr lang="en-US" altLang="zh-CN" b="0" i="1" smtClean="0">
                          <a:latin typeface="Cambria Math"/>
                        </a:rPr>
                        <m:t>𝑖</m:t>
                      </m:r>
                      <m:r>
                        <a:rPr lang="en-US" altLang="zh-CN" i="1">
                          <a:latin typeface="Cambria Math"/>
                        </a:rPr>
                        <m:t>=1,2,…</m:t>
                      </m:r>
                      <m:r>
                        <a:rPr lang="en-US" altLang="zh-CN" b="0" i="1" smtClean="0">
                          <a:latin typeface="Cambria Math"/>
                        </a:rPr>
                        <m:t>𝑛</m:t>
                      </m:r>
                    </m:oMath>
                  </m:oMathPara>
                </a14:m>
                <a:endParaRPr lang="en-US" altLang="zh-CN" dirty="0"/>
              </a:p>
              <a:p>
                <a:pPr marL="0" indent="0">
                  <a:buNone/>
                </a:pPr>
                <a:endParaRPr lang="en-US" altLang="zh-CN" dirty="0"/>
              </a:p>
              <a:p>
                <a:pPr marL="0" indent="0">
                  <a:buNone/>
                </a:pPr>
                <a:r>
                  <a:rPr lang="zh-CN" altLang="zh-CN" sz="2400" dirty="0">
                    <a:latin typeface="宋体" pitchFamily="2" charset="-122"/>
                    <a:ea typeface="宋体" pitchFamily="2" charset="-122"/>
                  </a:rPr>
                  <a:t>这里</a:t>
                </a:r>
                <a:r>
                  <a:rPr lang="en-US" altLang="zh-CN" sz="2400" dirty="0">
                    <a:latin typeface="宋体" pitchFamily="2" charset="-122"/>
                    <a:ea typeface="宋体" pitchFamily="2" charset="-122"/>
                  </a:rPr>
                  <a:t> </a:t>
                </a:r>
                <a14:m>
                  <m:oMath xmlns:m="http://schemas.openxmlformats.org/officeDocument/2006/math">
                    <m:sSub>
                      <m:sSubPr>
                        <m:ctrlPr>
                          <a:rPr lang="en-US" altLang="zh-CN" sz="2400" i="1" smtClean="0">
                            <a:latin typeface="Cambria Math"/>
                          </a:rPr>
                        </m:ctrlPr>
                      </m:sSubPr>
                      <m:e>
                        <m:r>
                          <a:rPr lang="en-US" altLang="zh-CN" sz="2400" b="0" i="1" smtClean="0">
                            <a:latin typeface="Cambria Math"/>
                          </a:rPr>
                          <m:t>𝑉</m:t>
                        </m:r>
                      </m:e>
                      <m:sub>
                        <m:r>
                          <a:rPr lang="en-US" altLang="zh-CN" sz="2400" b="0" i="1" smtClean="0">
                            <a:latin typeface="Cambria Math"/>
                          </a:rPr>
                          <m:t>𝑜𝑘</m:t>
                        </m:r>
                      </m:sub>
                    </m:sSub>
                  </m:oMath>
                </a14:m>
                <a:r>
                  <a:rPr lang="zh-CN" altLang="zh-CN" sz="2400" dirty="0">
                    <a:latin typeface="宋体" pitchFamily="2" charset="-122"/>
                    <a:ea typeface="宋体" pitchFamily="2" charset="-122"/>
                  </a:rPr>
                  <a:t>为对应输入神经元的阈值，而</a:t>
                </a:r>
                <a:r>
                  <a:rPr lang="en-US" altLang="zh-CN" sz="2400" dirty="0">
                    <a:latin typeface="宋体" pitchFamily="2" charset="-122"/>
                    <a:ea typeface="宋体" pitchFamily="2" charset="-122"/>
                  </a:rPr>
                  <a:t> </a:t>
                </a:r>
                <a14:m>
                  <m:oMath xmlns:m="http://schemas.openxmlformats.org/officeDocument/2006/math">
                    <m:sSub>
                      <m:sSubPr>
                        <m:ctrlPr>
                          <a:rPr lang="en-US" altLang="zh-CN" sz="2400" i="1" smtClean="0">
                            <a:latin typeface="Cambria Math"/>
                          </a:rPr>
                        </m:ctrlPr>
                      </m:sSubPr>
                      <m:e>
                        <m:r>
                          <a:rPr lang="en-US" altLang="zh-CN" sz="2400" b="0" i="1" smtClean="0">
                            <a:latin typeface="Cambria Math"/>
                          </a:rPr>
                          <m:t>𝑥</m:t>
                        </m:r>
                      </m:e>
                      <m:sub>
                        <m:r>
                          <a:rPr lang="en-US" altLang="zh-CN" sz="2400" b="0" i="1" smtClean="0">
                            <a:latin typeface="Cambria Math"/>
                          </a:rPr>
                          <m:t>0</m:t>
                        </m:r>
                      </m:sub>
                    </m:sSub>
                    <m:r>
                      <a:rPr lang="en-US" altLang="zh-CN" sz="2400" b="0" i="1" smtClean="0">
                        <a:latin typeface="Cambria Math"/>
                      </a:rPr>
                      <m:t>(</m:t>
                    </m:r>
                    <m:r>
                      <a:rPr lang="en-US" altLang="zh-CN" sz="2400" b="0" i="1" smtClean="0">
                        <a:latin typeface="Cambria Math"/>
                      </a:rPr>
                      <m:t>𝑡</m:t>
                    </m:r>
                    <m:r>
                      <a:rPr lang="en-US" altLang="zh-CN" sz="2400" b="0" i="1" smtClean="0">
                        <a:latin typeface="Cambria Math"/>
                      </a:rPr>
                      <m:t>)</m:t>
                    </m:r>
                  </m:oMath>
                </a14:m>
                <a:r>
                  <a:rPr lang="zh-CN" altLang="zh-CN" sz="2400" dirty="0">
                    <a:latin typeface="宋体" pitchFamily="2" charset="-122"/>
                    <a:ea typeface="宋体" pitchFamily="2" charset="-122"/>
                  </a:rPr>
                  <a:t>通常为</a:t>
                </a:r>
                <a:r>
                  <a:rPr lang="en-US" altLang="zh-CN" sz="2400" dirty="0">
                    <a:latin typeface="宋体" pitchFamily="2" charset="-122"/>
                    <a:ea typeface="宋体" pitchFamily="2" charset="-122"/>
                  </a:rPr>
                  <a:t>1</a:t>
                </a:r>
                <a:r>
                  <a:rPr lang="zh-CN" altLang="zh-CN" sz="2400" dirty="0">
                    <a:latin typeface="宋体" pitchFamily="2" charset="-122"/>
                    <a:ea typeface="宋体" pitchFamily="2" charset="-122"/>
                  </a:rPr>
                  <a:t>，</a:t>
                </a:r>
                <a:r>
                  <a:rPr lang="en-US" altLang="zh-CN" sz="2400" dirty="0">
                    <a:latin typeface="宋体" pitchFamily="2" charset="-122"/>
                    <a:ea typeface="宋体" pitchFamily="2" charset="-122"/>
                  </a:rPr>
                  <a:t> </a:t>
                </a:r>
                <a14:m>
                  <m:oMath xmlns:m="http://schemas.openxmlformats.org/officeDocument/2006/math">
                    <m:sSub>
                      <m:sSubPr>
                        <m:ctrlPr>
                          <a:rPr lang="en-US" altLang="zh-CN" sz="2400" i="1" smtClean="0">
                            <a:latin typeface="Cambria Math"/>
                          </a:rPr>
                        </m:ctrlPr>
                      </m:sSubPr>
                      <m:e>
                        <m:r>
                          <a:rPr lang="en-US" altLang="zh-CN" sz="2400" b="0" i="1" smtClean="0">
                            <a:latin typeface="Cambria Math"/>
                          </a:rPr>
                          <m:t>𝑊</m:t>
                        </m:r>
                      </m:e>
                      <m:sub>
                        <m:r>
                          <a:rPr lang="en-US" altLang="zh-CN" sz="2400" b="0" i="1" smtClean="0">
                            <a:latin typeface="Cambria Math"/>
                          </a:rPr>
                          <m:t>𝑜𝑖</m:t>
                        </m:r>
                      </m:sub>
                    </m:sSub>
                  </m:oMath>
                </a14:m>
                <a:r>
                  <a:rPr lang="zh-CN" altLang="zh-CN" sz="2400" dirty="0">
                    <a:latin typeface="宋体" pitchFamily="2" charset="-122"/>
                    <a:ea typeface="宋体" pitchFamily="2" charset="-122"/>
                  </a:rPr>
                  <a:t>为对应隐含层神经元的阈值，而</a:t>
                </a:r>
                <a:r>
                  <a:rPr lang="en-US" altLang="zh-CN" sz="2400" dirty="0">
                    <a:latin typeface="宋体" pitchFamily="2" charset="-122"/>
                    <a:ea typeface="宋体" pitchFamily="2" charset="-122"/>
                  </a:rPr>
                  <a:t> </a:t>
                </a:r>
                <a14:m>
                  <m:oMath xmlns:m="http://schemas.openxmlformats.org/officeDocument/2006/math">
                    <m:sSub>
                      <m:sSubPr>
                        <m:ctrlPr>
                          <a:rPr lang="en-US" altLang="zh-CN" sz="2400" i="1" smtClean="0">
                            <a:latin typeface="Cambria Math"/>
                          </a:rPr>
                        </m:ctrlPr>
                      </m:sSubPr>
                      <m:e>
                        <m:r>
                          <a:rPr lang="en-US" altLang="zh-CN" sz="2400" b="0" i="1" smtClean="0">
                            <a:latin typeface="Cambria Math"/>
                          </a:rPr>
                          <m:t>𝐻</m:t>
                        </m:r>
                      </m:e>
                      <m:sub>
                        <m:r>
                          <a:rPr lang="en-US" altLang="zh-CN" sz="2400" b="0" i="1" smtClean="0">
                            <a:latin typeface="Cambria Math"/>
                          </a:rPr>
                          <m:t>0</m:t>
                        </m:r>
                      </m:sub>
                    </m:sSub>
                    <m:r>
                      <a:rPr lang="en-US" altLang="zh-CN" sz="2400" b="0" i="1" smtClean="0">
                        <a:latin typeface="Cambria Math"/>
                      </a:rPr>
                      <m:t>(</m:t>
                    </m:r>
                    <m:r>
                      <a:rPr lang="en-US" altLang="zh-CN" sz="2400" b="0" i="1" smtClean="0">
                        <a:latin typeface="Cambria Math"/>
                      </a:rPr>
                      <m:t>𝑡</m:t>
                    </m:r>
                    <m:r>
                      <a:rPr lang="en-US" altLang="zh-CN" sz="2400" b="0" i="1" smtClean="0">
                        <a:latin typeface="Cambria Math"/>
                      </a:rPr>
                      <m:t>)</m:t>
                    </m:r>
                  </m:oMath>
                </a14:m>
                <a:r>
                  <a:rPr lang="zh-CN" altLang="zh-CN" sz="2400" dirty="0">
                    <a:latin typeface="宋体" pitchFamily="2" charset="-122"/>
                    <a:ea typeface="宋体" pitchFamily="2" charset="-122"/>
                  </a:rPr>
                  <a:t>通常为</a:t>
                </a:r>
                <a:r>
                  <a:rPr lang="en-US" altLang="zh-CN" sz="2400" dirty="0">
                    <a:latin typeface="宋体" pitchFamily="2" charset="-122"/>
                    <a:ea typeface="宋体" pitchFamily="2" charset="-122"/>
                  </a:rPr>
                  <a:t>1</a:t>
                </a:r>
                <a:r>
                  <a:rPr lang="zh-CN" altLang="zh-CN" sz="2400" dirty="0">
                    <a:latin typeface="宋体" pitchFamily="2" charset="-122"/>
                    <a:ea typeface="宋体" pitchFamily="2" charset="-122"/>
                  </a:rPr>
                  <a:t>，</a:t>
                </a:r>
                <a:r>
                  <a:rPr lang="en-US" altLang="zh-CN" sz="2400" dirty="0">
                    <a:latin typeface="宋体" pitchFamily="2" charset="-122"/>
                    <a:ea typeface="宋体" pitchFamily="2" charset="-122"/>
                  </a:rPr>
                  <a:t> </a:t>
                </a:r>
                <a14:m>
                  <m:oMath xmlns:m="http://schemas.openxmlformats.org/officeDocument/2006/math">
                    <m:r>
                      <a:rPr lang="en-US" altLang="zh-CN" sz="2400" b="0" i="1" smtClean="0">
                        <a:latin typeface="Cambria Math"/>
                      </a:rPr>
                      <m:t>𝑔</m:t>
                    </m:r>
                    <m:d>
                      <m:dPr>
                        <m:ctrlPr>
                          <a:rPr lang="en-US" altLang="zh-CN" sz="2400" b="0" i="1" smtClean="0">
                            <a:latin typeface="Cambria Math"/>
                          </a:rPr>
                        </m:ctrlPr>
                      </m:dPr>
                      <m:e>
                        <m:r>
                          <a:rPr lang="en-US" altLang="zh-CN" sz="2400" b="0" i="1" smtClean="0">
                            <a:latin typeface="Cambria Math"/>
                          </a:rPr>
                          <m:t>𝑥</m:t>
                        </m:r>
                      </m:e>
                    </m:d>
                    <m:r>
                      <a:rPr lang="en-US" altLang="zh-CN" sz="2400" b="0" i="1" smtClean="0">
                        <a:latin typeface="Cambria Math"/>
                      </a:rPr>
                      <m:t>,</m:t>
                    </m:r>
                    <m:r>
                      <a:rPr lang="en-US" altLang="zh-CN" sz="2400" b="0" i="1" smtClean="0">
                        <a:latin typeface="Cambria Math"/>
                      </a:rPr>
                      <m:t>𝑓</m:t>
                    </m:r>
                    <m:r>
                      <a:rPr lang="en-US" altLang="zh-CN" sz="2400" b="0" i="1" smtClean="0">
                        <a:latin typeface="Cambria Math"/>
                      </a:rPr>
                      <m:t>(</m:t>
                    </m:r>
                    <m:r>
                      <a:rPr lang="en-US" altLang="zh-CN" sz="2400" b="0" i="1" smtClean="0">
                        <a:latin typeface="Cambria Math"/>
                      </a:rPr>
                      <m:t>𝑥</m:t>
                    </m:r>
                    <m:r>
                      <a:rPr lang="en-US" altLang="zh-CN" sz="2400" b="0" i="1" smtClean="0">
                        <a:latin typeface="Cambria Math"/>
                      </a:rPr>
                      <m:t>)</m:t>
                    </m:r>
                  </m:oMath>
                </a14:m>
                <a:r>
                  <a:rPr lang="zh-CN" altLang="zh-CN" sz="2400" dirty="0">
                    <a:latin typeface="宋体" pitchFamily="2" charset="-122"/>
                    <a:ea typeface="宋体" pitchFamily="2" charset="-122"/>
                  </a:rPr>
                  <a:t>分别为隐含层、输出层神经元的激发函数。常用的激发函数有：</a:t>
                </a:r>
                <a14:m>
                  <m:oMath xmlns:m="http://schemas.openxmlformats.org/officeDocument/2006/math">
                    <m:r>
                      <a:rPr lang="en-US" altLang="zh-CN" sz="2400" b="0" i="1" smtClean="0">
                        <a:latin typeface="Cambria Math"/>
                      </a:rPr>
                      <m:t>𝑓</m:t>
                    </m:r>
                    <m:d>
                      <m:dPr>
                        <m:ctrlPr>
                          <a:rPr lang="en-US" altLang="zh-CN" sz="2400" b="0" i="1" smtClean="0">
                            <a:latin typeface="Cambria Math"/>
                          </a:rPr>
                        </m:ctrlPr>
                      </m:dPr>
                      <m:e>
                        <m:r>
                          <a:rPr lang="en-US" altLang="zh-CN" sz="2400" b="0" i="1" smtClean="0">
                            <a:latin typeface="Cambria Math"/>
                          </a:rPr>
                          <m:t>𝑥</m:t>
                        </m:r>
                      </m:e>
                    </m:d>
                    <m:r>
                      <a:rPr lang="en-US" altLang="zh-CN" sz="2400" b="0" i="1" smtClean="0">
                        <a:latin typeface="Cambria Math"/>
                      </a:rPr>
                      <m:t>=</m:t>
                    </m:r>
                    <m:f>
                      <m:fPr>
                        <m:ctrlPr>
                          <a:rPr lang="en-US" altLang="zh-CN" sz="2400" b="0" i="1" smtClean="0">
                            <a:latin typeface="Cambria Math"/>
                          </a:rPr>
                        </m:ctrlPr>
                      </m:fPr>
                      <m:num>
                        <m:r>
                          <a:rPr lang="en-US" altLang="zh-CN" sz="2400" b="0" i="1" smtClean="0">
                            <a:latin typeface="Cambria Math"/>
                          </a:rPr>
                          <m:t>1</m:t>
                        </m:r>
                      </m:num>
                      <m:den>
                        <m:r>
                          <a:rPr lang="en-US" altLang="zh-CN" sz="2400" b="0" i="1" smtClean="0">
                            <a:latin typeface="Cambria Math"/>
                          </a:rPr>
                          <m:t>1+</m:t>
                        </m:r>
                        <m:sSup>
                          <m:sSupPr>
                            <m:ctrlPr>
                              <a:rPr lang="en-US" altLang="zh-CN" sz="2400" b="0" i="1" smtClean="0">
                                <a:latin typeface="Cambria Math"/>
                              </a:rPr>
                            </m:ctrlPr>
                          </m:sSupPr>
                          <m:e>
                            <m:r>
                              <a:rPr lang="en-US" altLang="zh-CN" sz="2400" b="0" i="1" smtClean="0">
                                <a:latin typeface="Cambria Math"/>
                              </a:rPr>
                              <m:t>𝑒</m:t>
                            </m:r>
                          </m:e>
                          <m:sup>
                            <m:r>
                              <a:rPr lang="en-US" altLang="zh-CN" sz="2400" b="0" i="1" smtClean="0">
                                <a:latin typeface="Cambria Math"/>
                              </a:rPr>
                              <m:t>−</m:t>
                            </m:r>
                            <m:r>
                              <a:rPr lang="zh-CN" altLang="en-US" sz="2400" b="0" i="1" smtClean="0">
                                <a:latin typeface="Cambria Math"/>
                              </a:rPr>
                              <m:t>𝛼</m:t>
                            </m:r>
                            <m:r>
                              <a:rPr lang="en-US" altLang="zh-CN" sz="2400" b="0" i="1" smtClean="0">
                                <a:latin typeface="Cambria Math"/>
                              </a:rPr>
                              <m:t>𝑥</m:t>
                            </m:r>
                          </m:sup>
                        </m:sSup>
                      </m:den>
                    </m:f>
                  </m:oMath>
                </a14:m>
                <a:r>
                  <a:rPr lang="zh-CN" altLang="en-US" sz="2400" dirty="0">
                    <a:latin typeface="宋体" pitchFamily="2" charset="-122"/>
                    <a:ea typeface="宋体" pitchFamily="2" charset="-122"/>
                  </a:rPr>
                  <a:t>或</a:t>
                </a:r>
                <a14:m>
                  <m:oMath xmlns:m="http://schemas.openxmlformats.org/officeDocument/2006/math">
                    <m:r>
                      <a:rPr lang="en-US" altLang="zh-CN" sz="2400" b="0" i="1" smtClean="0">
                        <a:latin typeface="Cambria Math"/>
                      </a:rPr>
                      <m:t>𝑓</m:t>
                    </m:r>
                    <m:d>
                      <m:dPr>
                        <m:ctrlPr>
                          <a:rPr lang="en-US" altLang="zh-CN" sz="2400" b="0" i="1" smtClean="0">
                            <a:latin typeface="Cambria Math"/>
                          </a:rPr>
                        </m:ctrlPr>
                      </m:dPr>
                      <m:e>
                        <m:r>
                          <a:rPr lang="en-US" altLang="zh-CN" sz="2400" b="0" i="1" smtClean="0">
                            <a:latin typeface="Cambria Math"/>
                          </a:rPr>
                          <m:t>𝑥</m:t>
                        </m:r>
                      </m:e>
                    </m:d>
                    <m:r>
                      <a:rPr lang="en-US" altLang="zh-CN" sz="2400" b="0" i="1" smtClean="0">
                        <a:latin typeface="Cambria Math"/>
                      </a:rPr>
                      <m:t>=</m:t>
                    </m:r>
                    <m:func>
                      <m:funcPr>
                        <m:ctrlPr>
                          <a:rPr lang="en-US" altLang="zh-CN" sz="2400" b="0" i="1" smtClean="0">
                            <a:latin typeface="Cambria Math"/>
                          </a:rPr>
                        </m:ctrlPr>
                      </m:funcPr>
                      <m:fName>
                        <m:r>
                          <m:rPr>
                            <m:sty m:val="p"/>
                          </m:rPr>
                          <a:rPr lang="en-US" altLang="zh-CN" sz="2400" b="0" i="0" smtClean="0">
                            <a:latin typeface="Cambria Math"/>
                          </a:rPr>
                          <m:t>tanh</m:t>
                        </m:r>
                      </m:fName>
                      <m:e>
                        <m:d>
                          <m:dPr>
                            <m:ctrlPr>
                              <a:rPr lang="en-US" altLang="zh-CN" sz="2400" b="0" i="1" smtClean="0">
                                <a:latin typeface="Cambria Math"/>
                              </a:rPr>
                            </m:ctrlPr>
                          </m:dPr>
                          <m:e>
                            <m:r>
                              <a:rPr lang="en-US" altLang="zh-CN" sz="2400" b="0" i="1" smtClean="0">
                                <a:latin typeface="Cambria Math"/>
                              </a:rPr>
                              <m:t>𝑥</m:t>
                            </m:r>
                          </m:e>
                        </m:d>
                      </m:e>
                    </m:func>
                    <m:d>
                      <m:dPr>
                        <m:ctrlPr>
                          <a:rPr lang="en-US" altLang="zh-CN" sz="2400" b="0" i="1" smtClean="0">
                            <a:latin typeface="Cambria Math"/>
                          </a:rPr>
                        </m:ctrlPr>
                      </m:dPr>
                      <m:e>
                        <m:r>
                          <a:rPr lang="zh-CN" altLang="en-US" i="1">
                            <a:latin typeface="Cambria Math"/>
                          </a:rPr>
                          <m:t>双曲正切函数</m:t>
                        </m:r>
                      </m:e>
                    </m:d>
                  </m:oMath>
                </a14:m>
                <a:endParaRPr lang="en-US" altLang="zh-CN" dirty="0">
                  <a:latin typeface="宋体" pitchFamily="2" charset="-122"/>
                </a:endParaRPr>
              </a:p>
              <a:p>
                <a:pPr marL="0" indent="0">
                  <a:buNone/>
                </a:pPr>
                <a:endParaRPr lang="en-US" altLang="zh-CN" dirty="0">
                  <a:latin typeface="宋体" pitchFamily="2" charset="-122"/>
                  <a:ea typeface="宋体" pitchFamily="2" charset="-122"/>
                </a:endParaRPr>
              </a:p>
              <a:p>
                <a:pPr marL="0" indent="0">
                  <a:buNone/>
                </a:pPr>
                <a:endParaRPr lang="zh-CN" altLang="zh-CN" dirty="0"/>
              </a:p>
              <a:p>
                <a:pPr marL="0" indent="0">
                  <a:buNone/>
                </a:pPr>
                <a:endParaRPr lang="zh-CN" altLang="zh-CN" dirty="0"/>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25625" y="980729"/>
                <a:ext cx="10601349" cy="5145436"/>
              </a:xfrm>
              <a:blipFill rotWithShape="1">
                <a:blip r:embed="rId1"/>
                <a:stretch>
                  <a:fillRect l="-862" t="-592"/>
                </a:stretch>
              </a:blipFill>
            </p:spPr>
            <p:txBody>
              <a:bodyPr/>
              <a:lstStyle/>
              <a:p>
                <a:r>
                  <a:rPr lang="zh-CN" altLang="en-US">
                    <a:noFill/>
                  </a:rPr>
                  <a:t> </a:t>
                </a:r>
                <a:endParaRPr lang="zh-CN" altLang="en-US">
                  <a:noFill/>
                </a:endParaRPr>
              </a:p>
            </p:txBody>
          </p:sp>
        </mc:Fallback>
      </mc:AlternateContent>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5</a:t>
            </a:r>
            <a:r>
              <a:rPr lang="en-US" altLang="zh-CN" dirty="0" smtClean="0">
                <a:solidFill>
                  <a:schemeClr val="accent2"/>
                </a:solidFill>
              </a:rPr>
              <a:t> </a:t>
            </a:r>
            <a:endParaRPr lang="zh-CN" altLang="en-US" dirty="0">
              <a:solidFill>
                <a:schemeClr val="accent2"/>
              </a:solidFill>
            </a:endParaRPr>
          </a:p>
        </p:txBody>
      </p:sp>
      <p:sp>
        <p:nvSpPr>
          <p:cNvPr id="7" name="TextBox 6"/>
          <p:cNvSpPr txBox="1"/>
          <p:nvPr/>
        </p:nvSpPr>
        <p:spPr>
          <a:xfrm>
            <a:off x="1330765" y="44625"/>
            <a:ext cx="555970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5.5.2  </a:t>
            </a:r>
            <a:r>
              <a:rPr lang="zh-CN" altLang="en-US" sz="2800" dirty="0">
                <a:solidFill>
                  <a:schemeClr val="accent2"/>
                </a:solidFill>
                <a:latin typeface="微软雅黑" panose="020B0503020204020204" pitchFamily="34" charset="-122"/>
                <a:ea typeface="微软雅黑" panose="020B0503020204020204" pitchFamily="34" charset="-122"/>
              </a:rPr>
              <a:t>神经网络结构及数学模型</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25625" y="1196753"/>
                <a:ext cx="10601349" cy="4929412"/>
              </a:xfrm>
            </p:spPr>
            <p:txBody>
              <a:bodyPr/>
              <a:lstStyle/>
              <a:p>
                <a:pPr marL="0" indent="0" algn="just">
                  <a:spcAft>
                    <a:spcPts val="0"/>
                  </a:spcAft>
                  <a:buNone/>
                  <a:tabLst>
                    <a:tab pos="790575" algn="l"/>
                  </a:tabLst>
                </a:pPr>
                <a:r>
                  <a:rPr lang="zh-CN" altLang="zh-CN" sz="2400" kern="100" dirty="0">
                    <a:latin typeface="宋体" pitchFamily="2" charset="-122"/>
                    <a:ea typeface="宋体" pitchFamily="2" charset="-122"/>
                    <a:cs typeface="Times New Roman"/>
                  </a:rPr>
                  <a:t>由网络图可以看出，我们选定隐含层及输出层神经元的个数和激发函数后，这个网络就只有输入层至隐含层、隐含层至输出层的参数未知了。一旦确定了这些参数，神经网络就可以工作了。如何确定这些参数呢？其基本思路如下：通过输入的</a:t>
                </a:r>
                <a:r>
                  <a:rPr lang="en-US" altLang="zh-CN" sz="2400" kern="100" dirty="0">
                    <a:latin typeface="宋体" pitchFamily="2" charset="-122"/>
                    <a:ea typeface="宋体" pitchFamily="2" charset="-122"/>
                    <a:cs typeface="Times New Roman"/>
                  </a:rPr>
                  <a:t>N</a:t>
                </a:r>
                <a:r>
                  <a:rPr lang="zh-CN" altLang="zh-CN" sz="2400" kern="100" dirty="0">
                    <a:latin typeface="宋体" pitchFamily="2" charset="-122"/>
                    <a:ea typeface="宋体" pitchFamily="2" charset="-122"/>
                    <a:cs typeface="Times New Roman"/>
                  </a:rPr>
                  <a:t>个样本数据，使得真实的</a:t>
                </a:r>
                <a:r>
                  <a:rPr lang="en-US" altLang="zh-CN" sz="2400" kern="100" dirty="0">
                    <a:latin typeface="宋体" pitchFamily="2" charset="-122"/>
                    <a:ea typeface="宋体" pitchFamily="2" charset="-122"/>
                    <a:cs typeface="Times New Roman"/>
                  </a:rPr>
                  <a:t>y</a:t>
                </a:r>
                <a:r>
                  <a:rPr lang="zh-CN" altLang="zh-CN" sz="2400" kern="100" dirty="0">
                    <a:latin typeface="宋体" pitchFamily="2" charset="-122"/>
                    <a:ea typeface="宋体" pitchFamily="2" charset="-122"/>
                    <a:cs typeface="Times New Roman"/>
                  </a:rPr>
                  <a:t>值与网络的预测值的误差最小即可，它变成了一个优化问题，记</a:t>
                </a:r>
                <a:r>
                  <a:rPr lang="en-US" altLang="zh-CN" sz="2400" kern="100" dirty="0">
                    <a:latin typeface="宋体" pitchFamily="2" charset="-122"/>
                    <a:ea typeface="宋体" pitchFamily="2" charset="-122"/>
                    <a:cs typeface="Times New Roman"/>
                  </a:rPr>
                  <a:t> </a:t>
                </a:r>
                <a:r>
                  <a:rPr lang="zh-CN" altLang="zh-CN" sz="2400" kern="100" dirty="0">
                    <a:latin typeface="宋体" pitchFamily="2" charset="-122"/>
                    <a:ea typeface="宋体" pitchFamily="2" charset="-122"/>
                    <a:cs typeface="Times New Roman"/>
                  </a:rPr>
                  <a:t>，则优化问题如下：</a:t>
                </a:r>
                <a:endParaRPr lang="en-US" altLang="zh-CN" sz="2400" kern="100" dirty="0">
                  <a:latin typeface="宋体" pitchFamily="2" charset="-122"/>
                  <a:ea typeface="宋体" pitchFamily="2" charset="-122"/>
                  <a:cs typeface="Times New Roman"/>
                </a:endParaRPr>
              </a:p>
              <a:p>
                <a:pPr algn="just">
                  <a:spcAft>
                    <a:spcPts val="0"/>
                  </a:spcAft>
                  <a:tabLst>
                    <a:tab pos="790575" algn="l"/>
                  </a:tabLst>
                </a:pPr>
                <a:endParaRPr lang="en-US" altLang="zh-CN" sz="2400" kern="100" dirty="0">
                  <a:latin typeface="宋体" pitchFamily="2" charset="-122"/>
                  <a:ea typeface="宋体" pitchFamily="2" charset="-122"/>
                  <a:cs typeface="Times New Roman"/>
                </a:endParaRPr>
              </a:p>
              <a:p>
                <a:pPr marL="0" indent="0" algn="just">
                  <a:spcAft>
                    <a:spcPts val="0"/>
                  </a:spcAft>
                  <a:buNone/>
                  <a:tabLst>
                    <a:tab pos="790575" algn="l"/>
                  </a:tabLst>
                </a:pPr>
                <a14:m>
                  <m:oMathPara xmlns:m="http://schemas.openxmlformats.org/officeDocument/2006/math">
                    <m:oMathParaPr>
                      <m:jc m:val="centerGroup"/>
                    </m:oMathParaPr>
                    <m:oMath xmlns:m="http://schemas.openxmlformats.org/officeDocument/2006/math">
                      <m:r>
                        <a:rPr lang="en-US" altLang="zh-CN" sz="2400" b="0" i="1" kern="100" smtClean="0">
                          <a:latin typeface="Cambria Math"/>
                          <a:ea typeface="宋体"/>
                          <a:cs typeface="Times New Roman"/>
                        </a:rPr>
                        <m:t>𝑚𝑖𝑛𝐸</m:t>
                      </m:r>
                      <m:d>
                        <m:dPr>
                          <m:ctrlPr>
                            <a:rPr lang="en-US" altLang="zh-CN" sz="2400" b="0" i="1" kern="100" smtClean="0">
                              <a:latin typeface="Cambria Math"/>
                              <a:ea typeface="宋体"/>
                              <a:cs typeface="Times New Roman"/>
                            </a:rPr>
                          </m:ctrlPr>
                        </m:dPr>
                        <m:e>
                          <m:r>
                            <a:rPr lang="en-US" altLang="zh-CN" sz="2400" b="0" i="1" kern="100" smtClean="0">
                              <a:latin typeface="Cambria Math"/>
                              <a:ea typeface="宋体"/>
                              <a:cs typeface="Times New Roman"/>
                            </a:rPr>
                            <m:t>𝑤</m:t>
                          </m:r>
                        </m:e>
                      </m:d>
                      <m:r>
                        <a:rPr lang="en-US" altLang="zh-CN" sz="2400" b="0" i="1" kern="100" smtClean="0">
                          <a:latin typeface="Cambria Math"/>
                          <a:ea typeface="宋体"/>
                          <a:cs typeface="Times New Roman"/>
                        </a:rPr>
                        <m:t>=</m:t>
                      </m:r>
                      <m:f>
                        <m:fPr>
                          <m:ctrlPr>
                            <a:rPr lang="en-US" altLang="zh-CN" sz="2400" b="0" i="1" kern="100" smtClean="0">
                              <a:latin typeface="Cambria Math"/>
                              <a:ea typeface="宋体"/>
                              <a:cs typeface="Times New Roman"/>
                            </a:rPr>
                          </m:ctrlPr>
                        </m:fPr>
                        <m:num>
                          <m:r>
                            <a:rPr lang="en-US" altLang="zh-CN" sz="2400" b="0" i="1" kern="100" smtClean="0">
                              <a:latin typeface="Cambria Math"/>
                              <a:ea typeface="宋体"/>
                              <a:cs typeface="Times New Roman"/>
                            </a:rPr>
                            <m:t>1</m:t>
                          </m:r>
                        </m:num>
                        <m:den>
                          <m:r>
                            <a:rPr lang="en-US" altLang="zh-CN" sz="2400" b="0" i="1" kern="100" smtClean="0">
                              <a:latin typeface="Cambria Math"/>
                              <a:ea typeface="宋体"/>
                              <a:cs typeface="Times New Roman"/>
                            </a:rPr>
                            <m:t>2</m:t>
                          </m:r>
                        </m:den>
                      </m:f>
                      <m:nary>
                        <m:naryPr>
                          <m:chr m:val="∑"/>
                          <m:supHide m:val="on"/>
                          <m:ctrlPr>
                            <a:rPr lang="en-US" altLang="zh-CN" sz="2400" b="0" i="1" kern="100" smtClean="0">
                              <a:latin typeface="Cambria Math"/>
                              <a:ea typeface="宋体"/>
                              <a:cs typeface="Times New Roman"/>
                            </a:rPr>
                          </m:ctrlPr>
                        </m:naryPr>
                        <m:sub>
                          <m:r>
                            <m:rPr>
                              <m:brk m:alnAt="7"/>
                            </m:rPr>
                            <a:rPr lang="en-US" altLang="zh-CN" sz="2400" b="0" i="1" kern="100" smtClean="0">
                              <a:latin typeface="Cambria Math"/>
                              <a:ea typeface="宋体"/>
                              <a:cs typeface="Times New Roman"/>
                            </a:rPr>
                            <m:t>𝑖</m:t>
                          </m:r>
                          <m:r>
                            <a:rPr lang="en-US" altLang="zh-CN" sz="2400" b="0" i="1" kern="100" smtClean="0">
                              <a:latin typeface="Cambria Math"/>
                              <a:ea typeface="宋体"/>
                              <a:cs typeface="Times New Roman"/>
                            </a:rPr>
                            <m:t>𝑡</m:t>
                          </m:r>
                        </m:sub>
                        <m:sup/>
                        <m:e>
                          <m:r>
                            <a:rPr lang="en-US" altLang="zh-CN" sz="2400" b="0" i="1" kern="100" smtClean="0">
                              <a:latin typeface="Cambria Math"/>
                              <a:ea typeface="宋体"/>
                              <a:cs typeface="Times New Roman"/>
                            </a:rPr>
                            <m:t>(</m:t>
                          </m:r>
                          <m:sSub>
                            <m:sSubPr>
                              <m:ctrlPr>
                                <a:rPr lang="en-US" altLang="zh-CN" sz="2400" b="0" i="1" kern="100" smtClean="0">
                                  <a:latin typeface="Cambria Math"/>
                                  <a:ea typeface="宋体"/>
                                  <a:cs typeface="Times New Roman"/>
                                </a:rPr>
                              </m:ctrlPr>
                            </m:sSubPr>
                            <m:e>
                              <m:r>
                                <a:rPr lang="en-US" altLang="zh-CN" sz="2400" b="0" i="1" kern="100" smtClean="0">
                                  <a:latin typeface="Cambria Math"/>
                                  <a:ea typeface="宋体"/>
                                  <a:cs typeface="Times New Roman"/>
                                </a:rPr>
                                <m:t>𝑦</m:t>
                              </m:r>
                            </m:e>
                            <m:sub>
                              <m:r>
                                <a:rPr lang="en-US" altLang="zh-CN" sz="2400" b="0" i="1" kern="100" smtClean="0">
                                  <a:latin typeface="Cambria Math"/>
                                  <a:ea typeface="宋体"/>
                                  <a:cs typeface="Times New Roman"/>
                                </a:rPr>
                                <m:t>𝑡</m:t>
                              </m:r>
                            </m:sub>
                          </m:sSub>
                          <m:d>
                            <m:dPr>
                              <m:ctrlPr>
                                <a:rPr lang="en-US" altLang="zh-CN" sz="2400" b="0" i="1" kern="100" smtClean="0">
                                  <a:latin typeface="Cambria Math"/>
                                  <a:ea typeface="宋体"/>
                                  <a:cs typeface="Times New Roman"/>
                                </a:rPr>
                              </m:ctrlPr>
                            </m:dPr>
                            <m:e>
                              <m:r>
                                <a:rPr lang="en-US" altLang="zh-CN" sz="2400" b="0" i="1" kern="100" smtClean="0">
                                  <a:latin typeface="Cambria Math"/>
                                  <a:ea typeface="宋体"/>
                                  <a:cs typeface="Times New Roman"/>
                                </a:rPr>
                                <m:t>𝑡</m:t>
                              </m:r>
                            </m:e>
                          </m:d>
                          <m:r>
                            <a:rPr lang="en-US" altLang="zh-CN" sz="2400" b="0" i="1" kern="100" smtClean="0">
                              <a:latin typeface="Cambria Math"/>
                              <a:ea typeface="宋体"/>
                              <a:cs typeface="Times New Roman"/>
                            </a:rPr>
                            <m:t>−</m:t>
                          </m:r>
                          <m:sSub>
                            <m:sSubPr>
                              <m:ctrlPr>
                                <a:rPr lang="en-US" altLang="zh-CN" sz="2400" b="0" i="1" kern="100" smtClean="0">
                                  <a:latin typeface="Cambria Math"/>
                                  <a:ea typeface="宋体"/>
                                  <a:cs typeface="Times New Roman"/>
                                </a:rPr>
                              </m:ctrlPr>
                            </m:sSubPr>
                            <m:e>
                              <m:acc>
                                <m:accPr>
                                  <m:chr m:val="̂"/>
                                  <m:ctrlPr>
                                    <a:rPr lang="en-US" altLang="zh-CN" sz="2400" b="0" i="1" kern="100" smtClean="0">
                                      <a:latin typeface="Cambria Math"/>
                                      <a:ea typeface="宋体"/>
                                      <a:cs typeface="Times New Roman"/>
                                    </a:rPr>
                                  </m:ctrlPr>
                                </m:accPr>
                                <m:e>
                                  <m:r>
                                    <a:rPr lang="en-US" altLang="zh-CN" sz="2400" b="0" i="1" kern="100" smtClean="0">
                                      <a:latin typeface="Cambria Math"/>
                                      <a:ea typeface="宋体"/>
                                      <a:cs typeface="Times New Roman"/>
                                    </a:rPr>
                                    <m:t>𝑦</m:t>
                                  </m:r>
                                </m:e>
                              </m:acc>
                            </m:e>
                            <m:sub>
                              <m:r>
                                <a:rPr lang="en-US" altLang="zh-CN" sz="2400" b="0" i="1" kern="100" smtClean="0">
                                  <a:latin typeface="Cambria Math"/>
                                  <a:ea typeface="宋体"/>
                                  <a:cs typeface="Times New Roman"/>
                                </a:rPr>
                                <m:t>𝑖</m:t>
                              </m:r>
                            </m:sub>
                          </m:sSub>
                          <m:r>
                            <a:rPr lang="en-US" altLang="zh-CN" sz="2400" b="0" i="1" kern="100" smtClean="0">
                              <a:latin typeface="Cambria Math"/>
                              <a:ea typeface="宋体"/>
                              <a:cs typeface="Times New Roman"/>
                            </a:rPr>
                            <m:t>(</m:t>
                          </m:r>
                          <m:r>
                            <a:rPr lang="en-US" altLang="zh-CN" sz="2400" b="0" i="1" kern="100" smtClean="0">
                              <a:latin typeface="Cambria Math"/>
                              <a:ea typeface="宋体"/>
                              <a:cs typeface="Times New Roman"/>
                            </a:rPr>
                            <m:t>𝑡</m:t>
                          </m:r>
                          <m:r>
                            <a:rPr lang="en-US" altLang="zh-CN" sz="2400" b="0" i="1" kern="100" smtClean="0">
                              <a:latin typeface="Cambria Math"/>
                              <a:ea typeface="宋体"/>
                              <a:cs typeface="Times New Roman"/>
                            </a:rPr>
                            <m:t>)</m:t>
                          </m:r>
                          <m:sSup>
                            <m:sSupPr>
                              <m:ctrlPr>
                                <a:rPr lang="en-US" altLang="zh-CN" sz="2400" b="0" i="1" kern="100" smtClean="0">
                                  <a:latin typeface="Cambria Math"/>
                                  <a:ea typeface="宋体"/>
                                  <a:cs typeface="Times New Roman"/>
                                </a:rPr>
                              </m:ctrlPr>
                            </m:sSupPr>
                            <m:e>
                              <m:r>
                                <a:rPr lang="en-US" altLang="zh-CN" sz="2400" b="0" i="1" kern="100" smtClean="0">
                                  <a:latin typeface="Cambria Math"/>
                                  <a:ea typeface="宋体"/>
                                  <a:cs typeface="Times New Roman"/>
                                </a:rPr>
                                <m:t>)</m:t>
                              </m:r>
                            </m:e>
                            <m:sup>
                              <m:r>
                                <a:rPr lang="en-US" altLang="zh-CN" sz="2400" b="0" i="1" kern="100" smtClean="0">
                                  <a:latin typeface="Cambria Math"/>
                                  <a:ea typeface="宋体"/>
                                  <a:cs typeface="Times New Roman"/>
                                </a:rPr>
                                <m:t>2</m:t>
                              </m:r>
                            </m:sup>
                          </m:sSup>
                        </m:e>
                      </m:nary>
                      <m:r>
                        <a:rPr lang="en-US" altLang="zh-CN" sz="2400" b="0" i="0" kern="100" smtClean="0">
                          <a:latin typeface="Cambria Math"/>
                          <a:ea typeface="宋体"/>
                          <a:cs typeface="Times New Roman"/>
                        </a:rPr>
                        <m:t>=</m:t>
                      </m:r>
                      <m:f>
                        <m:fPr>
                          <m:ctrlPr>
                            <a:rPr lang="en-US" altLang="zh-CN" sz="2400" b="0" i="1" kern="100" smtClean="0">
                              <a:latin typeface="Cambria Math"/>
                              <a:ea typeface="宋体"/>
                              <a:cs typeface="Times New Roman"/>
                            </a:rPr>
                          </m:ctrlPr>
                        </m:fPr>
                        <m:num>
                          <m:r>
                            <a:rPr lang="en-US" altLang="zh-CN" sz="2400" b="0" i="1" kern="100" smtClean="0">
                              <a:latin typeface="Cambria Math"/>
                              <a:ea typeface="宋体"/>
                              <a:cs typeface="Times New Roman"/>
                            </a:rPr>
                            <m:t>1</m:t>
                          </m:r>
                        </m:num>
                        <m:den>
                          <m:r>
                            <a:rPr lang="en-US" altLang="zh-CN" sz="2400" b="0" i="1" kern="100" smtClean="0">
                              <a:latin typeface="Cambria Math"/>
                              <a:ea typeface="宋体"/>
                              <a:cs typeface="Times New Roman"/>
                            </a:rPr>
                            <m:t>2</m:t>
                          </m:r>
                        </m:den>
                      </m:f>
                      <m:nary>
                        <m:naryPr>
                          <m:chr m:val="∑"/>
                          <m:supHide m:val="on"/>
                          <m:ctrlPr>
                            <a:rPr lang="en-US" altLang="zh-CN" sz="2400" b="0" i="1" kern="100" smtClean="0">
                              <a:latin typeface="Cambria Math"/>
                              <a:ea typeface="宋体"/>
                              <a:cs typeface="Times New Roman"/>
                            </a:rPr>
                          </m:ctrlPr>
                        </m:naryPr>
                        <m:sub>
                          <m:r>
                            <m:rPr>
                              <m:brk m:alnAt="7"/>
                            </m:rPr>
                            <a:rPr lang="en-US" altLang="zh-CN" sz="2400" b="0" i="1" kern="100" smtClean="0">
                              <a:latin typeface="Cambria Math"/>
                              <a:ea typeface="宋体"/>
                              <a:cs typeface="Times New Roman"/>
                            </a:rPr>
                            <m:t>𝑖</m:t>
                          </m:r>
                          <m:r>
                            <a:rPr lang="en-US" altLang="zh-CN" sz="2400" b="0" i="1" kern="100" smtClean="0">
                              <a:latin typeface="Cambria Math"/>
                              <a:ea typeface="宋体"/>
                              <a:cs typeface="Times New Roman"/>
                            </a:rPr>
                            <m:t>𝑡</m:t>
                          </m:r>
                        </m:sub>
                        <m:sup/>
                        <m:e>
                          <m:sSup>
                            <m:sSupPr>
                              <m:ctrlPr>
                                <a:rPr lang="en-US" altLang="zh-CN" sz="2400" b="0" i="1" kern="100" smtClean="0">
                                  <a:latin typeface="Cambria Math"/>
                                  <a:ea typeface="宋体"/>
                                  <a:cs typeface="Times New Roman"/>
                                </a:rPr>
                              </m:ctrlPr>
                            </m:sSupPr>
                            <m:e>
                              <m:r>
                                <a:rPr lang="en-US" altLang="zh-CN" sz="2400" b="0" i="1" kern="100" smtClean="0">
                                  <a:latin typeface="Cambria Math"/>
                                  <a:ea typeface="宋体"/>
                                  <a:cs typeface="Times New Roman"/>
                                </a:rPr>
                                <m:t>[</m:t>
                              </m:r>
                              <m:sSubSup>
                                <m:sSubSupPr>
                                  <m:ctrlPr>
                                    <a:rPr lang="en-US" altLang="zh-CN" sz="2400" b="0" i="1" kern="100" smtClean="0">
                                      <a:latin typeface="Cambria Math"/>
                                      <a:ea typeface="宋体"/>
                                      <a:cs typeface="Times New Roman"/>
                                    </a:rPr>
                                  </m:ctrlPr>
                                </m:sSubSupPr>
                                <m:e>
                                  <m:r>
                                    <a:rPr lang="en-US" altLang="zh-CN" sz="2400" b="0" i="1" kern="100" smtClean="0">
                                      <a:latin typeface="Cambria Math"/>
                                      <a:ea typeface="宋体"/>
                                      <a:cs typeface="Times New Roman"/>
                                    </a:rPr>
                                    <m:t>𝑦</m:t>
                                  </m:r>
                                </m:e>
                                <m:sub>
                                  <m:r>
                                    <a:rPr lang="en-US" altLang="zh-CN" sz="2400" b="0" i="1" smtClean="0">
                                      <a:latin typeface="Cambria Math"/>
                                    </a:rPr>
                                    <m:t>𝑖</m:t>
                                  </m:r>
                                </m:sub>
                                <m:sup/>
                              </m:sSubSup>
                              <m:d>
                                <m:dPr>
                                  <m:ctrlPr>
                                    <a:rPr lang="en-US" altLang="zh-CN" sz="2400" b="0" i="1" smtClean="0">
                                      <a:latin typeface="Cambria Math"/>
                                    </a:rPr>
                                  </m:ctrlPr>
                                </m:dPr>
                                <m:e>
                                  <m:r>
                                    <a:rPr lang="en-US" altLang="zh-CN" sz="2400" b="0" i="1" smtClean="0">
                                      <a:latin typeface="Cambria Math"/>
                                    </a:rPr>
                                    <m:t>𝑡</m:t>
                                  </m:r>
                                </m:e>
                              </m:d>
                              <m:r>
                                <a:rPr lang="en-US" altLang="zh-CN" sz="2400" b="0" i="1" smtClean="0">
                                  <a:latin typeface="Cambria Math"/>
                                </a:rPr>
                                <m:t>−</m:t>
                              </m:r>
                              <m:r>
                                <a:rPr lang="en-US" altLang="zh-CN" sz="2400" b="0" i="1" smtClean="0">
                                  <a:latin typeface="Cambria Math"/>
                                </a:rPr>
                                <m:t>𝑓</m:t>
                              </m:r>
                              <m:r>
                                <a:rPr lang="en-US" altLang="zh-CN" sz="2400" b="0" i="1" smtClean="0">
                                  <a:latin typeface="Cambria Math"/>
                                </a:rPr>
                                <m:t>(</m:t>
                              </m:r>
                              <m:nary>
                                <m:naryPr>
                                  <m:chr m:val="∑"/>
                                  <m:ctrlPr>
                                    <a:rPr lang="en-US" altLang="zh-CN" sz="2400" b="0" i="1" smtClean="0">
                                      <a:latin typeface="Cambria Math"/>
                                    </a:rPr>
                                  </m:ctrlPr>
                                </m:naryPr>
                                <m:sub>
                                  <m:r>
                                    <m:rPr>
                                      <m:brk m:alnAt="23"/>
                                    </m:rPr>
                                    <a:rPr lang="en-US" altLang="zh-CN" sz="2400" b="0" i="1" smtClean="0">
                                      <a:latin typeface="Cambria Math"/>
                                    </a:rPr>
                                    <m:t>𝑘</m:t>
                                  </m:r>
                                  <m:r>
                                    <a:rPr lang="en-US" altLang="zh-CN" sz="2400" b="0" i="1" smtClean="0">
                                      <a:latin typeface="Cambria Math"/>
                                    </a:rPr>
                                    <m:t>=0</m:t>
                                  </m:r>
                                </m:sub>
                                <m:sup>
                                  <m:r>
                                    <a:rPr lang="en-US" altLang="zh-CN" sz="2400" b="0" i="1" smtClean="0">
                                      <a:latin typeface="Cambria Math"/>
                                    </a:rPr>
                                    <m:t>𝑞</m:t>
                                  </m:r>
                                </m:sup>
                                <m:e>
                                  <m:sSub>
                                    <m:sSubPr>
                                      <m:ctrlPr>
                                        <a:rPr lang="en-US" altLang="zh-CN" sz="2400" b="0" i="1" smtClean="0">
                                          <a:latin typeface="Cambria Math"/>
                                        </a:rPr>
                                      </m:ctrlPr>
                                    </m:sSubPr>
                                    <m:e>
                                      <m:r>
                                        <a:rPr lang="en-US" altLang="zh-CN" sz="2400" b="0" i="1" smtClean="0">
                                          <a:latin typeface="Cambria Math"/>
                                        </a:rPr>
                                        <m:t>𝑊</m:t>
                                      </m:r>
                                    </m:e>
                                    <m:sub>
                                      <m:r>
                                        <a:rPr lang="en-US" altLang="zh-CN" sz="2400" b="0" i="1" smtClean="0">
                                          <a:latin typeface="Cambria Math"/>
                                        </a:rPr>
                                        <m:t>𝑘𝑖</m:t>
                                      </m:r>
                                    </m:sub>
                                  </m:sSub>
                                  <m:sSub>
                                    <m:sSubPr>
                                      <m:ctrlPr>
                                        <a:rPr lang="en-US" altLang="zh-CN" sz="2400" b="0" i="1" smtClean="0">
                                          <a:latin typeface="Cambria Math"/>
                                        </a:rPr>
                                      </m:ctrlPr>
                                    </m:sSubPr>
                                    <m:e>
                                      <m:r>
                                        <a:rPr lang="en-US" altLang="zh-CN" sz="2400" b="0" i="1" smtClean="0">
                                          <a:latin typeface="Cambria Math"/>
                                        </a:rPr>
                                        <m:t>𝐻</m:t>
                                      </m:r>
                                    </m:e>
                                    <m:sub>
                                      <m:r>
                                        <a:rPr lang="en-US" altLang="zh-CN" sz="2400" b="0" i="1" smtClean="0">
                                          <a:latin typeface="Cambria Math"/>
                                        </a:rPr>
                                        <m:t>𝑘</m:t>
                                      </m:r>
                                    </m:sub>
                                  </m:sSub>
                                  <m:r>
                                    <a:rPr lang="en-US" altLang="zh-CN" sz="2400" b="0" i="1" smtClean="0">
                                      <a:latin typeface="Cambria Math"/>
                                    </a:rPr>
                                    <m:t>(</m:t>
                                  </m:r>
                                  <m:r>
                                    <a:rPr lang="en-US" altLang="zh-CN" sz="2400" b="0" i="1" smtClean="0">
                                      <a:latin typeface="Cambria Math"/>
                                    </a:rPr>
                                    <m:t>𝑡</m:t>
                                  </m:r>
                                  <m:r>
                                    <a:rPr lang="en-US" altLang="zh-CN" sz="2400" b="0" i="1" smtClean="0">
                                      <a:latin typeface="Cambria Math"/>
                                    </a:rPr>
                                    <m:t>)</m:t>
                                  </m:r>
                                </m:e>
                              </m:nary>
                              <m:r>
                                <a:rPr lang="en-US" altLang="zh-CN" sz="2400" b="0" i="1" smtClean="0">
                                  <a:latin typeface="Cambria Math"/>
                                </a:rPr>
                                <m:t>)</m:t>
                              </m:r>
                              <m:r>
                                <a:rPr lang="en-US" altLang="zh-CN" sz="2400" b="0" i="1" kern="100" smtClean="0">
                                  <a:latin typeface="Cambria Math"/>
                                  <a:ea typeface="宋体"/>
                                  <a:cs typeface="Times New Roman"/>
                                </a:rPr>
                                <m:t>]</m:t>
                              </m:r>
                            </m:e>
                            <m:sup>
                              <m:r>
                                <a:rPr lang="en-US" altLang="zh-CN" sz="2400" b="0" i="1" kern="100" smtClean="0">
                                  <a:latin typeface="Cambria Math"/>
                                  <a:ea typeface="宋体"/>
                                  <a:cs typeface="Times New Roman"/>
                                </a:rPr>
                                <m:t>2</m:t>
                              </m:r>
                            </m:sup>
                          </m:sSup>
                        </m:e>
                      </m:nary>
                    </m:oMath>
                  </m:oMathPara>
                </a14:m>
                <a:endParaRPr lang="zh-CN" altLang="zh-CN" sz="2400" kern="100" dirty="0">
                  <a:latin typeface="宋体" pitchFamily="2" charset="-122"/>
                  <a:ea typeface="宋体" pitchFamily="2" charset="-122"/>
                  <a:cs typeface="Times New Roman"/>
                </a:endParaRPr>
              </a:p>
              <a:p>
                <a:pPr marL="0" indent="0" algn="just">
                  <a:spcAft>
                    <a:spcPts val="0"/>
                  </a:spcAft>
                  <a:buNone/>
                  <a:tabLst>
                    <a:tab pos="790575" algn="l"/>
                  </a:tabLst>
                </a:pPr>
                <a:endParaRPr lang="en-US" altLang="zh-CN" sz="2400" kern="100" dirty="0">
                  <a:latin typeface="宋体" pitchFamily="2" charset="-122"/>
                  <a:ea typeface="宋体" pitchFamily="2" charset="-122"/>
                  <a:cs typeface="Times New Roman"/>
                </a:endParaRPr>
              </a:p>
              <a:p>
                <a:pPr marL="0" indent="0" algn="just">
                  <a:spcAft>
                    <a:spcPts val="0"/>
                  </a:spcAft>
                  <a:buNone/>
                  <a:tabLst>
                    <a:tab pos="790575" algn="l"/>
                  </a:tabLst>
                </a:pPr>
                <a:r>
                  <a:rPr lang="zh-CN" altLang="zh-CN" sz="2400" kern="100" dirty="0">
                    <a:latin typeface="宋体" pitchFamily="2" charset="-122"/>
                    <a:ea typeface="宋体" pitchFamily="2" charset="-122"/>
                    <a:cs typeface="Times New Roman"/>
                  </a:rPr>
                  <a:t>如何求解这个优化问题获得最优的</a:t>
                </a:r>
                <a:r>
                  <a:rPr lang="en-US" altLang="zh-CN" sz="2400" kern="100" dirty="0">
                    <a:latin typeface="宋体" pitchFamily="2" charset="-122"/>
                    <a:ea typeface="宋体" pitchFamily="2" charset="-122"/>
                    <a:cs typeface="Times New Roman"/>
                  </a:rPr>
                  <a:t> </a:t>
                </a:r>
                <a14:m>
                  <m:oMath xmlns:m="http://schemas.openxmlformats.org/officeDocument/2006/math">
                    <m:sSup>
                      <m:sSupPr>
                        <m:ctrlPr>
                          <a:rPr lang="en-US" altLang="zh-CN" sz="2400" i="1" kern="100" smtClean="0">
                            <a:latin typeface="Cambria Math"/>
                            <a:ea typeface="宋体"/>
                            <a:cs typeface="Times New Roman"/>
                          </a:rPr>
                        </m:ctrlPr>
                      </m:sSupPr>
                      <m:e>
                        <m:r>
                          <a:rPr lang="en-US" altLang="zh-CN" sz="2400" b="0" i="1" kern="100" smtClean="0">
                            <a:latin typeface="Cambria Math"/>
                            <a:ea typeface="宋体"/>
                            <a:cs typeface="Times New Roman"/>
                          </a:rPr>
                          <m:t>𝑤</m:t>
                        </m:r>
                      </m:e>
                      <m:sup>
                        <m:r>
                          <a:rPr lang="en-US" altLang="zh-CN" sz="2400" b="0" i="1" kern="100" smtClean="0">
                            <a:latin typeface="Cambria Math"/>
                            <a:ea typeface="宋体"/>
                            <a:cs typeface="Times New Roman"/>
                          </a:rPr>
                          <m:t>∗</m:t>
                        </m:r>
                      </m:sup>
                    </m:sSup>
                  </m:oMath>
                </a14:m>
                <a:r>
                  <a:rPr lang="en-US" altLang="zh-CN" sz="2400" kern="100" dirty="0">
                    <a:latin typeface="宋体" pitchFamily="2" charset="-122"/>
                    <a:ea typeface="宋体" pitchFamily="2" charset="-122"/>
                    <a:cs typeface="Times New Roman"/>
                  </a:rPr>
                  <a:t> </a:t>
                </a:r>
                <a:r>
                  <a:rPr lang="zh-CN" altLang="zh-CN" sz="2400" kern="100" dirty="0">
                    <a:latin typeface="宋体" pitchFamily="2" charset="-122"/>
                    <a:ea typeface="宋体" pitchFamily="2" charset="-122"/>
                    <a:cs typeface="Times New Roman"/>
                  </a:rPr>
                  <a:t>呢？常用的有</a:t>
                </a:r>
                <a:r>
                  <a:rPr lang="en-US" altLang="zh-CN" sz="2400" kern="100" dirty="0">
                    <a:latin typeface="宋体" pitchFamily="2" charset="-122"/>
                    <a:ea typeface="宋体" pitchFamily="2" charset="-122"/>
                    <a:cs typeface="Times New Roman"/>
                  </a:rPr>
                  <a:t>BP</a:t>
                </a:r>
                <a:r>
                  <a:rPr lang="zh-CN" altLang="zh-CN" sz="2400" kern="100" dirty="0">
                    <a:latin typeface="宋体" pitchFamily="2" charset="-122"/>
                    <a:ea typeface="宋体" pitchFamily="2" charset="-122"/>
                    <a:cs typeface="Times New Roman"/>
                  </a:rPr>
                  <a:t>算法，可参考文献</a:t>
                </a:r>
                <a:r>
                  <a:rPr lang="en-US" altLang="zh-CN" sz="2400" kern="100" dirty="0">
                    <a:latin typeface="宋体" pitchFamily="2" charset="-122"/>
                    <a:ea typeface="宋体" pitchFamily="2" charset="-122"/>
                    <a:cs typeface="Times New Roman"/>
                  </a:rPr>
                  <a:t>[23]</a:t>
                </a:r>
                <a:r>
                  <a:rPr lang="zh-CN" altLang="zh-CN" sz="2400" kern="100" dirty="0">
                    <a:latin typeface="宋体" pitchFamily="2" charset="-122"/>
                    <a:ea typeface="宋体" pitchFamily="2" charset="-122"/>
                    <a:cs typeface="Times New Roman"/>
                  </a:rPr>
                  <a:t>，这里不再介绍该算法的具体细节，本节着重介绍如何利用</a:t>
                </a:r>
                <a:r>
                  <a:rPr lang="en-US" altLang="zh-CN" sz="2400" kern="100" dirty="0">
                    <a:latin typeface="宋体" pitchFamily="2" charset="-122"/>
                    <a:ea typeface="宋体" pitchFamily="2" charset="-122"/>
                    <a:cs typeface="Times New Roman"/>
                  </a:rPr>
                  <a:t>Python</a:t>
                </a:r>
                <a:r>
                  <a:rPr lang="zh-CN" altLang="zh-CN" sz="2400" kern="100" dirty="0">
                    <a:latin typeface="宋体" pitchFamily="2" charset="-122"/>
                    <a:ea typeface="宋体" pitchFamily="2" charset="-122"/>
                    <a:cs typeface="Times New Roman"/>
                  </a:rPr>
                  <a:t>进行神经网络模型应用。</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25625" y="1196753"/>
                <a:ext cx="10601349" cy="4929412"/>
              </a:xfrm>
              <a:blipFill rotWithShape="1">
                <a:blip r:embed="rId1"/>
                <a:stretch>
                  <a:fillRect l="-862" t="-989" r="-862" b="-3461"/>
                </a:stretch>
              </a:blipFill>
            </p:spPr>
            <p:txBody>
              <a:bodyPr/>
              <a:lstStyle/>
              <a:p>
                <a:r>
                  <a:rPr lang="zh-CN" altLang="en-US">
                    <a:noFill/>
                  </a:rPr>
                  <a:t> </a:t>
                </a:r>
                <a:endParaRPr lang="zh-CN" altLang="en-US">
                  <a:noFill/>
                </a:endParaRPr>
              </a:p>
            </p:txBody>
          </p:sp>
        </mc:Fallback>
      </mc:AlternateContent>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5</a:t>
            </a:r>
            <a:r>
              <a:rPr lang="en-US" altLang="zh-CN" dirty="0" smtClean="0">
                <a:solidFill>
                  <a:schemeClr val="accent2"/>
                </a:solidFill>
              </a:rPr>
              <a:t> </a:t>
            </a:r>
            <a:endParaRPr lang="zh-CN" altLang="en-US" dirty="0">
              <a:solidFill>
                <a:schemeClr val="accent2"/>
              </a:solidFill>
            </a:endParaRPr>
          </a:p>
        </p:txBody>
      </p:sp>
      <p:sp>
        <p:nvSpPr>
          <p:cNvPr id="6" name="TextBox 5"/>
          <p:cNvSpPr txBox="1"/>
          <p:nvPr/>
        </p:nvSpPr>
        <p:spPr>
          <a:xfrm>
            <a:off x="1330765" y="44625"/>
            <a:ext cx="555970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5.5.2  </a:t>
            </a:r>
            <a:r>
              <a:rPr lang="zh-CN" altLang="en-US" sz="2800" dirty="0">
                <a:solidFill>
                  <a:schemeClr val="accent2"/>
                </a:solidFill>
                <a:latin typeface="微软雅黑" panose="020B0503020204020204" pitchFamily="34" charset="-122"/>
                <a:ea typeface="微软雅黑" panose="020B0503020204020204" pitchFamily="34" charset="-122"/>
              </a:rPr>
              <a:t>神经网络结构及数学模型</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5625" y="908050"/>
            <a:ext cx="10601349" cy="1512837"/>
          </a:xfrm>
        </p:spPr>
        <p:txBody>
          <a:bodyPr/>
          <a:lstStyle/>
          <a:p>
            <a:r>
              <a:rPr lang="zh-CN" altLang="zh-CN" dirty="0"/>
              <a:t>仍以</a:t>
            </a:r>
            <a:r>
              <a:rPr lang="en-US" altLang="zh-CN" dirty="0"/>
              <a:t>5.4.2</a:t>
            </a:r>
            <a:r>
              <a:rPr lang="zh-CN" altLang="zh-CN" dirty="0"/>
              <a:t>的澳大利亚信贷批准数据集为例，介绍</a:t>
            </a:r>
            <a:r>
              <a:rPr lang="en-US" altLang="zh-CN" dirty="0"/>
              <a:t>Python</a:t>
            </a:r>
            <a:r>
              <a:rPr lang="zh-CN" altLang="zh-CN" dirty="0"/>
              <a:t>神经网络分类模型的应用。具体计算流程及思路如下：</a:t>
            </a:r>
            <a:br>
              <a:rPr lang="zh-CN" altLang="zh-CN" dirty="0"/>
            </a:br>
            <a:r>
              <a:rPr lang="en-US" altLang="zh-CN" dirty="0"/>
              <a:t>1.</a:t>
            </a:r>
            <a:r>
              <a:rPr lang="zh-CN" altLang="zh-CN" dirty="0"/>
              <a:t>数据获取及训练样本、测试样本的划分同</a:t>
            </a:r>
            <a:r>
              <a:rPr lang="en-US" altLang="zh-CN" dirty="0"/>
              <a:t>5.4.2</a:t>
            </a:r>
            <a:br>
              <a:rPr lang="zh-CN" altLang="zh-CN" dirty="0"/>
            </a:br>
            <a:r>
              <a:rPr lang="en-US" altLang="zh-CN" dirty="0"/>
              <a:t>2.</a:t>
            </a:r>
            <a:r>
              <a:rPr lang="zh-CN" altLang="zh-CN" dirty="0"/>
              <a:t>神经网络分类模型构建</a:t>
            </a:r>
            <a:br>
              <a:rPr lang="zh-CN" altLang="zh-CN" dirty="0"/>
            </a:br>
            <a:endParaRPr lang="zh-CN" altLang="en-US" dirty="0"/>
          </a:p>
        </p:txBody>
      </p:sp>
      <p:sp>
        <p:nvSpPr>
          <p:cNvPr id="3" name="内容占位符 2"/>
          <p:cNvSpPr>
            <a:spLocks noGrp="1"/>
          </p:cNvSpPr>
          <p:nvPr>
            <p:ph idx="1"/>
          </p:nvPr>
        </p:nvSpPr>
        <p:spPr>
          <a:xfrm>
            <a:off x="825625" y="2420887"/>
            <a:ext cx="10601349" cy="4176465"/>
          </a:xfrm>
        </p:spPr>
        <p:txBody>
          <a:bodyPr/>
          <a:lstStyle/>
          <a:p>
            <a:pPr marL="0" indent="0" algn="just">
              <a:spcAft>
                <a:spcPts val="0"/>
              </a:spcAft>
              <a:buNone/>
            </a:pPr>
            <a:r>
              <a:rPr lang="zh-CN" altLang="zh-CN" sz="2400" kern="100" dirty="0">
                <a:latin typeface="宋体" panose="02010600030101010101" pitchFamily="2" charset="-122"/>
                <a:ea typeface="宋体" panose="02010600030101010101" pitchFamily="2" charset="-122"/>
                <a:cs typeface="Times New Roman" panose="02020603050405020304"/>
              </a:rPr>
              <a:t>（</a:t>
            </a:r>
            <a:r>
              <a:rPr lang="en-US" altLang="zh-CN" sz="2400" kern="100" dirty="0">
                <a:latin typeface="宋体" panose="02010600030101010101" pitchFamily="2" charset="-122"/>
                <a:ea typeface="宋体" panose="02010600030101010101" pitchFamily="2" charset="-122"/>
                <a:cs typeface="Times New Roman" panose="02020603050405020304"/>
              </a:rPr>
              <a:t>1</a:t>
            </a:r>
            <a:r>
              <a:rPr lang="zh-CN" altLang="zh-CN" sz="2400" kern="100" dirty="0">
                <a:latin typeface="宋体" panose="02010600030101010101" pitchFamily="2" charset="-122"/>
                <a:ea typeface="宋体" panose="02010600030101010101" pitchFamily="2" charset="-122"/>
                <a:cs typeface="Times New Roman" panose="02020603050405020304"/>
              </a:rPr>
              <a:t>）导入神经网络分类模块</a:t>
            </a:r>
            <a:r>
              <a:rPr lang="en-US" altLang="zh-CN" sz="2400" kern="100" dirty="0" err="1">
                <a:latin typeface="宋体" panose="02010600030101010101" pitchFamily="2" charset="-122"/>
                <a:ea typeface="宋体" panose="02010600030101010101" pitchFamily="2" charset="-122"/>
                <a:cs typeface="Times New Roman" panose="02020603050405020304"/>
              </a:rPr>
              <a:t>MLPClassifier</a:t>
            </a:r>
            <a:r>
              <a:rPr lang="zh-CN" altLang="zh-CN" sz="2400" kern="100" dirty="0">
                <a:latin typeface="宋体" panose="02010600030101010101" pitchFamily="2" charset="-122"/>
                <a:ea typeface="宋体" panose="02010600030101010101" pitchFamily="2" charset="-122"/>
                <a:cs typeface="Times New Roman" panose="02020603050405020304"/>
              </a:rPr>
              <a:t>。</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from </a:t>
            </a:r>
            <a:r>
              <a:rPr lang="en-US" altLang="zh-CN" kern="100" dirty="0" err="1">
                <a:latin typeface="Calibri" panose="020F0502020204030204"/>
                <a:ea typeface="宋体" panose="02010600030101010101" pitchFamily="2" charset="-122"/>
                <a:cs typeface="Times New Roman" panose="02020603050405020304"/>
              </a:rPr>
              <a:t>sklearn.neural_network</a:t>
            </a:r>
            <a:r>
              <a:rPr lang="en-US" altLang="zh-CN" kern="100" dirty="0">
                <a:latin typeface="Calibri" panose="020F0502020204030204"/>
                <a:ea typeface="宋体" panose="02010600030101010101" pitchFamily="2" charset="-122"/>
                <a:cs typeface="Times New Roman" panose="02020603050405020304"/>
              </a:rPr>
              <a:t> import </a:t>
            </a:r>
            <a:r>
              <a:rPr lang="en-US" altLang="zh-CN" kern="100" dirty="0" err="1">
                <a:latin typeface="Calibri" panose="020F0502020204030204"/>
                <a:ea typeface="宋体" panose="02010600030101010101" pitchFamily="2" charset="-122"/>
                <a:cs typeface="Times New Roman" panose="02020603050405020304"/>
              </a:rPr>
              <a:t>MLPClassifier</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zh-CN" altLang="zh-CN" sz="2400" kern="100" dirty="0">
                <a:latin typeface="宋体" panose="02010600030101010101" pitchFamily="2" charset="-122"/>
                <a:ea typeface="宋体" panose="02010600030101010101" pitchFamily="2" charset="-122"/>
                <a:cs typeface="Times New Roman" panose="02020603050405020304"/>
              </a:rPr>
              <a:t>（</a:t>
            </a:r>
            <a:r>
              <a:rPr lang="en-US" altLang="zh-CN" sz="2400" kern="100" dirty="0">
                <a:latin typeface="宋体" panose="02010600030101010101" pitchFamily="2" charset="-122"/>
                <a:ea typeface="宋体" panose="02010600030101010101" pitchFamily="2" charset="-122"/>
                <a:cs typeface="Times New Roman" panose="02020603050405020304"/>
              </a:rPr>
              <a:t>2</a:t>
            </a:r>
            <a:r>
              <a:rPr lang="zh-CN" altLang="zh-CN" sz="2400" kern="100" dirty="0">
                <a:latin typeface="宋体" panose="02010600030101010101" pitchFamily="2" charset="-122"/>
                <a:ea typeface="宋体" panose="02010600030101010101" pitchFamily="2" charset="-122"/>
                <a:cs typeface="Times New Roman" panose="02020603050405020304"/>
              </a:rPr>
              <a:t>）利用</a:t>
            </a:r>
            <a:r>
              <a:rPr lang="en-US" altLang="zh-CN" sz="2400" kern="100" dirty="0" err="1">
                <a:latin typeface="宋体" panose="02010600030101010101" pitchFamily="2" charset="-122"/>
                <a:ea typeface="宋体" panose="02010600030101010101" pitchFamily="2" charset="-122"/>
                <a:cs typeface="Times New Roman" panose="02020603050405020304"/>
              </a:rPr>
              <a:t>MLPClassifier</a:t>
            </a:r>
            <a:r>
              <a:rPr lang="zh-CN" altLang="zh-CN" sz="2400" kern="100" dirty="0">
                <a:latin typeface="宋体" panose="02010600030101010101" pitchFamily="2" charset="-122"/>
                <a:ea typeface="宋体" panose="02010600030101010101" pitchFamily="2" charset="-122"/>
                <a:cs typeface="Times New Roman" panose="02020603050405020304"/>
              </a:rPr>
              <a:t>创建神经网络分类对象</a:t>
            </a:r>
            <a:r>
              <a:rPr lang="en-US" altLang="zh-CN" sz="2400" kern="100" dirty="0" err="1">
                <a:latin typeface="宋体" panose="02010600030101010101" pitchFamily="2" charset="-122"/>
                <a:ea typeface="宋体" panose="02010600030101010101" pitchFamily="2" charset="-122"/>
                <a:cs typeface="Times New Roman" panose="02020603050405020304"/>
              </a:rPr>
              <a:t>clf</a:t>
            </a:r>
            <a:r>
              <a:rPr lang="zh-CN" altLang="zh-CN" sz="2400" kern="100" dirty="0">
                <a:latin typeface="宋体" panose="02010600030101010101" pitchFamily="2" charset="-122"/>
                <a:ea typeface="宋体" panose="02010600030101010101" pitchFamily="2" charset="-122"/>
                <a:cs typeface="Times New Roman" panose="02020603050405020304"/>
              </a:rPr>
              <a:t>。</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en-US" altLang="zh-CN" kern="100" dirty="0" err="1">
                <a:latin typeface="Calibri" panose="020F0502020204030204"/>
                <a:ea typeface="宋体" panose="02010600030101010101" pitchFamily="2" charset="-122"/>
                <a:cs typeface="Times New Roman" panose="02020603050405020304"/>
              </a:rPr>
              <a:t>clf</a:t>
            </a:r>
            <a:r>
              <a:rPr lang="en-US" altLang="zh-CN" kern="100" dirty="0">
                <a:latin typeface="Calibri" panose="020F0502020204030204"/>
                <a:ea typeface="宋体" panose="02010600030101010101" pitchFamily="2" charset="-122"/>
                <a:cs typeface="Times New Roman" panose="02020603050405020304"/>
              </a:rPr>
              <a:t> = </a:t>
            </a:r>
            <a:r>
              <a:rPr lang="en-US" altLang="zh-CN" kern="100" dirty="0" err="1">
                <a:latin typeface="Calibri" panose="020F0502020204030204"/>
                <a:ea typeface="宋体" panose="02010600030101010101" pitchFamily="2" charset="-122"/>
                <a:cs typeface="Times New Roman" panose="02020603050405020304"/>
              </a:rPr>
              <a:t>MLPClassifier</a:t>
            </a:r>
            <a:r>
              <a:rPr lang="en-US" altLang="zh-CN" kern="100" dirty="0">
                <a:latin typeface="Calibri" panose="020F0502020204030204"/>
                <a:ea typeface="宋体" panose="02010600030101010101" pitchFamily="2" charset="-122"/>
                <a:cs typeface="Times New Roman" panose="02020603050405020304"/>
              </a:rPr>
              <a:t>(solver='</a:t>
            </a:r>
            <a:r>
              <a:rPr lang="en-US" altLang="zh-CN" kern="100" dirty="0" err="1">
                <a:latin typeface="Calibri" panose="020F0502020204030204"/>
                <a:ea typeface="宋体" panose="02010600030101010101" pitchFamily="2" charset="-122"/>
                <a:cs typeface="Times New Roman" panose="02020603050405020304"/>
              </a:rPr>
              <a:t>lbfgs</a:t>
            </a:r>
            <a:r>
              <a:rPr lang="en-US" altLang="zh-CN" kern="100" dirty="0">
                <a:latin typeface="Calibri" panose="020F0502020204030204"/>
                <a:ea typeface="宋体" panose="02010600030101010101" pitchFamily="2" charset="-122"/>
                <a:cs typeface="Times New Roman" panose="02020603050405020304"/>
              </a:rPr>
              <a:t>', alpha=1e-5,hidden_layer_sizes=(5,2), </a:t>
            </a:r>
            <a:r>
              <a:rPr lang="en-US" altLang="zh-CN" kern="100" dirty="0" err="1">
                <a:latin typeface="Calibri" panose="020F0502020204030204"/>
                <a:ea typeface="宋体" panose="02010600030101010101" pitchFamily="2" charset="-122"/>
                <a:cs typeface="Times New Roman" panose="02020603050405020304"/>
              </a:rPr>
              <a:t>random_state</a:t>
            </a:r>
            <a:r>
              <a:rPr lang="en-US" altLang="zh-CN" kern="100" dirty="0">
                <a:latin typeface="Calibri" panose="020F0502020204030204"/>
                <a:ea typeface="宋体" panose="02010600030101010101" pitchFamily="2" charset="-122"/>
                <a:cs typeface="Times New Roman" panose="02020603050405020304"/>
              </a:rPr>
              <a:t>=1)</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zh-CN" altLang="zh-CN" kern="100" dirty="0">
                <a:latin typeface="Calibri" panose="020F0502020204030204"/>
                <a:ea typeface="宋体" panose="02010600030101010101" pitchFamily="2" charset="-122"/>
                <a:cs typeface="Times New Roman" panose="02020603050405020304"/>
              </a:rPr>
              <a:t>参数说明：</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sz="2400" kern="100" dirty="0">
                <a:latin typeface="宋体" panose="02010600030101010101" pitchFamily="2" charset="-122"/>
                <a:ea typeface="宋体" panose="02010600030101010101" pitchFamily="2" charset="-122"/>
                <a:cs typeface="Times New Roman" panose="02020603050405020304"/>
              </a:rPr>
              <a:t>Solver</a:t>
            </a:r>
            <a:r>
              <a:rPr lang="zh-CN" altLang="zh-CN" sz="2400" kern="100" dirty="0">
                <a:latin typeface="宋体" panose="02010600030101010101" pitchFamily="2" charset="-122"/>
                <a:ea typeface="宋体" panose="02010600030101010101" pitchFamily="2" charset="-122"/>
                <a:cs typeface="Times New Roman" panose="02020603050405020304"/>
              </a:rPr>
              <a:t>：神经网络优化求解算法，包括</a:t>
            </a:r>
            <a:r>
              <a:rPr lang="en-US" altLang="zh-CN" sz="2400" kern="100" dirty="0" err="1">
                <a:latin typeface="宋体" panose="02010600030101010101" pitchFamily="2" charset="-122"/>
                <a:ea typeface="宋体" panose="02010600030101010101" pitchFamily="2" charset="-122"/>
                <a:cs typeface="Times New Roman" panose="02020603050405020304"/>
              </a:rPr>
              <a:t>lbfgs</a:t>
            </a:r>
            <a:r>
              <a:rPr lang="zh-CN" altLang="zh-CN" sz="2400" kern="100" dirty="0">
                <a:latin typeface="宋体" panose="02010600030101010101" pitchFamily="2" charset="-122"/>
                <a:ea typeface="宋体" panose="02010600030101010101" pitchFamily="2" charset="-122"/>
                <a:cs typeface="Times New Roman" panose="02020603050405020304"/>
              </a:rPr>
              <a:t>、</a:t>
            </a:r>
            <a:r>
              <a:rPr lang="en-US" altLang="zh-CN" sz="2400" kern="100" dirty="0" err="1">
                <a:latin typeface="宋体" panose="02010600030101010101" pitchFamily="2" charset="-122"/>
                <a:ea typeface="宋体" panose="02010600030101010101" pitchFamily="2" charset="-122"/>
                <a:cs typeface="Times New Roman" panose="02020603050405020304"/>
              </a:rPr>
              <a:t>sgd</a:t>
            </a:r>
            <a:r>
              <a:rPr lang="zh-CN" altLang="zh-CN" sz="2400" kern="100" dirty="0">
                <a:latin typeface="宋体" panose="02010600030101010101" pitchFamily="2" charset="-122"/>
                <a:ea typeface="宋体" panose="02010600030101010101" pitchFamily="2" charset="-122"/>
                <a:cs typeface="Times New Roman" panose="02020603050405020304"/>
              </a:rPr>
              <a:t>、</a:t>
            </a:r>
            <a:r>
              <a:rPr lang="en-US" altLang="zh-CN" sz="2400" kern="100" dirty="0" err="1">
                <a:latin typeface="宋体" panose="02010600030101010101" pitchFamily="2" charset="-122"/>
                <a:ea typeface="宋体" panose="02010600030101010101" pitchFamily="2" charset="-122"/>
                <a:cs typeface="Times New Roman" panose="02020603050405020304"/>
              </a:rPr>
              <a:t>adam</a:t>
            </a:r>
            <a:r>
              <a:rPr lang="zh-CN" altLang="zh-CN" sz="2400" kern="100" dirty="0">
                <a:latin typeface="宋体" panose="02010600030101010101" pitchFamily="2" charset="-122"/>
                <a:ea typeface="宋体" panose="02010600030101010101" pitchFamily="2" charset="-122"/>
                <a:cs typeface="Times New Roman" panose="02020603050405020304"/>
              </a:rPr>
              <a:t>三种，默认为</a:t>
            </a:r>
            <a:r>
              <a:rPr lang="en-US" altLang="zh-CN" sz="2400" kern="100" dirty="0" err="1">
                <a:latin typeface="宋体" panose="02010600030101010101" pitchFamily="2" charset="-122"/>
                <a:ea typeface="宋体" panose="02010600030101010101" pitchFamily="2" charset="-122"/>
                <a:cs typeface="Times New Roman" panose="02020603050405020304"/>
              </a:rPr>
              <a:t>adam</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en-US" altLang="zh-CN" sz="2400" kern="100" dirty="0">
                <a:latin typeface="宋体" panose="02010600030101010101" pitchFamily="2" charset="-122"/>
                <a:ea typeface="宋体" panose="02010600030101010101" pitchFamily="2" charset="-122"/>
                <a:cs typeface="Times New Roman" panose="02020603050405020304"/>
              </a:rPr>
              <a:t>Alpha</a:t>
            </a:r>
            <a:r>
              <a:rPr lang="zh-CN" altLang="zh-CN" sz="2400" kern="100" dirty="0">
                <a:latin typeface="宋体" panose="02010600030101010101" pitchFamily="2" charset="-122"/>
                <a:ea typeface="宋体" panose="02010600030101010101" pitchFamily="2" charset="-122"/>
                <a:cs typeface="Times New Roman" panose="02020603050405020304"/>
              </a:rPr>
              <a:t>：模型训练误差，默认为</a:t>
            </a:r>
            <a:r>
              <a:rPr lang="en-US" altLang="zh-CN" sz="2400" kern="100" dirty="0">
                <a:latin typeface="宋体" panose="02010600030101010101" pitchFamily="2" charset="-122"/>
                <a:ea typeface="宋体" panose="02010600030101010101" pitchFamily="2" charset="-122"/>
                <a:cs typeface="Times New Roman" panose="02020603050405020304"/>
              </a:rPr>
              <a:t>0.0001</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en-US" altLang="zh-CN" sz="2400" kern="100" dirty="0" err="1">
                <a:latin typeface="宋体" panose="02010600030101010101" pitchFamily="2" charset="-122"/>
                <a:ea typeface="宋体" panose="02010600030101010101" pitchFamily="2" charset="-122"/>
                <a:cs typeface="Times New Roman" panose="02020603050405020304"/>
              </a:rPr>
              <a:t>Hidden_layer_sizes</a:t>
            </a:r>
            <a:r>
              <a:rPr lang="zh-CN" altLang="zh-CN" sz="2400" kern="100" dirty="0">
                <a:latin typeface="宋体" panose="02010600030101010101" pitchFamily="2" charset="-122"/>
                <a:ea typeface="宋体" panose="02010600030101010101" pitchFamily="2" charset="-122"/>
                <a:cs typeface="Times New Roman" panose="02020603050405020304"/>
              </a:rPr>
              <a:t>：隐含层神经元个数，如果是单层神经元，设置其具体数值即可，本例中隐含层有两层，为</a:t>
            </a:r>
            <a:r>
              <a:rPr lang="en-US" altLang="zh-CN" sz="2400" kern="100" dirty="0">
                <a:latin typeface="宋体" panose="02010600030101010101" pitchFamily="2" charset="-122"/>
                <a:ea typeface="宋体" panose="02010600030101010101" pitchFamily="2" charset="-122"/>
                <a:cs typeface="Times New Roman" panose="02020603050405020304"/>
              </a:rPr>
              <a:t>5*2.</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en-US" altLang="zh-CN" sz="2400" kern="100" dirty="0" err="1">
                <a:latin typeface="宋体" panose="02010600030101010101" pitchFamily="2" charset="-122"/>
                <a:ea typeface="宋体" panose="02010600030101010101" pitchFamily="2" charset="-122"/>
                <a:cs typeface="Times New Roman" panose="02020603050405020304"/>
              </a:rPr>
              <a:t>random_state</a:t>
            </a:r>
            <a:r>
              <a:rPr lang="zh-CN" altLang="zh-CN" sz="2400" kern="100" dirty="0">
                <a:latin typeface="宋体" panose="02010600030101010101" pitchFamily="2" charset="-122"/>
                <a:ea typeface="宋体" panose="02010600030101010101" pitchFamily="2" charset="-122"/>
                <a:cs typeface="Times New Roman" panose="02020603050405020304"/>
              </a:rPr>
              <a:t>：默认设置为</a:t>
            </a:r>
            <a:r>
              <a:rPr lang="en-US" altLang="zh-CN" sz="2400" kern="100" dirty="0">
                <a:latin typeface="宋体" panose="02010600030101010101" pitchFamily="2" charset="-122"/>
                <a:ea typeface="宋体" panose="02010600030101010101" pitchFamily="2" charset="-122"/>
                <a:cs typeface="Times New Roman" panose="02020603050405020304"/>
              </a:rPr>
              <a:t>1</a:t>
            </a:r>
            <a:r>
              <a:rPr lang="zh-CN" altLang="zh-CN" sz="2400" kern="100" dirty="0">
                <a:latin typeface="宋体" panose="02010600030101010101" pitchFamily="2" charset="-122"/>
                <a:ea typeface="宋体" panose="02010600030101010101" pitchFamily="2" charset="-122"/>
                <a:cs typeface="Times New Roman" panose="02020603050405020304"/>
              </a:rPr>
              <a:t>即可。</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buNone/>
            </a:pPr>
            <a:endParaRPr lang="zh-CN" altLang="en-US" dirty="0"/>
          </a:p>
        </p:txBody>
      </p:sp>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5</a:t>
            </a:r>
            <a:r>
              <a:rPr lang="en-US" altLang="zh-CN" dirty="0" smtClean="0">
                <a:solidFill>
                  <a:schemeClr val="accent2"/>
                </a:solidFill>
              </a:rPr>
              <a:t> </a:t>
            </a:r>
            <a:endParaRPr lang="zh-CN" altLang="en-US" dirty="0">
              <a:solidFill>
                <a:schemeClr val="accent2"/>
              </a:solidFill>
            </a:endParaRPr>
          </a:p>
        </p:txBody>
      </p:sp>
      <p:sp>
        <p:nvSpPr>
          <p:cNvPr id="5" name="TextBox 4"/>
          <p:cNvSpPr txBox="1"/>
          <p:nvPr/>
        </p:nvSpPr>
        <p:spPr>
          <a:xfrm>
            <a:off x="1330765" y="44625"/>
            <a:ext cx="555970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kern="100" dirty="0">
                <a:solidFill>
                  <a:schemeClr val="accent2"/>
                </a:solidFill>
                <a:latin typeface="+mn-ea"/>
                <a:ea typeface="+mn-ea"/>
                <a:cs typeface="Times New Roman" panose="02020603050405020304"/>
              </a:rPr>
              <a:t>5.5.3  </a:t>
            </a:r>
            <a:r>
              <a:rPr lang="zh-CN" altLang="zh-CN" sz="2800" kern="100" dirty="0">
                <a:solidFill>
                  <a:schemeClr val="accent2"/>
                </a:solidFill>
                <a:latin typeface="+mn-ea"/>
                <a:ea typeface="+mn-ea"/>
                <a:cs typeface="Times New Roman" panose="02020603050405020304"/>
              </a:rPr>
              <a:t>神经网络分类应用举例</a:t>
            </a:r>
            <a:endParaRPr lang="zh-CN" altLang="en-US" sz="2800" dirty="0">
              <a:solidFill>
                <a:schemeClr val="accent2"/>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5625" y="1052737"/>
            <a:ext cx="10601349" cy="5073428"/>
          </a:xfrm>
        </p:spPr>
        <p:txBody>
          <a:bodyPr/>
          <a:lstStyle/>
          <a:p>
            <a:pPr marL="0" indent="0">
              <a:buNone/>
            </a:pP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3</a:t>
            </a:r>
            <a:r>
              <a:rPr lang="zh-CN" altLang="zh-CN" sz="2400" dirty="0">
                <a:latin typeface="宋体" panose="02010600030101010101" pitchFamily="2" charset="-122"/>
                <a:ea typeface="宋体" panose="02010600030101010101" pitchFamily="2" charset="-122"/>
              </a:rPr>
              <a:t>）调用</a:t>
            </a:r>
            <a:r>
              <a:rPr lang="en-US" altLang="zh-CN" sz="2400" dirty="0" err="1">
                <a:latin typeface="宋体" panose="02010600030101010101" pitchFamily="2" charset="-122"/>
                <a:ea typeface="宋体" panose="02010600030101010101" pitchFamily="2" charset="-122"/>
              </a:rPr>
              <a:t>clf</a:t>
            </a:r>
            <a:r>
              <a:rPr lang="zh-CN" altLang="zh-CN" sz="2400" dirty="0">
                <a:latin typeface="宋体" panose="02010600030101010101" pitchFamily="2" charset="-122"/>
                <a:ea typeface="宋体" panose="02010600030101010101" pitchFamily="2" charset="-122"/>
              </a:rPr>
              <a:t>对象中的</a:t>
            </a:r>
            <a:r>
              <a:rPr lang="en-US" altLang="zh-CN" sz="2400" dirty="0">
                <a:latin typeface="宋体" panose="02010600030101010101" pitchFamily="2" charset="-122"/>
                <a:ea typeface="宋体" panose="02010600030101010101" pitchFamily="2" charset="-122"/>
              </a:rPr>
              <a:t>fit()</a:t>
            </a:r>
            <a:r>
              <a:rPr lang="zh-CN" altLang="zh-CN" sz="2400" dirty="0">
                <a:latin typeface="宋体" panose="02010600030101010101" pitchFamily="2" charset="-122"/>
                <a:ea typeface="宋体" panose="02010600030101010101" pitchFamily="2" charset="-122"/>
              </a:rPr>
              <a:t>方法进行网络训练。</a:t>
            </a:r>
            <a:endParaRPr lang="zh-CN" altLang="zh-CN" sz="2400" dirty="0">
              <a:latin typeface="宋体" panose="02010600030101010101" pitchFamily="2" charset="-122"/>
              <a:ea typeface="宋体" panose="02010600030101010101" pitchFamily="2" charset="-122"/>
            </a:endParaRPr>
          </a:p>
          <a:p>
            <a:pPr marL="0" indent="0">
              <a:buNone/>
            </a:pPr>
            <a:r>
              <a:rPr lang="en-US" altLang="zh-CN" dirty="0" err="1"/>
              <a:t>clf.fit</a:t>
            </a:r>
            <a:r>
              <a:rPr lang="en-US" altLang="zh-CN" dirty="0"/>
              <a:t>(x, y)</a:t>
            </a:r>
            <a:endParaRPr lang="zh-CN" altLang="zh-CN" dirty="0"/>
          </a:p>
          <a:p>
            <a:pPr marL="0" indent="0">
              <a:buNone/>
            </a:pP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4</a:t>
            </a:r>
            <a:r>
              <a:rPr lang="zh-CN" altLang="zh-CN" sz="2400" dirty="0">
                <a:latin typeface="宋体" panose="02010600030101010101" pitchFamily="2" charset="-122"/>
                <a:ea typeface="宋体" panose="02010600030101010101" pitchFamily="2" charset="-122"/>
              </a:rPr>
              <a:t>）调用</a:t>
            </a:r>
            <a:r>
              <a:rPr lang="en-US" altLang="zh-CN" sz="2400" dirty="0" err="1">
                <a:latin typeface="宋体" panose="02010600030101010101" pitchFamily="2" charset="-122"/>
                <a:ea typeface="宋体" panose="02010600030101010101" pitchFamily="2" charset="-122"/>
              </a:rPr>
              <a:t>clf</a:t>
            </a:r>
            <a:r>
              <a:rPr lang="zh-CN" altLang="zh-CN" sz="2400" dirty="0">
                <a:latin typeface="宋体" panose="02010600030101010101" pitchFamily="2" charset="-122"/>
                <a:ea typeface="宋体" panose="02010600030101010101" pitchFamily="2" charset="-122"/>
              </a:rPr>
              <a:t>对象中的</a:t>
            </a:r>
            <a:r>
              <a:rPr lang="en-US" altLang="zh-CN" sz="2400" dirty="0">
                <a:latin typeface="宋体" panose="02010600030101010101" pitchFamily="2" charset="-122"/>
                <a:ea typeface="宋体" panose="02010600030101010101" pitchFamily="2" charset="-122"/>
              </a:rPr>
              <a:t>score ()</a:t>
            </a:r>
            <a:r>
              <a:rPr lang="zh-CN" altLang="zh-CN" sz="2400" dirty="0">
                <a:latin typeface="宋体" panose="02010600030101010101" pitchFamily="2" charset="-122"/>
                <a:ea typeface="宋体" panose="02010600030101010101" pitchFamily="2" charset="-122"/>
              </a:rPr>
              <a:t>方法，获得神经网络的预测准确率（针对训练数据）</a:t>
            </a:r>
            <a:endParaRPr lang="zh-CN" altLang="zh-CN" sz="2400" dirty="0">
              <a:latin typeface="宋体" panose="02010600030101010101" pitchFamily="2" charset="-122"/>
              <a:ea typeface="宋体" panose="02010600030101010101" pitchFamily="2" charset="-122"/>
            </a:endParaRPr>
          </a:p>
          <a:p>
            <a:pPr marL="0" indent="0">
              <a:buNone/>
            </a:pPr>
            <a:r>
              <a:rPr lang="en-US" altLang="zh-CN" dirty="0" err="1"/>
              <a:t>rv</a:t>
            </a:r>
            <a:r>
              <a:rPr lang="en-US" altLang="zh-CN" dirty="0"/>
              <a:t>=</a:t>
            </a:r>
            <a:r>
              <a:rPr lang="en-US" altLang="zh-CN" dirty="0" err="1"/>
              <a:t>clf.score</a:t>
            </a:r>
            <a:r>
              <a:rPr lang="en-US" altLang="zh-CN" dirty="0"/>
              <a:t>(</a:t>
            </a:r>
            <a:r>
              <a:rPr lang="en-US" altLang="zh-CN" dirty="0" err="1"/>
              <a:t>x,y</a:t>
            </a:r>
            <a:r>
              <a:rPr lang="en-US" altLang="zh-CN" dirty="0"/>
              <a:t>)</a:t>
            </a:r>
            <a:endParaRPr lang="zh-CN" altLang="zh-CN" dirty="0"/>
          </a:p>
          <a:p>
            <a:pPr marL="0" indent="0">
              <a:buNone/>
            </a:pP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5</a:t>
            </a:r>
            <a:r>
              <a:rPr lang="zh-CN" altLang="zh-CN" sz="2400" dirty="0">
                <a:latin typeface="宋体" panose="02010600030101010101" pitchFamily="2" charset="-122"/>
                <a:ea typeface="宋体" panose="02010600030101010101" pitchFamily="2" charset="-122"/>
              </a:rPr>
              <a:t>）调用</a:t>
            </a:r>
            <a:r>
              <a:rPr lang="en-US" altLang="zh-CN" sz="2400" dirty="0" err="1">
                <a:latin typeface="宋体" panose="02010600030101010101" pitchFamily="2" charset="-122"/>
                <a:ea typeface="宋体" panose="02010600030101010101" pitchFamily="2" charset="-122"/>
              </a:rPr>
              <a:t>clf</a:t>
            </a:r>
            <a:r>
              <a:rPr lang="zh-CN" altLang="zh-CN" sz="2400" dirty="0">
                <a:latin typeface="宋体" panose="02010600030101010101" pitchFamily="2" charset="-122"/>
                <a:ea typeface="宋体" panose="02010600030101010101" pitchFamily="2" charset="-122"/>
              </a:rPr>
              <a:t>对象中的</a:t>
            </a:r>
            <a:r>
              <a:rPr lang="en-US" altLang="zh-CN" sz="2400" dirty="0">
                <a:latin typeface="宋体" panose="02010600030101010101" pitchFamily="2" charset="-122"/>
                <a:ea typeface="宋体" panose="02010600030101010101" pitchFamily="2" charset="-122"/>
              </a:rPr>
              <a:t>predict()</a:t>
            </a:r>
            <a:r>
              <a:rPr lang="zh-CN" altLang="zh-CN" sz="2400" dirty="0">
                <a:latin typeface="宋体" panose="02010600030101010101" pitchFamily="2" charset="-122"/>
                <a:ea typeface="宋体" panose="02010600030101010101" pitchFamily="2" charset="-122"/>
              </a:rPr>
              <a:t>方法可以对测试样本进行预测，获得其预测结果</a:t>
            </a:r>
            <a:endParaRPr lang="zh-CN" altLang="zh-CN" sz="2400" dirty="0">
              <a:latin typeface="宋体" panose="02010600030101010101" pitchFamily="2" charset="-122"/>
              <a:ea typeface="宋体" panose="02010600030101010101" pitchFamily="2" charset="-122"/>
            </a:endParaRPr>
          </a:p>
          <a:p>
            <a:pPr marL="0" indent="0">
              <a:buNone/>
            </a:pPr>
            <a:r>
              <a:rPr lang="en-US" altLang="zh-CN" dirty="0"/>
              <a:t>R=</a:t>
            </a:r>
            <a:r>
              <a:rPr lang="en-US" altLang="zh-CN" dirty="0" err="1"/>
              <a:t>clf.predict</a:t>
            </a:r>
            <a:r>
              <a:rPr lang="en-US" altLang="zh-CN" dirty="0"/>
              <a:t>(x1)</a:t>
            </a:r>
            <a:endParaRPr lang="zh-CN" altLang="zh-CN" dirty="0"/>
          </a:p>
          <a:p>
            <a:pPr marL="0" indent="0">
              <a:buNone/>
            </a:pPr>
            <a:endParaRPr lang="zh-CN" altLang="en-US" dirty="0"/>
          </a:p>
        </p:txBody>
      </p:sp>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5</a:t>
            </a:r>
            <a:r>
              <a:rPr lang="en-US" altLang="zh-CN" dirty="0" smtClean="0">
                <a:solidFill>
                  <a:schemeClr val="accent2"/>
                </a:solidFill>
              </a:rPr>
              <a:t> </a:t>
            </a:r>
            <a:endParaRPr lang="zh-CN" altLang="en-US" dirty="0">
              <a:solidFill>
                <a:schemeClr val="accent2"/>
              </a:solidFill>
            </a:endParaRPr>
          </a:p>
        </p:txBody>
      </p:sp>
      <p:sp>
        <p:nvSpPr>
          <p:cNvPr id="5" name="TextBox 4"/>
          <p:cNvSpPr txBox="1"/>
          <p:nvPr/>
        </p:nvSpPr>
        <p:spPr>
          <a:xfrm>
            <a:off x="1330765" y="44625"/>
            <a:ext cx="555970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kern="100" dirty="0">
                <a:solidFill>
                  <a:schemeClr val="accent2"/>
                </a:solidFill>
                <a:latin typeface="+mn-ea"/>
                <a:ea typeface="+mn-ea"/>
                <a:cs typeface="Times New Roman" panose="02020603050405020304"/>
              </a:rPr>
              <a:t>5.5.3  </a:t>
            </a:r>
            <a:r>
              <a:rPr lang="zh-CN" altLang="zh-CN" sz="2800" kern="100" dirty="0">
                <a:solidFill>
                  <a:schemeClr val="accent2"/>
                </a:solidFill>
                <a:latin typeface="+mn-ea"/>
                <a:ea typeface="+mn-ea"/>
                <a:cs typeface="Times New Roman" panose="02020603050405020304"/>
              </a:rPr>
              <a:t>神经网络分类应用举例</a:t>
            </a:r>
            <a:endParaRPr lang="zh-CN" altLang="en-US" sz="2800" dirty="0">
              <a:solidFill>
                <a:schemeClr val="accent2"/>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5625" y="764704"/>
            <a:ext cx="10601349" cy="5904656"/>
          </a:xfrm>
        </p:spPr>
        <p:txBody>
          <a:bodyPr/>
          <a:lstStyle/>
          <a:p>
            <a:pPr marL="0" indent="0">
              <a:buNone/>
            </a:pPr>
            <a:r>
              <a:rPr lang="zh-CN" altLang="zh-CN" sz="2400" dirty="0">
                <a:latin typeface="宋体" panose="02010600030101010101" pitchFamily="2" charset="-122"/>
                <a:ea typeface="宋体" panose="02010600030101010101" pitchFamily="2" charset="-122"/>
              </a:rPr>
              <a:t>示例代码如下：</a:t>
            </a:r>
            <a:endParaRPr lang="zh-CN" altLang="zh-CN" sz="2400" dirty="0">
              <a:latin typeface="宋体" panose="02010600030101010101" pitchFamily="2" charset="-122"/>
              <a:ea typeface="宋体" panose="02010600030101010101" pitchFamily="2" charset="-122"/>
            </a:endParaRPr>
          </a:p>
          <a:p>
            <a:pPr marL="0" indent="0">
              <a:buNone/>
            </a:pPr>
            <a:r>
              <a:rPr lang="en-US" altLang="zh-CN" dirty="0"/>
              <a:t>import pandas as </a:t>
            </a:r>
            <a:r>
              <a:rPr lang="en-US" altLang="zh-CN" dirty="0" err="1"/>
              <a:t>pd</a:t>
            </a:r>
            <a:endParaRPr lang="zh-CN" altLang="zh-CN" dirty="0"/>
          </a:p>
          <a:p>
            <a:pPr marL="0" indent="0">
              <a:buNone/>
            </a:pPr>
            <a:r>
              <a:rPr lang="en-US" altLang="zh-CN" dirty="0"/>
              <a:t>data = </a:t>
            </a:r>
            <a:r>
              <a:rPr lang="en-US" altLang="zh-CN" dirty="0" err="1"/>
              <a:t>pd.read_excel</a:t>
            </a:r>
            <a:r>
              <a:rPr lang="en-US" altLang="zh-CN" dirty="0"/>
              <a:t>('credit.xlsx')</a:t>
            </a:r>
            <a:endParaRPr lang="zh-CN" altLang="zh-CN" dirty="0"/>
          </a:p>
          <a:p>
            <a:pPr marL="0" indent="0">
              <a:buNone/>
            </a:pPr>
            <a:r>
              <a:rPr lang="en-US" altLang="zh-CN" dirty="0"/>
              <a:t>x = </a:t>
            </a:r>
            <a:r>
              <a:rPr lang="en-US" altLang="zh-CN" dirty="0" err="1"/>
              <a:t>data.iloc</a:t>
            </a:r>
            <a:r>
              <a:rPr lang="en-US" altLang="zh-CN" dirty="0"/>
              <a:t>[:600,:14].</a:t>
            </a:r>
            <a:r>
              <a:rPr lang="en-US" altLang="zh-CN" dirty="0" err="1"/>
              <a:t>as_matrix</a:t>
            </a:r>
            <a:r>
              <a:rPr lang="en-US" altLang="zh-CN" dirty="0"/>
              <a:t>()</a:t>
            </a:r>
            <a:endParaRPr lang="zh-CN" altLang="zh-CN" dirty="0"/>
          </a:p>
          <a:p>
            <a:pPr marL="0" indent="0">
              <a:buNone/>
            </a:pPr>
            <a:r>
              <a:rPr lang="en-US" altLang="zh-CN" dirty="0"/>
              <a:t>y = </a:t>
            </a:r>
            <a:r>
              <a:rPr lang="en-US" altLang="zh-CN" dirty="0" err="1"/>
              <a:t>data.iloc</a:t>
            </a:r>
            <a:r>
              <a:rPr lang="en-US" altLang="zh-CN" dirty="0"/>
              <a:t>[:600,14].</a:t>
            </a:r>
            <a:r>
              <a:rPr lang="en-US" altLang="zh-CN" dirty="0" err="1"/>
              <a:t>as_matrix</a:t>
            </a:r>
            <a:r>
              <a:rPr lang="en-US" altLang="zh-CN" dirty="0"/>
              <a:t>()</a:t>
            </a:r>
            <a:endParaRPr lang="zh-CN" altLang="zh-CN" dirty="0"/>
          </a:p>
          <a:p>
            <a:pPr marL="0" indent="0">
              <a:buNone/>
            </a:pPr>
            <a:r>
              <a:rPr lang="en-US" altLang="zh-CN" dirty="0"/>
              <a:t>x1= </a:t>
            </a:r>
            <a:r>
              <a:rPr lang="en-US" altLang="zh-CN" dirty="0" err="1"/>
              <a:t>data.iloc</a:t>
            </a:r>
            <a:r>
              <a:rPr lang="en-US" altLang="zh-CN" dirty="0"/>
              <a:t>[600:,:14].</a:t>
            </a:r>
            <a:r>
              <a:rPr lang="en-US" altLang="zh-CN" dirty="0" err="1"/>
              <a:t>as_matrix</a:t>
            </a:r>
            <a:r>
              <a:rPr lang="en-US" altLang="zh-CN" dirty="0"/>
              <a:t>()</a:t>
            </a:r>
            <a:endParaRPr lang="zh-CN" altLang="zh-CN" dirty="0"/>
          </a:p>
          <a:p>
            <a:pPr marL="0" indent="0">
              <a:buNone/>
            </a:pPr>
            <a:r>
              <a:rPr lang="en-US" altLang="zh-CN" dirty="0"/>
              <a:t>y1= </a:t>
            </a:r>
            <a:r>
              <a:rPr lang="en-US" altLang="zh-CN" dirty="0" err="1"/>
              <a:t>data.iloc</a:t>
            </a:r>
            <a:r>
              <a:rPr lang="en-US" altLang="zh-CN" dirty="0"/>
              <a:t>[600:,14].</a:t>
            </a:r>
            <a:r>
              <a:rPr lang="en-US" altLang="zh-CN" dirty="0" err="1"/>
              <a:t>as_matrix</a:t>
            </a:r>
            <a:r>
              <a:rPr lang="en-US" altLang="zh-CN" dirty="0"/>
              <a:t>()</a:t>
            </a:r>
            <a:endParaRPr lang="zh-CN" altLang="zh-CN" dirty="0"/>
          </a:p>
          <a:p>
            <a:pPr marL="0" indent="0">
              <a:buNone/>
            </a:pPr>
            <a:r>
              <a:rPr lang="en-US" altLang="zh-CN" dirty="0"/>
              <a:t>from </a:t>
            </a:r>
            <a:r>
              <a:rPr lang="en-US" altLang="zh-CN" dirty="0" err="1"/>
              <a:t>sklearn.neural_network</a:t>
            </a:r>
            <a:r>
              <a:rPr lang="en-US" altLang="zh-CN" dirty="0"/>
              <a:t> import </a:t>
            </a:r>
            <a:r>
              <a:rPr lang="en-US" altLang="zh-CN" dirty="0" err="1"/>
              <a:t>MLPClassifier</a:t>
            </a:r>
            <a:endParaRPr lang="zh-CN" altLang="zh-CN" dirty="0"/>
          </a:p>
          <a:p>
            <a:pPr marL="0" indent="0">
              <a:buNone/>
            </a:pPr>
            <a:r>
              <a:rPr lang="en-US" altLang="zh-CN" dirty="0" err="1"/>
              <a:t>clf</a:t>
            </a:r>
            <a:r>
              <a:rPr lang="en-US" altLang="zh-CN" dirty="0"/>
              <a:t> = </a:t>
            </a:r>
            <a:r>
              <a:rPr lang="en-US" altLang="zh-CN" dirty="0" err="1"/>
              <a:t>MLPClassifier</a:t>
            </a:r>
            <a:r>
              <a:rPr lang="en-US" altLang="zh-CN" dirty="0"/>
              <a:t>(solver='</a:t>
            </a:r>
            <a:r>
              <a:rPr lang="en-US" altLang="zh-CN" dirty="0" err="1"/>
              <a:t>lbfgs</a:t>
            </a:r>
            <a:r>
              <a:rPr lang="en-US" altLang="zh-CN" dirty="0"/>
              <a:t>', alpha=1e-5,hidden_layer_sizes=(5,2), </a:t>
            </a:r>
            <a:r>
              <a:rPr lang="en-US" altLang="zh-CN" dirty="0" err="1"/>
              <a:t>random_state</a:t>
            </a:r>
            <a:r>
              <a:rPr lang="en-US" altLang="zh-CN" dirty="0"/>
              <a:t>=1)</a:t>
            </a:r>
            <a:endParaRPr lang="zh-CN" altLang="zh-CN" dirty="0"/>
          </a:p>
          <a:p>
            <a:pPr marL="0" indent="0">
              <a:buNone/>
            </a:pPr>
            <a:r>
              <a:rPr lang="en-US" altLang="zh-CN" dirty="0" err="1"/>
              <a:t>clf.fit</a:t>
            </a:r>
            <a:r>
              <a:rPr lang="en-US" altLang="zh-CN" dirty="0"/>
              <a:t>(x, y);</a:t>
            </a:r>
            <a:endParaRPr lang="zh-CN" altLang="zh-CN" dirty="0"/>
          </a:p>
          <a:p>
            <a:pPr marL="0" indent="0">
              <a:buNone/>
            </a:pPr>
            <a:r>
              <a:rPr lang="en-US" altLang="zh-CN" dirty="0" err="1"/>
              <a:t>rv</a:t>
            </a:r>
            <a:r>
              <a:rPr lang="en-US" altLang="zh-CN" dirty="0"/>
              <a:t>=</a:t>
            </a:r>
            <a:r>
              <a:rPr lang="en-US" altLang="zh-CN" dirty="0" err="1"/>
              <a:t>clf.score</a:t>
            </a:r>
            <a:r>
              <a:rPr lang="en-US" altLang="zh-CN" dirty="0"/>
              <a:t>(</a:t>
            </a:r>
            <a:r>
              <a:rPr lang="en-US" altLang="zh-CN" dirty="0" err="1"/>
              <a:t>x,y</a:t>
            </a:r>
            <a:r>
              <a:rPr lang="en-US" altLang="zh-CN" dirty="0"/>
              <a:t>)</a:t>
            </a:r>
            <a:endParaRPr lang="zh-CN" altLang="zh-CN" dirty="0"/>
          </a:p>
          <a:p>
            <a:pPr marL="0" indent="0">
              <a:buNone/>
            </a:pPr>
            <a:r>
              <a:rPr lang="en-US" altLang="zh-CN" dirty="0"/>
              <a:t>R=</a:t>
            </a:r>
            <a:r>
              <a:rPr lang="en-US" altLang="zh-CN" dirty="0" err="1"/>
              <a:t>clf.predict</a:t>
            </a:r>
            <a:r>
              <a:rPr lang="en-US" altLang="zh-CN" dirty="0"/>
              <a:t>(x1)</a:t>
            </a:r>
            <a:endParaRPr lang="zh-CN" altLang="zh-CN" dirty="0"/>
          </a:p>
          <a:p>
            <a:pPr marL="0" indent="0">
              <a:buNone/>
            </a:pPr>
            <a:r>
              <a:rPr lang="en-US" altLang="zh-CN" dirty="0"/>
              <a:t>Z=R-y1</a:t>
            </a:r>
            <a:endParaRPr lang="zh-CN" altLang="zh-CN" dirty="0"/>
          </a:p>
          <a:p>
            <a:pPr marL="0" indent="0">
              <a:buNone/>
            </a:pPr>
            <a:r>
              <a:rPr lang="en-US" altLang="zh-CN" dirty="0" err="1"/>
              <a:t>Rs</a:t>
            </a:r>
            <a:r>
              <a:rPr lang="en-US" altLang="zh-CN" dirty="0"/>
              <a:t>=</a:t>
            </a:r>
            <a:r>
              <a:rPr lang="en-US" altLang="zh-CN" dirty="0" err="1"/>
              <a:t>len</a:t>
            </a:r>
            <a:r>
              <a:rPr lang="en-US" altLang="zh-CN" dirty="0"/>
              <a:t>(Z[Z==0])/</a:t>
            </a:r>
            <a:r>
              <a:rPr lang="en-US" altLang="zh-CN" dirty="0" err="1"/>
              <a:t>len</a:t>
            </a:r>
            <a:r>
              <a:rPr lang="en-US" altLang="zh-CN" dirty="0"/>
              <a:t>(Z)</a:t>
            </a:r>
            <a:endParaRPr lang="en-US" altLang="zh-CN" dirty="0"/>
          </a:p>
          <a:p>
            <a:pPr marL="0" indent="0">
              <a:buNone/>
            </a:pPr>
            <a:r>
              <a:rPr lang="en-US" altLang="zh-CN" dirty="0"/>
              <a:t>print('</a:t>
            </a:r>
            <a:r>
              <a:rPr lang="zh-CN" altLang="zh-CN" dirty="0"/>
              <a:t>预测结果为：</a:t>
            </a:r>
            <a:r>
              <a:rPr lang="en-US" altLang="zh-CN" dirty="0"/>
              <a:t>',R)</a:t>
            </a:r>
            <a:endParaRPr lang="zh-CN" altLang="zh-CN" dirty="0"/>
          </a:p>
          <a:p>
            <a:pPr marL="0" indent="0">
              <a:buNone/>
            </a:pPr>
            <a:r>
              <a:rPr lang="en-US" altLang="zh-CN" dirty="0"/>
              <a:t>print('</a:t>
            </a:r>
            <a:r>
              <a:rPr lang="zh-CN" altLang="zh-CN" dirty="0"/>
              <a:t>预测准确率为：</a:t>
            </a:r>
            <a:r>
              <a:rPr lang="en-US" altLang="zh-CN" dirty="0"/>
              <a:t>',</a:t>
            </a:r>
            <a:r>
              <a:rPr lang="en-US" altLang="zh-CN" dirty="0" err="1"/>
              <a:t>Rs</a:t>
            </a:r>
            <a:r>
              <a:rPr lang="en-US" altLang="zh-CN" dirty="0"/>
              <a:t>)</a:t>
            </a:r>
            <a:endParaRPr lang="zh-CN" altLang="zh-CN" dirty="0"/>
          </a:p>
          <a:p>
            <a:pPr marL="0" indent="0">
              <a:buNone/>
            </a:pPr>
            <a:endParaRPr lang="zh-CN" altLang="zh-CN" dirty="0"/>
          </a:p>
        </p:txBody>
      </p:sp>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5</a:t>
            </a:r>
            <a:r>
              <a:rPr lang="en-US" altLang="zh-CN" dirty="0" smtClean="0">
                <a:solidFill>
                  <a:schemeClr val="accent2"/>
                </a:solidFill>
              </a:rPr>
              <a:t> </a:t>
            </a:r>
            <a:endParaRPr lang="zh-CN" altLang="en-US" dirty="0">
              <a:solidFill>
                <a:schemeClr val="accent2"/>
              </a:solidFill>
            </a:endParaRPr>
          </a:p>
        </p:txBody>
      </p:sp>
      <p:sp>
        <p:nvSpPr>
          <p:cNvPr id="5" name="TextBox 4"/>
          <p:cNvSpPr txBox="1"/>
          <p:nvPr/>
        </p:nvSpPr>
        <p:spPr>
          <a:xfrm>
            <a:off x="1330765" y="44625"/>
            <a:ext cx="555970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kern="100" dirty="0">
                <a:solidFill>
                  <a:schemeClr val="accent2"/>
                </a:solidFill>
                <a:latin typeface="+mn-ea"/>
                <a:ea typeface="+mn-ea"/>
                <a:cs typeface="Times New Roman" panose="02020603050405020304"/>
              </a:rPr>
              <a:t>5.5.3  </a:t>
            </a:r>
            <a:r>
              <a:rPr lang="zh-CN" altLang="zh-CN" sz="2800" kern="100" dirty="0">
                <a:solidFill>
                  <a:schemeClr val="accent2"/>
                </a:solidFill>
                <a:latin typeface="+mn-ea"/>
                <a:ea typeface="+mn-ea"/>
                <a:cs typeface="Times New Roman" panose="02020603050405020304"/>
              </a:rPr>
              <a:t>神经网络分类应用举例</a:t>
            </a:r>
            <a:endParaRPr lang="zh-CN" altLang="en-US" sz="2800" dirty="0">
              <a:solidFill>
                <a:schemeClr val="accent2"/>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5625" y="1916831"/>
            <a:ext cx="10601349" cy="4209333"/>
          </a:xfrm>
        </p:spPr>
        <p:txBody>
          <a:bodyPr/>
          <a:lstStyle/>
          <a:p>
            <a:pPr marL="0" indent="0" algn="just">
              <a:spcAft>
                <a:spcPts val="0"/>
              </a:spcAft>
              <a:buNone/>
            </a:pPr>
            <a:r>
              <a:rPr lang="zh-CN" altLang="zh-CN" sz="2400" kern="100" dirty="0">
                <a:latin typeface="宋体" panose="02010600030101010101" pitchFamily="2" charset="-122"/>
                <a:ea typeface="宋体" panose="02010600030101010101" pitchFamily="2" charset="-122"/>
                <a:cs typeface="Times New Roman" panose="02020603050405020304"/>
              </a:rPr>
              <a:t>执行结果如下：</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zh-CN" altLang="zh-CN" sz="2400" kern="100" dirty="0">
                <a:latin typeface="宋体" panose="02010600030101010101" pitchFamily="2" charset="-122"/>
                <a:ea typeface="宋体" panose="02010600030101010101" pitchFamily="2" charset="-122"/>
                <a:cs typeface="Times New Roman" panose="02020603050405020304"/>
              </a:rPr>
              <a:t>预测结果为：</a:t>
            </a:r>
            <a:r>
              <a:rPr lang="en-US" altLang="zh-CN" sz="2400" kern="100" dirty="0">
                <a:latin typeface="宋体" panose="02010600030101010101" pitchFamily="2" charset="-122"/>
                <a:ea typeface="宋体" panose="02010600030101010101" pitchFamily="2" charset="-122"/>
                <a:cs typeface="Times New Roman" panose="02020603050405020304"/>
              </a:rPr>
              <a:t> [0 1 1 1 1 0 0 1 0 1 1 0 0 0 1 1 0 0 0 1 0 1 1 0 1 0 0 0 0 0 0 0 0 0 0 0 00 0 0 0 1 1 0 1 0 1 1 0 1 0 0 0 1 0 0 1 0 0 0 1 0 1 0 0 0 0 0 0 0 0 0 0 00 0 0 0 0 1 0 0 1 0 1 1 0 0 1 0]</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zh-CN" altLang="zh-CN" sz="2400" kern="100" dirty="0">
                <a:latin typeface="宋体" panose="02010600030101010101" pitchFamily="2" charset="-122"/>
                <a:ea typeface="宋体" panose="02010600030101010101" pitchFamily="2" charset="-122"/>
                <a:cs typeface="Times New Roman" panose="02020603050405020304"/>
              </a:rPr>
              <a:t>预测准确率为：</a:t>
            </a:r>
            <a:r>
              <a:rPr lang="en-US" altLang="zh-CN" sz="2400" kern="100" dirty="0">
                <a:latin typeface="宋体" panose="02010600030101010101" pitchFamily="2" charset="-122"/>
                <a:ea typeface="宋体" panose="02010600030101010101" pitchFamily="2" charset="-122"/>
                <a:cs typeface="Times New Roman" panose="02020603050405020304"/>
              </a:rPr>
              <a:t> 0.8222222222222222</a:t>
            </a:r>
            <a:endParaRPr lang="zh-CN" altLang="zh-CN" sz="2400" kern="100" dirty="0">
              <a:latin typeface="宋体" panose="02010600030101010101" pitchFamily="2" charset="-122"/>
              <a:ea typeface="宋体" panose="02010600030101010101" pitchFamily="2" charset="-122"/>
              <a:cs typeface="Times New Roman" panose="02020603050405020304"/>
            </a:endParaRPr>
          </a:p>
          <a:p>
            <a:endParaRPr lang="zh-CN" altLang="en-US" dirty="0"/>
          </a:p>
        </p:txBody>
      </p:sp>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5</a:t>
            </a:r>
            <a:r>
              <a:rPr lang="en-US" altLang="zh-CN" dirty="0" smtClean="0">
                <a:solidFill>
                  <a:schemeClr val="accent2"/>
                </a:solidFill>
              </a:rPr>
              <a:t> </a:t>
            </a:r>
            <a:endParaRPr lang="zh-CN" altLang="en-US" dirty="0">
              <a:solidFill>
                <a:schemeClr val="accent2"/>
              </a:solidFill>
            </a:endParaRPr>
          </a:p>
        </p:txBody>
      </p:sp>
      <p:sp>
        <p:nvSpPr>
          <p:cNvPr id="5" name="TextBox 4"/>
          <p:cNvSpPr txBox="1"/>
          <p:nvPr/>
        </p:nvSpPr>
        <p:spPr>
          <a:xfrm>
            <a:off x="1330765" y="44625"/>
            <a:ext cx="555970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kern="100" dirty="0">
                <a:solidFill>
                  <a:schemeClr val="accent2"/>
                </a:solidFill>
                <a:latin typeface="+mn-ea"/>
                <a:ea typeface="+mn-ea"/>
                <a:cs typeface="Times New Roman" panose="02020603050405020304"/>
              </a:rPr>
              <a:t>5.5.3  </a:t>
            </a:r>
            <a:r>
              <a:rPr lang="zh-CN" altLang="zh-CN" sz="2800" kern="100" dirty="0">
                <a:solidFill>
                  <a:schemeClr val="accent2"/>
                </a:solidFill>
                <a:latin typeface="+mn-ea"/>
                <a:ea typeface="+mn-ea"/>
                <a:cs typeface="Times New Roman" panose="02020603050405020304"/>
              </a:rPr>
              <a:t>神经网络分类应用举例</a:t>
            </a:r>
            <a:endParaRPr lang="zh-CN" altLang="en-US" sz="2800" dirty="0">
              <a:solidFill>
                <a:schemeClr val="accent2"/>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5625" y="764704"/>
            <a:ext cx="10601349" cy="1080119"/>
          </a:xfrm>
        </p:spPr>
        <p:txBody>
          <a:bodyPr/>
          <a:lstStyle/>
          <a:p>
            <a:r>
              <a:rPr lang="zh-CN" altLang="zh-CN" dirty="0">
                <a:latin typeface="宋体" panose="02010600030101010101" pitchFamily="2" charset="-122"/>
                <a:ea typeface="宋体" panose="02010600030101010101" pitchFamily="2" charset="-122"/>
              </a:rPr>
              <a:t>仍以</a:t>
            </a:r>
            <a:r>
              <a:rPr lang="en-US" altLang="zh-CN" dirty="0">
                <a:latin typeface="宋体" panose="02010600030101010101" pitchFamily="2" charset="-122"/>
                <a:ea typeface="宋体" panose="02010600030101010101" pitchFamily="2" charset="-122"/>
              </a:rPr>
              <a:t>5.3.3</a:t>
            </a:r>
            <a:r>
              <a:rPr lang="zh-CN" altLang="zh-CN" dirty="0">
                <a:latin typeface="宋体" panose="02010600030101010101" pitchFamily="2" charset="-122"/>
                <a:ea typeface="宋体" panose="02010600030101010101" pitchFamily="2" charset="-122"/>
              </a:rPr>
              <a:t>中的发电场数据为例，预测</a:t>
            </a:r>
            <a:r>
              <a:rPr lang="en-US" altLang="zh-CN" dirty="0">
                <a:latin typeface="宋体" panose="02010600030101010101" pitchFamily="2" charset="-122"/>
                <a:ea typeface="宋体" panose="02010600030101010101" pitchFamily="2" charset="-122"/>
              </a:rPr>
              <a:t>AT=28.4</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V=50.6</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AP=1011.9</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RH=80.54</a:t>
            </a:r>
            <a:r>
              <a:rPr lang="zh-CN" altLang="zh-CN" dirty="0">
                <a:latin typeface="宋体" panose="02010600030101010101" pitchFamily="2" charset="-122"/>
                <a:ea typeface="宋体" panose="02010600030101010101" pitchFamily="2" charset="-122"/>
              </a:rPr>
              <a:t>时的</a:t>
            </a:r>
            <a:r>
              <a:rPr lang="en-US" altLang="zh-CN" dirty="0">
                <a:latin typeface="宋体" panose="02010600030101010101" pitchFamily="2" charset="-122"/>
                <a:ea typeface="宋体" panose="02010600030101010101" pitchFamily="2" charset="-122"/>
              </a:rPr>
              <a:t>PE</a:t>
            </a:r>
            <a:r>
              <a:rPr lang="zh-CN" altLang="zh-CN" dirty="0">
                <a:latin typeface="宋体" panose="02010600030101010101" pitchFamily="2" charset="-122"/>
                <a:ea typeface="宋体" panose="02010600030101010101" pitchFamily="2" charset="-122"/>
              </a:rPr>
              <a:t>值。其计算流程及思路如下</a:t>
            </a:r>
            <a:r>
              <a:rPr lang="zh-CN" altLang="zh-CN" dirty="0"/>
              <a:t>：</a:t>
            </a:r>
            <a:br>
              <a:rPr lang="zh-CN" altLang="zh-CN" dirty="0"/>
            </a:br>
            <a:endParaRPr lang="zh-CN" altLang="en-US" dirty="0"/>
          </a:p>
        </p:txBody>
      </p:sp>
      <p:sp>
        <p:nvSpPr>
          <p:cNvPr id="3" name="内容占位符 2"/>
          <p:cNvSpPr>
            <a:spLocks noGrp="1"/>
          </p:cNvSpPr>
          <p:nvPr>
            <p:ph idx="1"/>
          </p:nvPr>
        </p:nvSpPr>
        <p:spPr/>
        <p:txBody>
          <a:bodyPr/>
          <a:lstStyle/>
          <a:p>
            <a:pPr marL="0" indent="0" algn="just">
              <a:spcAft>
                <a:spcPts val="0"/>
              </a:spcAft>
              <a:buNone/>
            </a:pPr>
            <a:r>
              <a:rPr lang="en-US" altLang="zh-CN" sz="2400" kern="100" dirty="0">
                <a:latin typeface="宋体" panose="02010600030101010101" pitchFamily="2" charset="-122"/>
                <a:ea typeface="宋体" panose="02010600030101010101" pitchFamily="2" charset="-122"/>
                <a:cs typeface="Times New Roman" panose="02020603050405020304"/>
              </a:rPr>
              <a:t>1</a:t>
            </a:r>
            <a:r>
              <a:rPr lang="zh-CN" altLang="zh-CN" sz="2400" kern="100" dirty="0">
                <a:latin typeface="宋体" panose="02010600030101010101" pitchFamily="2" charset="-122"/>
                <a:ea typeface="宋体" panose="02010600030101010101" pitchFamily="2" charset="-122"/>
                <a:cs typeface="Times New Roman" panose="02020603050405020304"/>
              </a:rPr>
              <a:t>．数据获取及训练样本构建</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zh-CN" altLang="zh-CN" sz="2400" kern="100" dirty="0">
                <a:latin typeface="宋体" panose="02010600030101010101" pitchFamily="2" charset="-122"/>
                <a:ea typeface="宋体" panose="02010600030101010101" pitchFamily="2" charset="-122"/>
                <a:cs typeface="Times New Roman" panose="02020603050405020304"/>
              </a:rPr>
              <a:t>其中训练样本的特征输入变量用</a:t>
            </a:r>
            <a:r>
              <a:rPr lang="en-US" altLang="zh-CN" sz="2400" kern="100" dirty="0">
                <a:latin typeface="宋体" panose="02010600030101010101" pitchFamily="2" charset="-122"/>
                <a:ea typeface="宋体" panose="02010600030101010101" pitchFamily="2" charset="-122"/>
                <a:cs typeface="Times New Roman" panose="02020603050405020304"/>
              </a:rPr>
              <a:t>x</a:t>
            </a:r>
            <a:r>
              <a:rPr lang="zh-CN" altLang="zh-CN" sz="2400" kern="100" dirty="0">
                <a:latin typeface="宋体" panose="02010600030101010101" pitchFamily="2" charset="-122"/>
                <a:ea typeface="宋体" panose="02010600030101010101" pitchFamily="2" charset="-122"/>
                <a:cs typeface="Times New Roman" panose="02020603050405020304"/>
              </a:rPr>
              <a:t>表示，输出变量用</a:t>
            </a:r>
            <a:r>
              <a:rPr lang="en-US" altLang="zh-CN" sz="2400" kern="100" dirty="0">
                <a:latin typeface="宋体" panose="02010600030101010101" pitchFamily="2" charset="-122"/>
                <a:ea typeface="宋体" panose="02010600030101010101" pitchFamily="2" charset="-122"/>
                <a:cs typeface="Times New Roman" panose="02020603050405020304"/>
              </a:rPr>
              <a:t>y</a:t>
            </a:r>
            <a:r>
              <a:rPr lang="zh-CN" altLang="zh-CN" sz="2400" kern="100" dirty="0">
                <a:latin typeface="宋体" panose="02010600030101010101" pitchFamily="2" charset="-122"/>
                <a:ea typeface="宋体" panose="02010600030101010101" pitchFamily="2" charset="-122"/>
                <a:cs typeface="Times New Roman" panose="02020603050405020304"/>
              </a:rPr>
              <a:t>表示。</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import pandas as </a:t>
            </a:r>
            <a:r>
              <a:rPr lang="en-US" altLang="zh-CN" kern="100" dirty="0" err="1">
                <a:latin typeface="Calibri" panose="020F0502020204030204"/>
                <a:ea typeface="宋体" panose="02010600030101010101" pitchFamily="2" charset="-122"/>
                <a:cs typeface="Times New Roman" panose="02020603050405020304"/>
              </a:rPr>
              <a:t>pd</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data = </a:t>
            </a:r>
            <a:r>
              <a:rPr lang="en-US" altLang="zh-CN" kern="100" dirty="0" err="1">
                <a:latin typeface="Calibri" panose="020F0502020204030204"/>
                <a:ea typeface="宋体" panose="02010600030101010101" pitchFamily="2" charset="-122"/>
                <a:cs typeface="Times New Roman" panose="02020603050405020304"/>
              </a:rPr>
              <a:t>pd.read_excel</a:t>
            </a:r>
            <a:r>
              <a:rPr lang="en-US" altLang="zh-CN" kern="100" dirty="0">
                <a:latin typeface="Calibri" panose="020F0502020204030204"/>
                <a:ea typeface="宋体" panose="02010600030101010101" pitchFamily="2" charset="-122"/>
                <a:cs typeface="Times New Roman" panose="02020603050405020304"/>
              </a:rPr>
              <a:t>('</a:t>
            </a:r>
            <a:r>
              <a:rPr lang="zh-CN" altLang="zh-CN" kern="100" dirty="0">
                <a:latin typeface="Calibri" panose="020F0502020204030204"/>
                <a:ea typeface="宋体" panose="02010600030101010101" pitchFamily="2" charset="-122"/>
                <a:cs typeface="Times New Roman" panose="02020603050405020304"/>
              </a:rPr>
              <a:t>发电场数据</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xlsx</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x = </a:t>
            </a:r>
            <a:r>
              <a:rPr lang="en-US" altLang="zh-CN" kern="100" dirty="0" err="1">
                <a:latin typeface="Calibri" panose="020F0502020204030204"/>
                <a:ea typeface="宋体" panose="02010600030101010101" pitchFamily="2" charset="-122"/>
                <a:cs typeface="Times New Roman" panose="02020603050405020304"/>
              </a:rPr>
              <a:t>data.iloc</a:t>
            </a:r>
            <a:r>
              <a:rPr lang="en-US" altLang="zh-CN" kern="100" dirty="0">
                <a:latin typeface="Calibri" panose="020F0502020204030204"/>
                <a:ea typeface="宋体" panose="02010600030101010101" pitchFamily="2" charset="-122"/>
                <a:cs typeface="Times New Roman" panose="02020603050405020304"/>
              </a:rPr>
              <a:t>[:,0:4]</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y = </a:t>
            </a:r>
            <a:r>
              <a:rPr lang="en-US" altLang="zh-CN" kern="100" dirty="0" err="1">
                <a:latin typeface="Calibri" panose="020F0502020204030204"/>
                <a:ea typeface="宋体" panose="02010600030101010101" pitchFamily="2" charset="-122"/>
                <a:cs typeface="Times New Roman" panose="02020603050405020304"/>
              </a:rPr>
              <a:t>data.iloc</a:t>
            </a:r>
            <a:r>
              <a:rPr lang="en-US" altLang="zh-CN" kern="100" dirty="0">
                <a:latin typeface="Calibri" panose="020F0502020204030204"/>
                <a:ea typeface="宋体" panose="02010600030101010101" pitchFamily="2" charset="-122"/>
                <a:cs typeface="Times New Roman" panose="02020603050405020304"/>
              </a:rPr>
              <a:t>[:,4]</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sz="2400" kern="100" dirty="0">
                <a:latin typeface="宋体" panose="02010600030101010101" pitchFamily="2" charset="-122"/>
                <a:ea typeface="宋体" panose="02010600030101010101" pitchFamily="2" charset="-122"/>
                <a:cs typeface="Times New Roman" panose="02020603050405020304"/>
              </a:rPr>
              <a:t>2</a:t>
            </a:r>
            <a:r>
              <a:rPr lang="zh-CN" altLang="zh-CN" sz="2400" kern="100" dirty="0">
                <a:latin typeface="宋体" panose="02010600030101010101" pitchFamily="2" charset="-122"/>
                <a:ea typeface="宋体" panose="02010600030101010101" pitchFamily="2" charset="-122"/>
                <a:cs typeface="Times New Roman" panose="02020603050405020304"/>
              </a:rPr>
              <a:t>．预测样本的构建</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zh-CN" altLang="zh-CN" sz="2400" kern="100" dirty="0">
                <a:latin typeface="宋体" panose="02010600030101010101" pitchFamily="2" charset="-122"/>
                <a:ea typeface="宋体" panose="02010600030101010101" pitchFamily="2" charset="-122"/>
                <a:cs typeface="Times New Roman" panose="02020603050405020304"/>
              </a:rPr>
              <a:t>其中预测样本的输入特征变量用</a:t>
            </a:r>
            <a:r>
              <a:rPr lang="en-US" altLang="zh-CN" sz="2400" kern="100" dirty="0">
                <a:latin typeface="宋体" panose="02010600030101010101" pitchFamily="2" charset="-122"/>
                <a:ea typeface="宋体" panose="02010600030101010101" pitchFamily="2" charset="-122"/>
                <a:cs typeface="Times New Roman" panose="02020603050405020304"/>
              </a:rPr>
              <a:t>x1</a:t>
            </a:r>
            <a:r>
              <a:rPr lang="zh-CN" altLang="zh-CN" sz="2400" kern="100" dirty="0">
                <a:latin typeface="宋体" panose="02010600030101010101" pitchFamily="2" charset="-122"/>
                <a:ea typeface="宋体" panose="02010600030101010101" pitchFamily="2" charset="-122"/>
                <a:cs typeface="Times New Roman" panose="02020603050405020304"/>
              </a:rPr>
              <a:t>表示</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import </a:t>
            </a:r>
            <a:r>
              <a:rPr lang="en-US" altLang="zh-CN" kern="100" dirty="0" err="1">
                <a:latin typeface="Calibri" panose="020F0502020204030204"/>
                <a:ea typeface="宋体" panose="02010600030101010101" pitchFamily="2" charset="-122"/>
                <a:cs typeface="Times New Roman" panose="02020603050405020304"/>
              </a:rPr>
              <a:t>numpy</a:t>
            </a:r>
            <a:r>
              <a:rPr lang="en-US" altLang="zh-CN" kern="100" dirty="0">
                <a:latin typeface="Calibri" panose="020F0502020204030204"/>
                <a:ea typeface="宋体" panose="02010600030101010101" pitchFamily="2" charset="-122"/>
                <a:cs typeface="Times New Roman" panose="02020603050405020304"/>
              </a:rPr>
              <a:t> as </a:t>
            </a:r>
            <a:r>
              <a:rPr lang="en-US" altLang="zh-CN" kern="100" dirty="0" err="1">
                <a:latin typeface="Calibri" panose="020F0502020204030204"/>
                <a:ea typeface="宋体" panose="02010600030101010101" pitchFamily="2" charset="-122"/>
                <a:cs typeface="Times New Roman" panose="02020603050405020304"/>
              </a:rPr>
              <a:t>np</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x1=</a:t>
            </a:r>
            <a:r>
              <a:rPr lang="en-US" altLang="zh-CN" kern="100" dirty="0" err="1">
                <a:latin typeface="Calibri" panose="020F0502020204030204"/>
                <a:ea typeface="宋体" panose="02010600030101010101" pitchFamily="2" charset="-122"/>
                <a:cs typeface="Times New Roman" panose="02020603050405020304"/>
              </a:rPr>
              <a:t>np.array</a:t>
            </a:r>
            <a:r>
              <a:rPr lang="en-US" altLang="zh-CN" kern="100" dirty="0">
                <a:latin typeface="Calibri" panose="020F0502020204030204"/>
                <a:ea typeface="宋体" panose="02010600030101010101" pitchFamily="2" charset="-122"/>
                <a:cs typeface="Times New Roman" panose="02020603050405020304"/>
              </a:rPr>
              <a:t>([28.4,50.6,1011.9,80.54])</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x1=x1.reshape(1,4)</a:t>
            </a:r>
            <a:endParaRPr lang="zh-CN" altLang="zh-CN" kern="100" dirty="0">
              <a:latin typeface="Calibri" panose="020F0502020204030204"/>
              <a:ea typeface="宋体" panose="02010600030101010101" pitchFamily="2" charset="-122"/>
              <a:cs typeface="Times New Roman" panose="02020603050405020304"/>
            </a:endParaRPr>
          </a:p>
          <a:p>
            <a:endParaRPr lang="zh-CN" altLang="en-US" dirty="0"/>
          </a:p>
        </p:txBody>
      </p:sp>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5</a:t>
            </a:r>
            <a:r>
              <a:rPr lang="en-US" altLang="zh-CN" dirty="0" smtClean="0">
                <a:solidFill>
                  <a:schemeClr val="accent2"/>
                </a:solidFill>
              </a:rPr>
              <a:t> </a:t>
            </a:r>
            <a:endParaRPr lang="zh-CN" altLang="en-US" dirty="0">
              <a:solidFill>
                <a:schemeClr val="accent2"/>
              </a:solidFill>
            </a:endParaRPr>
          </a:p>
        </p:txBody>
      </p:sp>
      <p:sp>
        <p:nvSpPr>
          <p:cNvPr id="5" name="TextBox 4"/>
          <p:cNvSpPr txBox="1"/>
          <p:nvPr/>
        </p:nvSpPr>
        <p:spPr>
          <a:xfrm>
            <a:off x="1330765" y="44625"/>
            <a:ext cx="555970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kern="100" dirty="0">
                <a:solidFill>
                  <a:schemeClr val="accent2"/>
                </a:solidFill>
                <a:latin typeface="+mn-ea"/>
                <a:ea typeface="+mn-ea"/>
                <a:cs typeface="Times New Roman" panose="02020603050405020304"/>
              </a:rPr>
              <a:t>5.5.4  </a:t>
            </a:r>
            <a:r>
              <a:rPr lang="zh-CN" altLang="zh-CN" sz="2800" kern="100" dirty="0">
                <a:solidFill>
                  <a:schemeClr val="accent2"/>
                </a:solidFill>
                <a:latin typeface="+mn-ea"/>
                <a:ea typeface="+mn-ea"/>
                <a:cs typeface="Times New Roman" panose="02020603050405020304"/>
              </a:rPr>
              <a:t>神经网络</a:t>
            </a:r>
            <a:r>
              <a:rPr lang="zh-CN" altLang="en-US" sz="2800" kern="100" dirty="0">
                <a:solidFill>
                  <a:schemeClr val="accent2"/>
                </a:solidFill>
                <a:latin typeface="+mn-ea"/>
                <a:ea typeface="+mn-ea"/>
                <a:cs typeface="Times New Roman" panose="02020603050405020304"/>
              </a:rPr>
              <a:t>回归</a:t>
            </a:r>
            <a:r>
              <a:rPr lang="zh-CN" altLang="zh-CN" sz="2800" kern="100" dirty="0">
                <a:solidFill>
                  <a:schemeClr val="accent2"/>
                </a:solidFill>
                <a:latin typeface="+mn-ea"/>
                <a:ea typeface="+mn-ea"/>
                <a:cs typeface="Times New Roman" panose="02020603050405020304"/>
              </a:rPr>
              <a:t>应用举例</a:t>
            </a:r>
            <a:endParaRPr lang="zh-CN" altLang="en-US" sz="2800" dirty="0">
              <a:solidFill>
                <a:schemeClr val="accent2"/>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5625" y="836713"/>
            <a:ext cx="10601349" cy="5289452"/>
          </a:xfrm>
        </p:spPr>
        <p:txBody>
          <a:bodyPr/>
          <a:lstStyle/>
          <a:p>
            <a:pPr marL="0" indent="0">
              <a:buNone/>
            </a:pPr>
            <a:r>
              <a:rPr lang="en-US" altLang="zh-CN" sz="2400" dirty="0">
                <a:latin typeface="宋体" panose="02010600030101010101" pitchFamily="2" charset="-122"/>
                <a:ea typeface="宋体" panose="02010600030101010101" pitchFamily="2" charset="-122"/>
              </a:rPr>
              <a:t>3</a:t>
            </a:r>
            <a:r>
              <a:rPr lang="zh-CN" altLang="zh-CN" sz="2400" dirty="0">
                <a:latin typeface="宋体" panose="02010600030101010101" pitchFamily="2" charset="-122"/>
                <a:ea typeface="宋体" panose="02010600030101010101" pitchFamily="2" charset="-122"/>
              </a:rPr>
              <a:t>．神经网络回归模型构建</a:t>
            </a:r>
            <a:endParaRPr lang="zh-CN" altLang="zh-CN" sz="2400" dirty="0">
              <a:latin typeface="宋体" panose="02010600030101010101" pitchFamily="2" charset="-122"/>
              <a:ea typeface="宋体" panose="02010600030101010101" pitchFamily="2" charset="-122"/>
            </a:endParaRPr>
          </a:p>
          <a:p>
            <a:pPr marL="0" indent="0">
              <a:buNone/>
            </a:pP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1</a:t>
            </a:r>
            <a:r>
              <a:rPr lang="zh-CN" altLang="zh-CN" sz="2400" dirty="0">
                <a:latin typeface="宋体" panose="02010600030101010101" pitchFamily="2" charset="-122"/>
                <a:ea typeface="宋体" panose="02010600030101010101" pitchFamily="2" charset="-122"/>
              </a:rPr>
              <a:t>）导入神经网络回归模块</a:t>
            </a:r>
            <a:r>
              <a:rPr lang="en-US" altLang="zh-CN" sz="2400" dirty="0" err="1">
                <a:latin typeface="宋体" panose="02010600030101010101" pitchFamily="2" charset="-122"/>
                <a:ea typeface="宋体" panose="02010600030101010101" pitchFamily="2" charset="-122"/>
              </a:rPr>
              <a:t>MLPRegressor</a:t>
            </a:r>
            <a:r>
              <a:rPr lang="zh-CN" altLang="zh-CN" sz="2400" dirty="0">
                <a:latin typeface="宋体" panose="02010600030101010101" pitchFamily="2" charset="-122"/>
                <a:ea typeface="宋体" panose="02010600030101010101" pitchFamily="2" charset="-122"/>
              </a:rPr>
              <a:t>。</a:t>
            </a:r>
            <a:endParaRPr lang="zh-CN" altLang="zh-CN" sz="2400" dirty="0">
              <a:latin typeface="宋体" panose="02010600030101010101" pitchFamily="2" charset="-122"/>
              <a:ea typeface="宋体" panose="02010600030101010101" pitchFamily="2" charset="-122"/>
            </a:endParaRPr>
          </a:p>
          <a:p>
            <a:pPr marL="0" indent="0">
              <a:buNone/>
            </a:pPr>
            <a:r>
              <a:rPr lang="en-US" altLang="zh-CN" dirty="0"/>
              <a:t>from </a:t>
            </a:r>
            <a:r>
              <a:rPr lang="en-US" altLang="zh-CN" dirty="0" err="1"/>
              <a:t>sklearn.neural_network</a:t>
            </a:r>
            <a:r>
              <a:rPr lang="en-US" altLang="zh-CN" dirty="0"/>
              <a:t> import </a:t>
            </a:r>
            <a:r>
              <a:rPr lang="en-US" altLang="zh-CN" dirty="0" err="1"/>
              <a:t>MLPRegressor</a:t>
            </a:r>
            <a:endParaRPr lang="en-US" altLang="zh-CN" dirty="0"/>
          </a:p>
          <a:p>
            <a:pPr marL="0" indent="0">
              <a:buNone/>
            </a:pP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2</a:t>
            </a:r>
            <a:r>
              <a:rPr lang="zh-CN" altLang="zh-CN" sz="2400" dirty="0">
                <a:latin typeface="宋体" panose="02010600030101010101" pitchFamily="2" charset="-122"/>
                <a:ea typeface="宋体" panose="02010600030101010101" pitchFamily="2" charset="-122"/>
              </a:rPr>
              <a:t>）利用</a:t>
            </a:r>
            <a:r>
              <a:rPr lang="en-US" altLang="zh-CN" sz="2400" dirty="0" err="1">
                <a:latin typeface="宋体" panose="02010600030101010101" pitchFamily="2" charset="-122"/>
                <a:ea typeface="宋体" panose="02010600030101010101" pitchFamily="2" charset="-122"/>
              </a:rPr>
              <a:t>MLPRegressor</a:t>
            </a:r>
            <a:r>
              <a:rPr lang="zh-CN" altLang="zh-CN" sz="2400" dirty="0">
                <a:latin typeface="宋体" panose="02010600030101010101" pitchFamily="2" charset="-122"/>
                <a:ea typeface="宋体" panose="02010600030101010101" pitchFamily="2" charset="-122"/>
              </a:rPr>
              <a:t>创建神经网络回归对象</a:t>
            </a:r>
            <a:r>
              <a:rPr lang="en-US" altLang="zh-CN" sz="2400" dirty="0" err="1">
                <a:latin typeface="宋体" panose="02010600030101010101" pitchFamily="2" charset="-122"/>
                <a:ea typeface="宋体" panose="02010600030101010101" pitchFamily="2" charset="-122"/>
              </a:rPr>
              <a:t>clf</a:t>
            </a:r>
            <a:r>
              <a:rPr lang="zh-CN" altLang="zh-CN" sz="2400" dirty="0">
                <a:latin typeface="宋体" panose="02010600030101010101" pitchFamily="2" charset="-122"/>
                <a:ea typeface="宋体" panose="02010600030101010101" pitchFamily="2" charset="-122"/>
              </a:rPr>
              <a:t>。</a:t>
            </a:r>
            <a:endParaRPr lang="zh-CN" altLang="zh-CN" sz="2400" dirty="0">
              <a:latin typeface="宋体" panose="02010600030101010101" pitchFamily="2" charset="-122"/>
              <a:ea typeface="宋体" panose="02010600030101010101" pitchFamily="2" charset="-122"/>
            </a:endParaRPr>
          </a:p>
          <a:p>
            <a:pPr marL="0" indent="0">
              <a:buNone/>
            </a:pPr>
            <a:r>
              <a:rPr lang="en-US" altLang="zh-CN" dirty="0" err="1"/>
              <a:t>clf</a:t>
            </a:r>
            <a:r>
              <a:rPr lang="en-US" altLang="zh-CN" dirty="0"/>
              <a:t> = </a:t>
            </a:r>
            <a:r>
              <a:rPr lang="en-US" altLang="zh-CN" dirty="0" err="1"/>
              <a:t>MLPRegressor</a:t>
            </a:r>
            <a:r>
              <a:rPr lang="en-US" altLang="zh-CN" dirty="0"/>
              <a:t>(solver='</a:t>
            </a:r>
            <a:r>
              <a:rPr lang="en-US" altLang="zh-CN" dirty="0" err="1"/>
              <a:t>lbfgs</a:t>
            </a:r>
            <a:r>
              <a:rPr lang="en-US" altLang="zh-CN" dirty="0"/>
              <a:t>', alpha=1e-5,hidden_layer_sizes=8, </a:t>
            </a:r>
            <a:r>
              <a:rPr lang="en-US" altLang="zh-CN" dirty="0" err="1"/>
              <a:t>random_state</a:t>
            </a:r>
            <a:r>
              <a:rPr lang="en-US" altLang="zh-CN" dirty="0"/>
              <a:t>=1)</a:t>
            </a:r>
            <a:endParaRPr lang="zh-CN" altLang="zh-CN" dirty="0"/>
          </a:p>
          <a:p>
            <a:pPr marL="0" indent="0">
              <a:buNone/>
            </a:pPr>
            <a:r>
              <a:rPr lang="zh-CN" altLang="zh-CN" sz="2400" dirty="0">
                <a:latin typeface="宋体" panose="02010600030101010101" pitchFamily="2" charset="-122"/>
                <a:ea typeface="宋体" panose="02010600030101010101" pitchFamily="2" charset="-122"/>
              </a:rPr>
              <a:t>参数说明：</a:t>
            </a:r>
            <a:endParaRPr lang="zh-CN" altLang="zh-CN" sz="2400" dirty="0">
              <a:latin typeface="宋体" panose="02010600030101010101" pitchFamily="2" charset="-122"/>
              <a:ea typeface="宋体" panose="02010600030101010101" pitchFamily="2" charset="-122"/>
            </a:endParaRPr>
          </a:p>
          <a:p>
            <a:pPr marL="0" indent="0">
              <a:buNone/>
            </a:pPr>
            <a:r>
              <a:rPr lang="en-US" altLang="zh-CN" sz="2400" dirty="0">
                <a:latin typeface="宋体" panose="02010600030101010101" pitchFamily="2" charset="-122"/>
                <a:ea typeface="宋体" panose="02010600030101010101" pitchFamily="2" charset="-122"/>
              </a:rPr>
              <a:t>Solver</a:t>
            </a:r>
            <a:r>
              <a:rPr lang="zh-CN" altLang="zh-CN" sz="2400" dirty="0">
                <a:latin typeface="宋体" panose="02010600030101010101" pitchFamily="2" charset="-122"/>
                <a:ea typeface="宋体" panose="02010600030101010101" pitchFamily="2" charset="-122"/>
              </a:rPr>
              <a:t>：神经网络优化求解算法，包括</a:t>
            </a:r>
            <a:r>
              <a:rPr lang="en-US" altLang="zh-CN" sz="2400" dirty="0" err="1">
                <a:latin typeface="宋体" panose="02010600030101010101" pitchFamily="2" charset="-122"/>
                <a:ea typeface="宋体" panose="02010600030101010101" pitchFamily="2" charset="-122"/>
              </a:rPr>
              <a:t>lbfgs</a:t>
            </a:r>
            <a:r>
              <a:rPr lang="zh-CN" altLang="zh-CN" sz="2400" dirty="0">
                <a:latin typeface="宋体" panose="02010600030101010101" pitchFamily="2" charset="-122"/>
                <a:ea typeface="宋体" panose="02010600030101010101" pitchFamily="2" charset="-122"/>
              </a:rPr>
              <a:t>、</a:t>
            </a:r>
            <a:r>
              <a:rPr lang="en-US" altLang="zh-CN" sz="2400" dirty="0" err="1">
                <a:latin typeface="宋体" panose="02010600030101010101" pitchFamily="2" charset="-122"/>
                <a:ea typeface="宋体" panose="02010600030101010101" pitchFamily="2" charset="-122"/>
              </a:rPr>
              <a:t>sgd</a:t>
            </a:r>
            <a:r>
              <a:rPr lang="zh-CN" altLang="zh-CN" sz="2400" dirty="0">
                <a:latin typeface="宋体" panose="02010600030101010101" pitchFamily="2" charset="-122"/>
                <a:ea typeface="宋体" panose="02010600030101010101" pitchFamily="2" charset="-122"/>
              </a:rPr>
              <a:t>、</a:t>
            </a:r>
            <a:r>
              <a:rPr lang="en-US" altLang="zh-CN" sz="2400" dirty="0" err="1">
                <a:latin typeface="宋体" panose="02010600030101010101" pitchFamily="2" charset="-122"/>
                <a:ea typeface="宋体" panose="02010600030101010101" pitchFamily="2" charset="-122"/>
              </a:rPr>
              <a:t>adam</a:t>
            </a:r>
            <a:r>
              <a:rPr lang="zh-CN" altLang="zh-CN" sz="2400" dirty="0">
                <a:latin typeface="宋体" panose="02010600030101010101" pitchFamily="2" charset="-122"/>
                <a:ea typeface="宋体" panose="02010600030101010101" pitchFamily="2" charset="-122"/>
              </a:rPr>
              <a:t>三种，默认为</a:t>
            </a:r>
            <a:r>
              <a:rPr lang="en-US" altLang="zh-CN" sz="2400" dirty="0" err="1">
                <a:latin typeface="宋体" panose="02010600030101010101" pitchFamily="2" charset="-122"/>
                <a:ea typeface="宋体" panose="02010600030101010101" pitchFamily="2" charset="-122"/>
              </a:rPr>
              <a:t>adam</a:t>
            </a:r>
            <a:endParaRPr lang="zh-CN" altLang="zh-CN" sz="2400" dirty="0">
              <a:latin typeface="宋体" panose="02010600030101010101" pitchFamily="2" charset="-122"/>
              <a:ea typeface="宋体" panose="02010600030101010101" pitchFamily="2" charset="-122"/>
            </a:endParaRPr>
          </a:p>
          <a:p>
            <a:pPr marL="0" indent="0">
              <a:buNone/>
            </a:pPr>
            <a:r>
              <a:rPr lang="en-US" altLang="zh-CN" sz="2400" dirty="0">
                <a:latin typeface="宋体" panose="02010600030101010101" pitchFamily="2" charset="-122"/>
                <a:ea typeface="宋体" panose="02010600030101010101" pitchFamily="2" charset="-122"/>
              </a:rPr>
              <a:t>Alpha</a:t>
            </a:r>
            <a:r>
              <a:rPr lang="zh-CN" altLang="zh-CN" sz="2400" dirty="0">
                <a:latin typeface="宋体" panose="02010600030101010101" pitchFamily="2" charset="-122"/>
                <a:ea typeface="宋体" panose="02010600030101010101" pitchFamily="2" charset="-122"/>
              </a:rPr>
              <a:t>：模型训练误差，默认为</a:t>
            </a:r>
            <a:r>
              <a:rPr lang="en-US" altLang="zh-CN" sz="2400" dirty="0">
                <a:latin typeface="宋体" panose="02010600030101010101" pitchFamily="2" charset="-122"/>
                <a:ea typeface="宋体" panose="02010600030101010101" pitchFamily="2" charset="-122"/>
              </a:rPr>
              <a:t>0.0001</a:t>
            </a:r>
            <a:endParaRPr lang="zh-CN" altLang="zh-CN" sz="2400" dirty="0">
              <a:latin typeface="宋体" panose="02010600030101010101" pitchFamily="2" charset="-122"/>
              <a:ea typeface="宋体" panose="02010600030101010101" pitchFamily="2" charset="-122"/>
            </a:endParaRPr>
          </a:p>
          <a:p>
            <a:pPr marL="0" indent="0">
              <a:buNone/>
            </a:pPr>
            <a:r>
              <a:rPr lang="en-US" altLang="zh-CN" sz="2400" dirty="0" err="1">
                <a:latin typeface="宋体" panose="02010600030101010101" pitchFamily="2" charset="-122"/>
                <a:ea typeface="宋体" panose="02010600030101010101" pitchFamily="2" charset="-122"/>
              </a:rPr>
              <a:t>Hidden_layer_sizes</a:t>
            </a:r>
            <a:r>
              <a:rPr lang="zh-CN" altLang="zh-CN" sz="2400" dirty="0">
                <a:latin typeface="宋体" panose="02010600030101010101" pitchFamily="2" charset="-122"/>
                <a:ea typeface="宋体" panose="02010600030101010101" pitchFamily="2" charset="-122"/>
              </a:rPr>
              <a:t>：隐含层神经元个数，如果是单层神经元，设置其具体数值即可，如果是多层，比如隐含层有两层</a:t>
            </a:r>
            <a:r>
              <a:rPr lang="en-US" altLang="zh-CN" sz="2400" dirty="0">
                <a:latin typeface="宋体" panose="02010600030101010101" pitchFamily="2" charset="-122"/>
                <a:ea typeface="宋体" panose="02010600030101010101" pitchFamily="2" charset="-122"/>
              </a:rPr>
              <a:t>5*2</a:t>
            </a:r>
            <a:r>
              <a:rPr lang="zh-CN" altLang="zh-CN" sz="2400" dirty="0">
                <a:latin typeface="宋体" panose="02010600030101010101" pitchFamily="2" charset="-122"/>
                <a:ea typeface="宋体" panose="02010600030101010101" pitchFamily="2" charset="-122"/>
              </a:rPr>
              <a:t>，则</a:t>
            </a:r>
            <a:r>
              <a:rPr lang="en-US" altLang="zh-CN" sz="2400" dirty="0" err="1">
                <a:latin typeface="宋体" panose="02010600030101010101" pitchFamily="2" charset="-122"/>
                <a:ea typeface="宋体" panose="02010600030101010101" pitchFamily="2" charset="-122"/>
              </a:rPr>
              <a:t>hidden_layer_sizes</a:t>
            </a:r>
            <a:r>
              <a:rPr lang="en-US" altLang="zh-CN" sz="2400" dirty="0">
                <a:latin typeface="宋体" panose="02010600030101010101" pitchFamily="2" charset="-122"/>
                <a:ea typeface="宋体" panose="02010600030101010101" pitchFamily="2" charset="-122"/>
              </a:rPr>
              <a:t>=(5,2).</a:t>
            </a:r>
            <a:endParaRPr lang="zh-CN" altLang="zh-CN" sz="2400" dirty="0">
              <a:latin typeface="宋体" panose="02010600030101010101" pitchFamily="2" charset="-122"/>
              <a:ea typeface="宋体" panose="02010600030101010101" pitchFamily="2" charset="-122"/>
            </a:endParaRPr>
          </a:p>
          <a:p>
            <a:pPr marL="0" indent="0">
              <a:buNone/>
            </a:pPr>
            <a:r>
              <a:rPr lang="en-US" altLang="zh-CN" sz="2400" dirty="0" err="1">
                <a:latin typeface="宋体" panose="02010600030101010101" pitchFamily="2" charset="-122"/>
                <a:ea typeface="宋体" panose="02010600030101010101" pitchFamily="2" charset="-122"/>
              </a:rPr>
              <a:t>random_state</a:t>
            </a:r>
            <a:r>
              <a:rPr lang="zh-CN" altLang="zh-CN" sz="2400" dirty="0">
                <a:latin typeface="宋体" panose="02010600030101010101" pitchFamily="2" charset="-122"/>
                <a:ea typeface="宋体" panose="02010600030101010101" pitchFamily="2" charset="-122"/>
              </a:rPr>
              <a:t>：默认设置为</a:t>
            </a:r>
            <a:r>
              <a:rPr lang="en-US" altLang="zh-CN" sz="2400" dirty="0">
                <a:latin typeface="宋体" panose="02010600030101010101" pitchFamily="2" charset="-122"/>
                <a:ea typeface="宋体" panose="02010600030101010101" pitchFamily="2" charset="-122"/>
              </a:rPr>
              <a:t>1</a:t>
            </a:r>
            <a:r>
              <a:rPr lang="zh-CN" altLang="zh-CN" sz="2400" dirty="0">
                <a:latin typeface="宋体" panose="02010600030101010101" pitchFamily="2" charset="-122"/>
                <a:ea typeface="宋体" panose="02010600030101010101" pitchFamily="2" charset="-122"/>
              </a:rPr>
              <a:t>即可。</a:t>
            </a:r>
            <a:endParaRPr lang="zh-CN" altLang="zh-CN" sz="2400" dirty="0">
              <a:latin typeface="宋体" panose="02010600030101010101" pitchFamily="2" charset="-122"/>
              <a:ea typeface="宋体" panose="02010600030101010101" pitchFamily="2" charset="-122"/>
            </a:endParaRPr>
          </a:p>
          <a:p>
            <a:pPr marL="0" indent="0">
              <a:buNone/>
            </a:pPr>
            <a:endParaRPr lang="zh-CN" altLang="zh-CN" dirty="0"/>
          </a:p>
          <a:p>
            <a:endParaRPr lang="zh-CN" altLang="en-US" dirty="0"/>
          </a:p>
        </p:txBody>
      </p:sp>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5</a:t>
            </a:r>
            <a:r>
              <a:rPr lang="en-US" altLang="zh-CN" dirty="0" smtClean="0">
                <a:solidFill>
                  <a:schemeClr val="accent2"/>
                </a:solidFill>
              </a:rPr>
              <a:t> </a:t>
            </a:r>
            <a:endParaRPr lang="zh-CN" altLang="en-US" dirty="0">
              <a:solidFill>
                <a:schemeClr val="accent2"/>
              </a:solidFill>
            </a:endParaRPr>
          </a:p>
        </p:txBody>
      </p:sp>
      <p:sp>
        <p:nvSpPr>
          <p:cNvPr id="5" name="TextBox 4"/>
          <p:cNvSpPr txBox="1"/>
          <p:nvPr/>
        </p:nvSpPr>
        <p:spPr>
          <a:xfrm>
            <a:off x="1330765" y="44625"/>
            <a:ext cx="555970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kern="100" dirty="0">
                <a:solidFill>
                  <a:schemeClr val="accent2"/>
                </a:solidFill>
                <a:latin typeface="+mn-ea"/>
                <a:ea typeface="+mn-ea"/>
                <a:cs typeface="Times New Roman" panose="02020603050405020304"/>
              </a:rPr>
              <a:t>5.5.4  </a:t>
            </a:r>
            <a:r>
              <a:rPr lang="zh-CN" altLang="zh-CN" sz="2800" kern="100" dirty="0">
                <a:solidFill>
                  <a:schemeClr val="accent2"/>
                </a:solidFill>
                <a:latin typeface="+mn-ea"/>
                <a:ea typeface="+mn-ea"/>
                <a:cs typeface="Times New Roman" panose="02020603050405020304"/>
              </a:rPr>
              <a:t>神经网络</a:t>
            </a:r>
            <a:r>
              <a:rPr lang="zh-CN" altLang="en-US" sz="2800" kern="100" dirty="0">
                <a:solidFill>
                  <a:schemeClr val="accent2"/>
                </a:solidFill>
                <a:latin typeface="+mn-ea"/>
                <a:ea typeface="+mn-ea"/>
                <a:cs typeface="Times New Roman" panose="02020603050405020304"/>
              </a:rPr>
              <a:t>回归</a:t>
            </a:r>
            <a:r>
              <a:rPr lang="zh-CN" altLang="zh-CN" sz="2800" kern="100" dirty="0">
                <a:solidFill>
                  <a:schemeClr val="accent2"/>
                </a:solidFill>
                <a:latin typeface="+mn-ea"/>
                <a:ea typeface="+mn-ea"/>
                <a:cs typeface="Times New Roman" panose="02020603050405020304"/>
              </a:rPr>
              <a:t>应用举例</a:t>
            </a:r>
            <a:endParaRPr lang="zh-CN" altLang="en-US" sz="2800" dirty="0">
              <a:solidFill>
                <a:schemeClr val="accent2"/>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5625" y="908721"/>
            <a:ext cx="10601349" cy="5217444"/>
          </a:xfrm>
        </p:spPr>
        <p:txBody>
          <a:bodyPr/>
          <a:lstStyle/>
          <a:p>
            <a:pPr marL="0" indent="0">
              <a:buNone/>
            </a:pP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3</a:t>
            </a:r>
            <a:r>
              <a:rPr lang="zh-CN" altLang="zh-CN" sz="2400" dirty="0">
                <a:latin typeface="宋体" panose="02010600030101010101" pitchFamily="2" charset="-122"/>
                <a:ea typeface="宋体" panose="02010600030101010101" pitchFamily="2" charset="-122"/>
              </a:rPr>
              <a:t>）调用</a:t>
            </a:r>
            <a:r>
              <a:rPr lang="en-US" altLang="zh-CN" sz="2400" dirty="0" err="1">
                <a:latin typeface="宋体" panose="02010600030101010101" pitchFamily="2" charset="-122"/>
                <a:ea typeface="宋体" panose="02010600030101010101" pitchFamily="2" charset="-122"/>
              </a:rPr>
              <a:t>clf</a:t>
            </a:r>
            <a:r>
              <a:rPr lang="zh-CN" altLang="zh-CN" sz="2400" dirty="0">
                <a:latin typeface="宋体" panose="02010600030101010101" pitchFamily="2" charset="-122"/>
                <a:ea typeface="宋体" panose="02010600030101010101" pitchFamily="2" charset="-122"/>
              </a:rPr>
              <a:t>对象中的</a:t>
            </a:r>
            <a:r>
              <a:rPr lang="en-US" altLang="zh-CN" sz="2400" dirty="0">
                <a:latin typeface="宋体" panose="02010600030101010101" pitchFamily="2" charset="-122"/>
                <a:ea typeface="宋体" panose="02010600030101010101" pitchFamily="2" charset="-122"/>
              </a:rPr>
              <a:t>fit()</a:t>
            </a:r>
            <a:r>
              <a:rPr lang="zh-CN" altLang="zh-CN" sz="2400" dirty="0">
                <a:latin typeface="宋体" panose="02010600030101010101" pitchFamily="2" charset="-122"/>
                <a:ea typeface="宋体" panose="02010600030101010101" pitchFamily="2" charset="-122"/>
              </a:rPr>
              <a:t>方法进行网络训练。</a:t>
            </a:r>
            <a:endParaRPr lang="zh-CN" altLang="zh-CN" sz="2400" dirty="0">
              <a:latin typeface="宋体" panose="02010600030101010101" pitchFamily="2" charset="-122"/>
              <a:ea typeface="宋体" panose="02010600030101010101" pitchFamily="2" charset="-122"/>
            </a:endParaRPr>
          </a:p>
          <a:p>
            <a:pPr marL="0" indent="0">
              <a:buNone/>
            </a:pPr>
            <a:r>
              <a:rPr lang="en-US" altLang="zh-CN" dirty="0" err="1"/>
              <a:t>clf.fit</a:t>
            </a:r>
            <a:r>
              <a:rPr lang="en-US" altLang="zh-CN" dirty="0"/>
              <a:t>(x, y)</a:t>
            </a:r>
            <a:endParaRPr lang="zh-CN" altLang="zh-CN" dirty="0"/>
          </a:p>
          <a:p>
            <a:pPr marL="0" indent="0">
              <a:buNone/>
            </a:pP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4</a:t>
            </a:r>
            <a:r>
              <a:rPr lang="zh-CN" altLang="zh-CN" sz="2400" dirty="0">
                <a:latin typeface="宋体" panose="02010600030101010101" pitchFamily="2" charset="-122"/>
                <a:ea typeface="宋体" panose="02010600030101010101" pitchFamily="2" charset="-122"/>
              </a:rPr>
              <a:t>）调用</a:t>
            </a:r>
            <a:r>
              <a:rPr lang="en-US" altLang="zh-CN" sz="2400" dirty="0" err="1">
                <a:latin typeface="宋体" panose="02010600030101010101" pitchFamily="2" charset="-122"/>
                <a:ea typeface="宋体" panose="02010600030101010101" pitchFamily="2" charset="-122"/>
              </a:rPr>
              <a:t>clf</a:t>
            </a:r>
            <a:r>
              <a:rPr lang="zh-CN" altLang="zh-CN" sz="2400" dirty="0">
                <a:latin typeface="宋体" panose="02010600030101010101" pitchFamily="2" charset="-122"/>
                <a:ea typeface="宋体" panose="02010600030101010101" pitchFamily="2" charset="-122"/>
              </a:rPr>
              <a:t>对象中的</a:t>
            </a:r>
            <a:r>
              <a:rPr lang="en-US" altLang="zh-CN" sz="2400" dirty="0">
                <a:latin typeface="宋体" panose="02010600030101010101" pitchFamily="2" charset="-122"/>
                <a:ea typeface="宋体" panose="02010600030101010101" pitchFamily="2" charset="-122"/>
              </a:rPr>
              <a:t>score ()</a:t>
            </a:r>
            <a:r>
              <a:rPr lang="zh-CN" altLang="zh-CN" sz="2400" dirty="0">
                <a:latin typeface="宋体" panose="02010600030101010101" pitchFamily="2" charset="-122"/>
                <a:ea typeface="宋体" panose="02010600030101010101" pitchFamily="2" charset="-122"/>
              </a:rPr>
              <a:t>方法，获得神经网络回归的拟合优度（判决系数）。</a:t>
            </a:r>
            <a:endParaRPr lang="zh-CN" altLang="zh-CN" sz="2400" dirty="0">
              <a:latin typeface="宋体" panose="02010600030101010101" pitchFamily="2" charset="-122"/>
              <a:ea typeface="宋体" panose="02010600030101010101" pitchFamily="2" charset="-122"/>
            </a:endParaRPr>
          </a:p>
          <a:p>
            <a:pPr marL="0" indent="0">
              <a:buNone/>
            </a:pPr>
            <a:r>
              <a:rPr lang="en-US" altLang="zh-CN" dirty="0" err="1"/>
              <a:t>rv</a:t>
            </a:r>
            <a:r>
              <a:rPr lang="en-US" altLang="zh-CN" dirty="0"/>
              <a:t>=</a:t>
            </a:r>
            <a:r>
              <a:rPr lang="en-US" altLang="zh-CN" dirty="0" err="1"/>
              <a:t>clf.score</a:t>
            </a:r>
            <a:r>
              <a:rPr lang="en-US" altLang="zh-CN" dirty="0"/>
              <a:t>(</a:t>
            </a:r>
            <a:r>
              <a:rPr lang="en-US" altLang="zh-CN" dirty="0" err="1"/>
              <a:t>x,y</a:t>
            </a:r>
            <a:r>
              <a:rPr lang="en-US" altLang="zh-CN" dirty="0"/>
              <a:t>)</a:t>
            </a:r>
            <a:endParaRPr lang="zh-CN" altLang="zh-CN" dirty="0"/>
          </a:p>
          <a:p>
            <a:pPr marL="0" indent="0">
              <a:buNone/>
            </a:pP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5</a:t>
            </a:r>
            <a:r>
              <a:rPr lang="zh-CN" altLang="zh-CN" sz="2400" dirty="0">
                <a:latin typeface="宋体" panose="02010600030101010101" pitchFamily="2" charset="-122"/>
                <a:ea typeface="宋体" panose="02010600030101010101" pitchFamily="2" charset="-122"/>
              </a:rPr>
              <a:t>）调用</a:t>
            </a:r>
            <a:r>
              <a:rPr lang="en-US" altLang="zh-CN" sz="2400" dirty="0" err="1">
                <a:latin typeface="宋体" panose="02010600030101010101" pitchFamily="2" charset="-122"/>
                <a:ea typeface="宋体" panose="02010600030101010101" pitchFamily="2" charset="-122"/>
              </a:rPr>
              <a:t>clf</a:t>
            </a:r>
            <a:r>
              <a:rPr lang="zh-CN" altLang="zh-CN" sz="2400" dirty="0">
                <a:latin typeface="宋体" panose="02010600030101010101" pitchFamily="2" charset="-122"/>
                <a:ea typeface="宋体" panose="02010600030101010101" pitchFamily="2" charset="-122"/>
              </a:rPr>
              <a:t>对象中的</a:t>
            </a:r>
            <a:r>
              <a:rPr lang="en-US" altLang="zh-CN" sz="2400" dirty="0">
                <a:latin typeface="宋体" panose="02010600030101010101" pitchFamily="2" charset="-122"/>
                <a:ea typeface="宋体" panose="02010600030101010101" pitchFamily="2" charset="-122"/>
              </a:rPr>
              <a:t>predict()</a:t>
            </a:r>
            <a:r>
              <a:rPr lang="zh-CN" altLang="zh-CN" sz="2400" dirty="0">
                <a:latin typeface="宋体" panose="02010600030101010101" pitchFamily="2" charset="-122"/>
                <a:ea typeface="宋体" panose="02010600030101010101" pitchFamily="2" charset="-122"/>
              </a:rPr>
              <a:t>可以对测试样本进行预测，获得其预测结果。</a:t>
            </a:r>
            <a:endParaRPr lang="zh-CN" altLang="zh-CN" sz="2400" dirty="0">
              <a:latin typeface="宋体" panose="02010600030101010101" pitchFamily="2" charset="-122"/>
              <a:ea typeface="宋体" panose="02010600030101010101" pitchFamily="2" charset="-122"/>
            </a:endParaRPr>
          </a:p>
          <a:p>
            <a:pPr marL="0" indent="0">
              <a:buNone/>
            </a:pPr>
            <a:r>
              <a:rPr lang="en-US" altLang="zh-CN" dirty="0"/>
              <a:t>R=</a:t>
            </a:r>
            <a:r>
              <a:rPr lang="en-US" altLang="zh-CN" dirty="0" err="1"/>
              <a:t>clf.predict</a:t>
            </a:r>
            <a:r>
              <a:rPr lang="en-US" altLang="zh-CN" dirty="0"/>
              <a:t>(x1)</a:t>
            </a:r>
            <a:endParaRPr lang="en-US" altLang="zh-CN" dirty="0"/>
          </a:p>
          <a:p>
            <a:pPr marL="0" indent="0">
              <a:buNone/>
            </a:pPr>
            <a:r>
              <a:rPr lang="zh-CN" altLang="zh-CN" sz="2400" dirty="0">
                <a:latin typeface="宋体" panose="02010600030101010101" pitchFamily="2" charset="-122"/>
                <a:ea typeface="宋体" panose="02010600030101010101" pitchFamily="2" charset="-122"/>
              </a:rPr>
              <a:t>示例代码如下：</a:t>
            </a:r>
            <a:endParaRPr lang="zh-CN" altLang="zh-CN" sz="2400" dirty="0">
              <a:latin typeface="宋体" panose="02010600030101010101" pitchFamily="2" charset="-122"/>
              <a:ea typeface="宋体" panose="02010600030101010101" pitchFamily="2" charset="-122"/>
            </a:endParaRPr>
          </a:p>
          <a:p>
            <a:pPr marL="0" indent="0">
              <a:buNone/>
            </a:pPr>
            <a:r>
              <a:rPr lang="en-US" altLang="zh-CN" dirty="0"/>
              <a:t>import pandas as </a:t>
            </a:r>
            <a:r>
              <a:rPr lang="en-US" altLang="zh-CN" dirty="0" err="1"/>
              <a:t>pd</a:t>
            </a:r>
            <a:endParaRPr lang="zh-CN" altLang="zh-CN" dirty="0"/>
          </a:p>
          <a:p>
            <a:pPr marL="0" indent="0">
              <a:buNone/>
            </a:pPr>
            <a:r>
              <a:rPr lang="en-US" altLang="zh-CN" dirty="0"/>
              <a:t>data = </a:t>
            </a:r>
            <a:r>
              <a:rPr lang="en-US" altLang="zh-CN" dirty="0" err="1"/>
              <a:t>pd.read_excel</a:t>
            </a:r>
            <a:r>
              <a:rPr lang="en-US" altLang="zh-CN" dirty="0"/>
              <a:t>('</a:t>
            </a:r>
            <a:r>
              <a:rPr lang="zh-CN" altLang="zh-CN" dirty="0"/>
              <a:t>发电场数据</a:t>
            </a:r>
            <a:r>
              <a:rPr lang="en-US" altLang="zh-CN" dirty="0"/>
              <a:t>.</a:t>
            </a:r>
            <a:r>
              <a:rPr lang="en-US" altLang="zh-CN" dirty="0" err="1"/>
              <a:t>xlsx</a:t>
            </a:r>
            <a:r>
              <a:rPr lang="en-US" altLang="zh-CN" dirty="0"/>
              <a:t>')</a:t>
            </a:r>
            <a:endParaRPr lang="zh-CN" altLang="zh-CN" dirty="0"/>
          </a:p>
          <a:p>
            <a:pPr marL="0" indent="0">
              <a:buNone/>
            </a:pPr>
            <a:r>
              <a:rPr lang="en-US" altLang="zh-CN" dirty="0"/>
              <a:t>x = </a:t>
            </a:r>
            <a:r>
              <a:rPr lang="en-US" altLang="zh-CN" dirty="0" err="1"/>
              <a:t>data.iloc</a:t>
            </a:r>
            <a:r>
              <a:rPr lang="en-US" altLang="zh-CN" dirty="0"/>
              <a:t>[:,0:4]</a:t>
            </a:r>
            <a:endParaRPr lang="zh-CN" altLang="zh-CN" dirty="0"/>
          </a:p>
          <a:p>
            <a:pPr marL="0" indent="0">
              <a:buNone/>
            </a:pPr>
            <a:r>
              <a:rPr lang="en-US" altLang="zh-CN" dirty="0"/>
              <a:t>y = </a:t>
            </a:r>
            <a:r>
              <a:rPr lang="en-US" altLang="zh-CN" dirty="0" err="1"/>
              <a:t>data.iloc</a:t>
            </a:r>
            <a:r>
              <a:rPr lang="en-US" altLang="zh-CN" dirty="0"/>
              <a:t>[:,4]</a:t>
            </a:r>
            <a:endParaRPr lang="zh-CN" altLang="zh-CN" dirty="0"/>
          </a:p>
          <a:p>
            <a:pPr marL="0" indent="0">
              <a:buNone/>
            </a:pPr>
            <a:endParaRPr lang="zh-CN" altLang="en-US" dirty="0"/>
          </a:p>
        </p:txBody>
      </p:sp>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5</a:t>
            </a:r>
            <a:r>
              <a:rPr lang="en-US" altLang="zh-CN" dirty="0" smtClean="0">
                <a:solidFill>
                  <a:schemeClr val="accent2"/>
                </a:solidFill>
              </a:rPr>
              <a:t> </a:t>
            </a:r>
            <a:endParaRPr lang="zh-CN" altLang="en-US" dirty="0">
              <a:solidFill>
                <a:schemeClr val="accent2"/>
              </a:solidFill>
            </a:endParaRPr>
          </a:p>
        </p:txBody>
      </p:sp>
      <p:sp>
        <p:nvSpPr>
          <p:cNvPr id="5" name="TextBox 4"/>
          <p:cNvSpPr txBox="1"/>
          <p:nvPr/>
        </p:nvSpPr>
        <p:spPr>
          <a:xfrm>
            <a:off x="1330765" y="44625"/>
            <a:ext cx="555970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kern="100" dirty="0">
                <a:solidFill>
                  <a:schemeClr val="accent2"/>
                </a:solidFill>
                <a:latin typeface="+mn-ea"/>
                <a:ea typeface="+mn-ea"/>
                <a:cs typeface="Times New Roman" panose="02020603050405020304"/>
              </a:rPr>
              <a:t>5.5.4  </a:t>
            </a:r>
            <a:r>
              <a:rPr lang="zh-CN" altLang="zh-CN" sz="2800" kern="100" dirty="0">
                <a:solidFill>
                  <a:schemeClr val="accent2"/>
                </a:solidFill>
                <a:latin typeface="+mn-ea"/>
                <a:ea typeface="+mn-ea"/>
                <a:cs typeface="Times New Roman" panose="02020603050405020304"/>
              </a:rPr>
              <a:t>神经网络</a:t>
            </a:r>
            <a:r>
              <a:rPr lang="zh-CN" altLang="en-US" sz="2800" kern="100" dirty="0">
                <a:solidFill>
                  <a:schemeClr val="accent2"/>
                </a:solidFill>
                <a:latin typeface="+mn-ea"/>
                <a:ea typeface="+mn-ea"/>
                <a:cs typeface="Times New Roman" panose="02020603050405020304"/>
              </a:rPr>
              <a:t>回归</a:t>
            </a:r>
            <a:r>
              <a:rPr lang="zh-CN" altLang="zh-CN" sz="2800" kern="100" dirty="0">
                <a:solidFill>
                  <a:schemeClr val="accent2"/>
                </a:solidFill>
                <a:latin typeface="+mn-ea"/>
                <a:ea typeface="+mn-ea"/>
                <a:cs typeface="Times New Roman" panose="02020603050405020304"/>
              </a:rPr>
              <a:t>应用举例</a:t>
            </a:r>
            <a:endParaRPr lang="zh-CN" altLang="en-US" sz="2800" dirty="0">
              <a:solidFill>
                <a:schemeClr val="accent2"/>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5625" y="980729"/>
            <a:ext cx="10601349" cy="5145436"/>
          </a:xfrm>
        </p:spPr>
        <p:txBody>
          <a:bodyPr/>
          <a:lstStyle/>
          <a:p>
            <a:pPr marL="0" indent="0">
              <a:buNone/>
            </a:pPr>
            <a:r>
              <a:rPr lang="en-US" altLang="zh-CN" dirty="0"/>
              <a:t>from </a:t>
            </a:r>
            <a:r>
              <a:rPr lang="en-US" altLang="zh-CN" dirty="0" err="1"/>
              <a:t>sklearn.neural_network</a:t>
            </a:r>
            <a:r>
              <a:rPr lang="en-US" altLang="zh-CN" dirty="0"/>
              <a:t> import </a:t>
            </a:r>
            <a:r>
              <a:rPr lang="en-US" altLang="zh-CN" dirty="0" err="1"/>
              <a:t>MLPRegressor</a:t>
            </a:r>
            <a:r>
              <a:rPr lang="en-US" altLang="zh-CN" dirty="0"/>
              <a:t> </a:t>
            </a:r>
            <a:endParaRPr lang="zh-CN" altLang="zh-CN" dirty="0"/>
          </a:p>
          <a:p>
            <a:pPr marL="0" indent="0">
              <a:buNone/>
            </a:pPr>
            <a:r>
              <a:rPr lang="en-US" altLang="zh-CN" dirty="0" err="1"/>
              <a:t>clf</a:t>
            </a:r>
            <a:r>
              <a:rPr lang="en-US" altLang="zh-CN" dirty="0"/>
              <a:t> = </a:t>
            </a:r>
            <a:r>
              <a:rPr lang="en-US" altLang="zh-CN" dirty="0" err="1"/>
              <a:t>MLPRegressor</a:t>
            </a:r>
            <a:r>
              <a:rPr lang="en-US" altLang="zh-CN" dirty="0"/>
              <a:t>(solver='</a:t>
            </a:r>
            <a:r>
              <a:rPr lang="en-US" altLang="zh-CN" dirty="0" err="1"/>
              <a:t>lbfgs</a:t>
            </a:r>
            <a:r>
              <a:rPr lang="en-US" altLang="zh-CN" dirty="0"/>
              <a:t>', alpha=1e-5,hidden_layer_sizes=8, </a:t>
            </a:r>
            <a:r>
              <a:rPr lang="en-US" altLang="zh-CN" dirty="0" err="1"/>
              <a:t>random_state</a:t>
            </a:r>
            <a:r>
              <a:rPr lang="en-US" altLang="zh-CN" dirty="0"/>
              <a:t>=1) </a:t>
            </a:r>
            <a:endParaRPr lang="zh-CN" altLang="zh-CN" dirty="0"/>
          </a:p>
          <a:p>
            <a:pPr marL="0" indent="0">
              <a:buNone/>
            </a:pPr>
            <a:r>
              <a:rPr lang="en-US" altLang="zh-CN" dirty="0" err="1"/>
              <a:t>clf.fit</a:t>
            </a:r>
            <a:r>
              <a:rPr lang="en-US" altLang="zh-CN" dirty="0"/>
              <a:t>(x, y);   </a:t>
            </a:r>
            <a:endParaRPr lang="zh-CN" altLang="zh-CN" dirty="0"/>
          </a:p>
          <a:p>
            <a:pPr marL="0" indent="0">
              <a:buNone/>
            </a:pPr>
            <a:r>
              <a:rPr lang="en-US" altLang="zh-CN" dirty="0" err="1"/>
              <a:t>rv</a:t>
            </a:r>
            <a:r>
              <a:rPr lang="en-US" altLang="zh-CN" dirty="0"/>
              <a:t>=</a:t>
            </a:r>
            <a:r>
              <a:rPr lang="en-US" altLang="zh-CN" dirty="0" err="1"/>
              <a:t>clf.score</a:t>
            </a:r>
            <a:r>
              <a:rPr lang="en-US" altLang="zh-CN" dirty="0"/>
              <a:t>(</a:t>
            </a:r>
            <a:r>
              <a:rPr lang="en-US" altLang="zh-CN" dirty="0" err="1"/>
              <a:t>x,y</a:t>
            </a:r>
            <a:r>
              <a:rPr lang="en-US" altLang="zh-CN" dirty="0"/>
              <a:t>)</a:t>
            </a:r>
            <a:endParaRPr lang="zh-CN" altLang="zh-CN" dirty="0"/>
          </a:p>
          <a:p>
            <a:pPr marL="0" indent="0">
              <a:buNone/>
            </a:pPr>
            <a:r>
              <a:rPr lang="en-US" altLang="zh-CN" dirty="0"/>
              <a:t>import </a:t>
            </a:r>
            <a:r>
              <a:rPr lang="en-US" altLang="zh-CN" dirty="0" err="1"/>
              <a:t>numpy</a:t>
            </a:r>
            <a:r>
              <a:rPr lang="en-US" altLang="zh-CN" dirty="0"/>
              <a:t> as </a:t>
            </a:r>
            <a:r>
              <a:rPr lang="en-US" altLang="zh-CN" dirty="0" err="1"/>
              <a:t>np</a:t>
            </a:r>
            <a:endParaRPr lang="zh-CN" altLang="zh-CN" dirty="0"/>
          </a:p>
          <a:p>
            <a:pPr marL="0" indent="0">
              <a:buNone/>
            </a:pPr>
            <a:r>
              <a:rPr lang="en-US" altLang="zh-CN" dirty="0"/>
              <a:t>x1=</a:t>
            </a:r>
            <a:r>
              <a:rPr lang="en-US" altLang="zh-CN" dirty="0" err="1"/>
              <a:t>np.array</a:t>
            </a:r>
            <a:r>
              <a:rPr lang="en-US" altLang="zh-CN" dirty="0"/>
              <a:t>([28.4,50.6,1011.9,80.54])</a:t>
            </a:r>
            <a:endParaRPr lang="zh-CN" altLang="zh-CN" dirty="0"/>
          </a:p>
          <a:p>
            <a:pPr marL="0" indent="0">
              <a:buNone/>
            </a:pPr>
            <a:r>
              <a:rPr lang="en-US" altLang="zh-CN" dirty="0"/>
              <a:t>x1=x1.reshape(1,4)</a:t>
            </a:r>
            <a:endParaRPr lang="zh-CN" altLang="zh-CN" dirty="0"/>
          </a:p>
          <a:p>
            <a:pPr marL="0" indent="0">
              <a:buNone/>
            </a:pPr>
            <a:r>
              <a:rPr lang="en-US" altLang="zh-CN" dirty="0"/>
              <a:t>R=</a:t>
            </a:r>
            <a:r>
              <a:rPr lang="en-US" altLang="zh-CN" dirty="0" err="1"/>
              <a:t>clf.predict</a:t>
            </a:r>
            <a:r>
              <a:rPr lang="en-US" altLang="zh-CN" dirty="0"/>
              <a:t>(x1)   </a:t>
            </a:r>
            <a:endParaRPr lang="zh-CN" altLang="zh-CN" dirty="0"/>
          </a:p>
          <a:p>
            <a:pPr marL="0" indent="0">
              <a:buNone/>
            </a:pPr>
            <a:r>
              <a:rPr lang="en-US" altLang="zh-CN" dirty="0"/>
              <a:t>print('</a:t>
            </a:r>
            <a:r>
              <a:rPr lang="zh-CN" altLang="zh-CN" dirty="0"/>
              <a:t>样本预测值为：</a:t>
            </a:r>
            <a:r>
              <a:rPr lang="en-US" altLang="zh-CN" dirty="0"/>
              <a:t>',R)</a:t>
            </a:r>
            <a:endParaRPr lang="zh-CN" altLang="zh-CN" dirty="0"/>
          </a:p>
          <a:p>
            <a:pPr marL="0" indent="0">
              <a:buNone/>
            </a:pPr>
            <a:r>
              <a:rPr lang="zh-CN" altLang="zh-CN" dirty="0"/>
              <a:t>输出结果为：</a:t>
            </a:r>
            <a:endParaRPr lang="zh-CN" altLang="zh-CN" dirty="0"/>
          </a:p>
          <a:p>
            <a:pPr marL="0" indent="0">
              <a:buNone/>
            </a:pPr>
            <a:r>
              <a:rPr lang="zh-CN" altLang="zh-CN" dirty="0"/>
              <a:t>样本预测值为：</a:t>
            </a:r>
            <a:r>
              <a:rPr lang="en-US" altLang="zh-CN" dirty="0"/>
              <a:t> [ 439.27258187]</a:t>
            </a:r>
            <a:endParaRPr lang="zh-CN" altLang="zh-CN" dirty="0"/>
          </a:p>
          <a:p>
            <a:pPr marL="0" indent="0">
              <a:buNone/>
            </a:pPr>
            <a:endParaRPr lang="zh-CN" altLang="en-US" dirty="0"/>
          </a:p>
        </p:txBody>
      </p:sp>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5</a:t>
            </a:r>
            <a:r>
              <a:rPr lang="en-US" altLang="zh-CN" dirty="0" smtClean="0">
                <a:solidFill>
                  <a:schemeClr val="accent2"/>
                </a:solidFill>
              </a:rPr>
              <a:t> </a:t>
            </a:r>
            <a:endParaRPr lang="zh-CN" altLang="en-US" dirty="0">
              <a:solidFill>
                <a:schemeClr val="accent2"/>
              </a:solidFill>
            </a:endParaRPr>
          </a:p>
        </p:txBody>
      </p:sp>
      <p:sp>
        <p:nvSpPr>
          <p:cNvPr id="5" name="TextBox 4"/>
          <p:cNvSpPr txBox="1"/>
          <p:nvPr/>
        </p:nvSpPr>
        <p:spPr>
          <a:xfrm>
            <a:off x="1330765" y="44625"/>
            <a:ext cx="555970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kern="100" dirty="0">
                <a:solidFill>
                  <a:schemeClr val="accent2"/>
                </a:solidFill>
                <a:latin typeface="+mn-ea"/>
                <a:ea typeface="+mn-ea"/>
                <a:cs typeface="Times New Roman" panose="02020603050405020304"/>
              </a:rPr>
              <a:t>5.5.4  </a:t>
            </a:r>
            <a:r>
              <a:rPr lang="zh-CN" altLang="zh-CN" sz="2800" kern="100" dirty="0">
                <a:solidFill>
                  <a:schemeClr val="accent2"/>
                </a:solidFill>
                <a:latin typeface="+mn-ea"/>
                <a:ea typeface="+mn-ea"/>
                <a:cs typeface="Times New Roman" panose="02020603050405020304"/>
              </a:rPr>
              <a:t>神经网络</a:t>
            </a:r>
            <a:r>
              <a:rPr lang="zh-CN" altLang="en-US" sz="2800" kern="100" dirty="0">
                <a:solidFill>
                  <a:schemeClr val="accent2"/>
                </a:solidFill>
                <a:latin typeface="+mn-ea"/>
                <a:ea typeface="+mn-ea"/>
                <a:cs typeface="Times New Roman" panose="02020603050405020304"/>
              </a:rPr>
              <a:t>回归</a:t>
            </a:r>
            <a:r>
              <a:rPr lang="zh-CN" altLang="zh-CN" sz="2800" kern="100" dirty="0">
                <a:solidFill>
                  <a:schemeClr val="accent2"/>
                </a:solidFill>
                <a:latin typeface="+mn-ea"/>
                <a:ea typeface="+mn-ea"/>
                <a:cs typeface="Times New Roman" panose="02020603050405020304"/>
              </a:rPr>
              <a:t>应用举例</a:t>
            </a:r>
            <a:endParaRPr lang="zh-CN" altLang="en-US" sz="2800" dirty="0">
              <a:solidFill>
                <a:schemeClr val="accent2"/>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 28"/>
          <p:cNvPicPr>
            <a:picLocks noChangeAspect="1"/>
          </p:cNvPicPr>
          <p:nvPr/>
        </p:nvPicPr>
        <p:blipFill>
          <a:blip r:embed="rId1" cstate="print"/>
          <a:srcRect/>
          <a:stretch>
            <a:fillRect/>
          </a:stretch>
        </p:blipFill>
        <p:spPr>
          <a:xfrm>
            <a:off x="0" y="2454498"/>
            <a:ext cx="12196800" cy="4403503"/>
          </a:xfrm>
          <a:prstGeom prst="rect">
            <a:avLst/>
          </a:prstGeom>
        </p:spPr>
      </p:pic>
      <p:grpSp>
        <p:nvGrpSpPr>
          <p:cNvPr id="8" name="组合 7"/>
          <p:cNvGrpSpPr/>
          <p:nvPr/>
        </p:nvGrpSpPr>
        <p:grpSpPr>
          <a:xfrm>
            <a:off x="4947444" y="1328709"/>
            <a:ext cx="2301875" cy="2308227"/>
            <a:chOff x="6609209" y="790981"/>
            <a:chExt cx="2301875" cy="2308226"/>
          </a:xfrm>
        </p:grpSpPr>
        <p:sp>
          <p:nvSpPr>
            <p:cNvPr id="9" name="Oval 5"/>
            <p:cNvSpPr>
              <a:spLocks noChangeArrowheads="1"/>
            </p:cNvSpPr>
            <p:nvPr/>
          </p:nvSpPr>
          <p:spPr bwMode="auto">
            <a:xfrm>
              <a:off x="6609209" y="790981"/>
              <a:ext cx="2301875" cy="230822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6"/>
            <p:cNvSpPr>
              <a:spLocks noEditPoints="1"/>
            </p:cNvSpPr>
            <p:nvPr/>
          </p:nvSpPr>
          <p:spPr bwMode="auto">
            <a:xfrm>
              <a:off x="6733034" y="914806"/>
              <a:ext cx="2054225" cy="2058988"/>
            </a:xfrm>
            <a:custGeom>
              <a:avLst/>
              <a:gdLst>
                <a:gd name="T0" fmla="*/ 1653 w 3306"/>
                <a:gd name="T1" fmla="*/ 0 h 3306"/>
                <a:gd name="T2" fmla="*/ 3306 w 3306"/>
                <a:gd name="T3" fmla="*/ 1653 h 3306"/>
                <a:gd name="T4" fmla="*/ 1653 w 3306"/>
                <a:gd name="T5" fmla="*/ 3306 h 3306"/>
                <a:gd name="T6" fmla="*/ 0 w 3306"/>
                <a:gd name="T7" fmla="*/ 1653 h 3306"/>
                <a:gd name="T8" fmla="*/ 1653 w 3306"/>
                <a:gd name="T9" fmla="*/ 0 h 3306"/>
                <a:gd name="T10" fmla="*/ 1653 w 3306"/>
                <a:gd name="T11" fmla="*/ 112 h 3306"/>
                <a:gd name="T12" fmla="*/ 3193 w 3306"/>
                <a:gd name="T13" fmla="*/ 1653 h 3306"/>
                <a:gd name="T14" fmla="*/ 1653 w 3306"/>
                <a:gd name="T15" fmla="*/ 3193 h 3306"/>
                <a:gd name="T16" fmla="*/ 112 w 3306"/>
                <a:gd name="T17" fmla="*/ 1653 h 3306"/>
                <a:gd name="T18" fmla="*/ 1653 w 3306"/>
                <a:gd name="T19" fmla="*/ 112 h 3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6" h="3306">
                  <a:moveTo>
                    <a:pt x="1653" y="0"/>
                  </a:moveTo>
                  <a:cubicBezTo>
                    <a:pt x="2565" y="0"/>
                    <a:pt x="3306" y="740"/>
                    <a:pt x="3306" y="1653"/>
                  </a:cubicBezTo>
                  <a:cubicBezTo>
                    <a:pt x="3306" y="2565"/>
                    <a:pt x="2565" y="3306"/>
                    <a:pt x="1653" y="3306"/>
                  </a:cubicBezTo>
                  <a:cubicBezTo>
                    <a:pt x="740" y="3306"/>
                    <a:pt x="0" y="2565"/>
                    <a:pt x="0" y="1653"/>
                  </a:cubicBezTo>
                  <a:cubicBezTo>
                    <a:pt x="0" y="740"/>
                    <a:pt x="740" y="0"/>
                    <a:pt x="1653" y="0"/>
                  </a:cubicBezTo>
                  <a:close/>
                  <a:moveTo>
                    <a:pt x="1653" y="112"/>
                  </a:moveTo>
                  <a:cubicBezTo>
                    <a:pt x="2503" y="112"/>
                    <a:pt x="3193" y="802"/>
                    <a:pt x="3193" y="1653"/>
                  </a:cubicBezTo>
                  <a:cubicBezTo>
                    <a:pt x="3193" y="2503"/>
                    <a:pt x="2503" y="3193"/>
                    <a:pt x="1653" y="3193"/>
                  </a:cubicBezTo>
                  <a:cubicBezTo>
                    <a:pt x="802" y="3193"/>
                    <a:pt x="112" y="2503"/>
                    <a:pt x="112" y="1653"/>
                  </a:cubicBezTo>
                  <a:cubicBezTo>
                    <a:pt x="112" y="802"/>
                    <a:pt x="802" y="112"/>
                    <a:pt x="1653" y="112"/>
                  </a:cubicBezTo>
                  <a:close/>
                </a:path>
              </a:pathLst>
            </a:custGeom>
            <a:solidFill>
              <a:schemeClr val="tx1"/>
            </a:solidFill>
            <a:ln>
              <a:noFill/>
            </a:ln>
          </p:spPr>
          <p:txBody>
            <a:bodyPr vert="horz" wrap="square" lIns="91440" tIns="45720" rIns="91440" bIns="45720" numCol="1" anchor="t" anchorCtr="0" compatLnSpc="1"/>
            <a:lstStyle/>
            <a:p>
              <a:endParaRPr lang="zh-CN" altLang="en-US"/>
            </a:p>
          </p:txBody>
        </p:sp>
      </p:grpSp>
      <p:sp>
        <p:nvSpPr>
          <p:cNvPr id="13" name="TextBox 12"/>
          <p:cNvSpPr txBox="1"/>
          <p:nvPr/>
        </p:nvSpPr>
        <p:spPr>
          <a:xfrm>
            <a:off x="2497981" y="3754915"/>
            <a:ext cx="7737496" cy="646325"/>
          </a:xfrm>
          <a:prstGeom prst="rect">
            <a:avLst/>
          </a:prstGeom>
          <a:noFill/>
        </p:spPr>
        <p:txBody>
          <a:bodyPr wrap="square" lIns="91434" tIns="45717" rIns="91434" bIns="45717" rtlCol="0">
            <a:spAutoFit/>
          </a:bodyPr>
          <a:lstStyle/>
          <a:p>
            <a:pPr algn="ctr"/>
            <a:r>
              <a:rPr lang="en-US" altLang="zh-CN" sz="3600" b="1" dirty="0">
                <a:solidFill>
                  <a:schemeClr val="accent2"/>
                </a:solidFill>
                <a:latin typeface="微软雅黑" panose="020B0503020204020204" pitchFamily="34" charset="-122"/>
                <a:ea typeface="微软雅黑" panose="020B0503020204020204" pitchFamily="34" charset="-122"/>
              </a:rPr>
              <a:t>5.6  </a:t>
            </a:r>
            <a:r>
              <a:rPr lang="zh-CN" altLang="en-US" sz="3600" b="1" dirty="0">
                <a:solidFill>
                  <a:schemeClr val="accent2"/>
                </a:solidFill>
                <a:latin typeface="微软雅黑" panose="020B0503020204020204" pitchFamily="34" charset="-122"/>
                <a:ea typeface="微软雅黑" panose="020B0503020204020204" pitchFamily="34" charset="-122"/>
              </a:rPr>
              <a:t>支持向量机</a:t>
            </a:r>
            <a:endParaRPr lang="zh-CN" altLang="en-US" sz="3600" b="1" dirty="0">
              <a:solidFill>
                <a:schemeClr val="accent2"/>
              </a:solidFill>
              <a:latin typeface="微软雅黑" panose="020B0503020204020204" pitchFamily="34" charset="-122"/>
              <a:ea typeface="微软雅黑" panose="020B0503020204020204" pitchFamily="34" charset="-122"/>
            </a:endParaRPr>
          </a:p>
        </p:txBody>
      </p:sp>
      <p:cxnSp>
        <p:nvCxnSpPr>
          <p:cNvPr id="14" name="直接连接符 13"/>
          <p:cNvCxnSpPr/>
          <p:nvPr/>
        </p:nvCxnSpPr>
        <p:spPr bwMode="auto">
          <a:xfrm>
            <a:off x="2641998" y="4570915"/>
            <a:ext cx="7920879" cy="0"/>
          </a:xfrm>
          <a:prstGeom prst="line">
            <a:avLst/>
          </a:prstGeom>
          <a:solidFill>
            <a:schemeClr val="accent1"/>
          </a:solidFill>
          <a:ln w="9525" cap="flat" cmpd="sng" algn="ctr">
            <a:solidFill>
              <a:schemeClr val="accent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Oval 39"/>
          <p:cNvSpPr>
            <a:spLocks noChangeAspect="1" noChangeArrowheads="1"/>
          </p:cNvSpPr>
          <p:nvPr/>
        </p:nvSpPr>
        <p:spPr bwMode="auto">
          <a:xfrm>
            <a:off x="3218061" y="4855189"/>
            <a:ext cx="216000" cy="217227"/>
          </a:xfrm>
          <a:prstGeom prst="ellipse">
            <a:avLst/>
          </a:prstGeom>
          <a:solidFill>
            <a:schemeClr val="tx1"/>
          </a:solidFill>
          <a:ln w="28575" cap="flat">
            <a:solidFill>
              <a:schemeClr val="accent2"/>
            </a:solidFill>
            <a:prstDash val="solid"/>
            <a:miter lim="800000"/>
          </a:ln>
        </p:spPr>
        <p:txBody>
          <a:bodyPr vert="horz" wrap="square" lIns="91434" tIns="45717" rIns="91434" bIns="45717" numCol="1" anchor="t" anchorCtr="0" compatLnSpc="1"/>
          <a:lstStyle/>
          <a:p>
            <a:endParaRPr lang="zh-CN" altLang="en-US" sz="2000">
              <a:solidFill>
                <a:schemeClr val="accent1"/>
              </a:solidFill>
            </a:endParaRPr>
          </a:p>
        </p:txBody>
      </p:sp>
      <p:sp>
        <p:nvSpPr>
          <p:cNvPr id="18" name="Oval 42"/>
          <p:cNvSpPr>
            <a:spLocks noChangeAspect="1" noChangeArrowheads="1"/>
          </p:cNvSpPr>
          <p:nvPr/>
        </p:nvSpPr>
        <p:spPr bwMode="auto">
          <a:xfrm>
            <a:off x="6458421" y="4855189"/>
            <a:ext cx="216000" cy="217227"/>
          </a:xfrm>
          <a:prstGeom prst="ellipse">
            <a:avLst/>
          </a:prstGeom>
          <a:solidFill>
            <a:schemeClr val="tx1"/>
          </a:solidFill>
          <a:ln w="28575" cap="flat">
            <a:solidFill>
              <a:schemeClr val="accent2"/>
            </a:solidFill>
            <a:prstDash val="solid"/>
            <a:miter lim="800000"/>
          </a:ln>
        </p:spPr>
        <p:txBody>
          <a:bodyPr vert="horz" wrap="square" lIns="91434" tIns="45717" rIns="91434" bIns="45717" numCol="1" anchor="t" anchorCtr="0" compatLnSpc="1"/>
          <a:lstStyle/>
          <a:p>
            <a:endParaRPr lang="zh-CN" altLang="en-US" sz="2000">
              <a:solidFill>
                <a:schemeClr val="accent1"/>
              </a:solidFill>
            </a:endParaRPr>
          </a:p>
        </p:txBody>
      </p:sp>
      <p:sp>
        <p:nvSpPr>
          <p:cNvPr id="20" name="TextBox 19"/>
          <p:cNvSpPr txBox="1"/>
          <p:nvPr/>
        </p:nvSpPr>
        <p:spPr>
          <a:xfrm>
            <a:off x="3506093" y="4763746"/>
            <a:ext cx="2264888" cy="400111"/>
          </a:xfrm>
          <a:prstGeom prst="rect">
            <a:avLst/>
          </a:prstGeom>
          <a:noFill/>
        </p:spPr>
        <p:txBody>
          <a:bodyPr wrap="square" lIns="91434" tIns="45717" rIns="91434" bIns="45717" rtlCol="0">
            <a:spAutoFit/>
          </a:bodyPr>
          <a:lstStyle/>
          <a:p>
            <a:r>
              <a:rPr lang="zh-CN" altLang="en-US" sz="2000" dirty="0">
                <a:solidFill>
                  <a:schemeClr val="accent2"/>
                </a:solidFill>
                <a:latin typeface="+mn-ea"/>
                <a:ea typeface="+mn-ea"/>
              </a:rPr>
              <a:t>支持向量机的原理</a:t>
            </a:r>
            <a:endParaRPr lang="zh-CN" altLang="en-US" sz="2000" dirty="0">
              <a:solidFill>
                <a:schemeClr val="accent2"/>
              </a:solidFill>
              <a:latin typeface="+mn-ea"/>
              <a:ea typeface="+mn-ea"/>
            </a:endParaRPr>
          </a:p>
        </p:txBody>
      </p:sp>
      <p:sp>
        <p:nvSpPr>
          <p:cNvPr id="25" name="TextBox 24"/>
          <p:cNvSpPr txBox="1"/>
          <p:nvPr/>
        </p:nvSpPr>
        <p:spPr>
          <a:xfrm>
            <a:off x="6785821" y="4763746"/>
            <a:ext cx="2840952" cy="400103"/>
          </a:xfrm>
          <a:prstGeom prst="rect">
            <a:avLst/>
          </a:prstGeom>
          <a:noFill/>
        </p:spPr>
        <p:txBody>
          <a:bodyPr wrap="square" lIns="91434" tIns="45717" rIns="91434" bIns="45717" rtlCol="0">
            <a:spAutoFit/>
          </a:bodyPr>
          <a:lstStyle/>
          <a:p>
            <a:r>
              <a:rPr lang="zh-CN" altLang="en-US" sz="2000" dirty="0">
                <a:solidFill>
                  <a:schemeClr val="accent2"/>
                </a:solidFill>
                <a:latin typeface="+mn-ea"/>
                <a:ea typeface="+mn-ea"/>
              </a:rPr>
              <a:t>支持向量机的应用举例</a:t>
            </a:r>
            <a:endParaRPr lang="zh-CN" altLang="en-US" sz="2000" dirty="0">
              <a:solidFill>
                <a:schemeClr val="accent2"/>
              </a:solidFill>
              <a:latin typeface="+mn-ea"/>
              <a:ea typeface="+mn-ea"/>
            </a:endParaRPr>
          </a:p>
        </p:txBody>
      </p:sp>
      <p:sp>
        <p:nvSpPr>
          <p:cNvPr id="17" name="Freeform 10"/>
          <p:cNvSpPr>
            <a:spLocks noEditPoints="1"/>
          </p:cNvSpPr>
          <p:nvPr/>
        </p:nvSpPr>
        <p:spPr bwMode="auto">
          <a:xfrm>
            <a:off x="5378301" y="1825605"/>
            <a:ext cx="1369075" cy="1320696"/>
          </a:xfrm>
          <a:custGeom>
            <a:avLst/>
            <a:gdLst>
              <a:gd name="T0" fmla="*/ 760 w 1139"/>
              <a:gd name="T1" fmla="*/ 420 h 1088"/>
              <a:gd name="T2" fmla="*/ 745 w 1139"/>
              <a:gd name="T3" fmla="*/ 452 h 1088"/>
              <a:gd name="T4" fmla="*/ 741 w 1139"/>
              <a:gd name="T5" fmla="*/ 473 h 1088"/>
              <a:gd name="T6" fmla="*/ 742 w 1139"/>
              <a:gd name="T7" fmla="*/ 513 h 1088"/>
              <a:gd name="T8" fmla="*/ 756 w 1139"/>
              <a:gd name="T9" fmla="*/ 552 h 1088"/>
              <a:gd name="T10" fmla="*/ 769 w 1139"/>
              <a:gd name="T11" fmla="*/ 571 h 1088"/>
              <a:gd name="T12" fmla="*/ 801 w 1139"/>
              <a:gd name="T13" fmla="*/ 598 h 1088"/>
              <a:gd name="T14" fmla="*/ 822 w 1139"/>
              <a:gd name="T15" fmla="*/ 608 h 1088"/>
              <a:gd name="T16" fmla="*/ 866 w 1139"/>
              <a:gd name="T17" fmla="*/ 363 h 1088"/>
              <a:gd name="T18" fmla="*/ 814 w 1139"/>
              <a:gd name="T19" fmla="*/ 374 h 1088"/>
              <a:gd name="T20" fmla="*/ 785 w 1139"/>
              <a:gd name="T21" fmla="*/ 392 h 1088"/>
              <a:gd name="T22" fmla="*/ 771 w 1139"/>
              <a:gd name="T23" fmla="*/ 406 h 1088"/>
              <a:gd name="T24" fmla="*/ 696 w 1139"/>
              <a:gd name="T25" fmla="*/ 127 h 1088"/>
              <a:gd name="T26" fmla="*/ 570 w 1139"/>
              <a:gd name="T27" fmla="*/ 253 h 1088"/>
              <a:gd name="T28" fmla="*/ 688 w 1139"/>
              <a:gd name="T29" fmla="*/ 513 h 1088"/>
              <a:gd name="T30" fmla="*/ 688 w 1139"/>
              <a:gd name="T31" fmla="*/ 461 h 1088"/>
              <a:gd name="T32" fmla="*/ 651 w 1139"/>
              <a:gd name="T33" fmla="*/ 279 h 1088"/>
              <a:gd name="T34" fmla="*/ 453 w 1139"/>
              <a:gd name="T35" fmla="*/ 490 h 1088"/>
              <a:gd name="T36" fmla="*/ 570 w 1139"/>
              <a:gd name="T37" fmla="*/ 718 h 1088"/>
              <a:gd name="T38" fmla="*/ 512 w 1139"/>
              <a:gd name="T39" fmla="*/ 725 h 1088"/>
              <a:gd name="T40" fmla="*/ 484 w 1139"/>
              <a:gd name="T41" fmla="*/ 693 h 1088"/>
              <a:gd name="T42" fmla="*/ 466 w 1139"/>
              <a:gd name="T43" fmla="*/ 678 h 1088"/>
              <a:gd name="T44" fmla="*/ 388 w 1139"/>
              <a:gd name="T45" fmla="*/ 645 h 1088"/>
              <a:gd name="T46" fmla="*/ 355 w 1139"/>
              <a:gd name="T47" fmla="*/ 642 h 1088"/>
              <a:gd name="T48" fmla="*/ 0 w 1139"/>
              <a:gd name="T49" fmla="*/ 1088 h 1088"/>
              <a:gd name="T50" fmla="*/ 151 w 1139"/>
              <a:gd name="T51" fmla="*/ 824 h 1088"/>
              <a:gd name="T52" fmla="*/ 391 w 1139"/>
              <a:gd name="T53" fmla="*/ 824 h 1088"/>
              <a:gd name="T54" fmla="*/ 546 w 1139"/>
              <a:gd name="T55" fmla="*/ 1088 h 1088"/>
              <a:gd name="T56" fmla="*/ 512 w 1139"/>
              <a:gd name="T57" fmla="*/ 725 h 1088"/>
              <a:gd name="T58" fmla="*/ 785 w 1139"/>
              <a:gd name="T59" fmla="*/ 642 h 1088"/>
              <a:gd name="T60" fmla="*/ 750 w 1139"/>
              <a:gd name="T61" fmla="*/ 646 h 1088"/>
              <a:gd name="T62" fmla="*/ 655 w 1139"/>
              <a:gd name="T63" fmla="*/ 693 h 1088"/>
              <a:gd name="T64" fmla="*/ 639 w 1139"/>
              <a:gd name="T65" fmla="*/ 709 h 1088"/>
              <a:gd name="T66" fmla="*/ 705 w 1139"/>
              <a:gd name="T67" fmla="*/ 1088 h 1088"/>
              <a:gd name="T68" fmla="*/ 744 w 1139"/>
              <a:gd name="T69" fmla="*/ 1088 h 1088"/>
              <a:gd name="T70" fmla="*/ 1024 w 1139"/>
              <a:gd name="T71" fmla="*/ 824 h 1088"/>
              <a:gd name="T72" fmla="*/ 1139 w 1139"/>
              <a:gd name="T73" fmla="*/ 833 h 1088"/>
              <a:gd name="T74" fmla="*/ 273 w 1139"/>
              <a:gd name="T75" fmla="*/ 616 h 1088"/>
              <a:gd name="T76" fmla="*/ 337 w 1139"/>
              <a:gd name="T77" fmla="*/ 599 h 1088"/>
              <a:gd name="T78" fmla="*/ 355 w 1139"/>
              <a:gd name="T79" fmla="*/ 586 h 1088"/>
              <a:gd name="T80" fmla="*/ 391 w 1139"/>
              <a:gd name="T81" fmla="*/ 535 h 1088"/>
              <a:gd name="T82" fmla="*/ 398 w 1139"/>
              <a:gd name="T83" fmla="*/ 510 h 1088"/>
              <a:gd name="T84" fmla="*/ 398 w 1139"/>
              <a:gd name="T85" fmla="*/ 468 h 1088"/>
              <a:gd name="T86" fmla="*/ 388 w 1139"/>
              <a:gd name="T87" fmla="*/ 437 h 1088"/>
              <a:gd name="T88" fmla="*/ 378 w 1139"/>
              <a:gd name="T89" fmla="*/ 419 h 1088"/>
              <a:gd name="T90" fmla="*/ 354 w 1139"/>
              <a:gd name="T91" fmla="*/ 393 h 1088"/>
              <a:gd name="T92" fmla="*/ 338 w 1139"/>
              <a:gd name="T93" fmla="*/ 381 h 1088"/>
              <a:gd name="T94" fmla="*/ 273 w 1139"/>
              <a:gd name="T95" fmla="*/ 363 h 10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39" h="1088">
                <a:moveTo>
                  <a:pt x="771" y="406"/>
                </a:moveTo>
                <a:cubicBezTo>
                  <a:pt x="767" y="411"/>
                  <a:pt x="764" y="415"/>
                  <a:pt x="761" y="419"/>
                </a:cubicBezTo>
                <a:cubicBezTo>
                  <a:pt x="761" y="420"/>
                  <a:pt x="761" y="420"/>
                  <a:pt x="760" y="420"/>
                </a:cubicBezTo>
                <a:cubicBezTo>
                  <a:pt x="758" y="424"/>
                  <a:pt x="755" y="429"/>
                  <a:pt x="753" y="433"/>
                </a:cubicBezTo>
                <a:cubicBezTo>
                  <a:pt x="752" y="435"/>
                  <a:pt x="752" y="436"/>
                  <a:pt x="751" y="437"/>
                </a:cubicBezTo>
                <a:cubicBezTo>
                  <a:pt x="749" y="442"/>
                  <a:pt x="747" y="447"/>
                  <a:pt x="745" y="452"/>
                </a:cubicBezTo>
                <a:cubicBezTo>
                  <a:pt x="745" y="452"/>
                  <a:pt x="745" y="453"/>
                  <a:pt x="745" y="453"/>
                </a:cubicBezTo>
                <a:cubicBezTo>
                  <a:pt x="744" y="458"/>
                  <a:pt x="742" y="463"/>
                  <a:pt x="741" y="468"/>
                </a:cubicBezTo>
                <a:cubicBezTo>
                  <a:pt x="741" y="470"/>
                  <a:pt x="741" y="471"/>
                  <a:pt x="741" y="473"/>
                </a:cubicBezTo>
                <a:cubicBezTo>
                  <a:pt x="740" y="478"/>
                  <a:pt x="740" y="484"/>
                  <a:pt x="740" y="490"/>
                </a:cubicBezTo>
                <a:cubicBezTo>
                  <a:pt x="740" y="497"/>
                  <a:pt x="740" y="504"/>
                  <a:pt x="741" y="510"/>
                </a:cubicBezTo>
                <a:cubicBezTo>
                  <a:pt x="742" y="511"/>
                  <a:pt x="742" y="512"/>
                  <a:pt x="742" y="513"/>
                </a:cubicBezTo>
                <a:cubicBezTo>
                  <a:pt x="743" y="520"/>
                  <a:pt x="745" y="526"/>
                  <a:pt x="747" y="532"/>
                </a:cubicBezTo>
                <a:cubicBezTo>
                  <a:pt x="747" y="533"/>
                  <a:pt x="748" y="534"/>
                  <a:pt x="748" y="535"/>
                </a:cubicBezTo>
                <a:cubicBezTo>
                  <a:pt x="750" y="541"/>
                  <a:pt x="753" y="547"/>
                  <a:pt x="756" y="552"/>
                </a:cubicBezTo>
                <a:cubicBezTo>
                  <a:pt x="757" y="553"/>
                  <a:pt x="757" y="554"/>
                  <a:pt x="758" y="555"/>
                </a:cubicBezTo>
                <a:cubicBezTo>
                  <a:pt x="761" y="560"/>
                  <a:pt x="765" y="566"/>
                  <a:pt x="769" y="571"/>
                </a:cubicBezTo>
                <a:cubicBezTo>
                  <a:pt x="769" y="571"/>
                  <a:pt x="769" y="571"/>
                  <a:pt x="769" y="571"/>
                </a:cubicBezTo>
                <a:cubicBezTo>
                  <a:pt x="774" y="576"/>
                  <a:pt x="778" y="581"/>
                  <a:pt x="783" y="585"/>
                </a:cubicBezTo>
                <a:cubicBezTo>
                  <a:pt x="784" y="586"/>
                  <a:pt x="784" y="586"/>
                  <a:pt x="784" y="586"/>
                </a:cubicBezTo>
                <a:cubicBezTo>
                  <a:pt x="789" y="591"/>
                  <a:pt x="795" y="594"/>
                  <a:pt x="801" y="598"/>
                </a:cubicBezTo>
                <a:cubicBezTo>
                  <a:pt x="801" y="598"/>
                  <a:pt x="802" y="599"/>
                  <a:pt x="802" y="599"/>
                </a:cubicBezTo>
                <a:cubicBezTo>
                  <a:pt x="808" y="602"/>
                  <a:pt x="814" y="605"/>
                  <a:pt x="820" y="608"/>
                </a:cubicBezTo>
                <a:cubicBezTo>
                  <a:pt x="821" y="608"/>
                  <a:pt x="821" y="608"/>
                  <a:pt x="822" y="608"/>
                </a:cubicBezTo>
                <a:cubicBezTo>
                  <a:pt x="836" y="613"/>
                  <a:pt x="851" y="616"/>
                  <a:pt x="866" y="616"/>
                </a:cubicBezTo>
                <a:cubicBezTo>
                  <a:pt x="936" y="616"/>
                  <a:pt x="993" y="559"/>
                  <a:pt x="993" y="490"/>
                </a:cubicBezTo>
                <a:cubicBezTo>
                  <a:pt x="993" y="420"/>
                  <a:pt x="936" y="363"/>
                  <a:pt x="866" y="363"/>
                </a:cubicBezTo>
                <a:cubicBezTo>
                  <a:pt x="848" y="363"/>
                  <a:pt x="831" y="367"/>
                  <a:pt x="816" y="374"/>
                </a:cubicBezTo>
                <a:cubicBezTo>
                  <a:pt x="816" y="374"/>
                  <a:pt x="816" y="374"/>
                  <a:pt x="816" y="374"/>
                </a:cubicBezTo>
                <a:cubicBezTo>
                  <a:pt x="815" y="374"/>
                  <a:pt x="815" y="374"/>
                  <a:pt x="814" y="374"/>
                </a:cubicBezTo>
                <a:cubicBezTo>
                  <a:pt x="810" y="376"/>
                  <a:pt x="806" y="379"/>
                  <a:pt x="802" y="381"/>
                </a:cubicBezTo>
                <a:cubicBezTo>
                  <a:pt x="800" y="382"/>
                  <a:pt x="799" y="382"/>
                  <a:pt x="798" y="383"/>
                </a:cubicBezTo>
                <a:cubicBezTo>
                  <a:pt x="794" y="386"/>
                  <a:pt x="789" y="389"/>
                  <a:pt x="785" y="392"/>
                </a:cubicBezTo>
                <a:cubicBezTo>
                  <a:pt x="785" y="393"/>
                  <a:pt x="784" y="393"/>
                  <a:pt x="784" y="393"/>
                </a:cubicBezTo>
                <a:cubicBezTo>
                  <a:pt x="780" y="397"/>
                  <a:pt x="777" y="400"/>
                  <a:pt x="773" y="404"/>
                </a:cubicBezTo>
                <a:cubicBezTo>
                  <a:pt x="773" y="405"/>
                  <a:pt x="772" y="406"/>
                  <a:pt x="771" y="406"/>
                </a:cubicBezTo>
                <a:close/>
                <a:moveTo>
                  <a:pt x="570" y="253"/>
                </a:moveTo>
                <a:lnTo>
                  <a:pt x="570" y="253"/>
                </a:lnTo>
                <a:cubicBezTo>
                  <a:pt x="639" y="253"/>
                  <a:pt x="696" y="196"/>
                  <a:pt x="696" y="127"/>
                </a:cubicBezTo>
                <a:cubicBezTo>
                  <a:pt x="696" y="57"/>
                  <a:pt x="639" y="0"/>
                  <a:pt x="570" y="0"/>
                </a:cubicBezTo>
                <a:cubicBezTo>
                  <a:pt x="500" y="0"/>
                  <a:pt x="443" y="57"/>
                  <a:pt x="443" y="127"/>
                </a:cubicBezTo>
                <a:cubicBezTo>
                  <a:pt x="443" y="196"/>
                  <a:pt x="500" y="253"/>
                  <a:pt x="570" y="253"/>
                </a:cubicBezTo>
                <a:close/>
                <a:moveTo>
                  <a:pt x="688" y="609"/>
                </a:moveTo>
                <a:lnTo>
                  <a:pt x="688" y="609"/>
                </a:lnTo>
                <a:lnTo>
                  <a:pt x="688" y="513"/>
                </a:lnTo>
                <a:cubicBezTo>
                  <a:pt x="687" y="505"/>
                  <a:pt x="686" y="497"/>
                  <a:pt x="686" y="490"/>
                </a:cubicBezTo>
                <a:cubicBezTo>
                  <a:pt x="686" y="482"/>
                  <a:pt x="687" y="474"/>
                  <a:pt x="688" y="467"/>
                </a:cubicBezTo>
                <a:lnTo>
                  <a:pt x="688" y="461"/>
                </a:lnTo>
                <a:lnTo>
                  <a:pt x="689" y="461"/>
                </a:lnTo>
                <a:cubicBezTo>
                  <a:pt x="698" y="405"/>
                  <a:pt x="733" y="357"/>
                  <a:pt x="782" y="331"/>
                </a:cubicBezTo>
                <a:cubicBezTo>
                  <a:pt x="748" y="299"/>
                  <a:pt x="702" y="279"/>
                  <a:pt x="651" y="279"/>
                </a:cubicBezTo>
                <a:lnTo>
                  <a:pt x="488" y="279"/>
                </a:lnTo>
                <a:cubicBezTo>
                  <a:pt x="437" y="279"/>
                  <a:pt x="391" y="299"/>
                  <a:pt x="357" y="331"/>
                </a:cubicBezTo>
                <a:cubicBezTo>
                  <a:pt x="414" y="361"/>
                  <a:pt x="453" y="421"/>
                  <a:pt x="453" y="490"/>
                </a:cubicBezTo>
                <a:cubicBezTo>
                  <a:pt x="453" y="504"/>
                  <a:pt x="451" y="518"/>
                  <a:pt x="448" y="531"/>
                </a:cubicBezTo>
                <a:lnTo>
                  <a:pt x="448" y="608"/>
                </a:lnTo>
                <a:cubicBezTo>
                  <a:pt x="500" y="629"/>
                  <a:pt x="543" y="668"/>
                  <a:pt x="570" y="718"/>
                </a:cubicBezTo>
                <a:cubicBezTo>
                  <a:pt x="595" y="669"/>
                  <a:pt x="638" y="631"/>
                  <a:pt x="688" y="609"/>
                </a:cubicBezTo>
                <a:close/>
                <a:moveTo>
                  <a:pt x="512" y="725"/>
                </a:moveTo>
                <a:lnTo>
                  <a:pt x="512" y="725"/>
                </a:lnTo>
                <a:cubicBezTo>
                  <a:pt x="508" y="719"/>
                  <a:pt x="504" y="714"/>
                  <a:pt x="499" y="709"/>
                </a:cubicBezTo>
                <a:cubicBezTo>
                  <a:pt x="499" y="708"/>
                  <a:pt x="498" y="707"/>
                  <a:pt x="497" y="707"/>
                </a:cubicBezTo>
                <a:cubicBezTo>
                  <a:pt x="493" y="702"/>
                  <a:pt x="489" y="698"/>
                  <a:pt x="484" y="693"/>
                </a:cubicBezTo>
                <a:cubicBezTo>
                  <a:pt x="484" y="693"/>
                  <a:pt x="483" y="692"/>
                  <a:pt x="482" y="691"/>
                </a:cubicBezTo>
                <a:cubicBezTo>
                  <a:pt x="477" y="687"/>
                  <a:pt x="473" y="683"/>
                  <a:pt x="467" y="679"/>
                </a:cubicBezTo>
                <a:cubicBezTo>
                  <a:pt x="467" y="679"/>
                  <a:pt x="466" y="679"/>
                  <a:pt x="466" y="678"/>
                </a:cubicBezTo>
                <a:cubicBezTo>
                  <a:pt x="449" y="666"/>
                  <a:pt x="429" y="656"/>
                  <a:pt x="409" y="650"/>
                </a:cubicBezTo>
                <a:cubicBezTo>
                  <a:pt x="404" y="649"/>
                  <a:pt x="400" y="648"/>
                  <a:pt x="395" y="647"/>
                </a:cubicBezTo>
                <a:cubicBezTo>
                  <a:pt x="393" y="646"/>
                  <a:pt x="390" y="646"/>
                  <a:pt x="388" y="645"/>
                </a:cubicBezTo>
                <a:cubicBezTo>
                  <a:pt x="385" y="645"/>
                  <a:pt x="381" y="644"/>
                  <a:pt x="378" y="644"/>
                </a:cubicBezTo>
                <a:cubicBezTo>
                  <a:pt x="376" y="644"/>
                  <a:pt x="374" y="643"/>
                  <a:pt x="372" y="643"/>
                </a:cubicBezTo>
                <a:cubicBezTo>
                  <a:pt x="366" y="643"/>
                  <a:pt x="360" y="642"/>
                  <a:pt x="355" y="642"/>
                </a:cubicBezTo>
                <a:lnTo>
                  <a:pt x="191" y="642"/>
                </a:lnTo>
                <a:cubicBezTo>
                  <a:pt x="86" y="642"/>
                  <a:pt x="0" y="728"/>
                  <a:pt x="0" y="833"/>
                </a:cubicBezTo>
                <a:lnTo>
                  <a:pt x="0" y="1088"/>
                </a:lnTo>
                <a:lnTo>
                  <a:pt x="112" y="1088"/>
                </a:lnTo>
                <a:lnTo>
                  <a:pt x="112" y="824"/>
                </a:lnTo>
                <a:lnTo>
                  <a:pt x="151" y="824"/>
                </a:lnTo>
                <a:lnTo>
                  <a:pt x="151" y="1088"/>
                </a:lnTo>
                <a:lnTo>
                  <a:pt x="391" y="1088"/>
                </a:lnTo>
                <a:lnTo>
                  <a:pt x="391" y="824"/>
                </a:lnTo>
                <a:lnTo>
                  <a:pt x="430" y="824"/>
                </a:lnTo>
                <a:lnTo>
                  <a:pt x="430" y="1088"/>
                </a:lnTo>
                <a:lnTo>
                  <a:pt x="546" y="1088"/>
                </a:lnTo>
                <a:lnTo>
                  <a:pt x="546" y="833"/>
                </a:lnTo>
                <a:cubicBezTo>
                  <a:pt x="546" y="793"/>
                  <a:pt x="533" y="756"/>
                  <a:pt x="512" y="725"/>
                </a:cubicBezTo>
                <a:cubicBezTo>
                  <a:pt x="512" y="725"/>
                  <a:pt x="512" y="725"/>
                  <a:pt x="512" y="725"/>
                </a:cubicBezTo>
                <a:close/>
                <a:moveTo>
                  <a:pt x="948" y="642"/>
                </a:moveTo>
                <a:lnTo>
                  <a:pt x="948" y="642"/>
                </a:lnTo>
                <a:lnTo>
                  <a:pt x="785" y="642"/>
                </a:lnTo>
                <a:cubicBezTo>
                  <a:pt x="779" y="642"/>
                  <a:pt x="773" y="643"/>
                  <a:pt x="767" y="643"/>
                </a:cubicBezTo>
                <a:cubicBezTo>
                  <a:pt x="765" y="643"/>
                  <a:pt x="763" y="644"/>
                  <a:pt x="761" y="644"/>
                </a:cubicBezTo>
                <a:cubicBezTo>
                  <a:pt x="758" y="644"/>
                  <a:pt x="754" y="645"/>
                  <a:pt x="750" y="646"/>
                </a:cubicBezTo>
                <a:cubicBezTo>
                  <a:pt x="748" y="646"/>
                  <a:pt x="746" y="646"/>
                  <a:pt x="743" y="647"/>
                </a:cubicBezTo>
                <a:cubicBezTo>
                  <a:pt x="739" y="648"/>
                  <a:pt x="735" y="649"/>
                  <a:pt x="731" y="650"/>
                </a:cubicBezTo>
                <a:cubicBezTo>
                  <a:pt x="703" y="658"/>
                  <a:pt x="676" y="673"/>
                  <a:pt x="655" y="693"/>
                </a:cubicBezTo>
                <a:cubicBezTo>
                  <a:pt x="655" y="694"/>
                  <a:pt x="654" y="694"/>
                  <a:pt x="654" y="694"/>
                </a:cubicBezTo>
                <a:cubicBezTo>
                  <a:pt x="649" y="698"/>
                  <a:pt x="645" y="703"/>
                  <a:pt x="641" y="708"/>
                </a:cubicBezTo>
                <a:cubicBezTo>
                  <a:pt x="640" y="708"/>
                  <a:pt x="640" y="709"/>
                  <a:pt x="639" y="709"/>
                </a:cubicBezTo>
                <a:cubicBezTo>
                  <a:pt x="611" y="743"/>
                  <a:pt x="593" y="786"/>
                  <a:pt x="593" y="833"/>
                </a:cubicBezTo>
                <a:lnTo>
                  <a:pt x="593" y="1088"/>
                </a:lnTo>
                <a:lnTo>
                  <a:pt x="705" y="1088"/>
                </a:lnTo>
                <a:lnTo>
                  <a:pt x="705" y="824"/>
                </a:lnTo>
                <a:lnTo>
                  <a:pt x="744" y="824"/>
                </a:lnTo>
                <a:lnTo>
                  <a:pt x="744" y="1088"/>
                </a:lnTo>
                <a:lnTo>
                  <a:pt x="985" y="1088"/>
                </a:lnTo>
                <a:lnTo>
                  <a:pt x="985" y="824"/>
                </a:lnTo>
                <a:lnTo>
                  <a:pt x="1024" y="824"/>
                </a:lnTo>
                <a:lnTo>
                  <a:pt x="1024" y="1088"/>
                </a:lnTo>
                <a:lnTo>
                  <a:pt x="1139" y="1088"/>
                </a:lnTo>
                <a:lnTo>
                  <a:pt x="1139" y="833"/>
                </a:lnTo>
                <a:cubicBezTo>
                  <a:pt x="1139" y="728"/>
                  <a:pt x="1053" y="642"/>
                  <a:pt x="948" y="642"/>
                </a:cubicBezTo>
                <a:close/>
                <a:moveTo>
                  <a:pt x="273" y="616"/>
                </a:moveTo>
                <a:lnTo>
                  <a:pt x="273" y="616"/>
                </a:lnTo>
                <a:cubicBezTo>
                  <a:pt x="289" y="616"/>
                  <a:pt x="304" y="613"/>
                  <a:pt x="317" y="608"/>
                </a:cubicBezTo>
                <a:cubicBezTo>
                  <a:pt x="318" y="608"/>
                  <a:pt x="318" y="608"/>
                  <a:pt x="318" y="608"/>
                </a:cubicBezTo>
                <a:cubicBezTo>
                  <a:pt x="325" y="605"/>
                  <a:pt x="331" y="602"/>
                  <a:pt x="337" y="599"/>
                </a:cubicBezTo>
                <a:cubicBezTo>
                  <a:pt x="337" y="599"/>
                  <a:pt x="338" y="598"/>
                  <a:pt x="338" y="598"/>
                </a:cubicBezTo>
                <a:cubicBezTo>
                  <a:pt x="344" y="594"/>
                  <a:pt x="350" y="591"/>
                  <a:pt x="355" y="586"/>
                </a:cubicBezTo>
                <a:cubicBezTo>
                  <a:pt x="355" y="586"/>
                  <a:pt x="355" y="586"/>
                  <a:pt x="355" y="586"/>
                </a:cubicBezTo>
                <a:cubicBezTo>
                  <a:pt x="366" y="577"/>
                  <a:pt x="374" y="566"/>
                  <a:pt x="381" y="554"/>
                </a:cubicBezTo>
                <a:cubicBezTo>
                  <a:pt x="382" y="554"/>
                  <a:pt x="382" y="553"/>
                  <a:pt x="383" y="552"/>
                </a:cubicBezTo>
                <a:cubicBezTo>
                  <a:pt x="386" y="547"/>
                  <a:pt x="389" y="541"/>
                  <a:pt x="391" y="535"/>
                </a:cubicBezTo>
                <a:cubicBezTo>
                  <a:pt x="391" y="534"/>
                  <a:pt x="392" y="533"/>
                  <a:pt x="392" y="532"/>
                </a:cubicBezTo>
                <a:cubicBezTo>
                  <a:pt x="394" y="526"/>
                  <a:pt x="396" y="520"/>
                  <a:pt x="397" y="513"/>
                </a:cubicBezTo>
                <a:cubicBezTo>
                  <a:pt x="397" y="512"/>
                  <a:pt x="398" y="511"/>
                  <a:pt x="398" y="510"/>
                </a:cubicBezTo>
                <a:cubicBezTo>
                  <a:pt x="399" y="504"/>
                  <a:pt x="399" y="497"/>
                  <a:pt x="399" y="490"/>
                </a:cubicBezTo>
                <a:cubicBezTo>
                  <a:pt x="399" y="484"/>
                  <a:pt x="399" y="478"/>
                  <a:pt x="398" y="472"/>
                </a:cubicBezTo>
                <a:cubicBezTo>
                  <a:pt x="398" y="471"/>
                  <a:pt x="398" y="470"/>
                  <a:pt x="398" y="468"/>
                </a:cubicBezTo>
                <a:cubicBezTo>
                  <a:pt x="397" y="463"/>
                  <a:pt x="395" y="458"/>
                  <a:pt x="394" y="453"/>
                </a:cubicBezTo>
                <a:cubicBezTo>
                  <a:pt x="394" y="452"/>
                  <a:pt x="394" y="452"/>
                  <a:pt x="394" y="452"/>
                </a:cubicBezTo>
                <a:cubicBezTo>
                  <a:pt x="392" y="447"/>
                  <a:pt x="390" y="442"/>
                  <a:pt x="388" y="437"/>
                </a:cubicBezTo>
                <a:cubicBezTo>
                  <a:pt x="387" y="436"/>
                  <a:pt x="387" y="435"/>
                  <a:pt x="386" y="434"/>
                </a:cubicBezTo>
                <a:cubicBezTo>
                  <a:pt x="384" y="429"/>
                  <a:pt x="381" y="424"/>
                  <a:pt x="378" y="419"/>
                </a:cubicBezTo>
                <a:lnTo>
                  <a:pt x="378" y="419"/>
                </a:lnTo>
                <a:cubicBezTo>
                  <a:pt x="375" y="415"/>
                  <a:pt x="372" y="410"/>
                  <a:pt x="368" y="406"/>
                </a:cubicBezTo>
                <a:cubicBezTo>
                  <a:pt x="367" y="405"/>
                  <a:pt x="367" y="405"/>
                  <a:pt x="366" y="404"/>
                </a:cubicBezTo>
                <a:cubicBezTo>
                  <a:pt x="362" y="400"/>
                  <a:pt x="358" y="396"/>
                  <a:pt x="354" y="393"/>
                </a:cubicBezTo>
                <a:cubicBezTo>
                  <a:pt x="354" y="393"/>
                  <a:pt x="354" y="393"/>
                  <a:pt x="354" y="393"/>
                </a:cubicBezTo>
                <a:cubicBezTo>
                  <a:pt x="350" y="389"/>
                  <a:pt x="345" y="386"/>
                  <a:pt x="341" y="383"/>
                </a:cubicBezTo>
                <a:cubicBezTo>
                  <a:pt x="340" y="382"/>
                  <a:pt x="339" y="382"/>
                  <a:pt x="338" y="381"/>
                </a:cubicBezTo>
                <a:cubicBezTo>
                  <a:pt x="334" y="379"/>
                  <a:pt x="329" y="376"/>
                  <a:pt x="324" y="374"/>
                </a:cubicBezTo>
                <a:cubicBezTo>
                  <a:pt x="324" y="374"/>
                  <a:pt x="324" y="374"/>
                  <a:pt x="323" y="374"/>
                </a:cubicBezTo>
                <a:cubicBezTo>
                  <a:pt x="308" y="367"/>
                  <a:pt x="291" y="363"/>
                  <a:pt x="273" y="363"/>
                </a:cubicBezTo>
                <a:cubicBezTo>
                  <a:pt x="203" y="363"/>
                  <a:pt x="146" y="420"/>
                  <a:pt x="146" y="490"/>
                </a:cubicBezTo>
                <a:cubicBezTo>
                  <a:pt x="146" y="559"/>
                  <a:pt x="203" y="616"/>
                  <a:pt x="273" y="616"/>
                </a:cubicBezTo>
                <a:close/>
              </a:path>
            </a:pathLst>
          </a:custGeom>
          <a:solidFill>
            <a:schemeClr val="tx1"/>
          </a:solidFill>
          <a:ln>
            <a:noFill/>
          </a:ln>
        </p:spPr>
        <p:txBody>
          <a:bodyPr vert="horz" wrap="square" lIns="91434" tIns="45717" rIns="91434" bIns="45717" numCol="1" anchor="t" anchorCtr="0" compatLnSpc="1"/>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5625" y="908050"/>
            <a:ext cx="10601349" cy="1944886"/>
          </a:xfrm>
        </p:spPr>
        <p:txBody>
          <a:bodyPr/>
          <a:lstStyle/>
          <a:p>
            <a:r>
              <a:rPr lang="zh-CN" altLang="zh-CN" dirty="0">
                <a:latin typeface="宋体" panose="02010600030101010101" pitchFamily="2" charset="-122"/>
                <a:ea typeface="宋体" panose="02010600030101010101" pitchFamily="2" charset="-122"/>
              </a:rPr>
              <a:t>支持向量机基于统计学习理论，强调结构风险最小化。其基本思想是：对于一个给定有限数量训练样本的学习任务，通过在原空间或经投影后的高维空间中构造最优分离超平面，将给定的两类训练样本分开，构造分离超平面的依据是两类样本对分离超平面的最小距离最大化。它的思想可用下图说明，图中描述的是两类样本线性可分的情形，图中“圆”和“星”分别代表两类样本</a:t>
            </a:r>
            <a:r>
              <a:rPr lang="zh-CN" altLang="zh-CN" dirty="0"/>
              <a:t>。</a:t>
            </a:r>
            <a:br>
              <a:rPr lang="zh-CN" altLang="zh-CN" dirty="0"/>
            </a:br>
            <a:endParaRPr lang="zh-CN" altLang="en-US" dirty="0"/>
          </a:p>
        </p:txBody>
      </p:sp>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5" name="TextBox 4"/>
          <p:cNvSpPr txBox="1"/>
          <p:nvPr/>
        </p:nvSpPr>
        <p:spPr>
          <a:xfrm>
            <a:off x="1330765" y="44625"/>
            <a:ext cx="685584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5.6.1  </a:t>
            </a:r>
            <a:r>
              <a:rPr lang="zh-CN" altLang="en-US" sz="2800" dirty="0">
                <a:solidFill>
                  <a:schemeClr val="accent2"/>
                </a:solidFill>
                <a:latin typeface="微软雅黑" panose="020B0503020204020204" pitchFamily="34" charset="-122"/>
                <a:ea typeface="微软雅黑" panose="020B0503020204020204" pitchFamily="34" charset="-122"/>
              </a:rPr>
              <a:t>支持向量机原理</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pic>
        <p:nvPicPr>
          <p:cNvPr id="163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7558" y="2636912"/>
            <a:ext cx="10297143"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796633" y="764704"/>
                <a:ext cx="10601349" cy="5832648"/>
              </a:xfrm>
            </p:spPr>
            <p:txBody>
              <a:bodyPr/>
              <a:lstStyle/>
              <a:p>
                <a:pPr marL="0" indent="0">
                  <a:lnSpc>
                    <a:spcPct val="150000"/>
                  </a:lnSpc>
                  <a:spcAft>
                    <a:spcPts val="0"/>
                  </a:spcAft>
                  <a:buNone/>
                </a:pPr>
                <a:r>
                  <a:rPr lang="zh-CN" altLang="zh-CN" sz="2400" kern="100" dirty="0">
                    <a:solidFill>
                      <a:srgbClr val="000000"/>
                    </a:solidFill>
                    <a:latin typeface="宋体" pitchFamily="2" charset="-122"/>
                    <a:ea typeface="宋体" pitchFamily="2" charset="-122"/>
                    <a:cs typeface="Times New Roman"/>
                  </a:rPr>
                  <a:t>根据支持向量机原理，建立模型就是要找到最优分离超平面（最大间隔分离样本的超平面）分开两类样本。最优分离超平面可以记为：</a:t>
                </a:r>
                <a:endParaRPr lang="en-US" altLang="zh-CN" sz="2400" kern="100" dirty="0">
                  <a:solidFill>
                    <a:srgbClr val="000000"/>
                  </a:solidFill>
                  <a:latin typeface="宋体" pitchFamily="2" charset="-122"/>
                  <a:ea typeface="宋体" pitchFamily="2" charset="-122"/>
                  <a:cs typeface="Times New Roman"/>
                </a:endParaRPr>
              </a:p>
              <a:p>
                <a:pPr marL="0" indent="0">
                  <a:lnSpc>
                    <a:spcPct val="150000"/>
                  </a:lnSpc>
                  <a:spcAft>
                    <a:spcPts val="0"/>
                  </a:spcAft>
                  <a:buNone/>
                </a:pPr>
                <a14:m>
                  <m:oMathPara xmlns:m="http://schemas.openxmlformats.org/officeDocument/2006/math">
                    <m:oMathParaPr>
                      <m:jc m:val="centerGroup"/>
                    </m:oMathParaPr>
                    <m:oMath xmlns:m="http://schemas.openxmlformats.org/officeDocument/2006/math">
                      <m:sSup>
                        <m:sSupPr>
                          <m:ctrlPr>
                            <a:rPr lang="en-US" altLang="zh-CN" sz="2400" i="1" kern="100" smtClean="0">
                              <a:latin typeface="Cambria Math"/>
                              <a:ea typeface="宋体" pitchFamily="2" charset="-122"/>
                              <a:cs typeface="Times New Roman"/>
                            </a:rPr>
                          </m:ctrlPr>
                        </m:sSupPr>
                        <m:e>
                          <m:r>
                            <a:rPr lang="en-US" altLang="zh-CN" sz="2400" b="0" i="1" kern="100" smtClean="0">
                              <a:latin typeface="Cambria Math"/>
                              <a:ea typeface="宋体" pitchFamily="2" charset="-122"/>
                              <a:cs typeface="Times New Roman"/>
                            </a:rPr>
                            <m:t>𝑤</m:t>
                          </m:r>
                        </m:e>
                        <m:sup>
                          <m:r>
                            <a:rPr lang="en-US" altLang="zh-CN" sz="2400" b="0" i="1" kern="100" smtClean="0">
                              <a:latin typeface="Cambria Math"/>
                              <a:ea typeface="宋体" pitchFamily="2" charset="-122"/>
                              <a:cs typeface="Times New Roman"/>
                            </a:rPr>
                            <m:t>𝑇</m:t>
                          </m:r>
                        </m:sup>
                      </m:sSup>
                      <m:r>
                        <a:rPr lang="en-US" altLang="zh-CN" sz="2400" b="0" i="1" kern="100" smtClean="0">
                          <a:latin typeface="Cambria Math"/>
                          <a:ea typeface="宋体" pitchFamily="2" charset="-122"/>
                          <a:cs typeface="Times New Roman"/>
                        </a:rPr>
                        <m:t>+</m:t>
                      </m:r>
                      <m:r>
                        <a:rPr lang="en-US" altLang="zh-CN" sz="2400" b="0" i="1" kern="100" smtClean="0">
                          <a:latin typeface="Cambria Math"/>
                          <a:ea typeface="宋体" pitchFamily="2" charset="-122"/>
                          <a:cs typeface="Times New Roman"/>
                        </a:rPr>
                        <m:t>𝑏</m:t>
                      </m:r>
                      <m:r>
                        <a:rPr lang="en-US" altLang="zh-CN" sz="2400" b="0" i="1" kern="100" smtClean="0">
                          <a:latin typeface="Cambria Math"/>
                          <a:ea typeface="宋体" pitchFamily="2" charset="-122"/>
                          <a:cs typeface="Times New Roman"/>
                        </a:rPr>
                        <m:t>=0</m:t>
                      </m:r>
                    </m:oMath>
                  </m:oMathPara>
                </a14:m>
                <a:endParaRPr lang="zh-CN" altLang="zh-CN" sz="2400" kern="100" dirty="0">
                  <a:latin typeface="宋体" pitchFamily="2" charset="-122"/>
                  <a:ea typeface="宋体" pitchFamily="2" charset="-122"/>
                  <a:cs typeface="Times New Roman"/>
                </a:endParaRPr>
              </a:p>
              <a:p>
                <a:pPr marL="0" indent="0">
                  <a:lnSpc>
                    <a:spcPct val="150000"/>
                  </a:lnSpc>
                  <a:spcAft>
                    <a:spcPts val="0"/>
                  </a:spcAft>
                  <a:buNone/>
                </a:pPr>
                <a:r>
                  <a:rPr lang="zh-CN" altLang="zh-CN" sz="2400" kern="100" dirty="0">
                    <a:latin typeface="宋体" pitchFamily="2" charset="-122"/>
                    <a:ea typeface="宋体" pitchFamily="2" charset="-122"/>
                    <a:cs typeface="Times New Roman"/>
                  </a:rPr>
                  <a:t>这样位于最优分离超平面上方的点满足：</a:t>
                </a:r>
                <a:endParaRPr lang="en-US" altLang="zh-CN" sz="2400" kern="100" dirty="0">
                  <a:latin typeface="宋体" pitchFamily="2" charset="-122"/>
                  <a:ea typeface="宋体" pitchFamily="2" charset="-122"/>
                  <a:cs typeface="Times New Roman"/>
                </a:endParaRPr>
              </a:p>
              <a:p>
                <a:pPr marL="0" indent="0">
                  <a:lnSpc>
                    <a:spcPct val="150000"/>
                  </a:lnSpc>
                  <a:spcAft>
                    <a:spcPts val="0"/>
                  </a:spcAft>
                  <a:buNone/>
                </a:pPr>
                <a14:m>
                  <m:oMathPara xmlns:m="http://schemas.openxmlformats.org/officeDocument/2006/math">
                    <m:oMathParaPr>
                      <m:jc m:val="centerGroup"/>
                    </m:oMathParaPr>
                    <m:oMath xmlns:m="http://schemas.openxmlformats.org/officeDocument/2006/math">
                      <m:sSup>
                        <m:sSupPr>
                          <m:ctrlPr>
                            <a:rPr lang="en-US" altLang="zh-CN" sz="2400" i="1" kern="100" smtClean="0">
                              <a:latin typeface="Cambria Math"/>
                              <a:ea typeface="宋体" pitchFamily="2" charset="-122"/>
                              <a:cs typeface="Times New Roman"/>
                            </a:rPr>
                          </m:ctrlPr>
                        </m:sSupPr>
                        <m:e>
                          <m:r>
                            <a:rPr lang="en-US" altLang="zh-CN" sz="2400" b="0" i="1" kern="100" smtClean="0">
                              <a:latin typeface="Cambria Math"/>
                              <a:ea typeface="宋体" pitchFamily="2" charset="-122"/>
                              <a:cs typeface="Times New Roman"/>
                            </a:rPr>
                            <m:t>𝑤</m:t>
                          </m:r>
                        </m:e>
                        <m:sup>
                          <m:r>
                            <a:rPr lang="en-US" altLang="zh-CN" sz="2400" b="0" i="1" kern="100" smtClean="0">
                              <a:latin typeface="Cambria Math"/>
                              <a:ea typeface="宋体" pitchFamily="2" charset="-122"/>
                              <a:cs typeface="Times New Roman"/>
                            </a:rPr>
                            <m:t>𝑇</m:t>
                          </m:r>
                        </m:sup>
                      </m:sSup>
                      <m:r>
                        <a:rPr lang="en-US" altLang="zh-CN" sz="2400" b="0" i="1" kern="100" smtClean="0">
                          <a:latin typeface="Cambria Math"/>
                          <a:ea typeface="宋体" pitchFamily="2" charset="-122"/>
                          <a:cs typeface="Times New Roman"/>
                        </a:rPr>
                        <m:t>𝑥</m:t>
                      </m:r>
                      <m:r>
                        <a:rPr lang="en-US" altLang="zh-CN" sz="2400" b="0" i="1" kern="100" smtClean="0">
                          <a:latin typeface="Cambria Math"/>
                          <a:ea typeface="宋体" pitchFamily="2" charset="-122"/>
                          <a:cs typeface="Times New Roman"/>
                        </a:rPr>
                        <m:t>+</m:t>
                      </m:r>
                      <m:r>
                        <a:rPr lang="en-US" altLang="zh-CN" sz="2400" b="0" i="1" kern="100" smtClean="0">
                          <a:latin typeface="Cambria Math"/>
                          <a:ea typeface="宋体" pitchFamily="2" charset="-122"/>
                          <a:cs typeface="Times New Roman"/>
                        </a:rPr>
                        <m:t>𝑏</m:t>
                      </m:r>
                      <m:r>
                        <a:rPr lang="en-US" altLang="zh-CN" sz="2400" b="0" i="1" kern="100" smtClean="0">
                          <a:latin typeface="Cambria Math"/>
                          <a:ea typeface="宋体" pitchFamily="2" charset="-122"/>
                          <a:cs typeface="Times New Roman"/>
                        </a:rPr>
                        <m:t>&gt;0</m:t>
                      </m:r>
                    </m:oMath>
                  </m:oMathPara>
                </a14:m>
                <a:endParaRPr lang="zh-CN" altLang="zh-CN" sz="2400" kern="100" dirty="0">
                  <a:latin typeface="宋体" pitchFamily="2" charset="-122"/>
                  <a:ea typeface="宋体" pitchFamily="2" charset="-122"/>
                  <a:cs typeface="Times New Roman"/>
                </a:endParaRPr>
              </a:p>
              <a:p>
                <a:pPr marL="0" indent="0">
                  <a:lnSpc>
                    <a:spcPct val="150000"/>
                  </a:lnSpc>
                  <a:spcAft>
                    <a:spcPts val="0"/>
                  </a:spcAft>
                  <a:buNone/>
                </a:pPr>
                <a:r>
                  <a:rPr lang="zh-CN" altLang="zh-CN" sz="2400" kern="100" dirty="0">
                    <a:latin typeface="宋体" pitchFamily="2" charset="-122"/>
                    <a:ea typeface="宋体" pitchFamily="2" charset="-122"/>
                    <a:cs typeface="Times New Roman"/>
                  </a:rPr>
                  <a:t>位于最优分离超平面下方的点满足：</a:t>
                </a:r>
                <a:endParaRPr lang="en-US" altLang="zh-CN" sz="2400" kern="100" dirty="0">
                  <a:latin typeface="宋体" pitchFamily="2" charset="-122"/>
                  <a:ea typeface="宋体" pitchFamily="2" charset="-122"/>
                  <a:cs typeface="Times New Roman"/>
                </a:endParaRPr>
              </a:p>
              <a:p>
                <a:pPr marL="0" indent="0">
                  <a:lnSpc>
                    <a:spcPct val="150000"/>
                  </a:lnSpc>
                  <a:spcAft>
                    <a:spcPts val="0"/>
                  </a:spcAft>
                  <a:buNone/>
                </a:pPr>
                <a14:m>
                  <m:oMathPara xmlns:m="http://schemas.openxmlformats.org/officeDocument/2006/math">
                    <m:oMathParaPr>
                      <m:jc m:val="centerGroup"/>
                    </m:oMathParaPr>
                    <m:oMath xmlns:m="http://schemas.openxmlformats.org/officeDocument/2006/math">
                      <m:sSup>
                        <m:sSupPr>
                          <m:ctrlPr>
                            <a:rPr lang="en-US" altLang="zh-CN" sz="2400" i="1" kern="100" smtClean="0">
                              <a:latin typeface="Cambria Math"/>
                              <a:ea typeface="宋体" pitchFamily="2" charset="-122"/>
                              <a:cs typeface="Times New Roman"/>
                            </a:rPr>
                          </m:ctrlPr>
                        </m:sSupPr>
                        <m:e>
                          <m:r>
                            <a:rPr lang="en-US" altLang="zh-CN" sz="2400" b="0" i="1" kern="100" smtClean="0">
                              <a:latin typeface="Cambria Math"/>
                              <a:ea typeface="宋体" pitchFamily="2" charset="-122"/>
                              <a:cs typeface="Times New Roman"/>
                            </a:rPr>
                            <m:t>𝑤</m:t>
                          </m:r>
                        </m:e>
                        <m:sup>
                          <m:r>
                            <a:rPr lang="en-US" altLang="zh-CN" sz="2400" b="0" i="1" kern="100" smtClean="0">
                              <a:latin typeface="Cambria Math"/>
                              <a:ea typeface="宋体" pitchFamily="2" charset="-122"/>
                              <a:cs typeface="Times New Roman"/>
                            </a:rPr>
                            <m:t>𝑇</m:t>
                          </m:r>
                        </m:sup>
                      </m:sSup>
                      <m:r>
                        <a:rPr lang="en-US" altLang="zh-CN" sz="2400" b="0" i="1" kern="100" smtClean="0">
                          <a:latin typeface="Cambria Math"/>
                          <a:ea typeface="宋体" pitchFamily="2" charset="-122"/>
                          <a:cs typeface="Times New Roman"/>
                        </a:rPr>
                        <m:t>+</m:t>
                      </m:r>
                      <m:r>
                        <a:rPr lang="en-US" altLang="zh-CN" sz="2400" b="0" i="1" kern="100" smtClean="0">
                          <a:latin typeface="Cambria Math"/>
                          <a:ea typeface="宋体" pitchFamily="2" charset="-122"/>
                          <a:cs typeface="Times New Roman"/>
                        </a:rPr>
                        <m:t>𝑏</m:t>
                      </m:r>
                      <m:r>
                        <a:rPr lang="en-US" altLang="zh-CN" sz="2400" b="0" i="1" kern="100" smtClean="0">
                          <a:latin typeface="Cambria Math"/>
                          <a:ea typeface="宋体" pitchFamily="2" charset="-122"/>
                          <a:cs typeface="Times New Roman"/>
                        </a:rPr>
                        <m:t>&lt;0</m:t>
                      </m:r>
                    </m:oMath>
                  </m:oMathPara>
                </a14:m>
                <a:endParaRPr lang="zh-CN" altLang="zh-CN" sz="2400" kern="100" dirty="0">
                  <a:latin typeface="宋体" pitchFamily="2" charset="-122"/>
                  <a:ea typeface="宋体" pitchFamily="2" charset="-122"/>
                  <a:cs typeface="Times New Roman"/>
                </a:endParaRPr>
              </a:p>
              <a:p>
                <a:pPr marL="0" indent="0">
                  <a:lnSpc>
                    <a:spcPct val="150000"/>
                  </a:lnSpc>
                  <a:spcAft>
                    <a:spcPts val="0"/>
                  </a:spcAft>
                  <a:buNone/>
                </a:pPr>
                <a:r>
                  <a:rPr lang="zh-CN" altLang="zh-CN" sz="2400" kern="100" dirty="0">
                    <a:latin typeface="宋体" pitchFamily="2" charset="-122"/>
                    <a:ea typeface="宋体" pitchFamily="2" charset="-122"/>
                    <a:cs typeface="Times New Roman"/>
                  </a:rPr>
                  <a:t>通过调整权重</a:t>
                </a:r>
                <a:r>
                  <a:rPr lang="en-US" altLang="zh-CN" sz="2400" kern="100" dirty="0">
                    <a:latin typeface="宋体" pitchFamily="2" charset="-122"/>
                    <a:ea typeface="宋体" pitchFamily="2" charset="-122"/>
                    <a:cs typeface="Times New Roman"/>
                  </a:rPr>
                  <a:t> </a:t>
                </a:r>
                <a:r>
                  <a:rPr lang="zh-CN" altLang="zh-CN" sz="2400" kern="100" dirty="0">
                    <a:latin typeface="宋体" pitchFamily="2" charset="-122"/>
                    <a:ea typeface="宋体" pitchFamily="2" charset="-122"/>
                    <a:cs typeface="Times New Roman"/>
                  </a:rPr>
                  <a:t>，边缘的超平面可以记为：</a:t>
                </a:r>
                <a:endParaRPr lang="en-US" altLang="zh-CN" sz="2400" kern="100" dirty="0">
                  <a:latin typeface="宋体" pitchFamily="2" charset="-122"/>
                  <a:ea typeface="宋体" pitchFamily="2" charset="-122"/>
                  <a:cs typeface="Times New Roman"/>
                </a:endParaRPr>
              </a:p>
              <a:p>
                <a:pPr marL="0" indent="0">
                  <a:lnSpc>
                    <a:spcPct val="150000"/>
                  </a:lnSpc>
                  <a:spcAft>
                    <a:spcPts val="0"/>
                  </a:spcAft>
                  <a:buNone/>
                </a:pPr>
                <a14:m>
                  <m:oMathPara xmlns:m="http://schemas.openxmlformats.org/officeDocument/2006/math">
                    <m:oMathParaPr>
                      <m:jc m:val="centerGroup"/>
                    </m:oMathParaPr>
                    <m:oMath xmlns:m="http://schemas.openxmlformats.org/officeDocument/2006/math">
                      <m:sSub>
                        <m:sSubPr>
                          <m:ctrlPr>
                            <a:rPr lang="en-US" altLang="zh-CN" sz="2400" i="1" kern="100" smtClean="0">
                              <a:latin typeface="Cambria Math"/>
                              <a:ea typeface="宋体" pitchFamily="2" charset="-122"/>
                              <a:cs typeface="Times New Roman"/>
                            </a:rPr>
                          </m:ctrlPr>
                        </m:sSubPr>
                        <m:e>
                          <m:r>
                            <a:rPr lang="en-US" altLang="zh-CN" sz="2400" b="0" i="1" kern="100" smtClean="0">
                              <a:latin typeface="Cambria Math"/>
                              <a:ea typeface="宋体" pitchFamily="2" charset="-122"/>
                              <a:cs typeface="Times New Roman"/>
                            </a:rPr>
                            <m:t>𝐻</m:t>
                          </m:r>
                        </m:e>
                        <m:sub>
                          <m:r>
                            <a:rPr lang="en-US" altLang="zh-CN" sz="2400" b="0" i="1" kern="100" smtClean="0">
                              <a:latin typeface="Cambria Math"/>
                              <a:ea typeface="宋体" pitchFamily="2" charset="-122"/>
                              <a:cs typeface="Times New Roman"/>
                            </a:rPr>
                            <m:t>1</m:t>
                          </m:r>
                        </m:sub>
                      </m:sSub>
                      <m:r>
                        <a:rPr lang="en-US" altLang="zh-CN" sz="2400" b="0" i="1" kern="100" smtClean="0">
                          <a:latin typeface="Cambria Math"/>
                          <a:ea typeface="宋体" pitchFamily="2" charset="-122"/>
                          <a:cs typeface="Times New Roman"/>
                        </a:rPr>
                        <m:t>:</m:t>
                      </m:r>
                      <m:sSup>
                        <m:sSupPr>
                          <m:ctrlPr>
                            <a:rPr lang="en-US" altLang="zh-CN" sz="2400" b="0" i="1" kern="100" smtClean="0">
                              <a:latin typeface="Cambria Math"/>
                              <a:ea typeface="宋体" pitchFamily="2" charset="-122"/>
                              <a:cs typeface="Times New Roman"/>
                            </a:rPr>
                          </m:ctrlPr>
                        </m:sSupPr>
                        <m:e>
                          <m:r>
                            <a:rPr lang="en-US" altLang="zh-CN" sz="2400" b="0" i="1" kern="100" smtClean="0">
                              <a:latin typeface="Cambria Math"/>
                              <a:ea typeface="宋体" pitchFamily="2" charset="-122"/>
                              <a:cs typeface="Times New Roman"/>
                            </a:rPr>
                            <m:t>𝑤</m:t>
                          </m:r>
                        </m:e>
                        <m:sup>
                          <m:r>
                            <a:rPr lang="en-US" altLang="zh-CN" sz="2400" b="0" i="1" kern="100" smtClean="0">
                              <a:latin typeface="Cambria Math"/>
                              <a:ea typeface="宋体" pitchFamily="2" charset="-122"/>
                              <a:cs typeface="Times New Roman"/>
                            </a:rPr>
                            <m:t>𝑇</m:t>
                          </m:r>
                        </m:sup>
                      </m:sSup>
                      <m:r>
                        <a:rPr lang="en-US" altLang="zh-CN" sz="2400" b="0" i="1" kern="100" smtClean="0">
                          <a:latin typeface="Cambria Math"/>
                          <a:ea typeface="宋体" pitchFamily="2" charset="-122"/>
                          <a:cs typeface="Times New Roman"/>
                        </a:rPr>
                        <m:t>𝑥</m:t>
                      </m:r>
                      <m:r>
                        <a:rPr lang="en-US" altLang="zh-CN" sz="2400" b="0" i="1" kern="100" smtClean="0">
                          <a:latin typeface="Cambria Math"/>
                          <a:ea typeface="宋体" pitchFamily="2" charset="-122"/>
                          <a:cs typeface="Times New Roman"/>
                        </a:rPr>
                        <m:t>+</m:t>
                      </m:r>
                      <m:r>
                        <a:rPr lang="en-US" altLang="zh-CN" sz="2400" b="0" i="1" kern="100" smtClean="0">
                          <a:latin typeface="Cambria Math"/>
                          <a:ea typeface="宋体" pitchFamily="2" charset="-122"/>
                          <a:cs typeface="Times New Roman"/>
                        </a:rPr>
                        <m:t>𝑏</m:t>
                      </m:r>
                      <m:r>
                        <a:rPr lang="en-US" altLang="zh-CN" sz="2400" b="0" i="1" kern="100" smtClean="0">
                          <a:latin typeface="Cambria Math"/>
                          <a:ea typeface="宋体" pitchFamily="2" charset="-122"/>
                          <a:cs typeface="Times New Roman"/>
                        </a:rPr>
                        <m:t>≥1 </m:t>
                      </m:r>
                      <m:r>
                        <a:rPr lang="zh-CN" altLang="en-US" sz="2400" b="0" i="1" kern="100" smtClean="0">
                          <a:latin typeface="Cambria Math"/>
                          <a:ea typeface="宋体" pitchFamily="2" charset="-122"/>
                          <a:cs typeface="Times New Roman"/>
                        </a:rPr>
                        <m:t>对</m:t>
                      </m:r>
                      <m:r>
                        <a:rPr lang="zh-CN" altLang="en-US" sz="2400" i="1" kern="100">
                          <a:latin typeface="Cambria Math"/>
                          <a:ea typeface="宋体" pitchFamily="2" charset="-122"/>
                          <a:cs typeface="Times New Roman"/>
                        </a:rPr>
                        <m:t>所有</m:t>
                      </m:r>
                      <m:r>
                        <a:rPr lang="zh-CN" altLang="en-US" sz="2400" b="0" i="1" kern="100" smtClean="0">
                          <a:latin typeface="Cambria Math"/>
                          <a:ea typeface="宋体" pitchFamily="2" charset="-122"/>
                          <a:cs typeface="Times New Roman"/>
                        </a:rPr>
                        <m:t>的</m:t>
                      </m:r>
                      <m:sSub>
                        <m:sSubPr>
                          <m:ctrlPr>
                            <a:rPr lang="en-US" altLang="zh-CN" sz="2400" b="0" i="1" kern="100" smtClean="0">
                              <a:latin typeface="Cambria Math"/>
                              <a:ea typeface="宋体" pitchFamily="2" charset="-122"/>
                              <a:cs typeface="Times New Roman"/>
                            </a:rPr>
                          </m:ctrlPr>
                        </m:sSubPr>
                        <m:e>
                          <m:r>
                            <a:rPr lang="en-US" altLang="zh-CN" sz="2400" b="0" i="1" kern="100" smtClean="0">
                              <a:latin typeface="Cambria Math"/>
                              <a:ea typeface="宋体" pitchFamily="2" charset="-122"/>
                              <a:cs typeface="Times New Roman"/>
                            </a:rPr>
                            <m:t>𝑦</m:t>
                          </m:r>
                        </m:e>
                        <m:sub>
                          <m:r>
                            <a:rPr lang="en-US" altLang="zh-CN" sz="2400" b="0" i="1" kern="100" smtClean="0">
                              <a:latin typeface="Cambria Math"/>
                              <a:ea typeface="宋体" pitchFamily="2" charset="-122"/>
                              <a:cs typeface="Times New Roman"/>
                            </a:rPr>
                            <m:t>𝑖</m:t>
                          </m:r>
                        </m:sub>
                      </m:sSub>
                      <m:r>
                        <a:rPr lang="en-US" altLang="zh-CN" sz="2400" b="0" i="1" kern="100" smtClean="0">
                          <a:latin typeface="Cambria Math"/>
                          <a:ea typeface="宋体" pitchFamily="2" charset="-122"/>
                          <a:cs typeface="Times New Roman"/>
                        </a:rPr>
                        <m:t>=+1</m:t>
                      </m:r>
                    </m:oMath>
                  </m:oMathPara>
                </a14:m>
                <a:endParaRPr lang="en-US" altLang="zh-CN" sz="2400" b="0" kern="100" dirty="0">
                  <a:latin typeface="宋体" pitchFamily="2" charset="-122"/>
                  <a:ea typeface="宋体" pitchFamily="2" charset="-122"/>
                  <a:cs typeface="Times New Roman"/>
                </a:endParaRPr>
              </a:p>
              <a:p>
                <a:pPr marL="0" indent="0">
                  <a:lnSpc>
                    <a:spcPct val="150000"/>
                  </a:lnSpc>
                  <a:spcAft>
                    <a:spcPts val="0"/>
                  </a:spcAft>
                  <a:buNone/>
                </a:pPr>
                <a14:m>
                  <m:oMathPara xmlns:m="http://schemas.openxmlformats.org/officeDocument/2006/math">
                    <m:oMathParaPr>
                      <m:jc m:val="centerGroup"/>
                    </m:oMathParaPr>
                    <m:oMath xmlns:m="http://schemas.openxmlformats.org/officeDocument/2006/math">
                      <m:sSub>
                        <m:sSubPr>
                          <m:ctrlPr>
                            <a:rPr lang="en-US" altLang="zh-CN" sz="2400" i="1" kern="100">
                              <a:latin typeface="Cambria Math"/>
                              <a:ea typeface="宋体" pitchFamily="2" charset="-122"/>
                              <a:cs typeface="Times New Roman"/>
                            </a:rPr>
                          </m:ctrlPr>
                        </m:sSubPr>
                        <m:e>
                          <m:r>
                            <a:rPr lang="en-US" altLang="zh-CN" sz="2400" b="0" i="1" kern="100" smtClean="0">
                              <a:latin typeface="Cambria Math"/>
                              <a:ea typeface="宋体" pitchFamily="2" charset="-122"/>
                              <a:cs typeface="Times New Roman"/>
                            </a:rPr>
                            <m:t>    </m:t>
                          </m:r>
                          <m:r>
                            <a:rPr lang="en-US" altLang="zh-CN" sz="2400" i="1" kern="100">
                              <a:latin typeface="Cambria Math"/>
                              <a:ea typeface="宋体" pitchFamily="2" charset="-122"/>
                              <a:cs typeface="Times New Roman"/>
                            </a:rPr>
                            <m:t>𝐻</m:t>
                          </m:r>
                        </m:e>
                        <m:sub>
                          <m:r>
                            <a:rPr lang="en-US" altLang="zh-CN" sz="2400" i="1" kern="100">
                              <a:latin typeface="Cambria Math"/>
                              <a:ea typeface="宋体" pitchFamily="2" charset="-122"/>
                              <a:cs typeface="Times New Roman"/>
                            </a:rPr>
                            <m:t>1</m:t>
                          </m:r>
                        </m:sub>
                      </m:sSub>
                      <m:r>
                        <a:rPr lang="en-US" altLang="zh-CN" sz="2400" i="1" kern="100">
                          <a:latin typeface="Cambria Math"/>
                          <a:ea typeface="宋体" pitchFamily="2" charset="-122"/>
                          <a:cs typeface="Times New Roman"/>
                        </a:rPr>
                        <m:t>:</m:t>
                      </m:r>
                      <m:r>
                        <a:rPr lang="en-US" altLang="zh-CN" sz="2400" b="0" i="1" kern="100" smtClean="0">
                          <a:latin typeface="Cambria Math"/>
                          <a:ea typeface="宋体" pitchFamily="2" charset="-122"/>
                          <a:cs typeface="Times New Roman"/>
                        </a:rPr>
                        <m:t> </m:t>
                      </m:r>
                      <m:sSup>
                        <m:sSupPr>
                          <m:ctrlPr>
                            <a:rPr lang="en-US" altLang="zh-CN" sz="2400" i="1" kern="100">
                              <a:latin typeface="Cambria Math"/>
                              <a:ea typeface="宋体" pitchFamily="2" charset="-122"/>
                              <a:cs typeface="Times New Roman"/>
                            </a:rPr>
                          </m:ctrlPr>
                        </m:sSupPr>
                        <m:e>
                          <m:r>
                            <a:rPr lang="en-US" altLang="zh-CN" sz="2400" i="1" kern="100">
                              <a:latin typeface="Cambria Math"/>
                              <a:ea typeface="宋体" pitchFamily="2" charset="-122"/>
                              <a:cs typeface="Times New Roman"/>
                            </a:rPr>
                            <m:t>𝑤</m:t>
                          </m:r>
                        </m:e>
                        <m:sup>
                          <m:r>
                            <a:rPr lang="en-US" altLang="zh-CN" sz="2400" i="1" kern="100">
                              <a:latin typeface="Cambria Math"/>
                              <a:ea typeface="宋体" pitchFamily="2" charset="-122"/>
                              <a:cs typeface="Times New Roman"/>
                            </a:rPr>
                            <m:t>𝑇</m:t>
                          </m:r>
                        </m:sup>
                      </m:sSup>
                      <m:r>
                        <a:rPr lang="en-US" altLang="zh-CN" sz="2400" i="1" kern="100">
                          <a:latin typeface="Cambria Math"/>
                          <a:ea typeface="宋体" pitchFamily="2" charset="-122"/>
                          <a:cs typeface="Times New Roman"/>
                        </a:rPr>
                        <m:t>𝑥</m:t>
                      </m:r>
                      <m:r>
                        <a:rPr lang="en-US" altLang="zh-CN" sz="2400" i="1" kern="100">
                          <a:latin typeface="Cambria Math"/>
                          <a:ea typeface="宋体" pitchFamily="2" charset="-122"/>
                          <a:cs typeface="Times New Roman"/>
                        </a:rPr>
                        <m:t>+</m:t>
                      </m:r>
                      <m:r>
                        <a:rPr lang="en-US" altLang="zh-CN" sz="2400" i="1" kern="100">
                          <a:latin typeface="Cambria Math"/>
                          <a:ea typeface="宋体" pitchFamily="2" charset="-122"/>
                          <a:cs typeface="Times New Roman"/>
                        </a:rPr>
                        <m:t>𝑏</m:t>
                      </m:r>
                      <m:r>
                        <a:rPr lang="en-US" altLang="zh-CN" sz="2400" b="0" i="1" kern="100" smtClean="0">
                          <a:latin typeface="Cambria Math"/>
                          <a:ea typeface="宋体" pitchFamily="2" charset="-122"/>
                          <a:cs typeface="Times New Roman"/>
                        </a:rPr>
                        <m:t>≤−</m:t>
                      </m:r>
                      <m:r>
                        <a:rPr lang="en-US" altLang="zh-CN" sz="2400" i="1" kern="100">
                          <a:latin typeface="Cambria Math"/>
                          <a:ea typeface="宋体" pitchFamily="2" charset="-122"/>
                          <a:cs typeface="Times New Roman"/>
                        </a:rPr>
                        <m:t>1 </m:t>
                      </m:r>
                      <m:r>
                        <a:rPr lang="en-US" altLang="zh-CN" sz="2400" b="0" i="1" kern="100" smtClean="0">
                          <a:latin typeface="Cambria Math"/>
                          <a:ea typeface="宋体" pitchFamily="2" charset="-122"/>
                          <a:cs typeface="Times New Roman"/>
                        </a:rPr>
                        <m:t> </m:t>
                      </m:r>
                      <m:r>
                        <a:rPr lang="zh-CN" altLang="en-US" sz="2400" i="1" kern="100">
                          <a:latin typeface="Cambria Math"/>
                          <a:ea typeface="宋体" pitchFamily="2" charset="-122"/>
                          <a:cs typeface="Times New Roman"/>
                        </a:rPr>
                        <m:t>对所有的</m:t>
                      </m:r>
                      <m:sSub>
                        <m:sSubPr>
                          <m:ctrlPr>
                            <a:rPr lang="en-US" altLang="zh-CN" sz="2400" i="1" kern="100">
                              <a:latin typeface="Cambria Math"/>
                              <a:ea typeface="宋体" pitchFamily="2" charset="-122"/>
                              <a:cs typeface="Times New Roman"/>
                            </a:rPr>
                          </m:ctrlPr>
                        </m:sSubPr>
                        <m:e>
                          <m:r>
                            <a:rPr lang="en-US" altLang="zh-CN" sz="2400" i="1" kern="100">
                              <a:latin typeface="Cambria Math"/>
                              <a:ea typeface="宋体" pitchFamily="2" charset="-122"/>
                              <a:cs typeface="Times New Roman"/>
                            </a:rPr>
                            <m:t>𝑦</m:t>
                          </m:r>
                        </m:e>
                        <m:sub>
                          <m:r>
                            <a:rPr lang="en-US" altLang="zh-CN" sz="2400" i="1" kern="100">
                              <a:latin typeface="Cambria Math"/>
                              <a:ea typeface="宋体" pitchFamily="2" charset="-122"/>
                              <a:cs typeface="Times New Roman"/>
                            </a:rPr>
                            <m:t>𝑖</m:t>
                          </m:r>
                        </m:sub>
                      </m:sSub>
                      <m:r>
                        <a:rPr lang="en-US" altLang="zh-CN" sz="2400" i="1" kern="100">
                          <a:latin typeface="Cambria Math"/>
                          <a:ea typeface="宋体" pitchFamily="2" charset="-122"/>
                          <a:cs typeface="Times New Roman"/>
                        </a:rPr>
                        <m:t>=</m:t>
                      </m:r>
                      <m:r>
                        <a:rPr lang="en-US" altLang="zh-CN" sz="2400" b="0" i="1" kern="100" smtClean="0">
                          <a:latin typeface="Cambria Math"/>
                          <a:ea typeface="宋体" pitchFamily="2" charset="-122"/>
                          <a:cs typeface="Times New Roman"/>
                        </a:rPr>
                        <m:t>−</m:t>
                      </m:r>
                      <m:r>
                        <a:rPr lang="en-US" altLang="zh-CN" sz="2400" i="1" kern="100">
                          <a:latin typeface="Cambria Math"/>
                          <a:ea typeface="宋体" pitchFamily="2" charset="-122"/>
                          <a:cs typeface="Times New Roman"/>
                        </a:rPr>
                        <m:t>1</m:t>
                      </m:r>
                    </m:oMath>
                  </m:oMathPara>
                </a14:m>
                <a:endParaRPr lang="en-US" altLang="zh-CN" sz="2400" kern="100" dirty="0">
                  <a:latin typeface="宋体" pitchFamily="2" charset="-122"/>
                  <a:ea typeface="宋体" pitchFamily="2" charset="-122"/>
                  <a:cs typeface="Times New Roman"/>
                </a:endParaRPr>
              </a:p>
              <a:p>
                <a:pPr marL="0" indent="0">
                  <a:lnSpc>
                    <a:spcPct val="150000"/>
                  </a:lnSpc>
                  <a:spcAft>
                    <a:spcPts val="0"/>
                  </a:spcAft>
                  <a:buNone/>
                </a:pPr>
                <a:endParaRPr lang="en-US" altLang="zh-CN" sz="2400" b="0" kern="100" dirty="0">
                  <a:latin typeface="宋体" pitchFamily="2" charset="-122"/>
                  <a:ea typeface="宋体" pitchFamily="2" charset="-122"/>
                  <a:cs typeface="Times New Roman"/>
                </a:endParaRPr>
              </a:p>
              <a:p>
                <a:pPr marL="0" indent="0">
                  <a:lnSpc>
                    <a:spcPct val="150000"/>
                  </a:lnSpc>
                  <a:spcAft>
                    <a:spcPts val="0"/>
                  </a:spcAft>
                  <a:buNone/>
                </a:pPr>
                <a:endParaRPr lang="zh-CN" altLang="zh-CN" sz="2400" kern="100" dirty="0">
                  <a:latin typeface="宋体" pitchFamily="2" charset="-122"/>
                  <a:ea typeface="宋体" pitchFamily="2" charset="-122"/>
                  <a:cs typeface="Times New Roman"/>
                </a:endParaRPr>
              </a:p>
              <a:p>
                <a:pPr marL="0" indent="0">
                  <a:lnSpc>
                    <a:spcPct val="150000"/>
                  </a:lnSpc>
                  <a:spcAft>
                    <a:spcPts val="0"/>
                  </a:spcAft>
                  <a:buNone/>
                </a:pPr>
                <a:r>
                  <a:rPr lang="en-US" altLang="zh-CN" kern="100" dirty="0">
                    <a:latin typeface="Calibri"/>
                    <a:ea typeface="宋体"/>
                    <a:cs typeface="Times New Roman"/>
                  </a:rPr>
                  <a:t>      </a:t>
                </a:r>
                <a:endParaRPr lang="zh-CN" altLang="zh-CN" kern="100" dirty="0">
                  <a:latin typeface="Calibri"/>
                  <a:ea typeface="宋体"/>
                  <a:cs typeface="Times New Roman"/>
                </a:endParaRPr>
              </a:p>
              <a:p>
                <a:pPr marL="0" indent="0">
                  <a:buNone/>
                </a:pP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796633" y="764704"/>
                <a:ext cx="10601349" cy="5832648"/>
              </a:xfrm>
              <a:blipFill rotWithShape="1">
                <a:blip r:embed="rId1"/>
                <a:stretch>
                  <a:fillRect l="-920" r="-345"/>
                </a:stretch>
              </a:blipFill>
            </p:spPr>
            <p:txBody>
              <a:bodyPr/>
              <a:lstStyle/>
              <a:p>
                <a:r>
                  <a:rPr lang="zh-CN" altLang="en-US">
                    <a:noFill/>
                  </a:rPr>
                  <a:t> </a:t>
                </a:r>
                <a:endParaRPr lang="zh-CN" altLang="en-US">
                  <a:noFill/>
                </a:endParaRPr>
              </a:p>
            </p:txBody>
          </p:sp>
        </mc:Fallback>
      </mc:AlternateContent>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5" name="TextBox 4"/>
          <p:cNvSpPr txBox="1"/>
          <p:nvPr/>
        </p:nvSpPr>
        <p:spPr>
          <a:xfrm>
            <a:off x="1330765" y="44625"/>
            <a:ext cx="685584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5.6.1  </a:t>
            </a:r>
            <a:r>
              <a:rPr lang="zh-CN" altLang="en-US" sz="2800" dirty="0">
                <a:solidFill>
                  <a:schemeClr val="accent2"/>
                </a:solidFill>
                <a:latin typeface="微软雅黑" panose="020B0503020204020204" pitchFamily="34" charset="-122"/>
                <a:ea typeface="微软雅黑" panose="020B0503020204020204" pitchFamily="34" charset="-122"/>
              </a:rPr>
              <a:t>支持向量机原理</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25625" y="1124745"/>
                <a:ext cx="10601349" cy="5001420"/>
              </a:xfrm>
            </p:spPr>
            <p:txBody>
              <a:bodyPr/>
              <a:lstStyle/>
              <a:p>
                <a:pPr marL="0" indent="0">
                  <a:lnSpc>
                    <a:spcPct val="150000"/>
                  </a:lnSpc>
                  <a:spcAft>
                    <a:spcPts val="0"/>
                  </a:spcAft>
                  <a:buNone/>
                </a:pPr>
                <a:r>
                  <a:rPr lang="zh-CN" altLang="zh-CN" sz="2400" kern="100" dirty="0">
                    <a:solidFill>
                      <a:srgbClr val="000000"/>
                    </a:solidFill>
                    <a:latin typeface="宋体" pitchFamily="2" charset="-122"/>
                    <a:ea typeface="宋体" pitchFamily="2" charset="-122"/>
                    <a:cs typeface="Times New Roman"/>
                  </a:rPr>
                  <a:t>即落在</a:t>
                </a:r>
                <a:r>
                  <a:rPr lang="en-US" altLang="zh-CN" sz="2400" kern="100" dirty="0">
                    <a:latin typeface="宋体" pitchFamily="2" charset="-122"/>
                    <a:ea typeface="宋体" pitchFamily="2" charset="-122"/>
                    <a:cs typeface="Times New Roman"/>
                  </a:rPr>
                  <a:t> </a:t>
                </a:r>
                <a:r>
                  <a:rPr lang="zh-CN" altLang="zh-CN" sz="2400" kern="100" dirty="0">
                    <a:solidFill>
                      <a:srgbClr val="000000"/>
                    </a:solidFill>
                    <a:latin typeface="宋体" pitchFamily="2" charset="-122"/>
                    <a:ea typeface="宋体" pitchFamily="2" charset="-122"/>
                    <a:cs typeface="Times New Roman"/>
                  </a:rPr>
                  <a:t>或者其上方的为正类，落在</a:t>
                </a:r>
                <a14:m>
                  <m:oMath xmlns:m="http://schemas.openxmlformats.org/officeDocument/2006/math">
                    <m:sSub>
                      <m:sSubPr>
                        <m:ctrlPr>
                          <a:rPr lang="en-US" altLang="zh-CN" sz="2400" i="1" kern="100" smtClean="0">
                            <a:latin typeface="Cambria Math"/>
                            <a:ea typeface="宋体"/>
                            <a:cs typeface="Times New Roman"/>
                          </a:rPr>
                        </m:ctrlPr>
                      </m:sSubPr>
                      <m:e>
                        <m:r>
                          <a:rPr lang="en-US" altLang="zh-CN" sz="2400" b="0" i="1" kern="100" smtClean="0">
                            <a:latin typeface="Cambria Math"/>
                            <a:ea typeface="宋体"/>
                            <a:cs typeface="Times New Roman"/>
                          </a:rPr>
                          <m:t>𝐻</m:t>
                        </m:r>
                      </m:e>
                      <m:sub>
                        <m:r>
                          <a:rPr lang="en-US" altLang="zh-CN" sz="2400" b="0" i="1" kern="100" smtClean="0">
                            <a:latin typeface="Cambria Math"/>
                            <a:ea typeface="宋体"/>
                            <a:cs typeface="Times New Roman"/>
                          </a:rPr>
                          <m:t>2</m:t>
                        </m:r>
                      </m:sub>
                    </m:sSub>
                  </m:oMath>
                </a14:m>
                <a:r>
                  <a:rPr lang="zh-CN" altLang="zh-CN" sz="2400" kern="100" dirty="0">
                    <a:solidFill>
                      <a:srgbClr val="000000"/>
                    </a:solidFill>
                    <a:latin typeface="宋体" pitchFamily="2" charset="-122"/>
                    <a:ea typeface="宋体" pitchFamily="2" charset="-122"/>
                    <a:cs typeface="Times New Roman"/>
                  </a:rPr>
                  <a:t>或者其下方的为负类，综合以上得到：</a:t>
                </a:r>
                <a:endParaRPr lang="zh-CN" altLang="zh-CN" sz="2400" kern="100" dirty="0">
                  <a:latin typeface="宋体" pitchFamily="2" charset="-122"/>
                  <a:ea typeface="宋体" pitchFamily="2" charset="-122"/>
                  <a:cs typeface="Times New Roman"/>
                </a:endParaRPr>
              </a:p>
              <a:p>
                <a:pPr marL="0" indent="0" algn="ctr">
                  <a:lnSpc>
                    <a:spcPct val="150000"/>
                  </a:lnSpc>
                  <a:spcAft>
                    <a:spcPts val="0"/>
                  </a:spcAft>
                  <a:buNone/>
                </a:pPr>
                <a:r>
                  <a:rPr lang="en-US" altLang="zh-CN" sz="2400" kern="100" dirty="0">
                    <a:solidFill>
                      <a:srgbClr val="000000"/>
                    </a:solidFill>
                    <a:latin typeface="宋体" pitchFamily="2" charset="-122"/>
                    <a:ea typeface="宋体" pitchFamily="2" charset="-122"/>
                    <a:cs typeface="Times New Roman"/>
                  </a:rPr>
                  <a:t>       </a:t>
                </a:r>
                <a14:m>
                  <m:oMath xmlns:m="http://schemas.openxmlformats.org/officeDocument/2006/math">
                    <m:sSub>
                      <m:sSubPr>
                        <m:ctrlPr>
                          <a:rPr lang="en-US" altLang="zh-CN" sz="2400" i="1" kern="100" smtClean="0">
                            <a:solidFill>
                              <a:srgbClr val="000000"/>
                            </a:solidFill>
                            <a:latin typeface="Cambria Math"/>
                            <a:ea typeface="宋体"/>
                            <a:cs typeface="Times New Roman"/>
                          </a:rPr>
                        </m:ctrlPr>
                      </m:sSubPr>
                      <m:e>
                        <m:r>
                          <a:rPr lang="en-US" altLang="zh-CN" sz="2400" b="0" i="1" kern="100" smtClean="0">
                            <a:solidFill>
                              <a:srgbClr val="000000"/>
                            </a:solidFill>
                            <a:latin typeface="Cambria Math"/>
                            <a:ea typeface="宋体"/>
                            <a:cs typeface="Times New Roman"/>
                          </a:rPr>
                          <m:t>𝑦</m:t>
                        </m:r>
                      </m:e>
                      <m:sub>
                        <m:r>
                          <a:rPr lang="en-US" altLang="zh-CN" sz="2400" b="0" i="1" kern="100" smtClean="0">
                            <a:solidFill>
                              <a:srgbClr val="000000"/>
                            </a:solidFill>
                            <a:latin typeface="Cambria Math"/>
                            <a:ea typeface="宋体"/>
                            <a:cs typeface="Times New Roman"/>
                          </a:rPr>
                          <m:t>𝑖</m:t>
                        </m:r>
                      </m:sub>
                    </m:sSub>
                    <m:d>
                      <m:dPr>
                        <m:ctrlPr>
                          <a:rPr lang="en-US" altLang="zh-CN" sz="2400" b="0" i="1" kern="100" smtClean="0">
                            <a:solidFill>
                              <a:srgbClr val="000000"/>
                            </a:solidFill>
                            <a:latin typeface="Cambria Math"/>
                            <a:ea typeface="宋体"/>
                            <a:cs typeface="Times New Roman"/>
                          </a:rPr>
                        </m:ctrlPr>
                      </m:dPr>
                      <m:e>
                        <m:sSup>
                          <m:sSupPr>
                            <m:ctrlPr>
                              <a:rPr lang="en-US" altLang="zh-CN" sz="2400" b="0" i="1" kern="100" smtClean="0">
                                <a:solidFill>
                                  <a:srgbClr val="000000"/>
                                </a:solidFill>
                                <a:latin typeface="Cambria Math"/>
                                <a:ea typeface="宋体"/>
                                <a:cs typeface="Times New Roman"/>
                              </a:rPr>
                            </m:ctrlPr>
                          </m:sSupPr>
                          <m:e>
                            <m:r>
                              <a:rPr lang="en-US" altLang="zh-CN" sz="2400" b="0" i="1" kern="100" smtClean="0">
                                <a:solidFill>
                                  <a:srgbClr val="000000"/>
                                </a:solidFill>
                                <a:latin typeface="Cambria Math"/>
                                <a:ea typeface="宋体"/>
                                <a:cs typeface="Times New Roman"/>
                              </a:rPr>
                              <m:t>𝑤</m:t>
                            </m:r>
                          </m:e>
                          <m:sup>
                            <m:r>
                              <a:rPr lang="en-US" altLang="zh-CN" sz="2400" b="0" i="1" kern="100" smtClean="0">
                                <a:solidFill>
                                  <a:srgbClr val="000000"/>
                                </a:solidFill>
                                <a:latin typeface="Cambria Math"/>
                                <a:ea typeface="宋体"/>
                                <a:cs typeface="Times New Roman"/>
                              </a:rPr>
                              <m:t>𝑇</m:t>
                            </m:r>
                          </m:sup>
                        </m:sSup>
                        <m:r>
                          <a:rPr lang="en-US" altLang="zh-CN" sz="2400" b="0" i="1" kern="100" smtClean="0">
                            <a:solidFill>
                              <a:srgbClr val="000000"/>
                            </a:solidFill>
                            <a:latin typeface="Cambria Math"/>
                            <a:ea typeface="宋体"/>
                            <a:cs typeface="Times New Roman"/>
                          </a:rPr>
                          <m:t>𝑥</m:t>
                        </m:r>
                        <m:r>
                          <a:rPr lang="en-US" altLang="zh-CN" sz="2400" b="0" i="1" kern="100" smtClean="0">
                            <a:solidFill>
                              <a:srgbClr val="000000"/>
                            </a:solidFill>
                            <a:latin typeface="Cambria Math"/>
                            <a:ea typeface="宋体"/>
                            <a:cs typeface="Times New Roman"/>
                          </a:rPr>
                          <m:t>+</m:t>
                        </m:r>
                        <m:r>
                          <a:rPr lang="en-US" altLang="zh-CN" sz="2400" b="0" i="1" kern="100" smtClean="0">
                            <a:solidFill>
                              <a:srgbClr val="000000"/>
                            </a:solidFill>
                            <a:latin typeface="Cambria Math"/>
                            <a:ea typeface="宋体"/>
                            <a:cs typeface="Times New Roman"/>
                          </a:rPr>
                          <m:t>𝑏</m:t>
                        </m:r>
                      </m:e>
                    </m:d>
                    <m:r>
                      <a:rPr lang="en-US" altLang="zh-CN" sz="2400" b="0" i="1" kern="100" smtClean="0">
                        <a:solidFill>
                          <a:srgbClr val="000000"/>
                        </a:solidFill>
                        <a:latin typeface="Cambria Math"/>
                        <a:ea typeface="宋体"/>
                        <a:cs typeface="Times New Roman"/>
                      </a:rPr>
                      <m:t>≥1.</m:t>
                    </m:r>
                    <m:nary>
                      <m:naryPr>
                        <m:chr m:val="⋁"/>
                        <m:subHide m:val="on"/>
                        <m:supHide m:val="on"/>
                        <m:ctrlPr>
                          <a:rPr lang="en-US" altLang="zh-CN" sz="2400" b="0" i="1" kern="100" smtClean="0">
                            <a:solidFill>
                              <a:srgbClr val="000000"/>
                            </a:solidFill>
                            <a:latin typeface="Cambria Math"/>
                            <a:ea typeface="宋体"/>
                            <a:cs typeface="Times New Roman"/>
                          </a:rPr>
                        </m:ctrlPr>
                      </m:naryPr>
                      <m:sub/>
                      <m:sup/>
                      <m:e>
                        <m:r>
                          <a:rPr lang="en-US" altLang="zh-CN" sz="2400" b="0" i="1" kern="100" smtClean="0">
                            <a:solidFill>
                              <a:srgbClr val="000000"/>
                            </a:solidFill>
                            <a:latin typeface="Cambria Math"/>
                            <a:ea typeface="宋体"/>
                            <a:cs typeface="Times New Roman"/>
                          </a:rPr>
                          <m:t>𝑖</m:t>
                        </m:r>
                      </m:e>
                    </m:nary>
                  </m:oMath>
                </a14:m>
                <a:r>
                  <a:rPr lang="en-US" altLang="zh-CN" sz="2400" kern="100" dirty="0">
                    <a:solidFill>
                      <a:srgbClr val="000000"/>
                    </a:solidFill>
                    <a:latin typeface="宋体" pitchFamily="2" charset="-122"/>
                    <a:ea typeface="宋体" pitchFamily="2" charset="-122"/>
                    <a:cs typeface="Times New Roman"/>
                  </a:rPr>
                  <a:t> </a:t>
                </a:r>
                <a:r>
                  <a:rPr lang="en-US" altLang="zh-CN" sz="2400" kern="100" dirty="0">
                    <a:latin typeface="宋体" pitchFamily="2" charset="-122"/>
                    <a:ea typeface="宋体" pitchFamily="2" charset="-122"/>
                    <a:cs typeface="Times New Roman"/>
                  </a:rPr>
                  <a:t>   </a:t>
                </a:r>
                <a:endParaRPr lang="zh-CN" altLang="zh-CN" sz="2400" kern="100" dirty="0">
                  <a:latin typeface="宋体" pitchFamily="2" charset="-122"/>
                  <a:ea typeface="宋体" pitchFamily="2" charset="-122"/>
                  <a:cs typeface="Times New Roman"/>
                </a:endParaRPr>
              </a:p>
              <a:p>
                <a:pPr marL="0" indent="0">
                  <a:lnSpc>
                    <a:spcPct val="150000"/>
                  </a:lnSpc>
                  <a:spcAft>
                    <a:spcPts val="0"/>
                  </a:spcAft>
                  <a:buNone/>
                </a:pPr>
                <a:r>
                  <a:rPr lang="zh-CN" altLang="zh-CN" sz="2400" kern="100" dirty="0">
                    <a:solidFill>
                      <a:srgbClr val="000000"/>
                    </a:solidFill>
                    <a:latin typeface="宋体" pitchFamily="2" charset="-122"/>
                    <a:ea typeface="宋体" pitchFamily="2" charset="-122"/>
                    <a:cs typeface="Times New Roman"/>
                  </a:rPr>
                  <a:t>落</a:t>
                </a:r>
                <a14:m>
                  <m:oMath xmlns:m="http://schemas.openxmlformats.org/officeDocument/2006/math">
                    <m:sSub>
                      <m:sSubPr>
                        <m:ctrlPr>
                          <a:rPr lang="en-US" altLang="zh-CN" sz="2400" i="1" kern="100" smtClean="0">
                            <a:latin typeface="Cambria Math"/>
                            <a:ea typeface="宋体"/>
                            <a:cs typeface="Times New Roman"/>
                          </a:rPr>
                        </m:ctrlPr>
                      </m:sSubPr>
                      <m:e>
                        <m:r>
                          <a:rPr lang="en-US" altLang="zh-CN" sz="2400" b="0" i="1" kern="100" smtClean="0">
                            <a:latin typeface="Cambria Math"/>
                            <a:ea typeface="宋体"/>
                            <a:cs typeface="Times New Roman"/>
                          </a:rPr>
                          <m:t>𝐻</m:t>
                        </m:r>
                      </m:e>
                      <m:sub>
                        <m:r>
                          <a:rPr lang="en-US" altLang="zh-CN" sz="2400" b="0" i="1" kern="100" smtClean="0">
                            <a:latin typeface="Cambria Math"/>
                            <a:ea typeface="宋体"/>
                            <a:cs typeface="Times New Roman"/>
                          </a:rPr>
                          <m:t>1</m:t>
                        </m:r>
                      </m:sub>
                    </m:sSub>
                  </m:oMath>
                </a14:m>
                <a:r>
                  <a:rPr lang="zh-CN" altLang="zh-CN" sz="2400" kern="100" dirty="0">
                    <a:solidFill>
                      <a:srgbClr val="000000"/>
                    </a:solidFill>
                    <a:latin typeface="宋体" pitchFamily="2" charset="-122"/>
                    <a:ea typeface="宋体" pitchFamily="2" charset="-122"/>
                    <a:cs typeface="Times New Roman"/>
                  </a:rPr>
                  <a:t>或者</a:t>
                </a:r>
                <a14:m>
                  <m:oMath xmlns:m="http://schemas.openxmlformats.org/officeDocument/2006/math">
                    <m:sSub>
                      <m:sSubPr>
                        <m:ctrlPr>
                          <a:rPr lang="en-US" altLang="zh-CN" sz="2400" i="1" kern="100" dirty="0" smtClean="0">
                            <a:solidFill>
                              <a:srgbClr val="000000"/>
                            </a:solidFill>
                            <a:latin typeface="Cambria Math"/>
                            <a:ea typeface="宋体"/>
                            <a:cs typeface="Times New Roman"/>
                          </a:rPr>
                        </m:ctrlPr>
                      </m:sSubPr>
                      <m:e>
                        <m:r>
                          <a:rPr lang="en-US" altLang="zh-CN" sz="2400" b="0" i="1" kern="100" dirty="0" smtClean="0">
                            <a:solidFill>
                              <a:srgbClr val="000000"/>
                            </a:solidFill>
                            <a:latin typeface="Cambria Math"/>
                            <a:ea typeface="宋体"/>
                            <a:cs typeface="Times New Roman"/>
                          </a:rPr>
                          <m:t>𝐻</m:t>
                        </m:r>
                      </m:e>
                      <m:sub>
                        <m:r>
                          <a:rPr lang="en-US" altLang="zh-CN" sz="2400" b="0" i="1" kern="100" dirty="0" smtClean="0">
                            <a:solidFill>
                              <a:srgbClr val="000000"/>
                            </a:solidFill>
                            <a:latin typeface="Cambria Math"/>
                            <a:ea typeface="宋体"/>
                            <a:cs typeface="Times New Roman"/>
                          </a:rPr>
                          <m:t>2</m:t>
                        </m:r>
                      </m:sub>
                    </m:sSub>
                  </m:oMath>
                </a14:m>
                <a:r>
                  <a:rPr lang="zh-CN" altLang="zh-CN" sz="2400" kern="100" dirty="0">
                    <a:solidFill>
                      <a:srgbClr val="000000"/>
                    </a:solidFill>
                    <a:latin typeface="宋体" pitchFamily="2" charset="-122"/>
                    <a:ea typeface="宋体" pitchFamily="2" charset="-122"/>
                    <a:cs typeface="Times New Roman"/>
                  </a:rPr>
                  <a:t>上的训练样本，称为支持向量。</a:t>
                </a:r>
                <a:endParaRPr lang="zh-CN" altLang="zh-CN" sz="2400" kern="100" dirty="0">
                  <a:latin typeface="宋体" pitchFamily="2" charset="-122"/>
                  <a:ea typeface="宋体" pitchFamily="2" charset="-122"/>
                  <a:cs typeface="Times New Roman"/>
                </a:endParaRPr>
              </a:p>
              <a:p>
                <a:pPr marL="0" indent="0">
                  <a:lnSpc>
                    <a:spcPct val="150000"/>
                  </a:lnSpc>
                  <a:spcAft>
                    <a:spcPts val="0"/>
                  </a:spcAft>
                  <a:buNone/>
                </a:pPr>
                <a:r>
                  <a:rPr lang="zh-CN" altLang="zh-CN" sz="2400" kern="100" dirty="0">
                    <a:solidFill>
                      <a:srgbClr val="000000"/>
                    </a:solidFill>
                    <a:latin typeface="宋体" pitchFamily="2" charset="-122"/>
                    <a:ea typeface="宋体" pitchFamily="2" charset="-122"/>
                    <a:cs typeface="Times New Roman"/>
                  </a:rPr>
                  <a:t>从最优分离超平面到</a:t>
                </a:r>
                <a14:m>
                  <m:oMath xmlns:m="http://schemas.openxmlformats.org/officeDocument/2006/math">
                    <m:sSub>
                      <m:sSubPr>
                        <m:ctrlPr>
                          <a:rPr lang="en-US" altLang="zh-CN" sz="2400" i="1" kern="100">
                            <a:latin typeface="Cambria Math"/>
                            <a:ea typeface="宋体"/>
                            <a:cs typeface="Times New Roman"/>
                          </a:rPr>
                        </m:ctrlPr>
                      </m:sSubPr>
                      <m:e>
                        <m:r>
                          <a:rPr lang="en-US" altLang="zh-CN" sz="2400" i="1" kern="100">
                            <a:latin typeface="Cambria Math"/>
                            <a:ea typeface="宋体"/>
                            <a:cs typeface="Times New Roman"/>
                          </a:rPr>
                          <m:t>𝐻</m:t>
                        </m:r>
                      </m:e>
                      <m:sub>
                        <m:r>
                          <a:rPr lang="en-US" altLang="zh-CN" sz="2400" i="1" kern="100">
                            <a:latin typeface="Cambria Math"/>
                            <a:ea typeface="宋体"/>
                            <a:cs typeface="Times New Roman"/>
                          </a:rPr>
                          <m:t>1</m:t>
                        </m:r>
                      </m:sub>
                    </m:sSub>
                  </m:oMath>
                </a14:m>
                <a:r>
                  <a:rPr lang="zh-CN" altLang="zh-CN" sz="2400" kern="100" dirty="0">
                    <a:solidFill>
                      <a:srgbClr val="000000"/>
                    </a:solidFill>
                    <a:latin typeface="宋体" pitchFamily="2" charset="-122"/>
                    <a:ea typeface="宋体" pitchFamily="2" charset="-122"/>
                    <a:cs typeface="Times New Roman"/>
                  </a:rPr>
                  <a:t>上任意点的距离为</a:t>
                </a:r>
                <a14:m>
                  <m:oMath xmlns:m="http://schemas.openxmlformats.org/officeDocument/2006/math">
                    <m:f>
                      <m:fPr>
                        <m:ctrlPr>
                          <a:rPr lang="en-US" altLang="zh-CN" sz="2400" i="1" kern="100" smtClean="0">
                            <a:latin typeface="Cambria Math"/>
                            <a:ea typeface="宋体"/>
                            <a:cs typeface="Times New Roman"/>
                          </a:rPr>
                        </m:ctrlPr>
                      </m:fPr>
                      <m:num>
                        <m:r>
                          <a:rPr lang="en-US" altLang="zh-CN" sz="2400" b="0" i="1" kern="100" smtClean="0">
                            <a:latin typeface="Cambria Math"/>
                            <a:ea typeface="宋体"/>
                            <a:cs typeface="Times New Roman"/>
                          </a:rPr>
                          <m:t>1</m:t>
                        </m:r>
                      </m:num>
                      <m:den>
                        <m:r>
                          <a:rPr lang="en-US" altLang="zh-CN" sz="2400" b="0" i="1" kern="100" smtClean="0">
                            <a:latin typeface="Cambria Math"/>
                            <a:ea typeface="宋体"/>
                            <a:cs typeface="Times New Roman"/>
                          </a:rPr>
                          <m:t>||</m:t>
                        </m:r>
                        <m:r>
                          <a:rPr lang="en-US" altLang="zh-CN" sz="2400" b="0" i="1" kern="100" smtClean="0">
                            <a:latin typeface="Cambria Math"/>
                            <a:ea typeface="宋体"/>
                            <a:cs typeface="Times New Roman"/>
                          </a:rPr>
                          <m:t>𝑤</m:t>
                        </m:r>
                        <m:r>
                          <a:rPr lang="en-US" altLang="zh-CN" sz="2400" b="0" i="1" kern="100" smtClean="0">
                            <a:latin typeface="Cambria Math"/>
                            <a:ea typeface="宋体"/>
                            <a:cs typeface="Times New Roman"/>
                          </a:rPr>
                          <m:t>||</m:t>
                        </m:r>
                      </m:den>
                    </m:f>
                  </m:oMath>
                </a14:m>
                <a:r>
                  <a:rPr lang="zh-CN" altLang="zh-CN" sz="2400" kern="100" dirty="0">
                    <a:solidFill>
                      <a:srgbClr val="000000"/>
                    </a:solidFill>
                    <a:latin typeface="宋体" pitchFamily="2" charset="-122"/>
                    <a:ea typeface="宋体" pitchFamily="2" charset="-122"/>
                    <a:cs typeface="Times New Roman"/>
                  </a:rPr>
                  <a:t>，同理到</a:t>
                </a:r>
                <a14:m>
                  <m:oMath xmlns:m="http://schemas.openxmlformats.org/officeDocument/2006/math">
                    <m:sSub>
                      <m:sSubPr>
                        <m:ctrlPr>
                          <a:rPr lang="en-US" altLang="zh-CN" sz="2400" i="1" kern="100" dirty="0">
                            <a:solidFill>
                              <a:srgbClr val="000000"/>
                            </a:solidFill>
                            <a:latin typeface="Cambria Math"/>
                            <a:ea typeface="宋体"/>
                            <a:cs typeface="Times New Roman"/>
                          </a:rPr>
                        </m:ctrlPr>
                      </m:sSubPr>
                      <m:e>
                        <m:r>
                          <a:rPr lang="en-US" altLang="zh-CN" sz="2400" i="1" kern="100" dirty="0">
                            <a:solidFill>
                              <a:srgbClr val="000000"/>
                            </a:solidFill>
                            <a:latin typeface="Cambria Math"/>
                            <a:ea typeface="宋体"/>
                            <a:cs typeface="Times New Roman"/>
                          </a:rPr>
                          <m:t>𝐻</m:t>
                        </m:r>
                      </m:e>
                      <m:sub>
                        <m:r>
                          <a:rPr lang="en-US" altLang="zh-CN" sz="2400" i="1" kern="100" dirty="0">
                            <a:solidFill>
                              <a:srgbClr val="000000"/>
                            </a:solidFill>
                            <a:latin typeface="Cambria Math"/>
                            <a:ea typeface="宋体"/>
                            <a:cs typeface="Times New Roman"/>
                          </a:rPr>
                          <m:t>2</m:t>
                        </m:r>
                      </m:sub>
                    </m:sSub>
                  </m:oMath>
                </a14:m>
                <a:r>
                  <a:rPr lang="zh-CN" altLang="zh-CN" sz="2400" kern="100" dirty="0">
                    <a:solidFill>
                      <a:srgbClr val="000000"/>
                    </a:solidFill>
                    <a:latin typeface="宋体" pitchFamily="2" charset="-122"/>
                    <a:ea typeface="宋体" pitchFamily="2" charset="-122"/>
                    <a:cs typeface="Times New Roman"/>
                  </a:rPr>
                  <a:t>上任意点的距离也为</a:t>
                </a:r>
                <a:r>
                  <a:rPr lang="en-US" altLang="zh-CN" sz="2400" kern="100" dirty="0">
                    <a:latin typeface="宋体" pitchFamily="2" charset="-122"/>
                    <a:ea typeface="宋体" pitchFamily="2" charset="-122"/>
                    <a:cs typeface="Times New Roman"/>
                  </a:rPr>
                  <a:t> </a:t>
                </a:r>
                <a14:m>
                  <m:oMath xmlns:m="http://schemas.openxmlformats.org/officeDocument/2006/math">
                    <m:f>
                      <m:fPr>
                        <m:ctrlPr>
                          <a:rPr lang="en-US" altLang="zh-CN" sz="2400" i="1" kern="100">
                            <a:latin typeface="Cambria Math"/>
                            <a:ea typeface="宋体"/>
                            <a:cs typeface="Times New Roman"/>
                          </a:rPr>
                        </m:ctrlPr>
                      </m:fPr>
                      <m:num>
                        <m:r>
                          <a:rPr lang="en-US" altLang="zh-CN" sz="2400" i="1" kern="100">
                            <a:latin typeface="Cambria Math"/>
                            <a:ea typeface="宋体"/>
                            <a:cs typeface="Times New Roman"/>
                          </a:rPr>
                          <m:t>1</m:t>
                        </m:r>
                      </m:num>
                      <m:den>
                        <m:r>
                          <a:rPr lang="en-US" altLang="zh-CN" sz="2400" i="1" kern="100">
                            <a:latin typeface="Cambria Math"/>
                            <a:ea typeface="宋体"/>
                            <a:cs typeface="Times New Roman"/>
                          </a:rPr>
                          <m:t>||</m:t>
                        </m:r>
                        <m:r>
                          <a:rPr lang="en-US" altLang="zh-CN" sz="2400" i="1" kern="100">
                            <a:latin typeface="Cambria Math"/>
                            <a:ea typeface="宋体"/>
                            <a:cs typeface="Times New Roman"/>
                          </a:rPr>
                          <m:t>𝑤</m:t>
                        </m:r>
                        <m:r>
                          <a:rPr lang="en-US" altLang="zh-CN" sz="2400" i="1" kern="100">
                            <a:latin typeface="Cambria Math"/>
                            <a:ea typeface="宋体"/>
                            <a:cs typeface="Times New Roman"/>
                          </a:rPr>
                          <m:t>||</m:t>
                        </m:r>
                      </m:den>
                    </m:f>
                  </m:oMath>
                </a14:m>
                <a:r>
                  <a:rPr lang="zh-CN" altLang="zh-CN" sz="2400" kern="100" dirty="0">
                    <a:solidFill>
                      <a:srgbClr val="000000"/>
                    </a:solidFill>
                    <a:latin typeface="宋体" pitchFamily="2" charset="-122"/>
                    <a:ea typeface="宋体" pitchFamily="2" charset="-122"/>
                    <a:cs typeface="Times New Roman"/>
                  </a:rPr>
                  <a:t>，则最大边缘间隔为</a:t>
                </a:r>
                <a14:m>
                  <m:oMath xmlns:m="http://schemas.openxmlformats.org/officeDocument/2006/math">
                    <m:f>
                      <m:fPr>
                        <m:ctrlPr>
                          <a:rPr lang="en-US" altLang="zh-CN" sz="2400" i="1" kern="100" smtClean="0">
                            <a:latin typeface="Cambria Math"/>
                            <a:ea typeface="宋体"/>
                            <a:cs typeface="Times New Roman"/>
                          </a:rPr>
                        </m:ctrlPr>
                      </m:fPr>
                      <m:num>
                        <m:r>
                          <a:rPr lang="en-US" altLang="zh-CN" sz="2400" b="0" i="1" kern="100" smtClean="0">
                            <a:latin typeface="Cambria Math"/>
                            <a:ea typeface="宋体"/>
                            <a:cs typeface="Times New Roman"/>
                          </a:rPr>
                          <m:t>2</m:t>
                        </m:r>
                      </m:num>
                      <m:den>
                        <m:r>
                          <a:rPr lang="en-US" altLang="zh-CN" sz="2400" b="0" i="1" kern="100" smtClean="0">
                            <a:latin typeface="Cambria Math"/>
                            <a:ea typeface="宋体"/>
                            <a:cs typeface="Times New Roman"/>
                          </a:rPr>
                          <m:t>|</m:t>
                        </m:r>
                        <m:d>
                          <m:dPr>
                            <m:begChr m:val="|"/>
                            <m:endChr m:val="|"/>
                            <m:ctrlPr>
                              <a:rPr lang="en-US" altLang="zh-CN" sz="2400" b="0" i="1" kern="100" smtClean="0">
                                <a:latin typeface="Cambria Math"/>
                                <a:ea typeface="宋体"/>
                                <a:cs typeface="Times New Roman"/>
                              </a:rPr>
                            </m:ctrlPr>
                          </m:dPr>
                          <m:e>
                            <m:r>
                              <a:rPr lang="en-US" altLang="zh-CN" sz="2400" b="0" i="1" kern="100" smtClean="0">
                                <a:latin typeface="Cambria Math"/>
                                <a:ea typeface="宋体"/>
                                <a:cs typeface="Times New Roman"/>
                              </a:rPr>
                              <m:t>𝑤</m:t>
                            </m:r>
                          </m:e>
                        </m:d>
                        <m:r>
                          <a:rPr lang="en-US" altLang="zh-CN" sz="2400" b="0" i="1" kern="100" smtClean="0">
                            <a:latin typeface="Cambria Math"/>
                            <a:ea typeface="宋体"/>
                            <a:cs typeface="Times New Roman"/>
                          </a:rPr>
                          <m:t>|</m:t>
                        </m:r>
                      </m:den>
                    </m:f>
                  </m:oMath>
                </a14:m>
                <a:r>
                  <a:rPr lang="zh-CN" altLang="zh-CN" sz="2400" kern="100" dirty="0">
                    <a:latin typeface="宋体" pitchFamily="2" charset="-122"/>
                    <a:ea typeface="宋体" pitchFamily="2" charset="-122"/>
                    <a:cs typeface="Times New Roman"/>
                  </a:rPr>
                  <a:t>。</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25625" y="1124745"/>
                <a:ext cx="10601349" cy="5001420"/>
              </a:xfrm>
              <a:blipFill rotWithShape="1">
                <a:blip r:embed="rId1"/>
                <a:stretch>
                  <a:fillRect l="-862"/>
                </a:stretch>
              </a:blipFill>
            </p:spPr>
            <p:txBody>
              <a:bodyPr/>
              <a:lstStyle/>
              <a:p>
                <a:r>
                  <a:rPr lang="zh-CN" altLang="en-US">
                    <a:noFill/>
                  </a:rPr>
                  <a:t> </a:t>
                </a:r>
                <a:endParaRPr lang="zh-CN" altLang="en-US">
                  <a:noFill/>
                </a:endParaRPr>
              </a:p>
            </p:txBody>
          </p:sp>
        </mc:Fallback>
      </mc:AlternateContent>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5" name="TextBox 4"/>
          <p:cNvSpPr txBox="1"/>
          <p:nvPr/>
        </p:nvSpPr>
        <p:spPr>
          <a:xfrm>
            <a:off x="1330765" y="44625"/>
            <a:ext cx="685584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5.6.1  </a:t>
            </a:r>
            <a:r>
              <a:rPr lang="zh-CN" altLang="en-US" sz="2800" dirty="0">
                <a:solidFill>
                  <a:schemeClr val="accent2"/>
                </a:solidFill>
                <a:latin typeface="微软雅黑" panose="020B0503020204020204" pitchFamily="34" charset="-122"/>
                <a:ea typeface="微软雅黑" panose="020B0503020204020204" pitchFamily="34" charset="-122"/>
              </a:rPr>
              <a:t>支持向量机原理</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25625" y="764703"/>
                <a:ext cx="10601349" cy="5904657"/>
              </a:xfrm>
            </p:spPr>
            <p:txBody>
              <a:bodyPr/>
              <a:lstStyle/>
              <a:p>
                <a:pPr marL="0" indent="0">
                  <a:lnSpc>
                    <a:spcPct val="150000"/>
                  </a:lnSpc>
                  <a:spcAft>
                    <a:spcPts val="0"/>
                  </a:spcAft>
                  <a:buNone/>
                </a:pPr>
                <a:r>
                  <a:rPr lang="zh-CN" altLang="zh-CN" sz="2400" kern="100" dirty="0">
                    <a:latin typeface="宋体" pitchFamily="2" charset="-122"/>
                    <a:ea typeface="宋体" pitchFamily="2" charset="-122"/>
                    <a:cs typeface="Times New Roman"/>
                  </a:rPr>
                  <a:t>如何寻找最优的超平面和支持向量，需要用到更高的数学理论知识及技巧，这里不再介绍。对于非线性可分的情形，可以通过非线性映射将原数据变换到更高维空间，在新的高维空间中实现线性可分。这种非线性映射可以通过核函数来实现，常用的核函数包括：</a:t>
                </a:r>
                <a:endParaRPr lang="en-US" altLang="zh-CN" sz="2400" kern="100" dirty="0">
                  <a:latin typeface="宋体" pitchFamily="2" charset="-122"/>
                  <a:ea typeface="宋体" pitchFamily="2" charset="-122"/>
                  <a:cs typeface="Times New Roman"/>
                </a:endParaRPr>
              </a:p>
              <a:p>
                <a:pPr marL="0" indent="0">
                  <a:lnSpc>
                    <a:spcPct val="150000"/>
                  </a:lnSpc>
                  <a:spcAft>
                    <a:spcPts val="0"/>
                  </a:spcAft>
                  <a:buNone/>
                </a:pPr>
                <a:r>
                  <a:rPr lang="zh-CN" altLang="zh-CN" sz="2400" kern="100" dirty="0">
                    <a:latin typeface="宋体" pitchFamily="2" charset="-122"/>
                    <a:ea typeface="宋体" pitchFamily="2" charset="-122"/>
                    <a:cs typeface="Times New Roman"/>
                  </a:rPr>
                  <a:t>高斯核函数。</a:t>
                </a:r>
                <a:endParaRPr lang="en-US" altLang="zh-CN" sz="2400" kern="100" dirty="0">
                  <a:latin typeface="宋体" pitchFamily="2" charset="-122"/>
                  <a:ea typeface="宋体" pitchFamily="2" charset="-122"/>
                  <a:cs typeface="Times New Roman"/>
                </a:endParaRPr>
              </a:p>
              <a:p>
                <a:pPr marL="0" indent="0">
                  <a:lnSpc>
                    <a:spcPct val="150000"/>
                  </a:lnSpc>
                  <a:spcAft>
                    <a:spcPts val="0"/>
                  </a:spcAft>
                  <a:buNone/>
                </a:pPr>
                <a14:m>
                  <m:oMathPara xmlns:m="http://schemas.openxmlformats.org/officeDocument/2006/math">
                    <m:oMathParaPr>
                      <m:jc m:val="centerGroup"/>
                    </m:oMathParaPr>
                    <m:oMath xmlns:m="http://schemas.openxmlformats.org/officeDocument/2006/math">
                      <m:r>
                        <a:rPr lang="en-US" altLang="zh-CN" b="0" i="1" kern="100" smtClean="0">
                          <a:latin typeface="Cambria Math"/>
                          <a:ea typeface="宋体"/>
                          <a:cs typeface="Times New Roman"/>
                        </a:rPr>
                        <m:t>𝑘</m:t>
                      </m:r>
                      <m:d>
                        <m:dPr>
                          <m:ctrlPr>
                            <a:rPr lang="en-US" altLang="zh-CN" b="0" i="1" kern="100" smtClean="0">
                              <a:latin typeface="Cambria Math"/>
                              <a:ea typeface="宋体"/>
                              <a:cs typeface="Times New Roman"/>
                            </a:rPr>
                          </m:ctrlPr>
                        </m:dPr>
                        <m:e>
                          <m:sSub>
                            <m:sSubPr>
                              <m:ctrlPr>
                                <a:rPr lang="en-US" altLang="zh-CN" b="0" i="1" kern="100" smtClean="0">
                                  <a:latin typeface="Cambria Math"/>
                                  <a:ea typeface="宋体"/>
                                  <a:cs typeface="Times New Roman"/>
                                </a:rPr>
                              </m:ctrlPr>
                            </m:sSubPr>
                            <m:e>
                              <m:r>
                                <a:rPr lang="en-US" altLang="zh-CN" b="0" i="1" kern="100" smtClean="0">
                                  <a:latin typeface="Cambria Math"/>
                                  <a:ea typeface="宋体"/>
                                  <a:cs typeface="Times New Roman"/>
                                </a:rPr>
                                <m:t>𝑥</m:t>
                              </m:r>
                            </m:e>
                            <m:sub>
                              <m:r>
                                <a:rPr lang="en-US" altLang="zh-CN" b="0" i="1" kern="100" smtClean="0">
                                  <a:latin typeface="Cambria Math"/>
                                  <a:ea typeface="宋体"/>
                                  <a:cs typeface="Times New Roman"/>
                                </a:rPr>
                                <m:t>𝑖</m:t>
                              </m:r>
                            </m:sub>
                          </m:sSub>
                          <m:r>
                            <a:rPr lang="en-US" altLang="zh-CN" b="0" i="1" kern="100" smtClean="0">
                              <a:latin typeface="Cambria Math"/>
                              <a:ea typeface="宋体"/>
                              <a:cs typeface="Times New Roman"/>
                            </a:rPr>
                            <m:t>,</m:t>
                          </m:r>
                          <m:sSub>
                            <m:sSubPr>
                              <m:ctrlPr>
                                <a:rPr lang="en-US" altLang="zh-CN" b="0" i="1" kern="100" smtClean="0">
                                  <a:latin typeface="Cambria Math"/>
                                  <a:ea typeface="宋体"/>
                                  <a:cs typeface="Times New Roman"/>
                                </a:rPr>
                              </m:ctrlPr>
                            </m:sSubPr>
                            <m:e>
                              <m:r>
                                <a:rPr lang="en-US" altLang="zh-CN" b="0" i="1" kern="100" smtClean="0">
                                  <a:latin typeface="Cambria Math"/>
                                  <a:ea typeface="宋体"/>
                                  <a:cs typeface="Times New Roman"/>
                                </a:rPr>
                                <m:t>𝑥</m:t>
                              </m:r>
                            </m:e>
                            <m:sub>
                              <m:r>
                                <a:rPr lang="en-US" altLang="zh-CN" b="0" i="1" kern="100" smtClean="0">
                                  <a:latin typeface="Cambria Math"/>
                                  <a:ea typeface="宋体"/>
                                  <a:cs typeface="Times New Roman"/>
                                </a:rPr>
                                <m:t>𝑗</m:t>
                              </m:r>
                            </m:sub>
                          </m:sSub>
                        </m:e>
                      </m:d>
                      <m:r>
                        <a:rPr lang="en-US" altLang="zh-CN" b="0" i="1" kern="100" smtClean="0">
                          <a:latin typeface="Cambria Math"/>
                          <a:ea typeface="宋体"/>
                          <a:cs typeface="Times New Roman"/>
                        </a:rPr>
                        <m:t>=</m:t>
                      </m:r>
                      <m:sSup>
                        <m:sSupPr>
                          <m:ctrlPr>
                            <a:rPr lang="en-US" altLang="zh-CN" b="0" i="1" kern="100" smtClean="0">
                              <a:latin typeface="Cambria Math"/>
                              <a:ea typeface="宋体"/>
                              <a:cs typeface="Times New Roman"/>
                            </a:rPr>
                          </m:ctrlPr>
                        </m:sSupPr>
                        <m:e>
                          <m:r>
                            <a:rPr lang="en-US" altLang="zh-CN" b="0" i="1" kern="100" smtClean="0">
                              <a:latin typeface="Cambria Math"/>
                              <a:ea typeface="宋体"/>
                              <a:cs typeface="Times New Roman"/>
                            </a:rPr>
                            <m:t>𝑒</m:t>
                          </m:r>
                        </m:e>
                        <m:sup>
                          <m:r>
                            <a:rPr lang="en-US" altLang="zh-CN" b="0" i="1" kern="100" smtClean="0">
                              <a:latin typeface="Cambria Math"/>
                              <a:ea typeface="宋体"/>
                              <a:cs typeface="Times New Roman"/>
                            </a:rPr>
                            <m:t>−||</m:t>
                          </m:r>
                          <m:sSub>
                            <m:sSubPr>
                              <m:ctrlPr>
                                <a:rPr lang="en-US" altLang="zh-CN" b="0" i="1" kern="100" smtClean="0">
                                  <a:latin typeface="Cambria Math"/>
                                  <a:ea typeface="宋体"/>
                                  <a:cs typeface="Times New Roman"/>
                                </a:rPr>
                              </m:ctrlPr>
                            </m:sSubPr>
                            <m:e>
                              <m:r>
                                <a:rPr lang="en-US" altLang="zh-CN" b="0" i="1" kern="100" smtClean="0">
                                  <a:latin typeface="Cambria Math"/>
                                  <a:ea typeface="宋体"/>
                                  <a:cs typeface="Times New Roman"/>
                                </a:rPr>
                                <m:t>𝑥</m:t>
                              </m:r>
                            </m:e>
                            <m:sub>
                              <m:r>
                                <a:rPr lang="en-US" altLang="zh-CN" b="0" i="1" kern="100" smtClean="0">
                                  <a:latin typeface="Cambria Math"/>
                                  <a:ea typeface="宋体"/>
                                  <a:cs typeface="Times New Roman"/>
                                </a:rPr>
                                <m:t>𝑖</m:t>
                              </m:r>
                            </m:sub>
                          </m:sSub>
                          <m:r>
                            <a:rPr lang="en-US" altLang="zh-CN" b="0" i="1" kern="100" smtClean="0">
                              <a:latin typeface="Cambria Math"/>
                              <a:ea typeface="宋体"/>
                              <a:cs typeface="Times New Roman"/>
                            </a:rPr>
                            <m:t>−</m:t>
                          </m:r>
                          <m:sSub>
                            <m:sSubPr>
                              <m:ctrlPr>
                                <a:rPr lang="en-US" altLang="zh-CN" b="0" i="1" kern="100" smtClean="0">
                                  <a:latin typeface="Cambria Math"/>
                                  <a:ea typeface="宋体"/>
                                  <a:cs typeface="Times New Roman"/>
                                </a:rPr>
                              </m:ctrlPr>
                            </m:sSubPr>
                            <m:e>
                              <m:r>
                                <a:rPr lang="en-US" altLang="zh-CN" b="0" i="1" kern="100" smtClean="0">
                                  <a:latin typeface="Cambria Math"/>
                                  <a:ea typeface="宋体"/>
                                  <a:cs typeface="Times New Roman"/>
                                </a:rPr>
                                <m:t>𝑥</m:t>
                              </m:r>
                            </m:e>
                            <m:sub>
                              <m:r>
                                <a:rPr lang="en-US" altLang="zh-CN" b="0" i="1" kern="100" smtClean="0">
                                  <a:latin typeface="Cambria Math"/>
                                  <a:ea typeface="宋体"/>
                                  <a:cs typeface="Times New Roman"/>
                                </a:rPr>
                                <m:t>𝑗</m:t>
                              </m:r>
                            </m:sub>
                          </m:sSub>
                          <m:r>
                            <a:rPr lang="en-US" altLang="zh-CN" b="0" i="1" kern="100" smtClean="0">
                              <a:latin typeface="Cambria Math"/>
                              <a:ea typeface="宋体"/>
                              <a:cs typeface="Times New Roman"/>
                            </a:rPr>
                            <m:t>|</m:t>
                          </m:r>
                          <m:sSup>
                            <m:sSupPr>
                              <m:ctrlPr>
                                <a:rPr lang="en-US" altLang="zh-CN" b="0" i="1" kern="100" smtClean="0">
                                  <a:latin typeface="Cambria Math"/>
                                  <a:ea typeface="宋体"/>
                                  <a:cs typeface="Times New Roman"/>
                                </a:rPr>
                              </m:ctrlPr>
                            </m:sSupPr>
                            <m:e>
                              <m:r>
                                <a:rPr lang="en-US" altLang="zh-CN" b="0" i="1" kern="100" smtClean="0">
                                  <a:latin typeface="Cambria Math"/>
                                  <a:ea typeface="宋体"/>
                                  <a:cs typeface="Times New Roman"/>
                                </a:rPr>
                                <m:t>|</m:t>
                              </m:r>
                            </m:e>
                            <m:sup>
                              <m:r>
                                <a:rPr lang="en-US" altLang="zh-CN" b="0" i="1" kern="100" smtClean="0">
                                  <a:latin typeface="Cambria Math"/>
                                  <a:ea typeface="宋体"/>
                                  <a:cs typeface="Times New Roman"/>
                                </a:rPr>
                                <m:t>2</m:t>
                              </m:r>
                            </m:sup>
                          </m:sSup>
                          <m:r>
                            <a:rPr lang="en-US" altLang="zh-CN" b="0" i="1" kern="100" smtClean="0">
                              <a:latin typeface="Cambria Math"/>
                              <a:ea typeface="宋体"/>
                              <a:cs typeface="Times New Roman"/>
                            </a:rPr>
                            <m:t>/2</m:t>
                          </m:r>
                          <m:sSup>
                            <m:sSupPr>
                              <m:ctrlPr>
                                <a:rPr lang="en-US" altLang="zh-CN" b="0" i="1" kern="100" smtClean="0">
                                  <a:latin typeface="Cambria Math"/>
                                  <a:ea typeface="宋体"/>
                                  <a:cs typeface="Times New Roman"/>
                                </a:rPr>
                              </m:ctrlPr>
                            </m:sSupPr>
                            <m:e>
                              <m:r>
                                <a:rPr lang="zh-CN" altLang="en-US" b="0" i="1" kern="100" smtClean="0">
                                  <a:latin typeface="Cambria Math"/>
                                  <a:ea typeface="宋体"/>
                                  <a:cs typeface="Times New Roman"/>
                                </a:rPr>
                                <m:t>𝛿</m:t>
                              </m:r>
                            </m:e>
                            <m:sup>
                              <m:r>
                                <a:rPr lang="en-US" altLang="zh-CN" b="0" i="1" kern="100" smtClean="0">
                                  <a:latin typeface="Cambria Math"/>
                                  <a:ea typeface="宋体"/>
                                  <a:cs typeface="Times New Roman"/>
                                </a:rPr>
                                <m:t>2</m:t>
                              </m:r>
                            </m:sup>
                          </m:sSup>
                        </m:sup>
                      </m:sSup>
                    </m:oMath>
                  </m:oMathPara>
                </a14:m>
                <a:endParaRPr lang="en-US" altLang="zh-CN" kern="100" dirty="0">
                  <a:latin typeface="Calibri"/>
                  <a:ea typeface="宋体"/>
                  <a:cs typeface="Times New Roman"/>
                </a:endParaRPr>
              </a:p>
              <a:p>
                <a:pPr marL="0" indent="0">
                  <a:lnSpc>
                    <a:spcPct val="150000"/>
                  </a:lnSpc>
                  <a:spcAft>
                    <a:spcPts val="0"/>
                  </a:spcAft>
                  <a:buNone/>
                </a:pPr>
                <a:r>
                  <a:rPr lang="zh-CN" altLang="zh-CN" sz="2400" kern="100" dirty="0">
                    <a:latin typeface="宋体" pitchFamily="2" charset="-122"/>
                    <a:ea typeface="宋体" pitchFamily="2" charset="-122"/>
                    <a:cs typeface="Times New Roman"/>
                  </a:rPr>
                  <a:t>多项式核函数。</a:t>
                </a:r>
                <a:endParaRPr lang="en-US" altLang="zh-CN" sz="2400" kern="100" dirty="0">
                  <a:latin typeface="宋体" pitchFamily="2" charset="-122"/>
                  <a:ea typeface="宋体" pitchFamily="2" charset="-122"/>
                  <a:cs typeface="Times New Roman"/>
                </a:endParaRPr>
              </a:p>
              <a:p>
                <a:pPr marL="0" indent="0">
                  <a:lnSpc>
                    <a:spcPct val="150000"/>
                  </a:lnSpc>
                  <a:spcAft>
                    <a:spcPts val="0"/>
                  </a:spcAft>
                  <a:buNone/>
                </a:pPr>
                <a14:m>
                  <m:oMathPara xmlns:m="http://schemas.openxmlformats.org/officeDocument/2006/math">
                    <m:oMathParaPr>
                      <m:jc m:val="centerGroup"/>
                    </m:oMathParaPr>
                    <m:oMath xmlns:m="http://schemas.openxmlformats.org/officeDocument/2006/math">
                      <m:r>
                        <a:rPr lang="en-US" altLang="zh-CN" i="1" kern="100" smtClean="0">
                          <a:latin typeface="Cambria Math"/>
                          <a:ea typeface="宋体"/>
                          <a:cs typeface="Times New Roman"/>
                        </a:rPr>
                        <m:t>𝑘</m:t>
                      </m:r>
                      <m:d>
                        <m:dPr>
                          <m:ctrlPr>
                            <a:rPr lang="en-US" altLang="zh-CN" i="1" kern="100">
                              <a:latin typeface="Cambria Math"/>
                              <a:ea typeface="宋体"/>
                              <a:cs typeface="Times New Roman"/>
                            </a:rPr>
                          </m:ctrlPr>
                        </m:dPr>
                        <m:e>
                          <m:sSub>
                            <m:sSubPr>
                              <m:ctrlPr>
                                <a:rPr lang="en-US" altLang="zh-CN" i="1" kern="100">
                                  <a:latin typeface="Cambria Math"/>
                                  <a:ea typeface="宋体"/>
                                  <a:cs typeface="Times New Roman"/>
                                </a:rPr>
                              </m:ctrlPr>
                            </m:sSubPr>
                            <m:e>
                              <m:r>
                                <a:rPr lang="en-US" altLang="zh-CN" i="1" kern="100">
                                  <a:latin typeface="Cambria Math"/>
                                  <a:ea typeface="宋体"/>
                                  <a:cs typeface="Times New Roman"/>
                                </a:rPr>
                                <m:t>𝑥</m:t>
                              </m:r>
                            </m:e>
                            <m:sub>
                              <m:r>
                                <a:rPr lang="en-US" altLang="zh-CN" i="1" kern="100">
                                  <a:latin typeface="Cambria Math"/>
                                  <a:ea typeface="宋体"/>
                                  <a:cs typeface="Times New Roman"/>
                                </a:rPr>
                                <m:t>𝑖</m:t>
                              </m:r>
                            </m:sub>
                          </m:sSub>
                          <m:r>
                            <a:rPr lang="en-US" altLang="zh-CN" i="1" kern="100">
                              <a:latin typeface="Cambria Math"/>
                              <a:ea typeface="宋体"/>
                              <a:cs typeface="Times New Roman"/>
                            </a:rPr>
                            <m:t>,</m:t>
                          </m:r>
                          <m:sSub>
                            <m:sSubPr>
                              <m:ctrlPr>
                                <a:rPr lang="en-US" altLang="zh-CN" i="1" kern="100">
                                  <a:latin typeface="Cambria Math"/>
                                  <a:ea typeface="宋体"/>
                                  <a:cs typeface="Times New Roman"/>
                                </a:rPr>
                              </m:ctrlPr>
                            </m:sSubPr>
                            <m:e>
                              <m:r>
                                <a:rPr lang="en-US" altLang="zh-CN" i="1" kern="100">
                                  <a:latin typeface="Cambria Math"/>
                                  <a:ea typeface="宋体"/>
                                  <a:cs typeface="Times New Roman"/>
                                </a:rPr>
                                <m:t>𝑥</m:t>
                              </m:r>
                            </m:e>
                            <m:sub>
                              <m:r>
                                <a:rPr lang="en-US" altLang="zh-CN" i="1" kern="100">
                                  <a:latin typeface="Cambria Math"/>
                                  <a:ea typeface="宋体"/>
                                  <a:cs typeface="Times New Roman"/>
                                </a:rPr>
                                <m:t>𝑗</m:t>
                              </m:r>
                            </m:sub>
                          </m:sSub>
                        </m:e>
                      </m:d>
                      <m:r>
                        <a:rPr lang="en-US" altLang="zh-CN" b="0" i="1" kern="100" smtClean="0">
                          <a:latin typeface="Cambria Math"/>
                          <a:ea typeface="宋体"/>
                          <a:cs typeface="Times New Roman"/>
                        </a:rPr>
                        <m:t>=(</m:t>
                      </m:r>
                      <m:sSub>
                        <m:sSubPr>
                          <m:ctrlPr>
                            <a:rPr lang="en-US" altLang="zh-CN" i="1" kern="100" dirty="0" smtClean="0">
                              <a:latin typeface="Cambria Math"/>
                              <a:ea typeface="宋体"/>
                              <a:cs typeface="Times New Roman"/>
                            </a:rPr>
                          </m:ctrlPr>
                        </m:sSubPr>
                        <m:e>
                          <m:r>
                            <a:rPr lang="en-US" altLang="zh-CN" b="0" i="1" kern="100" dirty="0" smtClean="0">
                              <a:latin typeface="Cambria Math"/>
                              <a:ea typeface="宋体"/>
                              <a:cs typeface="Times New Roman"/>
                            </a:rPr>
                            <m:t>𝑥</m:t>
                          </m:r>
                        </m:e>
                        <m:sub>
                          <m:r>
                            <a:rPr lang="en-US" altLang="zh-CN" b="0" i="1" kern="100" dirty="0" smtClean="0">
                              <a:latin typeface="Cambria Math"/>
                              <a:ea typeface="宋体"/>
                              <a:cs typeface="Times New Roman"/>
                            </a:rPr>
                            <m:t>𝑖</m:t>
                          </m:r>
                        </m:sub>
                      </m:sSub>
                      <m:r>
                        <a:rPr lang="en-US" altLang="zh-CN" b="0" i="1" kern="100" dirty="0" smtClean="0">
                          <a:latin typeface="Cambria Math"/>
                          <a:ea typeface="宋体"/>
                          <a:cs typeface="Times New Roman"/>
                        </a:rPr>
                        <m:t>.</m:t>
                      </m:r>
                      <m:sSub>
                        <m:sSubPr>
                          <m:ctrlPr>
                            <a:rPr lang="en-US" altLang="zh-CN" b="0" i="1" kern="100" dirty="0" smtClean="0">
                              <a:latin typeface="Cambria Math"/>
                              <a:ea typeface="宋体"/>
                              <a:cs typeface="Times New Roman"/>
                            </a:rPr>
                          </m:ctrlPr>
                        </m:sSubPr>
                        <m:e>
                          <m:r>
                            <a:rPr lang="en-US" altLang="zh-CN" b="0" i="1" kern="100" dirty="0" smtClean="0">
                              <a:latin typeface="Cambria Math"/>
                              <a:ea typeface="宋体"/>
                              <a:cs typeface="Times New Roman"/>
                            </a:rPr>
                            <m:t>𝑥</m:t>
                          </m:r>
                        </m:e>
                        <m:sub>
                          <m:r>
                            <a:rPr lang="en-US" altLang="zh-CN" b="0" i="1" kern="100" dirty="0" smtClean="0">
                              <a:latin typeface="Cambria Math"/>
                              <a:ea typeface="宋体"/>
                              <a:cs typeface="Times New Roman"/>
                            </a:rPr>
                            <m:t>𝑗</m:t>
                          </m:r>
                        </m:sub>
                      </m:sSub>
                      <m:r>
                        <a:rPr lang="en-US" altLang="zh-CN" b="0" i="1" kern="100" dirty="0" smtClean="0">
                          <a:latin typeface="Cambria Math"/>
                          <a:ea typeface="宋体"/>
                          <a:cs typeface="Times New Roman"/>
                        </a:rPr>
                        <m:t>+1</m:t>
                      </m:r>
                      <m:sSup>
                        <m:sSupPr>
                          <m:ctrlPr>
                            <a:rPr lang="en-US" altLang="zh-CN" b="0" i="1" kern="100" dirty="0" smtClean="0">
                              <a:latin typeface="Cambria Math"/>
                              <a:ea typeface="宋体"/>
                              <a:cs typeface="Times New Roman"/>
                            </a:rPr>
                          </m:ctrlPr>
                        </m:sSupPr>
                        <m:e>
                          <m:r>
                            <a:rPr lang="en-US" altLang="zh-CN" b="0" i="1" kern="100" dirty="0" smtClean="0">
                              <a:latin typeface="Cambria Math"/>
                              <a:ea typeface="宋体"/>
                              <a:cs typeface="Times New Roman"/>
                            </a:rPr>
                            <m:t>)</m:t>
                          </m:r>
                        </m:e>
                        <m:sup>
                          <m:r>
                            <a:rPr lang="en-US" altLang="zh-CN" b="0" i="1" kern="100" dirty="0" smtClean="0">
                              <a:latin typeface="Cambria Math"/>
                              <a:ea typeface="宋体"/>
                              <a:cs typeface="Times New Roman"/>
                            </a:rPr>
                            <m:t>h</m:t>
                          </m:r>
                        </m:sup>
                      </m:sSup>
                    </m:oMath>
                  </m:oMathPara>
                </a14:m>
                <a:endParaRPr lang="en-US" altLang="zh-CN" kern="100" dirty="0">
                  <a:latin typeface="Calibri"/>
                  <a:ea typeface="宋体"/>
                  <a:cs typeface="Times New Roman"/>
                </a:endParaRPr>
              </a:p>
              <a:p>
                <a:pPr marL="0" indent="0">
                  <a:lnSpc>
                    <a:spcPct val="150000"/>
                  </a:lnSpc>
                  <a:spcAft>
                    <a:spcPts val="0"/>
                  </a:spcAft>
                  <a:buNone/>
                </a:pPr>
                <a:r>
                  <a:rPr lang="en-US" altLang="zh-CN" sz="2400" kern="100" dirty="0">
                    <a:latin typeface="宋体" pitchFamily="2" charset="-122"/>
                    <a:ea typeface="宋体" pitchFamily="2" charset="-122"/>
                    <a:cs typeface="Times New Roman"/>
                  </a:rPr>
                  <a:t>S</a:t>
                </a:r>
                <a:r>
                  <a:rPr lang="zh-CN" altLang="zh-CN" sz="2400" kern="100" dirty="0">
                    <a:latin typeface="宋体" pitchFamily="2" charset="-122"/>
                    <a:ea typeface="宋体" pitchFamily="2" charset="-122"/>
                    <a:cs typeface="Times New Roman"/>
                  </a:rPr>
                  <a:t>形</a:t>
                </a:r>
                <a:r>
                  <a:rPr lang="en-US" altLang="zh-CN" sz="2400" kern="100" dirty="0">
                    <a:latin typeface="宋体" pitchFamily="2" charset="-122"/>
                    <a:ea typeface="宋体" pitchFamily="2" charset="-122"/>
                    <a:cs typeface="Times New Roman"/>
                  </a:rPr>
                  <a:t>*-</a:t>
                </a:r>
                <a:r>
                  <a:rPr lang="zh-CN" altLang="zh-CN" sz="2400" kern="100" dirty="0">
                    <a:latin typeface="宋体" pitchFamily="2" charset="-122"/>
                    <a:ea typeface="宋体" pitchFamily="2" charset="-122"/>
                    <a:cs typeface="Times New Roman"/>
                  </a:rPr>
                  <a:t>核函数</a:t>
                </a:r>
                <a:r>
                  <a:rPr lang="zh-CN" altLang="zh-CN" kern="100" dirty="0">
                    <a:latin typeface="Times New Roman"/>
                    <a:ea typeface="宋体"/>
                    <a:cs typeface="Times New Roman"/>
                  </a:rPr>
                  <a:t>。</a:t>
                </a:r>
                <a:endParaRPr lang="en-US" altLang="zh-CN" kern="100" dirty="0">
                  <a:latin typeface="Times New Roman"/>
                  <a:ea typeface="宋体"/>
                  <a:cs typeface="Times New Roman"/>
                </a:endParaRPr>
              </a:p>
              <a:p>
                <a:pPr marL="0" indent="0">
                  <a:lnSpc>
                    <a:spcPct val="150000"/>
                  </a:lnSpc>
                  <a:spcAft>
                    <a:spcPts val="0"/>
                  </a:spcAft>
                  <a:buNone/>
                </a:pPr>
                <a14:m>
                  <m:oMathPara xmlns:m="http://schemas.openxmlformats.org/officeDocument/2006/math">
                    <m:oMathParaPr>
                      <m:jc m:val="centerGroup"/>
                    </m:oMathParaPr>
                    <m:oMath xmlns:m="http://schemas.openxmlformats.org/officeDocument/2006/math">
                      <m:r>
                        <a:rPr lang="en-US" altLang="zh-CN" i="1" kern="100">
                          <a:latin typeface="Cambria Math"/>
                          <a:ea typeface="宋体"/>
                          <a:cs typeface="Times New Roman"/>
                        </a:rPr>
                        <m:t>𝑘</m:t>
                      </m:r>
                      <m:d>
                        <m:dPr>
                          <m:ctrlPr>
                            <a:rPr lang="en-US" altLang="zh-CN" i="1" kern="100">
                              <a:latin typeface="Cambria Math"/>
                              <a:ea typeface="宋体"/>
                              <a:cs typeface="Times New Roman"/>
                            </a:rPr>
                          </m:ctrlPr>
                        </m:dPr>
                        <m:e>
                          <m:sSub>
                            <m:sSubPr>
                              <m:ctrlPr>
                                <a:rPr lang="en-US" altLang="zh-CN" i="1" kern="100">
                                  <a:latin typeface="Cambria Math"/>
                                  <a:ea typeface="宋体"/>
                                  <a:cs typeface="Times New Roman"/>
                                </a:rPr>
                              </m:ctrlPr>
                            </m:sSubPr>
                            <m:e>
                              <m:r>
                                <a:rPr lang="en-US" altLang="zh-CN" i="1" kern="100">
                                  <a:latin typeface="Cambria Math"/>
                                  <a:ea typeface="宋体"/>
                                  <a:cs typeface="Times New Roman"/>
                                </a:rPr>
                                <m:t>𝑥</m:t>
                              </m:r>
                            </m:e>
                            <m:sub>
                              <m:r>
                                <a:rPr lang="en-US" altLang="zh-CN" i="1" kern="100">
                                  <a:latin typeface="Cambria Math"/>
                                  <a:ea typeface="宋体"/>
                                  <a:cs typeface="Times New Roman"/>
                                </a:rPr>
                                <m:t>𝑖</m:t>
                              </m:r>
                            </m:sub>
                          </m:sSub>
                          <m:r>
                            <a:rPr lang="en-US" altLang="zh-CN" i="1" kern="100">
                              <a:latin typeface="Cambria Math"/>
                              <a:ea typeface="宋体"/>
                              <a:cs typeface="Times New Roman"/>
                            </a:rPr>
                            <m:t>,</m:t>
                          </m:r>
                          <m:sSub>
                            <m:sSubPr>
                              <m:ctrlPr>
                                <a:rPr lang="en-US" altLang="zh-CN" i="1" kern="100">
                                  <a:latin typeface="Cambria Math"/>
                                  <a:ea typeface="宋体"/>
                                  <a:cs typeface="Times New Roman"/>
                                </a:rPr>
                              </m:ctrlPr>
                            </m:sSubPr>
                            <m:e>
                              <m:r>
                                <a:rPr lang="en-US" altLang="zh-CN" i="1" kern="100">
                                  <a:latin typeface="Cambria Math"/>
                                  <a:ea typeface="宋体"/>
                                  <a:cs typeface="Times New Roman"/>
                                </a:rPr>
                                <m:t>𝑥</m:t>
                              </m:r>
                            </m:e>
                            <m:sub>
                              <m:r>
                                <a:rPr lang="en-US" altLang="zh-CN" i="1" kern="100">
                                  <a:latin typeface="Cambria Math"/>
                                  <a:ea typeface="宋体"/>
                                  <a:cs typeface="Times New Roman"/>
                                </a:rPr>
                                <m:t>𝑗</m:t>
                              </m:r>
                            </m:sub>
                          </m:sSub>
                        </m:e>
                      </m:d>
                      <m:r>
                        <a:rPr lang="en-US" altLang="zh-CN" i="1" kern="100">
                          <a:latin typeface="Cambria Math"/>
                          <a:ea typeface="宋体"/>
                          <a:cs typeface="Times New Roman"/>
                        </a:rPr>
                        <m:t>=</m:t>
                      </m:r>
                      <m:r>
                        <a:rPr lang="en-US" altLang="zh-CN" b="0" i="1" kern="100" smtClean="0">
                          <a:latin typeface="Cambria Math"/>
                          <a:ea typeface="宋体"/>
                          <a:cs typeface="Times New Roman"/>
                        </a:rPr>
                        <m:t>𝑡𝑎𝑛h</m:t>
                      </m:r>
                      <m:r>
                        <a:rPr lang="en-US" altLang="zh-CN" i="1" kern="100">
                          <a:latin typeface="Cambria Math"/>
                          <a:ea typeface="宋体"/>
                          <a:cs typeface="Times New Roman"/>
                        </a:rPr>
                        <m:t>(</m:t>
                      </m:r>
                      <m:sSub>
                        <m:sSubPr>
                          <m:ctrlPr>
                            <a:rPr lang="en-US" altLang="zh-CN" i="1" kern="100" dirty="0">
                              <a:latin typeface="Cambria Math"/>
                              <a:ea typeface="宋体"/>
                              <a:cs typeface="Times New Roman"/>
                            </a:rPr>
                          </m:ctrlPr>
                        </m:sSubPr>
                        <m:e>
                          <m:r>
                            <a:rPr lang="en-US" altLang="zh-CN" b="0" i="1" kern="100" dirty="0" smtClean="0">
                              <a:latin typeface="Cambria Math"/>
                              <a:ea typeface="宋体"/>
                              <a:cs typeface="Times New Roman"/>
                            </a:rPr>
                            <m:t>𝑘</m:t>
                          </m:r>
                          <m:r>
                            <a:rPr lang="en-US" altLang="zh-CN" b="0" i="1" kern="100" dirty="0" smtClean="0">
                              <a:latin typeface="Cambria Math"/>
                              <a:ea typeface="宋体"/>
                              <a:cs typeface="Times New Roman"/>
                            </a:rPr>
                            <m:t>.</m:t>
                          </m:r>
                          <m:r>
                            <a:rPr lang="en-US" altLang="zh-CN" i="1" kern="100" dirty="0">
                              <a:latin typeface="Cambria Math"/>
                              <a:ea typeface="宋体"/>
                              <a:cs typeface="Times New Roman"/>
                            </a:rPr>
                            <m:t>𝑥</m:t>
                          </m:r>
                        </m:e>
                        <m:sub>
                          <m:r>
                            <a:rPr lang="en-US" altLang="zh-CN" i="1" kern="100" dirty="0">
                              <a:latin typeface="Cambria Math"/>
                              <a:ea typeface="宋体"/>
                              <a:cs typeface="Times New Roman"/>
                            </a:rPr>
                            <m:t>𝑖</m:t>
                          </m:r>
                        </m:sub>
                      </m:sSub>
                      <m:r>
                        <a:rPr lang="en-US" altLang="zh-CN" i="1" kern="100" dirty="0">
                          <a:latin typeface="Cambria Math"/>
                          <a:ea typeface="宋体"/>
                          <a:cs typeface="Times New Roman"/>
                        </a:rPr>
                        <m:t>.</m:t>
                      </m:r>
                      <m:sSub>
                        <m:sSubPr>
                          <m:ctrlPr>
                            <a:rPr lang="en-US" altLang="zh-CN" i="1" kern="100" dirty="0">
                              <a:latin typeface="Cambria Math"/>
                              <a:ea typeface="宋体"/>
                              <a:cs typeface="Times New Roman"/>
                            </a:rPr>
                          </m:ctrlPr>
                        </m:sSubPr>
                        <m:e>
                          <m:r>
                            <a:rPr lang="en-US" altLang="zh-CN" i="1" kern="100" dirty="0">
                              <a:latin typeface="Cambria Math"/>
                              <a:ea typeface="宋体"/>
                              <a:cs typeface="Times New Roman"/>
                            </a:rPr>
                            <m:t>𝑥</m:t>
                          </m:r>
                        </m:e>
                        <m:sub>
                          <m:r>
                            <a:rPr lang="en-US" altLang="zh-CN" i="1" kern="100" dirty="0">
                              <a:latin typeface="Cambria Math"/>
                              <a:ea typeface="宋体"/>
                              <a:cs typeface="Times New Roman"/>
                            </a:rPr>
                            <m:t>𝑗</m:t>
                          </m:r>
                        </m:sub>
                      </m:sSub>
                      <m:r>
                        <a:rPr lang="en-US" altLang="zh-CN" i="1" kern="100" dirty="0">
                          <a:latin typeface="Cambria Math"/>
                          <a:ea typeface="宋体"/>
                          <a:cs typeface="Times New Roman"/>
                        </a:rPr>
                        <m:t>+</m:t>
                      </m:r>
                      <m:r>
                        <a:rPr lang="zh-CN" altLang="en-US" i="1" kern="100" dirty="0" smtClean="0">
                          <a:latin typeface="Cambria Math"/>
                          <a:ea typeface="宋体"/>
                          <a:cs typeface="Times New Roman"/>
                        </a:rPr>
                        <m:t>𝛿</m:t>
                      </m:r>
                      <m:r>
                        <a:rPr lang="en-US" altLang="zh-CN" b="0" i="1" kern="100" dirty="0" smtClean="0">
                          <a:latin typeface="Cambria Math"/>
                          <a:ea typeface="宋体"/>
                          <a:cs typeface="Times New Roman"/>
                        </a:rPr>
                        <m:t>)</m:t>
                      </m:r>
                    </m:oMath>
                  </m:oMathPara>
                </a14:m>
                <a:endParaRPr lang="en-US" altLang="zh-CN" kern="100" dirty="0">
                  <a:latin typeface="Calibri"/>
                  <a:ea typeface="宋体"/>
                  <a:cs typeface="Times New Roman"/>
                </a:endParaRPr>
              </a:p>
              <a:p>
                <a:pPr marL="0" indent="0">
                  <a:lnSpc>
                    <a:spcPct val="150000"/>
                  </a:lnSpc>
                  <a:spcAft>
                    <a:spcPts val="0"/>
                  </a:spcAft>
                  <a:buNone/>
                </a:pPr>
                <a:endParaRPr lang="zh-CN" altLang="zh-CN" kern="100" dirty="0">
                  <a:latin typeface="Calibri"/>
                  <a:ea typeface="宋体"/>
                  <a:cs typeface="Times New Roman"/>
                </a:endParaRP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25625" y="764703"/>
                <a:ext cx="10601349" cy="5904657"/>
              </a:xfrm>
              <a:blipFill rotWithShape="1">
                <a:blip r:embed="rId1"/>
                <a:stretch>
                  <a:fillRect l="-862" r="-345"/>
                </a:stretch>
              </a:blipFill>
            </p:spPr>
            <p:txBody>
              <a:bodyPr/>
              <a:lstStyle/>
              <a:p>
                <a:r>
                  <a:rPr lang="zh-CN" altLang="en-US">
                    <a:noFill/>
                  </a:rPr>
                  <a:t> </a:t>
                </a:r>
                <a:endParaRPr lang="zh-CN" altLang="en-US">
                  <a:noFill/>
                </a:endParaRPr>
              </a:p>
            </p:txBody>
          </p:sp>
        </mc:Fallback>
      </mc:AlternateContent>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5" name="TextBox 4"/>
          <p:cNvSpPr txBox="1"/>
          <p:nvPr/>
        </p:nvSpPr>
        <p:spPr>
          <a:xfrm>
            <a:off x="1330765" y="44625"/>
            <a:ext cx="685584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5.6.1  </a:t>
            </a:r>
            <a:r>
              <a:rPr lang="zh-CN" altLang="en-US" sz="2800" dirty="0">
                <a:solidFill>
                  <a:schemeClr val="accent2"/>
                </a:solidFill>
                <a:latin typeface="微软雅黑" panose="020B0503020204020204" pitchFamily="34" charset="-122"/>
                <a:ea typeface="微软雅黑" panose="020B0503020204020204" pitchFamily="34" charset="-122"/>
              </a:rPr>
              <a:t>支持向量机原理</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685584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5.6.2  </a:t>
            </a:r>
            <a:r>
              <a:rPr lang="zh-CN" altLang="en-US" sz="2800" dirty="0">
                <a:solidFill>
                  <a:schemeClr val="accent2"/>
                </a:solidFill>
                <a:latin typeface="微软雅黑" panose="020B0503020204020204" pitchFamily="34" charset="-122"/>
                <a:ea typeface="微软雅黑" panose="020B0503020204020204" pitchFamily="34" charset="-122"/>
              </a:rPr>
              <a:t>支持向量机应用举例</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12" name="标题 1"/>
          <p:cNvSpPr>
            <a:spLocks noGrp="1"/>
          </p:cNvSpPr>
          <p:nvPr>
            <p:ph type="title"/>
          </p:nvPr>
        </p:nvSpPr>
        <p:spPr>
          <a:xfrm>
            <a:off x="825625" y="908050"/>
            <a:ext cx="10601349" cy="1008785"/>
          </a:xfrm>
        </p:spPr>
        <p:txBody>
          <a:bodyPr/>
          <a:lstStyle/>
          <a:p>
            <a:r>
              <a:rPr lang="zh-CN" altLang="zh-CN" dirty="0"/>
              <a:t>取自</a:t>
            </a:r>
            <a:r>
              <a:rPr lang="en-US" altLang="zh-CN" dirty="0"/>
              <a:t>UCI</a:t>
            </a:r>
            <a:r>
              <a:rPr lang="zh-CN" altLang="zh-CN" dirty="0"/>
              <a:t>公共测试数据库中的汽车评价数据集作为本例的数据集，该数据集共有</a:t>
            </a:r>
            <a:r>
              <a:rPr lang="en-US" altLang="zh-CN" dirty="0"/>
              <a:t>6</a:t>
            </a:r>
            <a:r>
              <a:rPr lang="zh-CN" altLang="zh-CN" dirty="0"/>
              <a:t>个特征数据，</a:t>
            </a:r>
            <a:r>
              <a:rPr lang="en-US" altLang="zh-CN" dirty="0"/>
              <a:t>1</a:t>
            </a:r>
            <a:r>
              <a:rPr lang="zh-CN" altLang="zh-CN" dirty="0"/>
              <a:t>个分类标签，共</a:t>
            </a:r>
            <a:r>
              <a:rPr lang="en-US" altLang="zh-CN" dirty="0"/>
              <a:t>1728</a:t>
            </a:r>
            <a:r>
              <a:rPr lang="zh-CN" altLang="zh-CN" dirty="0"/>
              <a:t>条记录，部分数据如表</a:t>
            </a:r>
            <a:r>
              <a:rPr lang="en-US" altLang="zh-CN" dirty="0"/>
              <a:t>5-4</a:t>
            </a:r>
            <a:r>
              <a:rPr lang="zh-CN" altLang="zh-CN" dirty="0"/>
              <a:t>所示。</a:t>
            </a:r>
            <a:br>
              <a:rPr lang="zh-CN" altLang="zh-CN" dirty="0"/>
            </a:br>
            <a:r>
              <a:rPr lang="zh-CN" altLang="zh-CN" dirty="0"/>
              <a:t>表</a:t>
            </a:r>
            <a:r>
              <a:rPr lang="en-US" altLang="zh-CN" dirty="0"/>
              <a:t>5-4   </a:t>
            </a:r>
            <a:r>
              <a:rPr lang="zh-CN" altLang="zh-CN" dirty="0"/>
              <a:t>汽车评价数据</a:t>
            </a:r>
            <a:br>
              <a:rPr lang="zh-CN" altLang="zh-CN" dirty="0"/>
            </a:br>
            <a:endParaRPr lang="zh-CN" altLang="en-US" dirty="0"/>
          </a:p>
        </p:txBody>
      </p:sp>
      <p:graphicFrame>
        <p:nvGraphicFramePr>
          <p:cNvPr id="2" name="表格 1"/>
          <p:cNvGraphicFramePr>
            <a:graphicFrameLocks noGrp="1"/>
          </p:cNvGraphicFramePr>
          <p:nvPr/>
        </p:nvGraphicFramePr>
        <p:xfrm>
          <a:off x="1204522" y="1916836"/>
          <a:ext cx="9646385" cy="4032445"/>
        </p:xfrm>
        <a:graphic>
          <a:graphicData uri="http://schemas.openxmlformats.org/drawingml/2006/table">
            <a:tbl>
              <a:tblPr firstRow="1" firstCol="1" bandRow="1"/>
              <a:tblGrid>
                <a:gridCol w="1378055"/>
                <a:gridCol w="1378055"/>
                <a:gridCol w="1378055"/>
                <a:gridCol w="1378055"/>
                <a:gridCol w="1378055"/>
                <a:gridCol w="1378055"/>
                <a:gridCol w="1378055"/>
              </a:tblGrid>
              <a:tr h="285425">
                <a:tc>
                  <a:txBody>
                    <a:bodyPr/>
                    <a:lstStyle/>
                    <a:p>
                      <a:pPr algn="l">
                        <a:spcAft>
                          <a:spcPts val="0"/>
                        </a:spcAft>
                      </a:pPr>
                      <a:r>
                        <a:rPr lang="en-US" sz="11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a1</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a2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a3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a4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a5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a6</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d</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425">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285425">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r>
              <a:tr h="285425">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r>
              <a:tr h="285425">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r>
              <a:tr h="285425">
                <a:tc>
                  <a:txBody>
                    <a:bodyPr/>
                    <a:lstStyle/>
                    <a:p>
                      <a:pPr algn="l">
                        <a:spcAft>
                          <a:spcPts val="0"/>
                        </a:spcAft>
                      </a:pPr>
                      <a:r>
                        <a:rPr lang="en-US" sz="11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r>
              <a:tr h="321920">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r>
              <a:tr h="285425">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r>
              <a:tr h="285425">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r>
              <a:tr h="285425">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r>
              <a:tr h="285425">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r>
              <a:tr h="285425">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r>
              <a:tr h="285425">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4</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c>
                  <a:txBody>
                    <a:bodyPr/>
                    <a:lstStyle/>
                    <a:p>
                      <a:pPr algn="l">
                        <a:spcAft>
                          <a:spcPts val="0"/>
                        </a:spcAft>
                      </a:pPr>
                      <a:r>
                        <a:rPr lang="en-US" sz="11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a:noFill/>
                    </a:lnB>
                  </a:tcPr>
                </a:tc>
              </a:tr>
              <a:tr h="285425">
                <a:tc>
                  <a:txBody>
                    <a:bodyPr/>
                    <a:lstStyle/>
                    <a:p>
                      <a:pPr algn="l">
                        <a:spcAft>
                          <a:spcPts val="0"/>
                        </a:spcAft>
                      </a:pPr>
                      <a:r>
                        <a:rPr lang="zh-CN" sz="1100" kern="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100" kern="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100" kern="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100" kern="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100" kern="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100" kern="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100" kern="0" dirty="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3" name="TextBox 2"/>
          <p:cNvSpPr txBox="1"/>
          <p:nvPr/>
        </p:nvSpPr>
        <p:spPr>
          <a:xfrm>
            <a:off x="1204522" y="5949281"/>
            <a:ext cx="7774179" cy="461665"/>
          </a:xfrm>
          <a:prstGeom prst="rect">
            <a:avLst/>
          </a:prstGeom>
          <a:noFill/>
        </p:spPr>
        <p:txBody>
          <a:bodyPr wrap="square" rtlCol="0">
            <a:spAutoFit/>
          </a:bodyPr>
          <a:lstStyle/>
          <a:p>
            <a:pPr algn="just">
              <a:spcAft>
                <a:spcPts val="0"/>
              </a:spcAft>
            </a:pPr>
            <a:r>
              <a:rPr lang="zh-CN" altLang="zh-CN" kern="100" dirty="0">
                <a:latin typeface="Calibri" panose="020F0502020204030204"/>
                <a:ea typeface="宋体" panose="02010600030101010101" pitchFamily="2" charset="-122"/>
                <a:cs typeface="Times New Roman" panose="02020603050405020304"/>
              </a:rPr>
              <a:t>注：数据下载地址为：</a:t>
            </a:r>
            <a:r>
              <a:rPr lang="en-US" altLang="zh-CN" kern="100" dirty="0">
                <a:latin typeface="Calibri" panose="020F0502020204030204"/>
                <a:ea typeface="宋体" panose="02010600030101010101" pitchFamily="2" charset="-122"/>
                <a:cs typeface="Times New Roman" panose="02020603050405020304"/>
              </a:rPr>
              <a:t>http://archive.ics.uci.edu/ml/datasets/Car+Evaluation</a:t>
            </a:r>
            <a:endParaRPr lang="zh-CN" altLang="zh-CN" sz="2400" kern="100" dirty="0">
              <a:effectLst/>
              <a:latin typeface="Calibri" panose="020F0502020204030204"/>
              <a:ea typeface="宋体" panose="02010600030101010101" pitchFamily="2" charset="-122"/>
              <a:cs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5625" y="764705"/>
            <a:ext cx="10601349" cy="5361460"/>
          </a:xfrm>
        </p:spPr>
        <p:txBody>
          <a:bodyPr/>
          <a:lstStyle/>
          <a:p>
            <a:pPr marL="0" indent="0" algn="just">
              <a:spcAft>
                <a:spcPts val="0"/>
              </a:spcAft>
              <a:buNone/>
            </a:pPr>
            <a:r>
              <a:rPr lang="zh-CN" altLang="zh-CN" sz="2400" kern="100" dirty="0">
                <a:latin typeface="宋体" panose="02010600030101010101" pitchFamily="2" charset="-122"/>
                <a:ea typeface="宋体" panose="02010600030101010101" pitchFamily="2" charset="-122"/>
                <a:cs typeface="Times New Roman" panose="02020603050405020304"/>
              </a:rPr>
              <a:t>其中特征</a:t>
            </a:r>
            <a:r>
              <a:rPr lang="en-US" altLang="zh-CN" sz="2400" kern="100" dirty="0">
                <a:latin typeface="宋体" panose="02010600030101010101" pitchFamily="2" charset="-122"/>
                <a:ea typeface="宋体" panose="02010600030101010101" pitchFamily="2" charset="-122"/>
                <a:cs typeface="Times New Roman" panose="02020603050405020304"/>
              </a:rPr>
              <a:t>a1~a6</a:t>
            </a:r>
            <a:r>
              <a:rPr lang="zh-CN" altLang="zh-CN" sz="2400" kern="100" dirty="0">
                <a:latin typeface="宋体" panose="02010600030101010101" pitchFamily="2" charset="-122"/>
                <a:ea typeface="宋体" panose="02010600030101010101" pitchFamily="2" charset="-122"/>
                <a:cs typeface="Times New Roman" panose="02020603050405020304"/>
              </a:rPr>
              <a:t>的含义及取值依次为：</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buying       v-high, high, med, low</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err="1">
                <a:latin typeface="Calibri" panose="020F0502020204030204"/>
                <a:ea typeface="宋体" panose="02010600030101010101" pitchFamily="2" charset="-122"/>
                <a:cs typeface="Times New Roman" panose="02020603050405020304"/>
              </a:rPr>
              <a:t>maint</a:t>
            </a:r>
            <a:r>
              <a:rPr lang="en-US" altLang="zh-CN" kern="100" dirty="0">
                <a:latin typeface="Calibri" panose="020F0502020204030204"/>
                <a:ea typeface="宋体" panose="02010600030101010101" pitchFamily="2" charset="-122"/>
                <a:cs typeface="Times New Roman" panose="02020603050405020304"/>
              </a:rPr>
              <a:t>        v-high, high, med, low</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doors        2, 3, 4, 5-more</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persons      2, 4, more</a:t>
            </a:r>
            <a:endParaRPr lang="en-US" altLang="zh-CN" kern="100" dirty="0">
              <a:latin typeface="Calibri" panose="020F0502020204030204"/>
              <a:ea typeface="宋体" panose="02010600030101010101" pitchFamily="2" charset="-122"/>
              <a:cs typeface="Times New Roman" panose="02020603050405020304"/>
            </a:endParaRPr>
          </a:p>
          <a:p>
            <a:pPr marL="0" indent="0">
              <a:buNone/>
            </a:pPr>
            <a:r>
              <a:rPr lang="en-US" altLang="zh-CN" dirty="0" err="1"/>
              <a:t>lug_boot</a:t>
            </a:r>
            <a:r>
              <a:rPr lang="en-US" altLang="zh-CN" dirty="0"/>
              <a:t>     small, med, big</a:t>
            </a:r>
            <a:endParaRPr lang="zh-CN" altLang="zh-CN" dirty="0"/>
          </a:p>
          <a:p>
            <a:pPr marL="0" indent="0">
              <a:buNone/>
            </a:pPr>
            <a:r>
              <a:rPr lang="en-US" altLang="zh-CN" dirty="0"/>
              <a:t>safety       low, med, high</a:t>
            </a:r>
            <a:endParaRPr lang="zh-CN" altLang="zh-CN" dirty="0"/>
          </a:p>
          <a:p>
            <a:pPr marL="0" indent="0" algn="just">
              <a:spcAft>
                <a:spcPts val="0"/>
              </a:spcAft>
              <a:buNone/>
            </a:pPr>
            <a:r>
              <a:rPr lang="zh-CN" altLang="zh-CN" sz="2400" kern="100" dirty="0">
                <a:latin typeface="宋体" panose="02010600030101010101" pitchFamily="2" charset="-122"/>
                <a:ea typeface="宋体" panose="02010600030101010101" pitchFamily="2" charset="-122"/>
                <a:cs typeface="Times New Roman" panose="02020603050405020304"/>
              </a:rPr>
              <a:t>分类标签</a:t>
            </a:r>
            <a:r>
              <a:rPr lang="en-US" altLang="zh-CN" sz="2400" kern="100" dirty="0">
                <a:latin typeface="宋体" panose="02010600030101010101" pitchFamily="2" charset="-122"/>
                <a:ea typeface="宋体" panose="02010600030101010101" pitchFamily="2" charset="-122"/>
                <a:cs typeface="Times New Roman" panose="02020603050405020304"/>
              </a:rPr>
              <a:t>d</a:t>
            </a:r>
            <a:r>
              <a:rPr lang="zh-CN" altLang="zh-CN" sz="2400" kern="100" dirty="0">
                <a:latin typeface="宋体" panose="02010600030101010101" pitchFamily="2" charset="-122"/>
                <a:ea typeface="宋体" panose="02010600030101010101" pitchFamily="2" charset="-122"/>
                <a:cs typeface="Times New Roman" panose="02020603050405020304"/>
              </a:rPr>
              <a:t>的取值情况为：</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en-US" altLang="zh-CN" kern="100" dirty="0" err="1">
                <a:latin typeface="Calibri" panose="020F0502020204030204"/>
                <a:ea typeface="宋体" panose="02010600030101010101" pitchFamily="2" charset="-122"/>
                <a:cs typeface="Times New Roman" panose="02020603050405020304"/>
              </a:rPr>
              <a:t>unacc</a:t>
            </a:r>
            <a:r>
              <a:rPr lang="en-US" altLang="zh-CN" kern="100" dirty="0">
                <a:latin typeface="Calibri" panose="020F0502020204030204"/>
                <a:ea typeface="宋体" panose="02010600030101010101" pitchFamily="2" charset="-122"/>
                <a:cs typeface="Times New Roman" panose="02020603050405020304"/>
              </a:rPr>
              <a:t>           1</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err="1">
                <a:latin typeface="Calibri" panose="020F0502020204030204"/>
                <a:ea typeface="宋体" panose="02010600030101010101" pitchFamily="2" charset="-122"/>
                <a:cs typeface="Times New Roman" panose="02020603050405020304"/>
              </a:rPr>
              <a:t>acc</a:t>
            </a:r>
            <a:r>
              <a:rPr lang="en-US" altLang="zh-CN" kern="100" dirty="0">
                <a:latin typeface="Calibri" panose="020F0502020204030204"/>
                <a:ea typeface="宋体" panose="02010600030101010101" pitchFamily="2" charset="-122"/>
                <a:cs typeface="Times New Roman" panose="02020603050405020304"/>
              </a:rPr>
              <a:t>             2</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good            3</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v-good          4</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endParaRPr lang="zh-CN" altLang="zh-CN" kern="100" dirty="0">
              <a:latin typeface="Calibri" panose="020F0502020204030204"/>
              <a:ea typeface="宋体" panose="02010600030101010101" pitchFamily="2" charset="-122"/>
              <a:cs typeface="Times New Roman" panose="02020603050405020304"/>
            </a:endParaRPr>
          </a:p>
        </p:txBody>
      </p:sp>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5" name="TextBox 4"/>
          <p:cNvSpPr txBox="1"/>
          <p:nvPr/>
        </p:nvSpPr>
        <p:spPr>
          <a:xfrm>
            <a:off x="1330765" y="44625"/>
            <a:ext cx="685584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5.6.2  </a:t>
            </a:r>
            <a:r>
              <a:rPr lang="zh-CN" altLang="en-US" sz="2800" dirty="0">
                <a:solidFill>
                  <a:schemeClr val="accent2"/>
                </a:solidFill>
                <a:latin typeface="微软雅黑" panose="020B0503020204020204" pitchFamily="34" charset="-122"/>
                <a:ea typeface="微软雅黑" panose="020B0503020204020204" pitchFamily="34" charset="-122"/>
              </a:rPr>
              <a:t>支持向量机应用举例</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5625" y="908721"/>
            <a:ext cx="10601349" cy="5217444"/>
          </a:xfrm>
        </p:spPr>
        <p:txBody>
          <a:bodyPr/>
          <a:lstStyle/>
          <a:p>
            <a:pPr marL="0" indent="0" algn="just">
              <a:spcAft>
                <a:spcPts val="0"/>
              </a:spcAft>
              <a:buNone/>
            </a:pPr>
            <a:r>
              <a:rPr lang="zh-CN" altLang="zh-CN" sz="2400" kern="100" dirty="0">
                <a:latin typeface="宋体" panose="02010600030101010101" pitchFamily="2" charset="-122"/>
                <a:ea typeface="宋体" panose="02010600030101010101" pitchFamily="2" charset="-122"/>
                <a:cs typeface="Times New Roman" panose="02020603050405020304"/>
              </a:rPr>
              <a:t>取数据集的前</a:t>
            </a:r>
            <a:r>
              <a:rPr lang="en-US" altLang="zh-CN" sz="2400" kern="100" dirty="0">
                <a:latin typeface="宋体" panose="02010600030101010101" pitchFamily="2" charset="-122"/>
                <a:ea typeface="宋体" panose="02010600030101010101" pitchFamily="2" charset="-122"/>
                <a:cs typeface="Times New Roman" panose="02020603050405020304"/>
              </a:rPr>
              <a:t>1690</a:t>
            </a:r>
            <a:r>
              <a:rPr lang="zh-CN" altLang="zh-CN" sz="2400" kern="100" dirty="0">
                <a:latin typeface="宋体" panose="02010600030101010101" pitchFamily="2" charset="-122"/>
                <a:ea typeface="宋体" panose="02010600030101010101" pitchFamily="2" charset="-122"/>
                <a:cs typeface="Times New Roman" panose="02020603050405020304"/>
              </a:rPr>
              <a:t>条记录作为训练集，余下的作为测试集，计算其预测准确率。其计算流程及思路如下：</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1</a:t>
            </a:r>
            <a:r>
              <a:rPr lang="zh-CN" altLang="zh-CN" kern="100" dirty="0">
                <a:latin typeface="Calibri" panose="020F0502020204030204"/>
                <a:ea typeface="宋体" panose="02010600030101010101" pitchFamily="2" charset="-122"/>
                <a:cs typeface="Times New Roman" panose="02020603050405020304"/>
              </a:rPr>
              <a:t>．数据获取</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import pandas as </a:t>
            </a:r>
            <a:r>
              <a:rPr lang="en-US" altLang="zh-CN" kern="100" dirty="0" err="1">
                <a:latin typeface="Calibri" panose="020F0502020204030204"/>
                <a:ea typeface="宋体" panose="02010600030101010101" pitchFamily="2" charset="-122"/>
                <a:cs typeface="Times New Roman" panose="02020603050405020304"/>
              </a:rPr>
              <a:t>pd</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data = </a:t>
            </a:r>
            <a:r>
              <a:rPr lang="en-US" altLang="zh-CN" kern="100" dirty="0" err="1">
                <a:latin typeface="Calibri" panose="020F0502020204030204"/>
                <a:ea typeface="宋体" panose="02010600030101010101" pitchFamily="2" charset="-122"/>
                <a:cs typeface="Times New Roman" panose="02020603050405020304"/>
              </a:rPr>
              <a:t>pd.read_excel</a:t>
            </a:r>
            <a:r>
              <a:rPr lang="en-US" altLang="zh-CN" kern="100" dirty="0">
                <a:latin typeface="Calibri" panose="020F0502020204030204"/>
                <a:ea typeface="宋体" panose="02010600030101010101" pitchFamily="2" charset="-122"/>
                <a:cs typeface="Times New Roman" panose="02020603050405020304"/>
              </a:rPr>
              <a:t>('car.xlsx')</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sz="2400" kern="100" dirty="0">
                <a:latin typeface="宋体" panose="02010600030101010101" pitchFamily="2" charset="-122"/>
                <a:ea typeface="宋体" panose="02010600030101010101" pitchFamily="2" charset="-122"/>
                <a:cs typeface="Times New Roman" panose="02020603050405020304"/>
              </a:rPr>
              <a:t>2</a:t>
            </a:r>
            <a:r>
              <a:rPr lang="zh-CN" altLang="zh-CN" sz="2400" kern="100" dirty="0">
                <a:latin typeface="宋体" panose="02010600030101010101" pitchFamily="2" charset="-122"/>
                <a:ea typeface="宋体" panose="02010600030101010101" pitchFamily="2" charset="-122"/>
                <a:cs typeface="Times New Roman" panose="02020603050405020304"/>
              </a:rPr>
              <a:t>．训练样本与测试样本划分。其中训练用的特征数据用</a:t>
            </a:r>
            <a:r>
              <a:rPr lang="en-US" altLang="zh-CN" sz="2400" kern="100" dirty="0">
                <a:latin typeface="宋体" panose="02010600030101010101" pitchFamily="2" charset="-122"/>
                <a:ea typeface="宋体" panose="02010600030101010101" pitchFamily="2" charset="-122"/>
                <a:cs typeface="Times New Roman" panose="02020603050405020304"/>
              </a:rPr>
              <a:t>x</a:t>
            </a:r>
            <a:r>
              <a:rPr lang="zh-CN" altLang="zh-CN" sz="2400" kern="100" dirty="0">
                <a:latin typeface="宋体" panose="02010600030101010101" pitchFamily="2" charset="-122"/>
                <a:ea typeface="宋体" panose="02010600030101010101" pitchFamily="2" charset="-122"/>
                <a:cs typeface="Times New Roman" panose="02020603050405020304"/>
              </a:rPr>
              <a:t>表示，预测变量用</a:t>
            </a:r>
            <a:r>
              <a:rPr lang="en-US" altLang="zh-CN" sz="2400" kern="100" dirty="0">
                <a:latin typeface="宋体" panose="02010600030101010101" pitchFamily="2" charset="-122"/>
                <a:ea typeface="宋体" panose="02010600030101010101" pitchFamily="2" charset="-122"/>
                <a:cs typeface="Times New Roman" panose="02020603050405020304"/>
              </a:rPr>
              <a:t>y</a:t>
            </a:r>
            <a:r>
              <a:rPr lang="zh-CN" altLang="zh-CN" sz="2400" kern="100" dirty="0">
                <a:latin typeface="宋体" panose="02010600030101010101" pitchFamily="2" charset="-122"/>
                <a:ea typeface="宋体" panose="02010600030101010101" pitchFamily="2" charset="-122"/>
                <a:cs typeface="Times New Roman" panose="02020603050405020304"/>
              </a:rPr>
              <a:t>表示；测试样本则分别记为</a:t>
            </a:r>
            <a:r>
              <a:rPr lang="en-US" altLang="zh-CN" sz="2400" kern="100" dirty="0">
                <a:latin typeface="宋体" panose="02010600030101010101" pitchFamily="2" charset="-122"/>
                <a:ea typeface="宋体" panose="02010600030101010101" pitchFamily="2" charset="-122"/>
                <a:cs typeface="Times New Roman" panose="02020603050405020304"/>
              </a:rPr>
              <a:t>x1</a:t>
            </a:r>
            <a:r>
              <a:rPr lang="zh-CN" altLang="zh-CN" sz="2400" kern="100" dirty="0">
                <a:latin typeface="宋体" panose="02010600030101010101" pitchFamily="2" charset="-122"/>
                <a:ea typeface="宋体" panose="02010600030101010101" pitchFamily="2" charset="-122"/>
                <a:cs typeface="Times New Roman" panose="02020603050405020304"/>
              </a:rPr>
              <a:t>和</a:t>
            </a:r>
            <a:r>
              <a:rPr lang="en-US" altLang="zh-CN" sz="2400" kern="100" dirty="0">
                <a:latin typeface="宋体" panose="02010600030101010101" pitchFamily="2" charset="-122"/>
                <a:ea typeface="宋体" panose="02010600030101010101" pitchFamily="2" charset="-122"/>
                <a:cs typeface="Times New Roman" panose="02020603050405020304"/>
              </a:rPr>
              <a:t>y1</a:t>
            </a:r>
            <a:r>
              <a:rPr lang="zh-CN" altLang="zh-CN" sz="2400" kern="100" dirty="0">
                <a:latin typeface="宋体" panose="02010600030101010101" pitchFamily="2" charset="-122"/>
                <a:ea typeface="宋体" panose="02010600030101010101" pitchFamily="2" charset="-122"/>
                <a:cs typeface="Times New Roman" panose="02020603050405020304"/>
              </a:rPr>
              <a:t>。</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x = </a:t>
            </a:r>
            <a:r>
              <a:rPr lang="en-US" altLang="zh-CN" kern="100" dirty="0" err="1">
                <a:latin typeface="Calibri" panose="020F0502020204030204"/>
                <a:ea typeface="宋体" panose="02010600030101010101" pitchFamily="2" charset="-122"/>
                <a:cs typeface="Times New Roman" panose="02020603050405020304"/>
              </a:rPr>
              <a:t>data.iloc</a:t>
            </a:r>
            <a:r>
              <a:rPr lang="en-US" altLang="zh-CN" kern="100" dirty="0">
                <a:latin typeface="Calibri" panose="020F0502020204030204"/>
                <a:ea typeface="宋体" panose="02010600030101010101" pitchFamily="2" charset="-122"/>
                <a:cs typeface="Times New Roman" panose="02020603050405020304"/>
              </a:rPr>
              <a:t>[:1690,:6].</a:t>
            </a:r>
            <a:r>
              <a:rPr lang="en-US" altLang="zh-CN" kern="100" dirty="0" err="1">
                <a:latin typeface="Calibri" panose="020F0502020204030204"/>
                <a:ea typeface="宋体" panose="02010600030101010101" pitchFamily="2" charset="-122"/>
                <a:cs typeface="Times New Roman" panose="02020603050405020304"/>
              </a:rPr>
              <a:t>as_matrix</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y = </a:t>
            </a:r>
            <a:r>
              <a:rPr lang="en-US" altLang="zh-CN" kern="100" dirty="0" err="1">
                <a:latin typeface="Calibri" panose="020F0502020204030204"/>
                <a:ea typeface="宋体" panose="02010600030101010101" pitchFamily="2" charset="-122"/>
                <a:cs typeface="Times New Roman" panose="02020603050405020304"/>
              </a:rPr>
              <a:t>data.iloc</a:t>
            </a:r>
            <a:r>
              <a:rPr lang="en-US" altLang="zh-CN" kern="100" dirty="0">
                <a:latin typeface="Calibri" panose="020F0502020204030204"/>
                <a:ea typeface="宋体" panose="02010600030101010101" pitchFamily="2" charset="-122"/>
                <a:cs typeface="Times New Roman" panose="02020603050405020304"/>
              </a:rPr>
              <a:t>[:1690,6].</a:t>
            </a:r>
            <a:r>
              <a:rPr lang="en-US" altLang="zh-CN" kern="100" dirty="0" err="1">
                <a:latin typeface="Calibri" panose="020F0502020204030204"/>
                <a:ea typeface="宋体" panose="02010600030101010101" pitchFamily="2" charset="-122"/>
                <a:cs typeface="Times New Roman" panose="02020603050405020304"/>
              </a:rPr>
              <a:t>as_matrix</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x1= </a:t>
            </a:r>
            <a:r>
              <a:rPr lang="en-US" altLang="zh-CN" kern="100" dirty="0" err="1">
                <a:latin typeface="Calibri" panose="020F0502020204030204"/>
                <a:ea typeface="宋体" panose="02010600030101010101" pitchFamily="2" charset="-122"/>
                <a:cs typeface="Times New Roman" panose="02020603050405020304"/>
              </a:rPr>
              <a:t>data.iloc</a:t>
            </a:r>
            <a:r>
              <a:rPr lang="en-US" altLang="zh-CN" kern="100" dirty="0">
                <a:latin typeface="Calibri" panose="020F0502020204030204"/>
                <a:ea typeface="宋体" panose="02010600030101010101" pitchFamily="2" charset="-122"/>
                <a:cs typeface="Times New Roman" panose="02020603050405020304"/>
              </a:rPr>
              <a:t>[1691:,:6].</a:t>
            </a:r>
            <a:r>
              <a:rPr lang="en-US" altLang="zh-CN" kern="100" dirty="0" err="1">
                <a:latin typeface="Calibri" panose="020F0502020204030204"/>
                <a:ea typeface="宋体" panose="02010600030101010101" pitchFamily="2" charset="-122"/>
                <a:cs typeface="Times New Roman" panose="02020603050405020304"/>
              </a:rPr>
              <a:t>as_matrix</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y1= </a:t>
            </a:r>
            <a:r>
              <a:rPr lang="en-US" altLang="zh-CN" kern="100" dirty="0" err="1">
                <a:latin typeface="Calibri" panose="020F0502020204030204"/>
                <a:ea typeface="宋体" panose="02010600030101010101" pitchFamily="2" charset="-122"/>
                <a:cs typeface="Times New Roman" panose="02020603050405020304"/>
              </a:rPr>
              <a:t>data.iloc</a:t>
            </a:r>
            <a:r>
              <a:rPr lang="en-US" altLang="zh-CN" kern="100" dirty="0">
                <a:latin typeface="Calibri" panose="020F0502020204030204"/>
                <a:ea typeface="宋体" panose="02010600030101010101" pitchFamily="2" charset="-122"/>
                <a:cs typeface="Times New Roman" panose="02020603050405020304"/>
              </a:rPr>
              <a:t>[1691:,6].</a:t>
            </a:r>
            <a:r>
              <a:rPr lang="en-US" altLang="zh-CN" kern="100" dirty="0" err="1">
                <a:latin typeface="Calibri" panose="020F0502020204030204"/>
                <a:ea typeface="宋体" panose="02010600030101010101" pitchFamily="2" charset="-122"/>
                <a:cs typeface="Times New Roman" panose="02020603050405020304"/>
              </a:rPr>
              <a:t>as_matrix</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endParaRPr lang="zh-CN" altLang="en-US" dirty="0"/>
          </a:p>
        </p:txBody>
      </p:sp>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5" name="TextBox 4"/>
          <p:cNvSpPr txBox="1"/>
          <p:nvPr/>
        </p:nvSpPr>
        <p:spPr>
          <a:xfrm>
            <a:off x="1330765" y="44625"/>
            <a:ext cx="685584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5.6.2  </a:t>
            </a:r>
            <a:r>
              <a:rPr lang="zh-CN" altLang="en-US" sz="2800" dirty="0">
                <a:solidFill>
                  <a:schemeClr val="accent2"/>
                </a:solidFill>
                <a:latin typeface="微软雅黑" panose="020B0503020204020204" pitchFamily="34" charset="-122"/>
                <a:ea typeface="微软雅黑" panose="020B0503020204020204" pitchFamily="34" charset="-122"/>
              </a:rPr>
              <a:t>支持向量机应用举例</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anose="02010600030101010101" pitchFamily="2" charset="-122"/>
                <a:ea typeface="宋体" panose="02010600030101010101" pitchFamily="2" charset="-122"/>
              </a:rPr>
              <a:t>3</a:t>
            </a:r>
            <a:r>
              <a:rPr lang="zh-CN" altLang="zh-CN" dirty="0">
                <a:latin typeface="宋体" panose="02010600030101010101" pitchFamily="2" charset="-122"/>
                <a:ea typeface="宋体" panose="02010600030101010101" pitchFamily="2" charset="-122"/>
              </a:rPr>
              <a:t>．支持向量机分类模型构建</a:t>
            </a:r>
            <a:br>
              <a:rPr lang="zh-CN" altLang="zh-CN" dirty="0"/>
            </a:br>
            <a:endParaRPr lang="zh-CN" altLang="en-US" dirty="0"/>
          </a:p>
        </p:txBody>
      </p:sp>
      <p:sp>
        <p:nvSpPr>
          <p:cNvPr id="3" name="内容占位符 2"/>
          <p:cNvSpPr>
            <a:spLocks noGrp="1"/>
          </p:cNvSpPr>
          <p:nvPr>
            <p:ph idx="1"/>
          </p:nvPr>
        </p:nvSpPr>
        <p:spPr>
          <a:xfrm>
            <a:off x="825625" y="1268760"/>
            <a:ext cx="10601349" cy="5112567"/>
          </a:xfrm>
        </p:spPr>
        <p:txBody>
          <a:bodyPr/>
          <a:lstStyle/>
          <a:p>
            <a:pPr marL="0" indent="0" algn="just">
              <a:spcAft>
                <a:spcPts val="0"/>
              </a:spcAft>
              <a:buNone/>
            </a:pPr>
            <a:r>
              <a:rPr lang="zh-CN" altLang="zh-CN" sz="2400" kern="100" dirty="0">
                <a:latin typeface="宋体" panose="02010600030101010101" pitchFamily="2" charset="-122"/>
                <a:ea typeface="宋体" panose="02010600030101010101" pitchFamily="2" charset="-122"/>
                <a:cs typeface="Times New Roman" panose="02020603050405020304"/>
              </a:rPr>
              <a:t>（</a:t>
            </a:r>
            <a:r>
              <a:rPr lang="en-US" altLang="zh-CN" sz="2400" kern="100" dirty="0">
                <a:latin typeface="宋体" panose="02010600030101010101" pitchFamily="2" charset="-122"/>
                <a:ea typeface="宋体" panose="02010600030101010101" pitchFamily="2" charset="-122"/>
                <a:cs typeface="Times New Roman" panose="02020603050405020304"/>
              </a:rPr>
              <a:t>1</a:t>
            </a:r>
            <a:r>
              <a:rPr lang="zh-CN" altLang="zh-CN" sz="2400" kern="100" dirty="0">
                <a:latin typeface="宋体" panose="02010600030101010101" pitchFamily="2" charset="-122"/>
                <a:ea typeface="宋体" panose="02010600030101010101" pitchFamily="2" charset="-122"/>
                <a:cs typeface="Times New Roman" panose="02020603050405020304"/>
              </a:rPr>
              <a:t>）导入支持向量机模块</a:t>
            </a:r>
            <a:r>
              <a:rPr lang="en-US" altLang="zh-CN" sz="2400" kern="100" dirty="0" err="1">
                <a:latin typeface="宋体" panose="02010600030101010101" pitchFamily="2" charset="-122"/>
                <a:ea typeface="宋体" panose="02010600030101010101" pitchFamily="2" charset="-122"/>
                <a:cs typeface="Times New Roman" panose="02020603050405020304"/>
              </a:rPr>
              <a:t>svm</a:t>
            </a:r>
            <a:r>
              <a:rPr lang="zh-CN" altLang="zh-CN" sz="2400" kern="100" dirty="0">
                <a:latin typeface="宋体" panose="02010600030101010101" pitchFamily="2" charset="-122"/>
                <a:ea typeface="宋体" panose="02010600030101010101" pitchFamily="2" charset="-122"/>
                <a:cs typeface="Times New Roman" panose="02020603050405020304"/>
              </a:rPr>
              <a:t>。</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from </a:t>
            </a:r>
            <a:r>
              <a:rPr lang="en-US" altLang="zh-CN" kern="100" dirty="0" err="1">
                <a:latin typeface="Calibri" panose="020F0502020204030204"/>
                <a:ea typeface="宋体" panose="02010600030101010101" pitchFamily="2" charset="-122"/>
                <a:cs typeface="Times New Roman" panose="02020603050405020304"/>
              </a:rPr>
              <a:t>sklearn</a:t>
            </a:r>
            <a:r>
              <a:rPr lang="en-US" altLang="zh-CN" kern="100" dirty="0">
                <a:latin typeface="Calibri" panose="020F0502020204030204"/>
                <a:ea typeface="宋体" panose="02010600030101010101" pitchFamily="2" charset="-122"/>
                <a:cs typeface="Times New Roman" panose="02020603050405020304"/>
              </a:rPr>
              <a:t> import </a:t>
            </a:r>
            <a:r>
              <a:rPr lang="en-US" altLang="zh-CN" kern="100" dirty="0" err="1">
                <a:latin typeface="Calibri" panose="020F0502020204030204"/>
                <a:ea typeface="宋体" panose="02010600030101010101" pitchFamily="2" charset="-122"/>
                <a:cs typeface="Times New Roman" panose="02020603050405020304"/>
              </a:rPr>
              <a:t>svm</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zh-CN" altLang="zh-CN" sz="2400" kern="100" dirty="0">
                <a:latin typeface="宋体" panose="02010600030101010101" pitchFamily="2" charset="-122"/>
                <a:ea typeface="宋体" panose="02010600030101010101" pitchFamily="2" charset="-122"/>
                <a:cs typeface="Times New Roman" panose="02020603050405020304"/>
              </a:rPr>
              <a:t>（</a:t>
            </a:r>
            <a:r>
              <a:rPr lang="en-US" altLang="zh-CN" sz="2400" kern="100" dirty="0">
                <a:latin typeface="宋体" panose="02010600030101010101" pitchFamily="2" charset="-122"/>
                <a:ea typeface="宋体" panose="02010600030101010101" pitchFamily="2" charset="-122"/>
                <a:cs typeface="Times New Roman" panose="02020603050405020304"/>
              </a:rPr>
              <a:t>2</a:t>
            </a:r>
            <a:r>
              <a:rPr lang="zh-CN" altLang="zh-CN" sz="2400" kern="100" dirty="0">
                <a:latin typeface="宋体" panose="02010600030101010101" pitchFamily="2" charset="-122"/>
                <a:ea typeface="宋体" panose="02010600030101010101" pitchFamily="2" charset="-122"/>
                <a:cs typeface="Times New Roman" panose="02020603050405020304"/>
              </a:rPr>
              <a:t>）利用</a:t>
            </a:r>
            <a:r>
              <a:rPr lang="en-US" altLang="zh-CN" sz="2400" kern="100" dirty="0" err="1">
                <a:latin typeface="宋体" panose="02010600030101010101" pitchFamily="2" charset="-122"/>
                <a:ea typeface="宋体" panose="02010600030101010101" pitchFamily="2" charset="-122"/>
                <a:cs typeface="Times New Roman" panose="02020603050405020304"/>
              </a:rPr>
              <a:t>svm</a:t>
            </a:r>
            <a:r>
              <a:rPr lang="zh-CN" altLang="zh-CN" sz="2400" kern="100" dirty="0">
                <a:latin typeface="宋体" panose="02010600030101010101" pitchFamily="2" charset="-122"/>
                <a:ea typeface="宋体" panose="02010600030101010101" pitchFamily="2" charset="-122"/>
                <a:cs typeface="Times New Roman" panose="02020603050405020304"/>
              </a:rPr>
              <a:t>创建支持向量机类</a:t>
            </a:r>
            <a:r>
              <a:rPr lang="en-US" altLang="zh-CN" sz="2400" kern="100" dirty="0" err="1">
                <a:latin typeface="宋体" panose="02010600030101010101" pitchFamily="2" charset="-122"/>
                <a:ea typeface="宋体" panose="02010600030101010101" pitchFamily="2" charset="-122"/>
                <a:cs typeface="Times New Roman" panose="02020603050405020304"/>
              </a:rPr>
              <a:t>svm</a:t>
            </a:r>
            <a:r>
              <a:rPr lang="zh-CN" altLang="zh-CN" sz="2400" kern="100" dirty="0">
                <a:latin typeface="宋体" panose="02010600030101010101" pitchFamily="2" charset="-122"/>
                <a:ea typeface="宋体" panose="02010600030101010101" pitchFamily="2" charset="-122"/>
                <a:cs typeface="Times New Roman" panose="02020603050405020304"/>
              </a:rPr>
              <a:t>。</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en-US" altLang="zh-CN" kern="100" dirty="0" err="1">
                <a:latin typeface="Calibri" panose="020F0502020204030204"/>
                <a:ea typeface="宋体" panose="02010600030101010101" pitchFamily="2" charset="-122"/>
                <a:cs typeface="Times New Roman" panose="02020603050405020304"/>
              </a:rPr>
              <a:t>clf</a:t>
            </a:r>
            <a:r>
              <a:rPr lang="en-US" altLang="zh-CN" kern="100" dirty="0">
                <a:latin typeface="Calibri" panose="020F0502020204030204"/>
                <a:ea typeface="宋体" panose="02010600030101010101" pitchFamily="2" charset="-122"/>
                <a:cs typeface="Times New Roman" panose="02020603050405020304"/>
              </a:rPr>
              <a:t> = </a:t>
            </a:r>
            <a:r>
              <a:rPr lang="en-US" altLang="zh-CN" kern="100" dirty="0" err="1">
                <a:latin typeface="Calibri" panose="020F0502020204030204"/>
                <a:ea typeface="宋体" panose="02010600030101010101" pitchFamily="2" charset="-122"/>
                <a:cs typeface="Times New Roman" panose="02020603050405020304"/>
              </a:rPr>
              <a:t>svm.SVC</a:t>
            </a:r>
            <a:r>
              <a:rPr lang="en-US" altLang="zh-CN" kern="100" dirty="0">
                <a:latin typeface="Calibri" panose="020F0502020204030204"/>
                <a:ea typeface="宋体" panose="02010600030101010101" pitchFamily="2" charset="-122"/>
                <a:cs typeface="Times New Roman" panose="02020603050405020304"/>
              </a:rPr>
              <a:t>(kernel='</a:t>
            </a:r>
            <a:r>
              <a:rPr lang="en-US" altLang="zh-CN" kern="100" dirty="0" err="1">
                <a:latin typeface="Calibri" panose="020F0502020204030204"/>
                <a:ea typeface="宋体" panose="02010600030101010101" pitchFamily="2" charset="-122"/>
                <a:cs typeface="Times New Roman" panose="02020603050405020304"/>
              </a:rPr>
              <a:t>rbf</a:t>
            </a:r>
            <a:r>
              <a:rPr lang="en-US" altLang="zh-CN" kern="100" dirty="0">
                <a:latin typeface="Calibri" panose="020F0502020204030204"/>
                <a:ea typeface="宋体" panose="02010600030101010101" pitchFamily="2" charset="-122"/>
                <a:cs typeface="Times New Roman" panose="02020603050405020304"/>
              </a:rPr>
              <a:t>') </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zh-CN" altLang="zh-CN" sz="2400" kern="100" dirty="0">
                <a:latin typeface="宋体" panose="02010600030101010101" pitchFamily="2" charset="-122"/>
                <a:ea typeface="宋体" panose="02010600030101010101" pitchFamily="2" charset="-122"/>
                <a:cs typeface="Times New Roman" panose="02020603050405020304"/>
              </a:rPr>
              <a:t>其中核函数可以选择线性核、多项式核、高斯核、</a:t>
            </a:r>
            <a:r>
              <a:rPr lang="en-US" altLang="zh-CN" sz="2400" kern="100" dirty="0">
                <a:latin typeface="宋体" panose="02010600030101010101" pitchFamily="2" charset="-122"/>
                <a:ea typeface="宋体" panose="02010600030101010101" pitchFamily="2" charset="-122"/>
                <a:cs typeface="Times New Roman" panose="02020603050405020304"/>
              </a:rPr>
              <a:t>sig</a:t>
            </a:r>
            <a:r>
              <a:rPr lang="zh-CN" altLang="zh-CN" sz="2400" kern="100" dirty="0">
                <a:latin typeface="宋体" panose="02010600030101010101" pitchFamily="2" charset="-122"/>
                <a:ea typeface="宋体" panose="02010600030101010101" pitchFamily="2" charset="-122"/>
                <a:cs typeface="Times New Roman" panose="02020603050405020304"/>
              </a:rPr>
              <a:t>核，分别用</a:t>
            </a:r>
            <a:r>
              <a:rPr lang="en-US" altLang="zh-CN" sz="2400" kern="100" dirty="0">
                <a:latin typeface="宋体" panose="02010600030101010101" pitchFamily="2" charset="-122"/>
                <a:ea typeface="宋体" panose="02010600030101010101" pitchFamily="2" charset="-122"/>
                <a:cs typeface="Times New Roman" panose="02020603050405020304"/>
              </a:rPr>
              <a:t>linear, poly, </a:t>
            </a:r>
            <a:r>
              <a:rPr lang="en-US" altLang="zh-CN" sz="2400" kern="100" dirty="0" err="1">
                <a:latin typeface="宋体" panose="02010600030101010101" pitchFamily="2" charset="-122"/>
                <a:ea typeface="宋体" panose="02010600030101010101" pitchFamily="2" charset="-122"/>
                <a:cs typeface="Times New Roman" panose="02020603050405020304"/>
              </a:rPr>
              <a:t>rbf</a:t>
            </a:r>
            <a:r>
              <a:rPr lang="en-US" altLang="zh-CN" sz="2400" kern="100" dirty="0">
                <a:latin typeface="宋体" panose="02010600030101010101" pitchFamily="2" charset="-122"/>
                <a:ea typeface="宋体" panose="02010600030101010101" pitchFamily="2" charset="-122"/>
                <a:cs typeface="Times New Roman" panose="02020603050405020304"/>
              </a:rPr>
              <a:t>, sigmoid</a:t>
            </a:r>
            <a:r>
              <a:rPr lang="zh-CN" altLang="zh-CN" sz="2400" kern="100" dirty="0">
                <a:latin typeface="宋体" panose="02010600030101010101" pitchFamily="2" charset="-122"/>
                <a:ea typeface="宋体" panose="02010600030101010101" pitchFamily="2" charset="-122"/>
                <a:cs typeface="Times New Roman" panose="02020603050405020304"/>
              </a:rPr>
              <a:t>表示，默认情况下选择高斯核。</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zh-CN" altLang="zh-CN" sz="2400" kern="100" dirty="0">
                <a:latin typeface="宋体" panose="02010600030101010101" pitchFamily="2" charset="-122"/>
                <a:ea typeface="宋体" panose="02010600030101010101" pitchFamily="2" charset="-122"/>
                <a:cs typeface="Times New Roman" panose="02020603050405020304"/>
              </a:rPr>
              <a:t>（</a:t>
            </a:r>
            <a:r>
              <a:rPr lang="en-US" altLang="zh-CN" sz="2400" kern="100" dirty="0">
                <a:latin typeface="宋体" panose="02010600030101010101" pitchFamily="2" charset="-122"/>
                <a:ea typeface="宋体" panose="02010600030101010101" pitchFamily="2" charset="-122"/>
                <a:cs typeface="Times New Roman" panose="02020603050405020304"/>
              </a:rPr>
              <a:t>3</a:t>
            </a:r>
            <a:r>
              <a:rPr lang="zh-CN" altLang="zh-CN" sz="2400" kern="100" dirty="0">
                <a:latin typeface="宋体" panose="02010600030101010101" pitchFamily="2" charset="-122"/>
                <a:ea typeface="宋体" panose="02010600030101010101" pitchFamily="2" charset="-122"/>
                <a:cs typeface="Times New Roman" panose="02020603050405020304"/>
              </a:rPr>
              <a:t>）调用</a:t>
            </a:r>
            <a:r>
              <a:rPr lang="en-US" altLang="zh-CN" sz="2400" kern="100" dirty="0" err="1">
                <a:latin typeface="宋体" panose="02010600030101010101" pitchFamily="2" charset="-122"/>
                <a:ea typeface="宋体" panose="02010600030101010101" pitchFamily="2" charset="-122"/>
                <a:cs typeface="Times New Roman" panose="02020603050405020304"/>
              </a:rPr>
              <a:t>svm</a:t>
            </a:r>
            <a:r>
              <a:rPr lang="zh-CN" altLang="zh-CN" sz="2400" kern="100" dirty="0">
                <a:latin typeface="宋体" panose="02010600030101010101" pitchFamily="2" charset="-122"/>
                <a:ea typeface="宋体" panose="02010600030101010101" pitchFamily="2" charset="-122"/>
                <a:cs typeface="Times New Roman" panose="02020603050405020304"/>
              </a:rPr>
              <a:t>中的</a:t>
            </a:r>
            <a:r>
              <a:rPr lang="en-US" altLang="zh-CN" sz="2400" kern="100" dirty="0">
                <a:latin typeface="宋体" panose="02010600030101010101" pitchFamily="2" charset="-122"/>
                <a:ea typeface="宋体" panose="02010600030101010101" pitchFamily="2" charset="-122"/>
                <a:cs typeface="Times New Roman" panose="02020603050405020304"/>
              </a:rPr>
              <a:t>fit()</a:t>
            </a:r>
            <a:r>
              <a:rPr lang="zh-CN" altLang="zh-CN" sz="2400" kern="100" dirty="0">
                <a:latin typeface="宋体" panose="02010600030101010101" pitchFamily="2" charset="-122"/>
                <a:ea typeface="宋体" panose="02010600030101010101" pitchFamily="2" charset="-122"/>
                <a:cs typeface="Times New Roman" panose="02020603050405020304"/>
              </a:rPr>
              <a:t>方法进行训练。</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en-US" altLang="zh-CN" kern="100" dirty="0" err="1">
                <a:latin typeface="Calibri" panose="020F0502020204030204"/>
                <a:ea typeface="宋体" panose="02010600030101010101" pitchFamily="2" charset="-122"/>
                <a:cs typeface="Times New Roman" panose="02020603050405020304"/>
              </a:rPr>
              <a:t>clf.fit</a:t>
            </a:r>
            <a:r>
              <a:rPr lang="en-US" altLang="zh-CN" kern="100" dirty="0">
                <a:latin typeface="Calibri" panose="020F0502020204030204"/>
                <a:ea typeface="宋体" panose="02010600030101010101" pitchFamily="2" charset="-122"/>
                <a:cs typeface="Times New Roman" panose="02020603050405020304"/>
              </a:rPr>
              <a:t>(x, y)</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zh-CN" altLang="zh-CN" sz="2400" kern="100" dirty="0">
                <a:latin typeface="宋体" panose="02010600030101010101" pitchFamily="2" charset="-122"/>
                <a:ea typeface="宋体" panose="02010600030101010101" pitchFamily="2" charset="-122"/>
                <a:cs typeface="Times New Roman" panose="02020603050405020304"/>
              </a:rPr>
              <a:t>（</a:t>
            </a:r>
            <a:r>
              <a:rPr lang="en-US" altLang="zh-CN" sz="2400" kern="100" dirty="0">
                <a:latin typeface="宋体" panose="02010600030101010101" pitchFamily="2" charset="-122"/>
                <a:ea typeface="宋体" panose="02010600030101010101" pitchFamily="2" charset="-122"/>
                <a:cs typeface="Times New Roman" panose="02020603050405020304"/>
              </a:rPr>
              <a:t>4</a:t>
            </a:r>
            <a:r>
              <a:rPr lang="zh-CN" altLang="zh-CN" sz="2400" kern="100" dirty="0">
                <a:latin typeface="宋体" panose="02010600030101010101" pitchFamily="2" charset="-122"/>
                <a:ea typeface="宋体" panose="02010600030101010101" pitchFamily="2" charset="-122"/>
                <a:cs typeface="Times New Roman" panose="02020603050405020304"/>
              </a:rPr>
              <a:t>）调用</a:t>
            </a:r>
            <a:r>
              <a:rPr lang="en-US" altLang="zh-CN" sz="2400" kern="100" dirty="0" err="1">
                <a:latin typeface="宋体" panose="02010600030101010101" pitchFamily="2" charset="-122"/>
                <a:ea typeface="宋体" panose="02010600030101010101" pitchFamily="2" charset="-122"/>
                <a:cs typeface="Times New Roman" panose="02020603050405020304"/>
              </a:rPr>
              <a:t>svm</a:t>
            </a:r>
            <a:r>
              <a:rPr lang="zh-CN" altLang="zh-CN" sz="2400" kern="100" dirty="0">
                <a:latin typeface="宋体" panose="02010600030101010101" pitchFamily="2" charset="-122"/>
                <a:ea typeface="宋体" panose="02010600030101010101" pitchFamily="2" charset="-122"/>
                <a:cs typeface="Times New Roman" panose="02020603050405020304"/>
              </a:rPr>
              <a:t>中的</a:t>
            </a:r>
            <a:r>
              <a:rPr lang="en-US" altLang="zh-CN" sz="2400" kern="100" dirty="0">
                <a:latin typeface="宋体" panose="02010600030101010101" pitchFamily="2" charset="-122"/>
                <a:ea typeface="宋体" panose="02010600030101010101" pitchFamily="2" charset="-122"/>
                <a:cs typeface="Times New Roman" panose="02020603050405020304"/>
              </a:rPr>
              <a:t>score()</a:t>
            </a:r>
            <a:r>
              <a:rPr lang="zh-CN" altLang="zh-CN" sz="2400" kern="100" dirty="0">
                <a:latin typeface="宋体" panose="02010600030101010101" pitchFamily="2" charset="-122"/>
                <a:ea typeface="宋体" panose="02010600030101010101" pitchFamily="2" charset="-122"/>
                <a:cs typeface="Times New Roman" panose="02020603050405020304"/>
              </a:rPr>
              <a:t>方法，考查其训练效果。</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en-US" altLang="zh-CN" kern="100" dirty="0" err="1">
                <a:latin typeface="Calibri" panose="020F0502020204030204"/>
                <a:ea typeface="宋体" panose="02010600030101010101" pitchFamily="2" charset="-122"/>
                <a:cs typeface="Times New Roman" panose="02020603050405020304"/>
              </a:rPr>
              <a:t>rv</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clf.score</a:t>
            </a:r>
            <a:r>
              <a:rPr lang="en-US" altLang="zh-CN" kern="100" dirty="0">
                <a:latin typeface="Calibri" panose="020F0502020204030204"/>
                <a:ea typeface="宋体" panose="02010600030101010101" pitchFamily="2" charset="-122"/>
                <a:cs typeface="Times New Roman" panose="02020603050405020304"/>
              </a:rPr>
              <a:t>(x, y); # </a:t>
            </a:r>
            <a:r>
              <a:rPr lang="zh-CN" altLang="zh-CN" kern="100" dirty="0">
                <a:latin typeface="Calibri" panose="020F0502020204030204"/>
                <a:ea typeface="宋体" panose="02010600030101010101" pitchFamily="2" charset="-122"/>
                <a:cs typeface="Times New Roman" panose="02020603050405020304"/>
              </a:rPr>
              <a:t>模型准确率（针对训练数据）</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zh-CN" altLang="zh-CN" sz="2400" kern="100" dirty="0">
                <a:latin typeface="宋体" panose="02010600030101010101" pitchFamily="2" charset="-122"/>
                <a:ea typeface="宋体" panose="02010600030101010101" pitchFamily="2" charset="-122"/>
                <a:cs typeface="Times New Roman" panose="02020603050405020304"/>
              </a:rPr>
              <a:t>（</a:t>
            </a:r>
            <a:r>
              <a:rPr lang="en-US" altLang="zh-CN" sz="2400" kern="100" dirty="0">
                <a:latin typeface="宋体" panose="02010600030101010101" pitchFamily="2" charset="-122"/>
                <a:ea typeface="宋体" panose="02010600030101010101" pitchFamily="2" charset="-122"/>
                <a:cs typeface="Times New Roman" panose="02020603050405020304"/>
              </a:rPr>
              <a:t>5</a:t>
            </a:r>
            <a:r>
              <a:rPr lang="zh-CN" altLang="zh-CN" sz="2400" kern="100" dirty="0">
                <a:latin typeface="宋体" panose="02010600030101010101" pitchFamily="2" charset="-122"/>
                <a:ea typeface="宋体" panose="02010600030101010101" pitchFamily="2" charset="-122"/>
                <a:cs typeface="Times New Roman" panose="02020603050405020304"/>
              </a:rPr>
              <a:t>）调用</a:t>
            </a:r>
            <a:r>
              <a:rPr lang="en-US" altLang="zh-CN" sz="2400" kern="100" dirty="0" err="1">
                <a:latin typeface="宋体" panose="02010600030101010101" pitchFamily="2" charset="-122"/>
                <a:ea typeface="宋体" panose="02010600030101010101" pitchFamily="2" charset="-122"/>
                <a:cs typeface="Times New Roman" panose="02020603050405020304"/>
              </a:rPr>
              <a:t>svm</a:t>
            </a:r>
            <a:r>
              <a:rPr lang="zh-CN" altLang="zh-CN" sz="2400" kern="100" dirty="0">
                <a:latin typeface="宋体" panose="02010600030101010101" pitchFamily="2" charset="-122"/>
                <a:ea typeface="宋体" panose="02010600030101010101" pitchFamily="2" charset="-122"/>
                <a:cs typeface="Times New Roman" panose="02020603050405020304"/>
              </a:rPr>
              <a:t>中的</a:t>
            </a:r>
            <a:r>
              <a:rPr lang="en-US" altLang="zh-CN" sz="2400" kern="100" dirty="0">
                <a:latin typeface="宋体" panose="02010600030101010101" pitchFamily="2" charset="-122"/>
                <a:ea typeface="宋体" panose="02010600030101010101" pitchFamily="2" charset="-122"/>
                <a:cs typeface="Times New Roman" panose="02020603050405020304"/>
              </a:rPr>
              <a:t>predict()</a:t>
            </a:r>
            <a:r>
              <a:rPr lang="zh-CN" altLang="zh-CN" sz="2400" kern="100" dirty="0">
                <a:latin typeface="宋体" panose="02010600030101010101" pitchFamily="2" charset="-122"/>
                <a:ea typeface="宋体" panose="02010600030101010101" pitchFamily="2" charset="-122"/>
                <a:cs typeface="Times New Roman" panose="02020603050405020304"/>
              </a:rPr>
              <a:t>方法，对测试样本进行预测，获得其预测结果。</a:t>
            </a:r>
            <a:endParaRPr lang="zh-CN" altLang="zh-CN" sz="2400" kern="100" dirty="0">
              <a:latin typeface="宋体" panose="02010600030101010101" pitchFamily="2" charset="-122"/>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R=</a:t>
            </a:r>
            <a:r>
              <a:rPr lang="en-US" altLang="zh-CN" kern="100" dirty="0" err="1">
                <a:latin typeface="Calibri" panose="020F0502020204030204"/>
                <a:ea typeface="宋体" panose="02010600030101010101" pitchFamily="2" charset="-122"/>
                <a:cs typeface="Times New Roman" panose="02020603050405020304"/>
              </a:rPr>
              <a:t>clf.predict</a:t>
            </a:r>
            <a:r>
              <a:rPr lang="en-US" altLang="zh-CN" kern="100" dirty="0">
                <a:latin typeface="Calibri" panose="020F0502020204030204"/>
                <a:ea typeface="宋体" panose="02010600030101010101" pitchFamily="2" charset="-122"/>
                <a:cs typeface="Times New Roman" panose="02020603050405020304"/>
              </a:rPr>
              <a:t>(x1)</a:t>
            </a:r>
            <a:endParaRPr lang="zh-CN" altLang="zh-CN" kern="100" dirty="0">
              <a:latin typeface="Calibri" panose="020F0502020204030204"/>
              <a:ea typeface="宋体" panose="02010600030101010101" pitchFamily="2" charset="-122"/>
              <a:cs typeface="Times New Roman" panose="02020603050405020304"/>
            </a:endParaRPr>
          </a:p>
          <a:p>
            <a:endParaRPr lang="zh-CN" altLang="en-US" dirty="0"/>
          </a:p>
        </p:txBody>
      </p:sp>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5" name="TextBox 4"/>
          <p:cNvSpPr txBox="1"/>
          <p:nvPr/>
        </p:nvSpPr>
        <p:spPr>
          <a:xfrm>
            <a:off x="1330765" y="44625"/>
            <a:ext cx="685584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5.6.2  </a:t>
            </a:r>
            <a:r>
              <a:rPr lang="zh-CN" altLang="en-US" sz="2800" dirty="0">
                <a:solidFill>
                  <a:schemeClr val="accent2"/>
                </a:solidFill>
                <a:latin typeface="微软雅黑" panose="020B0503020204020204" pitchFamily="34" charset="-122"/>
                <a:ea typeface="微软雅黑" panose="020B0503020204020204" pitchFamily="34" charset="-122"/>
              </a:rPr>
              <a:t>支持向量机应用举例</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5625" y="908721"/>
            <a:ext cx="10601349" cy="5217444"/>
          </a:xfrm>
        </p:spPr>
        <p:txBody>
          <a:bodyPr/>
          <a:lstStyle/>
          <a:p>
            <a:pPr marL="0" indent="0" algn="just">
              <a:spcAft>
                <a:spcPts val="0"/>
              </a:spcAft>
              <a:buNone/>
            </a:pPr>
            <a:r>
              <a:rPr lang="zh-CN" altLang="zh-CN" sz="2400" kern="100" dirty="0">
                <a:latin typeface="Calibri" panose="020F0502020204030204"/>
                <a:ea typeface="宋体" panose="02010600030101010101" pitchFamily="2" charset="-122"/>
                <a:cs typeface="Times New Roman" panose="02020603050405020304"/>
              </a:rPr>
              <a:t>示例代码如下：</a:t>
            </a:r>
            <a:endParaRPr lang="zh-CN" altLang="zh-CN" sz="2400"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import pandas as </a:t>
            </a:r>
            <a:r>
              <a:rPr lang="en-US" altLang="zh-CN" kern="100" dirty="0" err="1">
                <a:latin typeface="Calibri" panose="020F0502020204030204"/>
                <a:ea typeface="宋体" panose="02010600030101010101" pitchFamily="2" charset="-122"/>
                <a:cs typeface="Times New Roman" panose="02020603050405020304"/>
              </a:rPr>
              <a:t>pd</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data = </a:t>
            </a:r>
            <a:r>
              <a:rPr lang="en-US" altLang="zh-CN" kern="100" dirty="0" err="1">
                <a:latin typeface="Calibri" panose="020F0502020204030204"/>
                <a:ea typeface="宋体" panose="02010600030101010101" pitchFamily="2" charset="-122"/>
                <a:cs typeface="Times New Roman" panose="02020603050405020304"/>
              </a:rPr>
              <a:t>pd.read_excel</a:t>
            </a:r>
            <a:r>
              <a:rPr lang="en-US" altLang="zh-CN" kern="100" dirty="0">
                <a:latin typeface="Calibri" panose="020F0502020204030204"/>
                <a:ea typeface="宋体" panose="02010600030101010101" pitchFamily="2" charset="-122"/>
                <a:cs typeface="Times New Roman" panose="02020603050405020304"/>
              </a:rPr>
              <a:t>('car.xlsx')</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x = </a:t>
            </a:r>
            <a:r>
              <a:rPr lang="en-US" altLang="zh-CN" kern="100" dirty="0" err="1">
                <a:latin typeface="Calibri" panose="020F0502020204030204"/>
                <a:ea typeface="宋体" panose="02010600030101010101" pitchFamily="2" charset="-122"/>
                <a:cs typeface="Times New Roman" panose="02020603050405020304"/>
              </a:rPr>
              <a:t>data.iloc</a:t>
            </a:r>
            <a:r>
              <a:rPr lang="en-US" altLang="zh-CN" kern="100" dirty="0">
                <a:latin typeface="Calibri" panose="020F0502020204030204"/>
                <a:ea typeface="宋体" panose="02010600030101010101" pitchFamily="2" charset="-122"/>
                <a:cs typeface="Times New Roman" panose="02020603050405020304"/>
              </a:rPr>
              <a:t>[:1690,:6].</a:t>
            </a:r>
            <a:r>
              <a:rPr lang="en-US" altLang="zh-CN" kern="100" dirty="0" err="1">
                <a:latin typeface="Calibri" panose="020F0502020204030204"/>
                <a:ea typeface="宋体" panose="02010600030101010101" pitchFamily="2" charset="-122"/>
                <a:cs typeface="Times New Roman" panose="02020603050405020304"/>
              </a:rPr>
              <a:t>as_matrix</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y = </a:t>
            </a:r>
            <a:r>
              <a:rPr lang="en-US" altLang="zh-CN" kern="100" dirty="0" err="1">
                <a:latin typeface="Calibri" panose="020F0502020204030204"/>
                <a:ea typeface="宋体" panose="02010600030101010101" pitchFamily="2" charset="-122"/>
                <a:cs typeface="Times New Roman" panose="02020603050405020304"/>
              </a:rPr>
              <a:t>data.iloc</a:t>
            </a:r>
            <a:r>
              <a:rPr lang="en-US" altLang="zh-CN" kern="100" dirty="0">
                <a:latin typeface="Calibri" panose="020F0502020204030204"/>
                <a:ea typeface="宋体" panose="02010600030101010101" pitchFamily="2" charset="-122"/>
                <a:cs typeface="Times New Roman" panose="02020603050405020304"/>
              </a:rPr>
              <a:t>[:1690,6].</a:t>
            </a:r>
            <a:r>
              <a:rPr lang="en-US" altLang="zh-CN" kern="100" dirty="0" err="1">
                <a:latin typeface="Calibri" panose="020F0502020204030204"/>
                <a:ea typeface="宋体" panose="02010600030101010101" pitchFamily="2" charset="-122"/>
                <a:cs typeface="Times New Roman" panose="02020603050405020304"/>
              </a:rPr>
              <a:t>as_matrix</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x1= </a:t>
            </a:r>
            <a:r>
              <a:rPr lang="en-US" altLang="zh-CN" kern="100" dirty="0" err="1">
                <a:latin typeface="Calibri" panose="020F0502020204030204"/>
                <a:ea typeface="宋体" panose="02010600030101010101" pitchFamily="2" charset="-122"/>
                <a:cs typeface="Times New Roman" panose="02020603050405020304"/>
              </a:rPr>
              <a:t>data.iloc</a:t>
            </a:r>
            <a:r>
              <a:rPr lang="en-US" altLang="zh-CN" kern="100" dirty="0">
                <a:latin typeface="Calibri" panose="020F0502020204030204"/>
                <a:ea typeface="宋体" panose="02010600030101010101" pitchFamily="2" charset="-122"/>
                <a:cs typeface="Times New Roman" panose="02020603050405020304"/>
              </a:rPr>
              <a:t>[1691:,:6].</a:t>
            </a:r>
            <a:r>
              <a:rPr lang="en-US" altLang="zh-CN" kern="100" dirty="0" err="1">
                <a:latin typeface="Calibri" panose="020F0502020204030204"/>
                <a:ea typeface="宋体" panose="02010600030101010101" pitchFamily="2" charset="-122"/>
                <a:cs typeface="Times New Roman" panose="02020603050405020304"/>
              </a:rPr>
              <a:t>as_matrix</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y1= </a:t>
            </a:r>
            <a:r>
              <a:rPr lang="en-US" altLang="zh-CN" kern="100" dirty="0" err="1">
                <a:latin typeface="Calibri" panose="020F0502020204030204"/>
                <a:ea typeface="宋体" panose="02010600030101010101" pitchFamily="2" charset="-122"/>
                <a:cs typeface="Times New Roman" panose="02020603050405020304"/>
              </a:rPr>
              <a:t>data.iloc</a:t>
            </a:r>
            <a:r>
              <a:rPr lang="en-US" altLang="zh-CN" kern="100" dirty="0">
                <a:latin typeface="Calibri" panose="020F0502020204030204"/>
                <a:ea typeface="宋体" panose="02010600030101010101" pitchFamily="2" charset="-122"/>
                <a:cs typeface="Times New Roman" panose="02020603050405020304"/>
              </a:rPr>
              <a:t>[1691:,6].</a:t>
            </a:r>
            <a:r>
              <a:rPr lang="en-US" altLang="zh-CN" kern="100" dirty="0" err="1">
                <a:latin typeface="Calibri" panose="020F0502020204030204"/>
                <a:ea typeface="宋体" panose="02010600030101010101" pitchFamily="2" charset="-122"/>
                <a:cs typeface="Times New Roman" panose="02020603050405020304"/>
              </a:rPr>
              <a:t>as_matrix</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from </a:t>
            </a:r>
            <a:r>
              <a:rPr lang="en-US" altLang="zh-CN" kern="100" dirty="0" err="1">
                <a:latin typeface="Calibri" panose="020F0502020204030204"/>
                <a:ea typeface="宋体" panose="02010600030101010101" pitchFamily="2" charset="-122"/>
                <a:cs typeface="Times New Roman" panose="02020603050405020304"/>
              </a:rPr>
              <a:t>sklearn</a:t>
            </a:r>
            <a:r>
              <a:rPr lang="en-US" altLang="zh-CN" kern="100" dirty="0">
                <a:latin typeface="Calibri" panose="020F0502020204030204"/>
                <a:ea typeface="宋体" panose="02010600030101010101" pitchFamily="2" charset="-122"/>
                <a:cs typeface="Times New Roman" panose="02020603050405020304"/>
              </a:rPr>
              <a:t> import </a:t>
            </a:r>
            <a:r>
              <a:rPr lang="en-US" altLang="zh-CN" kern="100" dirty="0" err="1">
                <a:latin typeface="Calibri" panose="020F0502020204030204"/>
                <a:ea typeface="宋体" panose="02010600030101010101" pitchFamily="2" charset="-122"/>
                <a:cs typeface="Times New Roman" panose="02020603050405020304"/>
              </a:rPr>
              <a:t>svm</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err="1">
                <a:latin typeface="Calibri" panose="020F0502020204030204"/>
                <a:ea typeface="宋体" panose="02010600030101010101" pitchFamily="2" charset="-122"/>
                <a:cs typeface="Times New Roman" panose="02020603050405020304"/>
              </a:rPr>
              <a:t>clf</a:t>
            </a:r>
            <a:r>
              <a:rPr lang="en-US" altLang="zh-CN" kern="100" dirty="0">
                <a:latin typeface="Calibri" panose="020F0502020204030204"/>
                <a:ea typeface="宋体" panose="02010600030101010101" pitchFamily="2" charset="-122"/>
                <a:cs typeface="Times New Roman" panose="02020603050405020304"/>
              </a:rPr>
              <a:t> = </a:t>
            </a:r>
            <a:r>
              <a:rPr lang="en-US" altLang="zh-CN" kern="100" dirty="0" err="1">
                <a:latin typeface="Calibri" panose="020F0502020204030204"/>
                <a:ea typeface="宋体" panose="02010600030101010101" pitchFamily="2" charset="-122"/>
                <a:cs typeface="Times New Roman" panose="02020603050405020304"/>
              </a:rPr>
              <a:t>svm.SVC</a:t>
            </a:r>
            <a:r>
              <a:rPr lang="en-US" altLang="zh-CN" kern="100" dirty="0">
                <a:latin typeface="Calibri" panose="020F0502020204030204"/>
                <a:ea typeface="宋体" panose="02010600030101010101" pitchFamily="2" charset="-122"/>
                <a:cs typeface="Times New Roman" panose="02020603050405020304"/>
              </a:rPr>
              <a:t>(kernel='</a:t>
            </a:r>
            <a:r>
              <a:rPr lang="en-US" altLang="zh-CN" kern="100" dirty="0" err="1">
                <a:latin typeface="Calibri" panose="020F0502020204030204"/>
                <a:ea typeface="宋体" panose="02010600030101010101" pitchFamily="2" charset="-122"/>
                <a:cs typeface="Times New Roman" panose="02020603050405020304"/>
              </a:rPr>
              <a:t>rbf</a:t>
            </a:r>
            <a:r>
              <a:rPr lang="en-US" altLang="zh-CN" kern="100" dirty="0">
                <a:latin typeface="Calibri" panose="020F0502020204030204"/>
                <a:ea typeface="宋体" panose="02010600030101010101" pitchFamily="2" charset="-122"/>
                <a:cs typeface="Times New Roman" panose="02020603050405020304"/>
              </a:rPr>
              <a:t>')  </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err="1">
                <a:latin typeface="Calibri" panose="020F0502020204030204"/>
                <a:ea typeface="宋体" panose="02010600030101010101" pitchFamily="2" charset="-122"/>
                <a:cs typeface="Times New Roman" panose="02020603050405020304"/>
              </a:rPr>
              <a:t>clf.fit</a:t>
            </a:r>
            <a:r>
              <a:rPr lang="en-US" altLang="zh-CN" kern="100" dirty="0">
                <a:latin typeface="Calibri" panose="020F0502020204030204"/>
                <a:ea typeface="宋体" panose="02010600030101010101" pitchFamily="2" charset="-122"/>
                <a:cs typeface="Times New Roman" panose="02020603050405020304"/>
              </a:rPr>
              <a:t>(x, y) </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err="1">
                <a:latin typeface="Calibri" panose="020F0502020204030204"/>
                <a:ea typeface="宋体" panose="02010600030101010101" pitchFamily="2" charset="-122"/>
                <a:cs typeface="Times New Roman" panose="02020603050405020304"/>
              </a:rPr>
              <a:t>rv</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clf.score</a:t>
            </a:r>
            <a:r>
              <a:rPr lang="en-US" altLang="zh-CN" kern="100" dirty="0">
                <a:latin typeface="Calibri" panose="020F0502020204030204"/>
                <a:ea typeface="宋体" panose="02010600030101010101" pitchFamily="2" charset="-122"/>
                <a:cs typeface="Times New Roman" panose="02020603050405020304"/>
              </a:rPr>
              <a:t>(x, y);</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R=</a:t>
            </a:r>
            <a:r>
              <a:rPr lang="en-US" altLang="zh-CN" kern="100" dirty="0" err="1">
                <a:latin typeface="Calibri" panose="020F0502020204030204"/>
                <a:ea typeface="宋体" panose="02010600030101010101" pitchFamily="2" charset="-122"/>
                <a:cs typeface="Times New Roman" panose="02020603050405020304"/>
              </a:rPr>
              <a:t>clf.predict</a:t>
            </a:r>
            <a:r>
              <a:rPr lang="en-US" altLang="zh-CN" kern="100" dirty="0">
                <a:latin typeface="Calibri" panose="020F0502020204030204"/>
                <a:ea typeface="宋体" panose="02010600030101010101" pitchFamily="2" charset="-122"/>
                <a:cs typeface="Times New Roman" panose="02020603050405020304"/>
              </a:rPr>
              <a:t>(x1)</a:t>
            </a:r>
            <a:endParaRPr lang="zh-CN" altLang="zh-CN" kern="100" dirty="0">
              <a:latin typeface="Calibri" panose="020F0502020204030204"/>
              <a:ea typeface="宋体" panose="02010600030101010101" pitchFamily="2" charset="-122"/>
              <a:cs typeface="Times New Roman" panose="02020603050405020304"/>
            </a:endParaRPr>
          </a:p>
          <a:p>
            <a:pPr marL="0" indent="0">
              <a:buNone/>
            </a:pPr>
            <a:endParaRPr lang="zh-CN" altLang="en-US" dirty="0"/>
          </a:p>
        </p:txBody>
      </p:sp>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5" name="TextBox 4"/>
          <p:cNvSpPr txBox="1"/>
          <p:nvPr/>
        </p:nvSpPr>
        <p:spPr>
          <a:xfrm>
            <a:off x="1330765" y="44625"/>
            <a:ext cx="685584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5.6.2  </a:t>
            </a:r>
            <a:r>
              <a:rPr lang="zh-CN" altLang="en-US" sz="2800" dirty="0">
                <a:solidFill>
                  <a:schemeClr val="accent2"/>
                </a:solidFill>
                <a:latin typeface="微软雅黑" panose="020B0503020204020204" pitchFamily="34" charset="-122"/>
                <a:ea typeface="微软雅黑" panose="020B0503020204020204" pitchFamily="34" charset="-122"/>
              </a:rPr>
              <a:t>支持向量机应用举例</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5625" y="980729"/>
            <a:ext cx="10601349" cy="5145436"/>
          </a:xfrm>
        </p:spPr>
        <p:txBody>
          <a:bodyPr/>
          <a:lstStyle/>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Z=R-y1</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err="1">
                <a:latin typeface="Calibri" panose="020F0502020204030204"/>
                <a:ea typeface="宋体" panose="02010600030101010101" pitchFamily="2" charset="-122"/>
                <a:cs typeface="Times New Roman" panose="02020603050405020304"/>
              </a:rPr>
              <a:t>Rs</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len</a:t>
            </a:r>
            <a:r>
              <a:rPr lang="en-US" altLang="zh-CN" kern="100" dirty="0">
                <a:latin typeface="Calibri" panose="020F0502020204030204"/>
                <a:ea typeface="宋体" panose="02010600030101010101" pitchFamily="2" charset="-122"/>
                <a:cs typeface="Times New Roman" panose="02020603050405020304"/>
              </a:rPr>
              <a:t>(Z[Z==0])/</a:t>
            </a:r>
            <a:r>
              <a:rPr lang="en-US" altLang="zh-CN" kern="100" dirty="0" err="1">
                <a:latin typeface="Calibri" panose="020F0502020204030204"/>
                <a:ea typeface="宋体" panose="02010600030101010101" pitchFamily="2" charset="-122"/>
                <a:cs typeface="Times New Roman" panose="02020603050405020304"/>
              </a:rPr>
              <a:t>len</a:t>
            </a:r>
            <a:r>
              <a:rPr lang="en-US" altLang="zh-CN" kern="100" dirty="0">
                <a:latin typeface="Calibri" panose="020F0502020204030204"/>
                <a:ea typeface="宋体" panose="02010600030101010101" pitchFamily="2" charset="-122"/>
                <a:cs typeface="Times New Roman" panose="02020603050405020304"/>
              </a:rPr>
              <a:t>(Z)</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print('</a:t>
            </a:r>
            <a:r>
              <a:rPr lang="zh-CN" altLang="zh-CN" kern="100" dirty="0">
                <a:latin typeface="Calibri" panose="020F0502020204030204"/>
                <a:ea typeface="宋体" panose="02010600030101010101" pitchFamily="2" charset="-122"/>
                <a:cs typeface="Times New Roman" panose="02020603050405020304"/>
              </a:rPr>
              <a:t>预测结果为：</a:t>
            </a:r>
            <a:r>
              <a:rPr lang="en-US" altLang="zh-CN" kern="100" dirty="0">
                <a:latin typeface="Calibri" panose="020F0502020204030204"/>
                <a:ea typeface="宋体" panose="02010600030101010101" pitchFamily="2" charset="-122"/>
                <a:cs typeface="Times New Roman" panose="02020603050405020304"/>
              </a:rPr>
              <a:t>',R)</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en-US" altLang="zh-CN" kern="100" dirty="0">
                <a:latin typeface="Calibri" panose="020F0502020204030204"/>
                <a:ea typeface="宋体" panose="02010600030101010101" pitchFamily="2" charset="-122"/>
                <a:cs typeface="Times New Roman" panose="02020603050405020304"/>
              </a:rPr>
              <a:t>print('</a:t>
            </a:r>
            <a:r>
              <a:rPr lang="zh-CN" altLang="zh-CN" kern="100" dirty="0">
                <a:latin typeface="Calibri" panose="020F0502020204030204"/>
                <a:ea typeface="宋体" panose="02010600030101010101" pitchFamily="2" charset="-122"/>
                <a:cs typeface="Times New Roman" panose="02020603050405020304"/>
              </a:rPr>
              <a:t>预测准确率为：</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Rs</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zh-CN" altLang="zh-CN" kern="100" dirty="0">
                <a:latin typeface="Calibri" panose="020F0502020204030204"/>
                <a:ea typeface="宋体" panose="02010600030101010101" pitchFamily="2" charset="-122"/>
                <a:cs typeface="Times New Roman" panose="02020603050405020304"/>
              </a:rPr>
              <a:t>输出结果如下：</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zh-CN" altLang="zh-CN" kern="100" dirty="0">
                <a:latin typeface="Calibri" panose="020F0502020204030204"/>
                <a:ea typeface="宋体" panose="02010600030101010101" pitchFamily="2" charset="-122"/>
                <a:cs typeface="Times New Roman" panose="02020603050405020304"/>
              </a:rPr>
              <a:t>预测结果为：</a:t>
            </a:r>
            <a:r>
              <a:rPr lang="en-US" altLang="zh-CN" kern="100" dirty="0">
                <a:latin typeface="Calibri" panose="020F0502020204030204"/>
                <a:ea typeface="宋体" panose="02010600030101010101" pitchFamily="2" charset="-122"/>
                <a:cs typeface="Times New Roman" panose="02020603050405020304"/>
              </a:rPr>
              <a:t> [4 3 1 2 3 2 4 3 2 4 3 3 3 3 3 3 3 3 3 3 1 2 3 2 4 3 2 4 3 1 2 3 2 4 3 2 4]</a:t>
            </a:r>
            <a:endParaRPr lang="zh-CN" altLang="zh-CN" kern="100" dirty="0">
              <a:latin typeface="Calibri" panose="020F0502020204030204"/>
              <a:ea typeface="宋体" panose="02010600030101010101" pitchFamily="2" charset="-122"/>
              <a:cs typeface="Times New Roman" panose="02020603050405020304"/>
            </a:endParaRPr>
          </a:p>
          <a:p>
            <a:pPr marL="0" indent="0" algn="just">
              <a:spcAft>
                <a:spcPts val="0"/>
              </a:spcAft>
              <a:buNone/>
            </a:pPr>
            <a:r>
              <a:rPr lang="zh-CN" altLang="zh-CN" kern="100" dirty="0">
                <a:latin typeface="Calibri" panose="020F0502020204030204"/>
                <a:ea typeface="宋体" panose="02010600030101010101" pitchFamily="2" charset="-122"/>
                <a:cs typeface="Times New Roman" panose="02020603050405020304"/>
              </a:rPr>
              <a:t>预测准确率为：</a:t>
            </a:r>
            <a:r>
              <a:rPr lang="en-US" altLang="zh-CN" kern="100" dirty="0">
                <a:latin typeface="Calibri" panose="020F0502020204030204"/>
                <a:ea typeface="宋体" panose="02010600030101010101" pitchFamily="2" charset="-122"/>
                <a:cs typeface="Times New Roman" panose="02020603050405020304"/>
              </a:rPr>
              <a:t> 1.0</a:t>
            </a:r>
            <a:endParaRPr lang="zh-CN" altLang="zh-CN" kern="100" dirty="0">
              <a:latin typeface="Calibri" panose="020F0502020204030204"/>
              <a:ea typeface="宋体" panose="02010600030101010101" pitchFamily="2" charset="-122"/>
              <a:cs typeface="Times New Roman" panose="02020603050405020304"/>
            </a:endParaRPr>
          </a:p>
          <a:p>
            <a:pPr marL="0" indent="0">
              <a:buNone/>
            </a:pPr>
            <a:endParaRPr lang="zh-CN" altLang="en-US" dirty="0"/>
          </a:p>
        </p:txBody>
      </p:sp>
      <p:sp>
        <p:nvSpPr>
          <p:cNvPr id="4" name="TextBox 3"/>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5</a:t>
            </a:r>
            <a:endParaRPr lang="zh-CN" altLang="en-US" dirty="0">
              <a:solidFill>
                <a:schemeClr val="accent2"/>
              </a:solidFill>
            </a:endParaRPr>
          </a:p>
        </p:txBody>
      </p:sp>
      <p:sp>
        <p:nvSpPr>
          <p:cNvPr id="5" name="TextBox 4"/>
          <p:cNvSpPr txBox="1"/>
          <p:nvPr/>
        </p:nvSpPr>
        <p:spPr>
          <a:xfrm>
            <a:off x="1330765" y="44625"/>
            <a:ext cx="685584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5.6.2  </a:t>
            </a:r>
            <a:r>
              <a:rPr lang="zh-CN" altLang="en-US" sz="2800" dirty="0">
                <a:solidFill>
                  <a:schemeClr val="accent2"/>
                </a:solidFill>
                <a:latin typeface="微软雅黑" panose="020B0503020204020204" pitchFamily="34" charset="-122"/>
                <a:ea typeface="微软雅黑" panose="020B0503020204020204" pitchFamily="34" charset="-122"/>
              </a:rPr>
              <a:t>支持向量机应用举例</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theme/theme1.xml><?xml version="1.0" encoding="utf-8"?>
<a:theme xmlns:a="http://schemas.openxmlformats.org/drawingml/2006/main" name="第一PPT，www.1ppt.com">
  <a:themeElements>
    <a:clrScheme name="155">
      <a:dk1>
        <a:srgbClr val="294A5A"/>
      </a:dk1>
      <a:lt1>
        <a:srgbClr val="99CC39"/>
      </a:lt1>
      <a:dk2>
        <a:srgbClr val="F9C900"/>
      </a:dk2>
      <a:lt2>
        <a:srgbClr val="ED5A00"/>
      </a:lt2>
      <a:accent1>
        <a:srgbClr val="484849"/>
      </a:accent1>
      <a:accent2>
        <a:srgbClr val="FFFFFF"/>
      </a:accent2>
      <a:accent3>
        <a:srgbClr val="969696"/>
      </a:accent3>
      <a:accent4>
        <a:srgbClr val="00AAA2"/>
      </a:accent4>
      <a:accent5>
        <a:srgbClr val="99CC39"/>
      </a:accent5>
      <a:accent6>
        <a:srgbClr val="F9C900"/>
      </a:accent6>
      <a:hlink>
        <a:srgbClr val="ED5A00"/>
      </a:hlink>
      <a:folHlink>
        <a:srgbClr val="48484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5249</Words>
  <Application>WPS 演示</Application>
  <PresentationFormat>自定义</PresentationFormat>
  <Paragraphs>503</Paragraphs>
  <Slides>27</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27</vt:i4>
      </vt:variant>
    </vt:vector>
  </HeadingPairs>
  <TitlesOfParts>
    <vt:vector size="39" baseType="lpstr">
      <vt:lpstr>Arial</vt:lpstr>
      <vt:lpstr>宋体</vt:lpstr>
      <vt:lpstr>Wingdings</vt:lpstr>
      <vt:lpstr>微软雅黑</vt:lpstr>
      <vt:lpstr>仿宋_GB2312</vt:lpstr>
      <vt:lpstr>Calibri</vt:lpstr>
      <vt:lpstr>Calibri</vt:lpstr>
      <vt:lpstr>方正卡通简体</vt:lpstr>
      <vt:lpstr>Times New Roman</vt:lpstr>
      <vt:lpstr>Arial Unicode MS</vt:lpstr>
      <vt:lpstr>仿宋</vt:lpstr>
      <vt:lpstr>第一PPT，www.1ppt.com</vt:lpstr>
      <vt:lpstr>PowerPoint 演示文稿</vt:lpstr>
      <vt:lpstr>PowerPoint 演示文稿</vt:lpstr>
      <vt:lpstr>PowerPoint 演示文稿</vt:lpstr>
      <vt:lpstr>PowerPoint 演示文稿</vt:lpstr>
      <vt:lpstr>PowerPoint 演示文稿</vt:lpstr>
      <vt:lpstr>这里介绍目前常用的BP神经网络，其网络结构及数学模型如下： </vt:lpstr>
      <vt:lpstr>PowerPoint 演示文稿</vt:lpstr>
      <vt:lpstr>PowerPoint 演示文稿</vt:lpstr>
      <vt:lpstr>仍以5.4.2的澳大利亚信贷批准数据集为例，介绍Python神经网络分类模型的应用。具体计算流程及思路如下： 1.数据获取及训练样本、测试样本的划分同5.4.2 2.神经网络分类模型构建 </vt:lpstr>
      <vt:lpstr>PowerPoint 演示文稿</vt:lpstr>
      <vt:lpstr>PowerPoint 演示文稿</vt:lpstr>
      <vt:lpstr>PowerPoint 演示文稿</vt:lpstr>
      <vt:lpstr>仍以5.3.3中的发电场数据为例，预测AT=28.4，V=50.6，AP=1011.9，RH=80.54时的PE值。其计算流程及思路如下： </vt:lpstr>
      <vt:lpstr>PowerPoint 演示文稿</vt:lpstr>
      <vt:lpstr>PowerPoint 演示文稿</vt:lpstr>
      <vt:lpstr>PowerPoint 演示文稿</vt:lpstr>
      <vt:lpstr>PowerPoint 演示文稿</vt:lpstr>
      <vt:lpstr>支持向量机基于统计学习理论，强调结构风险最小化。其基本思想是：对于一个给定有限数量训练样本的学习任务，通过在原空间或经投影后的高维空间中构造最优分离超平面，将给定的两类训练样本分开，构造分离超平面的依据是两类样本对分离超平面的最小距离最大化。它的思想可用下图说明，图中描述的是两类样本线性可分的情形，图中“圆”和“星”分别代表两类样本。 </vt:lpstr>
      <vt:lpstr>PowerPoint 演示文稿</vt:lpstr>
      <vt:lpstr>PowerPoint 演示文稿</vt:lpstr>
      <vt:lpstr>PowerPoint 演示文稿</vt:lpstr>
      <vt:lpstr>取自UCI公共测试数据库中的汽车评价数据集作为本例的数据集，该数据集共有6个特征数据，1个分类标签，共1728条记录，部分数据如表5-4所示。 表5-4   汽车评价数据 </vt:lpstr>
      <vt:lpstr>PowerPoint 演示文稿</vt:lpstr>
      <vt:lpstr>PowerPoint 演示文稿</vt:lpstr>
      <vt:lpstr>3．支持向量机分类模型构建 </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商业融资计划书</dc:title>
  <dc:creator>第一PPT</dc:creator>
  <cp:keywords>www.1ppt.com</cp:keywords>
  <cp:lastModifiedBy>Administrator</cp:lastModifiedBy>
  <cp:revision>1596</cp:revision>
  <dcterms:created xsi:type="dcterms:W3CDTF">2013-01-25T01:44:00Z</dcterms:created>
  <dcterms:modified xsi:type="dcterms:W3CDTF">2020-01-12T12:53:04Z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2052-11.1.0.9339</vt:lpwstr>
  </property>
</Properties>
</file>