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780" r:id="rId2"/>
    <p:sldId id="828" r:id="rId3"/>
    <p:sldId id="914" r:id="rId4"/>
    <p:sldId id="933" r:id="rId5"/>
    <p:sldId id="855" r:id="rId6"/>
    <p:sldId id="922" r:id="rId7"/>
    <p:sldId id="952" r:id="rId8"/>
    <p:sldId id="934" r:id="rId9"/>
    <p:sldId id="935" r:id="rId10"/>
    <p:sldId id="936" r:id="rId11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1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582" y="-10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694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33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参考：</a:t>
            </a:r>
            <a:r>
              <a:rPr lang="en-US" altLang="zh-CN" dirty="0"/>
              <a:t>https://www.knime.com/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0" y="0"/>
            <a:ext cx="12196800" cy="2060848"/>
          </a:xfrm>
          <a:prstGeom prst="rect">
            <a:avLst/>
          </a:prstGeom>
        </p:spPr>
      </p:pic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841797" y="2142367"/>
            <a:ext cx="11092068" cy="34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en-US" altLang="zh-CN" sz="4000" b="1" dirty="0" smtClean="0">
                <a:solidFill>
                  <a:schemeClr val="tx1"/>
                </a:solidFill>
                <a:latin typeface="+mn-ea"/>
                <a:ea typeface="+mn-ea"/>
              </a:rPr>
              <a:t>7.7</a:t>
            </a:r>
            <a:r>
              <a:rPr lang="zh-CN" altLang="en-US" sz="4000" b="1" dirty="0" smtClean="0">
                <a:solidFill>
                  <a:schemeClr val="tx1"/>
                </a:solidFill>
                <a:latin typeface="+mn-ea"/>
                <a:ea typeface="+mn-ea"/>
              </a:rPr>
              <a:t>基于主成分聚类的上市公司盈利能力分析</a:t>
            </a:r>
            <a:endParaRPr lang="en-US" altLang="zh-CN" sz="4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ctr"/>
            <a:endParaRPr lang="zh-CN" altLang="en-US" sz="4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-12541" y="2060848"/>
            <a:ext cx="7145630" cy="81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120546" y="2060848"/>
            <a:ext cx="1266711" cy="8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387259" y="2060848"/>
            <a:ext cx="1265143" cy="8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652403" y="2060848"/>
            <a:ext cx="1266711" cy="8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919115" y="2060848"/>
            <a:ext cx="1265143" cy="8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271773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7.7.1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7" name="文本框 3"/>
          <p:cNvSpPr txBox="1">
            <a:spLocks noChangeArrowheads="1"/>
          </p:cNvSpPr>
          <p:nvPr/>
        </p:nvSpPr>
        <p:spPr bwMode="auto">
          <a:xfrm>
            <a:off x="985813" y="1554760"/>
            <a:ext cx="9433048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zh-CN" dirty="0"/>
              <a:t>找出盈利能力优秀的上市公司，是广大投资者非常关心的问题。反映公司盈利能力的指标众多，而且变量之间会存在一定的相关性，如何利用这些指标进行分析是我们首先遇到的问题。本案例采用主成分分析提取其主成分，并基于主成分进行上市公司盈利能力聚类分析。这里采用</a:t>
            </a:r>
            <a:r>
              <a:rPr lang="en-US" altLang="zh-CN" dirty="0"/>
              <a:t>K-</a:t>
            </a:r>
            <a:r>
              <a:rPr lang="zh-CN" altLang="zh-CN" dirty="0"/>
              <a:t>均值聚类算法进行聚类，从而找出盈利能力比较好的上市公司。由于</a:t>
            </a:r>
            <a:r>
              <a:rPr lang="en-US" altLang="zh-CN" dirty="0"/>
              <a:t>K-</a:t>
            </a:r>
            <a:r>
              <a:rPr lang="zh-CN" altLang="zh-CN" dirty="0"/>
              <a:t>均值聚类返回的结果仅是类标签，没有实际的意义，因此需要从聚类中心入手并进行分析，下面我们进行详细介绍。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7.7.1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895121" y="1085835"/>
            <a:ext cx="1031582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zh-CN" dirty="0"/>
              <a:t>以申万行业分类表中“计算机”行业所有上市公司</a:t>
            </a:r>
            <a:r>
              <a:rPr lang="en-US" altLang="zh-CN" dirty="0"/>
              <a:t>2015</a:t>
            </a:r>
            <a:r>
              <a:rPr lang="zh-CN" altLang="zh-CN" dirty="0"/>
              <a:t>年的盈利能力指标数据为基础，其指标选择如下表</a:t>
            </a:r>
            <a:r>
              <a:rPr lang="en-US" altLang="zh-CN" dirty="0"/>
              <a:t>7-10</a:t>
            </a:r>
            <a:r>
              <a:rPr lang="zh-CN" altLang="zh-CN" dirty="0"/>
              <a:t>所</a:t>
            </a:r>
            <a:r>
              <a:rPr lang="zh-CN" altLang="zh-CN" dirty="0" smtClean="0"/>
              <a:t>示。</a:t>
            </a:r>
            <a:endParaRPr lang="en-US" altLang="zh-CN" dirty="0" smtClean="0"/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dirty="0" smtClean="0"/>
              <a:t>         表</a:t>
            </a:r>
            <a:r>
              <a:rPr lang="en-US" altLang="zh-CN" dirty="0" smtClean="0"/>
              <a:t>7-10   </a:t>
            </a:r>
            <a:r>
              <a:rPr lang="zh-CN" altLang="en-US" dirty="0" smtClean="0"/>
              <a:t>盈利能力指标数据</a:t>
            </a:r>
            <a:endParaRPr kumimoji="0"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65" y="2286165"/>
            <a:ext cx="7776864" cy="4887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618661" y="2564904"/>
            <a:ext cx="33843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采用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K-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均值聚类算法，对上市公司分为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5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类，并计算每类公司当年的总利润平均增长率。其中，每类公司当年的总利润平均增长率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=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（该类公司当年总利润平均值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-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该类公司上年总利润平均值）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/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该类公司上年总利润平均值。每类公司当年的总利润平均值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=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该类别中所有公司当年的利润之和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/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该类别的公司数量。这里的利润采用归属于母公司所有者的净利润（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B002000101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，数据也来源于国泰安</a:t>
            </a:r>
            <a:r>
              <a:rPr kumimoji="1" lang="en-US" altLang="zh-CN" dirty="0">
                <a:solidFill>
                  <a:srgbClr val="595959"/>
                </a:solidFill>
                <a:ea typeface="微软雅黑" panose="020B0503020204020204" pitchFamily="34" charset="-122"/>
              </a:rPr>
              <a:t>CSMAR</a:t>
            </a:r>
            <a:r>
              <a:rPr kumimoji="1" lang="zh-CN" altLang="en-US" dirty="0">
                <a:solidFill>
                  <a:srgbClr val="595959"/>
                </a:solidFill>
                <a:ea typeface="微软雅黑" panose="020B0503020204020204" pitchFamily="34" charset="-122"/>
              </a:rPr>
              <a:t>数据库</a:t>
            </a:r>
            <a:r>
              <a:rPr lang="zh-CN" altLang="en-US" dirty="0"/>
              <a:t>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7.7.2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案列分析及计算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140263" y="980728"/>
            <a:ext cx="5958118" cy="449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dirty="0"/>
              <a:t>1.</a:t>
            </a:r>
            <a:r>
              <a:rPr lang="zh-CN" altLang="zh-CN" dirty="0"/>
              <a:t>获取财务指标数据</a:t>
            </a:r>
          </a:p>
          <a:p>
            <a:r>
              <a:rPr lang="zh-CN" altLang="zh-CN" dirty="0"/>
              <a:t>其指标数据为全部股票代码</a:t>
            </a:r>
            <a:r>
              <a:rPr lang="en-US" altLang="zh-CN" dirty="0"/>
              <a:t>2015</a:t>
            </a:r>
            <a:r>
              <a:rPr lang="zh-CN" altLang="zh-CN" dirty="0"/>
              <a:t>年的数据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 smtClean="0"/>
              <a:t>示例</a:t>
            </a:r>
            <a:r>
              <a:rPr lang="zh-CN" altLang="zh-CN" dirty="0"/>
              <a:t>代码如下：</a:t>
            </a:r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zh-CN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</a:t>
            </a:r>
            <a:r>
              <a:rPr lang="en-US" altLang="zh-CN" dirty="0" err="1"/>
              <a:t>np</a:t>
            </a:r>
            <a:endParaRPr lang="zh-CN" altLang="zh-CN" dirty="0"/>
          </a:p>
          <a:p>
            <a:r>
              <a:rPr lang="en-US" altLang="zh-CN" dirty="0"/>
              <a:t>data=</a:t>
            </a:r>
            <a:r>
              <a:rPr lang="en-US" altLang="zh-CN" dirty="0" err="1"/>
              <a:t>pd.read_excel</a:t>
            </a:r>
            <a:r>
              <a:rPr lang="en-US" altLang="zh-CN" dirty="0"/>
              <a:t>('</a:t>
            </a:r>
            <a:r>
              <a:rPr lang="zh-CN" altLang="zh-CN" dirty="0"/>
              <a:t>财务指标数据</a:t>
            </a:r>
            <a:r>
              <a:rPr lang="en-US" altLang="zh-CN" dirty="0"/>
              <a:t>.</a:t>
            </a:r>
            <a:r>
              <a:rPr lang="en-US" altLang="zh-CN" dirty="0" err="1"/>
              <a:t>xlsx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/>
              <a:t>data2=</a:t>
            </a:r>
            <a:r>
              <a:rPr lang="en-US" altLang="zh-CN" dirty="0" err="1"/>
              <a:t>data.iloc</a:t>
            </a:r>
            <a:r>
              <a:rPr lang="en-US" altLang="zh-CN" dirty="0"/>
              <a:t>[:,[ 0,2,3,4,5,6,7,8,9]]</a:t>
            </a:r>
            <a:endParaRPr lang="zh-CN" altLang="zh-CN" dirty="0"/>
          </a:p>
          <a:p>
            <a:r>
              <a:rPr lang="zh-CN" altLang="zh-CN" dirty="0"/>
              <a:t>执行结果（部分）</a:t>
            </a:r>
            <a:r>
              <a:rPr lang="zh-CN" altLang="zh-CN" dirty="0" smtClean="0"/>
              <a:t>如</a:t>
            </a:r>
            <a:r>
              <a:rPr lang="zh-CN" altLang="en-US" dirty="0" smtClean="0"/>
              <a:t>右</a:t>
            </a:r>
            <a:r>
              <a:rPr lang="zh-CN" altLang="zh-CN" dirty="0" smtClean="0"/>
              <a:t>图</a:t>
            </a:r>
            <a:r>
              <a:rPr lang="en-US" altLang="zh-CN" dirty="0"/>
              <a:t>7-19</a:t>
            </a:r>
            <a:r>
              <a:rPr lang="zh-CN" altLang="zh-CN" dirty="0"/>
              <a:t>所示。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341" y="2090200"/>
            <a:ext cx="6458422" cy="450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7.7.2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案列分析及计算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658843" y="921789"/>
            <a:ext cx="3903521" cy="71592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2.</a:t>
            </a:r>
            <a:r>
              <a:rPr kumimoji="0" lang="zh-CN" altLang="en-US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对财务指标数据进行清洗</a:t>
            </a:r>
          </a:p>
        </p:txBody>
      </p:sp>
      <p:sp>
        <p:nvSpPr>
          <p:cNvPr id="27" name="文本框 7"/>
          <p:cNvSpPr txBox="1">
            <a:spLocks noChangeArrowheads="1"/>
          </p:cNvSpPr>
          <p:nvPr/>
        </p:nvSpPr>
        <p:spPr bwMode="auto">
          <a:xfrm>
            <a:off x="672393" y="1811432"/>
            <a:ext cx="424847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2000" dirty="0" smtClean="0">
                <a:solidFill>
                  <a:schemeClr val="tx1"/>
                </a:solidFill>
                <a:ea typeface="宋体" panose="02010600030101010101" pitchFamily="2" charset="-122"/>
              </a:rPr>
              <a:t>对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财务指标数据进行清洗，包括去掉小于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的指标值和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nan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值。示例代码如下：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data2=data2[data2&gt;0]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data2=data2.dropna()</a:t>
            </a:r>
          </a:p>
        </p:txBody>
      </p:sp>
      <p:sp>
        <p:nvSpPr>
          <p:cNvPr id="28" name="矩形 10"/>
          <p:cNvSpPr>
            <a:spLocks noChangeArrowheads="1"/>
          </p:cNvSpPr>
          <p:nvPr/>
        </p:nvSpPr>
        <p:spPr bwMode="auto">
          <a:xfrm>
            <a:off x="6890469" y="870184"/>
            <a:ext cx="4104456" cy="71592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3.</a:t>
            </a:r>
            <a:r>
              <a:rPr kumimoji="0" lang="zh-CN" altLang="en-US" sz="21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对财务指标数据进行异常值处理</a:t>
            </a:r>
          </a:p>
        </p:txBody>
      </p:sp>
      <p:sp>
        <p:nvSpPr>
          <p:cNvPr id="29" name="文本框 7"/>
          <p:cNvSpPr txBox="1">
            <a:spLocks noChangeArrowheads="1"/>
          </p:cNvSpPr>
          <p:nvPr/>
        </p:nvSpPr>
        <p:spPr bwMode="auto">
          <a:xfrm>
            <a:off x="5954365" y="1772816"/>
            <a:ext cx="6242398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首先将数据转化为</a:t>
            </a:r>
            <a:r>
              <a:rPr kumimoji="0" lang="en-US" altLang="zh-CN" sz="2000" dirty="0" err="1">
                <a:solidFill>
                  <a:schemeClr val="tx1"/>
                </a:solidFill>
                <a:ea typeface="宋体" panose="02010600030101010101" pitchFamily="2" charset="-122"/>
              </a:rPr>
              <a:t>Numpy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数组的形式，同时每个</a:t>
            </a:r>
            <a:r>
              <a:rPr kumimoji="0" lang="zh-CN" altLang="en-US" sz="2000" dirty="0" smtClean="0">
                <a:solidFill>
                  <a:schemeClr val="tx1"/>
                </a:solidFill>
                <a:ea typeface="宋体" panose="02010600030101010101" pitchFamily="2" charset="-122"/>
              </a:rPr>
              <a:t>指标大于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其均值的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倍视为异常值，将其处理掉。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data2=data2.as_matrix()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for i in range(1,9):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data2=data2[data2[:,i]&lt;8*</a:t>
            </a:r>
            <a:r>
              <a:rPr kumimoji="0" lang="en-US" altLang="zh-CN" sz="2000" dirty="0" err="1">
                <a:solidFill>
                  <a:schemeClr val="tx1"/>
                </a:solidFill>
                <a:ea typeface="宋体" panose="02010600030101010101" pitchFamily="2" charset="-122"/>
              </a:rPr>
              <a:t>np.mean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(data2[:,i]),:]</a:t>
            </a:r>
          </a:p>
        </p:txBody>
      </p:sp>
      <p:sp>
        <p:nvSpPr>
          <p:cNvPr id="30" name="矩形 10"/>
          <p:cNvSpPr>
            <a:spLocks noChangeArrowheads="1"/>
          </p:cNvSpPr>
          <p:nvPr/>
        </p:nvSpPr>
        <p:spPr bwMode="auto">
          <a:xfrm>
            <a:off x="985812" y="3464905"/>
            <a:ext cx="9214619" cy="756184"/>
          </a:xfrm>
          <a:prstGeom prst="rect">
            <a:avLst/>
          </a:prstGeom>
          <a:solidFill>
            <a:srgbClr val="006BBC">
              <a:alpha val="74117"/>
            </a:srgbClr>
          </a:solidFill>
          <a:ln w="9525">
            <a:solidFill>
              <a:schemeClr val="accent2"/>
            </a:solidFill>
            <a:round/>
          </a:ln>
        </p:spPr>
        <p:txBody>
          <a:bodyPr lIns="117221" tIns="58610" rIns="117221" bIns="58610" anchor="ctr"/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4.</a:t>
            </a:r>
            <a:r>
              <a:rPr kumimoji="0"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</a:rPr>
              <a:t>从预处理过的财务指标数据中选择申万行业分类表中“计算机”行业所有上市公司的数据其处理过程分两步完成。</a:t>
            </a:r>
          </a:p>
        </p:txBody>
      </p:sp>
      <p:sp>
        <p:nvSpPr>
          <p:cNvPr id="31" name="文本框 7"/>
          <p:cNvSpPr txBox="1">
            <a:spLocks noChangeArrowheads="1"/>
          </p:cNvSpPr>
          <p:nvPr/>
        </p:nvSpPr>
        <p:spPr bwMode="auto">
          <a:xfrm>
            <a:off x="615919" y="4604754"/>
            <a:ext cx="414277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）获取申万行业分类表中“计算机”行业所有上市公司股票代码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en-US" altLang="zh-CN" sz="2000" dirty="0" err="1">
                <a:solidFill>
                  <a:schemeClr val="tx1"/>
                </a:solidFill>
                <a:ea typeface="宋体" panose="02010600030101010101" pitchFamily="2" charset="-122"/>
              </a:rPr>
              <a:t>dta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kumimoji="0" lang="en-US" altLang="zh-CN" sz="2000" dirty="0" err="1">
                <a:solidFill>
                  <a:schemeClr val="tx1"/>
                </a:solidFill>
                <a:ea typeface="宋体" panose="02010600030101010101" pitchFamily="2" charset="-122"/>
              </a:rPr>
              <a:t>pd.read_excel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('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申万行业分类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kumimoji="0" lang="en-US" altLang="zh-CN" sz="2000" dirty="0" err="1">
                <a:solidFill>
                  <a:schemeClr val="tx1"/>
                </a:solidFill>
                <a:ea typeface="宋体" panose="02010600030101010101" pitchFamily="2" charset="-122"/>
              </a:rPr>
              <a:t>xlsx</a:t>
            </a:r>
            <a:r>
              <a:rPr kumimoji="0"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')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申万行业分类数据</a:t>
            </a:r>
            <a:r>
              <a:rPr kumimoji="0" lang="zh-CN" altLang="en-US" sz="2000" dirty="0" smtClean="0">
                <a:solidFill>
                  <a:schemeClr val="tx1"/>
                </a:solidFill>
                <a:ea typeface="宋体" panose="02010600030101010101" pitchFamily="2" charset="-122"/>
              </a:rPr>
              <a:t>如右图</a:t>
            </a:r>
            <a:r>
              <a:rPr kumimoji="0" lang="en-US" altLang="zh-CN" sz="2000" dirty="0" smtClean="0">
                <a:solidFill>
                  <a:schemeClr val="tx1"/>
                </a:solidFill>
                <a:ea typeface="宋体" panose="02010600030101010101" pitchFamily="2" charset="-122"/>
              </a:rPr>
              <a:t>7-20</a:t>
            </a:r>
            <a:r>
              <a:rPr kumimoji="0" lang="zh-CN" altLang="en-US" sz="2000" dirty="0">
                <a:solidFill>
                  <a:schemeClr val="tx1"/>
                </a:solidFill>
                <a:ea typeface="宋体" panose="02010600030101010101" pitchFamily="2" charset="-122"/>
              </a:rPr>
              <a:t>所示。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277" y="4255389"/>
            <a:ext cx="6840760" cy="2596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28" grpId="0" animBg="1"/>
      <p:bldP spid="29" grpId="0"/>
      <p:bldP spid="30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55872" y="46107"/>
            <a:ext cx="721588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7.7.2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案列分析及计算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542" y="692696"/>
            <a:ext cx="11960179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#</a:t>
            </a:r>
            <a:r>
              <a:rPr lang="zh-CN" altLang="en-US" sz="1200" dirty="0"/>
              <a:t>申万行业分类表中“计算机”行业所有上市公司股票</a:t>
            </a:r>
            <a:r>
              <a:rPr lang="zh-CN" altLang="en-US" sz="1200" dirty="0" smtClean="0"/>
              <a:t>代码</a:t>
            </a:r>
            <a:r>
              <a:rPr lang="en-US" altLang="zh-CN" sz="1200" dirty="0" err="1" smtClean="0"/>
              <a:t>stkcd</a:t>
            </a:r>
            <a:r>
              <a:rPr lang="en-US" altLang="zh-CN" sz="1200" dirty="0" smtClean="0"/>
              <a:t>=</a:t>
            </a:r>
            <a:r>
              <a:rPr lang="en-US" altLang="zh-CN" sz="1200" dirty="0" err="1" smtClean="0"/>
              <a:t>dta.loc</a:t>
            </a:r>
            <a:r>
              <a:rPr lang="en-US" altLang="zh-CN" sz="1200" dirty="0" smtClean="0"/>
              <a:t>[</a:t>
            </a:r>
            <a:r>
              <a:rPr lang="en-US" altLang="zh-CN" sz="1200" dirty="0" err="1" smtClean="0"/>
              <a:t>dta</a:t>
            </a:r>
            <a:r>
              <a:rPr lang="en-US" altLang="zh-CN" sz="1200" dirty="0"/>
              <a:t>['</a:t>
            </a:r>
            <a:r>
              <a:rPr lang="zh-CN" altLang="en-US" sz="1200" dirty="0"/>
              <a:t>行业名称</a:t>
            </a:r>
            <a:r>
              <a:rPr lang="en-US" altLang="zh-CN" sz="1200" dirty="0"/>
              <a:t>'].values=='</a:t>
            </a:r>
            <a:r>
              <a:rPr lang="zh-CN" altLang="en-US" sz="1200" dirty="0"/>
              <a:t>计算机</a:t>
            </a:r>
            <a:r>
              <a:rPr lang="en-US" altLang="zh-CN" sz="1200" dirty="0"/>
              <a:t>','</a:t>
            </a:r>
            <a:r>
              <a:rPr lang="zh-CN" altLang="en-US" sz="1200" dirty="0"/>
              <a:t>股票代码</a:t>
            </a:r>
            <a:r>
              <a:rPr lang="en-US" altLang="zh-CN" sz="1200" dirty="0"/>
              <a:t>'].values </a:t>
            </a:r>
          </a:p>
          <a:p>
            <a:r>
              <a:rPr lang="zh-CN" altLang="en-US" sz="1200" dirty="0"/>
              <a:t>（</a:t>
            </a:r>
            <a:r>
              <a:rPr lang="en-US" altLang="zh-CN" sz="1200" dirty="0"/>
              <a:t>2</a:t>
            </a:r>
            <a:r>
              <a:rPr lang="zh-CN" altLang="en-US" sz="1200" dirty="0"/>
              <a:t>）从预处理过的财务指标数据中选择满足条件的数据，执行算法如下：</a:t>
            </a:r>
          </a:p>
          <a:p>
            <a:r>
              <a:rPr lang="en-US" altLang="zh-CN" sz="1200" dirty="0"/>
              <a:t>Step1</a:t>
            </a:r>
            <a:r>
              <a:rPr lang="zh-CN" altLang="en-US" sz="1200" dirty="0"/>
              <a:t>：获取预处理过的财务指标数据</a:t>
            </a:r>
            <a:r>
              <a:rPr lang="en-US" altLang="zh-CN" sz="1200" dirty="0"/>
              <a:t>data2</a:t>
            </a:r>
            <a:r>
              <a:rPr lang="zh-CN" altLang="en-US" sz="1200" dirty="0"/>
              <a:t>中的所有代码，</a:t>
            </a:r>
            <a:r>
              <a:rPr lang="en-US" altLang="zh-CN" sz="1200" dirty="0"/>
              <a:t>s=data2[:,0]</a:t>
            </a:r>
          </a:p>
          <a:p>
            <a:r>
              <a:rPr lang="en-US" altLang="zh-CN" sz="1200" dirty="0"/>
              <a:t>Step2</a:t>
            </a:r>
            <a:r>
              <a:rPr lang="zh-CN" altLang="en-US" sz="1200" dirty="0"/>
              <a:t>：</a:t>
            </a:r>
            <a:r>
              <a:rPr lang="en-US" altLang="zh-CN" sz="1200" dirty="0"/>
              <a:t>s</a:t>
            </a:r>
            <a:r>
              <a:rPr lang="zh-CN" altLang="en-US" sz="1200" dirty="0"/>
              <a:t>循环地与申万行业分类表中“计算机”行业所有上市公司股票代码</a:t>
            </a:r>
            <a:r>
              <a:rPr lang="en-US" altLang="zh-CN" sz="1200" dirty="0" err="1"/>
              <a:t>stkcd</a:t>
            </a:r>
            <a:r>
              <a:rPr lang="zh-CN" altLang="en-US" sz="1200" dirty="0"/>
              <a:t>作存在性判断，即取或运算</a:t>
            </a:r>
          </a:p>
          <a:p>
            <a:r>
              <a:rPr lang="en-US" altLang="zh-CN" sz="1200" dirty="0"/>
              <a:t>Step3</a:t>
            </a:r>
            <a:r>
              <a:rPr lang="zh-CN" altLang="en-US" sz="1200" dirty="0"/>
              <a:t>：得到满足判断条件的逻辑数组</a:t>
            </a:r>
            <a:r>
              <a:rPr lang="en-US" altLang="zh-CN" sz="1200" dirty="0"/>
              <a:t>I</a:t>
            </a:r>
            <a:r>
              <a:rPr lang="zh-CN" altLang="en-US" sz="1200" dirty="0"/>
              <a:t>，以</a:t>
            </a:r>
            <a:r>
              <a:rPr lang="en-US" altLang="zh-CN" sz="1200" dirty="0"/>
              <a:t>I</a:t>
            </a:r>
            <a:r>
              <a:rPr lang="zh-CN" altLang="en-US" sz="1200" dirty="0"/>
              <a:t>作为逻辑索引，取</a:t>
            </a:r>
            <a:r>
              <a:rPr lang="en-US" altLang="zh-CN" sz="1200" dirty="0"/>
              <a:t>data2</a:t>
            </a:r>
            <a:r>
              <a:rPr lang="zh-CN" altLang="en-US" sz="1200" dirty="0"/>
              <a:t>表中的元素即可。</a:t>
            </a:r>
          </a:p>
          <a:p>
            <a:r>
              <a:rPr lang="zh-CN" altLang="en-US" sz="1200" dirty="0"/>
              <a:t>示例代码如下：</a:t>
            </a:r>
          </a:p>
          <a:p>
            <a:r>
              <a:rPr lang="en-US" altLang="zh-CN" sz="1200" dirty="0"/>
              <a:t>s=data2[:,0]</a:t>
            </a:r>
          </a:p>
          <a:p>
            <a:r>
              <a:rPr lang="en-US" altLang="zh-CN" sz="1200" dirty="0"/>
              <a:t>I=s==</a:t>
            </a:r>
            <a:r>
              <a:rPr lang="en-US" altLang="zh-CN" sz="1200" dirty="0" err="1"/>
              <a:t>stkcd</a:t>
            </a:r>
            <a:r>
              <a:rPr lang="en-US" altLang="zh-CN" sz="1200" dirty="0"/>
              <a:t>[0]</a:t>
            </a:r>
          </a:p>
          <a:p>
            <a:r>
              <a:rPr lang="en-US" altLang="zh-CN" sz="1200" dirty="0"/>
              <a:t>for i in range(1,len(</a:t>
            </a:r>
            <a:r>
              <a:rPr lang="en-US" altLang="zh-CN" sz="1200" dirty="0" err="1"/>
              <a:t>stkcd</a:t>
            </a:r>
            <a:r>
              <a:rPr lang="en-US" altLang="zh-CN" sz="1200" dirty="0"/>
              <a:t>)):</a:t>
            </a:r>
          </a:p>
          <a:p>
            <a:r>
              <a:rPr lang="en-US" altLang="zh-CN" sz="1200" dirty="0"/>
              <a:t>    I1=s==</a:t>
            </a:r>
            <a:r>
              <a:rPr lang="en-US" altLang="zh-CN" sz="1200" dirty="0" err="1"/>
              <a:t>stkcd</a:t>
            </a:r>
            <a:r>
              <a:rPr lang="en-US" altLang="zh-CN" sz="1200" dirty="0"/>
              <a:t>[i]</a:t>
            </a:r>
          </a:p>
          <a:p>
            <a:r>
              <a:rPr lang="en-US" altLang="zh-CN" sz="1200" dirty="0"/>
              <a:t>    I=I|I1</a:t>
            </a:r>
          </a:p>
          <a:p>
            <a:r>
              <a:rPr lang="en-US" altLang="zh-CN" sz="1200" dirty="0" err="1"/>
              <a:t>ddata</a:t>
            </a:r>
            <a:r>
              <a:rPr lang="en-US" altLang="zh-CN" sz="1200" dirty="0"/>
              <a:t>=data2[I</a:t>
            </a:r>
            <a:r>
              <a:rPr lang="en-US" altLang="zh-CN" sz="1200" dirty="0" smtClean="0"/>
              <a:t>,:]#</a:t>
            </a:r>
            <a:r>
              <a:rPr lang="zh-CN" altLang="en-US" sz="1200" dirty="0"/>
              <a:t>申万行业分类表中“计算机”行业所有上市公司股票代码对应的财务</a:t>
            </a:r>
            <a:r>
              <a:rPr lang="zh-CN" altLang="en-US" sz="1200" dirty="0" smtClean="0"/>
              <a:t>数据提取</a:t>
            </a:r>
            <a:r>
              <a:rPr lang="zh-CN" altLang="en-US" sz="1200" dirty="0"/>
              <a:t>申万行业分类表中</a:t>
            </a:r>
            <a:r>
              <a:rPr lang="zh-CN" altLang="en-US" sz="1200" dirty="0" smtClean="0"/>
              <a:t>“计算机”</a:t>
            </a:r>
            <a:endParaRPr lang="en-US" altLang="zh-CN" sz="1200" dirty="0" smtClean="0"/>
          </a:p>
          <a:p>
            <a:r>
              <a:rPr lang="zh-CN" altLang="en-US" sz="1200" dirty="0" smtClean="0"/>
              <a:t>行业</a:t>
            </a:r>
            <a:r>
              <a:rPr lang="zh-CN" altLang="en-US" sz="1200" dirty="0"/>
              <a:t>所有上市公司股票代码对应的财务指标数据</a:t>
            </a:r>
            <a:r>
              <a:rPr lang="en-US" altLang="zh-CN" sz="1200" dirty="0"/>
              <a:t>X</a:t>
            </a:r>
            <a:r>
              <a:rPr lang="zh-CN" altLang="en-US" sz="1200" dirty="0"/>
              <a:t>，用来作主成分分析</a:t>
            </a:r>
            <a:r>
              <a:rPr lang="zh-CN" altLang="en-US" sz="1200" dirty="0" smtClean="0"/>
              <a:t>。</a:t>
            </a:r>
            <a:r>
              <a:rPr lang="en-US" altLang="zh-CN" sz="1200" dirty="0" smtClean="0"/>
              <a:t>X=</a:t>
            </a:r>
            <a:r>
              <a:rPr lang="en-US" altLang="zh-CN" sz="1200" dirty="0" err="1" smtClean="0"/>
              <a:t>ddata</a:t>
            </a:r>
            <a:r>
              <a:rPr lang="en-US" altLang="zh-CN" sz="1200" dirty="0"/>
              <a:t>[:,1:]</a:t>
            </a:r>
          </a:p>
          <a:p>
            <a:r>
              <a:rPr lang="en-US" altLang="zh-CN" sz="1200" dirty="0"/>
              <a:t>5.</a:t>
            </a:r>
            <a:r>
              <a:rPr lang="zh-CN" altLang="en-US" sz="1200" dirty="0"/>
              <a:t>对指标数据</a:t>
            </a:r>
            <a:r>
              <a:rPr lang="en-US" altLang="zh-CN" sz="1200" dirty="0"/>
              <a:t>X</a:t>
            </a:r>
            <a:r>
              <a:rPr lang="zh-CN" altLang="en-US" sz="1200" dirty="0"/>
              <a:t>做标准化</a:t>
            </a:r>
            <a:r>
              <a:rPr lang="zh-CN" altLang="en-US" sz="1200" dirty="0" smtClean="0"/>
              <a:t>处理这里</a:t>
            </a:r>
            <a:r>
              <a:rPr lang="zh-CN" altLang="en-US" sz="1200" dirty="0"/>
              <a:t>采用极差法进行标准化。</a:t>
            </a:r>
          </a:p>
          <a:p>
            <a:r>
              <a:rPr lang="en-US" altLang="zh-CN" sz="1200" dirty="0"/>
              <a:t>from </a:t>
            </a:r>
            <a:r>
              <a:rPr lang="en-US" altLang="zh-CN" sz="1200" dirty="0" err="1"/>
              <a:t>sklearn.preprocessing</a:t>
            </a:r>
            <a:r>
              <a:rPr lang="en-US" altLang="zh-CN" sz="1200" dirty="0"/>
              <a:t> import </a:t>
            </a:r>
            <a:r>
              <a:rPr lang="en-US" altLang="zh-CN" sz="1200" dirty="0" err="1"/>
              <a:t>MinMaxScaler</a:t>
            </a:r>
            <a:endParaRPr lang="en-US" altLang="zh-CN" sz="1200" dirty="0"/>
          </a:p>
          <a:p>
            <a:r>
              <a:rPr lang="en-US" altLang="zh-CN" sz="1200" dirty="0" err="1"/>
              <a:t>scaler</a:t>
            </a:r>
            <a:r>
              <a:rPr lang="en-US" altLang="zh-CN" sz="1200" dirty="0"/>
              <a:t> =  </a:t>
            </a:r>
            <a:r>
              <a:rPr lang="en-US" altLang="zh-CN" sz="1200" dirty="0" err="1"/>
              <a:t>MinMaxScaler</a:t>
            </a:r>
            <a:r>
              <a:rPr lang="en-US" altLang="zh-CN" sz="1200" dirty="0"/>
              <a:t>()</a:t>
            </a:r>
          </a:p>
          <a:p>
            <a:r>
              <a:rPr lang="en-US" altLang="zh-CN" sz="1200" dirty="0" err="1"/>
              <a:t>scaler.fit</a:t>
            </a:r>
            <a:r>
              <a:rPr lang="en-US" altLang="zh-CN" sz="1200" dirty="0"/>
              <a:t>(X) </a:t>
            </a:r>
          </a:p>
          <a:p>
            <a:r>
              <a:rPr lang="en-US" altLang="zh-CN" sz="1200" dirty="0"/>
              <a:t>X=</a:t>
            </a:r>
            <a:r>
              <a:rPr lang="en-US" altLang="zh-CN" sz="1200" dirty="0" err="1"/>
              <a:t>scaler.transform</a:t>
            </a:r>
            <a:r>
              <a:rPr lang="en-US" altLang="zh-CN" sz="1200" dirty="0"/>
              <a:t>(X)</a:t>
            </a:r>
          </a:p>
          <a:p>
            <a:r>
              <a:rPr lang="en-US" altLang="zh-CN" sz="1200" dirty="0"/>
              <a:t>6.</a:t>
            </a:r>
            <a:r>
              <a:rPr lang="zh-CN" altLang="en-US" sz="1200" dirty="0"/>
              <a:t>对标准化后的</a:t>
            </a:r>
            <a:r>
              <a:rPr lang="en-US" altLang="zh-CN" sz="1200" dirty="0"/>
              <a:t>X</a:t>
            </a:r>
            <a:r>
              <a:rPr lang="zh-CN" altLang="en-US" sz="1200" dirty="0"/>
              <a:t>作主成分分析</a:t>
            </a:r>
          </a:p>
          <a:p>
            <a:r>
              <a:rPr lang="zh-CN" altLang="en-US" sz="1200" dirty="0"/>
              <a:t>获得主成分、主成分对应的系数（特征向量）和各主成分贡献率，为了后续</a:t>
            </a:r>
            <a:r>
              <a:rPr lang="en-US" altLang="zh-CN" sz="1200" dirty="0"/>
              <a:t>K-</a:t>
            </a:r>
            <a:r>
              <a:rPr lang="zh-CN" altLang="en-US" sz="1200" dirty="0"/>
              <a:t>均值聚类算法的应用</a:t>
            </a:r>
            <a:r>
              <a:rPr lang="zh-CN" altLang="en-US" sz="1200" dirty="0" smtClean="0"/>
              <a:t>，</a:t>
            </a:r>
            <a:endParaRPr lang="en-US" altLang="zh-CN" sz="1200" dirty="0" smtClean="0"/>
          </a:p>
          <a:p>
            <a:r>
              <a:rPr lang="zh-CN" altLang="en-US" sz="1200" dirty="0" smtClean="0"/>
              <a:t>这里</a:t>
            </a:r>
            <a:r>
              <a:rPr lang="zh-CN" altLang="en-US" sz="1200" dirty="0"/>
              <a:t>再对提取的主成分作标准化处理（极差法）。</a:t>
            </a:r>
          </a:p>
          <a:p>
            <a:r>
              <a:rPr lang="en-US" altLang="zh-CN" sz="1200" dirty="0"/>
              <a:t>from </a:t>
            </a:r>
            <a:r>
              <a:rPr lang="en-US" altLang="zh-CN" sz="1200" dirty="0" err="1"/>
              <a:t>sklearn.decomposition</a:t>
            </a:r>
            <a:r>
              <a:rPr lang="en-US" altLang="zh-CN" sz="1200" dirty="0"/>
              <a:t> import PCA </a:t>
            </a:r>
          </a:p>
          <a:p>
            <a:r>
              <a:rPr lang="en-US" altLang="zh-CN" sz="1200" dirty="0" err="1"/>
              <a:t>pca</a:t>
            </a:r>
            <a:r>
              <a:rPr lang="en-US" altLang="zh-CN" sz="1200" dirty="0"/>
              <a:t>=PCA(</a:t>
            </a:r>
            <a:r>
              <a:rPr lang="en-US" altLang="zh-CN" sz="1200" dirty="0" err="1"/>
              <a:t>n_components</a:t>
            </a:r>
            <a:r>
              <a:rPr lang="en-US" altLang="zh-CN" sz="1200" dirty="0"/>
              <a:t>=0.95)      #</a:t>
            </a:r>
            <a:r>
              <a:rPr lang="zh-CN" altLang="en-US" sz="1200" dirty="0"/>
              <a:t>累计贡献率为</a:t>
            </a:r>
            <a:r>
              <a:rPr lang="en-US" altLang="zh-CN" sz="1200" dirty="0"/>
              <a:t>95%</a:t>
            </a:r>
          </a:p>
          <a:p>
            <a:r>
              <a:rPr lang="en-US" altLang="zh-CN" sz="1200" dirty="0"/>
              <a:t>Y=</a:t>
            </a:r>
            <a:r>
              <a:rPr lang="en-US" altLang="zh-CN" sz="1200" dirty="0" err="1"/>
              <a:t>pca.fit_transform</a:t>
            </a:r>
            <a:r>
              <a:rPr lang="en-US" altLang="zh-CN" sz="1200" dirty="0"/>
              <a:t>(X)             #</a:t>
            </a:r>
            <a:r>
              <a:rPr lang="zh-CN" altLang="en-US" sz="1200" dirty="0"/>
              <a:t>提取的主成分</a:t>
            </a:r>
          </a:p>
          <a:p>
            <a:r>
              <a:rPr lang="en-US" altLang="zh-CN" sz="1200" dirty="0" err="1"/>
              <a:t>tzxl</a:t>
            </a:r>
            <a:r>
              <a:rPr lang="en-US" altLang="zh-CN" sz="1200" dirty="0"/>
              <a:t>=</a:t>
            </a:r>
            <a:r>
              <a:rPr lang="en-US" altLang="zh-CN" sz="1200" dirty="0" err="1"/>
              <a:t>pca.components</a:t>
            </a:r>
            <a:r>
              <a:rPr lang="en-US" altLang="zh-CN" sz="1200" dirty="0"/>
              <a:t>_              #</a:t>
            </a:r>
            <a:r>
              <a:rPr lang="zh-CN" altLang="en-US" sz="1200" dirty="0"/>
              <a:t>返回特征向量</a:t>
            </a:r>
          </a:p>
          <a:p>
            <a:r>
              <a:rPr lang="en-US" altLang="zh-CN" sz="1200" dirty="0" err="1"/>
              <a:t>gxl</a:t>
            </a:r>
            <a:r>
              <a:rPr lang="en-US" altLang="zh-CN" sz="1200" dirty="0"/>
              <a:t>=</a:t>
            </a:r>
            <a:r>
              <a:rPr lang="en-US" altLang="zh-CN" sz="1200" dirty="0" err="1"/>
              <a:t>pca.explained_variance_ratio</a:t>
            </a:r>
            <a:r>
              <a:rPr lang="en-US" altLang="zh-CN" sz="1200" dirty="0"/>
              <a:t>_    #</a:t>
            </a:r>
            <a:r>
              <a:rPr lang="zh-CN" altLang="en-US" sz="1200" dirty="0"/>
              <a:t>返回主成分方差百分比（贡献率）</a:t>
            </a:r>
          </a:p>
          <a:p>
            <a:r>
              <a:rPr lang="en-US" altLang="zh-CN" sz="1200" dirty="0"/>
              <a:t>#</a:t>
            </a:r>
            <a:r>
              <a:rPr lang="zh-CN" altLang="en-US" sz="1200" dirty="0"/>
              <a:t>对主成分</a:t>
            </a:r>
            <a:r>
              <a:rPr lang="en-US" altLang="zh-CN" sz="1200" dirty="0"/>
              <a:t>Y</a:t>
            </a:r>
            <a:r>
              <a:rPr lang="zh-CN" altLang="en-US" sz="1200" dirty="0"/>
              <a:t>作标准化处理（极差法）</a:t>
            </a:r>
          </a:p>
          <a:p>
            <a:r>
              <a:rPr lang="en-US" altLang="zh-CN" sz="1200" dirty="0" err="1"/>
              <a:t>scaler</a:t>
            </a:r>
            <a:r>
              <a:rPr lang="en-US" altLang="zh-CN" sz="1200" dirty="0"/>
              <a:t> =  </a:t>
            </a:r>
            <a:r>
              <a:rPr lang="en-US" altLang="zh-CN" sz="1200" dirty="0" err="1"/>
              <a:t>MinMaxScaler</a:t>
            </a:r>
            <a:r>
              <a:rPr lang="en-US" altLang="zh-CN" sz="1200" dirty="0"/>
              <a:t>()</a:t>
            </a:r>
          </a:p>
          <a:p>
            <a:r>
              <a:rPr lang="en-US" altLang="zh-CN" sz="1200" dirty="0" err="1"/>
              <a:t>scaler.fit</a:t>
            </a:r>
            <a:r>
              <a:rPr lang="en-US" altLang="zh-CN" sz="1200" dirty="0"/>
              <a:t>(Y) </a:t>
            </a:r>
          </a:p>
          <a:p>
            <a:r>
              <a:rPr lang="en-US" altLang="zh-CN" sz="1200" dirty="0"/>
              <a:t>Y=</a:t>
            </a:r>
            <a:r>
              <a:rPr lang="en-US" altLang="zh-CN" sz="1200" dirty="0" err="1"/>
              <a:t>scaler.transform</a:t>
            </a:r>
            <a:r>
              <a:rPr lang="en-US" altLang="zh-CN" sz="1200" dirty="0"/>
              <a:t>(Y</a:t>
            </a:r>
            <a:r>
              <a:rPr lang="en-US" altLang="zh-CN" sz="1200" dirty="0" smtClean="0"/>
              <a:t>)</a:t>
            </a:r>
          </a:p>
          <a:p>
            <a:r>
              <a:rPr lang="zh-CN" altLang="en-US" sz="1200" dirty="0"/>
              <a:t>相关结果</a:t>
            </a:r>
            <a:r>
              <a:rPr lang="zh-CN" altLang="en-US" sz="1200" dirty="0" smtClean="0"/>
              <a:t>如右图</a:t>
            </a:r>
            <a:r>
              <a:rPr lang="en-US" altLang="zh-CN" sz="1200" dirty="0"/>
              <a:t>7-21</a:t>
            </a:r>
            <a:r>
              <a:rPr lang="zh-CN" altLang="en-US" sz="1200" dirty="0"/>
              <a:t>所示。</a:t>
            </a:r>
            <a:endParaRPr lang="en-US" altLang="zh-CN" sz="1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461" y="2922665"/>
            <a:ext cx="5378302" cy="3818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55872" y="46107"/>
            <a:ext cx="721588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7.7.2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案列分析及计算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714" y="569321"/>
            <a:ext cx="11960179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    从结果可以看出由原来的</a:t>
            </a:r>
            <a:r>
              <a:rPr lang="en-US" altLang="zh-CN" sz="1400" dirty="0"/>
              <a:t>8</a:t>
            </a:r>
            <a:r>
              <a:rPr lang="zh-CN" altLang="en-US" sz="1400" dirty="0"/>
              <a:t>个变量经过主成分分析获得了</a:t>
            </a:r>
            <a:r>
              <a:rPr lang="en-US" altLang="zh-CN" sz="1400" dirty="0"/>
              <a:t>3</a:t>
            </a:r>
            <a:r>
              <a:rPr lang="zh-CN" altLang="en-US" sz="1400" dirty="0"/>
              <a:t>个主成分，这三个主成分提取的信息占比在</a:t>
            </a:r>
            <a:r>
              <a:rPr lang="en-US" altLang="zh-CN" sz="1400" dirty="0"/>
              <a:t>95%</a:t>
            </a:r>
            <a:r>
              <a:rPr lang="zh-CN" altLang="en-US" sz="1400" dirty="0"/>
              <a:t>以上。其中第一主成分贡献率为</a:t>
            </a:r>
            <a:r>
              <a:rPr lang="en-US" altLang="zh-CN" sz="1400" dirty="0"/>
              <a:t>67.8477%</a:t>
            </a:r>
            <a:r>
              <a:rPr lang="zh-CN" altLang="en-US" sz="1400" dirty="0"/>
              <a:t>，第二主成分贡献率为</a:t>
            </a:r>
            <a:r>
              <a:rPr lang="en-US" altLang="zh-CN" sz="1400" dirty="0"/>
              <a:t>20.9137%</a:t>
            </a:r>
            <a:r>
              <a:rPr lang="zh-CN" altLang="en-US" sz="1400" dirty="0"/>
              <a:t>，第三个主成分贡献率为</a:t>
            </a:r>
            <a:r>
              <a:rPr lang="en-US" altLang="zh-CN" sz="1400" dirty="0"/>
              <a:t>7.2121%</a:t>
            </a:r>
            <a:r>
              <a:rPr lang="zh-CN" altLang="en-US" sz="1400" dirty="0"/>
              <a:t>，三个主成分表达式为：</a:t>
            </a:r>
          </a:p>
          <a:p>
            <a:r>
              <a:rPr lang="en-US" altLang="zh-CN" dirty="0" smtClean="0"/>
              <a:t>   Y1</a:t>
            </a:r>
            <a:r>
              <a:rPr lang="en-US" altLang="zh-CN" dirty="0"/>
              <a:t>= 0.3583*X1+0.3777*X2+0.4025*X3+0.4337*X4+0.375*X5+0.2696*X6+0.3205*X7+0.2508*X8</a:t>
            </a:r>
          </a:p>
          <a:p>
            <a:r>
              <a:rPr lang="en-US" altLang="zh-CN" dirty="0" smtClean="0"/>
              <a:t>   Y2</a:t>
            </a:r>
            <a:r>
              <a:rPr lang="en-US" altLang="zh-CN" dirty="0"/>
              <a:t>= 0.3593*X1+0.1897*X2+0.1434*X4+0.4053*X4-0.3458*X5-0.658*X6-0.2331*X7-0.2076*X8</a:t>
            </a:r>
          </a:p>
          <a:p>
            <a:r>
              <a:rPr lang="en-US" altLang="zh-CN" dirty="0" smtClean="0"/>
              <a:t>   Y3</a:t>
            </a:r>
            <a:r>
              <a:rPr lang="en-US" altLang="zh-CN" dirty="0"/>
              <a:t>= </a:t>
            </a:r>
            <a:r>
              <a:rPr lang="en-US" altLang="zh-CN" dirty="0" smtClean="0"/>
              <a:t>0.0673*X1+0.0213*X2-0.0006*X3+0.32*X4-0.3328*X5+0.6801*X6-0.4713*X7-0.3118*X8</a:t>
            </a:r>
            <a:endParaRPr lang="en-US" altLang="zh-CN" dirty="0"/>
          </a:p>
          <a:p>
            <a:r>
              <a:rPr lang="zh-CN" altLang="en-US" sz="1400" dirty="0"/>
              <a:t>从表达式可以看出</a:t>
            </a:r>
            <a:r>
              <a:rPr lang="en-US" altLang="zh-CN" sz="1400" dirty="0"/>
              <a:t>Y1</a:t>
            </a:r>
            <a:r>
              <a:rPr lang="zh-CN" altLang="en-US" sz="1400" dirty="0"/>
              <a:t>为各指标的加权和，反映了一个公司的综合盈利能力，可以称为综合盈利能力因子；</a:t>
            </a:r>
            <a:r>
              <a:rPr lang="en-US" altLang="zh-CN" sz="1400" dirty="0"/>
              <a:t>Y2</a:t>
            </a:r>
            <a:r>
              <a:rPr lang="zh-CN" altLang="en-US" sz="1400" dirty="0"/>
              <a:t>表达式中，</a:t>
            </a:r>
            <a:r>
              <a:rPr lang="en-US" altLang="zh-CN" sz="1400" dirty="0"/>
              <a:t>X1~X4</a:t>
            </a:r>
            <a:r>
              <a:rPr lang="zh-CN" altLang="en-US" sz="1400" dirty="0"/>
              <a:t>指标系数为正，</a:t>
            </a:r>
            <a:r>
              <a:rPr lang="en-US" altLang="zh-CN" sz="1400" dirty="0"/>
              <a:t>X5~X8</a:t>
            </a:r>
            <a:r>
              <a:rPr lang="zh-CN" altLang="en-US" sz="1400" dirty="0"/>
              <a:t>指标系数为负，而</a:t>
            </a:r>
            <a:r>
              <a:rPr lang="en-US" altLang="zh-CN" sz="1400" dirty="0"/>
              <a:t>X5~X8</a:t>
            </a:r>
            <a:r>
              <a:rPr lang="zh-CN" altLang="en-US" sz="1400" dirty="0"/>
              <a:t>依次表示营业净利率、营业毛利率、营业利润率、成本费用利润率，反应的是产品销售利润率方面的指标，当</a:t>
            </a:r>
            <a:r>
              <a:rPr lang="en-US" altLang="zh-CN" sz="1400" dirty="0"/>
              <a:t>Y2</a:t>
            </a:r>
            <a:r>
              <a:rPr lang="zh-CN" altLang="en-US" sz="1400" dirty="0"/>
              <a:t>值较小时，其</a:t>
            </a:r>
            <a:r>
              <a:rPr lang="en-US" altLang="zh-CN" sz="1400" dirty="0"/>
              <a:t>X5~X8</a:t>
            </a:r>
            <a:r>
              <a:rPr lang="zh-CN" altLang="en-US" sz="1400" dirty="0"/>
              <a:t>指标值相对较大，反之较小，故可以称</a:t>
            </a:r>
            <a:r>
              <a:rPr lang="en-US" altLang="zh-CN" sz="1400" dirty="0"/>
              <a:t>Y2</a:t>
            </a:r>
            <a:r>
              <a:rPr lang="zh-CN" altLang="en-US" sz="1400" dirty="0"/>
              <a:t>为产品竞争力因子；</a:t>
            </a:r>
            <a:r>
              <a:rPr lang="en-US" altLang="zh-CN" sz="1400" dirty="0"/>
              <a:t>Y3</a:t>
            </a:r>
            <a:r>
              <a:rPr lang="zh-CN" altLang="en-US" sz="1400" dirty="0"/>
              <a:t>表达式中，</a:t>
            </a:r>
            <a:r>
              <a:rPr lang="en-US" altLang="zh-CN" sz="1400" dirty="0"/>
              <a:t>X5</a:t>
            </a:r>
            <a:r>
              <a:rPr lang="zh-CN" altLang="en-US" sz="1400" dirty="0"/>
              <a:t>、</a:t>
            </a:r>
            <a:r>
              <a:rPr lang="en-US" altLang="zh-CN" sz="1400" dirty="0"/>
              <a:t>X7</a:t>
            </a:r>
            <a:r>
              <a:rPr lang="zh-CN" altLang="en-US" sz="1400" dirty="0"/>
              <a:t>、</a:t>
            </a:r>
            <a:r>
              <a:rPr lang="en-US" altLang="zh-CN" sz="1400" dirty="0"/>
              <a:t>X8</a:t>
            </a:r>
            <a:r>
              <a:rPr lang="zh-CN" altLang="en-US" sz="1400" dirty="0"/>
              <a:t>指标系数为较大的负值，指标依次表示营业净利率、营业利润率、成本费用利润率，与</a:t>
            </a:r>
            <a:r>
              <a:rPr lang="en-US" altLang="zh-CN" sz="1400" dirty="0"/>
              <a:t>Y2</a:t>
            </a:r>
            <a:r>
              <a:rPr lang="zh-CN" altLang="en-US" sz="1400" dirty="0"/>
              <a:t>相比，系数为较大负值指标少了营业毛利率，相反在</a:t>
            </a:r>
            <a:r>
              <a:rPr lang="en-US" altLang="zh-CN" sz="1400" dirty="0"/>
              <a:t>Y3</a:t>
            </a:r>
            <a:r>
              <a:rPr lang="zh-CN" altLang="en-US" sz="1400" dirty="0"/>
              <a:t>中营业毛利率指标是最大的正系数，故</a:t>
            </a:r>
            <a:r>
              <a:rPr lang="en-US" altLang="zh-CN" sz="1400" dirty="0"/>
              <a:t>Y3</a:t>
            </a:r>
            <a:r>
              <a:rPr lang="zh-CN" altLang="en-US" sz="1400" dirty="0"/>
              <a:t>可以称为管理能力因子。</a:t>
            </a:r>
          </a:p>
          <a:p>
            <a:r>
              <a:rPr lang="en-US" altLang="zh-CN" sz="2000" dirty="0"/>
              <a:t>7. k-</a:t>
            </a:r>
            <a:r>
              <a:rPr lang="zh-CN" altLang="en-US" sz="2000" dirty="0"/>
              <a:t>均值聚类分析</a:t>
            </a:r>
          </a:p>
          <a:p>
            <a:r>
              <a:rPr lang="zh-CN" altLang="en-US" sz="1400" dirty="0"/>
              <a:t>基于提取的主成分</a:t>
            </a:r>
            <a:r>
              <a:rPr lang="en-US" altLang="zh-CN" sz="1400" dirty="0"/>
              <a:t>Y1~Y3</a:t>
            </a:r>
            <a:r>
              <a:rPr lang="zh-CN" altLang="en-US" sz="1400" dirty="0"/>
              <a:t>，将上市公司分为</a:t>
            </a:r>
            <a:r>
              <a:rPr lang="en-US" altLang="zh-CN" sz="1400" dirty="0"/>
              <a:t>5</a:t>
            </a:r>
            <a:r>
              <a:rPr lang="zh-CN" altLang="en-US" sz="1400" dirty="0"/>
              <a:t>类，并将每一类公司名称输出到</a:t>
            </a:r>
            <a:r>
              <a:rPr lang="en-US" altLang="zh-CN" sz="1400" dirty="0"/>
              <a:t>Excel</a:t>
            </a:r>
            <a:r>
              <a:rPr lang="zh-CN" altLang="en-US" sz="1400" dirty="0"/>
              <a:t>表格中，示例代码如下：</a:t>
            </a:r>
          </a:p>
          <a:p>
            <a:r>
              <a:rPr lang="en-US" altLang="zh-CN" sz="1400" dirty="0"/>
              <a:t>from </a:t>
            </a:r>
            <a:r>
              <a:rPr lang="en-US" altLang="zh-CN" sz="1400" dirty="0" err="1"/>
              <a:t>sklearn.cluster</a:t>
            </a:r>
            <a:r>
              <a:rPr lang="en-US" altLang="zh-CN" sz="1400" dirty="0"/>
              <a:t> import </a:t>
            </a:r>
            <a:r>
              <a:rPr lang="en-US" altLang="zh-CN" sz="1400" dirty="0" err="1"/>
              <a:t>KMeans</a:t>
            </a:r>
            <a:r>
              <a:rPr lang="en-US" altLang="zh-CN" sz="1400" dirty="0"/>
              <a:t>   </a:t>
            </a:r>
          </a:p>
          <a:p>
            <a:r>
              <a:rPr lang="en-US" altLang="zh-CN" sz="1400" dirty="0"/>
              <a:t>model = </a:t>
            </a:r>
            <a:r>
              <a:rPr lang="en-US" altLang="zh-CN" sz="1400" dirty="0" err="1"/>
              <a:t>KMeans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n_clusters</a:t>
            </a:r>
            <a:r>
              <a:rPr lang="en-US" altLang="zh-CN" sz="1400" dirty="0"/>
              <a:t> = 5, </a:t>
            </a:r>
            <a:r>
              <a:rPr lang="en-US" altLang="zh-CN" sz="1400" dirty="0" err="1"/>
              <a:t>random_state</a:t>
            </a:r>
            <a:r>
              <a:rPr lang="en-US" altLang="zh-CN" sz="1400" dirty="0"/>
              <a:t>=0, </a:t>
            </a:r>
            <a:r>
              <a:rPr lang="en-US" altLang="zh-CN" sz="1400" dirty="0" err="1"/>
              <a:t>max_iter</a:t>
            </a:r>
            <a:r>
              <a:rPr lang="en-US" altLang="zh-CN" sz="1400" dirty="0"/>
              <a:t> = 1000) </a:t>
            </a:r>
          </a:p>
          <a:p>
            <a:r>
              <a:rPr lang="en-US" altLang="zh-CN" sz="1400" dirty="0" err="1"/>
              <a:t>model.fit</a:t>
            </a:r>
            <a:r>
              <a:rPr lang="en-US" altLang="zh-CN" sz="1400" dirty="0"/>
              <a:t>(Y) </a:t>
            </a:r>
          </a:p>
          <a:p>
            <a:r>
              <a:rPr lang="en-US" altLang="zh-CN" sz="1400" dirty="0"/>
              <a:t>c=</a:t>
            </a:r>
            <a:r>
              <a:rPr lang="en-US" altLang="zh-CN" sz="1400" dirty="0" err="1"/>
              <a:t>model.labels</a:t>
            </a:r>
            <a:r>
              <a:rPr lang="en-US" altLang="zh-CN" sz="1400" dirty="0"/>
              <a:t>_            #</a:t>
            </a:r>
            <a:r>
              <a:rPr lang="zh-CN" altLang="en-US" sz="1400" dirty="0"/>
              <a:t>类标签</a:t>
            </a:r>
          </a:p>
          <a:p>
            <a:r>
              <a:rPr lang="en-US" altLang="zh-CN" sz="1400" dirty="0"/>
              <a:t>center=</a:t>
            </a:r>
            <a:r>
              <a:rPr lang="en-US" altLang="zh-CN" sz="1400" dirty="0" err="1"/>
              <a:t>model.cluster_centers</a:t>
            </a:r>
            <a:r>
              <a:rPr lang="en-US" altLang="zh-CN" sz="1400" dirty="0"/>
              <a:t>_ #</a:t>
            </a:r>
            <a:r>
              <a:rPr lang="zh-CN" altLang="en-US" sz="1400" dirty="0"/>
              <a:t>聚类中心</a:t>
            </a:r>
          </a:p>
          <a:p>
            <a:r>
              <a:rPr lang="en-US" altLang="zh-CN" sz="1400" dirty="0"/>
              <a:t>center=</a:t>
            </a:r>
            <a:r>
              <a:rPr lang="en-US" altLang="zh-CN" sz="1400" dirty="0" err="1"/>
              <a:t>pd.DataFrame</a:t>
            </a:r>
            <a:r>
              <a:rPr lang="en-US" altLang="zh-CN" sz="1400" dirty="0"/>
              <a:t>(center)</a:t>
            </a:r>
          </a:p>
          <a:p>
            <a:r>
              <a:rPr lang="en-US" altLang="zh-CN" sz="1400" dirty="0" err="1"/>
              <a:t>center.columns</a:t>
            </a:r>
            <a:r>
              <a:rPr lang="en-US" altLang="zh-CN" sz="1400" dirty="0"/>
              <a:t>=['Y1','Y2','Y3']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将类标签及对应的股票代码，构建序列</a:t>
            </a:r>
            <a:r>
              <a:rPr lang="en-US" altLang="zh-CN" sz="1400" dirty="0" err="1"/>
              <a:t>Fs</a:t>
            </a:r>
            <a:r>
              <a:rPr lang="zh-CN" altLang="en-US" sz="1400" dirty="0"/>
              <a:t>，其中股票代码为</a:t>
            </a:r>
            <a:r>
              <a:rPr lang="en-US" altLang="zh-CN" sz="1400" dirty="0"/>
              <a:t>index</a:t>
            </a:r>
            <a:r>
              <a:rPr lang="zh-CN" altLang="en-US" sz="1400" dirty="0"/>
              <a:t>，类标签为值</a:t>
            </a:r>
          </a:p>
          <a:p>
            <a:r>
              <a:rPr lang="en-US" altLang="zh-CN" sz="1400" dirty="0" err="1"/>
              <a:t>Fs</a:t>
            </a:r>
            <a:r>
              <a:rPr lang="en-US" altLang="zh-CN" sz="1400" dirty="0"/>
              <a:t>=</a:t>
            </a:r>
            <a:r>
              <a:rPr lang="en-US" altLang="zh-CN" sz="1400" dirty="0" err="1"/>
              <a:t>pd.Series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c,index</a:t>
            </a:r>
            <a:r>
              <a:rPr lang="en-US" altLang="zh-CN" sz="1400" dirty="0"/>
              <a:t>=</a:t>
            </a:r>
            <a:r>
              <a:rPr lang="en-US" altLang="zh-CN" sz="1400" dirty="0" err="1"/>
              <a:t>ddata</a:t>
            </a:r>
            <a:r>
              <a:rPr lang="en-US" altLang="zh-CN" sz="1400" dirty="0"/>
              <a:t>[:,0])</a:t>
            </a:r>
          </a:p>
          <a:p>
            <a:r>
              <a:rPr lang="en-US" altLang="zh-CN" sz="1400" dirty="0" err="1"/>
              <a:t>Fs</a:t>
            </a:r>
            <a:r>
              <a:rPr lang="en-US" altLang="zh-CN" sz="1400" dirty="0"/>
              <a:t>=</a:t>
            </a:r>
            <a:r>
              <a:rPr lang="en-US" altLang="zh-CN" sz="1400" dirty="0" err="1"/>
              <a:t>Fs.sort_values</a:t>
            </a:r>
            <a:r>
              <a:rPr lang="en-US" altLang="zh-CN" sz="1400" dirty="0"/>
              <a:t>()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获得公司基本信息表，并将其公司名称及对应的股票代码构建序列</a:t>
            </a:r>
            <a:r>
              <a:rPr lang="en-US" altLang="zh-CN" sz="1400" dirty="0"/>
              <a:t>co1</a:t>
            </a:r>
          </a:p>
          <a:p>
            <a:r>
              <a:rPr lang="en-US" altLang="zh-CN" sz="1400" dirty="0"/>
              <a:t>#</a:t>
            </a:r>
            <a:r>
              <a:rPr lang="zh-CN" altLang="en-US" sz="1400" dirty="0"/>
              <a:t>其中股票代码为</a:t>
            </a:r>
            <a:r>
              <a:rPr lang="en-US" altLang="zh-CN" sz="1400" dirty="0"/>
              <a:t>index</a:t>
            </a:r>
            <a:r>
              <a:rPr lang="zh-CN" altLang="en-US" sz="1400" dirty="0"/>
              <a:t>，公司名称为值</a:t>
            </a:r>
          </a:p>
          <a:p>
            <a:r>
              <a:rPr lang="en-US" altLang="zh-CN" sz="1400" dirty="0"/>
              <a:t>co=</a:t>
            </a:r>
            <a:r>
              <a:rPr lang="en-US" altLang="zh-CN" sz="1400" dirty="0" err="1"/>
              <a:t>pd.read_excel</a:t>
            </a:r>
            <a:r>
              <a:rPr lang="en-US" altLang="zh-CN" sz="1400" dirty="0"/>
              <a:t>('</a:t>
            </a:r>
            <a:r>
              <a:rPr lang="zh-CN" altLang="en-US" sz="1400" dirty="0"/>
              <a:t>公司基本信息表</a:t>
            </a:r>
            <a:r>
              <a:rPr lang="en-US" altLang="zh-CN" sz="1400" dirty="0"/>
              <a:t>.</a:t>
            </a:r>
            <a:r>
              <a:rPr lang="en-US" altLang="zh-CN" sz="1400" dirty="0" err="1"/>
              <a:t>xlsx</a:t>
            </a:r>
            <a:r>
              <a:rPr lang="en-US" altLang="zh-CN" sz="1400" dirty="0"/>
              <a:t>')</a:t>
            </a:r>
          </a:p>
          <a:p>
            <a:r>
              <a:rPr lang="zh-CN" altLang="en-US" sz="1400" dirty="0"/>
              <a:t>公司基本信息表结构</a:t>
            </a:r>
            <a:r>
              <a:rPr lang="zh-CN" altLang="en-US" sz="1400" dirty="0" smtClean="0"/>
              <a:t>如右图</a:t>
            </a:r>
            <a:r>
              <a:rPr lang="en-US" altLang="zh-CN" sz="1400" dirty="0"/>
              <a:t>7-22</a:t>
            </a:r>
            <a:r>
              <a:rPr lang="zh-CN" altLang="en-US" sz="1400" dirty="0"/>
              <a:t>所示</a:t>
            </a:r>
            <a:r>
              <a:rPr lang="zh-CN" altLang="en-US" sz="1400" dirty="0" smtClean="0"/>
              <a:t>：</a:t>
            </a:r>
            <a:endParaRPr lang="en-US" altLang="zh-CN" sz="1400" dirty="0" smtClean="0"/>
          </a:p>
          <a:p>
            <a:r>
              <a:rPr lang="en-US" altLang="zh-CN" sz="1400" dirty="0" smtClean="0"/>
              <a:t>co1=</a:t>
            </a:r>
            <a:r>
              <a:rPr lang="en-US" altLang="zh-CN" sz="1400" dirty="0" err="1" smtClean="0"/>
              <a:t>pd.Series</a:t>
            </a:r>
            <a:r>
              <a:rPr lang="en-US" altLang="zh-CN" sz="1400" dirty="0" smtClean="0"/>
              <a:t>(co</a:t>
            </a:r>
            <a:r>
              <a:rPr lang="en-US" altLang="zh-CN" sz="1400" dirty="0"/>
              <a:t>['</a:t>
            </a:r>
            <a:r>
              <a:rPr lang="en-US" altLang="zh-CN" sz="1400" dirty="0" err="1"/>
              <a:t>Stknme</a:t>
            </a:r>
            <a:r>
              <a:rPr lang="en-US" altLang="zh-CN" sz="1400" dirty="0"/>
              <a:t>'].</a:t>
            </a:r>
            <a:r>
              <a:rPr lang="en-US" altLang="zh-CN" sz="1400" dirty="0" err="1"/>
              <a:t>values,index</a:t>
            </a:r>
            <a:r>
              <a:rPr lang="en-US" altLang="zh-CN" sz="1400" dirty="0"/>
              <a:t>=co['</a:t>
            </a:r>
            <a:r>
              <a:rPr lang="en-US" altLang="zh-CN" sz="1400" dirty="0" err="1"/>
              <a:t>Stkcd</a:t>
            </a:r>
            <a:r>
              <a:rPr lang="en-US" altLang="zh-CN" sz="1400" dirty="0"/>
              <a:t>'].values)</a:t>
            </a:r>
          </a:p>
          <a:p>
            <a:endParaRPr lang="zh-CN" altLang="en-US" sz="1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185" y="3068960"/>
            <a:ext cx="4854708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4" y="97474"/>
            <a:ext cx="8531529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7.7.2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案列分析及计算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557" y="692696"/>
            <a:ext cx="71539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#</a:t>
            </a:r>
            <a:r>
              <a:rPr lang="zh-CN" altLang="en-US" dirty="0"/>
              <a:t>利用序列</a:t>
            </a:r>
            <a:r>
              <a:rPr lang="en-US" altLang="zh-CN" dirty="0" err="1"/>
              <a:t>Fs</a:t>
            </a:r>
            <a:r>
              <a:rPr lang="zh-CN" altLang="en-US" dirty="0"/>
              <a:t>和</a:t>
            </a:r>
            <a:r>
              <a:rPr lang="en-US" altLang="zh-CN" dirty="0"/>
              <a:t>co1</a:t>
            </a:r>
            <a:r>
              <a:rPr lang="zh-CN" altLang="en-US" dirty="0"/>
              <a:t>，筛选出每一类股票代码对应的上市公司</a:t>
            </a:r>
            <a:r>
              <a:rPr lang="zh-CN" altLang="en-US" dirty="0" smtClean="0"/>
              <a:t>名称，               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思路是通过</a:t>
            </a:r>
            <a:r>
              <a:rPr lang="en-US" altLang="zh-CN" dirty="0" err="1"/>
              <a:t>Fs</a:t>
            </a:r>
            <a:r>
              <a:rPr lang="zh-CN" altLang="en-US" dirty="0"/>
              <a:t>，筛选出对应类别的股票代码，再将其作为</a:t>
            </a:r>
            <a:r>
              <a:rPr lang="en-US" altLang="zh-CN" dirty="0"/>
              <a:t>index</a:t>
            </a:r>
            <a:r>
              <a:rPr lang="zh-CN" altLang="en-US" dirty="0" smtClean="0"/>
              <a:t>索引                      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从</a:t>
            </a:r>
            <a:r>
              <a:rPr lang="en-US" altLang="zh-CN" dirty="0"/>
              <a:t>co1</a:t>
            </a:r>
            <a:r>
              <a:rPr lang="zh-CN" altLang="en-US" dirty="0"/>
              <a:t>中选择对应的公司名称</a:t>
            </a:r>
          </a:p>
          <a:p>
            <a:r>
              <a:rPr lang="en-US" altLang="zh-CN" dirty="0"/>
              <a:t>for i in range(5):</a:t>
            </a:r>
          </a:p>
          <a:p>
            <a:r>
              <a:rPr lang="en-US" altLang="zh-CN" dirty="0"/>
              <a:t>    #</a:t>
            </a:r>
            <a:r>
              <a:rPr lang="zh-CN" altLang="en-US" dirty="0"/>
              <a:t>筛选出第</a:t>
            </a:r>
            <a:r>
              <a:rPr lang="en-US" altLang="zh-CN" dirty="0"/>
              <a:t>i</a:t>
            </a:r>
            <a:r>
              <a:rPr lang="zh-CN" altLang="en-US" dirty="0"/>
              <a:t>类股票代码对应的上市公司名称，转化为数据框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最终</a:t>
            </a:r>
            <a:r>
              <a:rPr lang="zh-CN" altLang="en-US" dirty="0"/>
              <a:t>输出到</a:t>
            </a:r>
            <a:r>
              <a:rPr lang="en-US" altLang="zh-CN" dirty="0"/>
              <a:t>Excel</a:t>
            </a:r>
            <a:r>
              <a:rPr lang="zh-CN" altLang="en-US" dirty="0"/>
              <a:t>中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q=co1[</a:t>
            </a:r>
            <a:r>
              <a:rPr lang="en-US" altLang="zh-CN" dirty="0" err="1"/>
              <a:t>Fs</a:t>
            </a:r>
            <a:r>
              <a:rPr lang="en-US" altLang="zh-CN" dirty="0"/>
              <a:t>[</a:t>
            </a:r>
            <a:r>
              <a:rPr lang="en-US" altLang="zh-CN" dirty="0" err="1"/>
              <a:t>Fs</a:t>
            </a:r>
            <a:r>
              <a:rPr lang="en-US" altLang="zh-CN" dirty="0"/>
              <a:t>==i].index]</a:t>
            </a:r>
          </a:p>
          <a:p>
            <a:r>
              <a:rPr lang="en-US" altLang="zh-CN" dirty="0"/>
              <a:t>    q=</a:t>
            </a:r>
            <a:r>
              <a:rPr lang="en-US" altLang="zh-CN" dirty="0" err="1"/>
              <a:t>pd.DataFrame</a:t>
            </a:r>
            <a:r>
              <a:rPr lang="en-US" altLang="zh-CN" dirty="0"/>
              <a:t>(q)</a:t>
            </a:r>
          </a:p>
          <a:p>
            <a:r>
              <a:rPr lang="en-US" altLang="zh-CN" dirty="0" err="1"/>
              <a:t>q.to_excel</a:t>
            </a:r>
            <a:r>
              <a:rPr lang="en-US" altLang="zh-CN" dirty="0"/>
              <a:t>('c'+</a:t>
            </a:r>
            <a:r>
              <a:rPr lang="en-US" altLang="zh-CN" dirty="0" err="1"/>
              <a:t>str</a:t>
            </a:r>
            <a:r>
              <a:rPr lang="en-US" altLang="zh-CN" dirty="0"/>
              <a:t>(i)+'.</a:t>
            </a:r>
            <a:r>
              <a:rPr lang="en-US" altLang="zh-CN" dirty="0" err="1"/>
              <a:t>xlsx</a:t>
            </a:r>
            <a:r>
              <a:rPr lang="en-US" altLang="zh-CN" dirty="0"/>
              <a:t>')</a:t>
            </a:r>
          </a:p>
          <a:p>
            <a:r>
              <a:rPr lang="zh-CN" altLang="en-US" dirty="0"/>
              <a:t>最终整理获得各类别的股票代码和对应的聚类</a:t>
            </a:r>
            <a:r>
              <a:rPr lang="zh-CN" altLang="en-US" dirty="0" smtClean="0"/>
              <a:t>中心</a:t>
            </a:r>
            <a:endParaRPr lang="en-US" altLang="zh-CN" dirty="0" smtClean="0"/>
          </a:p>
          <a:p>
            <a:r>
              <a:rPr lang="zh-CN" altLang="en-US" dirty="0" smtClean="0"/>
              <a:t>如下</a:t>
            </a:r>
            <a:r>
              <a:rPr lang="zh-CN" altLang="en-US" dirty="0"/>
              <a:t>表</a:t>
            </a:r>
            <a:r>
              <a:rPr lang="en-US" altLang="zh-CN" dirty="0"/>
              <a:t>7-11</a:t>
            </a:r>
            <a:r>
              <a:rPr lang="zh-CN" altLang="en-US" dirty="0"/>
              <a:t>和图</a:t>
            </a:r>
            <a:r>
              <a:rPr lang="en-US" altLang="zh-CN" dirty="0"/>
              <a:t>7-23</a:t>
            </a:r>
            <a:r>
              <a:rPr lang="zh-CN" altLang="en-US" dirty="0"/>
              <a:t>所示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413" y="1484784"/>
            <a:ext cx="5646861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5" y="4310053"/>
            <a:ext cx="4614863" cy="1996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7784967" y="980728"/>
            <a:ext cx="3065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 表</a:t>
            </a:r>
            <a:r>
              <a:rPr lang="en-US" altLang="zh-CN" dirty="0"/>
              <a:t>7-11 </a:t>
            </a:r>
            <a:r>
              <a:rPr lang="zh-CN" altLang="en-US" dirty="0"/>
              <a:t>股票聚类结果信息表</a:t>
            </a:r>
          </a:p>
        </p:txBody>
      </p:sp>
      <p:sp>
        <p:nvSpPr>
          <p:cNvPr id="6" name="矩形 5"/>
          <p:cNvSpPr/>
          <p:nvPr/>
        </p:nvSpPr>
        <p:spPr>
          <a:xfrm>
            <a:off x="140263" y="39544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7-23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4557" y="6322331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dirty="0"/>
              <a:t>从图</a:t>
            </a:r>
            <a:r>
              <a:rPr lang="en-US" altLang="zh-CN" sz="1200" dirty="0"/>
              <a:t>7-23</a:t>
            </a:r>
            <a:r>
              <a:rPr lang="zh-CN" altLang="en-US" sz="1200" dirty="0"/>
              <a:t>可以看出，第</a:t>
            </a:r>
            <a:r>
              <a:rPr lang="en-US" altLang="zh-CN" sz="1200" dirty="0"/>
              <a:t>1</a:t>
            </a:r>
            <a:r>
              <a:rPr lang="zh-CN" altLang="en-US" sz="1200" dirty="0"/>
              <a:t>类聚类中心的综合盈利能力最强，其值最大，产品竞争能力和管理能力也最突出，其值最小。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73616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7.7.2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案列分析及计算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754" y="567839"/>
            <a:ext cx="5001507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/>
              <a:t>8</a:t>
            </a:r>
            <a:r>
              <a:rPr lang="en-US" altLang="zh-CN" sz="1200" dirty="0"/>
              <a:t>.</a:t>
            </a:r>
            <a:r>
              <a:rPr lang="zh-CN" altLang="en-US" sz="1200" dirty="0"/>
              <a:t>计算每类公司</a:t>
            </a:r>
            <a:r>
              <a:rPr lang="en-US" altLang="zh-CN" sz="1200" dirty="0"/>
              <a:t>2015</a:t>
            </a:r>
            <a:r>
              <a:rPr lang="zh-CN" altLang="en-US" sz="1200" dirty="0"/>
              <a:t>年度总利润平均值</a:t>
            </a:r>
            <a:r>
              <a:rPr lang="zh-CN" altLang="en-US" sz="1200" dirty="0" smtClean="0"/>
              <a:t>增长率，示例</a:t>
            </a:r>
            <a:r>
              <a:rPr lang="zh-CN" altLang="en-US" sz="1200" dirty="0"/>
              <a:t>代码如下：</a:t>
            </a:r>
          </a:p>
          <a:p>
            <a:r>
              <a:rPr lang="en-US" altLang="zh-CN" sz="1200" dirty="0" err="1"/>
              <a:t>rd</a:t>
            </a:r>
            <a:r>
              <a:rPr lang="en-US" altLang="zh-CN" sz="1200" dirty="0"/>
              <a:t>=</a:t>
            </a:r>
            <a:r>
              <a:rPr lang="en-US" altLang="zh-CN" sz="1200" dirty="0" err="1"/>
              <a:t>pd.read_excel</a:t>
            </a:r>
            <a:r>
              <a:rPr lang="en-US" altLang="zh-CN" sz="1200" dirty="0"/>
              <a:t>('</a:t>
            </a:r>
            <a:r>
              <a:rPr lang="zh-CN" altLang="en-US" sz="1200" dirty="0"/>
              <a:t>利润数据</a:t>
            </a:r>
            <a:r>
              <a:rPr lang="en-US" altLang="zh-CN" sz="1200" dirty="0"/>
              <a:t>.</a:t>
            </a:r>
            <a:r>
              <a:rPr lang="en-US" altLang="zh-CN" sz="1200" dirty="0" err="1"/>
              <a:t>xlsx</a:t>
            </a:r>
            <a:r>
              <a:rPr lang="en-US" altLang="zh-CN" sz="1200" dirty="0"/>
              <a:t>')</a:t>
            </a:r>
          </a:p>
          <a:p>
            <a:r>
              <a:rPr lang="en-US" altLang="zh-CN" sz="1200" dirty="0" err="1"/>
              <a:t>r_c</a:t>
            </a:r>
            <a:r>
              <a:rPr lang="en-US" altLang="zh-CN" sz="1200" dirty="0"/>
              <a:t>=[] #</a:t>
            </a:r>
            <a:r>
              <a:rPr lang="zh-CN" altLang="en-US" sz="1200" dirty="0"/>
              <a:t>预定义每个类别总利润平均增长率</a:t>
            </a:r>
          </a:p>
          <a:p>
            <a:r>
              <a:rPr lang="en-US" altLang="zh-CN" sz="1200" dirty="0"/>
              <a:t>for n in range(5):</a:t>
            </a:r>
          </a:p>
          <a:p>
            <a:r>
              <a:rPr lang="en-US" altLang="zh-CN" sz="1200" dirty="0"/>
              <a:t>    #</a:t>
            </a:r>
            <a:r>
              <a:rPr lang="zh-CN" altLang="en-US" sz="1200" dirty="0"/>
              <a:t>获得第</a:t>
            </a:r>
            <a:r>
              <a:rPr lang="en-US" altLang="zh-CN" sz="1200" dirty="0"/>
              <a:t>n</a:t>
            </a:r>
            <a:r>
              <a:rPr lang="zh-CN" altLang="en-US" sz="1200" dirty="0"/>
              <a:t>类股票代码列表</a:t>
            </a:r>
          </a:p>
          <a:p>
            <a:r>
              <a:rPr lang="en-US" altLang="zh-CN" sz="1200" dirty="0" err="1"/>
              <a:t>cn</a:t>
            </a:r>
            <a:r>
              <a:rPr lang="en-US" altLang="zh-CN" sz="1200" dirty="0"/>
              <a:t>=list(</a:t>
            </a:r>
            <a:r>
              <a:rPr lang="en-US" altLang="zh-CN" sz="1200" dirty="0" err="1"/>
              <a:t>Fs</a:t>
            </a:r>
            <a:r>
              <a:rPr lang="en-US" altLang="zh-CN" sz="1200" dirty="0"/>
              <a:t>[</a:t>
            </a:r>
            <a:r>
              <a:rPr lang="en-US" altLang="zh-CN" sz="1200" dirty="0" err="1"/>
              <a:t>Fs</a:t>
            </a:r>
            <a:r>
              <a:rPr lang="en-US" altLang="zh-CN" sz="1200" dirty="0"/>
              <a:t>==n].index)   </a:t>
            </a:r>
          </a:p>
          <a:p>
            <a:r>
              <a:rPr lang="en-US" altLang="zh-CN" sz="1200" dirty="0"/>
              <a:t>#</a:t>
            </a:r>
            <a:r>
              <a:rPr lang="zh-CN" altLang="en-US" sz="1200" dirty="0"/>
              <a:t>预定义第</a:t>
            </a:r>
            <a:r>
              <a:rPr lang="en-US" altLang="zh-CN" sz="1200" dirty="0"/>
              <a:t>n</a:t>
            </a:r>
            <a:r>
              <a:rPr lang="zh-CN" altLang="en-US" sz="1200" dirty="0"/>
              <a:t>类股票</a:t>
            </a:r>
            <a:r>
              <a:rPr lang="en-US" altLang="zh-CN" sz="1200" dirty="0"/>
              <a:t>2014</a:t>
            </a:r>
            <a:r>
              <a:rPr lang="zh-CN" altLang="en-US" sz="1200" dirty="0"/>
              <a:t>年和</a:t>
            </a:r>
            <a:r>
              <a:rPr lang="en-US" altLang="zh-CN" sz="1200" dirty="0"/>
              <a:t>2015</a:t>
            </a:r>
            <a:r>
              <a:rPr lang="zh-CN" altLang="en-US" sz="1200" dirty="0"/>
              <a:t>年的总利润值</a:t>
            </a:r>
          </a:p>
          <a:p>
            <a:r>
              <a:rPr lang="zh-CN" altLang="en-US" sz="1200" dirty="0"/>
              <a:t> </a:t>
            </a:r>
            <a:r>
              <a:rPr lang="en-US" altLang="zh-CN" sz="1200" dirty="0" smtClean="0"/>
              <a:t>r1_n=0   r2_n=0</a:t>
            </a:r>
            <a:endParaRPr lang="en-US" altLang="zh-CN" sz="1200" dirty="0"/>
          </a:p>
          <a:p>
            <a:r>
              <a:rPr lang="en-US" altLang="zh-CN" sz="1200" dirty="0"/>
              <a:t>#</a:t>
            </a:r>
            <a:r>
              <a:rPr lang="zh-CN" altLang="en-US" sz="1200" dirty="0"/>
              <a:t>循环地对第</a:t>
            </a:r>
            <a:r>
              <a:rPr lang="en-US" altLang="zh-CN" sz="1200" dirty="0"/>
              <a:t>n</a:t>
            </a:r>
            <a:r>
              <a:rPr lang="zh-CN" altLang="en-US" sz="1200" dirty="0"/>
              <a:t>类中的每个股票进行计算</a:t>
            </a:r>
          </a:p>
          <a:p>
            <a:r>
              <a:rPr lang="en-US" altLang="zh-CN" sz="1200" dirty="0"/>
              <a:t>for t in </a:t>
            </a:r>
            <a:r>
              <a:rPr lang="en-US" altLang="zh-CN" sz="1200" dirty="0" err="1"/>
              <a:t>cn</a:t>
            </a:r>
            <a:r>
              <a:rPr lang="en-US" altLang="zh-CN" sz="1200" dirty="0" smtClean="0"/>
              <a:t>: </a:t>
            </a:r>
            <a:r>
              <a:rPr lang="en-US" altLang="zh-CN" sz="1200" dirty="0"/>
              <a:t>#</a:t>
            </a:r>
            <a:r>
              <a:rPr lang="zh-CN" altLang="en-US" sz="1200" dirty="0"/>
              <a:t>第</a:t>
            </a:r>
            <a:r>
              <a:rPr lang="en-US" altLang="zh-CN" sz="1200" dirty="0"/>
              <a:t>n</a:t>
            </a:r>
            <a:r>
              <a:rPr lang="zh-CN" altLang="en-US" sz="1200" dirty="0"/>
              <a:t>类股票中第</a:t>
            </a:r>
            <a:r>
              <a:rPr lang="en-US" altLang="zh-CN" sz="1200" dirty="0"/>
              <a:t>t</a:t>
            </a:r>
            <a:r>
              <a:rPr lang="zh-CN" altLang="en-US" sz="1200" dirty="0"/>
              <a:t>只股票</a:t>
            </a:r>
          </a:p>
          <a:p>
            <a:r>
              <a:rPr lang="zh-CN" altLang="en-US" sz="1200" dirty="0"/>
              <a:t>        </a:t>
            </a:r>
            <a:r>
              <a:rPr lang="en-US" altLang="zh-CN" sz="1200" dirty="0"/>
              <a:t>I1=</a:t>
            </a:r>
            <a:r>
              <a:rPr lang="en-US" altLang="zh-CN" sz="1200" dirty="0" err="1"/>
              <a:t>rd</a:t>
            </a:r>
            <a:r>
              <a:rPr lang="en-US" altLang="zh-CN" sz="1200" dirty="0"/>
              <a:t>['</a:t>
            </a:r>
            <a:r>
              <a:rPr lang="en-US" altLang="zh-CN" sz="1200" dirty="0" err="1"/>
              <a:t>Accper</a:t>
            </a:r>
            <a:r>
              <a:rPr lang="en-US" altLang="zh-CN" sz="1200" dirty="0"/>
              <a:t>'].values=='2014-12-31'</a:t>
            </a:r>
          </a:p>
          <a:p>
            <a:r>
              <a:rPr lang="en-US" altLang="zh-CN" sz="1200" dirty="0"/>
              <a:t>        I2=</a:t>
            </a:r>
            <a:r>
              <a:rPr lang="en-US" altLang="zh-CN" sz="1200" dirty="0" err="1"/>
              <a:t>rd</a:t>
            </a:r>
            <a:r>
              <a:rPr lang="en-US" altLang="zh-CN" sz="1200" dirty="0"/>
              <a:t>['</a:t>
            </a:r>
            <a:r>
              <a:rPr lang="en-US" altLang="zh-CN" sz="1200" dirty="0" err="1"/>
              <a:t>Accper</a:t>
            </a:r>
            <a:r>
              <a:rPr lang="en-US" altLang="zh-CN" sz="1200" dirty="0"/>
              <a:t>'].values=='2015-12-31'</a:t>
            </a:r>
          </a:p>
          <a:p>
            <a:r>
              <a:rPr lang="en-US" altLang="zh-CN" sz="1200" dirty="0"/>
              <a:t>        I3=</a:t>
            </a:r>
            <a:r>
              <a:rPr lang="en-US" altLang="zh-CN" sz="1200" dirty="0" err="1"/>
              <a:t>rd</a:t>
            </a:r>
            <a:r>
              <a:rPr lang="en-US" altLang="zh-CN" sz="1200" dirty="0"/>
              <a:t>['</a:t>
            </a:r>
            <a:r>
              <a:rPr lang="en-US" altLang="zh-CN" sz="1200" dirty="0" err="1"/>
              <a:t>Stkcd</a:t>
            </a:r>
            <a:r>
              <a:rPr lang="en-US" altLang="zh-CN" sz="1200" dirty="0"/>
              <a:t>'].values==t</a:t>
            </a:r>
          </a:p>
          <a:p>
            <a:r>
              <a:rPr lang="en-US" altLang="zh-CN" sz="1200" dirty="0"/>
              <a:t>        index1=I1&amp;I3</a:t>
            </a:r>
          </a:p>
          <a:p>
            <a:r>
              <a:rPr lang="en-US" altLang="zh-CN" sz="1200" dirty="0"/>
              <a:t>        index2=I2&amp;I3</a:t>
            </a:r>
          </a:p>
          <a:p>
            <a:r>
              <a:rPr lang="en-US" altLang="zh-CN" sz="1200" dirty="0"/>
              <a:t>        #</a:t>
            </a:r>
            <a:r>
              <a:rPr lang="zh-CN" altLang="en-US" sz="1200" dirty="0"/>
              <a:t>第</a:t>
            </a:r>
            <a:r>
              <a:rPr lang="en-US" altLang="zh-CN" sz="1200" dirty="0"/>
              <a:t>n</a:t>
            </a:r>
            <a:r>
              <a:rPr lang="zh-CN" altLang="en-US" sz="1200" dirty="0"/>
              <a:t>类股票中第</a:t>
            </a:r>
            <a:r>
              <a:rPr lang="en-US" altLang="zh-CN" sz="1200" dirty="0"/>
              <a:t>t</a:t>
            </a:r>
            <a:r>
              <a:rPr lang="zh-CN" altLang="en-US" sz="1200" dirty="0"/>
              <a:t>只股票</a:t>
            </a:r>
            <a:r>
              <a:rPr lang="en-US" altLang="zh-CN" sz="1200" dirty="0"/>
              <a:t>2014</a:t>
            </a:r>
            <a:r>
              <a:rPr lang="zh-CN" altLang="en-US" sz="1200" dirty="0"/>
              <a:t>年的利润值</a:t>
            </a:r>
          </a:p>
          <a:p>
            <a:r>
              <a:rPr lang="zh-CN" altLang="en-US" sz="1200" dirty="0"/>
              <a:t>        </a:t>
            </a:r>
            <a:r>
              <a:rPr lang="en-US" altLang="zh-CN" sz="1200" dirty="0"/>
              <a:t>r1=</a:t>
            </a:r>
            <a:r>
              <a:rPr lang="en-US" altLang="zh-CN" sz="1200" dirty="0" err="1"/>
              <a:t>rd.loc</a:t>
            </a:r>
            <a:r>
              <a:rPr lang="en-US" altLang="zh-CN" sz="1200" dirty="0"/>
              <a:t>[index1,'B002000101'].values</a:t>
            </a:r>
          </a:p>
          <a:p>
            <a:r>
              <a:rPr lang="en-US" altLang="zh-CN" sz="1200" dirty="0"/>
              <a:t>        #</a:t>
            </a:r>
            <a:r>
              <a:rPr lang="zh-CN" altLang="en-US" sz="1200" dirty="0"/>
              <a:t>第</a:t>
            </a:r>
            <a:r>
              <a:rPr lang="en-US" altLang="zh-CN" sz="1200" dirty="0"/>
              <a:t>n</a:t>
            </a:r>
            <a:r>
              <a:rPr lang="zh-CN" altLang="en-US" sz="1200" dirty="0"/>
              <a:t>类股票中第</a:t>
            </a:r>
            <a:r>
              <a:rPr lang="en-US" altLang="zh-CN" sz="1200" dirty="0"/>
              <a:t>t</a:t>
            </a:r>
            <a:r>
              <a:rPr lang="zh-CN" altLang="en-US" sz="1200" dirty="0"/>
              <a:t>只股票</a:t>
            </a:r>
            <a:r>
              <a:rPr lang="en-US" altLang="zh-CN" sz="1200" dirty="0"/>
              <a:t>2015</a:t>
            </a:r>
            <a:r>
              <a:rPr lang="zh-CN" altLang="en-US" sz="1200" dirty="0"/>
              <a:t>年的利润值</a:t>
            </a:r>
          </a:p>
          <a:p>
            <a:r>
              <a:rPr lang="zh-CN" altLang="en-US" sz="1200" dirty="0"/>
              <a:t>        </a:t>
            </a:r>
            <a:r>
              <a:rPr lang="en-US" altLang="zh-CN" sz="1200" dirty="0"/>
              <a:t>r2=</a:t>
            </a:r>
            <a:r>
              <a:rPr lang="en-US" altLang="zh-CN" sz="1200" dirty="0" err="1"/>
              <a:t>rd.loc</a:t>
            </a:r>
            <a:r>
              <a:rPr lang="en-US" altLang="zh-CN" sz="1200" dirty="0"/>
              <a:t>[index2,'B002000101'].values</a:t>
            </a:r>
          </a:p>
          <a:p>
            <a:r>
              <a:rPr lang="en-US" altLang="zh-CN" sz="1200" dirty="0"/>
              <a:t>        if </a:t>
            </a:r>
            <a:r>
              <a:rPr lang="en-US" altLang="zh-CN" sz="1200" dirty="0" err="1"/>
              <a:t>len</a:t>
            </a:r>
            <a:r>
              <a:rPr lang="en-US" altLang="zh-CN" sz="1200" dirty="0"/>
              <a:t>(r1)&gt;0:</a:t>
            </a:r>
          </a:p>
          <a:p>
            <a:r>
              <a:rPr lang="en-US" altLang="zh-CN" sz="1200" dirty="0"/>
              <a:t>           r1_n=r1_n+r1</a:t>
            </a:r>
          </a:p>
          <a:p>
            <a:r>
              <a:rPr lang="en-US" altLang="zh-CN" sz="1200" dirty="0"/>
              <a:t>        if </a:t>
            </a:r>
            <a:r>
              <a:rPr lang="en-US" altLang="zh-CN" sz="1200" dirty="0" err="1"/>
              <a:t>len</a:t>
            </a:r>
            <a:r>
              <a:rPr lang="en-US" altLang="zh-CN" sz="1200" dirty="0"/>
              <a:t>(r2)&gt;0:</a:t>
            </a:r>
          </a:p>
          <a:p>
            <a:r>
              <a:rPr lang="en-US" altLang="zh-CN" sz="1200" dirty="0"/>
              <a:t>           r2_n=r2_n+r2</a:t>
            </a:r>
          </a:p>
          <a:p>
            <a:r>
              <a:rPr lang="en-US" altLang="zh-CN" sz="1200" dirty="0" smtClean="0"/>
              <a:t> </a:t>
            </a:r>
            <a:r>
              <a:rPr lang="en-US" altLang="zh-CN" sz="1200" dirty="0"/>
              <a:t>#</a:t>
            </a:r>
            <a:r>
              <a:rPr lang="zh-CN" altLang="en-US" sz="1200" dirty="0"/>
              <a:t>第</a:t>
            </a:r>
            <a:r>
              <a:rPr lang="en-US" altLang="zh-CN" sz="1200" dirty="0"/>
              <a:t>n</a:t>
            </a:r>
            <a:r>
              <a:rPr lang="zh-CN" altLang="en-US" sz="1200" dirty="0"/>
              <a:t>类股票</a:t>
            </a:r>
            <a:r>
              <a:rPr lang="en-US" altLang="zh-CN" sz="1200" dirty="0"/>
              <a:t>2015</a:t>
            </a:r>
            <a:r>
              <a:rPr lang="zh-CN" altLang="en-US" sz="1200" dirty="0"/>
              <a:t>年的总利润平均值</a:t>
            </a:r>
          </a:p>
          <a:p>
            <a:r>
              <a:rPr lang="en-US" altLang="zh-CN" sz="1200" dirty="0"/>
              <a:t>p2=r2_n/</a:t>
            </a:r>
            <a:r>
              <a:rPr lang="en-US" altLang="zh-CN" sz="1200" dirty="0" err="1"/>
              <a:t>len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cn</a:t>
            </a:r>
            <a:r>
              <a:rPr lang="en-US" altLang="zh-CN" sz="1200" dirty="0"/>
              <a:t>)  </a:t>
            </a:r>
          </a:p>
          <a:p>
            <a:r>
              <a:rPr lang="en-US" altLang="zh-CN" sz="1200" dirty="0"/>
              <a:t>#</a:t>
            </a:r>
            <a:r>
              <a:rPr lang="zh-CN" altLang="en-US" sz="1200" dirty="0"/>
              <a:t>第</a:t>
            </a:r>
            <a:r>
              <a:rPr lang="en-US" altLang="zh-CN" sz="1200" dirty="0"/>
              <a:t>n</a:t>
            </a:r>
            <a:r>
              <a:rPr lang="zh-CN" altLang="en-US" sz="1200" dirty="0"/>
              <a:t>类股票</a:t>
            </a:r>
            <a:r>
              <a:rPr lang="en-US" altLang="zh-CN" sz="1200" dirty="0"/>
              <a:t>2014</a:t>
            </a:r>
            <a:r>
              <a:rPr lang="zh-CN" altLang="en-US" sz="1200" dirty="0"/>
              <a:t>年的总利润平均值</a:t>
            </a:r>
          </a:p>
          <a:p>
            <a:r>
              <a:rPr lang="en-US" altLang="zh-CN" sz="1200" dirty="0"/>
              <a:t>p1=r1_n/</a:t>
            </a:r>
            <a:r>
              <a:rPr lang="en-US" altLang="zh-CN" sz="1200" dirty="0" err="1"/>
              <a:t>len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cn</a:t>
            </a:r>
            <a:r>
              <a:rPr lang="en-US" altLang="zh-CN" sz="1200" dirty="0"/>
              <a:t>)  </a:t>
            </a:r>
          </a:p>
          <a:p>
            <a:r>
              <a:rPr lang="en-US" altLang="zh-CN" sz="1200" dirty="0"/>
              <a:t>#</a:t>
            </a:r>
            <a:r>
              <a:rPr lang="zh-CN" altLang="en-US" sz="1200" dirty="0"/>
              <a:t>将总利润平均增长率添加到</a:t>
            </a:r>
            <a:r>
              <a:rPr lang="en-US" altLang="zh-CN" sz="1200" dirty="0" err="1"/>
              <a:t>r_c</a:t>
            </a:r>
            <a:r>
              <a:rPr lang="zh-CN" altLang="en-US" sz="1200" dirty="0"/>
              <a:t>中</a:t>
            </a:r>
          </a:p>
          <a:p>
            <a:r>
              <a:rPr lang="en-US" altLang="zh-CN" sz="1200" dirty="0" err="1"/>
              <a:t>r_c.append</a:t>
            </a:r>
            <a:r>
              <a:rPr lang="en-US" altLang="zh-CN" sz="1200" dirty="0"/>
              <a:t>((p2-p1)/p1)</a:t>
            </a:r>
          </a:p>
          <a:p>
            <a:r>
              <a:rPr lang="en-US" altLang="zh-CN" sz="1200" dirty="0"/>
              <a:t>#</a:t>
            </a:r>
            <a:r>
              <a:rPr lang="zh-CN" altLang="en-US" sz="1200" dirty="0"/>
              <a:t>将每个类别的总利润平均增长率添加到聚类中心后面列</a:t>
            </a:r>
          </a:p>
          <a:p>
            <a:r>
              <a:rPr lang="en-US" altLang="zh-CN" sz="1200" dirty="0" err="1"/>
              <a:t>r_c</a:t>
            </a:r>
            <a:r>
              <a:rPr lang="en-US" altLang="zh-CN" sz="1200" dirty="0"/>
              <a:t>=</a:t>
            </a:r>
            <a:r>
              <a:rPr lang="en-US" altLang="zh-CN" sz="1200" dirty="0" err="1"/>
              <a:t>np.array</a:t>
            </a:r>
            <a:r>
              <a:rPr lang="en-US" altLang="zh-CN" sz="1200" dirty="0"/>
              <a:t>(</a:t>
            </a:r>
            <a:r>
              <a:rPr lang="en-US" altLang="zh-CN" sz="1200" dirty="0" err="1"/>
              <a:t>r_c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 err="1"/>
              <a:t>dt</a:t>
            </a:r>
            <a:r>
              <a:rPr lang="en-US" altLang="zh-CN" sz="1200" dirty="0"/>
              <a:t>=</a:t>
            </a:r>
            <a:r>
              <a:rPr lang="en-US" altLang="zh-CN" sz="1200" dirty="0" err="1"/>
              <a:t>np.hstack</a:t>
            </a:r>
            <a:r>
              <a:rPr lang="en-US" altLang="zh-CN" sz="1200" dirty="0"/>
              <a:t>((</a:t>
            </a:r>
            <a:r>
              <a:rPr lang="en-US" altLang="zh-CN" sz="1200" dirty="0" err="1"/>
              <a:t>center.values,r_c</a:t>
            </a:r>
            <a:r>
              <a:rPr lang="en-US" altLang="zh-CN" sz="1200" dirty="0"/>
              <a:t>))</a:t>
            </a:r>
          </a:p>
          <a:p>
            <a:r>
              <a:rPr lang="en-US" altLang="zh-CN" sz="1200" dirty="0" err="1"/>
              <a:t>dtt</a:t>
            </a:r>
            <a:r>
              <a:rPr lang="en-US" altLang="zh-CN" sz="1200" dirty="0"/>
              <a:t>=</a:t>
            </a:r>
            <a:r>
              <a:rPr lang="en-US" altLang="zh-CN" sz="1200" dirty="0" err="1"/>
              <a:t>pd.DataFrame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dt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 err="1"/>
              <a:t>dtt.columns</a:t>
            </a:r>
            <a:r>
              <a:rPr lang="en-US" altLang="zh-CN" sz="1200" dirty="0"/>
              <a:t>=['Y1','Y2','Y3','r_c</a:t>
            </a:r>
            <a:r>
              <a:rPr lang="en-US" altLang="zh-CN" sz="1200" dirty="0" smtClean="0"/>
              <a:t>']</a:t>
            </a:r>
            <a:endParaRPr lang="en-US" altLang="zh-CN" sz="1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346" y="1844824"/>
            <a:ext cx="749160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4563636" y="1268760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执行结果如下图</a:t>
            </a:r>
            <a:r>
              <a:rPr lang="en-US" altLang="zh-CN" dirty="0"/>
              <a:t>7-24</a:t>
            </a:r>
            <a:r>
              <a:rPr lang="zh-CN" altLang="en-US" dirty="0"/>
              <a:t>所示。</a:t>
            </a:r>
          </a:p>
        </p:txBody>
      </p:sp>
      <p:sp>
        <p:nvSpPr>
          <p:cNvPr id="4" name="矩形 3"/>
          <p:cNvSpPr/>
          <p:nvPr/>
        </p:nvSpPr>
        <p:spPr>
          <a:xfrm>
            <a:off x="4724489" y="4509120"/>
            <a:ext cx="6840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   其中</a:t>
            </a:r>
            <a:r>
              <a:rPr lang="en-US" altLang="zh-CN" dirty="0" err="1"/>
              <a:t>r_c</a:t>
            </a:r>
            <a:r>
              <a:rPr lang="zh-CN" altLang="en-US" dirty="0"/>
              <a:t>列为各类公司的总利润平均增长率。从图可以看出，第</a:t>
            </a:r>
            <a:r>
              <a:rPr lang="en-US" altLang="zh-CN" dirty="0"/>
              <a:t>1</a:t>
            </a:r>
            <a:r>
              <a:rPr lang="zh-CN" altLang="en-US" dirty="0"/>
              <a:t>类上市公司的综合盈利能力最强，而且其产品竞争力和管理能力也相对最好，最终结果也可以看出，当年的总利润平均增长率也最高。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16010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027" y="69269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本章通过七个基础案例介绍了如何利用</a:t>
            </a:r>
            <a:r>
              <a:rPr lang="en-US" altLang="zh-CN" dirty="0"/>
              <a:t>Python</a:t>
            </a:r>
            <a:r>
              <a:rPr lang="zh-CN" altLang="en-US" dirty="0"/>
              <a:t>进行较为复杂任务的计算以及完成简单的金融数据挖掘任务。通过本章的学习，掌握了简单的金融数据挖掘技能，也为后续的综合案例学习提供了良好的基础。在后续的综合案例中，我们不仅要完成简单的金融数据挖掘任务，还要通过挖掘出来的规律，设计其量化投资策略，实现其更深层次的应用。</a:t>
            </a:r>
          </a:p>
        </p:txBody>
      </p:sp>
      <p:sp>
        <p:nvSpPr>
          <p:cNvPr id="4" name="矩形 3"/>
          <p:cNvSpPr/>
          <p:nvPr/>
        </p:nvSpPr>
        <p:spPr>
          <a:xfrm>
            <a:off x="43239" y="2875002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练习：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89651" y="324433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今有</a:t>
            </a:r>
            <a:r>
              <a:rPr lang="en-US" altLang="zh-CN" dirty="0"/>
              <a:t>2017-2018</a:t>
            </a:r>
            <a:r>
              <a:rPr lang="zh-CN" altLang="en-US" dirty="0"/>
              <a:t>年每个季度的每股指标数据，共</a:t>
            </a:r>
            <a:r>
              <a:rPr lang="en-US" altLang="zh-CN" dirty="0"/>
              <a:t>22720</a:t>
            </a:r>
            <a:r>
              <a:rPr lang="zh-CN" altLang="en-US" dirty="0"/>
              <a:t>条数据记录，数据全部来源于国泰安</a:t>
            </a:r>
            <a:r>
              <a:rPr lang="en-US" altLang="zh-CN" dirty="0"/>
              <a:t>CSMAR</a:t>
            </a:r>
            <a:r>
              <a:rPr lang="zh-CN" altLang="en-US" dirty="0"/>
              <a:t>数据库，部分数据记录及表结构如</a:t>
            </a:r>
            <a:r>
              <a:rPr lang="zh-CN" altLang="en-US" dirty="0" smtClean="0"/>
              <a:t>表右所</a:t>
            </a:r>
            <a:r>
              <a:rPr lang="zh-CN" altLang="en-US" dirty="0"/>
              <a:t>示：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925" y="1861105"/>
            <a:ext cx="5860120" cy="257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193725" y="4437112"/>
            <a:ext cx="11449272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其中</a:t>
            </a:r>
            <a:r>
              <a:rPr lang="en-US" altLang="zh-CN" sz="1400" dirty="0" err="1"/>
              <a:t>Stkcd</a:t>
            </a:r>
            <a:r>
              <a:rPr lang="en-US" altLang="zh-CN" sz="1400" dirty="0"/>
              <a:t>-</a:t>
            </a:r>
            <a:r>
              <a:rPr lang="zh-CN" altLang="en-US" sz="1400" dirty="0"/>
              <a:t>股票代码、</a:t>
            </a:r>
            <a:r>
              <a:rPr lang="en-US" altLang="zh-CN" sz="1400" dirty="0" err="1"/>
              <a:t>Accper</a:t>
            </a:r>
            <a:r>
              <a:rPr lang="en-US" altLang="zh-CN" sz="1400" dirty="0"/>
              <a:t>-</a:t>
            </a:r>
            <a:r>
              <a:rPr lang="zh-CN" altLang="en-US" sz="1400" dirty="0"/>
              <a:t>截止日期、</a:t>
            </a:r>
            <a:r>
              <a:rPr lang="en-US" altLang="zh-CN" sz="1400" dirty="0"/>
              <a:t>F090301B-</a:t>
            </a:r>
            <a:r>
              <a:rPr lang="zh-CN" altLang="en-US" sz="1400" dirty="0"/>
              <a:t>归属于母公司每股收益、</a:t>
            </a:r>
            <a:r>
              <a:rPr lang="en-US" altLang="zh-CN" sz="1400" dirty="0"/>
              <a:t>F090601B-</a:t>
            </a:r>
            <a:r>
              <a:rPr lang="zh-CN" altLang="en-US" sz="1400" dirty="0"/>
              <a:t>每股营业收入、</a:t>
            </a:r>
            <a:r>
              <a:rPr lang="en-US" altLang="zh-CN" sz="1400" dirty="0"/>
              <a:t>F091001A-</a:t>
            </a:r>
            <a:r>
              <a:rPr lang="zh-CN" altLang="en-US" sz="1400" dirty="0"/>
              <a:t>每股净资产、</a:t>
            </a:r>
            <a:r>
              <a:rPr lang="en-US" altLang="zh-CN" sz="1400" dirty="0"/>
              <a:t>F091301A-</a:t>
            </a:r>
            <a:r>
              <a:rPr lang="zh-CN" altLang="en-US" sz="1400" dirty="0"/>
              <a:t>每股资本公积、</a:t>
            </a:r>
            <a:r>
              <a:rPr lang="en-US" altLang="zh-CN" sz="1400" dirty="0"/>
              <a:t>F091501A-</a:t>
            </a:r>
            <a:r>
              <a:rPr lang="zh-CN" altLang="en-US" sz="1400" dirty="0"/>
              <a:t>每股未分配利润、</a:t>
            </a:r>
            <a:r>
              <a:rPr lang="en-US" altLang="zh-CN" sz="1400" dirty="0"/>
              <a:t>F091801B-</a:t>
            </a:r>
            <a:r>
              <a:rPr lang="zh-CN" altLang="en-US" sz="1400" dirty="0"/>
              <a:t>每股经营活动产生的现金流量净额。问题如下：</a:t>
            </a:r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对每个股票代码，计算每个季度每股收益同比增长率，并找出连续</a:t>
            </a:r>
            <a:r>
              <a:rPr lang="en-US" altLang="zh-CN" sz="1400" dirty="0"/>
              <a:t>4</a:t>
            </a:r>
            <a:r>
              <a:rPr lang="zh-CN" altLang="en-US" sz="1400" dirty="0"/>
              <a:t>个季度每股收益同比增长率大于</a:t>
            </a:r>
            <a:r>
              <a:rPr lang="en-US" altLang="zh-CN" sz="1400" dirty="0"/>
              <a:t>20%</a:t>
            </a:r>
            <a:r>
              <a:rPr lang="zh-CN" altLang="en-US" sz="1400" dirty="0"/>
              <a:t>的股票代码。</a:t>
            </a:r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找出</a:t>
            </a:r>
            <a:r>
              <a:rPr lang="en-US" altLang="zh-CN" sz="1400" dirty="0"/>
              <a:t>2017</a:t>
            </a:r>
            <a:r>
              <a:rPr lang="zh-CN" altLang="en-US" sz="1400" dirty="0"/>
              <a:t>、</a:t>
            </a:r>
            <a:r>
              <a:rPr lang="en-US" altLang="zh-CN" sz="1400" dirty="0"/>
              <a:t>2018</a:t>
            </a:r>
            <a:r>
              <a:rPr lang="zh-CN" altLang="en-US" sz="1400" dirty="0"/>
              <a:t>年度每股资本公积和每股未分配利润最大的</a:t>
            </a:r>
            <a:r>
              <a:rPr lang="en-US" altLang="zh-CN" sz="1400" dirty="0"/>
              <a:t>10</a:t>
            </a:r>
            <a:r>
              <a:rPr lang="zh-CN" altLang="en-US" sz="1400" dirty="0"/>
              <a:t>只股票代码，并通过柱状图、子图的方法可视化展现出来。</a:t>
            </a:r>
          </a:p>
          <a:p>
            <a:r>
              <a:rPr lang="en-US" altLang="zh-CN" sz="1400" dirty="0"/>
              <a:t>3.</a:t>
            </a:r>
            <a:r>
              <a:rPr lang="zh-CN" altLang="en-US" sz="1400" dirty="0"/>
              <a:t>取</a:t>
            </a:r>
            <a:r>
              <a:rPr lang="en-US" altLang="zh-CN" sz="1400" dirty="0"/>
              <a:t>2018</a:t>
            </a:r>
            <a:r>
              <a:rPr lang="zh-CN" altLang="en-US" sz="1400" dirty="0"/>
              <a:t>年度的数据，对以上</a:t>
            </a:r>
            <a:r>
              <a:rPr lang="en-US" altLang="zh-CN" sz="1400" dirty="0"/>
              <a:t>6</a:t>
            </a:r>
            <a:r>
              <a:rPr lang="zh-CN" altLang="en-US" sz="1400" dirty="0"/>
              <a:t>个指标作主成分分析，要求提取信息占比在</a:t>
            </a:r>
            <a:r>
              <a:rPr lang="en-US" altLang="zh-CN" sz="1400" dirty="0"/>
              <a:t>95%</a:t>
            </a:r>
            <a:r>
              <a:rPr lang="zh-CN" altLang="en-US" sz="1400" dirty="0"/>
              <a:t>以上，并写出每个主成分的表达式和说明其主成分的意义。</a:t>
            </a:r>
          </a:p>
          <a:p>
            <a:r>
              <a:rPr lang="en-US" altLang="zh-CN" sz="1400" dirty="0"/>
              <a:t>4.</a:t>
            </a:r>
            <a:r>
              <a:rPr lang="zh-CN" altLang="en-US" sz="1400" dirty="0"/>
              <a:t>基于第</a:t>
            </a:r>
            <a:r>
              <a:rPr lang="en-US" altLang="zh-CN" sz="1400" dirty="0"/>
              <a:t>3</a:t>
            </a:r>
            <a:r>
              <a:rPr lang="zh-CN" altLang="en-US" sz="1400" dirty="0"/>
              <a:t>步提取的主成分进行</a:t>
            </a:r>
            <a:r>
              <a:rPr lang="en-US" altLang="zh-CN" sz="1400" dirty="0"/>
              <a:t>K-</a:t>
            </a:r>
            <a:r>
              <a:rPr lang="zh-CN" altLang="en-US" sz="1400" dirty="0"/>
              <a:t>均值聚类分析，并获取其聚类中心。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2088</Words>
  <Application>Microsoft Office PowerPoint</Application>
  <PresentationFormat>自定义</PresentationFormat>
  <Paragraphs>166</Paragraphs>
  <Slides>10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1584</cp:revision>
  <dcterms:created xsi:type="dcterms:W3CDTF">2013-01-25T01:44:00Z</dcterms:created>
  <dcterms:modified xsi:type="dcterms:W3CDTF">2020-01-12T08:34:20Z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