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828" r:id="rId2"/>
    <p:sldId id="914" r:id="rId3"/>
    <p:sldId id="933" r:id="rId4"/>
    <p:sldId id="855" r:id="rId5"/>
    <p:sldId id="928" r:id="rId6"/>
    <p:sldId id="922" r:id="rId7"/>
    <p:sldId id="924" r:id="rId8"/>
    <p:sldId id="934" r:id="rId9"/>
    <p:sldId id="935" r:id="rId10"/>
    <p:sldId id="936" r:id="rId11"/>
    <p:sldId id="927" r:id="rId12"/>
    <p:sldId id="937" r:id="rId13"/>
    <p:sldId id="941" r:id="rId14"/>
    <p:sldId id="938" r:id="rId15"/>
    <p:sldId id="939" r:id="rId16"/>
    <p:sldId id="940" r:id="rId17"/>
  </p:sldIdLst>
  <p:sldSz cx="12196763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044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222" y="-108"/>
      </p:cViewPr>
      <p:guideLst>
        <p:guide orient="horz" pos="2135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46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4006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  <a:t>2020/1/12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294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  <a:t>‹#›</a:t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5.7 K-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均值聚类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5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04595" y="1043940"/>
            <a:ext cx="988187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/>
              <a:t>物以类聚，人以群分，这是聚类分析的基本常识。聚类分析主要使得类内的样本尽可能相似，而类之间的样本尽可能相异。聚类问题的一般提法是：设有</a:t>
            </a:r>
            <a:r>
              <a:rPr lang="en-US" altLang="zh-CN"/>
              <a:t>n</a:t>
            </a:r>
            <a:r>
              <a:rPr lang="zh-CN" altLang="en-US"/>
              <a:t>个样本的</a:t>
            </a:r>
            <a:r>
              <a:rPr lang="en-US" altLang="zh-CN"/>
              <a:t>p</a:t>
            </a:r>
            <a:r>
              <a:rPr lang="zh-CN" altLang="en-US"/>
              <a:t>元观测数据组成一个数据矩阵</a:t>
            </a:r>
          </a:p>
          <a:p>
            <a:pPr algn="l"/>
            <a:endParaRPr lang="zh-CN" altLang="en-US"/>
          </a:p>
          <a:p>
            <a:pPr algn="l"/>
            <a:r>
              <a:rPr lang="zh-CN" altLang="en-US"/>
              <a:t>                    </a:t>
            </a:r>
          </a:p>
          <a:p>
            <a:pPr algn="ctr"/>
            <a:endParaRPr lang="zh-CN" altLang="en-US"/>
          </a:p>
          <a:p>
            <a:pPr algn="l"/>
            <a:endParaRPr lang="zh-CN" altLang="en-US"/>
          </a:p>
          <a:p>
            <a:pPr algn="l"/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 </a:t>
            </a:r>
          </a:p>
          <a:p>
            <a:pPr algn="l"/>
            <a:r>
              <a:rPr lang="zh-CN" altLang="en-US"/>
              <a:t>其中每一行表示一个样本，每一列表示一个指标，   表示第 i 个样本关于第j项指标的观测值，要根据观测值矩阵X对样本进行聚类。一种聚类的思想是：在样本之间定义距离，样本距离表明样品之间的相似度，将样本按相似度的大小逐一归类，关系密切的聚集到较小的一类，关系疏远的聚集到较大的一类，直到所有样本都聚集完毕。上述思想正是聚类分析的基本思想。</a:t>
            </a:r>
          </a:p>
          <a:p>
            <a:pPr algn="l"/>
            <a:r>
              <a:rPr lang="zh-CN" altLang="en-US"/>
              <a:t>聚类分析旨在找出数据对象之间的关系，对原数据进行分组打标签，标准是每个大组之间存在一定的差异性，而组内的对象存在一定的相似性，因此大组之间差异越大，组内的对象相似度越高，最终的聚类效果就越显著。</a:t>
            </a:r>
          </a:p>
          <a:p>
            <a:pPr algn="l"/>
            <a:r>
              <a:rPr lang="zh-CN" altLang="en-US"/>
              <a:t>K-均值聚类算法是数据挖掘中的经典聚类算法，它是一种划分聚类算法，由于简洁和高效使得它已成为所有聚类算法中最广泛使用的算法。</a:t>
            </a: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271895" y="2630170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r:id="rId4" imgW="215900" imgH="241300" progId="Equation.KSEE3">
                  <p:embed/>
                </p:oleObj>
              </mc:Choice>
              <mc:Fallback>
                <p:oleObj r:id="rId4" imgW="2159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71895" y="2630170"/>
                        <a:ext cx="215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 descr="]4JKLI45I4UIYZ$Z0DZ%U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7615" y="1855470"/>
            <a:ext cx="4203700" cy="1790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5.7.1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均值聚类的基本原理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5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22120" y="1410970"/>
            <a:ext cx="875220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k-均值聚类算法是一种基于原型的、根据距离划分组的算法，其时间复杂度比其他聚类算法低，用户需指定划分组的个数k。其中，k-均值聚类常见距离测度包括欧几里得距离、曼哈顿距离、切比雪夫距离等。通常情况下k-均值聚类分析默认采用欧几里得距离进行计算，不仅是欧几里得距离计算方便，且很容易解释对象之间的关系</a:t>
            </a:r>
            <a:r>
              <a:rPr lang="zh-CN" altLang="en-US"/>
              <a:t>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 sz="2400"/>
          </a:p>
          <a:p>
            <a:r>
              <a:rPr lang="zh-CN" altLang="en-US" sz="2400"/>
              <a:t>表示第 个样本与第 个样本之间的欧式距离。</a:t>
            </a:r>
          </a:p>
        </p:txBody>
      </p:sp>
      <p:pic>
        <p:nvPicPr>
          <p:cNvPr id="3" name="图片 2" descr="SK]W}X~F8IYFC}44`01S4T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895" y="3587750"/>
            <a:ext cx="3039110" cy="1148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均值聚类的基本原理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5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1080" y="1216025"/>
            <a:ext cx="1042162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K-均值聚类算法的直观理解如下：</a:t>
            </a:r>
          </a:p>
          <a:p>
            <a:r>
              <a:rPr lang="zh-CN" altLang="en-US" sz="2400"/>
              <a:t>Step1：随机初始化K个聚类中心，即K个类中心向量</a:t>
            </a:r>
          </a:p>
          <a:p>
            <a:r>
              <a:rPr lang="zh-CN" altLang="en-US" sz="2400"/>
              <a:t>Step2：对每个样本，计算其与各个类中心向量的距离，并将该样本指派给距离最小的类</a:t>
            </a:r>
          </a:p>
          <a:p>
            <a:r>
              <a:rPr lang="zh-CN" altLang="en-US" sz="2400"/>
              <a:t>Step3：更新每个类的中心向量，更新的方法为取该类所有样本的特征向量均值。</a:t>
            </a:r>
          </a:p>
          <a:p>
            <a:r>
              <a:rPr lang="zh-CN" altLang="en-US" sz="2400"/>
              <a:t>Step4：直到各个类的中心向量不再发生变化为止，作为退出条件。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78255" y="4218940"/>
            <a:ext cx="7988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32255" y="4133850"/>
            <a:ext cx="90963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比如有以下8个数据样本，对这8个数据样本聚为两类</a:t>
            </a:r>
          </a:p>
          <a:p>
            <a:endParaRPr lang="zh-CN" altLang="en-US" sz="2000"/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532255" y="4694555"/>
          <a:ext cx="8532495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055"/>
                <a:gridCol w="948055"/>
                <a:gridCol w="948055"/>
                <a:gridCol w="948055"/>
                <a:gridCol w="948055"/>
                <a:gridCol w="948055"/>
                <a:gridCol w="948055"/>
                <a:gridCol w="948055"/>
                <a:gridCol w="948055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xi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1.8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yi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均值聚类的基本原理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81405" y="1311910"/>
            <a:ext cx="10033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其K-均值聚类算法执行如下：</a:t>
            </a:r>
          </a:p>
          <a:p>
            <a:r>
              <a:rPr lang="zh-CN" altLang="en-US" sz="2400"/>
              <a:t>Step1: 初始化两个类的聚类中心，这里取第1、2个样本分别为两个类的聚类中心。即</a:t>
            </a:r>
          </a:p>
          <a:p>
            <a:r>
              <a:rPr lang="zh-CN" altLang="en-US" sz="2400"/>
              <a:t>C1=（1.5,2.5）</a:t>
            </a:r>
          </a:p>
          <a:p>
            <a:r>
              <a:rPr lang="zh-CN" altLang="en-US" sz="2400"/>
              <a:t>C2=（1.7,1.3）</a:t>
            </a:r>
          </a:p>
          <a:p>
            <a:r>
              <a:rPr lang="zh-CN" altLang="en-US" sz="2400"/>
              <a:t>Step2: 分别计算每个样本到达各个聚类中心的距离如下：</a:t>
            </a:r>
          </a:p>
          <a:p>
            <a:pPr algn="l"/>
            <a:r>
              <a:rPr lang="zh-CN" altLang="en-US" sz="2400"/>
              <a:t>到达C1的距离：0	   1.22      0.32      3.75	 2.79	4.69 	4.41 	0.67</a:t>
            </a:r>
          </a:p>
          <a:p>
            <a:pPr algn="l"/>
            <a:r>
              <a:rPr lang="zh-CN" altLang="en-US" sz="2400"/>
              <a:t>到达C2的距离：1.22     0	     0.91      4.92        3.93	5.84    5.56	0.61</a:t>
            </a:r>
          </a:p>
          <a:p>
            <a:pPr algn="l"/>
            <a:r>
              <a:rPr lang="zh-CN" altLang="en-US" sz="2400"/>
              <a:t>各样本所属类： 1          2           1           1            1         1         1         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5919743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均值聚类的基本原理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94105" y="1453515"/>
            <a:ext cx="1000760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Step3: 更新聚类中心，更新方法为计算所属类的特征向量的均值。</a:t>
            </a:r>
          </a:p>
          <a:p>
            <a:r>
              <a:rPr lang="zh-CN" altLang="en-US" sz="2400"/>
              <a:t>比如C1聚类中心向量的x分量为样本1、3、4、5、6、7的特征x分量的均值，y分量为样本1、3、4、5、6、7的特征y分量的均值。C2聚类中心向量则分别为样本2、8个特征向量的均值。</a:t>
            </a:r>
          </a:p>
          <a:p>
            <a:r>
              <a:rPr lang="zh-CN" altLang="en-US" sz="2400"/>
              <a:t>C1=（（1.5+1.6+2.1+2.2+2.4+2.5）/6，（2.5+2.2+6.2+5.2+7.1+6.8）/6）=（2.05,5）</a:t>
            </a:r>
          </a:p>
          <a:p>
            <a:r>
              <a:rPr lang="zh-CN" altLang="en-US" sz="2400"/>
              <a:t>C2=（（1.7+1.8）/2，（1.3+1.9）/2）=（1.75,1.6）</a:t>
            </a:r>
          </a:p>
          <a:p>
            <a:r>
              <a:rPr lang="zh-CN" altLang="en-US" sz="2400"/>
              <a:t>返回step2，重新计算各样本到达各聚类中心的距离：</a:t>
            </a:r>
          </a:p>
          <a:p>
            <a:r>
              <a:rPr lang="zh-CN" altLang="en-US" sz="2400"/>
              <a:t>到达C1的距离：2.56   3.72    2.84   1.2	 0.25	2.13	 1.86	3.11</a:t>
            </a:r>
          </a:p>
          <a:p>
            <a:r>
              <a:rPr lang="zh-CN" altLang="en-US" sz="2400"/>
              <a:t>到达C2的距离：0.93    0.3	   0.62	  4.61   3.63	5.54     5.25	0.3</a:t>
            </a:r>
          </a:p>
          <a:p>
            <a:r>
              <a:rPr lang="zh-CN" altLang="en-US" sz="2400"/>
              <a:t>各样本所属类：  2          2        2      1          1        1         1      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21588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均值聚类的基本原理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3455" y="1087120"/>
            <a:ext cx="1024953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同理更新聚类中心得：</a:t>
            </a:r>
          </a:p>
          <a:p>
            <a:r>
              <a:rPr lang="zh-CN" altLang="en-US" sz="2400"/>
              <a:t>C1=（2.3,6.325）</a:t>
            </a:r>
          </a:p>
          <a:p>
            <a:r>
              <a:rPr lang="zh-CN" altLang="en-US" sz="2400"/>
              <a:t>C2=（1.65,1.975）</a:t>
            </a:r>
          </a:p>
          <a:p>
            <a:r>
              <a:rPr lang="zh-CN" altLang="en-US" sz="2400"/>
              <a:t>返回step2，重新计算各样本到达各聚类中心的距离：</a:t>
            </a:r>
          </a:p>
          <a:p>
            <a:r>
              <a:rPr lang="zh-CN" altLang="en-US" sz="2400"/>
              <a:t>到达C1的距离：3.91	5.06	 4.18	0.24	 1.13	0.78 	0.52	 4.45</a:t>
            </a:r>
          </a:p>
          <a:p>
            <a:r>
              <a:rPr lang="zh-CN" altLang="en-US" sz="2400"/>
              <a:t>到达C2的距离：0.55	0.68	 0.23	4.25     3.27	5.18	 4.9	 0.17</a:t>
            </a:r>
          </a:p>
          <a:p>
            <a:r>
              <a:rPr lang="zh-CN" altLang="en-US" sz="2400"/>
              <a:t>各样本所属类：   2              2           2        1         1        1         1          2</a:t>
            </a:r>
          </a:p>
          <a:p>
            <a:r>
              <a:rPr lang="zh-CN" altLang="en-US" sz="2400"/>
              <a:t>同理更新聚类中心得：</a:t>
            </a:r>
          </a:p>
          <a:p>
            <a:r>
              <a:rPr lang="zh-CN" altLang="en-US" sz="2400"/>
              <a:t>C1=（2.3,6.325）</a:t>
            </a:r>
          </a:p>
          <a:p>
            <a:r>
              <a:rPr lang="zh-CN" altLang="en-US" sz="2400"/>
              <a:t>C2=（1.65,1.975）</a:t>
            </a:r>
          </a:p>
          <a:p>
            <a:r>
              <a:rPr lang="zh-CN" altLang="en-US" sz="2400"/>
              <a:t>Step4: 这里我们发现，聚类中心不再发生变化，而且类归属也没有发生变化，其实正是因为类归属没有发生变化，才导致了聚类中心不在发生变化，达到算法终止条件。故样本1、2、3、8归为一类，样本4、5、6、7归为另一类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10111438" cy="951865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均值聚类的基本原理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4255" y="732790"/>
            <a:ext cx="101473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利用Python，可以自己编写K-均值聚类算法程序，这样能更好地对K-均值聚类算法进行理解，参考程序如下：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86890" y="1918970"/>
            <a:ext cx="812101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def K_mean(data,knum):</a:t>
            </a:r>
          </a:p>
          <a:p>
            <a:r>
              <a:rPr lang="zh-CN" altLang="en-US" sz="2000"/>
              <a:t>    #输入：data--聚类特征数据集，要求为数据结构要求为numpy数值数组</a:t>
            </a:r>
          </a:p>
          <a:p>
            <a:r>
              <a:rPr lang="zh-CN" altLang="en-US" sz="2000"/>
              <a:t>    #输入：knum--聚类个数</a:t>
            </a:r>
          </a:p>
          <a:p>
            <a:r>
              <a:rPr lang="zh-CN" altLang="en-US" sz="2000"/>
              <a:t>    #返回值，data后面加一列类别，显示类别</a:t>
            </a:r>
          </a:p>
          <a:p>
            <a:r>
              <a:rPr lang="zh-CN" altLang="en-US" sz="2000"/>
              <a:t>    import pandas as pd</a:t>
            </a:r>
          </a:p>
          <a:p>
            <a:r>
              <a:rPr lang="zh-CN" altLang="en-US" sz="2000"/>
              <a:t>    import numpy as np</a:t>
            </a:r>
          </a:p>
          <a:p>
            <a:r>
              <a:rPr lang="zh-CN" altLang="en-US" sz="2000"/>
              <a:t>    p=len(data[0,:])                  #聚类数据维度</a:t>
            </a:r>
          </a:p>
          <a:p>
            <a:r>
              <a:rPr lang="zh-CN" altLang="en-US" sz="2000"/>
              <a:t>    cluscenter=np.zeros((knum,p))     #定预定义元素为全0的初始聚类中心</a:t>
            </a:r>
          </a:p>
          <a:p>
            <a:r>
              <a:rPr lang="zh-CN" altLang="en-US" sz="2000"/>
              <a:t>    lastcluscenter=np.zeros((knum,p)) #定预定义元素为全0的旧聚类中心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4" y="44625"/>
            <a:ext cx="8531529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均值聚类的基本原理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30960" y="1003300"/>
            <a:ext cx="903859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 #初始聚类中心和旧聚类中心初始化，取数据的前knum行作为初始值</a:t>
            </a:r>
          </a:p>
          <a:p>
            <a:r>
              <a:rPr lang="zh-CN" altLang="en-US"/>
              <a:t>    for i in range(knum):</a:t>
            </a:r>
          </a:p>
          <a:p>
            <a:r>
              <a:rPr lang="zh-CN" altLang="en-US"/>
              <a:t>      cluscenter[i,:]=data[i,:]</a:t>
            </a:r>
          </a:p>
          <a:p>
            <a:r>
              <a:rPr lang="zh-CN" altLang="en-US"/>
              <a:t>      lastcluscenter[i,:]=data[i,:]</a:t>
            </a:r>
          </a:p>
          <a:p>
            <a:r>
              <a:rPr lang="zh-CN" altLang="en-US"/>
              <a:t>    #预定义聚类类别一维数组，用于存放每次计算样本的所属类别</a:t>
            </a:r>
          </a:p>
          <a:p>
            <a:r>
              <a:rPr lang="zh-CN" altLang="en-US"/>
              <a:t>    clusindex=np.zeros((len(data)))</a:t>
            </a:r>
          </a:p>
          <a:p>
            <a:r>
              <a:rPr lang="zh-CN" altLang="en-US"/>
              <a:t>while 1:</a:t>
            </a:r>
          </a:p>
          <a:p>
            <a:r>
              <a:rPr lang="zh-CN" altLang="en-US"/>
              <a:t>        for i in range(len(data)):</a:t>
            </a:r>
          </a:p>
          <a:p>
            <a:r>
              <a:rPr lang="zh-CN" altLang="en-US"/>
              <a:t>              #计算第i个样本到各个聚类中心的欧式距离</a:t>
            </a:r>
          </a:p>
          <a:p>
            <a:r>
              <a:rPr lang="zh-CN" altLang="en-US"/>
              <a:t>              #预定义sumsquare，用于存放第i个样本到各个聚类中心的欧式距离</a:t>
            </a:r>
          </a:p>
          <a:p>
            <a:r>
              <a:rPr lang="zh-CN" altLang="en-US"/>
              <a:t>              sumsquare=np.zeros((knum))</a:t>
            </a:r>
          </a:p>
          <a:p>
            <a:r>
              <a:rPr lang="zh-CN" altLang="en-US"/>
              <a:t>              for k in range(knum):</a:t>
            </a:r>
          </a:p>
          <a:p>
            <a:r>
              <a:rPr lang="zh-CN" altLang="en-US"/>
              <a:t>                  sumsquare[k]=sum((data[i,:]-cluscenter[k,:])**2)</a:t>
            </a:r>
          </a:p>
          <a:p>
            <a:r>
              <a:rPr lang="zh-CN" altLang="en-US"/>
              <a:t>              sumsquare=np.sqrt(sumsquare)</a:t>
            </a:r>
          </a:p>
          <a:p>
            <a:r>
              <a:rPr lang="zh-CN" altLang="en-US"/>
              <a:t>              #第i个样本到各个聚类中心的欧式距离进行升序排序</a:t>
            </a:r>
          </a:p>
          <a:p>
            <a:r>
              <a:rPr lang="zh-CN" altLang="en-US"/>
              <a:t>              s=pd.Series(sumsquare).sort_values()</a:t>
            </a:r>
          </a:p>
          <a:p>
            <a:r>
              <a:rPr lang="zh-CN" altLang="en-US"/>
              <a:t>              #判断第i个样本的类归属（距离最小，即s序列中第0个位置的index）</a:t>
            </a:r>
          </a:p>
          <a:p>
            <a:r>
              <a:rPr lang="zh-CN" altLang="en-US"/>
              <a:t>              clusindex[i]=s.index[0]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73616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均值聚类的基本原理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33525" y="1127760"/>
            <a:ext cx="933132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/>
              <a:t>#将聚类结果添加到聚类数据最后一列</a:t>
            </a:r>
          </a:p>
          <a:p>
            <a:pPr algn="l"/>
            <a:r>
              <a:rPr lang="zh-CN" altLang="en-US"/>
              <a:t>        clusdata=np.hstack((data,clusindex.reshape((len(data),1))))</a:t>
            </a:r>
          </a:p>
          <a:p>
            <a:pPr algn="l"/>
            <a:r>
              <a:rPr lang="zh-CN" altLang="en-US"/>
              <a:t>        #更新聚类中心，新的聚类中心为对应类别样本特征的均值</a:t>
            </a:r>
          </a:p>
          <a:p>
            <a:pPr algn="l"/>
            <a:r>
              <a:rPr lang="zh-CN" altLang="en-US"/>
              <a:t>        for i in range(knum):</a:t>
            </a:r>
          </a:p>
          <a:p>
            <a:pPr algn="l"/>
            <a:r>
              <a:rPr lang="zh-CN" altLang="en-US"/>
              <a:t>              cluscenter[i,:]=np.mean(clusdata[clusdata[:,p]==i,:-1],0).reshape(1,p)</a:t>
            </a:r>
          </a:p>
          <a:p>
            <a:pPr algn="l"/>
            <a:r>
              <a:rPr lang="zh-CN" altLang="en-US"/>
              <a:t>        #新的聚类中心与旧的聚类中心相减</a:t>
            </a:r>
          </a:p>
          <a:p>
            <a:pPr algn="l"/>
            <a:r>
              <a:rPr lang="zh-CN" altLang="en-US"/>
              <a:t>        t=abs(lastcluscenter-cluscenter)</a:t>
            </a:r>
          </a:p>
          <a:p>
            <a:pPr algn="l"/>
            <a:r>
              <a:rPr lang="zh-CN" altLang="en-US"/>
              <a:t>        #如果新的聚类中心与旧的聚类中心一致，即聚类中心不发生变化，</a:t>
            </a:r>
          </a:p>
          <a:p>
            <a:pPr algn="l"/>
            <a:r>
              <a:rPr lang="zh-CN" altLang="en-US"/>
              <a:t>#返回聚类结果，并退出循环</a:t>
            </a:r>
          </a:p>
          <a:p>
            <a:pPr algn="l"/>
            <a:r>
              <a:rPr lang="zh-CN" altLang="en-US"/>
              <a:t>        if sum(sum(t))==0:    </a:t>
            </a:r>
          </a:p>
          <a:p>
            <a:pPr algn="l"/>
            <a:r>
              <a:rPr lang="zh-CN" altLang="en-US"/>
              <a:t>            return clusdata</a:t>
            </a:r>
          </a:p>
          <a:p>
            <a:pPr algn="l"/>
            <a:r>
              <a:rPr lang="zh-CN" altLang="en-US"/>
              <a:t>            break</a:t>
            </a:r>
          </a:p>
          <a:p>
            <a:pPr algn="l"/>
            <a:r>
              <a:rPr lang="zh-CN" altLang="en-US"/>
              <a:t>        #如果更新的聚类中心与旧的聚类中心不一致，</a:t>
            </a:r>
          </a:p>
          <a:p>
            <a:pPr algn="l"/>
            <a:r>
              <a:rPr lang="zh-CN" altLang="en-US"/>
              <a:t>#将更新的聚类中心赋给旧的聚类中心，进入下一次循环</a:t>
            </a:r>
          </a:p>
          <a:p>
            <a:pPr algn="l"/>
            <a:r>
              <a:rPr lang="zh-CN" altLang="en-US"/>
              <a:t>        else:</a:t>
            </a:r>
          </a:p>
          <a:p>
            <a:pPr algn="l"/>
            <a:r>
              <a:rPr lang="zh-CN" altLang="en-US"/>
              <a:t>            for k in range(knum):</a:t>
            </a:r>
          </a:p>
          <a:p>
            <a:pPr algn="l"/>
            <a:r>
              <a:rPr lang="zh-CN" altLang="en-US"/>
              <a:t>                lastcluscenter[k,:]=cluscenter[k,:]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160103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均值聚类的基本原理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99285" y="1466850"/>
            <a:ext cx="729361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调用该算法函数，并绘制聚类效果图如下：</a:t>
            </a:r>
          </a:p>
          <a:p>
            <a:r>
              <a:rPr lang="zh-CN" altLang="en-US" sz="2000"/>
              <a:t>import pandas as pd</a:t>
            </a:r>
          </a:p>
          <a:p>
            <a:r>
              <a:rPr lang="zh-CN" altLang="en-US" sz="2000"/>
              <a:t>D=pd.read_excel('D.xlsx',header=None)</a:t>
            </a:r>
          </a:p>
          <a:p>
            <a:r>
              <a:rPr lang="zh-CN" altLang="en-US" sz="2000"/>
              <a:t>D=D.as_matrix()</a:t>
            </a:r>
          </a:p>
          <a:p>
            <a:r>
              <a:rPr lang="zh-CN" altLang="en-US" sz="2000"/>
              <a:t>r=K_mean(D,2)</a:t>
            </a:r>
          </a:p>
          <a:p>
            <a:r>
              <a:rPr lang="zh-CN" altLang="en-US" sz="2000"/>
              <a:t>x0=r[r[:,2]==0,0]</a:t>
            </a:r>
          </a:p>
          <a:p>
            <a:r>
              <a:rPr lang="zh-CN" altLang="en-US" sz="2000"/>
              <a:t>y0=r[r[:,2]==0,1]</a:t>
            </a:r>
          </a:p>
          <a:p>
            <a:r>
              <a:rPr lang="zh-CN" altLang="en-US" sz="2000"/>
              <a:t>x1=r[r[:,2]==1,0]</a:t>
            </a:r>
          </a:p>
          <a:p>
            <a:r>
              <a:rPr lang="zh-CN" altLang="en-US" sz="2000"/>
              <a:t>y1=r[r[:,2]==1,1]</a:t>
            </a:r>
          </a:p>
          <a:p>
            <a:r>
              <a:rPr lang="zh-CN" altLang="en-US" sz="2000"/>
              <a:t>import matplotlib.pyplot as plt</a:t>
            </a:r>
          </a:p>
          <a:p>
            <a:r>
              <a:rPr lang="zh-CN" altLang="en-US" sz="2000"/>
              <a:t>plt.plot(x0,y0,'r*')  </a:t>
            </a:r>
          </a:p>
          <a:p>
            <a:r>
              <a:rPr lang="zh-CN" altLang="en-US" sz="2000"/>
              <a:t>plt.plot(x1,y1,'bo')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均值聚类的基本原理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4595" y="805815"/>
            <a:ext cx="37071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执行结果如图5-15所示。</a:t>
            </a:r>
          </a:p>
        </p:txBody>
      </p:sp>
      <p:pic>
        <p:nvPicPr>
          <p:cNvPr id="138" name="图片 138"/>
          <p:cNvPicPr/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1682750" y="1353820"/>
            <a:ext cx="8221345" cy="41503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382395" y="5701030"/>
            <a:ext cx="88226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从图中可以看出，它们明显的归结为两类：其中红色星号为1类，蓝色圆圈为2类。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5.7.2 Python K-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均值聚类算法应用举例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712912" y="1315085"/>
          <a:ext cx="8142605" cy="5293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8245"/>
                <a:gridCol w="1685925"/>
                <a:gridCol w="1774825"/>
                <a:gridCol w="1675130"/>
                <a:gridCol w="1808480"/>
              </a:tblGrid>
              <a:tr h="3562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地区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工资性收入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经营净收入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财产净收入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转移净收入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北京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16637.5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2061.9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1350.1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2260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天津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12048.1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5309.4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893.7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1824.4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河北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6263.2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3970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257.5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1428.6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山西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5204.4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2729.9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1999.1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内蒙古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2448.9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6215.7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452.6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2491.7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辽宁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5071.2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5635.5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257.6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1916.4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吉林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2363.1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7558.9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231.8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1969.1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黑龙江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2430.5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6425.9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572.7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2402.6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上海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18947.9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1387.9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859.6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4325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江苏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8731.7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5283.1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2984.8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浙江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14204.3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5621.9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661.8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2378.1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安徽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4291.4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4596.1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186.7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2646.2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福建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6785.2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5821.5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255.7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2136.9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江西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4954.7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4692.3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204.4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2286.4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山东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5569.1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6266.6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358.7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1759.7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河南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4228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4643.2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2657.6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湖北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4023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5534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158.6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3009.3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湖南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4946.2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4138.6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143.1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2702.5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738755" y="860425"/>
            <a:ext cx="5610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表5-1  2016年农村居民人均可支配收入来源情况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5.7.2 Python K-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均值聚类算法应用举例</a:t>
            </a:r>
            <a:endParaRPr lang="en-US" altLang="zh-CN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4875" y="973455"/>
            <a:ext cx="2025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续表：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665287" y="1422400"/>
          <a:ext cx="7972425" cy="3599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3480"/>
                <a:gridCol w="1651000"/>
                <a:gridCol w="1737995"/>
                <a:gridCol w="1693545"/>
                <a:gridCol w="1716405"/>
              </a:tblGrid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广东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7255.3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3883.6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365.8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3007.5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广西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2848.1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4759.2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149.2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2603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海南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4764.9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5315.7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139.1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1623.1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重庆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3965.6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4150.1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295.8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3137.3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四川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3737.6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4525.2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268.5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2671.8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贵州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3211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3115.8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67.1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1696.3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云南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2553.9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5043.7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152.2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1270.1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西藏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2204.9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5237.9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148.7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1502.3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陕西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3916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3057.9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2263.6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甘肃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2125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3261.4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128.4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1942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青海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2464.3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3197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325.2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2677.8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宁夏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3906.1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3937.5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291.8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1716.3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新疆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2527.1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5642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222.8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1791.3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5.7.2 Python K-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均值聚类算法应用举例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1040" y="1859915"/>
            <a:ext cx="539623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  <a:p>
            <a:r>
              <a:rPr lang="zh-CN" altLang="en-US"/>
              <a:t>1．数据获取及标准化处理</a:t>
            </a:r>
          </a:p>
          <a:p>
            <a:r>
              <a:rPr lang="zh-CN" altLang="en-US"/>
              <a:t>import pandas as pd</a:t>
            </a:r>
          </a:p>
          <a:p>
            <a:r>
              <a:rPr lang="zh-CN" altLang="en-US"/>
              <a:t>data=pd.read_excel('农村居民人均可支配收入来源2016.xlsx')</a:t>
            </a:r>
          </a:p>
          <a:p>
            <a:r>
              <a:rPr lang="zh-CN" altLang="en-US"/>
              <a:t>X=data.iloc[:,1:]</a:t>
            </a:r>
          </a:p>
          <a:p>
            <a:r>
              <a:rPr lang="zh-CN" altLang="en-US"/>
              <a:t>from sklearn.preprocessing import StandardScaler  </a:t>
            </a:r>
          </a:p>
          <a:p>
            <a:r>
              <a:rPr lang="zh-CN" altLang="en-US"/>
              <a:t>scaler = StandardScaler()</a:t>
            </a:r>
          </a:p>
          <a:p>
            <a:r>
              <a:rPr lang="zh-CN" altLang="en-US"/>
              <a:t>scaler.fit(X) </a:t>
            </a:r>
          </a:p>
          <a:p>
            <a:r>
              <a:rPr lang="zh-CN" altLang="en-US"/>
              <a:t>X=scaler.transform(X)</a:t>
            </a: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485890" y="1565275"/>
            <a:ext cx="508444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2．K-均值聚类分析</a:t>
            </a:r>
            <a:endParaRPr lang="zh-CN" altLang="en-US"/>
          </a:p>
          <a:p>
            <a:r>
              <a:rPr lang="zh-CN" altLang="en-US">
                <a:sym typeface="+mn-ea"/>
              </a:rPr>
              <a:t>（1）导入K-均值聚类模块KMeans。</a:t>
            </a:r>
            <a:endParaRPr lang="zh-CN" altLang="en-US"/>
          </a:p>
          <a:p>
            <a:r>
              <a:rPr lang="zh-CN" altLang="en-US">
                <a:sym typeface="+mn-ea"/>
              </a:rPr>
              <a:t>from sklearn.cluster import KMeans</a:t>
            </a:r>
            <a:endParaRPr lang="zh-CN" altLang="en-US"/>
          </a:p>
          <a:p>
            <a:r>
              <a:rPr lang="zh-CN" altLang="en-US">
                <a:sym typeface="+mn-ea"/>
              </a:rPr>
              <a:t>（2）利用KMeans创建K-均值聚类对象model。</a:t>
            </a:r>
            <a:endParaRPr lang="zh-CN" altLang="en-US"/>
          </a:p>
          <a:p>
            <a:r>
              <a:rPr lang="zh-CN" altLang="en-US">
                <a:sym typeface="+mn-ea"/>
              </a:rPr>
              <a:t>model = KMeans(n_clusters = K, random_state=0, max_iter = 500) </a:t>
            </a:r>
            <a:endParaRPr lang="zh-CN" altLang="en-US"/>
          </a:p>
          <a:p>
            <a:r>
              <a:rPr lang="zh-CN" altLang="en-US">
                <a:sym typeface="+mn-ea"/>
              </a:rPr>
              <a:t>参数说明如下：</a:t>
            </a:r>
            <a:endParaRPr lang="zh-CN" altLang="en-US"/>
          </a:p>
          <a:p>
            <a:r>
              <a:rPr lang="zh-CN" altLang="en-US">
                <a:sym typeface="+mn-ea"/>
              </a:rPr>
              <a:t>n_clusters：设置的聚类个数K</a:t>
            </a:r>
            <a:endParaRPr lang="zh-CN" altLang="en-US"/>
          </a:p>
          <a:p>
            <a:r>
              <a:rPr lang="zh-CN" altLang="en-US">
                <a:sym typeface="+mn-ea"/>
              </a:rPr>
              <a:t>random_state：随机初始状态，设置为0即可</a:t>
            </a:r>
            <a:endParaRPr lang="zh-CN" altLang="en-US"/>
          </a:p>
          <a:p>
            <a:r>
              <a:rPr lang="zh-CN" altLang="en-US">
                <a:sym typeface="+mn-ea"/>
              </a:rPr>
              <a:t>max_iter：最大跌代次数</a:t>
            </a:r>
            <a:endParaRPr lang="zh-CN" altLang="en-US"/>
          </a:p>
          <a:p>
            <a:r>
              <a:rPr lang="zh-CN" altLang="en-US">
                <a:sym typeface="+mn-ea"/>
              </a:rPr>
              <a:t>（3）调用model对象中的fit()方法进行拟合训练。</a:t>
            </a:r>
            <a:endParaRPr lang="zh-CN" altLang="en-US"/>
          </a:p>
          <a:p>
            <a:r>
              <a:rPr lang="zh-CN" altLang="en-US">
                <a:sym typeface="+mn-ea"/>
              </a:rPr>
              <a:t>model.fit(X)</a:t>
            </a:r>
            <a:endParaRPr lang="zh-CN" altLang="en-US"/>
          </a:p>
          <a:p>
            <a:r>
              <a:rPr lang="zh-CN" altLang="en-US">
                <a:sym typeface="+mn-ea"/>
              </a:rPr>
              <a:t>（4）获取model对象中的labels_属性，可以返回其聚类的标签。</a:t>
            </a:r>
            <a:endParaRPr lang="zh-CN" altLang="en-US"/>
          </a:p>
          <a:p>
            <a:r>
              <a:rPr lang="zh-CN" altLang="en-US">
                <a:sym typeface="+mn-ea"/>
              </a:rPr>
              <a:t>c=model.labels_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60070" y="849630"/>
            <a:ext cx="100774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以表5-1为例，对表中给出的31个地区农村居民人均可支配收入情况作聚类分析，其计算思路及流程如下：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5.7.2 Python K-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均值聚类算法应用举例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54505" y="1142365"/>
            <a:ext cx="733679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示例代码如下：</a:t>
            </a:r>
          </a:p>
          <a:p>
            <a:r>
              <a:rPr lang="zh-CN" altLang="en-US"/>
              <a:t>import pandas as pd</a:t>
            </a:r>
          </a:p>
          <a:p>
            <a:r>
              <a:rPr lang="zh-CN" altLang="en-US"/>
              <a:t>data=pd.read_excel('农村居民人均可支配收入来源2016.xlsx')</a:t>
            </a:r>
          </a:p>
          <a:p>
            <a:r>
              <a:rPr lang="zh-CN" altLang="en-US"/>
              <a:t>X=data.iloc[:,1:]</a:t>
            </a:r>
          </a:p>
          <a:p>
            <a:r>
              <a:rPr lang="zh-CN" altLang="en-US"/>
              <a:t>from sklearn.preprocessing import StandardScaler  </a:t>
            </a:r>
          </a:p>
          <a:p>
            <a:r>
              <a:rPr lang="zh-CN" altLang="en-US"/>
              <a:t>scaler = StandardScaler()</a:t>
            </a:r>
          </a:p>
          <a:p>
            <a:r>
              <a:rPr lang="zh-CN" altLang="en-US"/>
              <a:t>scaler.fit(X) </a:t>
            </a:r>
          </a:p>
          <a:p>
            <a:r>
              <a:rPr lang="zh-CN" altLang="en-US"/>
              <a:t>X=scaler.transform(X) </a:t>
            </a:r>
          </a:p>
          <a:p>
            <a:r>
              <a:rPr lang="zh-CN" altLang="en-US"/>
              <a:t>from sklearn.cluster import KMeans   </a:t>
            </a:r>
          </a:p>
          <a:p>
            <a:r>
              <a:rPr lang="zh-CN" altLang="en-US"/>
              <a:t>model = KMeans(n_clusters = 4, random_state=0, max_iter = 500) </a:t>
            </a:r>
          </a:p>
          <a:p>
            <a:r>
              <a:rPr lang="zh-CN" altLang="en-US"/>
              <a:t>model.fit(X) </a:t>
            </a:r>
          </a:p>
          <a:p>
            <a:r>
              <a:rPr lang="zh-CN" altLang="en-US"/>
              <a:t>c=model.labels_</a:t>
            </a:r>
          </a:p>
          <a:p>
            <a:r>
              <a:rPr lang="zh-CN" altLang="en-US"/>
              <a:t>Fs=pd.Series(c,index=data['地区'])</a:t>
            </a:r>
          </a:p>
          <a:p>
            <a:r>
              <a:rPr lang="zh-CN" altLang="en-US"/>
              <a:t>Fs=Fs.sort_values(ascending=True)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5.7.2 Python K-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均值聚类算法应用举例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120" name="图片 1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" y="1302385"/>
            <a:ext cx="2565400" cy="4775835"/>
          </a:xfrm>
          <a:prstGeom prst="rect">
            <a:avLst/>
          </a:prstGeom>
        </p:spPr>
      </p:pic>
      <p:pic>
        <p:nvPicPr>
          <p:cNvPr id="122" name="图片 1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4080" y="1196975"/>
            <a:ext cx="2689860" cy="4986655"/>
          </a:xfrm>
          <a:prstGeom prst="rect">
            <a:avLst/>
          </a:prstGeom>
        </p:spPr>
      </p:pic>
      <p:pic>
        <p:nvPicPr>
          <p:cNvPr id="123" name="图片 1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0780" y="2167890"/>
            <a:ext cx="2536825" cy="1420495"/>
          </a:xfrm>
          <a:prstGeom prst="rect">
            <a:avLst/>
          </a:prstGeom>
        </p:spPr>
      </p:pic>
      <p:pic>
        <p:nvPicPr>
          <p:cNvPr id="124" name="图片 1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97295" y="4225290"/>
            <a:ext cx="2480310" cy="10318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152890" y="1805940"/>
            <a:ext cx="214058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从左图可以看出，对31个地区，分为4类，类标签分别为0、1、2、3。比如第1类为：浙江、天津、江苏；第3类为：上海、北京。这里需要说明的是，类标签的数值没有实际的意义，仅起到类标注的作用。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7ff97c3-6cec-4bb0-a072-ddb65ef18fe0}"/>
  <p:tag name="TABLE_SKINIDX" val="2"/>
  <p:tag name="TABLE_ENCOLOR" val="#FFFFF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715595204"/>
  <p:tag name="KSO_WM_UNIT_PLACING_PICTURE_USER_VIEWPORT" val="{&quot;height&quot;:3614,&quot;width&quot;:550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a94a747-b0ef-4c8f-8e95-e9ac2a2b0f6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a2d4783-bd02-4897-8c82-b039b55f689d}"/>
</p:tagLst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2371</Words>
  <Application>Microsoft Office PowerPoint</Application>
  <PresentationFormat>自定义</PresentationFormat>
  <Paragraphs>376</Paragraphs>
  <Slides>16</Slides>
  <Notes>16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第一PPT，www.1ppt.com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lenovo</cp:lastModifiedBy>
  <cp:revision>1586</cp:revision>
  <dcterms:created xsi:type="dcterms:W3CDTF">2013-01-25T01:44:00Z</dcterms:created>
  <dcterms:modified xsi:type="dcterms:W3CDTF">2020-01-12T03:45:45Z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2052-11.1.0.9209</vt:lpwstr>
  </property>
</Properties>
</file>