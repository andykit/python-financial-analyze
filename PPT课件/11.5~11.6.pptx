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2"/>
  </p:handoutMasterIdLst>
  <p:sldIdLst>
    <p:sldId id="914" r:id="rId3"/>
    <p:sldId id="961" r:id="rId5"/>
    <p:sldId id="963" r:id="rId6"/>
    <p:sldId id="1007" r:id="rId7"/>
    <p:sldId id="964" r:id="rId8"/>
    <p:sldId id="965" r:id="rId9"/>
    <p:sldId id="966" r:id="rId10"/>
    <p:sldId id="968" r:id="rId11"/>
    <p:sldId id="969" r:id="rId12"/>
    <p:sldId id="970" r:id="rId13"/>
    <p:sldId id="971" r:id="rId14"/>
    <p:sldId id="972" r:id="rId15"/>
    <p:sldId id="973" r:id="rId16"/>
    <p:sldId id="1002" r:id="rId17"/>
    <p:sldId id="1003" r:id="rId18"/>
    <p:sldId id="1004" r:id="rId19"/>
    <p:sldId id="1005" r:id="rId20"/>
    <p:sldId id="1006" r:id="rId21"/>
  </p:sldIdLst>
  <p:sldSz cx="12196445" cy="6858000"/>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尚佳"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8F8F8"/>
    <a:srgbClr val="17DCF1"/>
    <a:srgbClr val="0DC2D5"/>
    <a:srgbClr val="006BBC"/>
    <a:srgbClr val="00AAA2"/>
    <a:srgbClr val="EFEFEF"/>
    <a:srgbClr val="FFFFFF"/>
    <a:srgbClr val="F0F0F0"/>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044" autoAdjust="0"/>
    <p:restoredTop sz="94270" autoAdjust="0"/>
  </p:normalViewPr>
  <p:slideViewPr>
    <p:cSldViewPr snapToObjects="1">
      <p:cViewPr varScale="1">
        <p:scale>
          <a:sx n="36" d="100"/>
          <a:sy n="36" d="100"/>
        </p:scale>
        <p:origin x="-84" y="-822"/>
      </p:cViewPr>
      <p:guideLst>
        <p:guide orient="horz" pos="2144"/>
        <p:guide pos="3812"/>
      </p:guideLst>
    </p:cSldViewPr>
  </p:slideViewPr>
  <p:outlineViewPr>
    <p:cViewPr>
      <p:scale>
        <a:sx n="33" d="100"/>
        <a:sy n="33" d="100"/>
      </p:scale>
      <p:origin x="0" y="0"/>
    </p:cViewPr>
  </p:outlineViewPr>
  <p:notesTextViewPr>
    <p:cViewPr>
      <p:scale>
        <a:sx n="1" d="1"/>
        <a:sy n="1" d="1"/>
      </p:scale>
      <p:origin x="0" y="0"/>
    </p:cViewPr>
  </p:notesTextViewPr>
  <p:sorterViewPr>
    <p:cViewPr>
      <p:scale>
        <a:sx n="139" d="100"/>
        <a:sy n="139" d="100"/>
      </p:scale>
      <p:origin x="0" y="0"/>
    </p:cViewPr>
  </p:sorterViewPr>
  <p:notesViewPr>
    <p:cSldViewPr snapToObjects="1">
      <p:cViewPr varScale="1">
        <p:scale>
          <a:sx n="69" d="100"/>
          <a:sy n="69" d="100"/>
        </p:scale>
        <p:origin x="-2838" y="-90"/>
      </p:cViewPr>
      <p:guideLst>
        <p:guide orient="horz" pos="2859"/>
        <p:guide pos="2144"/>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E610686-844B-4A1B-87C8-BB90DB4BAB84}"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0" hangingPunct="0">
              <a:defRPr sz="1200"/>
            </a:lvl1pPr>
          </a:lstStyle>
          <a:p>
            <a:endParaRPr lang="zh-CN" altLang="en-US"/>
          </a:p>
        </p:txBody>
      </p:sp>
      <p:sp>
        <p:nvSpPr>
          <p:cNvPr id="3075"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0" hangingPunct="0">
              <a:defRPr sz="1200"/>
            </a:lvl1pPr>
          </a:lstStyle>
          <a:p>
            <a:fld id="{B9EEDA17-7CE7-49CA-897E-A1888A19DA62}" type="datetimeFigureOut">
              <a:rPr lang="zh-CN" altLang="en-US"/>
            </a:fld>
            <a:endParaRPr lang="en-US"/>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078"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0" hangingPunct="0">
              <a:defRPr sz="1200"/>
            </a:lvl1pPr>
          </a:lstStyle>
          <a:p>
            <a:endParaRPr lang="en-US"/>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0" hangingPunct="0">
              <a:defRPr sz="1200"/>
            </a:lvl1pPr>
          </a:lstStyle>
          <a:p>
            <a:fld id="{CE1689F0-D8FB-450F-A36F-553F26501FEE}" type="slidenum">
              <a:rPr lang="zh-CN" alt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2" name="矩形 11"/>
          <p:cNvSpPr/>
          <p:nvPr userDrawn="1"/>
        </p:nvSpPr>
        <p:spPr>
          <a:xfrm>
            <a:off x="6170389" y="134946"/>
            <a:ext cx="775136" cy="246221"/>
          </a:xfrm>
          <a:prstGeom prst="rect">
            <a:avLst/>
          </a:prstGeom>
        </p:spPr>
        <p:txBody>
          <a:bodyPr wrap="square">
            <a:spAutoFit/>
          </a:bodyPr>
          <a:lstStyle/>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endParaRPr lang="en-US" altLang="zh-CN" sz="100" dirty="0">
              <a:solidFill>
                <a:prstClr val="white"/>
              </a:solidFill>
              <a:latin typeface="Calibri" panose="020F0502020204030204"/>
              <a:ea typeface="宋体" panose="02010600030101010101" pitchFamily="2" charset="-122"/>
            </a:endParaRPr>
          </a:p>
          <a:p>
            <a:pPr fontAlgn="auto">
              <a:spcBef>
                <a:spcPts val="0"/>
              </a:spcBef>
              <a:spcAft>
                <a:spcPts val="0"/>
              </a:spcAft>
              <a:buFontTx/>
              <a:buNone/>
            </a:pPr>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
        <p:nvSpPr>
          <p:cNvPr id="2" name="标题 1"/>
          <p:cNvSpPr>
            <a:spLocks noGrp="1"/>
          </p:cNvSpPr>
          <p:nvPr>
            <p:ph type="title"/>
          </p:nvPr>
        </p:nvSpPr>
        <p:spPr>
          <a:xfrm>
            <a:off x="825625" y="908051"/>
            <a:ext cx="10601349" cy="635000"/>
          </a:xfrm>
        </p:spPr>
        <p:txBody>
          <a:bodyPr/>
          <a:lstStyle>
            <a:lvl1pPr>
              <a:defRPr>
                <a:solidFill>
                  <a:schemeClr val="accent1"/>
                </a:solidFill>
              </a:defRPr>
            </a:lvl1pPr>
          </a:lstStyle>
          <a:p>
            <a:r>
              <a:rPr lang="zh-CN" altLang="en-US"/>
              <a:t>单击此处编辑母版标题样式</a:t>
            </a:r>
            <a:endParaRPr lang="zh-CN" altLang="en-US"/>
          </a:p>
        </p:txBody>
      </p:sp>
      <p:sp>
        <p:nvSpPr>
          <p:cNvPr id="3" name="内容占位符 2"/>
          <p:cNvSpPr>
            <a:spLocks noGrp="1"/>
          </p:cNvSpPr>
          <p:nvPr>
            <p:ph idx="1"/>
          </p:nvPr>
        </p:nvSpPr>
        <p:spPr>
          <a:xfrm>
            <a:off x="825625" y="1600201"/>
            <a:ext cx="10601349" cy="4525963"/>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 name="Freeform 5"/>
          <p:cNvSpPr/>
          <p:nvPr userDrawn="1"/>
        </p:nvSpPr>
        <p:spPr bwMode="auto">
          <a:xfrm>
            <a:off x="63836" y="73173"/>
            <a:ext cx="1227153" cy="486467"/>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34" tIns="45717" rIns="91434" bIns="45717" numCol="1" anchor="t" anchorCtr="0" compatLnSpc="1"/>
          <a:lstStyle/>
          <a:p>
            <a:endParaRPr lang="zh-CN" altLang="en-US"/>
          </a:p>
        </p:txBody>
      </p:sp>
      <p:sp>
        <p:nvSpPr>
          <p:cNvPr id="9" name="Freeform 6"/>
          <p:cNvSpPr/>
          <p:nvPr userDrawn="1"/>
        </p:nvSpPr>
        <p:spPr bwMode="auto">
          <a:xfrm>
            <a:off x="1196835" y="73173"/>
            <a:ext cx="10215809" cy="486467"/>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0" name="Freeform 7"/>
          <p:cNvSpPr/>
          <p:nvPr userDrawn="1"/>
        </p:nvSpPr>
        <p:spPr bwMode="auto">
          <a:xfrm>
            <a:off x="11320057" y="73173"/>
            <a:ext cx="812871" cy="486467"/>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34" tIns="45717" rIns="91434" bIns="45717" numCol="1" anchor="t" anchorCtr="0" compatLnSpc="1"/>
          <a:lstStyle/>
          <a:p>
            <a:endParaRPr lang="zh-CN" altLang="en-US"/>
          </a:p>
        </p:txBody>
      </p:sp>
      <p:sp>
        <p:nvSpPr>
          <p:cNvPr id="15" name="TextBox 14"/>
          <p:cNvSpPr txBox="1"/>
          <p:nvPr userDrawn="1"/>
        </p:nvSpPr>
        <p:spPr>
          <a:xfrm>
            <a:off x="11537052" y="116633"/>
            <a:ext cx="474797" cy="353937"/>
          </a:xfrm>
          <a:prstGeom prst="rect">
            <a:avLst/>
          </a:prstGeom>
          <a:noFill/>
        </p:spPr>
        <p:txBody>
          <a:bodyPr wrap="none" lIns="91434" tIns="45717" rIns="91434" bIns="45717" rtlCol="0">
            <a:spAutoFit/>
          </a:bodyPr>
          <a:lstStyle/>
          <a:p>
            <a:pPr algn="ctr"/>
            <a:fld id="{B879B013-EF15-44F9-9A4C-93BE492C244C}" type="slidenum">
              <a:rPr lang="zh-CN" altLang="en-US" sz="1700" smtClean="0">
                <a:solidFill>
                  <a:schemeClr val="accent2"/>
                </a:solidFill>
                <a:latin typeface="+mn-ea"/>
                <a:ea typeface="+mn-ea"/>
              </a:rPr>
            </a:fld>
            <a:endParaRPr lang="zh-CN" altLang="en-US" sz="1700" dirty="0">
              <a:solidFill>
                <a:schemeClr val="accent2"/>
              </a:solidFill>
              <a:latin typeface="+mn-ea"/>
              <a:ea typeface="+mn-ea"/>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614" y="4406901"/>
            <a:ext cx="10366375" cy="1362075"/>
          </a:xfrm>
        </p:spPr>
        <p:txBody>
          <a:bodyPr anchor="t"/>
          <a:lstStyle>
            <a:lvl1pPr algn="l">
              <a:defRPr sz="4000" b="1" cap="all">
                <a:solidFill>
                  <a:srgbClr val="F8F8F8"/>
                </a:solidFill>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963614" y="2906713"/>
            <a:ext cx="10366375" cy="1500187"/>
          </a:xfrm>
        </p:spPr>
        <p:txBody>
          <a:bodyPr anchor="b"/>
          <a:lstStyle>
            <a:lvl1pPr marL="0" indent="0">
              <a:buNone/>
              <a:defRPr sz="2000">
                <a:solidFill>
                  <a:srgbClr val="F8F8F8"/>
                </a:solidFill>
              </a:defRPr>
            </a:lvl1pPr>
            <a:lvl2pPr marL="457200" indent="0">
              <a:buNone/>
              <a:defRPr sz="1700"/>
            </a:lvl2pPr>
            <a:lvl3pPr marL="914400" indent="0">
              <a:buNone/>
              <a:defRPr sz="1600"/>
            </a:lvl3pPr>
            <a:lvl4pPr marL="1371600" indent="0">
              <a:buNone/>
              <a:defRPr sz="1300"/>
            </a:lvl4pPr>
            <a:lvl5pPr marL="1828800" indent="0">
              <a:buNone/>
              <a:defRPr sz="1300"/>
            </a:lvl5pPr>
            <a:lvl6pPr marL="2286000" indent="0">
              <a:buNone/>
              <a:defRPr sz="1300"/>
            </a:lvl6pPr>
            <a:lvl7pPr marL="2743200" indent="0">
              <a:buNone/>
              <a:defRPr sz="1300"/>
            </a:lvl7pPr>
            <a:lvl8pPr marL="3200400" indent="0">
              <a:buNone/>
              <a:defRPr sz="1300"/>
            </a:lvl8pPr>
            <a:lvl9pPr marL="3657600" indent="0">
              <a:buNone/>
              <a:defRPr sz="13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599" y="1600201"/>
            <a:ext cx="5411788"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3788" y="1600201"/>
            <a:ext cx="5413375" cy="4525963"/>
          </a:xfrm>
        </p:spPr>
        <p:txBody>
          <a:bodyPr/>
          <a:lstStyle>
            <a:lvl1pPr>
              <a:defRPr sz="2800"/>
            </a:lvl1pPr>
            <a:lvl2pPr>
              <a:defRPr sz="2400"/>
            </a:lvl2pPr>
            <a:lvl3pPr>
              <a:defRPr sz="2000"/>
            </a:lvl3pPr>
            <a:lvl4pPr>
              <a:defRPr sz="1700"/>
            </a:lvl4pPr>
            <a:lvl5pPr>
              <a:defRPr sz="1700"/>
            </a:lvl5pPr>
            <a:lvl6pPr>
              <a:defRPr sz="1700"/>
            </a:lvl6pPr>
            <a:lvl7pPr>
              <a:defRPr sz="1700"/>
            </a:lvl7pPr>
            <a:lvl8pPr>
              <a:defRPr sz="1700"/>
            </a:lvl8pPr>
            <a:lvl9pPr>
              <a:defRPr sz="17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5" name="图片 13" descr="泰迪logo无底色.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01940" y="6309320"/>
            <a:ext cx="918092" cy="242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7"/>
            <a:ext cx="10977563"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09601" y="1535113"/>
            <a:ext cx="5389563"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09601" y="2174875"/>
            <a:ext cx="5389563"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96013" y="1535113"/>
            <a:ext cx="5391151" cy="639763"/>
          </a:xfrm>
        </p:spPr>
        <p:txBody>
          <a:bodyPr anchor="b"/>
          <a:lstStyle>
            <a:lvl1pPr marL="0" indent="0">
              <a:buNone/>
              <a:defRPr sz="2400" b="1"/>
            </a:lvl1pPr>
            <a:lvl2pPr marL="457200" indent="0">
              <a:buNone/>
              <a:defRPr sz="2000" b="1"/>
            </a:lvl2pPr>
            <a:lvl3pPr marL="914400" indent="0">
              <a:buNone/>
              <a:defRPr sz="17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96013" y="2174875"/>
            <a:ext cx="5391151" cy="3951288"/>
          </a:xfrm>
        </p:spPr>
        <p:txBody>
          <a:bodyPr/>
          <a:lstStyle>
            <a:lvl1pPr>
              <a:defRPr sz="2400"/>
            </a:lvl1pPr>
            <a:lvl2pPr>
              <a:defRPr sz="2000"/>
            </a:lvl2pPr>
            <a:lvl3pPr>
              <a:defRPr sz="17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49"/>
            <a:ext cx="4013201" cy="1162051"/>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4768850" y="273052"/>
            <a:ext cx="681831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09600" y="1435102"/>
            <a:ext cx="4013201" cy="46910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90775" y="4800600"/>
            <a:ext cx="7318375" cy="566739"/>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2390775" y="612775"/>
            <a:ext cx="731837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90775" y="5367338"/>
            <a:ext cx="7318375" cy="804863"/>
          </a:xfrm>
        </p:spPr>
        <p:txBody>
          <a:bodyPr/>
          <a:lstStyle>
            <a:lvl1pPr marL="0" indent="0">
              <a:buNone/>
              <a:defRPr sz="1300"/>
            </a:lvl1pPr>
            <a:lvl2pPr marL="457200" indent="0">
              <a:buNone/>
              <a:defRPr sz="1200"/>
            </a:lvl2pPr>
            <a:lvl3pPr marL="914400" indent="0">
              <a:buNone/>
              <a:defRPr sz="9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3963" y="908052"/>
            <a:ext cx="2743201" cy="521811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09601" y="908052"/>
            <a:ext cx="8081963" cy="521811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6915" y="2886610"/>
            <a:ext cx="1060349" cy="79878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30462" y="2758265"/>
            <a:ext cx="1096814" cy="83893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451" y="1447780"/>
            <a:ext cx="3013732" cy="23762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7437" y="3771071"/>
            <a:ext cx="524127" cy="395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6341" y="2904247"/>
            <a:ext cx="401158" cy="30238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7818" y="2574150"/>
            <a:ext cx="981731" cy="7509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1942" y="3206629"/>
            <a:ext cx="1477636" cy="112384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2404" y="3446015"/>
            <a:ext cx="1834444" cy="143630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6102" y="2725339"/>
            <a:ext cx="1116793" cy="8517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42801" y="3624922"/>
            <a:ext cx="522112" cy="39309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4879" y="2365002"/>
            <a:ext cx="522111" cy="3930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4437" y="2795895"/>
            <a:ext cx="1697366" cy="142874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3627" y="2785815"/>
            <a:ext cx="437445" cy="36537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9341" y="3325061"/>
            <a:ext cx="703540" cy="58712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9009" y="2909286"/>
            <a:ext cx="360841" cy="30238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4990" y="3446014"/>
            <a:ext cx="282222" cy="2368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6.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1" y="908051"/>
            <a:ext cx="10977563"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lstStyle/>
          <a:p>
            <a:pPr lvl="0"/>
            <a:r>
              <a:rPr lang="zh-CN" dirty="0"/>
              <a:t>单击此处编辑母版标题样式</a:t>
            </a:r>
            <a:endParaRPr lang="zh-CN" dirty="0"/>
          </a:p>
        </p:txBody>
      </p:sp>
      <p:sp>
        <p:nvSpPr>
          <p:cNvPr id="1027" name="Rectangle 3"/>
          <p:cNvSpPr>
            <a:spLocks noGrp="1" noChangeArrowheads="1"/>
          </p:cNvSpPr>
          <p:nvPr>
            <p:ph type="body" idx="1"/>
          </p:nvPr>
        </p:nvSpPr>
        <p:spPr bwMode="auto">
          <a:xfrm>
            <a:off x="609601" y="1600201"/>
            <a:ext cx="10977563"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t" anchorCtr="0" compatLnSpc="1"/>
          <a:lstStyle/>
          <a:p>
            <a:pPr lvl="0"/>
            <a:r>
              <a:rPr lang="zh-CN" dirty="0"/>
              <a:t>单击此处编辑母版文本样式</a:t>
            </a:r>
            <a:endParaRPr lang="zh-CN" dirty="0"/>
          </a:p>
          <a:p>
            <a:pPr lvl="1"/>
            <a:r>
              <a:rPr lang="zh-CN" dirty="0"/>
              <a:t>第二级</a:t>
            </a:r>
            <a:endParaRPr 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p14:dur="10" advTm="9437"/>
    </mc:Choice>
    <mc:Fallback>
      <p:transition advTm="9437"/>
    </mc:Fallback>
  </mc:AlternateConten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700" kern="1200">
          <a:solidFill>
            <a:schemeClr val="tx1"/>
          </a:solidFill>
          <a:latin typeface="+mn-lt"/>
          <a:ea typeface="+mn-ea"/>
          <a:cs typeface="+mn-cs"/>
        </a:defRPr>
      </a:lvl1pPr>
      <a:lvl2pPr marL="457200" algn="l" defTabSz="914400" rtl="0" eaLnBrk="1" latinLnBrk="0" hangingPunct="1">
        <a:defRPr sz="1700" kern="1200">
          <a:solidFill>
            <a:schemeClr val="tx1"/>
          </a:solidFill>
          <a:latin typeface="+mn-lt"/>
          <a:ea typeface="+mn-ea"/>
          <a:cs typeface="+mn-cs"/>
        </a:defRPr>
      </a:lvl2pPr>
      <a:lvl3pPr marL="914400" algn="l" defTabSz="914400" rtl="0" eaLnBrk="1" latinLnBrk="0" hangingPunct="1">
        <a:defRPr sz="1700" kern="1200">
          <a:solidFill>
            <a:schemeClr val="tx1"/>
          </a:solidFill>
          <a:latin typeface="+mn-lt"/>
          <a:ea typeface="+mn-ea"/>
          <a:cs typeface="+mn-cs"/>
        </a:defRPr>
      </a:lvl3pPr>
      <a:lvl4pPr marL="1371600" algn="l" defTabSz="914400" rtl="0" eaLnBrk="1" latinLnBrk="0" hangingPunct="1">
        <a:defRPr sz="1700" kern="1200">
          <a:solidFill>
            <a:schemeClr val="tx1"/>
          </a:solidFill>
          <a:latin typeface="+mn-lt"/>
          <a:ea typeface="+mn-ea"/>
          <a:cs typeface="+mn-cs"/>
        </a:defRPr>
      </a:lvl4pPr>
      <a:lvl5pPr marL="1828800" algn="l" defTabSz="914400" rtl="0" eaLnBrk="1" latinLnBrk="0" hangingPunct="1">
        <a:defRPr sz="1700" kern="1200">
          <a:solidFill>
            <a:schemeClr val="tx1"/>
          </a:solidFill>
          <a:latin typeface="+mn-lt"/>
          <a:ea typeface="+mn-ea"/>
          <a:cs typeface="+mn-cs"/>
        </a:defRPr>
      </a:lvl5pPr>
      <a:lvl6pPr marL="2286000" algn="l" defTabSz="914400" rtl="0" eaLnBrk="1" latinLnBrk="0" hangingPunct="1">
        <a:defRPr sz="1700" kern="1200">
          <a:solidFill>
            <a:schemeClr val="tx1"/>
          </a:solidFill>
          <a:latin typeface="+mn-lt"/>
          <a:ea typeface="+mn-ea"/>
          <a:cs typeface="+mn-cs"/>
        </a:defRPr>
      </a:lvl6pPr>
      <a:lvl7pPr marL="2743200" algn="l" defTabSz="914400" rtl="0" eaLnBrk="1" latinLnBrk="0" hangingPunct="1">
        <a:defRPr sz="1700" kern="1200">
          <a:solidFill>
            <a:schemeClr val="tx1"/>
          </a:solidFill>
          <a:latin typeface="+mn-lt"/>
          <a:ea typeface="+mn-ea"/>
          <a:cs typeface="+mn-cs"/>
        </a:defRPr>
      </a:lvl7pPr>
      <a:lvl8pPr marL="3200400" algn="l" defTabSz="914400" rtl="0" eaLnBrk="1" latinLnBrk="0" hangingPunct="1">
        <a:defRPr sz="1700" kern="1200">
          <a:solidFill>
            <a:schemeClr val="tx1"/>
          </a:solidFill>
          <a:latin typeface="+mn-lt"/>
          <a:ea typeface="+mn-ea"/>
          <a:cs typeface="+mn-cs"/>
        </a:defRPr>
      </a:lvl8pPr>
      <a:lvl9pPr marL="3657600" algn="l" defTabSz="91440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 周行业联动与轮动分析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895121" y="1085835"/>
            <a:ext cx="10315828" cy="52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indent="914400" eaLnBrk="1" latinLnBrk="0" hangingPunct="1">
              <a:lnSpc>
                <a:spcPct val="100000"/>
              </a:lnSpc>
              <a:spcBef>
                <a:spcPct val="0"/>
              </a:spcBef>
              <a:buNone/>
              <a:extLst>
                <a:ext uri="{35155182-B16C-46BC-9424-99874614C6A1}">
                  <wpsdc:indentchars xmlns:wpsdc="http://www.wps.cn/officeDocument/2017/drawingmlCustomData" val="200" checksum="797548545"/>
                </a:ext>
              </a:extLst>
            </a:pPr>
            <a:r>
              <a:rPr kumimoji="0" lang="zh-CN" altLang="en-US" sz="3600" dirty="0">
                <a:solidFill>
                  <a:schemeClr val="tx1"/>
                </a:solidFill>
                <a:latin typeface="宋体" panose="02010600030101010101" pitchFamily="2" charset="-122"/>
                <a:ea typeface="宋体" panose="02010600030101010101" pitchFamily="2" charset="-122"/>
              </a:rPr>
              <a:t>本节挖掘以周为频率周期的行业联动与轮动关联规则。由于选择的行业指数交易数据为日度数据，需要将日度交易数据转化为周交易数据进行计算，其关键是寻找每周的最大交易日和最小交易日，本节也给出了其算法和代码实现。下面分别从指标计算、周行业联动关联规则挖掘和周行业轮动关联规则挖掘三方面给出详细的计算流程及代码实现。</a:t>
            </a:r>
            <a:endParaRPr kumimoji="0" lang="zh-CN" altLang="en-US" sz="3600" dirty="0">
              <a:solidFill>
                <a:schemeClr val="tx1"/>
              </a:solidFill>
              <a:latin typeface="宋体" panose="02010600030101010101" pitchFamily="2" charset="-122"/>
              <a:ea typeface="宋体" panose="02010600030101010101" pitchFamily="2" charset="-122"/>
            </a:endParaRPr>
          </a:p>
          <a:p>
            <a:pPr indent="914400" eaLnBrk="1" latinLnBrk="0" hangingPunct="1">
              <a:lnSpc>
                <a:spcPct val="100000"/>
              </a:lnSpc>
              <a:spcBef>
                <a:spcPct val="0"/>
              </a:spcBef>
              <a:buNone/>
              <a:extLst>
                <a:ext uri="{35155182-B16C-46BC-9424-99874614C6A1}">
                  <wpsdc:indentchars xmlns:wpsdc="http://www.wps.cn/officeDocument/2017/drawingmlCustomData" val="200" checksum="797548545"/>
                </a:ext>
              </a:extLst>
            </a:pPr>
            <a:endParaRPr kumimoji="0" lang="zh-CN" altLang="en-US" sz="3600" dirty="0">
              <a:solidFill>
                <a:schemeClr val="tx1"/>
              </a:solidFill>
              <a:latin typeface="宋体" panose="02010600030101010101" pitchFamily="2" charset="-122"/>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endParaRPr kumimoji="0" lang="zh-CN" altLang="en-US" dirty="0">
              <a:solidFill>
                <a:schemeClr val="tx1"/>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11.5.1 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910590" y="889000"/>
            <a:ext cx="10722610" cy="5631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indent="711200" eaLnBrk="1" latinLnBrk="0" hangingPunct="1">
              <a:lnSpc>
                <a:spcPct val="100000"/>
              </a:lnSpc>
              <a:spcBef>
                <a:spcPct val="0"/>
              </a:spcBef>
              <a:buNone/>
              <a:extLst>
                <a:ext uri="{35155182-B16C-46BC-9424-99874614C6A1}">
                  <wpsdc:indentchars xmlns:wpsdc="http://www.wps.cn/officeDocument/2017/drawingmlCustomData" val="200" checksum="3773799597"/>
                </a:ext>
              </a:extLst>
            </a:pPr>
            <a:r>
              <a:rPr kumimoji="0" lang="zh-CN" altLang="en-US" sz="2800" dirty="0">
                <a:solidFill>
                  <a:schemeClr val="tx1"/>
                </a:solidFill>
                <a:latin typeface="宋体" panose="02010600030101010101" pitchFamily="2" charset="-122"/>
                <a:ea typeface="宋体" panose="02010600030101010101" pitchFamily="2" charset="-122"/>
              </a:rPr>
              <a:t>同日行业联动分析一样，我们只关心上涨的情况，不考虑下跌的情况。因此对每个行业从2010年1月5日至2017年3月7日，计算每个交易周的上涨情况。所谓上涨是指：当周最大交易日行情数据-当周最小交易日行情数据&gt;0，其指标名称记为：行业名称_up，如果上涨记为1，否则记为0。由于我们获取的数据为日行情交易数据，无法直接计算周上涨情况，需要对交易日历数据进行处理，即找出每周的最大交易日和最小交易日。从交易日历表的星期（Daywk）字段可以看出，当前星期值比下一个星期值大，其对应的交易日即为本周的最大交易日，下一个星期值对应的交易日即为下周的最小交易日。</a:t>
            </a:r>
            <a:endParaRPr kumimoji="0" lang="zh-CN" altLang="en-US" sz="2800" dirty="0">
              <a:solidFill>
                <a:schemeClr val="tx1"/>
              </a:solidFill>
              <a:latin typeface="宋体" panose="02010600030101010101" pitchFamily="2" charset="-122"/>
              <a:ea typeface="宋体" panose="02010600030101010101" pitchFamily="2" charset="-122"/>
            </a:endParaRPr>
          </a:p>
          <a:p>
            <a:pPr indent="812800" eaLnBrk="1" latinLnBrk="0" hangingPunct="1">
              <a:lnSpc>
                <a:spcPct val="100000"/>
              </a:lnSpc>
              <a:spcBef>
                <a:spcPct val="0"/>
              </a:spcBef>
              <a:buNone/>
              <a:extLst>
                <a:ext uri="{35155182-B16C-46BC-9424-99874614C6A1}">
                  <wpsdc:indentchars xmlns:wpsdc="http://www.wps.cn/officeDocument/2017/drawingmlCustomData" val="200" checksum="3877492575"/>
                </a:ext>
              </a:extLst>
            </a:pPr>
            <a:endParaRPr kumimoji="0" lang="zh-CN" altLang="en-US" sz="3200" dirty="0">
              <a:solidFill>
                <a:schemeClr val="tx1"/>
              </a:solidFill>
              <a:latin typeface="宋体" panose="02010600030101010101" pitchFamily="2" charset="-122"/>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endParaRPr kumimoji="0" lang="zh-CN" altLang="en-US" dirty="0">
              <a:solidFill>
                <a:schemeClr val="tx1"/>
              </a:solidFill>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11.5.1 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789940" y="1387475"/>
            <a:ext cx="4189730" cy="4707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因此，寻找周最大交易日和最小交易日的算法如下：</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输入：交易日历数据表date</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输出：周最小交易日和最大交易日列表list1和list2</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Step1：定义空的列表list1和list2，将交易日历表中的首个交易日添加到list1中</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Step2：从第2个交易日开始至倒数第2个交易日，如果其星期值大于下一个交易日的星期值，则将其交易日添加到list2中，下一个交易日添加到list1中。</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Step3：去掉list1中最后一个元素。</a:t>
            </a:r>
            <a:endParaRPr kumimoji="0" lang="zh-CN" altLang="en-US" sz="2000" dirty="0">
              <a:solidFill>
                <a:schemeClr val="tx1"/>
              </a:solidFill>
              <a:ea typeface="宋体" panose="02010600030101010101" pitchFamily="2" charset="-122"/>
            </a:endParaRPr>
          </a:p>
        </p:txBody>
      </p:sp>
      <p:sp>
        <p:nvSpPr>
          <p:cNvPr id="2" name="文本框 1"/>
          <p:cNvSpPr txBox="1"/>
          <p:nvPr/>
        </p:nvSpPr>
        <p:spPr>
          <a:xfrm>
            <a:off x="5565140" y="1583055"/>
            <a:ext cx="4491990" cy="3692525"/>
          </a:xfrm>
          <a:prstGeom prst="rect">
            <a:avLst/>
          </a:prstGeom>
          <a:noFill/>
        </p:spPr>
        <p:txBody>
          <a:bodyPr wrap="square" rtlCol="0">
            <a:spAutoFit/>
          </a:bodyPr>
          <a:lstStyle/>
          <a:p>
            <a:r>
              <a:rPr lang="zh-CN" altLang="en-US" dirty="0"/>
              <a:t>算法示例代码如下：</a:t>
            </a:r>
            <a:endParaRPr lang="zh-CN" altLang="en-US" dirty="0"/>
          </a:p>
          <a:p>
            <a:r>
              <a:rPr lang="zh-CN" altLang="en-US" dirty="0"/>
              <a:t>import pandas as pd</a:t>
            </a:r>
            <a:endParaRPr lang="zh-CN" altLang="en-US" dirty="0"/>
          </a:p>
          <a:p>
            <a:r>
              <a:rPr lang="zh-CN" altLang="en-US" dirty="0"/>
              <a:t>x=pd.read_excel('交易日历数据表.xlsx')</a:t>
            </a:r>
            <a:endParaRPr lang="zh-CN" altLang="en-US" dirty="0"/>
          </a:p>
          <a:p>
            <a:r>
              <a:rPr lang="zh-CN" altLang="en-US" dirty="0"/>
              <a:t>x=x.iloc[:1741,:] </a:t>
            </a:r>
            <a:endParaRPr lang="zh-CN" altLang="en-US" dirty="0"/>
          </a:p>
          <a:p>
            <a:r>
              <a:rPr lang="zh-CN" altLang="en-US" dirty="0"/>
              <a:t>list1=['2010-01-04']</a:t>
            </a:r>
            <a:endParaRPr lang="zh-CN" altLang="en-US" dirty="0"/>
          </a:p>
          <a:p>
            <a:r>
              <a:rPr lang="zh-CN" altLang="en-US" dirty="0"/>
              <a:t>list2=[]</a:t>
            </a:r>
            <a:endParaRPr lang="zh-CN" altLang="en-US" dirty="0"/>
          </a:p>
          <a:p>
            <a:r>
              <a:rPr lang="zh-CN" altLang="en-US" dirty="0"/>
              <a:t>for t in range(1,len(x)-1):</a:t>
            </a:r>
            <a:endParaRPr lang="zh-CN" altLang="en-US" dirty="0"/>
          </a:p>
          <a:p>
            <a:r>
              <a:rPr lang="zh-CN" altLang="en-US" dirty="0"/>
              <a:t>    p=x.iloc[t-1,[2]][0]</a:t>
            </a:r>
            <a:endParaRPr lang="zh-CN" altLang="en-US" dirty="0"/>
          </a:p>
          <a:p>
            <a:r>
              <a:rPr lang="zh-CN" altLang="en-US" dirty="0"/>
              <a:t>    q=x.iloc[t,[2]][0]</a:t>
            </a:r>
            <a:endParaRPr lang="zh-CN" altLang="en-US" dirty="0"/>
          </a:p>
          <a:p>
            <a:r>
              <a:rPr lang="zh-CN" altLang="en-US" dirty="0"/>
              <a:t>    if q&lt;p:</a:t>
            </a:r>
            <a:endParaRPr lang="zh-CN" altLang="en-US" dirty="0"/>
          </a:p>
          <a:p>
            <a:r>
              <a:rPr lang="zh-CN" altLang="en-US" dirty="0"/>
              <a:t>        list1.append(x.iloc[t,[1]][0])</a:t>
            </a:r>
            <a:endParaRPr lang="zh-CN" altLang="en-US" dirty="0"/>
          </a:p>
          <a:p>
            <a:r>
              <a:rPr lang="zh-CN" altLang="en-US" dirty="0"/>
              <a:t>        list2.append(x.iloc[t-1,[1]][0])</a:t>
            </a:r>
            <a:endParaRPr lang="zh-CN" altLang="en-US" dirty="0"/>
          </a:p>
          <a:p>
            <a:r>
              <a:rPr lang="zh-CN" altLang="en-US" dirty="0"/>
              <a:t>list1=list1[:-1]</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11.5.1 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pic>
        <p:nvPicPr>
          <p:cNvPr id="158" name="图片 158"/>
          <p:cNvPicPr>
            <a:picLocks noChangeAspect="1"/>
          </p:cNvPicPr>
          <p:nvPr/>
        </p:nvPicPr>
        <p:blipFill>
          <a:blip r:embed="rId1" cstate="print"/>
          <a:stretch>
            <a:fillRect/>
          </a:stretch>
        </p:blipFill>
        <p:spPr>
          <a:xfrm>
            <a:off x="2892107" y="1753245"/>
            <a:ext cx="4799965" cy="3856990"/>
          </a:xfrm>
          <a:prstGeom prst="rect">
            <a:avLst/>
          </a:prstGeom>
        </p:spPr>
      </p:pic>
      <p:sp>
        <p:nvSpPr>
          <p:cNvPr id="3" name="文本框 2"/>
          <p:cNvSpPr txBox="1"/>
          <p:nvPr/>
        </p:nvSpPr>
        <p:spPr>
          <a:xfrm>
            <a:off x="2199005" y="1073150"/>
            <a:ext cx="5194935" cy="368300"/>
          </a:xfrm>
          <a:prstGeom prst="rect">
            <a:avLst/>
          </a:prstGeom>
          <a:noFill/>
        </p:spPr>
        <p:txBody>
          <a:bodyPr wrap="square" rtlCol="0">
            <a:spAutoFit/>
          </a:bodyPr>
          <a:p>
            <a:pPr algn="ctr"/>
            <a:r>
              <a:rPr lang="zh-CN" altLang="en-US"/>
              <a:t>最终得到结果如图11-4所示。</a:t>
            </a:r>
            <a:endParaRPr lang="zh-CN" altLang="en-US"/>
          </a:p>
        </p:txBody>
      </p:sp>
      <p:sp>
        <p:nvSpPr>
          <p:cNvPr id="4" name="文本框 3"/>
          <p:cNvSpPr txBox="1"/>
          <p:nvPr/>
        </p:nvSpPr>
        <p:spPr>
          <a:xfrm>
            <a:off x="2199005" y="5832475"/>
            <a:ext cx="6019165" cy="368300"/>
          </a:xfrm>
          <a:prstGeom prst="rect">
            <a:avLst/>
          </a:prstGeom>
          <a:noFill/>
        </p:spPr>
        <p:txBody>
          <a:bodyPr wrap="square" rtlCol="0">
            <a:spAutoFit/>
          </a:bodyPr>
          <a:p>
            <a:pPr algn="ctr"/>
            <a:r>
              <a:rPr lang="zh-CN" altLang="en-US"/>
              <a:t>图11-4</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11.5.1 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436880" y="2657475"/>
            <a:ext cx="408813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Step1：预定义一个空的字典D</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Step2：对每一个行业代码，获取其对应的交易收盘价数据并按日期从小到大排序，同时一个长度与list1相同且元素全0的指数涨跌标识数组z，提取每周最大交易日对应的收盘价和最小交易日对应的收盘价并相减，将其值赋给z。对z中大于0的值修改为1，小于等于0的值修改为0。这样就得到了每个行业指数代码对应的涨跌标识数组z。以行业名称_up为键，z为值，依次添加到D中。</a:t>
            </a:r>
            <a:endParaRPr kumimoji="0" lang="zh-CN" altLang="en-US" sz="2000" dirty="0">
              <a:solidFill>
                <a:schemeClr val="tx1"/>
              </a:solidFill>
              <a:ea typeface="宋体" panose="02010600030101010101" pitchFamily="2" charset="-122"/>
            </a:endParaRPr>
          </a:p>
        </p:txBody>
      </p:sp>
      <p:sp>
        <p:nvSpPr>
          <p:cNvPr id="3" name="文本框 2"/>
          <p:cNvSpPr txBox="1"/>
          <p:nvPr/>
        </p:nvSpPr>
        <p:spPr>
          <a:xfrm>
            <a:off x="5915660" y="2350135"/>
            <a:ext cx="5967730" cy="4399915"/>
          </a:xfrm>
          <a:prstGeom prst="rect">
            <a:avLst/>
          </a:prstGeom>
          <a:noFill/>
        </p:spPr>
        <p:txBody>
          <a:bodyPr wrap="square" rtlCol="0">
            <a:spAutoFit/>
          </a:bodyPr>
          <a:lstStyle/>
          <a:p>
            <a:r>
              <a:rPr lang="zh-CN" altLang="en-US" sz="2000"/>
              <a:t>for t = 1 to len(code)</a:t>
            </a:r>
            <a:endParaRPr lang="zh-CN" altLang="en-US" sz="2000"/>
          </a:p>
          <a:p>
            <a:r>
              <a:rPr lang="zh-CN" altLang="en-US" sz="2000"/>
              <a:t>   dt=第t个行业代码对应的交易日期和收盘价数据（按日期进行排序）</a:t>
            </a:r>
            <a:endParaRPr lang="zh-CN" altLang="en-US" sz="2000"/>
          </a:p>
          <a:p>
            <a:r>
              <a:rPr lang="zh-CN" altLang="en-US" sz="2000"/>
              <a:t>   for i =1 to len(z)</a:t>
            </a:r>
            <a:endParaRPr lang="zh-CN" altLang="en-US" sz="2000"/>
          </a:p>
          <a:p>
            <a:r>
              <a:rPr lang="zh-CN" altLang="en-US" sz="2000"/>
              <a:t>       a2=list2[i]对应的交易日期对应的收盘价，即周最大交易日收盘价</a:t>
            </a:r>
            <a:endParaRPr lang="zh-CN" altLang="en-US" sz="2000"/>
          </a:p>
          <a:p>
            <a:r>
              <a:rPr lang="zh-CN" altLang="en-US" sz="2000"/>
              <a:t>       a1=list1[i]对应的交易日期对应的收盘价，即周最小交易日收盘价</a:t>
            </a:r>
            <a:endParaRPr lang="zh-CN" altLang="en-US" sz="2000"/>
          </a:p>
          <a:p>
            <a:r>
              <a:rPr lang="zh-CN" altLang="en-US" sz="2000"/>
              <a:t>       z[i]=a2-a1</a:t>
            </a:r>
            <a:endParaRPr lang="zh-CN" altLang="en-US" sz="2000"/>
          </a:p>
          <a:p>
            <a:r>
              <a:rPr lang="zh-CN" altLang="en-US" sz="2000"/>
              <a:t>   z[z&gt;0]=1</a:t>
            </a:r>
            <a:endParaRPr lang="zh-CN" altLang="en-US" sz="2000"/>
          </a:p>
          <a:p>
            <a:r>
              <a:rPr lang="zh-CN" altLang="en-US" sz="2000"/>
              <a:t>   z[z&lt;=0]=0</a:t>
            </a:r>
            <a:endParaRPr lang="zh-CN" altLang="en-US" sz="2000"/>
          </a:p>
          <a:p>
            <a:r>
              <a:rPr lang="zh-CN" altLang="en-US" sz="2000"/>
              <a:t>   取第t个行业代码对应的行业名称作为键sname[code[t]]，z作为值，依次添加到D中</a:t>
            </a:r>
            <a:endParaRPr lang="zh-CN" altLang="en-US" sz="2000"/>
          </a:p>
          <a:p>
            <a:r>
              <a:rPr lang="zh-CN" altLang="en-US" sz="2000"/>
              <a:t>Step3：将D转化为数据框。</a:t>
            </a:r>
            <a:endParaRPr lang="zh-CN" altLang="en-US" sz="2000"/>
          </a:p>
        </p:txBody>
      </p:sp>
      <p:sp>
        <p:nvSpPr>
          <p:cNvPr id="2" name="文本框 1"/>
          <p:cNvSpPr txBox="1"/>
          <p:nvPr/>
        </p:nvSpPr>
        <p:spPr>
          <a:xfrm>
            <a:off x="247650" y="705485"/>
            <a:ext cx="11825605" cy="2245360"/>
          </a:xfrm>
          <a:prstGeom prst="rect">
            <a:avLst/>
          </a:prstGeom>
          <a:noFill/>
        </p:spPr>
        <p:txBody>
          <a:bodyPr wrap="square" rtlCol="0">
            <a:spAutoFit/>
          </a:bodyPr>
          <a:p>
            <a:pPr indent="508000" eaLnBrk="1" latinLnBrk="0" hangingPunct="1">
              <a:lnSpc>
                <a:spcPct val="100000"/>
              </a:lnSpc>
              <a:spcBef>
                <a:spcPct val="0"/>
              </a:spcBef>
              <a:buNone/>
            </a:pPr>
            <a:r>
              <a:rPr lang="zh-CN" altLang="en-US" sz="2000" dirty="0">
                <a:sym typeface="+mn-ea"/>
              </a:rPr>
              <a:t>总共得到359个交易周，第0行代表第0个交易周，该周的最小交易日为2010年1月4日，最大交易日为2010年1月8日。计算该周的涨跌情况可以用2010年1月8日的指数收盘价-2010年1月4日的指数收盘价得到，如果大于0，则表示该周指数上涨，用1表示，否则记为0。其计算算法如下：</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输入：周最小交易日和最大交易日列表list1和list2、行业指数代码列表code、指数基本信息序列sname（值为行业名称，index为行业代码）</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输出：每周指数涨跌情况数据</a:t>
            </a:r>
            <a:endParaRPr kumimoji="0" lang="zh-CN" altLang="en-US" sz="2000" dirty="0">
              <a:solidFill>
                <a:schemeClr val="tx1"/>
              </a:solidFill>
              <a:ea typeface="宋体" panose="02010600030101010101" pitchFamily="2" charset="-122"/>
            </a:endParaRPr>
          </a:p>
          <a:p>
            <a:endParaRPr lang="zh-CN" altLang="en-US" sz="200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11.5.1 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140970" y="935990"/>
            <a:ext cx="5824220" cy="624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算法示例代码如下：</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import pandas as pd</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x=pd.read_excel('交易日历数据表.xlsx')</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x=x.iloc[:1741,:] </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list1=['2010-01-04']</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list2=[]</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for t in range(1,len(x)-1):</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    p=x.iloc[t-1,[2]][0]</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    q=x.iloc[t,[2]][0]</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    if q&lt;p:</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        list1.append(x.iloc[t,[1]][0])</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        list2.append(x.iloc[t-1,[1]][0])</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list1=list1[:-1]</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codename=pd.read_excel('指数基本信息表.xlsx')</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kumimoji="0" lang="zh-CN" altLang="en-US" sz="2000" dirty="0">
                <a:solidFill>
                  <a:schemeClr val="tx1"/>
                </a:solidFill>
                <a:ea typeface="宋体" panose="02010600030101010101" pitchFamily="2" charset="-122"/>
              </a:rPr>
              <a:t>sname=pd.Series(list(codename.iloc[:,1]),index=codename.iloc[:,0])</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data=pd.read_excel('指数交易数据表20100104-20170307.xlsx')</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endParaRPr kumimoji="0" lang="zh-CN" altLang="en-US" sz="2000" dirty="0">
              <a:solidFill>
                <a:schemeClr val="tx1"/>
              </a:solidFill>
              <a:ea typeface="宋体" panose="02010600030101010101" pitchFamily="2" charset="-122"/>
            </a:endParaRPr>
          </a:p>
        </p:txBody>
      </p:sp>
      <p:sp>
        <p:nvSpPr>
          <p:cNvPr id="3" name="文本框 2"/>
          <p:cNvSpPr txBox="1"/>
          <p:nvPr/>
        </p:nvSpPr>
        <p:spPr>
          <a:xfrm>
            <a:off x="5777230" y="1157605"/>
            <a:ext cx="6495415" cy="5631180"/>
          </a:xfrm>
          <a:prstGeom prst="rect">
            <a:avLst/>
          </a:prstGeom>
          <a:noFill/>
        </p:spPr>
        <p:txBody>
          <a:bodyPr wrap="square" rtlCol="0">
            <a:spAutoFit/>
          </a:bodyPr>
          <a:lstStyle/>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code_record=data.iloc[:,0].value_counts()</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code=list(code_record[code_record==1741].index)</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import numpy as np</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D=dict()</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for t in range(len(code)):</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dt=data.loc[data['指数代码']==code[t],['交易日期','收盘价']].sort_values('交易日期')</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z=np.zeros((len(list1)))</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for i in range(len(z)):</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a2=dt.loc[dt['交易日期']==list2[i],['收盘价']]['收盘价']</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a1=dt.loc[dt['交易日期']==list1[i],['收盘价']]['收盘价']</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z[i]=a2.values-a1.values</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z[z&gt;0]=1</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z[z&lt;=0]=0</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   D.setdefault(sname[code[t]]+'_up',z)</a:t>
            </a:r>
            <a:endParaRPr kumimoji="0" lang="zh-CN" altLang="en-US" sz="2000" dirty="0">
              <a:solidFill>
                <a:schemeClr val="tx1"/>
              </a:solidFill>
              <a:ea typeface="宋体" panose="02010600030101010101" pitchFamily="2" charset="-122"/>
            </a:endParaRPr>
          </a:p>
          <a:p>
            <a:pPr indent="508000" eaLnBrk="1" latinLnBrk="0" hangingPunct="1">
              <a:lnSpc>
                <a:spcPct val="100000"/>
              </a:lnSpc>
              <a:spcBef>
                <a:spcPct val="0"/>
              </a:spcBef>
              <a:buNone/>
              <a:extLst>
                <a:ext uri="{35155182-B16C-46BC-9424-99874614C6A1}">
                  <wpsdc:indentchars xmlns:wpsdc="http://www.wps.cn/officeDocument/2017/drawingmlCustomData" val="200" checksum="282533468"/>
                </a:ext>
              </a:extLst>
            </a:pPr>
            <a:r>
              <a:rPr lang="zh-CN" altLang="en-US" sz="2000" dirty="0">
                <a:sym typeface="+mn-ea"/>
              </a:rPr>
              <a:t>Data=pd.DataFrame(D)</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11.5.1 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文本框 1"/>
          <p:cNvSpPr txBox="1"/>
          <p:nvPr/>
        </p:nvSpPr>
        <p:spPr>
          <a:xfrm>
            <a:off x="3150235" y="1051560"/>
            <a:ext cx="5895975" cy="368300"/>
          </a:xfrm>
          <a:prstGeom prst="rect">
            <a:avLst/>
          </a:prstGeom>
          <a:noFill/>
        </p:spPr>
        <p:txBody>
          <a:bodyPr wrap="square" rtlCol="0">
            <a:spAutoFit/>
          </a:bodyPr>
          <a:lstStyle/>
          <a:p>
            <a:pPr algn="ctr"/>
            <a:r>
              <a:rPr lang="zh-CN" altLang="en-US"/>
              <a:t>最终得到结果如图11-5所示。</a:t>
            </a:r>
            <a:endParaRPr lang="zh-CN" altLang="en-US"/>
          </a:p>
        </p:txBody>
      </p:sp>
      <p:sp>
        <p:nvSpPr>
          <p:cNvPr id="4" name="文本框 3"/>
          <p:cNvSpPr txBox="1"/>
          <p:nvPr/>
        </p:nvSpPr>
        <p:spPr>
          <a:xfrm>
            <a:off x="2860040" y="5719445"/>
            <a:ext cx="6476365" cy="645160"/>
          </a:xfrm>
          <a:prstGeom prst="rect">
            <a:avLst/>
          </a:prstGeom>
          <a:noFill/>
        </p:spPr>
        <p:txBody>
          <a:bodyPr wrap="square" rtlCol="0">
            <a:spAutoFit/>
          </a:bodyPr>
          <a:lstStyle/>
          <a:p>
            <a:pPr algn="l"/>
            <a:r>
              <a:rPr lang="zh-CN" altLang="en-US"/>
              <a:t>从图中可以看出，交通运输业第0、2、3、7、8、10个交易周为下跌，第1、4、5、6、9个交易周为上涨。</a:t>
            </a:r>
            <a:endParaRPr lang="zh-CN" altLang="en-US"/>
          </a:p>
        </p:txBody>
      </p:sp>
      <p:pic>
        <p:nvPicPr>
          <p:cNvPr id="5" name="图片 4" descr="图片1"/>
          <p:cNvPicPr>
            <a:picLocks noChangeAspect="1"/>
          </p:cNvPicPr>
          <p:nvPr/>
        </p:nvPicPr>
        <p:blipFill>
          <a:blip r:embed="rId1"/>
          <a:stretch>
            <a:fillRect/>
          </a:stretch>
        </p:blipFill>
        <p:spPr>
          <a:xfrm>
            <a:off x="3150235" y="1552575"/>
            <a:ext cx="5895975" cy="3752850"/>
          </a:xfrm>
          <a:prstGeom prst="rect">
            <a:avLst/>
          </a:prstGeom>
        </p:spPr>
      </p:pic>
      <p:sp>
        <p:nvSpPr>
          <p:cNvPr id="3" name="文本框 2"/>
          <p:cNvSpPr txBox="1"/>
          <p:nvPr/>
        </p:nvSpPr>
        <p:spPr>
          <a:xfrm>
            <a:off x="3242945" y="5294630"/>
            <a:ext cx="5802630" cy="368300"/>
          </a:xfrm>
          <a:prstGeom prst="rect">
            <a:avLst/>
          </a:prstGeom>
          <a:noFill/>
        </p:spPr>
        <p:txBody>
          <a:bodyPr wrap="square" rtlCol="0">
            <a:spAutoFit/>
          </a:bodyPr>
          <a:p>
            <a:pPr algn="ctr"/>
            <a:r>
              <a:rPr lang="zh-CN" altLang="en-US"/>
              <a:t>图11-5</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zh-CN" altLang="en-US" sz="2800" dirty="0">
                <a:solidFill>
                  <a:schemeClr val="accent2"/>
                </a:solidFill>
                <a:latin typeface="微软雅黑" panose="020B0503020204020204" pitchFamily="34" charset="-122"/>
                <a:ea typeface="微软雅黑" panose="020B0503020204020204" pitchFamily="34" charset="-122"/>
              </a:rPr>
              <a:t>11.5.2 行业联动关联规则挖掘</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15" name="文本框 7"/>
          <p:cNvSpPr txBox="1">
            <a:spLocks noChangeArrowheads="1"/>
          </p:cNvSpPr>
          <p:nvPr/>
        </p:nvSpPr>
        <p:spPr bwMode="auto">
          <a:xfrm>
            <a:off x="473710" y="690880"/>
            <a:ext cx="408241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ts val="1000"/>
              </a:spcBef>
              <a:buFont typeface="Arial" panose="020B0604020202020204" pitchFamily="34" charset="0"/>
              <a:buChar char="•"/>
              <a:defRPr kumimoji="1" sz="2400">
                <a:solidFill>
                  <a:srgbClr val="595959"/>
                </a:solidFill>
                <a:latin typeface="Arial" panose="020B0604020202020204" pitchFamily="34" charset="0"/>
                <a:ea typeface="微软雅黑" panose="020B0503020204020204" pitchFamily="34" charset="-122"/>
              </a:defRPr>
            </a:lvl1pPr>
            <a:lvl2pPr marL="742950" indent="-285750">
              <a:lnSpc>
                <a:spcPct val="120000"/>
              </a:lnSpc>
              <a:spcBef>
                <a:spcPts val="500"/>
              </a:spcBef>
              <a:buFont typeface="Arial" panose="020B0604020202020204" pitchFamily="34" charset="0"/>
              <a:buChar char="•"/>
              <a:defRPr kumimoji="1" sz="2000">
                <a:solidFill>
                  <a:srgbClr val="595959"/>
                </a:solidFill>
                <a:latin typeface="Arial" panose="020B0604020202020204" pitchFamily="34" charset="0"/>
                <a:ea typeface="微软雅黑" panose="020B0503020204020204" pitchFamily="34" charset="-122"/>
              </a:defRPr>
            </a:lvl2pPr>
            <a:lvl3pPr marL="11430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3pPr>
            <a:lvl4pPr marL="16002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4pPr>
            <a:lvl5pPr marL="2057400" indent="-228600">
              <a:lnSpc>
                <a:spcPct val="120000"/>
              </a:lnSpc>
              <a:spcBef>
                <a:spcPts val="500"/>
              </a:spcBef>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5pPr>
            <a:lvl6pPr marL="25146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6pPr>
            <a:lvl7pPr marL="29718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7pPr>
            <a:lvl8pPr marL="34290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8pPr>
            <a:lvl9pPr marL="3886200" indent="-228600" eaLnBrk="0" fontAlgn="base" hangingPunct="0">
              <a:lnSpc>
                <a:spcPct val="120000"/>
              </a:lnSpc>
              <a:spcBef>
                <a:spcPts val="500"/>
              </a:spcBef>
              <a:spcAft>
                <a:spcPct val="0"/>
              </a:spcAft>
              <a:buFont typeface="Arial" panose="020B0604020202020204" pitchFamily="34" charset="0"/>
              <a:buChar char="•"/>
              <a:defRPr kumimoji="1">
                <a:solidFill>
                  <a:srgbClr val="595959"/>
                </a:solidFill>
                <a:latin typeface="Arial" panose="020B0604020202020204" pitchFamily="34" charset="0"/>
                <a:ea typeface="微软雅黑" panose="020B0503020204020204" pitchFamily="34" charset="-122"/>
              </a:defRPr>
            </a:lvl9pPr>
          </a:lstStyle>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调用apriori关联规则挖掘算法，示例代码如下：</a:t>
            </a: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import apriori as ap   #导入关联规则算法程序</a:t>
            </a: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support = 0.47 #最小支持度</a:t>
            </a: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confidence = 0.9 #最小置信度</a:t>
            </a: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ms = '--' #连接符，</a:t>
            </a: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outputfile = 'apriori_rules2.xls' #结果文件</a:t>
            </a: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ap.find_rule(Data, support, confidence, ms).to_excel(outputfile) #调用关联规则挖掘函数</a:t>
            </a:r>
            <a:endParaRPr kumimoji="0" lang="zh-CN" altLang="en-US" dirty="0">
              <a:solidFill>
                <a:schemeClr val="tx1"/>
              </a:solidFill>
              <a:ea typeface="宋体" panose="02010600030101010101" pitchFamily="2" charset="-122"/>
            </a:endParaRPr>
          </a:p>
          <a:p>
            <a:pPr indent="609600" eaLnBrk="1" latinLnBrk="0" hangingPunct="1">
              <a:lnSpc>
                <a:spcPct val="100000"/>
              </a:lnSpc>
              <a:spcBef>
                <a:spcPct val="0"/>
              </a:spcBef>
              <a:buNone/>
              <a:extLst>
                <a:ext uri="{35155182-B16C-46BC-9424-99874614C6A1}">
                  <wpsdc:indentchars xmlns:wpsdc="http://www.wps.cn/officeDocument/2017/drawingmlCustomData" val="200" checksum="4158780845"/>
                </a:ext>
              </a:extLst>
            </a:pPr>
            <a:r>
              <a:rPr kumimoji="0" lang="zh-CN" altLang="en-US" dirty="0">
                <a:solidFill>
                  <a:schemeClr val="tx1"/>
                </a:solidFill>
                <a:ea typeface="宋体" panose="02010600030101010101" pitchFamily="2" charset="-122"/>
              </a:rPr>
              <a:t>结果如下表11-6所示。</a:t>
            </a:r>
            <a:endParaRPr kumimoji="0" lang="zh-CN" altLang="en-US" dirty="0">
              <a:solidFill>
                <a:schemeClr val="tx1"/>
              </a:solidFill>
              <a:ea typeface="宋体" panose="02010600030101010101" pitchFamily="2" charset="-122"/>
            </a:endParaRPr>
          </a:p>
        </p:txBody>
      </p:sp>
      <p:sp>
        <p:nvSpPr>
          <p:cNvPr id="7" name="文本框 6"/>
          <p:cNvSpPr txBox="1"/>
          <p:nvPr/>
        </p:nvSpPr>
        <p:spPr>
          <a:xfrm>
            <a:off x="5420995" y="963930"/>
            <a:ext cx="5903595" cy="368300"/>
          </a:xfrm>
          <a:prstGeom prst="rect">
            <a:avLst/>
          </a:prstGeom>
          <a:noFill/>
        </p:spPr>
        <p:txBody>
          <a:bodyPr wrap="square" rtlCol="0">
            <a:spAutoFit/>
          </a:bodyPr>
          <a:lstStyle/>
          <a:p>
            <a:pPr algn="ctr"/>
            <a:r>
              <a:rPr lang="zh-CN" altLang="en-US" dirty="0"/>
              <a:t>表11-6  周行业联动规则</a:t>
            </a:r>
            <a:endParaRPr lang="zh-CN" altLang="en-US" dirty="0"/>
          </a:p>
        </p:txBody>
      </p:sp>
      <p:graphicFrame>
        <p:nvGraphicFramePr>
          <p:cNvPr id="2" name="表格 1"/>
          <p:cNvGraphicFramePr/>
          <p:nvPr>
            <p:custDataLst>
              <p:tags r:id="rId1"/>
            </p:custDataLst>
          </p:nvPr>
        </p:nvGraphicFramePr>
        <p:xfrm>
          <a:off x="5420995" y="1651000"/>
          <a:ext cx="5902960" cy="4094480"/>
        </p:xfrm>
        <a:graphic>
          <a:graphicData uri="http://schemas.openxmlformats.org/drawingml/2006/table">
            <a:tbl>
              <a:tblPr firstRow="1" bandRow="1">
                <a:tableStyleId>{5940675A-B579-460E-94D1-54222C63F5DA}</a:tableStyleId>
              </a:tblPr>
              <a:tblGrid>
                <a:gridCol w="838835"/>
                <a:gridCol w="2997200"/>
                <a:gridCol w="1033145"/>
                <a:gridCol w="1033780"/>
              </a:tblGrid>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ID</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rule</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support</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confidence</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化工_up--纺织服装_up--轻工制造_up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0.473537604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0.98265896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纺织服装_up--轻工制造_up--化工_up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0.473537604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0.95505618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纺织服装_up--轻工制造_up--综合_up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0.470752089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0.949438202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纺织服装_up--综合_up--轻工制造_up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0.470752089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0.949438202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0.504178273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0.947643979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综合_up--轻工制造_up--纺织服装_up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0.470752089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0.944134078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化工_up--轻工制造_up--纺织服装_up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0.473537604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0.939226519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轻工制造_up--化工_up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0.504178273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0.923469388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纺织服装_up--综合_up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0.495821727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0.922279793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10</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纺织服装_up--轻工制造_up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0.495821727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0.922279793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轻工制造_up--综合_up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0.498607242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0.913265306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0828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机械设备_up--化工_up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0.484679666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0.910994764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化工_up--机械设备_up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0.484679666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0.910994764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化工_up--综合_up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0.484679666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0.910994764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轻工制造_up--纺织服装_up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0.495821727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0.908163265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化工_up--纺织服装_up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0.48189415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0.905759162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机械设备_up--电气设备_up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0.48189415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0.905759162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综合_up--轻工制造_up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0.498607242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0.904040404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计算机_up--电子元器件_up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0.487465181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0.902061856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431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20</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机械设备_up--轻工制造_up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0.479108635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0.90052356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11.5.3 </a:t>
            </a:r>
            <a:r>
              <a:rPr lang="zh-CN" altLang="en-US" sz="2800" dirty="0">
                <a:solidFill>
                  <a:schemeClr val="accent2"/>
                </a:solidFill>
                <a:latin typeface="微软雅黑" panose="020B0503020204020204" pitchFamily="34" charset="-122"/>
                <a:ea typeface="微软雅黑" panose="020B0503020204020204" pitchFamily="34" charset="-122"/>
              </a:rPr>
              <a:t>行业轮动关联规则挖掘</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TextBox 1"/>
          <p:cNvSpPr txBox="1"/>
          <p:nvPr/>
        </p:nvSpPr>
        <p:spPr>
          <a:xfrm>
            <a:off x="337749" y="871126"/>
            <a:ext cx="10898596" cy="1938020"/>
          </a:xfrm>
          <a:prstGeom prst="rect">
            <a:avLst/>
          </a:prstGeom>
          <a:noFill/>
        </p:spPr>
        <p:txBody>
          <a:bodyPr wrap="square" rtlCol="0">
            <a:spAutoFit/>
          </a:bodyPr>
          <a:lstStyle/>
          <a:p>
            <a:pPr indent="609600" eaLnBrk="1" latinLnBrk="0" hangingPunct="1">
              <a:extLst>
                <a:ext uri="{35155182-B16C-46BC-9424-99874614C6A1}">
                  <wpsdc:indentchars xmlns:wpsdc="http://www.wps.cn/officeDocument/2017/drawingmlCustomData" val="200" checksum="4158780845"/>
                </a:ext>
              </a:extLst>
            </a:pPr>
            <a:r>
              <a:rPr lang="zh-CN" altLang="en-US" sz="2400" dirty="0"/>
              <a:t>同日行业轮动关联规则挖掘类似，我们调用定义的函数rule，设置最小支持度和最小置信度分别大于0.2和0.58，示例代码如下：</a:t>
            </a:r>
            <a:endParaRPr lang="zh-CN" altLang="en-US" sz="2400" dirty="0"/>
          </a:p>
          <a:p>
            <a:r>
              <a:rPr lang="zh-CN" altLang="en-US" sz="2400" dirty="0"/>
              <a:t>import OneRule as OR</a:t>
            </a:r>
            <a:endParaRPr lang="zh-CN" altLang="en-US" sz="2400" dirty="0"/>
          </a:p>
          <a:p>
            <a:r>
              <a:rPr lang="zh-CN" altLang="en-US" sz="2400" dirty="0"/>
              <a:t>r=OR.rule(Data,0.2,0.58)</a:t>
            </a:r>
            <a:endParaRPr lang="zh-CN" altLang="en-US" sz="2400" dirty="0"/>
          </a:p>
          <a:p>
            <a:r>
              <a:rPr lang="zh-CN" altLang="en-US" sz="2400" dirty="0"/>
              <a:t>结果如下表11-7所示。</a:t>
            </a:r>
            <a:endParaRPr lang="zh-CN" altLang="en-US" sz="2400" dirty="0"/>
          </a:p>
        </p:txBody>
      </p:sp>
      <p:sp>
        <p:nvSpPr>
          <p:cNvPr id="3" name="文本框 2"/>
          <p:cNvSpPr txBox="1"/>
          <p:nvPr/>
        </p:nvSpPr>
        <p:spPr>
          <a:xfrm>
            <a:off x="443865" y="3155950"/>
            <a:ext cx="10522585" cy="368300"/>
          </a:xfrm>
          <a:prstGeom prst="rect">
            <a:avLst/>
          </a:prstGeom>
          <a:noFill/>
        </p:spPr>
        <p:txBody>
          <a:bodyPr wrap="square" rtlCol="0">
            <a:spAutoFit/>
          </a:bodyPr>
          <a:p>
            <a:pPr algn="ctr"/>
            <a:r>
              <a:rPr lang="zh-CN" altLang="en-US"/>
              <a:t>表11-7  周行业轮动关联系规则</a:t>
            </a:r>
            <a:endParaRPr lang="zh-CN" altLang="en-US"/>
          </a:p>
        </p:txBody>
      </p:sp>
      <p:graphicFrame>
        <p:nvGraphicFramePr>
          <p:cNvPr id="4" name="表格 3"/>
          <p:cNvGraphicFramePr/>
          <p:nvPr>
            <p:custDataLst>
              <p:tags r:id="rId1"/>
            </p:custDataLst>
          </p:nvPr>
        </p:nvGraphicFramePr>
        <p:xfrm>
          <a:off x="1047750" y="3760470"/>
          <a:ext cx="9502775" cy="1444625"/>
        </p:xfrm>
        <a:graphic>
          <a:graphicData uri="http://schemas.openxmlformats.org/drawingml/2006/table">
            <a:tbl>
              <a:tblPr firstRow="1" bandRow="1">
                <a:tableStyleId>{5940675A-B579-460E-94D1-54222C63F5DA}</a:tableStyleId>
              </a:tblPr>
              <a:tblGrid>
                <a:gridCol w="1518285"/>
                <a:gridCol w="3654425"/>
                <a:gridCol w="1883410"/>
                <a:gridCol w="2446655"/>
              </a:tblGrid>
              <a:tr h="288925">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ID</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rule</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support</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confidence</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88925">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银行_up--机械设备_up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0.27932961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0.588235294</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288925">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银行_up--电气设备_up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0.28212291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0.594117647</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88925">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银行_up--综合_up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0.28212291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0.594117647</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88925">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非银金融_up--综合_up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0.2849162</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0.593023256</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5" name="文本框 4"/>
          <p:cNvSpPr txBox="1"/>
          <p:nvPr/>
        </p:nvSpPr>
        <p:spPr>
          <a:xfrm>
            <a:off x="337820" y="5553710"/>
            <a:ext cx="10521950" cy="829945"/>
          </a:xfrm>
          <a:prstGeom prst="rect">
            <a:avLst/>
          </a:prstGeom>
          <a:noFill/>
        </p:spPr>
        <p:txBody>
          <a:bodyPr wrap="square" rtlCol="0">
            <a:spAutoFit/>
          </a:bodyPr>
          <a:p>
            <a:pPr indent="609600" eaLnBrk="1" latinLnBrk="0" hangingPunct="1">
              <a:extLst>
                <a:ext uri="{35155182-B16C-46BC-9424-99874614C6A1}">
                  <wpsdc:indentchars xmlns:wpsdc="http://www.wps.cn/officeDocument/2017/drawingmlCustomData" val="200" checksum="4158780845"/>
                </a:ext>
              </a:extLst>
            </a:pPr>
            <a:r>
              <a:rPr lang="zh-CN" altLang="en-US" sz="2400"/>
              <a:t>从结果可以看出，周行业轮动关联规则置信度最大值都不超过0.6，而大于0.58的关联规则仅4条。因此，周行业轮动的关联规则可预测性也不强。</a:t>
            </a:r>
            <a:endParaRPr lang="zh-CN" altLang="en-US" sz="240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11.6 </a:t>
            </a:r>
            <a:r>
              <a:rPr lang="zh-CN" altLang="en-US" sz="2800" dirty="0">
                <a:solidFill>
                  <a:schemeClr val="accent2"/>
                </a:solidFill>
                <a:latin typeface="微软雅黑" panose="020B0503020204020204" pitchFamily="34" charset="-122"/>
                <a:ea typeface="微软雅黑" panose="020B0503020204020204" pitchFamily="34" charset="-122"/>
              </a:rPr>
              <a:t>月行业联动与轮动分析</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TextBox 1"/>
          <p:cNvSpPr txBox="1"/>
          <p:nvPr/>
        </p:nvSpPr>
        <p:spPr>
          <a:xfrm>
            <a:off x="672394" y="1052736"/>
            <a:ext cx="10898595" cy="4031873"/>
          </a:xfrm>
          <a:prstGeom prst="rect">
            <a:avLst/>
          </a:prstGeom>
          <a:noFill/>
        </p:spPr>
        <p:txBody>
          <a:bodyPr wrap="square" rtlCol="0">
            <a:spAutoFit/>
          </a:bodyPr>
          <a:lstStyle/>
          <a:p>
            <a:pPr indent="457200"/>
            <a:r>
              <a:rPr lang="zh-CN" altLang="en-US" sz="3200" dirty="0"/>
              <a:t>本节挖掘以月为频率周期的行业联动与轮动关联规则。由于选择的行业指数交易数据为日度数据，需要将日度交易数据转化为月交易数据进行计算，其关键是寻找每月的最大交易日和最小交易日，本节也给出了其算法和代码实现。值得注意的是，我们获取的数据中，</a:t>
            </a:r>
            <a:r>
              <a:rPr lang="en-US" altLang="zh-CN" sz="3200" dirty="0"/>
              <a:t>2017</a:t>
            </a:r>
            <a:r>
              <a:rPr lang="zh-CN" altLang="en-US" sz="3200" dirty="0"/>
              <a:t>年</a:t>
            </a:r>
            <a:r>
              <a:rPr lang="en-US" altLang="zh-CN" sz="3200" dirty="0"/>
              <a:t>3</a:t>
            </a:r>
            <a:r>
              <a:rPr lang="zh-CN" altLang="en-US" sz="3200" dirty="0"/>
              <a:t>月只有</a:t>
            </a:r>
            <a:r>
              <a:rPr lang="en-US" altLang="zh-CN" sz="3200" dirty="0"/>
              <a:t>7</a:t>
            </a:r>
            <a:r>
              <a:rPr lang="zh-CN" altLang="en-US" sz="3200" dirty="0"/>
              <a:t>天，故我们将这个月的数据删除，即计算周期为</a:t>
            </a:r>
            <a:r>
              <a:rPr lang="en-US" altLang="zh-CN" sz="3200" dirty="0"/>
              <a:t>2010</a:t>
            </a:r>
            <a:r>
              <a:rPr lang="zh-CN" altLang="en-US" sz="3200" dirty="0"/>
              <a:t>年</a:t>
            </a:r>
            <a:r>
              <a:rPr lang="en-US" altLang="zh-CN" sz="3200" dirty="0"/>
              <a:t>1</a:t>
            </a:r>
            <a:r>
              <a:rPr lang="zh-CN" altLang="en-US" sz="3200" dirty="0"/>
              <a:t>月至</a:t>
            </a:r>
            <a:r>
              <a:rPr lang="en-US" altLang="zh-CN" sz="3200" dirty="0"/>
              <a:t>2017</a:t>
            </a:r>
            <a:r>
              <a:rPr lang="zh-CN" altLang="en-US" sz="3200" dirty="0"/>
              <a:t>年</a:t>
            </a:r>
            <a:r>
              <a:rPr lang="en-US" altLang="zh-CN" sz="3200" dirty="0"/>
              <a:t>2</a:t>
            </a:r>
            <a:r>
              <a:rPr lang="zh-CN" altLang="en-US" sz="3200" dirty="0"/>
              <a:t>月。下面分别从指标计算、月行业联动关联规则挖掘和月行业轮动关联规则挖掘三方面给出详细的计算流程及代码实现。</a:t>
            </a:r>
            <a:endParaRPr lang="zh-CN" altLang="en-US" sz="32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11.6.1 </a:t>
            </a:r>
            <a:r>
              <a:rPr lang="zh-CN" altLang="en-US" sz="2800" dirty="0">
                <a:solidFill>
                  <a:schemeClr val="accent2"/>
                </a:solidFill>
                <a:latin typeface="微软雅黑" panose="020B0503020204020204" pitchFamily="34" charset="-122"/>
                <a:ea typeface="微软雅黑" panose="020B0503020204020204" pitchFamily="34" charset="-122"/>
              </a:rPr>
              <a:t>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TextBox 1"/>
          <p:cNvSpPr txBox="1"/>
          <p:nvPr/>
        </p:nvSpPr>
        <p:spPr>
          <a:xfrm>
            <a:off x="203835" y="655320"/>
            <a:ext cx="11672570" cy="1938020"/>
          </a:xfrm>
          <a:prstGeom prst="rect">
            <a:avLst/>
          </a:prstGeom>
          <a:noFill/>
        </p:spPr>
        <p:txBody>
          <a:bodyPr wrap="square" rtlCol="0">
            <a:spAutoFit/>
          </a:bodyPr>
          <a:lstStyle/>
          <a:p>
            <a:pPr indent="457200"/>
            <a:r>
              <a:rPr lang="zh-CN" altLang="en-US" sz="2400" dirty="0"/>
              <a:t>同日行业联动分析一样，我们只关心上涨的情况，不考虑下跌的情况。因此对每个行业从</a:t>
            </a:r>
            <a:r>
              <a:rPr lang="en-US" altLang="zh-CN" sz="2400" dirty="0"/>
              <a:t>2010</a:t>
            </a:r>
            <a:r>
              <a:rPr lang="zh-CN" altLang="en-US" sz="2400" dirty="0"/>
              <a:t>年</a:t>
            </a:r>
            <a:r>
              <a:rPr lang="en-US" altLang="zh-CN" sz="2400" dirty="0"/>
              <a:t>1</a:t>
            </a:r>
            <a:r>
              <a:rPr lang="zh-CN" altLang="en-US" sz="2400" dirty="0"/>
              <a:t>月至</a:t>
            </a:r>
            <a:r>
              <a:rPr lang="en-US" altLang="zh-CN" sz="2400" dirty="0"/>
              <a:t>2017</a:t>
            </a:r>
            <a:r>
              <a:rPr lang="zh-CN" altLang="en-US" sz="2400" dirty="0"/>
              <a:t>年</a:t>
            </a:r>
            <a:r>
              <a:rPr lang="en-US" altLang="zh-CN" sz="2400" dirty="0"/>
              <a:t>2</a:t>
            </a:r>
            <a:r>
              <a:rPr lang="zh-CN" altLang="en-US" sz="2400" dirty="0"/>
              <a:t>月，计算每个交易月的上涨情况。所谓上涨是指：当月最大交易日行情数据</a:t>
            </a:r>
            <a:r>
              <a:rPr lang="en-US" altLang="zh-CN" sz="2400" dirty="0"/>
              <a:t>-</a:t>
            </a:r>
            <a:r>
              <a:rPr lang="zh-CN" altLang="en-US" sz="2400" dirty="0"/>
              <a:t>当月最小交易日行情数据</a:t>
            </a:r>
            <a:r>
              <a:rPr lang="en-US" altLang="zh-CN" sz="2400" dirty="0"/>
              <a:t>&gt;0</a:t>
            </a:r>
            <a:r>
              <a:rPr lang="zh-CN" altLang="en-US" sz="2400" dirty="0"/>
              <a:t>，其指标名称记为：行业名称</a:t>
            </a:r>
            <a:r>
              <a:rPr lang="en-US" altLang="zh-CN" sz="2400" dirty="0"/>
              <a:t>_up</a:t>
            </a:r>
            <a:r>
              <a:rPr lang="zh-CN" altLang="en-US" sz="2400" dirty="0"/>
              <a:t>，如果上涨记为</a:t>
            </a:r>
            <a:r>
              <a:rPr lang="en-US" altLang="zh-CN" sz="2400" dirty="0"/>
              <a:t>1</a:t>
            </a:r>
            <a:r>
              <a:rPr lang="zh-CN" altLang="en-US" sz="2400" dirty="0"/>
              <a:t>，否则记为</a:t>
            </a:r>
            <a:r>
              <a:rPr lang="en-US" altLang="zh-CN" sz="2400" dirty="0"/>
              <a:t>0</a:t>
            </a:r>
            <a:r>
              <a:rPr lang="zh-CN" altLang="en-US" sz="2400" dirty="0"/>
              <a:t>。由于我们获取的数据为日行情交易数据，无法直接计算月上涨情况，需要对交易日历数据进行处理，即找出每月的最大交易日和最小交易日。</a:t>
            </a:r>
            <a:endParaRPr lang="zh-CN" altLang="en-US" sz="2400" dirty="0"/>
          </a:p>
        </p:txBody>
      </p:sp>
      <p:sp>
        <p:nvSpPr>
          <p:cNvPr id="3" name="TextBox 2"/>
          <p:cNvSpPr txBox="1"/>
          <p:nvPr/>
        </p:nvSpPr>
        <p:spPr>
          <a:xfrm>
            <a:off x="494665" y="2778760"/>
            <a:ext cx="11231245" cy="3784600"/>
          </a:xfrm>
          <a:prstGeom prst="rect">
            <a:avLst/>
          </a:prstGeom>
          <a:noFill/>
        </p:spPr>
        <p:txBody>
          <a:bodyPr wrap="square" rtlCol="0">
            <a:spAutoFit/>
          </a:bodyPr>
          <a:lstStyle/>
          <a:p>
            <a:r>
              <a:rPr lang="zh-CN" altLang="en-US" sz="2000" dirty="0"/>
              <a:t>输入：交易日历数据表</a:t>
            </a:r>
            <a:r>
              <a:rPr lang="en-US" altLang="zh-CN" sz="2000" dirty="0"/>
              <a:t>date</a:t>
            </a:r>
            <a:endParaRPr lang="en-US" altLang="zh-CN" sz="2000" dirty="0"/>
          </a:p>
          <a:p>
            <a:r>
              <a:rPr lang="zh-CN" altLang="en-US" sz="2000" dirty="0"/>
              <a:t>输出：月最小交易日和最大交易日列表</a:t>
            </a:r>
            <a:r>
              <a:rPr lang="en-US" altLang="zh-CN" sz="2000" dirty="0"/>
              <a:t>list1</a:t>
            </a:r>
            <a:r>
              <a:rPr lang="zh-CN" altLang="en-US" sz="2000" dirty="0"/>
              <a:t>和</a:t>
            </a:r>
            <a:r>
              <a:rPr lang="en-US" altLang="zh-CN" sz="2000" dirty="0"/>
              <a:t>list2</a:t>
            </a:r>
            <a:endParaRPr lang="en-US" altLang="zh-CN" sz="2000" dirty="0"/>
          </a:p>
          <a:p>
            <a:r>
              <a:rPr lang="en-US" altLang="zh-CN" sz="2000" dirty="0"/>
              <a:t>Step1</a:t>
            </a:r>
            <a:r>
              <a:rPr lang="zh-CN" altLang="en-US" sz="2000" dirty="0"/>
              <a:t>：定义空的列表</a:t>
            </a:r>
            <a:r>
              <a:rPr lang="en-US" altLang="zh-CN" sz="2000" dirty="0"/>
              <a:t>list1</a:t>
            </a:r>
            <a:r>
              <a:rPr lang="zh-CN" altLang="en-US" sz="2000" dirty="0"/>
              <a:t>和</a:t>
            </a:r>
            <a:r>
              <a:rPr lang="en-US" altLang="zh-CN" sz="2000" dirty="0"/>
              <a:t>list2</a:t>
            </a:r>
            <a:endParaRPr lang="en-US" altLang="zh-CN" sz="2000" dirty="0"/>
          </a:p>
          <a:p>
            <a:r>
              <a:rPr lang="en-US" altLang="zh-CN" sz="2000" dirty="0"/>
              <a:t>Step2</a:t>
            </a:r>
            <a:r>
              <a:rPr lang="zh-CN" altLang="en-US" sz="2000" dirty="0"/>
              <a:t>：</a:t>
            </a:r>
            <a:r>
              <a:rPr lang="en-US" altLang="zh-CN" sz="2000" dirty="0"/>
              <a:t>for year = 2010 to 2017</a:t>
            </a:r>
            <a:endParaRPr lang="en-US" altLang="zh-CN" sz="2000" dirty="0"/>
          </a:p>
          <a:p>
            <a:r>
              <a:rPr lang="en-US" altLang="zh-CN" sz="2000" dirty="0"/>
              <a:t>            for month= 01 to 12</a:t>
            </a:r>
            <a:endParaRPr lang="en-US" altLang="zh-CN" sz="2000" dirty="0"/>
          </a:p>
          <a:p>
            <a:r>
              <a:rPr lang="en-US" altLang="zh-CN" sz="2000" dirty="0"/>
              <a:t>           </a:t>
            </a:r>
            <a:r>
              <a:rPr lang="en-US" altLang="zh-CN" sz="2000" dirty="0" err="1"/>
              <a:t>sartdate</a:t>
            </a:r>
            <a:r>
              <a:rPr lang="en-US" altLang="zh-CN" sz="2000" dirty="0"/>
              <a:t>=year-month-01   </a:t>
            </a:r>
            <a:endParaRPr lang="en-US" altLang="zh-CN" sz="2000" dirty="0"/>
          </a:p>
          <a:p>
            <a:r>
              <a:rPr lang="en-US" altLang="zh-CN" sz="2000" dirty="0"/>
              <a:t>           </a:t>
            </a:r>
            <a:r>
              <a:rPr lang="en-US" altLang="zh-CN" sz="2000" dirty="0" err="1"/>
              <a:t>enddate</a:t>
            </a:r>
            <a:r>
              <a:rPr lang="en-US" altLang="zh-CN" sz="2000" dirty="0"/>
              <a:t>=year-month-31</a:t>
            </a:r>
            <a:endParaRPr lang="en-US" altLang="zh-CN" sz="2000" dirty="0"/>
          </a:p>
          <a:p>
            <a:r>
              <a:rPr lang="en-US" altLang="zh-CN" sz="2000" dirty="0"/>
              <a:t>           </a:t>
            </a:r>
            <a:r>
              <a:rPr lang="zh-CN" altLang="en-US" sz="2000" dirty="0"/>
              <a:t>取</a:t>
            </a:r>
            <a:r>
              <a:rPr lang="en-US" altLang="zh-CN" sz="2000" dirty="0"/>
              <a:t>date</a:t>
            </a:r>
            <a:r>
              <a:rPr lang="zh-CN" altLang="en-US" sz="2000" dirty="0"/>
              <a:t>中，交易日期在</a:t>
            </a:r>
            <a:r>
              <a:rPr lang="en-US" altLang="zh-CN" sz="2000" dirty="0" err="1"/>
              <a:t>sartdate</a:t>
            </a:r>
            <a:r>
              <a:rPr lang="zh-CN" altLang="en-US" sz="2000" dirty="0"/>
              <a:t>和</a:t>
            </a:r>
            <a:r>
              <a:rPr lang="en-US" altLang="zh-CN" sz="2000" dirty="0" err="1"/>
              <a:t>enddate</a:t>
            </a:r>
            <a:r>
              <a:rPr lang="zh-CN" altLang="en-US" sz="2000" dirty="0"/>
              <a:t>之间的数据，并按升序排序，则</a:t>
            </a:r>
            <a:endParaRPr lang="zh-CN" altLang="en-US" sz="2000" dirty="0"/>
          </a:p>
          <a:p>
            <a:r>
              <a:rPr lang="zh-CN" altLang="en-US" sz="2000" dirty="0"/>
              <a:t>           第</a:t>
            </a:r>
            <a:r>
              <a:rPr lang="en-US" altLang="zh-CN" sz="2000" dirty="0"/>
              <a:t>1</a:t>
            </a:r>
            <a:r>
              <a:rPr lang="zh-CN" altLang="en-US" sz="2000" dirty="0"/>
              <a:t>个数据即为当月最小交易日期，添加到</a:t>
            </a:r>
            <a:r>
              <a:rPr lang="en-US" altLang="zh-CN" sz="2000" dirty="0"/>
              <a:t>list1</a:t>
            </a:r>
            <a:r>
              <a:rPr lang="zh-CN" altLang="en-US" sz="2000" dirty="0"/>
              <a:t>中</a:t>
            </a:r>
            <a:endParaRPr lang="zh-CN" altLang="en-US" sz="2000" dirty="0"/>
          </a:p>
          <a:p>
            <a:r>
              <a:rPr lang="zh-CN" altLang="en-US" sz="2000" dirty="0"/>
              <a:t>           最后</a:t>
            </a:r>
            <a:r>
              <a:rPr lang="en-US" altLang="zh-CN" sz="2000" dirty="0"/>
              <a:t>1</a:t>
            </a:r>
            <a:r>
              <a:rPr lang="zh-CN" altLang="en-US" sz="2000" dirty="0"/>
              <a:t>个数据即为当月最大交易日期，添加到</a:t>
            </a:r>
            <a:r>
              <a:rPr lang="en-US" altLang="zh-CN" sz="2000" dirty="0"/>
              <a:t>list2</a:t>
            </a:r>
            <a:r>
              <a:rPr lang="zh-CN" altLang="en-US" sz="2000" dirty="0"/>
              <a:t>中</a:t>
            </a:r>
            <a:endParaRPr lang="zh-CN" altLang="en-US" sz="2000" dirty="0"/>
          </a:p>
          <a:p>
            <a:r>
              <a:rPr lang="en-US" altLang="zh-CN" sz="2000" dirty="0"/>
              <a:t>Step3</a:t>
            </a:r>
            <a:r>
              <a:rPr lang="zh-CN" altLang="en-US" sz="2000" dirty="0"/>
              <a:t>：去掉</a:t>
            </a:r>
            <a:r>
              <a:rPr lang="en-US" altLang="zh-CN" sz="2000" dirty="0"/>
              <a:t>list1</a:t>
            </a:r>
            <a:r>
              <a:rPr lang="zh-CN" altLang="en-US" sz="2000" dirty="0"/>
              <a:t>、</a:t>
            </a:r>
            <a:r>
              <a:rPr lang="en-US" altLang="zh-CN" sz="2000" dirty="0"/>
              <a:t>list2</a:t>
            </a:r>
            <a:r>
              <a:rPr lang="zh-CN" altLang="en-US" sz="2000" dirty="0"/>
              <a:t>中最后一个元素，即</a:t>
            </a:r>
            <a:r>
              <a:rPr lang="en-US" altLang="zh-CN" sz="2000" dirty="0"/>
              <a:t>2017</a:t>
            </a:r>
            <a:r>
              <a:rPr lang="zh-CN" altLang="en-US" sz="2000" dirty="0"/>
              <a:t>年</a:t>
            </a:r>
            <a:r>
              <a:rPr lang="en-US" altLang="zh-CN" sz="2000" dirty="0"/>
              <a:t>3</a:t>
            </a:r>
            <a:r>
              <a:rPr lang="zh-CN" altLang="en-US" sz="2000" dirty="0"/>
              <a:t>月份的最大交易日和最小交易日不统计，主要是提取的数据中</a:t>
            </a:r>
            <a:r>
              <a:rPr lang="en-US" altLang="zh-CN" sz="2000" dirty="0"/>
              <a:t>3</a:t>
            </a:r>
            <a:r>
              <a:rPr lang="zh-CN" altLang="en-US" sz="2000" dirty="0"/>
              <a:t>月份仅</a:t>
            </a:r>
            <a:r>
              <a:rPr lang="en-US" altLang="zh-CN" sz="2000" dirty="0"/>
              <a:t>7</a:t>
            </a:r>
            <a:r>
              <a:rPr lang="zh-CN" altLang="en-US" sz="2000" dirty="0"/>
              <a:t>天，不作计算。</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11.6.1 </a:t>
            </a:r>
            <a:r>
              <a:rPr lang="zh-CN" altLang="en-US" sz="2800" dirty="0">
                <a:solidFill>
                  <a:schemeClr val="accent2"/>
                </a:solidFill>
                <a:latin typeface="微软雅黑" panose="020B0503020204020204" pitchFamily="34" charset="-122"/>
                <a:ea typeface="微软雅黑" panose="020B0503020204020204" pitchFamily="34" charset="-122"/>
              </a:rPr>
              <a:t>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TextBox 1"/>
          <p:cNvSpPr txBox="1"/>
          <p:nvPr/>
        </p:nvSpPr>
        <p:spPr>
          <a:xfrm>
            <a:off x="534670" y="1060450"/>
            <a:ext cx="4856480" cy="3784600"/>
          </a:xfrm>
          <a:prstGeom prst="rect">
            <a:avLst/>
          </a:prstGeom>
          <a:noFill/>
        </p:spPr>
        <p:txBody>
          <a:bodyPr wrap="square" rtlCol="0">
            <a:spAutoFit/>
          </a:bodyPr>
          <a:lstStyle/>
          <a:p>
            <a:pPr indent="457200"/>
            <a:r>
              <a:rPr lang="zh-CN" altLang="en-US" sz="2400" dirty="0"/>
              <a:t>算法示例代码如下：</a:t>
            </a:r>
            <a:endParaRPr lang="zh-CN" altLang="en-US" sz="2400" dirty="0"/>
          </a:p>
          <a:p>
            <a:pPr indent="457200"/>
            <a:r>
              <a:rPr lang="en-US" altLang="zh-CN" sz="2400" dirty="0"/>
              <a:t>import pandas as </a:t>
            </a:r>
            <a:r>
              <a:rPr lang="en-US" altLang="zh-CN" sz="2400" dirty="0" err="1"/>
              <a:t>pd</a:t>
            </a:r>
            <a:endParaRPr lang="en-US" altLang="zh-CN" sz="2400" dirty="0"/>
          </a:p>
          <a:p>
            <a:pPr indent="457200"/>
            <a:r>
              <a:rPr lang="en-US" altLang="zh-CN" sz="2400" dirty="0"/>
              <a:t>import </a:t>
            </a:r>
            <a:r>
              <a:rPr lang="en-US" altLang="zh-CN" sz="2400" dirty="0" err="1"/>
              <a:t>numpy</a:t>
            </a:r>
            <a:r>
              <a:rPr lang="en-US" altLang="zh-CN" sz="2400" dirty="0"/>
              <a:t> as np</a:t>
            </a:r>
            <a:endParaRPr lang="en-US" altLang="zh-CN" sz="2400" dirty="0"/>
          </a:p>
          <a:p>
            <a:pPr indent="457200"/>
            <a:r>
              <a:rPr lang="en-US" altLang="zh-CN" sz="2400" dirty="0"/>
              <a:t>x=</a:t>
            </a:r>
            <a:r>
              <a:rPr lang="en-US" altLang="zh-CN" sz="2400" dirty="0" err="1"/>
              <a:t>pd.read_excel</a:t>
            </a:r>
            <a:r>
              <a:rPr lang="en-US" altLang="zh-CN" sz="2400" dirty="0"/>
              <a:t>('</a:t>
            </a:r>
            <a:r>
              <a:rPr lang="zh-CN" altLang="en-US" sz="2400" dirty="0"/>
              <a:t>交易日历数据表</a:t>
            </a:r>
            <a:r>
              <a:rPr lang="en-US" altLang="zh-CN" sz="2400" dirty="0"/>
              <a:t>.</a:t>
            </a:r>
            <a:r>
              <a:rPr lang="en-US" altLang="zh-CN" sz="2400" dirty="0" err="1"/>
              <a:t>xlsx</a:t>
            </a:r>
            <a:r>
              <a:rPr lang="en-US" altLang="zh-CN" sz="2400" dirty="0"/>
              <a:t>')</a:t>
            </a:r>
            <a:endParaRPr lang="en-US" altLang="zh-CN" sz="2400" dirty="0"/>
          </a:p>
          <a:p>
            <a:pPr indent="457200"/>
            <a:r>
              <a:rPr lang="en-US" altLang="zh-CN" sz="2400" dirty="0"/>
              <a:t>x=</a:t>
            </a:r>
            <a:r>
              <a:rPr lang="en-US" altLang="zh-CN" sz="2400" dirty="0" err="1"/>
              <a:t>x.iloc</a:t>
            </a:r>
            <a:r>
              <a:rPr lang="en-US" altLang="zh-CN" sz="2400" dirty="0"/>
              <a:t>[:1741,:]</a:t>
            </a:r>
            <a:endParaRPr lang="en-US" altLang="zh-CN" sz="2400" dirty="0"/>
          </a:p>
          <a:p>
            <a:pPr indent="457200"/>
            <a:r>
              <a:rPr lang="en-US" altLang="zh-CN" sz="2400" dirty="0"/>
              <a:t>list1=[]</a:t>
            </a:r>
            <a:endParaRPr lang="en-US" altLang="zh-CN" sz="2400" dirty="0"/>
          </a:p>
          <a:p>
            <a:pPr indent="457200"/>
            <a:r>
              <a:rPr lang="en-US" altLang="zh-CN" sz="2400" dirty="0"/>
              <a:t>list2=[]</a:t>
            </a:r>
            <a:endParaRPr lang="en-US" altLang="zh-CN" sz="2400" dirty="0"/>
          </a:p>
          <a:p>
            <a:pPr indent="457200"/>
            <a:r>
              <a:rPr lang="en-US" altLang="zh-CN" sz="2400" dirty="0"/>
              <a:t>for y in </a:t>
            </a:r>
            <a:r>
              <a:rPr lang="en-US" altLang="zh-CN" sz="2400" dirty="0" err="1"/>
              <a:t>np.arange</a:t>
            </a:r>
            <a:r>
              <a:rPr lang="en-US" altLang="zh-CN" sz="2400" dirty="0"/>
              <a:t>(2010,2018):</a:t>
            </a:r>
            <a:endParaRPr lang="en-US" altLang="zh-CN" sz="2400" dirty="0"/>
          </a:p>
          <a:p>
            <a:pPr indent="457200"/>
            <a:r>
              <a:rPr lang="en-US" altLang="zh-CN" sz="2400" dirty="0"/>
              <a:t>    for m in </a:t>
            </a:r>
            <a:r>
              <a:rPr lang="en-US" altLang="zh-CN" sz="2400" dirty="0" err="1"/>
              <a:t>np.arange</a:t>
            </a:r>
            <a:r>
              <a:rPr lang="en-US" altLang="zh-CN" sz="2400" dirty="0"/>
              <a:t>(1,13</a:t>
            </a:r>
            <a:r>
              <a:rPr lang="en-US" altLang="zh-CN" sz="2400" dirty="0" smtClean="0"/>
              <a:t>):</a:t>
            </a:r>
            <a:endParaRPr lang="en-US" altLang="zh-CN" sz="2400" dirty="0"/>
          </a:p>
        </p:txBody>
      </p:sp>
      <p:sp>
        <p:nvSpPr>
          <p:cNvPr id="3" name="TextBox 2"/>
          <p:cNvSpPr txBox="1"/>
          <p:nvPr/>
        </p:nvSpPr>
        <p:spPr>
          <a:xfrm>
            <a:off x="5737448" y="1074450"/>
            <a:ext cx="5904656" cy="4708981"/>
          </a:xfrm>
          <a:prstGeom prst="rect">
            <a:avLst/>
          </a:prstGeom>
          <a:noFill/>
        </p:spPr>
        <p:txBody>
          <a:bodyPr wrap="square" rtlCol="0">
            <a:spAutoFit/>
          </a:bodyPr>
          <a:lstStyle/>
          <a:p>
            <a:r>
              <a:rPr lang="en-US" altLang="zh-CN" sz="2000" dirty="0"/>
              <a:t>if m&lt;10:</a:t>
            </a:r>
            <a:endParaRPr lang="en-US" altLang="zh-CN" sz="2000" dirty="0"/>
          </a:p>
          <a:p>
            <a:r>
              <a:rPr lang="en-US" altLang="zh-CN" sz="2000" dirty="0"/>
              <a:t>          d1=</a:t>
            </a:r>
            <a:r>
              <a:rPr lang="en-US" altLang="zh-CN" sz="2000" dirty="0" err="1"/>
              <a:t>str</a:t>
            </a:r>
            <a:r>
              <a:rPr lang="en-US" altLang="zh-CN" sz="2000" dirty="0"/>
              <a:t>(y)+'-0'+str(m)+'-01'</a:t>
            </a:r>
            <a:endParaRPr lang="en-US" altLang="zh-CN" sz="2000" dirty="0"/>
          </a:p>
          <a:p>
            <a:r>
              <a:rPr lang="en-US" altLang="zh-CN" sz="2000" dirty="0"/>
              <a:t>          d2=</a:t>
            </a:r>
            <a:r>
              <a:rPr lang="en-US" altLang="zh-CN" sz="2000" dirty="0" err="1"/>
              <a:t>str</a:t>
            </a:r>
            <a:r>
              <a:rPr lang="en-US" altLang="zh-CN" sz="2000" dirty="0"/>
              <a:t>(y)+'-0'+str(m)+'-31'</a:t>
            </a:r>
            <a:endParaRPr lang="en-US" altLang="zh-CN" sz="2000" dirty="0"/>
          </a:p>
          <a:p>
            <a:r>
              <a:rPr lang="en-US" altLang="zh-CN" sz="2000" dirty="0"/>
              <a:t>        else:</a:t>
            </a:r>
            <a:endParaRPr lang="en-US" altLang="zh-CN" sz="2000" dirty="0"/>
          </a:p>
          <a:p>
            <a:r>
              <a:rPr lang="en-US" altLang="zh-CN" sz="2000" dirty="0"/>
              <a:t>          d1=</a:t>
            </a:r>
            <a:r>
              <a:rPr lang="en-US" altLang="zh-CN" sz="2000" dirty="0" err="1"/>
              <a:t>str</a:t>
            </a:r>
            <a:r>
              <a:rPr lang="en-US" altLang="zh-CN" sz="2000" dirty="0"/>
              <a:t>(y)+'-'+</a:t>
            </a:r>
            <a:r>
              <a:rPr lang="en-US" altLang="zh-CN" sz="2000" dirty="0" err="1"/>
              <a:t>str</a:t>
            </a:r>
            <a:r>
              <a:rPr lang="en-US" altLang="zh-CN" sz="2000" dirty="0"/>
              <a:t>(m)+'-01'</a:t>
            </a:r>
            <a:endParaRPr lang="en-US" altLang="zh-CN" sz="2000" dirty="0"/>
          </a:p>
          <a:p>
            <a:r>
              <a:rPr lang="en-US" altLang="zh-CN" sz="2000" dirty="0"/>
              <a:t>          d2=</a:t>
            </a:r>
            <a:r>
              <a:rPr lang="en-US" altLang="zh-CN" sz="2000" dirty="0" err="1"/>
              <a:t>str</a:t>
            </a:r>
            <a:r>
              <a:rPr lang="en-US" altLang="zh-CN" sz="2000" dirty="0"/>
              <a:t>(y)+'-'+</a:t>
            </a:r>
            <a:r>
              <a:rPr lang="en-US" altLang="zh-CN" sz="2000" dirty="0" err="1"/>
              <a:t>str</a:t>
            </a:r>
            <a:r>
              <a:rPr lang="en-US" altLang="zh-CN" sz="2000" dirty="0"/>
              <a:t>(m)+'-31'</a:t>
            </a:r>
            <a:endParaRPr lang="en-US" altLang="zh-CN" sz="2000" dirty="0"/>
          </a:p>
          <a:p>
            <a:r>
              <a:rPr lang="en-US" altLang="zh-CN" sz="2000" dirty="0"/>
              <a:t>        I1=</a:t>
            </a:r>
            <a:r>
              <a:rPr lang="en-US" altLang="zh-CN" sz="2000" dirty="0" err="1"/>
              <a:t>x.iloc</a:t>
            </a:r>
            <a:r>
              <a:rPr lang="en-US" altLang="zh-CN" sz="2000" dirty="0"/>
              <a:t>[:,1]&gt;=d1</a:t>
            </a:r>
            <a:endParaRPr lang="en-US" altLang="zh-CN" sz="2000" dirty="0"/>
          </a:p>
          <a:p>
            <a:r>
              <a:rPr lang="en-US" altLang="zh-CN" sz="2000" dirty="0"/>
              <a:t>        I2=</a:t>
            </a:r>
            <a:r>
              <a:rPr lang="en-US" altLang="zh-CN" sz="2000" dirty="0" err="1"/>
              <a:t>x.iloc</a:t>
            </a:r>
            <a:r>
              <a:rPr lang="en-US" altLang="zh-CN" sz="2000" dirty="0"/>
              <a:t>[:,1]&lt;=d2</a:t>
            </a:r>
            <a:endParaRPr lang="en-US" altLang="zh-CN" sz="2000" dirty="0"/>
          </a:p>
          <a:p>
            <a:r>
              <a:rPr lang="en-US" altLang="zh-CN" sz="2000" dirty="0"/>
              <a:t>        I=I1&amp;I2</a:t>
            </a:r>
            <a:endParaRPr lang="en-US" altLang="zh-CN" sz="2000" dirty="0"/>
          </a:p>
          <a:p>
            <a:r>
              <a:rPr lang="en-US" altLang="zh-CN" sz="2000" dirty="0"/>
              <a:t>        </a:t>
            </a:r>
            <a:r>
              <a:rPr lang="en-US" altLang="zh-CN" sz="2000" dirty="0" smtClean="0"/>
              <a:t> </a:t>
            </a:r>
            <a:r>
              <a:rPr lang="en-US" altLang="zh-CN" sz="2000" dirty="0" err="1" smtClean="0"/>
              <a:t>xs</a:t>
            </a:r>
            <a:r>
              <a:rPr lang="en-US" altLang="zh-CN" sz="2000" dirty="0" smtClean="0"/>
              <a:t>=</a:t>
            </a:r>
            <a:r>
              <a:rPr lang="en-US" altLang="zh-CN" sz="2000" dirty="0" err="1" smtClean="0"/>
              <a:t>x.iloc</a:t>
            </a:r>
            <a:r>
              <a:rPr lang="en-US" altLang="zh-CN" sz="2000" dirty="0" smtClean="0"/>
              <a:t>[</a:t>
            </a:r>
            <a:r>
              <a:rPr lang="en-US" altLang="zh-CN" sz="2000" dirty="0" err="1" smtClean="0"/>
              <a:t>I.values</a:t>
            </a:r>
            <a:r>
              <a:rPr lang="en-US" altLang="zh-CN" sz="2000" dirty="0"/>
              <a:t>,[1]]['</a:t>
            </a:r>
            <a:r>
              <a:rPr lang="en-US" altLang="zh-CN" sz="2000" dirty="0" err="1"/>
              <a:t>Clddt</a:t>
            </a:r>
            <a:r>
              <a:rPr lang="en-US" altLang="zh-CN" sz="2000" dirty="0"/>
              <a:t>'].</a:t>
            </a:r>
            <a:r>
              <a:rPr lang="en-US" altLang="zh-CN" sz="2000" dirty="0" err="1"/>
              <a:t>sort_values</a:t>
            </a:r>
            <a:r>
              <a:rPr lang="en-US" altLang="zh-CN" sz="2000" dirty="0"/>
              <a:t>()</a:t>
            </a:r>
            <a:endParaRPr lang="en-US" altLang="zh-CN" sz="2000" dirty="0"/>
          </a:p>
          <a:p>
            <a:r>
              <a:rPr lang="en-US" altLang="zh-CN" sz="2000" dirty="0"/>
              <a:t>        if </a:t>
            </a:r>
            <a:r>
              <a:rPr lang="en-US" altLang="zh-CN" sz="2000" dirty="0" err="1"/>
              <a:t>len</a:t>
            </a:r>
            <a:r>
              <a:rPr lang="en-US" altLang="zh-CN" sz="2000" dirty="0"/>
              <a:t>(</a:t>
            </a:r>
            <a:r>
              <a:rPr lang="en-US" altLang="zh-CN" sz="2000" dirty="0" err="1"/>
              <a:t>xs</a:t>
            </a:r>
            <a:r>
              <a:rPr lang="en-US" altLang="zh-CN" sz="2000" dirty="0"/>
              <a:t>)&gt;1:</a:t>
            </a:r>
            <a:endParaRPr lang="en-US" altLang="zh-CN" sz="2000" dirty="0"/>
          </a:p>
          <a:p>
            <a:r>
              <a:rPr lang="en-US" altLang="zh-CN" sz="2000" dirty="0"/>
              <a:t>           list1.append(</a:t>
            </a:r>
            <a:r>
              <a:rPr lang="en-US" altLang="zh-CN" sz="2000" dirty="0" err="1"/>
              <a:t>xs.values</a:t>
            </a:r>
            <a:r>
              <a:rPr lang="en-US" altLang="zh-CN" sz="2000" dirty="0"/>
              <a:t>[0])</a:t>
            </a:r>
            <a:endParaRPr lang="en-US" altLang="zh-CN" sz="2000" dirty="0"/>
          </a:p>
          <a:p>
            <a:r>
              <a:rPr lang="en-US" altLang="zh-CN" sz="2000" dirty="0"/>
              <a:t>           list2.append(</a:t>
            </a:r>
            <a:r>
              <a:rPr lang="en-US" altLang="zh-CN" sz="2000" dirty="0" err="1"/>
              <a:t>xs.values</a:t>
            </a:r>
            <a:r>
              <a:rPr lang="en-US" altLang="zh-CN" sz="2000" dirty="0"/>
              <a:t>[</a:t>
            </a:r>
            <a:r>
              <a:rPr lang="en-US" altLang="zh-CN" sz="2000" dirty="0" err="1"/>
              <a:t>len</a:t>
            </a:r>
            <a:r>
              <a:rPr lang="en-US" altLang="zh-CN" sz="2000" dirty="0"/>
              <a:t>(</a:t>
            </a:r>
            <a:r>
              <a:rPr lang="en-US" altLang="zh-CN" sz="2000" dirty="0" err="1"/>
              <a:t>xs</a:t>
            </a:r>
            <a:r>
              <a:rPr lang="en-US" altLang="zh-CN" sz="2000" dirty="0"/>
              <a:t>)-1])</a:t>
            </a:r>
            <a:endParaRPr lang="en-US" altLang="zh-CN" sz="2000" dirty="0"/>
          </a:p>
          <a:p>
            <a:r>
              <a:rPr lang="en-US" altLang="zh-CN" sz="2000" dirty="0"/>
              <a:t>list1=list1[:-1]</a:t>
            </a:r>
            <a:endParaRPr lang="en-US" altLang="zh-CN" sz="2000" dirty="0"/>
          </a:p>
          <a:p>
            <a:r>
              <a:rPr lang="en-US" altLang="zh-CN" sz="2000" dirty="0"/>
              <a:t>list2=list2[:-1]</a:t>
            </a:r>
            <a:endParaRPr lang="en-US" altLang="zh-CN" sz="2000" dirty="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11.6.1 </a:t>
            </a:r>
            <a:r>
              <a:rPr lang="zh-CN" altLang="en-US" sz="2800" dirty="0">
                <a:solidFill>
                  <a:schemeClr val="accent2"/>
                </a:solidFill>
                <a:latin typeface="微软雅黑" panose="020B0503020204020204" pitchFamily="34" charset="-122"/>
                <a:ea typeface="微软雅黑" panose="020B0503020204020204" pitchFamily="34" charset="-122"/>
              </a:rPr>
              <a:t>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TextBox 1"/>
          <p:cNvSpPr txBox="1"/>
          <p:nvPr/>
        </p:nvSpPr>
        <p:spPr>
          <a:xfrm>
            <a:off x="534670" y="1060450"/>
            <a:ext cx="10335895" cy="460375"/>
          </a:xfrm>
          <a:prstGeom prst="rect">
            <a:avLst/>
          </a:prstGeom>
          <a:noFill/>
        </p:spPr>
        <p:txBody>
          <a:bodyPr wrap="square" rtlCol="0">
            <a:spAutoFit/>
          </a:bodyPr>
          <a:lstStyle/>
          <a:p>
            <a:pPr indent="457200" algn="ctr"/>
            <a:r>
              <a:rPr lang="zh-CN" altLang="en-US" sz="2400" dirty="0"/>
              <a:t>最终得到结果如图</a:t>
            </a:r>
            <a:r>
              <a:rPr lang="en-US" altLang="zh-CN" sz="2400" dirty="0"/>
              <a:t>11-6</a:t>
            </a:r>
            <a:r>
              <a:rPr lang="zh-CN" altLang="en-US" sz="2400" dirty="0"/>
              <a:t>所示。</a:t>
            </a:r>
            <a:endParaRPr lang="en-US" altLang="zh-CN" sz="24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73773" y="1676420"/>
            <a:ext cx="4258270" cy="3505690"/>
          </a:xfrm>
          <a:prstGeom prst="rect">
            <a:avLst/>
          </a:prstGeom>
        </p:spPr>
      </p:pic>
      <p:sp>
        <p:nvSpPr>
          <p:cNvPr id="3" name="文本框 2"/>
          <p:cNvSpPr txBox="1"/>
          <p:nvPr/>
        </p:nvSpPr>
        <p:spPr>
          <a:xfrm>
            <a:off x="3154045" y="5494020"/>
            <a:ext cx="5392420" cy="368300"/>
          </a:xfrm>
          <a:prstGeom prst="rect">
            <a:avLst/>
          </a:prstGeom>
          <a:noFill/>
        </p:spPr>
        <p:txBody>
          <a:bodyPr wrap="square" rtlCol="0">
            <a:spAutoFit/>
          </a:bodyPr>
          <a:p>
            <a:pPr algn="ctr"/>
            <a:r>
              <a:rPr lang="zh-CN" altLang="en-US"/>
              <a:t>图11-6</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11.6.1 </a:t>
            </a:r>
            <a:r>
              <a:rPr lang="zh-CN" altLang="en-US" sz="2800" dirty="0">
                <a:solidFill>
                  <a:schemeClr val="accent2"/>
                </a:solidFill>
                <a:latin typeface="微软雅黑" panose="020B0503020204020204" pitchFamily="34" charset="-122"/>
                <a:ea typeface="微软雅黑" panose="020B0503020204020204" pitchFamily="34" charset="-122"/>
              </a:rPr>
              <a:t>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TextBox 1"/>
          <p:cNvSpPr txBox="1"/>
          <p:nvPr/>
        </p:nvSpPr>
        <p:spPr>
          <a:xfrm>
            <a:off x="675005" y="838835"/>
            <a:ext cx="10845800" cy="1014730"/>
          </a:xfrm>
          <a:prstGeom prst="rect">
            <a:avLst/>
          </a:prstGeom>
          <a:noFill/>
        </p:spPr>
        <p:txBody>
          <a:bodyPr wrap="square" rtlCol="0">
            <a:spAutoFit/>
          </a:bodyPr>
          <a:lstStyle/>
          <a:p>
            <a:pPr indent="457200"/>
            <a:r>
              <a:rPr lang="zh-CN" altLang="en-US" sz="2000" dirty="0"/>
              <a:t>总共得到86个交易月，第0行代表第0个交易月，该月的最小交易日为2010年1月4日，最大交易日为2010年1月29日。计算该月的涨跌情况可以用2010年1月29日的指数收盘价-2010年1月4日的指数收盘价得到，如果大于0，则表示该月指数上涨，用1表示，否则记为0。</a:t>
            </a:r>
            <a:endParaRPr lang="zh-CN" altLang="en-US" sz="2000" dirty="0"/>
          </a:p>
        </p:txBody>
      </p:sp>
      <p:sp>
        <p:nvSpPr>
          <p:cNvPr id="3" name="TextBox 2"/>
          <p:cNvSpPr txBox="1"/>
          <p:nvPr/>
        </p:nvSpPr>
        <p:spPr>
          <a:xfrm>
            <a:off x="140335" y="2012315"/>
            <a:ext cx="5838190" cy="4399915"/>
          </a:xfrm>
          <a:prstGeom prst="rect">
            <a:avLst/>
          </a:prstGeom>
          <a:noFill/>
        </p:spPr>
        <p:txBody>
          <a:bodyPr wrap="square" rtlCol="0">
            <a:spAutoFit/>
          </a:bodyPr>
          <a:lstStyle/>
          <a:p>
            <a:r>
              <a:rPr lang="en-US" altLang="zh-CN" sz="2000" dirty="0"/>
              <a:t>其计算算法如下：</a:t>
            </a:r>
            <a:endParaRPr lang="en-US" altLang="zh-CN" sz="2000" dirty="0"/>
          </a:p>
          <a:p>
            <a:r>
              <a:rPr lang="en-US" altLang="zh-CN" sz="2000" dirty="0"/>
              <a:t>输入：月最小交易日和最大交易日列表list1和list2、行业指数代码列表code、指数基本信息序列sname（值为行业名称，index为行业代码）</a:t>
            </a:r>
            <a:endParaRPr lang="en-US" altLang="zh-CN" sz="2000" dirty="0"/>
          </a:p>
          <a:p>
            <a:r>
              <a:rPr lang="en-US" altLang="zh-CN" sz="2000" dirty="0"/>
              <a:t>输出：每周指数涨跌情况数据</a:t>
            </a:r>
            <a:endParaRPr lang="en-US" altLang="zh-CN" sz="2000" dirty="0"/>
          </a:p>
          <a:p>
            <a:r>
              <a:rPr lang="en-US" altLang="zh-CN" sz="2000" dirty="0"/>
              <a:t>Step1：预定义一个空的字典D</a:t>
            </a:r>
            <a:endParaRPr lang="en-US" altLang="zh-CN" sz="2000" dirty="0"/>
          </a:p>
          <a:p>
            <a:r>
              <a:rPr lang="en-US" altLang="zh-CN" sz="2000" dirty="0"/>
              <a:t>Step2：对每一个行业代码，获取其对应的交易收盘价数据并按日期从小到大排序，同时一个长度与list1相同且元素全0的指数涨跌标识数组z，提取每月最大交易日对应的收盘价和最小交易日对应的收盘价并相减，将其值赋给z。对z中大于0的值修改为1，小于等于0的值修改为0。这样就得到了每个行业指数代码对应的涨跌标识数组z。以行业名称_up为键，z为值，依次添加到D中。</a:t>
            </a:r>
            <a:endParaRPr lang="en-US" altLang="zh-CN" sz="2000" dirty="0"/>
          </a:p>
        </p:txBody>
      </p:sp>
      <p:sp>
        <p:nvSpPr>
          <p:cNvPr id="4" name="文本框 3"/>
          <p:cNvSpPr txBox="1"/>
          <p:nvPr/>
        </p:nvSpPr>
        <p:spPr>
          <a:xfrm>
            <a:off x="6153150" y="2180590"/>
            <a:ext cx="5057140" cy="4399915"/>
          </a:xfrm>
          <a:prstGeom prst="rect">
            <a:avLst/>
          </a:prstGeom>
          <a:noFill/>
        </p:spPr>
        <p:txBody>
          <a:bodyPr wrap="square" rtlCol="0">
            <a:spAutoFit/>
          </a:bodyPr>
          <a:p>
            <a:r>
              <a:rPr lang="zh-CN" altLang="en-US" sz="2000"/>
              <a:t>for t = 1 to len(code)</a:t>
            </a:r>
            <a:endParaRPr lang="zh-CN" altLang="en-US" sz="2000"/>
          </a:p>
          <a:p>
            <a:r>
              <a:rPr lang="zh-CN" altLang="en-US" sz="2000"/>
              <a:t>   dt=第t个行业代码对应的交易日期和收盘价数据（按日期进行排序）</a:t>
            </a:r>
            <a:endParaRPr lang="zh-CN" altLang="en-US" sz="2000"/>
          </a:p>
          <a:p>
            <a:r>
              <a:rPr lang="zh-CN" altLang="en-US" sz="2000"/>
              <a:t>   for i =1 to len(z)</a:t>
            </a:r>
            <a:endParaRPr lang="zh-CN" altLang="en-US" sz="2000"/>
          </a:p>
          <a:p>
            <a:r>
              <a:rPr lang="zh-CN" altLang="en-US" sz="2000"/>
              <a:t>       a2=list2[i]对应的交易日期对应的收盘价，即月最大交易日收盘价</a:t>
            </a:r>
            <a:endParaRPr lang="zh-CN" altLang="en-US" sz="2000"/>
          </a:p>
          <a:p>
            <a:r>
              <a:rPr lang="zh-CN" altLang="en-US" sz="2000"/>
              <a:t>       a1=list1[i]对应的交易日期对应的收盘价，即月最小交易日收盘价</a:t>
            </a:r>
            <a:endParaRPr lang="zh-CN" altLang="en-US" sz="2000"/>
          </a:p>
          <a:p>
            <a:r>
              <a:rPr lang="zh-CN" altLang="en-US" sz="2000"/>
              <a:t>       z[i]=a2-a1</a:t>
            </a:r>
            <a:endParaRPr lang="zh-CN" altLang="en-US" sz="2000"/>
          </a:p>
          <a:p>
            <a:r>
              <a:rPr lang="zh-CN" altLang="en-US" sz="2000"/>
              <a:t>   z[z&gt;0]=1</a:t>
            </a:r>
            <a:endParaRPr lang="zh-CN" altLang="en-US" sz="2000"/>
          </a:p>
          <a:p>
            <a:r>
              <a:rPr lang="zh-CN" altLang="en-US" sz="2000"/>
              <a:t>   z[z&lt;=0]=0</a:t>
            </a:r>
            <a:endParaRPr lang="zh-CN" altLang="en-US" sz="2000"/>
          </a:p>
          <a:p>
            <a:r>
              <a:rPr lang="zh-CN" altLang="en-US" sz="2000"/>
              <a:t>   取第t个行业代码对应的行业名称作为键sname[code[t]]，z作为值，依次添加到D中</a:t>
            </a:r>
            <a:endParaRPr lang="zh-CN" altLang="en-US" sz="2000"/>
          </a:p>
          <a:p>
            <a:r>
              <a:rPr lang="zh-CN" altLang="en-US" sz="2000"/>
              <a:t>Step3：将D转化为数据框。</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11.6.1 </a:t>
            </a:r>
            <a:r>
              <a:rPr lang="zh-CN" altLang="en-US" sz="2800" dirty="0">
                <a:solidFill>
                  <a:schemeClr val="accent2"/>
                </a:solidFill>
                <a:latin typeface="微软雅黑" panose="020B0503020204020204" pitchFamily="34" charset="-122"/>
                <a:ea typeface="微软雅黑" panose="020B0503020204020204" pitchFamily="34" charset="-122"/>
              </a:rPr>
              <a:t>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3" name="TextBox 2"/>
          <p:cNvSpPr txBox="1"/>
          <p:nvPr/>
        </p:nvSpPr>
        <p:spPr>
          <a:xfrm>
            <a:off x="314960" y="795655"/>
            <a:ext cx="4972050" cy="6000750"/>
          </a:xfrm>
          <a:prstGeom prst="rect">
            <a:avLst/>
          </a:prstGeom>
          <a:noFill/>
        </p:spPr>
        <p:txBody>
          <a:bodyPr wrap="square" rtlCol="0">
            <a:spAutoFit/>
          </a:bodyPr>
          <a:lstStyle/>
          <a:p>
            <a:r>
              <a:rPr lang="en-US" altLang="zh-CN" sz="1600" dirty="0"/>
              <a:t>示例代码如下：</a:t>
            </a:r>
            <a:endParaRPr lang="en-US" altLang="zh-CN" sz="1600" dirty="0"/>
          </a:p>
          <a:p>
            <a:r>
              <a:rPr lang="en-US" altLang="zh-CN" sz="1600" dirty="0"/>
              <a:t>import pandas as pd</a:t>
            </a:r>
            <a:endParaRPr lang="en-US" altLang="zh-CN" sz="1600" dirty="0"/>
          </a:p>
          <a:p>
            <a:r>
              <a:rPr lang="en-US" altLang="zh-CN" sz="1600" dirty="0"/>
              <a:t>import numpy as np</a:t>
            </a:r>
            <a:endParaRPr lang="en-US" altLang="zh-CN" sz="1600" dirty="0"/>
          </a:p>
          <a:p>
            <a:r>
              <a:rPr lang="en-US" altLang="zh-CN" sz="1600" dirty="0"/>
              <a:t>x=pd.read_excel('交易日历数据表.xlsx')</a:t>
            </a:r>
            <a:endParaRPr lang="en-US" altLang="zh-CN" sz="1600" dirty="0"/>
          </a:p>
          <a:p>
            <a:r>
              <a:rPr lang="en-US" altLang="zh-CN" sz="1600" dirty="0"/>
              <a:t>x=x.iloc[:1741,:]</a:t>
            </a:r>
            <a:endParaRPr lang="en-US" altLang="zh-CN" sz="1600" dirty="0"/>
          </a:p>
          <a:p>
            <a:r>
              <a:rPr lang="en-US" altLang="zh-CN" sz="1600" dirty="0"/>
              <a:t>list1=[]</a:t>
            </a:r>
            <a:endParaRPr lang="en-US" altLang="zh-CN" sz="1600" dirty="0"/>
          </a:p>
          <a:p>
            <a:r>
              <a:rPr lang="en-US" altLang="zh-CN" sz="1600" dirty="0"/>
              <a:t>list2=[]</a:t>
            </a:r>
            <a:endParaRPr lang="en-US" altLang="zh-CN" sz="1600" dirty="0"/>
          </a:p>
          <a:p>
            <a:r>
              <a:rPr lang="en-US" altLang="zh-CN" sz="1600" dirty="0"/>
              <a:t>for y in np.arange(2010,2018):</a:t>
            </a:r>
            <a:endParaRPr lang="en-US" altLang="zh-CN" sz="1600" dirty="0"/>
          </a:p>
          <a:p>
            <a:r>
              <a:rPr lang="en-US" altLang="zh-CN" sz="1600" dirty="0"/>
              <a:t>    for m in np.arange(1,13):</a:t>
            </a:r>
            <a:endParaRPr lang="en-US" altLang="zh-CN" sz="1600" dirty="0"/>
          </a:p>
          <a:p>
            <a:r>
              <a:rPr lang="en-US" altLang="zh-CN" sz="1600" dirty="0"/>
              <a:t>        if m&lt;10:</a:t>
            </a:r>
            <a:endParaRPr lang="en-US" altLang="zh-CN" sz="1600" dirty="0"/>
          </a:p>
          <a:p>
            <a:r>
              <a:rPr lang="en-US" altLang="zh-CN" sz="1600" dirty="0"/>
              <a:t>          d1=str(y)+'-0'+str(m)+'-01'</a:t>
            </a:r>
            <a:endParaRPr lang="en-US" altLang="zh-CN" sz="1600" dirty="0"/>
          </a:p>
          <a:p>
            <a:r>
              <a:rPr lang="en-US" altLang="zh-CN" sz="1600" dirty="0"/>
              <a:t>          d2=str(y)+'-0'+str(m)+'-31'</a:t>
            </a:r>
            <a:endParaRPr lang="en-US" altLang="zh-CN" sz="1600" dirty="0"/>
          </a:p>
          <a:p>
            <a:r>
              <a:rPr lang="en-US" altLang="zh-CN" sz="1600" dirty="0"/>
              <a:t>        else:</a:t>
            </a:r>
            <a:endParaRPr lang="en-US" altLang="zh-CN" sz="1600" dirty="0"/>
          </a:p>
          <a:p>
            <a:r>
              <a:rPr lang="en-US" altLang="zh-CN" sz="1600" dirty="0"/>
              <a:t>          d1=str(y)+'-'+str(m)+'-01'</a:t>
            </a:r>
            <a:endParaRPr lang="en-US" altLang="zh-CN" sz="1600" dirty="0"/>
          </a:p>
          <a:p>
            <a:r>
              <a:rPr lang="en-US" altLang="zh-CN" sz="1600" dirty="0"/>
              <a:t>          d2=str(y)+'-'+str(m)+'-31'</a:t>
            </a:r>
            <a:endParaRPr lang="en-US" altLang="zh-CN" sz="1600" dirty="0"/>
          </a:p>
          <a:p>
            <a:r>
              <a:rPr lang="en-US" altLang="zh-CN" sz="1600" dirty="0"/>
              <a:t>        I1=x.iloc[:,1]&gt;=d1</a:t>
            </a:r>
            <a:endParaRPr lang="en-US" altLang="zh-CN" sz="1600" dirty="0"/>
          </a:p>
          <a:p>
            <a:r>
              <a:rPr lang="en-US" altLang="zh-CN" sz="1600" dirty="0"/>
              <a:t>        I2=x.iloc[:,1]&lt;=d2</a:t>
            </a:r>
            <a:endParaRPr lang="en-US" altLang="zh-CN" sz="1600" dirty="0"/>
          </a:p>
          <a:p>
            <a:r>
              <a:rPr lang="en-US" altLang="zh-CN" sz="1600" dirty="0"/>
              <a:t>        I=I1&amp;I2</a:t>
            </a:r>
            <a:endParaRPr lang="en-US" altLang="zh-CN" sz="1600" dirty="0"/>
          </a:p>
          <a:p>
            <a:r>
              <a:rPr lang="en-US" altLang="zh-CN" sz="1600" dirty="0"/>
              <a:t>        xs=x.iloc[I.values,[1]]['Clddt'].sort_values()</a:t>
            </a:r>
            <a:endParaRPr lang="en-US" altLang="zh-CN" sz="1600" dirty="0"/>
          </a:p>
          <a:p>
            <a:r>
              <a:rPr lang="en-US" altLang="zh-CN" sz="1600" dirty="0"/>
              <a:t>        if len(xs)&gt;1:</a:t>
            </a:r>
            <a:endParaRPr lang="en-US" altLang="zh-CN" sz="1600" dirty="0"/>
          </a:p>
          <a:p>
            <a:r>
              <a:rPr lang="en-US" altLang="zh-CN" sz="1600" dirty="0"/>
              <a:t>           list1.append(xs.values[0])</a:t>
            </a:r>
            <a:endParaRPr lang="en-US" altLang="zh-CN" sz="1600" dirty="0"/>
          </a:p>
          <a:p>
            <a:r>
              <a:rPr lang="en-US" altLang="zh-CN" sz="1600" dirty="0"/>
              <a:t>           list2.append(xs.values[len(xs)-1])</a:t>
            </a:r>
            <a:endParaRPr lang="en-US" altLang="zh-CN" sz="1600" dirty="0"/>
          </a:p>
          <a:p>
            <a:r>
              <a:rPr lang="en-US" altLang="zh-CN" sz="1600" dirty="0"/>
              <a:t>list1=list1[:-1]</a:t>
            </a:r>
            <a:endParaRPr lang="en-US" altLang="zh-CN" sz="1600" dirty="0"/>
          </a:p>
          <a:p>
            <a:r>
              <a:rPr lang="en-US" altLang="zh-CN" sz="1600" dirty="0"/>
              <a:t>list2=list2[:-1]</a:t>
            </a:r>
            <a:endParaRPr lang="en-US" altLang="zh-CN" sz="1600" dirty="0"/>
          </a:p>
        </p:txBody>
      </p:sp>
      <p:sp>
        <p:nvSpPr>
          <p:cNvPr id="4" name="文本框 3"/>
          <p:cNvSpPr txBox="1"/>
          <p:nvPr/>
        </p:nvSpPr>
        <p:spPr>
          <a:xfrm>
            <a:off x="5576570" y="795655"/>
            <a:ext cx="6144895" cy="5908040"/>
          </a:xfrm>
          <a:prstGeom prst="rect">
            <a:avLst/>
          </a:prstGeom>
          <a:noFill/>
        </p:spPr>
        <p:txBody>
          <a:bodyPr wrap="square" rtlCol="0">
            <a:spAutoFit/>
          </a:bodyPr>
          <a:p>
            <a:r>
              <a:rPr lang="zh-CN" altLang="en-US"/>
              <a:t>codename=pd.read_excel('指数基本信息表.xlsx')</a:t>
            </a:r>
            <a:endParaRPr lang="zh-CN" altLang="en-US"/>
          </a:p>
          <a:p>
            <a:r>
              <a:rPr lang="zh-CN" altLang="en-US"/>
              <a:t>sname=pd.Series(list(codename.iloc[:,1]),index=codename.iloc[:,0])</a:t>
            </a:r>
            <a:endParaRPr lang="zh-CN" altLang="en-US"/>
          </a:p>
          <a:p>
            <a:r>
              <a:rPr lang="zh-CN" altLang="en-US"/>
              <a:t>data=pd.read_excel('指数交易数据表20100104-20170307.xlsx')</a:t>
            </a:r>
            <a:endParaRPr lang="zh-CN" altLang="en-US"/>
          </a:p>
          <a:p>
            <a:r>
              <a:rPr lang="zh-CN" altLang="en-US"/>
              <a:t>code_record=data.iloc[:,0].value_counts()</a:t>
            </a:r>
            <a:endParaRPr lang="zh-CN" altLang="en-US"/>
          </a:p>
          <a:p>
            <a:r>
              <a:rPr lang="zh-CN" altLang="en-US"/>
              <a:t>code=list(code_record[code_record==1741].index)</a:t>
            </a:r>
            <a:endParaRPr lang="zh-CN" altLang="en-US"/>
          </a:p>
          <a:p>
            <a:r>
              <a:rPr lang="zh-CN" altLang="en-US"/>
              <a:t>import numpy as np</a:t>
            </a:r>
            <a:endParaRPr lang="zh-CN" altLang="en-US"/>
          </a:p>
          <a:p>
            <a:r>
              <a:rPr lang="zh-CN" altLang="en-US"/>
              <a:t>D=dict()</a:t>
            </a:r>
            <a:endParaRPr lang="zh-CN" altLang="en-US"/>
          </a:p>
          <a:p>
            <a:r>
              <a:rPr lang="zh-CN" altLang="en-US"/>
              <a:t>for t in range(len(code)):</a:t>
            </a:r>
            <a:endParaRPr lang="zh-CN" altLang="en-US"/>
          </a:p>
          <a:p>
            <a:r>
              <a:rPr lang="zh-CN" altLang="en-US"/>
              <a:t>   dt=data.loc[data['指数代码']==code[t],['交易日期','收盘价']].sort_values('交易日期')</a:t>
            </a:r>
            <a:endParaRPr lang="zh-CN" altLang="en-US"/>
          </a:p>
          <a:p>
            <a:r>
              <a:rPr lang="zh-CN" altLang="en-US"/>
              <a:t>   z=np.zeros((len(list1)))</a:t>
            </a:r>
            <a:endParaRPr lang="zh-CN" altLang="en-US"/>
          </a:p>
          <a:p>
            <a:r>
              <a:rPr lang="zh-CN" altLang="en-US"/>
              <a:t>   for i in range(len(z)):</a:t>
            </a:r>
            <a:endParaRPr lang="zh-CN" altLang="en-US"/>
          </a:p>
          <a:p>
            <a:r>
              <a:rPr lang="zh-CN" altLang="en-US"/>
              <a:t>       a2=dt.loc[dt['交易日期']==list2[i],['收盘价']]['收盘价']</a:t>
            </a:r>
            <a:endParaRPr lang="zh-CN" altLang="en-US"/>
          </a:p>
          <a:p>
            <a:r>
              <a:rPr lang="zh-CN" altLang="en-US"/>
              <a:t>       a1=dt.loc[dt['交易日期']==list1[i],['收盘价']]['收盘价']</a:t>
            </a:r>
            <a:endParaRPr lang="zh-CN" altLang="en-US"/>
          </a:p>
          <a:p>
            <a:r>
              <a:rPr lang="zh-CN" altLang="en-US"/>
              <a:t>       z[i]=a2.values-a1.values</a:t>
            </a:r>
            <a:endParaRPr lang="zh-CN" altLang="en-US"/>
          </a:p>
          <a:p>
            <a:r>
              <a:rPr lang="zh-CN" altLang="en-US"/>
              <a:t>   z[z&gt;0]=1</a:t>
            </a:r>
            <a:endParaRPr lang="zh-CN" altLang="en-US"/>
          </a:p>
          <a:p>
            <a:r>
              <a:rPr lang="zh-CN" altLang="en-US"/>
              <a:t>   z[z&lt;=0]=0</a:t>
            </a:r>
            <a:endParaRPr lang="zh-CN" altLang="en-US"/>
          </a:p>
          <a:p>
            <a:r>
              <a:rPr lang="zh-CN" altLang="en-US"/>
              <a:t>   D.setdefault(sname[code[t]]+'_up',z)</a:t>
            </a:r>
            <a:endParaRPr lang="zh-CN" altLang="en-US"/>
          </a:p>
          <a:p>
            <a:r>
              <a:rPr lang="zh-CN" altLang="en-US"/>
              <a:t>Data=pd.DataFrame(D)</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lang="en-US" altLang="zh-CN" sz="2800" dirty="0">
                <a:solidFill>
                  <a:schemeClr val="accent2"/>
                </a:solidFill>
                <a:latin typeface="微软雅黑" panose="020B0503020204020204" pitchFamily="34" charset="-122"/>
                <a:ea typeface="微软雅黑" panose="020B0503020204020204" pitchFamily="34" charset="-122"/>
              </a:rPr>
              <a:t>11.6.1 </a:t>
            </a:r>
            <a:r>
              <a:rPr lang="zh-CN" altLang="en-US" sz="2800" dirty="0">
                <a:solidFill>
                  <a:schemeClr val="accent2"/>
                </a:solidFill>
                <a:latin typeface="微软雅黑" panose="020B0503020204020204" pitchFamily="34" charset="-122"/>
                <a:ea typeface="微软雅黑" panose="020B0503020204020204" pitchFamily="34" charset="-122"/>
              </a:rPr>
              <a:t>指标计算</a:t>
            </a:r>
            <a:endParaRPr lang="zh-CN" altLang="en-US"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2" name="TextBox 1"/>
          <p:cNvSpPr txBox="1"/>
          <p:nvPr/>
        </p:nvSpPr>
        <p:spPr>
          <a:xfrm>
            <a:off x="534670" y="1060450"/>
            <a:ext cx="10335895" cy="460375"/>
          </a:xfrm>
          <a:prstGeom prst="rect">
            <a:avLst/>
          </a:prstGeom>
          <a:noFill/>
        </p:spPr>
        <p:txBody>
          <a:bodyPr wrap="square" rtlCol="0">
            <a:spAutoFit/>
          </a:bodyPr>
          <a:lstStyle/>
          <a:p>
            <a:pPr indent="457200" algn="ctr"/>
            <a:r>
              <a:rPr sz="2400" dirty="0"/>
              <a:t>最终得到结果如图11-7所示。</a:t>
            </a:r>
            <a:endParaRPr sz="2400"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573773" y="1676420"/>
            <a:ext cx="4258270" cy="3505690"/>
          </a:xfrm>
          <a:prstGeom prst="rect">
            <a:avLst/>
          </a:prstGeom>
        </p:spPr>
      </p:pic>
      <p:sp>
        <p:nvSpPr>
          <p:cNvPr id="3" name="文本框 2"/>
          <p:cNvSpPr txBox="1"/>
          <p:nvPr/>
        </p:nvSpPr>
        <p:spPr>
          <a:xfrm>
            <a:off x="3154045" y="5494020"/>
            <a:ext cx="5392420" cy="368300"/>
          </a:xfrm>
          <a:prstGeom prst="rect">
            <a:avLst/>
          </a:prstGeom>
          <a:noFill/>
        </p:spPr>
        <p:txBody>
          <a:bodyPr wrap="square" rtlCol="0">
            <a:spAutoFit/>
          </a:bodyPr>
          <a:p>
            <a:pPr algn="ctr"/>
            <a:r>
              <a:rPr lang="zh-CN" altLang="en-US"/>
              <a:t> 图11-7</a:t>
            </a:r>
            <a:endParaRPr lang="zh-CN" altLang="en-US"/>
          </a:p>
        </p:txBody>
      </p:sp>
      <p:pic>
        <p:nvPicPr>
          <p:cNvPr id="172" name="图片 172"/>
          <p:cNvPicPr>
            <a:picLocks noChangeAspect="1"/>
          </p:cNvPicPr>
          <p:nvPr/>
        </p:nvPicPr>
        <p:blipFill>
          <a:blip r:embed="rId2" cstate="print"/>
          <a:stretch>
            <a:fillRect/>
          </a:stretch>
        </p:blipFill>
        <p:spPr>
          <a:xfrm>
            <a:off x="3641090" y="1590993"/>
            <a:ext cx="4914265" cy="3676015"/>
          </a:xfrm>
          <a:prstGeom prst="rect">
            <a:avLst/>
          </a:prstGeom>
        </p:spPr>
      </p:pic>
      <p:sp>
        <p:nvSpPr>
          <p:cNvPr id="5" name="文本框 4"/>
          <p:cNvSpPr txBox="1"/>
          <p:nvPr/>
        </p:nvSpPr>
        <p:spPr>
          <a:xfrm>
            <a:off x="3154045" y="5862320"/>
            <a:ext cx="6649085" cy="645160"/>
          </a:xfrm>
          <a:prstGeom prst="rect">
            <a:avLst/>
          </a:prstGeom>
          <a:noFill/>
        </p:spPr>
        <p:txBody>
          <a:bodyPr wrap="square" rtlCol="0">
            <a:spAutoFit/>
          </a:bodyPr>
          <a:p>
            <a:pPr indent="457200" eaLnBrk="1" latinLnBrk="0" hangingPunct="1">
              <a:extLst>
                <a:ext uri="{35155182-B16C-46BC-9424-99874614C6A1}">
                  <wpsdc:indentchars xmlns:wpsdc="http://www.wps.cn/officeDocument/2017/drawingmlCustomData" val="200" checksum="59296752"/>
                </a:ext>
              </a:extLst>
            </a:pPr>
            <a:r>
              <a:rPr lang="zh-CN" altLang="en-US"/>
              <a:t>从图中可以看出，以交通运输业为例，则第0、2、3、4、5、7、10个交易月表示该行业下跌，第1、6、8、9个交易月为上涨。</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sz="2800" dirty="0">
                <a:solidFill>
                  <a:schemeClr val="accent2"/>
                </a:solidFill>
                <a:latin typeface="微软雅黑" panose="020B0503020204020204" pitchFamily="34" charset="-122"/>
                <a:ea typeface="微软雅黑" panose="020B0503020204020204" pitchFamily="34" charset="-122"/>
              </a:rPr>
              <a:t>11.6.2 行业联动关联规则挖掘</a:t>
            </a:r>
            <a:endParaRPr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3" name="TextBox 2"/>
          <p:cNvSpPr txBox="1"/>
          <p:nvPr/>
        </p:nvSpPr>
        <p:spPr>
          <a:xfrm>
            <a:off x="337185" y="773430"/>
            <a:ext cx="3994150" cy="6000750"/>
          </a:xfrm>
          <a:prstGeom prst="rect">
            <a:avLst/>
          </a:prstGeom>
          <a:noFill/>
        </p:spPr>
        <p:txBody>
          <a:bodyPr wrap="square" rtlCol="0">
            <a:spAutoFit/>
          </a:bodyPr>
          <a:lstStyle/>
          <a:p>
            <a:r>
              <a:rPr lang="en-US" altLang="zh-CN" sz="2400" dirty="0"/>
              <a:t>调用apriori关联规则挖掘算法，示例代码如下：</a:t>
            </a:r>
            <a:endParaRPr lang="en-US" altLang="zh-CN" sz="2400" dirty="0"/>
          </a:p>
          <a:p>
            <a:r>
              <a:rPr lang="en-US" altLang="zh-CN" sz="2400" dirty="0"/>
              <a:t>import apriori as ap   #导入关联规则算法程序</a:t>
            </a:r>
            <a:endParaRPr lang="en-US" altLang="zh-CN" sz="2400" dirty="0"/>
          </a:p>
          <a:p>
            <a:r>
              <a:rPr lang="en-US" altLang="zh-CN" sz="2400" dirty="0"/>
              <a:t>support = 0.47 #最小支持度</a:t>
            </a:r>
            <a:endParaRPr lang="en-US" altLang="zh-CN" sz="2400" dirty="0"/>
          </a:p>
          <a:p>
            <a:r>
              <a:rPr lang="en-US" altLang="zh-CN" sz="2400" dirty="0"/>
              <a:t>confidence = 0.9 #最小置信度</a:t>
            </a:r>
            <a:endParaRPr lang="en-US" altLang="zh-CN" sz="2400" dirty="0"/>
          </a:p>
          <a:p>
            <a:r>
              <a:rPr lang="en-US" altLang="zh-CN" sz="2400" dirty="0"/>
              <a:t>ms = '--' #连接符，</a:t>
            </a:r>
            <a:endParaRPr lang="en-US" altLang="zh-CN" sz="2400" dirty="0"/>
          </a:p>
          <a:p>
            <a:r>
              <a:rPr lang="en-US" altLang="zh-CN" sz="2400" dirty="0"/>
              <a:t>outputfile = 'apriori_rules3.xls' #结果文件</a:t>
            </a:r>
            <a:endParaRPr lang="en-US" altLang="zh-CN" sz="2400" dirty="0"/>
          </a:p>
          <a:p>
            <a:r>
              <a:rPr lang="en-US" altLang="zh-CN" sz="2400" dirty="0"/>
              <a:t>ap.find_rule(Data, support, confidence, ms).to_excel(outputfile) #调用关联规则挖掘函数</a:t>
            </a:r>
            <a:endParaRPr lang="en-US" altLang="zh-CN" sz="2400" dirty="0"/>
          </a:p>
          <a:p>
            <a:r>
              <a:rPr lang="en-US" altLang="zh-CN" sz="2400" dirty="0"/>
              <a:t>结果如下表11-8所示。</a:t>
            </a:r>
            <a:endParaRPr lang="en-US" altLang="zh-CN" sz="2400" dirty="0"/>
          </a:p>
        </p:txBody>
      </p:sp>
      <p:sp>
        <p:nvSpPr>
          <p:cNvPr id="4" name="文本框 3"/>
          <p:cNvSpPr txBox="1"/>
          <p:nvPr/>
        </p:nvSpPr>
        <p:spPr>
          <a:xfrm>
            <a:off x="5664835" y="1195070"/>
            <a:ext cx="6101080" cy="368300"/>
          </a:xfrm>
          <a:prstGeom prst="rect">
            <a:avLst/>
          </a:prstGeom>
          <a:noFill/>
        </p:spPr>
        <p:txBody>
          <a:bodyPr wrap="square" rtlCol="0">
            <a:spAutoFit/>
          </a:bodyPr>
          <a:p>
            <a:pPr algn="ctr"/>
            <a:r>
              <a:rPr lang="zh-CN" altLang="en-US"/>
              <a:t> 表11-8  月行业联动规则</a:t>
            </a:r>
            <a:endParaRPr lang="zh-CN" altLang="en-US"/>
          </a:p>
        </p:txBody>
      </p:sp>
      <p:graphicFrame>
        <p:nvGraphicFramePr>
          <p:cNvPr id="2" name="表格 1"/>
          <p:cNvGraphicFramePr/>
          <p:nvPr>
            <p:custDataLst>
              <p:tags r:id="rId1"/>
            </p:custDataLst>
          </p:nvPr>
        </p:nvGraphicFramePr>
        <p:xfrm>
          <a:off x="5664835" y="1616075"/>
          <a:ext cx="6297930" cy="4587875"/>
        </p:xfrm>
        <a:graphic>
          <a:graphicData uri="http://schemas.openxmlformats.org/drawingml/2006/table">
            <a:tbl>
              <a:tblPr firstRow="1" bandRow="1">
                <a:tableStyleId>{5940675A-B579-460E-94D1-54222C63F5DA}</a:tableStyleId>
              </a:tblPr>
              <a:tblGrid>
                <a:gridCol w="669290"/>
                <a:gridCol w="2619375"/>
                <a:gridCol w="1309370"/>
                <a:gridCol w="1699895"/>
              </a:tblGrid>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ID</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rule</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ctr">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support</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confidence</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采掘_up--家用电器_up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0.955555556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综合_up--轻工制造_up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0.47674419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0.953488372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机械设备_up--家用电器_up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0.51162791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0.936170213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计算机_up--电子元器件_up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0.934782609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房地产_up--家用电器_up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0.48837209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0.933333333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房地产_up--建筑材料_up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0.48837209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0.933333333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纺织服装_up--轻工制造_up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0.48837209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0.933333333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化工_up--汽车_up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0.47674419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0.931818182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化工_up--轻工制造_up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0.47674419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0.931818182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10</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电子元器件_up--计算机_up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0.914893617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计算机_up--医药生物_up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0.48837209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0.913043478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建筑材料_up--家用电器_up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0.48837209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0.913043478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有色金属_up--家用电器_up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0.48837209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0.913043478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建筑材料_up--房地产_up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0.48837209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0.913043478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采掘_up--有色金属_up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0.47674419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0.911111111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269875">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纺织服装_up--汽车_up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0.47674419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0.911111111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1330766" y="44625"/>
            <a:ext cx="5042228" cy="520700"/>
          </a:xfrm>
          <a:prstGeom prst="rect">
            <a:avLst/>
          </a:prstGeom>
          <a:noFill/>
        </p:spPr>
        <p:txBody>
          <a:bodyPr wrap="square" lIns="91434" tIns="45717" rIns="91434" bIns="45717"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r>
              <a:rPr sz="2800" dirty="0">
                <a:solidFill>
                  <a:schemeClr val="accent2"/>
                </a:solidFill>
                <a:latin typeface="微软雅黑" panose="020B0503020204020204" pitchFamily="34" charset="-122"/>
                <a:ea typeface="微软雅黑" panose="020B0503020204020204" pitchFamily="34" charset="-122"/>
              </a:rPr>
              <a:t>11.6.3 行业轮动关联规则挖掘</a:t>
            </a:r>
            <a:endParaRPr sz="2800" dirty="0">
              <a:solidFill>
                <a:schemeClr val="accent2"/>
              </a:solidFill>
              <a:latin typeface="微软雅黑" panose="020B0503020204020204" pitchFamily="34" charset="-122"/>
              <a:ea typeface="微软雅黑" panose="020B0503020204020204" pitchFamily="34" charset="-122"/>
            </a:endParaRPr>
          </a:p>
        </p:txBody>
      </p:sp>
      <p:sp>
        <p:nvSpPr>
          <p:cNvPr id="56" name="TextBox 55"/>
          <p:cNvSpPr txBox="1"/>
          <p:nvPr/>
        </p:nvSpPr>
        <p:spPr>
          <a:xfrm>
            <a:off x="140263" y="106179"/>
            <a:ext cx="1064260" cy="397510"/>
          </a:xfrm>
          <a:prstGeom prst="rect">
            <a:avLst/>
          </a:prstGeom>
          <a:noFill/>
        </p:spPr>
        <p:txBody>
          <a:bodyPr wrap="square" lIns="91434" tIns="45717" rIns="91434" bIns="45717" rtlCol="0">
            <a:spAutoFit/>
          </a:bodyPr>
          <a:lstStyle/>
          <a:p>
            <a:pPr algn="r"/>
            <a:r>
              <a:rPr lang="en-US" altLang="zh-CN" sz="2000" dirty="0">
                <a:solidFill>
                  <a:schemeClr val="accent2"/>
                </a:solidFill>
              </a:rPr>
              <a:t>Part 11</a:t>
            </a:r>
            <a:r>
              <a:rPr lang="en-US" altLang="zh-CN" dirty="0">
                <a:solidFill>
                  <a:schemeClr val="accent2"/>
                </a:solidFill>
              </a:rPr>
              <a:t> </a:t>
            </a:r>
            <a:endParaRPr lang="zh-CN" altLang="en-US" dirty="0">
              <a:solidFill>
                <a:schemeClr val="accent2"/>
              </a:solidFill>
            </a:endParaRPr>
          </a:p>
        </p:txBody>
      </p:sp>
      <p:sp>
        <p:nvSpPr>
          <p:cNvPr id="3" name="TextBox 2"/>
          <p:cNvSpPr txBox="1"/>
          <p:nvPr/>
        </p:nvSpPr>
        <p:spPr>
          <a:xfrm>
            <a:off x="337185" y="773430"/>
            <a:ext cx="2661920" cy="5262245"/>
          </a:xfrm>
          <a:prstGeom prst="rect">
            <a:avLst/>
          </a:prstGeom>
          <a:noFill/>
        </p:spPr>
        <p:txBody>
          <a:bodyPr wrap="square" rtlCol="0">
            <a:spAutoFit/>
          </a:bodyPr>
          <a:lstStyle/>
          <a:p>
            <a:r>
              <a:rPr lang="en-US" altLang="zh-CN" sz="2400" dirty="0"/>
              <a:t>同日行业轮动关联规则挖掘类似，我们调用定义的函数rule，设置最小支持度和最小置信度分别大于0.2和0.67，示例代码如下：</a:t>
            </a:r>
            <a:endParaRPr lang="en-US" altLang="zh-CN" sz="2400" dirty="0"/>
          </a:p>
          <a:p>
            <a:r>
              <a:rPr lang="en-US" altLang="zh-CN" sz="2400" dirty="0"/>
              <a:t>import OneRule as OR</a:t>
            </a:r>
            <a:endParaRPr lang="en-US" altLang="zh-CN" sz="2400" dirty="0"/>
          </a:p>
          <a:p>
            <a:r>
              <a:rPr lang="en-US" altLang="zh-CN" sz="2400" dirty="0"/>
              <a:t>r=OR.rule(Data,0.2,0.67)</a:t>
            </a:r>
            <a:endParaRPr lang="en-US" altLang="zh-CN" sz="2400" dirty="0"/>
          </a:p>
          <a:p>
            <a:r>
              <a:rPr lang="en-US" altLang="zh-CN" sz="2400" dirty="0"/>
              <a:t>结果如下表11-9所示。</a:t>
            </a:r>
            <a:endParaRPr lang="en-US" altLang="zh-CN" sz="2400" dirty="0"/>
          </a:p>
        </p:txBody>
      </p:sp>
      <p:sp>
        <p:nvSpPr>
          <p:cNvPr id="4" name="文本框 3"/>
          <p:cNvSpPr txBox="1"/>
          <p:nvPr/>
        </p:nvSpPr>
        <p:spPr>
          <a:xfrm>
            <a:off x="5664835" y="773430"/>
            <a:ext cx="6101080" cy="368300"/>
          </a:xfrm>
          <a:prstGeom prst="rect">
            <a:avLst/>
          </a:prstGeom>
          <a:noFill/>
        </p:spPr>
        <p:txBody>
          <a:bodyPr wrap="square" rtlCol="0">
            <a:spAutoFit/>
          </a:bodyPr>
          <a:p>
            <a:pPr algn="ctr"/>
            <a:r>
              <a:rPr lang="zh-CN" altLang="en-US"/>
              <a:t>表11-9  月行业轮动关联规则</a:t>
            </a:r>
            <a:endParaRPr lang="zh-CN" altLang="en-US"/>
          </a:p>
        </p:txBody>
      </p:sp>
      <p:graphicFrame>
        <p:nvGraphicFramePr>
          <p:cNvPr id="5" name="表格 4"/>
          <p:cNvGraphicFramePr/>
          <p:nvPr>
            <p:custDataLst>
              <p:tags r:id="rId1"/>
            </p:custDataLst>
          </p:nvPr>
        </p:nvGraphicFramePr>
        <p:xfrm>
          <a:off x="4865052" y="1422400"/>
          <a:ext cx="5918200" cy="3835400"/>
        </p:xfrm>
        <a:graphic>
          <a:graphicData uri="http://schemas.openxmlformats.org/drawingml/2006/table">
            <a:tbl>
              <a:tblPr firstRow="1" bandRow="1">
                <a:tableStyleId>{5940675A-B579-460E-94D1-54222C63F5DA}</a:tableStyleId>
              </a:tblPr>
              <a:tblGrid>
                <a:gridCol w="795020"/>
                <a:gridCol w="2385060"/>
                <a:gridCol w="1118870"/>
                <a:gridCol w="1619250"/>
              </a:tblGrid>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ID</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rule</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support</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confidence</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交通运输_up--家用电器_up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0.270588235</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w="12700" cap="flat" cmpd="sng">
                      <a:solidFill>
                        <a:srgbClr val="080000"/>
                      </a:solidFill>
                      <a:prstDash val="solid"/>
                      <a:headEnd type="none" w="med" len="med"/>
                      <a:tailEnd type="none" w="med" len="med"/>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0.676470588</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w="12700" cap="flat" cmpd="sng">
                      <a:solidFill>
                        <a:srgbClr val="080000"/>
                      </a:solidFill>
                      <a:prstDash val="solid"/>
                      <a:headEnd type="none" w="med" len="med"/>
                      <a:tailEnd type="none" w="med" len="med"/>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公用事业_up--家用电器_up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0.341176471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0.674418605</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2</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农林牧渔_up--家用电器_up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0.329411765</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0.682926829</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3</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化工_up--家用电器_up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0.341176471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0.674418605</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商业贸易_up--家用电器_up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0.329411765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0.717948718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5</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国防军工_up--医药生物_up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0.341176471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0.69047619</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6</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国防军工_up--家用电器_up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0.341176471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0.69047619</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7</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家用电器_up--家用电器_up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0.411764706</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0.68627451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8</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建筑装饰_up--医药生物_up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0.329411765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9</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建筑装饰_up--家用电器_up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0.329411765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10</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机械设备_up--家用电器_up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0.364705882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0.673913043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11</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汽车_up--家用电器_up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0.411764706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12</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电子元器件_up--家用电器_up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0.364705882</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0.673913043</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13</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通信_up--家用电器_up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0.352941176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0.714285714</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14</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通信_up--汽车_up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0.341176471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0.69047619</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采掘_up--家用电器_up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0.364705882</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0.704545455</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16</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非银金融_up--医药生物_up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0.329411765</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0.682926829</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17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非银金融_up--家用电器_up</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0.352941176</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cap="flat">
                      <a:noFill/>
                    </a:lnB>
                    <a:lnTlToBr>
                      <a:noFill/>
                    </a:lnTlToBr>
                    <a:lnBlToTr>
                      <a:noFill/>
                    </a:lnBlToTr>
                    <a:noFill/>
                  </a:tcPr>
                </a:tc>
                <a:tc>
                  <a:txBody>
                    <a:bodyPr/>
                    <a:p>
                      <a:pPr indent="0">
                        <a:buNone/>
                      </a:pPr>
                      <a:r>
                        <a:rPr lang="en-US" sz="1000" b="0">
                          <a:latin typeface="宋体" panose="02010600030101010101" pitchFamily="2" charset="-122"/>
                          <a:ea typeface="宋体" panose="02010600030101010101" pitchFamily="2" charset="-122"/>
                          <a:cs typeface="宋体" panose="02010600030101010101" pitchFamily="2" charset="-122"/>
                        </a:rPr>
                        <a:t>0.731707317</a:t>
                      </a:r>
                      <a:endParaRPr lang="en-US" altLang="en-US" sz="10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cap="flat">
                      <a:noFill/>
                    </a:lnB>
                    <a:lnTlToBr>
                      <a:noFill/>
                    </a:lnTlToBr>
                    <a:lnBlToTr>
                      <a:noFill/>
                    </a:lnBlToTr>
                    <a:noFill/>
                  </a:tcPr>
                </a:tc>
              </a:tr>
              <a:tr h="191770">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18</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t">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餐饮旅游_up--家用电器_up</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0.341176471</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a:noFill/>
                    </a:lnR>
                    <a:lnT cap="flat">
                      <a:noFill/>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宋体" panose="02010600030101010101" pitchFamily="2" charset="-122"/>
                          <a:ea typeface="宋体" panose="02010600030101010101" pitchFamily="2" charset="-122"/>
                          <a:cs typeface="宋体" panose="02010600030101010101" pitchFamily="2" charset="-122"/>
                        </a:rPr>
                        <a:t>0.674418605</a:t>
                      </a:r>
                      <a:endParaRPr lang="en-US" altLang="en-US" sz="10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vert="horz" anchor="b">
                    <a:lnL>
                      <a:noFill/>
                    </a:lnL>
                    <a:lnR cap="flat">
                      <a:noFill/>
                    </a:lnR>
                    <a:lnT cap="flat">
                      <a:noFill/>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
        <p:nvSpPr>
          <p:cNvPr id="6" name="文本框 5"/>
          <p:cNvSpPr txBox="1"/>
          <p:nvPr/>
        </p:nvSpPr>
        <p:spPr>
          <a:xfrm>
            <a:off x="3743960" y="5427980"/>
            <a:ext cx="8021955" cy="1014730"/>
          </a:xfrm>
          <a:prstGeom prst="rect">
            <a:avLst/>
          </a:prstGeom>
          <a:noFill/>
        </p:spPr>
        <p:txBody>
          <a:bodyPr wrap="square" rtlCol="0">
            <a:spAutoFit/>
          </a:bodyPr>
          <a:p>
            <a:pPr indent="508000" eaLnBrk="1" latinLnBrk="0" hangingPunct="1">
              <a:extLst>
                <a:ext uri="{35155182-B16C-46BC-9424-99874614C6A1}">
                  <wpsdc:indentchars xmlns:wpsdc="http://www.wps.cn/officeDocument/2017/drawingmlCustomData" val="200" checksum="282533468"/>
                </a:ext>
              </a:extLst>
            </a:pPr>
            <a:r>
              <a:rPr lang="zh-CN" altLang="en-US" sz="2000"/>
              <a:t>从结果可以看出，置信度大于0.67的关联规则一共有19条，其中置信度在0.7以上的有7条。从挖掘的结果来看，对比日、周两个周期，月行业轮动的关联规则可预测性最强。</a:t>
            </a:r>
            <a:endParaRPr lang="zh-CN" altLang="en-US" sz="2000"/>
          </a:p>
        </p:txBody>
      </p:sp>
    </p:spTree>
  </p:cSld>
  <p:clrMapOvr>
    <a:masterClrMapping/>
  </p:clrMapOvr>
  <mc:AlternateContent xmlns:mc="http://schemas.openxmlformats.org/markup-compatibility/2006">
    <mc:Choice xmlns:p14="http://schemas.microsoft.com/office/powerpoint/2010/main" Requires="p14">
      <p:transition p14:dur="10" advTm="9437"/>
    </mc:Choice>
    <mc:Fallback>
      <p:transition advTm="9437"/>
    </mc:Fallback>
  </mc:AlternateContent>
  <p:timing>
    <p:tnLst>
      <p:par>
        <p:cTn id="1" dur="indefinite" restart="never" nodeType="tmRoot"/>
      </p:par>
    </p:tnLst>
  </p:timing>
</p:sld>
</file>

<file path=ppt/tags/tag1.xml><?xml version="1.0" encoding="utf-8"?>
<p:tagLst xmlns:p="http://schemas.openxmlformats.org/presentationml/2006/main">
  <p:tag name="KSO_WM_UNIT_TABLE_BEAUTIFY" val="smartTable{94466392-bbe5-49c6-96d2-9143669b3258}"/>
</p:tagLst>
</file>

<file path=ppt/tags/tag2.xml><?xml version="1.0" encoding="utf-8"?>
<p:tagLst xmlns:p="http://schemas.openxmlformats.org/presentationml/2006/main">
  <p:tag name="KSO_WM_UNIT_TABLE_BEAUTIFY" val="smartTable{deadfc68-7194-409c-96db-ec56ef3f6142}"/>
</p:tagLst>
</file>

<file path=ppt/tags/tag3.xml><?xml version="1.0" encoding="utf-8"?>
<p:tagLst xmlns:p="http://schemas.openxmlformats.org/presentationml/2006/main">
  <p:tag name="KSO_WM_UNIT_TABLE_BEAUTIFY" val="smartTable{999ba21c-52e9-4b24-a091-999c2bb2efe4}"/>
</p:tagLst>
</file>

<file path=ppt/tags/tag4.xml><?xml version="1.0" encoding="utf-8"?>
<p:tagLst xmlns:p="http://schemas.openxmlformats.org/presentationml/2006/main">
  <p:tag name="KSO_WM_UNIT_TABLE_BEAUTIFY" val="smartTable{caf9d253-8f20-48ee-b7e2-b547defd42a1}"/>
</p:tagLst>
</file>

<file path=ppt/theme/theme1.xml><?xml version="1.0" encoding="utf-8"?>
<a:theme xmlns:a="http://schemas.openxmlformats.org/drawingml/2006/main" name="第一PPT，www.1ppt.com">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9680</Words>
  <Application>WPS 演示</Application>
  <PresentationFormat>自定义</PresentationFormat>
  <Paragraphs>825</Paragraphs>
  <Slides>18</Slides>
  <Notes>42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宋体</vt:lpstr>
      <vt:lpstr>Wingdings</vt:lpstr>
      <vt:lpstr>微软雅黑</vt:lpstr>
      <vt:lpstr>仿宋_GB2312</vt:lpstr>
      <vt:lpstr>Calibri</vt:lpstr>
      <vt:lpstr>Calibri</vt:lpstr>
      <vt:lpstr>方正卡通简体</vt:lpstr>
      <vt:lpstr>Arial Unicode MS</vt:lpstr>
      <vt:lpstr>仿宋</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商业融资计划书</dc:title>
  <dc:creator>第一PPT</dc:creator>
  <cp:keywords>www.1ppt.com</cp:keywords>
  <cp:lastModifiedBy>qzuser</cp:lastModifiedBy>
  <cp:revision>1583</cp:revision>
  <dcterms:created xsi:type="dcterms:W3CDTF">2013-01-25T01:44:00Z</dcterms:created>
  <dcterms:modified xsi:type="dcterms:W3CDTF">2019-12-13T12:26:59Z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2052-11.1.0.9292</vt:lpwstr>
  </property>
</Properties>
</file>