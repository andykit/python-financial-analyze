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914" r:id="rId2"/>
    <p:sldId id="828" r:id="rId3"/>
    <p:sldId id="933" r:id="rId4"/>
    <p:sldId id="922" r:id="rId5"/>
    <p:sldId id="934" r:id="rId6"/>
    <p:sldId id="924" r:id="rId7"/>
    <p:sldId id="855" r:id="rId8"/>
    <p:sldId id="927" r:id="rId9"/>
    <p:sldId id="935" r:id="rId10"/>
    <p:sldId id="936" r:id="rId11"/>
    <p:sldId id="937" r:id="rId12"/>
    <p:sldId id="928" r:id="rId13"/>
    <p:sldId id="938" r:id="rId14"/>
  </p:sldIdLst>
  <p:sldSz cx="12196763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 尚佳" initials="张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8F8F8"/>
    <a:srgbClr val="17DCF1"/>
    <a:srgbClr val="0DC2D5"/>
    <a:srgbClr val="006BBC"/>
    <a:srgbClr val="00AAA2"/>
    <a:srgbClr val="EFEFEF"/>
    <a:srgbClr val="FFFFFF"/>
    <a:srgbClr val="F0F0F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044" autoAdjust="0"/>
    <p:restoredTop sz="94270" autoAdjust="0"/>
  </p:normalViewPr>
  <p:slideViewPr>
    <p:cSldViewPr snapToObjects="1">
      <p:cViewPr varScale="1">
        <p:scale>
          <a:sx n="89" d="100"/>
          <a:sy n="89" d="100"/>
        </p:scale>
        <p:origin x="-222" y="-108"/>
      </p:cViewPr>
      <p:guideLst>
        <p:guide orient="horz" pos="2143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Objects="1">
      <p:cViewPr varScale="1">
        <p:scale>
          <a:sx n="69" d="100"/>
          <a:sy n="69" d="100"/>
        </p:scale>
        <p:origin x="-283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10686-844B-4A1B-87C8-BB90DB4BAB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8977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fld id="{B9EEDA17-7CE7-49CA-897E-A1888A19DA62}" type="datetimeFigureOut">
              <a:rPr lang="zh-CN" altLang="en-US"/>
              <a:t>2020/1/12</a:t>
            </a:fld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/>
            </a:lvl1pPr>
          </a:lstStyle>
          <a:p>
            <a:fld id="{CE1689F0-D8FB-450F-A36F-553F26501FEE}" type="slidenum">
              <a:rPr lang="zh-CN" alt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9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6170389" y="134946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625" y="908051"/>
            <a:ext cx="10601349" cy="635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5625" y="1600201"/>
            <a:ext cx="10601349" cy="45259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Freeform 5"/>
          <p:cNvSpPr/>
          <p:nvPr userDrawn="1"/>
        </p:nvSpPr>
        <p:spPr bwMode="auto">
          <a:xfrm>
            <a:off x="63836" y="73173"/>
            <a:ext cx="1227153" cy="486467"/>
          </a:xfrm>
          <a:custGeom>
            <a:avLst/>
            <a:gdLst>
              <a:gd name="T0" fmla="*/ 0 w 1600"/>
              <a:gd name="T1" fmla="*/ 0 h 617"/>
              <a:gd name="T2" fmla="*/ 1429 w 1600"/>
              <a:gd name="T3" fmla="*/ 0 h 617"/>
              <a:gd name="T4" fmla="*/ 1600 w 1600"/>
              <a:gd name="T5" fmla="*/ 308 h 617"/>
              <a:gd name="T6" fmla="*/ 1429 w 1600"/>
              <a:gd name="T7" fmla="*/ 617 h 617"/>
              <a:gd name="T8" fmla="*/ 0 w 1600"/>
              <a:gd name="T9" fmla="*/ 617 h 617"/>
              <a:gd name="T10" fmla="*/ 0 w 160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00" h="617">
                <a:moveTo>
                  <a:pt x="0" y="0"/>
                </a:moveTo>
                <a:lnTo>
                  <a:pt x="1429" y="0"/>
                </a:lnTo>
                <a:lnTo>
                  <a:pt x="1600" y="308"/>
                </a:lnTo>
                <a:lnTo>
                  <a:pt x="1429" y="617"/>
                </a:lnTo>
                <a:lnTo>
                  <a:pt x="0" y="617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 userDrawn="1"/>
        </p:nvSpPr>
        <p:spPr bwMode="auto">
          <a:xfrm>
            <a:off x="1196835" y="73173"/>
            <a:ext cx="10215809" cy="486467"/>
          </a:xfrm>
          <a:custGeom>
            <a:avLst/>
            <a:gdLst>
              <a:gd name="T0" fmla="*/ 0 w 13327"/>
              <a:gd name="T1" fmla="*/ 0 h 617"/>
              <a:gd name="T2" fmla="*/ 13155 w 13327"/>
              <a:gd name="T3" fmla="*/ 0 h 617"/>
              <a:gd name="T4" fmla="*/ 13327 w 13327"/>
              <a:gd name="T5" fmla="*/ 308 h 617"/>
              <a:gd name="T6" fmla="*/ 13155 w 13327"/>
              <a:gd name="T7" fmla="*/ 617 h 617"/>
              <a:gd name="T8" fmla="*/ 0 w 13327"/>
              <a:gd name="T9" fmla="*/ 617 h 617"/>
              <a:gd name="T10" fmla="*/ 171 w 13327"/>
              <a:gd name="T11" fmla="*/ 308 h 617"/>
              <a:gd name="T12" fmla="*/ 0 w 13327"/>
              <a:gd name="T13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27" h="617">
                <a:moveTo>
                  <a:pt x="0" y="0"/>
                </a:moveTo>
                <a:lnTo>
                  <a:pt x="13155" y="0"/>
                </a:lnTo>
                <a:lnTo>
                  <a:pt x="13327" y="308"/>
                </a:lnTo>
                <a:lnTo>
                  <a:pt x="13155" y="617"/>
                </a:lnTo>
                <a:lnTo>
                  <a:pt x="0" y="617"/>
                </a:lnTo>
                <a:lnTo>
                  <a:pt x="171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 userDrawn="1"/>
        </p:nvSpPr>
        <p:spPr bwMode="auto">
          <a:xfrm>
            <a:off x="11320057" y="73173"/>
            <a:ext cx="812871" cy="486467"/>
          </a:xfrm>
          <a:custGeom>
            <a:avLst/>
            <a:gdLst>
              <a:gd name="T0" fmla="*/ 0 w 1060"/>
              <a:gd name="T1" fmla="*/ 0 h 617"/>
              <a:gd name="T2" fmla="*/ 1060 w 1060"/>
              <a:gd name="T3" fmla="*/ 0 h 617"/>
              <a:gd name="T4" fmla="*/ 1060 w 1060"/>
              <a:gd name="T5" fmla="*/ 617 h 617"/>
              <a:gd name="T6" fmla="*/ 0 w 1060"/>
              <a:gd name="T7" fmla="*/ 617 h 617"/>
              <a:gd name="T8" fmla="*/ 172 w 1060"/>
              <a:gd name="T9" fmla="*/ 308 h 617"/>
              <a:gd name="T10" fmla="*/ 0 w 106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60" h="617">
                <a:moveTo>
                  <a:pt x="0" y="0"/>
                </a:moveTo>
                <a:lnTo>
                  <a:pt x="1060" y="0"/>
                </a:lnTo>
                <a:lnTo>
                  <a:pt x="1060" y="617"/>
                </a:lnTo>
                <a:lnTo>
                  <a:pt x="0" y="617"/>
                </a:lnTo>
                <a:lnTo>
                  <a:pt x="172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537052" y="116633"/>
            <a:ext cx="474797" cy="353937"/>
          </a:xfrm>
          <a:prstGeom prst="rect">
            <a:avLst/>
          </a:prstGeom>
          <a:noFill/>
        </p:spPr>
        <p:txBody>
          <a:bodyPr wrap="none" lIns="91434" tIns="45717" rIns="91434" bIns="45717" rtlCol="0">
            <a:spAutoFit/>
          </a:bodyPr>
          <a:lstStyle/>
          <a:p>
            <a:pPr algn="ctr"/>
            <a:fld id="{B879B013-EF15-44F9-9A4C-93BE492C244C}" type="slidenum">
              <a:rPr lang="zh-CN" altLang="en-US" sz="1700" smtClean="0">
                <a:solidFill>
                  <a:schemeClr val="accent2"/>
                </a:solidFill>
                <a:latin typeface="+mn-ea"/>
                <a:ea typeface="+mn-ea"/>
              </a:rPr>
              <a:t>‹#›</a:t>
            </a:fld>
            <a:endParaRPr lang="zh-CN" altLang="en-US" sz="17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4" y="4406901"/>
            <a:ext cx="10366375" cy="1362075"/>
          </a:xfrm>
        </p:spPr>
        <p:txBody>
          <a:bodyPr anchor="t"/>
          <a:lstStyle>
            <a:lvl1pPr algn="l">
              <a:defRPr sz="4000" b="1" cap="all">
                <a:solidFill>
                  <a:srgbClr val="F8F8F8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4" y="2906713"/>
            <a:ext cx="1036637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F8F8F8"/>
                </a:solidFill>
              </a:defRPr>
            </a:lvl1pPr>
            <a:lvl2pPr marL="457200" indent="0">
              <a:buNone/>
              <a:defRPr sz="1700"/>
            </a:lvl2pPr>
            <a:lvl3pPr marL="914400" indent="0">
              <a:buNone/>
              <a:defRPr sz="1600"/>
            </a:lvl3pPr>
            <a:lvl4pPr marL="1371600" indent="0">
              <a:buNone/>
              <a:defRPr sz="1300"/>
            </a:lvl4pPr>
            <a:lvl5pPr marL="1828800" indent="0">
              <a:buNone/>
              <a:defRPr sz="1300"/>
            </a:lvl5pPr>
            <a:lvl6pPr marL="2286000" indent="0">
              <a:buNone/>
              <a:defRPr sz="1300"/>
            </a:lvl6pPr>
            <a:lvl7pPr marL="2743200" indent="0">
              <a:buNone/>
              <a:defRPr sz="1300"/>
            </a:lvl7pPr>
            <a:lvl8pPr marL="3200400" indent="0">
              <a:buNone/>
              <a:defRPr sz="1300"/>
            </a:lvl8pPr>
            <a:lvl9pPr marL="3657600" indent="0">
              <a:buNone/>
              <a:defRPr sz="13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99" y="1600201"/>
            <a:ext cx="541178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88" y="1600201"/>
            <a:ext cx="541337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5" name="图片 13" descr="泰迪logo无底色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40" y="6309320"/>
            <a:ext cx="918092" cy="242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4637"/>
            <a:ext cx="1097756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5113"/>
            <a:ext cx="538956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1" y="2174875"/>
            <a:ext cx="53895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013" y="1535113"/>
            <a:ext cx="5391151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013" y="2174875"/>
            <a:ext cx="539115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49"/>
            <a:ext cx="4013201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8850" y="273052"/>
            <a:ext cx="681831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3201" cy="46910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775" y="4800600"/>
            <a:ext cx="7318375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775" y="612775"/>
            <a:ext cx="731837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775" y="5367338"/>
            <a:ext cx="7318375" cy="8048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3" y="908052"/>
            <a:ext cx="2743201" cy="52181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908052"/>
            <a:ext cx="8081963" cy="52181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ECLOGO-eff-0-1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146915" y="2886610"/>
            <a:ext cx="1060349" cy="79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PPECLOGO-eff-0-2"/>
          <p:cNvPicPr>
            <a:picLocks noChangeAspect="1" noChangeArrowheads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8430462" y="2758265"/>
            <a:ext cx="1096814" cy="83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PECLOGO-eff-0-3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40451" y="1447780"/>
            <a:ext cx="3013732" cy="237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PPECLOGO-eff-0-1"/>
          <p:cNvPicPr>
            <a:picLocks noChangeAspect="1" noChangeArrowheads="1"/>
          </p:cNvPicPr>
          <p:nvPr userDrawn="1"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4467437" y="3771071"/>
            <a:ext cx="524127" cy="39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PPECLOGO-eff-0-1"/>
          <p:cNvPicPr>
            <a:picLocks noChangeAspect="1" noChangeArrowheads="1"/>
          </p:cNvPicPr>
          <p:nvPr userDrawn="1"/>
        </p:nvPicPr>
        <p:blipFill>
          <a:blip r:embed="rId6" cstate="screen"/>
          <a:srcRect/>
          <a:stretch>
            <a:fillRect/>
          </a:stretch>
        </p:blipFill>
        <p:spPr bwMode="auto">
          <a:xfrm>
            <a:off x="7376341" y="2904247"/>
            <a:ext cx="401158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PPECLOGO-eff-0-2"/>
          <p:cNvPicPr>
            <a:picLocks noChangeAspect="1" noChangeArrowheads="1"/>
          </p:cNvPicPr>
          <p:nvPr userDrawn="1"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5277818" y="2574150"/>
            <a:ext cx="981731" cy="75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PPECLOGO-eff-5-4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61942" y="3206629"/>
            <a:ext cx="1477636" cy="112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PPECLOGO-eff-5-2"/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352404" y="3446015"/>
            <a:ext cx="1834444" cy="143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PPECLOGO-eff-5-4"/>
          <p:cNvPicPr>
            <a:picLocks noChangeAspect="1" noChangeArrowheads="1"/>
          </p:cNvPicPr>
          <p:nvPr userDrawn="1"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9886102" y="2725339"/>
            <a:ext cx="1116793" cy="85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7942801" y="3624922"/>
            <a:ext cx="522112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11254879" y="2365002"/>
            <a:ext cx="522111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PPECLOGO-eff2-1-2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054437" y="2795895"/>
            <a:ext cx="1697366" cy="142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983627" y="2785815"/>
            <a:ext cx="437445" cy="36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PPECLOGO-eff2-1-4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19341" y="3325061"/>
            <a:ext cx="703540" cy="58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239009" y="2909286"/>
            <a:ext cx="360841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744990" y="3446014"/>
            <a:ext cx="282222" cy="23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rAng="0" ptsTypes="">
                                      <p:cBhvr>
                                        <p:cTn id="39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-0.31632 3.33333E-6 " pathEditMode="relative" rAng="0" ptsTypes="AA">
                                      <p:cBhvr>
                                        <p:cTn id="41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16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4 -1.85185E-6 L -0.46684 -1.85185E-6 " pathEditMode="relative" rAng="0" ptsTypes="AA">
                                      <p:cBhvr>
                                        <p:cTn id="4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94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11111E-6 L -0.19531 1.11111E-6 " pathEditMode="relative" rAng="0" ptsTypes="AA">
                                      <p:cBhvr>
                                        <p:cTn id="4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74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-0.43594 2.59259E-6 " pathEditMode="relative" rAng="0" ptsTypes="AA">
                                      <p:cBhvr>
                                        <p:cTn id="4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06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85185E-6 L -0.33577 -1.85185E-6 " pathEditMode="relative" rAng="0" ptsTypes="AA">
                                      <p:cBhvr>
                                        <p:cTn id="4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88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1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0.43906 2.59259E-6 " pathEditMode="relative" rAng="0" ptsTypes="AA">
                                      <p:cBhvr>
                                        <p:cTn id="55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44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96296E-6 L 0.62813 2.96296E-6 " pathEditMode="relative" rAng="0" ptsTypes="AA">
                                      <p:cBhvr>
                                        <p:cTn id="5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06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96296E-6 L 0.42465 -2.96296E-6 " pathEditMode="relative" rAng="0" ptsTypes="AA">
                                      <p:cBhvr>
                                        <p:cTn id="5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33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xit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xit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xit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1" y="908051"/>
            <a:ext cx="10977563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/>
          <a:lstStyle/>
          <a:p>
            <a:pPr lvl="0"/>
            <a:r>
              <a:rPr lang="zh-CN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1" y="1600201"/>
            <a:ext cx="10977563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t" anchorCtr="0" compatLnSpc="1"/>
          <a:lstStyle/>
          <a:p>
            <a:pPr lvl="0"/>
            <a:r>
              <a:rPr lang="zh-CN" dirty="0"/>
              <a:t>单击此处编辑母版文本样式</a:t>
            </a:r>
          </a:p>
          <a:p>
            <a:pPr lvl="1"/>
            <a:r>
              <a:rPr lang="zh-CN" dirty="0"/>
              <a:t>第二级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xStyles>
    <p:titleStyle>
      <a:lvl1pPr algn="l" rtl="0" fontAlgn="base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accent1"/>
          </a:solidFill>
          <a:latin typeface="+mn-lt"/>
          <a:ea typeface="仿宋_GB2312" panose="02010609030101010101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&#20197;&#22823;&#25968;&#25454;&#24212;&#29992;&#24320;&#21457;&#20026;&#29305;&#33394;&#30340;&#20449;&#24687;&#19982;&#35745;&#31639;&#31185;&#23398;&#19987;&#19994;&#26032;&#24037;&#31185;&#25913;&#36896;&#25506;&#35752;--&#40644;&#24658;&#31179;.pptx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Python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概述背景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>
                <a:solidFill>
                  <a:schemeClr val="accent2"/>
                </a:solidFill>
              </a:rPr>
              <a:t>1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5" name="文本框 7"/>
          <p:cNvSpPr txBox="1">
            <a:spLocks noChangeArrowheads="1"/>
          </p:cNvSpPr>
          <p:nvPr/>
        </p:nvSpPr>
        <p:spPr bwMode="auto">
          <a:xfrm>
            <a:off x="895121" y="1085835"/>
            <a:ext cx="10315828" cy="5387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dirty="0" smtClean="0">
                <a:solidFill>
                  <a:schemeClr val="tx1"/>
                </a:solidFill>
                <a:ea typeface="宋体" panose="02010600030101010101" pitchFamily="2" charset="-122"/>
              </a:rPr>
              <a:t>       </a:t>
            </a:r>
            <a:r>
              <a:rPr lang="en-US" altLang="zh-CN" dirty="0"/>
              <a:t>Python </a:t>
            </a:r>
            <a:r>
              <a:rPr lang="zh-CN" altLang="en-US" dirty="0"/>
              <a:t>是一种面向对象的脚本</a:t>
            </a:r>
            <a:r>
              <a:rPr lang="zh-CN" altLang="en-US" dirty="0" smtClean="0"/>
              <a:t>语言</a:t>
            </a:r>
            <a:endParaRPr kumimoji="0" lang="en-US" altLang="zh-CN" dirty="0" smtClean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285750" indent="284480" eaLnBrk="1" latinLnBrk="0" hangingPunct="1"/>
            <a:r>
              <a:rPr kumimoji="0"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由荷兰研究员</a:t>
            </a:r>
            <a:r>
              <a:rPr kumimoji="0"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Guido van Rossum</a:t>
            </a:r>
            <a:r>
              <a:rPr kumimoji="0"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于</a:t>
            </a:r>
            <a:r>
              <a:rPr kumimoji="0"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1989</a:t>
            </a:r>
            <a:r>
              <a:rPr kumimoji="0"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年发明，并于</a:t>
            </a:r>
            <a:r>
              <a:rPr kumimoji="0"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1991</a:t>
            </a:r>
            <a:r>
              <a:rPr kumimoji="0"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年公开发行第一个版本。由于其功能强大和采用开源方式发行，</a:t>
            </a:r>
            <a:r>
              <a:rPr kumimoji="0"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Python</a:t>
            </a:r>
            <a:r>
              <a:rPr kumimoji="0"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发展迅猛，用户越来越多，逐渐形成了一个强大的社区力量。如今，</a:t>
            </a:r>
            <a:r>
              <a:rPr kumimoji="0"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Python</a:t>
            </a:r>
            <a:r>
              <a:rPr kumimoji="0"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已经成为最受欢迎的程序设计语言之一。</a:t>
            </a:r>
            <a:r>
              <a:rPr kumimoji="0"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2011</a:t>
            </a:r>
            <a:r>
              <a:rPr kumimoji="0"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</a:t>
            </a:r>
            <a:r>
              <a:rPr kumimoji="0"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0"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月，它被</a:t>
            </a:r>
            <a:r>
              <a:rPr kumimoji="0"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TIOBE</a:t>
            </a:r>
            <a:r>
              <a:rPr kumimoji="0"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编程语言排行榜评为</a:t>
            </a:r>
            <a:r>
              <a:rPr kumimoji="0"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2010</a:t>
            </a:r>
            <a:r>
              <a:rPr kumimoji="0"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年度语言。随着人工智能与大数据技术的不断发展，</a:t>
            </a:r>
            <a:r>
              <a:rPr kumimoji="0"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Python</a:t>
            </a:r>
            <a:r>
              <a:rPr kumimoji="0"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的使用率正呈高速</a:t>
            </a:r>
            <a:r>
              <a:rPr kumimoji="0" lang="zh-CN" alt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增长</a:t>
            </a:r>
            <a:r>
              <a:rPr kumimoji="0"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0" lang="en-US" altLang="zh-CN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kumimoji="0" lang="en-US" altLang="zh-CN" sz="2100" dirty="0" smtClean="0">
                <a:solidFill>
                  <a:schemeClr val="tx1"/>
                </a:solidFill>
                <a:latin typeface="微软雅黑" panose="020B0503020204020204" pitchFamily="34" charset="-122"/>
              </a:rPr>
              <a:t>        </a:t>
            </a:r>
            <a:r>
              <a:rPr lang="en-US" altLang="zh-CN" dirty="0"/>
              <a:t>Python</a:t>
            </a:r>
            <a:r>
              <a:rPr lang="zh-CN" altLang="en-US" dirty="0"/>
              <a:t>具有简单易学、开源、解释性、面向对象、可扩展性和丰富的支撑库等</a:t>
            </a:r>
            <a:r>
              <a:rPr lang="zh-CN" altLang="en-US" dirty="0" smtClean="0"/>
              <a:t>特点</a:t>
            </a:r>
            <a:endParaRPr lang="zh-CN" altLang="en-US" dirty="0"/>
          </a:p>
          <a:p>
            <a:pPr marL="285750" indent="284480" eaLnBrk="1" latinLnBrk="0" hangingPunct="1"/>
            <a:r>
              <a:rPr kumimoji="0"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其应用也非常广泛，包括科学计算、数据处理与分析、图形图像与文本处理、数据库与网络编程、网络爬虫、机器学习、多媒体应用、图形用户界面、系统开发等。目前</a:t>
            </a:r>
            <a:r>
              <a:rPr kumimoji="0"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Python</a:t>
            </a:r>
            <a:r>
              <a:rPr kumimoji="0"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有两个版本：</a:t>
            </a:r>
            <a:r>
              <a:rPr kumimoji="0"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Python2</a:t>
            </a:r>
            <a:r>
              <a:rPr kumimoji="0"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kumimoji="0"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Python3</a:t>
            </a:r>
            <a:r>
              <a:rPr kumimoji="0"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，但是它们之间不完全兼容，而且</a:t>
            </a:r>
            <a:r>
              <a:rPr kumimoji="0"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Python3</a:t>
            </a:r>
            <a:r>
              <a:rPr kumimoji="0"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功能更加强大，代表了</a:t>
            </a:r>
            <a:r>
              <a:rPr kumimoji="0"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Python</a:t>
            </a:r>
            <a:r>
              <a:rPr kumimoji="0"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的未来，建议学习</a:t>
            </a:r>
            <a:r>
              <a:rPr kumimoji="0"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Python3</a:t>
            </a:r>
            <a:r>
              <a:rPr kumimoji="0" lang="zh-CN" alt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0" lang="en-US" altLang="zh-CN" sz="2100" dirty="0" smtClean="0">
              <a:solidFill>
                <a:schemeClr val="tx1"/>
              </a:solidFill>
              <a:latin typeface="微软雅黑" panose="020B0503020204020204" pitchFamily="34" charset="-122"/>
            </a:endParaRPr>
          </a:p>
          <a:p>
            <a:pPr>
              <a:buNone/>
            </a:pPr>
            <a:r>
              <a:rPr kumimoji="0" lang="en-US" altLang="zh-CN" sz="2100" dirty="0" smtClean="0">
                <a:solidFill>
                  <a:schemeClr val="tx1"/>
                </a:solidFill>
                <a:latin typeface="微软雅黑" panose="020B0503020204020204" pitchFamily="34" charset="-122"/>
              </a:rPr>
              <a:t>        </a:t>
            </a:r>
            <a:r>
              <a:rPr lang="en-US" altLang="zh-CN" dirty="0"/>
              <a:t>Python</a:t>
            </a:r>
            <a:r>
              <a:rPr lang="zh-CN" altLang="en-US" dirty="0"/>
              <a:t>开发环境</a:t>
            </a:r>
            <a:r>
              <a:rPr lang="zh-CN" altLang="en-US" dirty="0" smtClean="0"/>
              <a:t>众多</a:t>
            </a:r>
            <a:endParaRPr lang="en-US" altLang="zh-CN" dirty="0" smtClean="0"/>
          </a:p>
          <a:p>
            <a:pPr marL="285750" indent="284480" eaLnBrk="1" latinLnBrk="0" hangingPunct="1"/>
            <a:r>
              <a:rPr kumimoji="0"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不同的开发环境其配置难度与复杂度也不尽相同，最常用的有</a:t>
            </a:r>
            <a:r>
              <a:rPr kumimoji="0" lang="en-US" altLang="zh-CN" sz="16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PyCharm</a:t>
            </a:r>
            <a:r>
              <a:rPr kumimoji="0"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0" lang="en-US" altLang="zh-CN" sz="16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Spyder</a:t>
            </a:r>
            <a:r>
              <a:rPr kumimoji="0"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。特别是</a:t>
            </a:r>
            <a:r>
              <a:rPr kumimoji="0" lang="en-US" altLang="zh-CN" sz="16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Spyder</a:t>
            </a:r>
            <a:r>
              <a:rPr kumimoji="0"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，它在成功安装了</a:t>
            </a:r>
            <a:r>
              <a:rPr kumimoji="0"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Python</a:t>
            </a:r>
            <a:r>
              <a:rPr kumimoji="0"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的集成发行版本</a:t>
            </a:r>
            <a:r>
              <a:rPr kumimoji="0"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Anaconda</a:t>
            </a:r>
            <a:r>
              <a:rPr kumimoji="0"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之后就自带上了，而且界面友好。对于初学者或者不想在环境配置方面花太多时间的读者，可以选择</a:t>
            </a:r>
            <a:r>
              <a:rPr kumimoji="0"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Anaconda</a:t>
            </a:r>
            <a:r>
              <a:rPr kumimoji="0"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安装，本书也是采用</a:t>
            </a:r>
            <a:r>
              <a:rPr kumimoji="0"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Anaconda</a:t>
            </a:r>
            <a:r>
              <a:rPr kumimoji="0" lang="zh-CN" alt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0"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文本框 10"/>
          <p:cNvSpPr txBox="1"/>
          <p:nvPr>
            <p:custDataLst>
              <p:tags r:id="rId1"/>
            </p:custDataLst>
          </p:nvPr>
        </p:nvSpPr>
        <p:spPr>
          <a:xfrm>
            <a:off x="1012881" y="1141301"/>
            <a:ext cx="434083" cy="359458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en-US" altLang="zh-CN" sz="3600" b="1" noProof="1">
                <a:solidFill>
                  <a:schemeClr val="accent4"/>
                </a:solidFill>
              </a:rPr>
              <a:t>0</a:t>
            </a:r>
            <a:r>
              <a:rPr lang="en-US" altLang="zh-CN" sz="3600" b="1" noProof="1" smtClean="0">
                <a:solidFill>
                  <a:schemeClr val="accent4"/>
                </a:solidFill>
              </a:rPr>
              <a:t>1</a:t>
            </a:r>
            <a:endParaRPr lang="en-US" altLang="zh-CN" sz="3600" b="1" noProof="1">
              <a:solidFill>
                <a:schemeClr val="accent4"/>
              </a:solidFill>
              <a:cs typeface="宋体" panose="02010600030101010101" pitchFamily="2" charset="-122"/>
            </a:endParaRPr>
          </a:p>
        </p:txBody>
      </p:sp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943887" y="1090187"/>
            <a:ext cx="602475" cy="46168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>
            <a:off x="972787" y="2901660"/>
            <a:ext cx="602475" cy="46168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solidFill>
                <a:schemeClr val="tx1"/>
              </a:solidFill>
            </a:endParaRPr>
          </a:p>
        </p:txBody>
      </p:sp>
      <p:sp>
        <p:nvSpPr>
          <p:cNvPr id="25" name="文本框 10"/>
          <p:cNvSpPr txBox="1"/>
          <p:nvPr>
            <p:custDataLst>
              <p:tags r:id="rId4"/>
            </p:custDataLst>
          </p:nvPr>
        </p:nvSpPr>
        <p:spPr>
          <a:xfrm>
            <a:off x="1072266" y="2952774"/>
            <a:ext cx="374698" cy="359458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en-US" altLang="zh-CN" sz="3600" b="1" noProof="1" smtClean="0">
                <a:solidFill>
                  <a:schemeClr val="accent4"/>
                </a:solidFill>
              </a:rPr>
              <a:t>0</a:t>
            </a:r>
            <a:r>
              <a:rPr lang="en-US" altLang="zh-CN" sz="3600" b="1" noProof="1">
                <a:solidFill>
                  <a:schemeClr val="accent4"/>
                </a:solidFill>
              </a:rPr>
              <a:t>2</a:t>
            </a:r>
            <a:endParaRPr lang="en-US" altLang="zh-CN" sz="3600" b="1" noProof="1">
              <a:solidFill>
                <a:schemeClr val="accent4"/>
              </a:solidFill>
              <a:cs typeface="宋体" panose="02010600030101010101" pitchFamily="2" charset="-122"/>
            </a:endParaRPr>
          </a:p>
        </p:txBody>
      </p:sp>
      <p:sp>
        <p:nvSpPr>
          <p:cNvPr id="26" name="矩形 25"/>
          <p:cNvSpPr/>
          <p:nvPr>
            <p:custDataLst>
              <p:tags r:id="rId5"/>
            </p:custDataLst>
          </p:nvPr>
        </p:nvSpPr>
        <p:spPr>
          <a:xfrm>
            <a:off x="972788" y="4924205"/>
            <a:ext cx="602475" cy="46168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solidFill>
                <a:schemeClr val="tx1"/>
              </a:solidFill>
            </a:endParaRPr>
          </a:p>
        </p:txBody>
      </p:sp>
      <p:sp>
        <p:nvSpPr>
          <p:cNvPr id="27" name="文本框 10"/>
          <p:cNvSpPr txBox="1"/>
          <p:nvPr>
            <p:custDataLst>
              <p:tags r:id="rId6"/>
            </p:custDataLst>
          </p:nvPr>
        </p:nvSpPr>
        <p:spPr>
          <a:xfrm>
            <a:off x="1042574" y="4975319"/>
            <a:ext cx="445812" cy="359458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en-US" altLang="zh-CN" sz="3600" b="1" noProof="1" smtClean="0">
                <a:solidFill>
                  <a:schemeClr val="accent4"/>
                </a:solidFill>
              </a:rPr>
              <a:t>03</a:t>
            </a:r>
            <a:endParaRPr lang="en-US" altLang="zh-CN" sz="3600" b="1" noProof="1">
              <a:solidFill>
                <a:schemeClr val="accent4"/>
              </a:solidFill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 Python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安装及启动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>
                <a:solidFill>
                  <a:schemeClr val="accent2"/>
                </a:solidFill>
              </a:rPr>
              <a:t>1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9" name="文本框 3"/>
          <p:cNvSpPr txBox="1">
            <a:spLocks noChangeArrowheads="1"/>
          </p:cNvSpPr>
          <p:nvPr/>
        </p:nvSpPr>
        <p:spPr bwMode="auto">
          <a:xfrm>
            <a:off x="769789" y="1979817"/>
            <a:ext cx="1728191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kumimoji="0" lang="zh-CN" altLang="en-US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安装</a:t>
            </a:r>
            <a:r>
              <a:rPr lang="zh-CN" altLang="en-US" dirty="0"/>
              <a:t>发行版</a:t>
            </a:r>
            <a:r>
              <a:rPr lang="en-US" altLang="zh-CN" dirty="0"/>
              <a:t>Anaconda</a:t>
            </a: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kumimoji="0" lang="zh-CN" altLang="en-US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形成</a:t>
            </a:r>
            <a:r>
              <a:rPr lang="zh-CN" altLang="en-US" dirty="0"/>
              <a:t>集成开发环境</a:t>
            </a:r>
            <a:r>
              <a:rPr lang="en-US" altLang="zh-CN" dirty="0" err="1" smtClean="0"/>
              <a:t>Spyder</a:t>
            </a:r>
            <a:endParaRPr lang="zh-CN" altLang="en-US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……</a:t>
            </a:r>
            <a:endParaRPr kumimoji="0" lang="en-US" altLang="zh-CN" dirty="0">
              <a:solidFill>
                <a:schemeClr val="accent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矩形 10"/>
          <p:cNvSpPr>
            <a:spLocks noChangeArrowheads="1"/>
          </p:cNvSpPr>
          <p:nvPr/>
        </p:nvSpPr>
        <p:spPr bwMode="auto">
          <a:xfrm>
            <a:off x="675473" y="1263893"/>
            <a:ext cx="1822508" cy="715924"/>
          </a:xfrm>
          <a:prstGeom prst="rect">
            <a:avLst/>
          </a:prstGeom>
          <a:solidFill>
            <a:srgbClr val="006BBC">
              <a:alpha val="74117"/>
            </a:srgbClr>
          </a:solidFill>
          <a:ln w="9525">
            <a:solidFill>
              <a:schemeClr val="accent2"/>
            </a:solidFill>
            <a:round/>
          </a:ln>
        </p:spPr>
        <p:txBody>
          <a:bodyPr lIns="117221" tIns="58610" rIns="117221" bIns="58610" anchor="ctr"/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buNone/>
            </a:pPr>
            <a:r>
              <a:rPr lang="en-US" altLang="zh-CN" sz="2000" dirty="0" smtClean="0">
                <a:latin typeface="+mn-ea"/>
                <a:ea typeface="+mn-ea"/>
              </a:rPr>
              <a:t> </a:t>
            </a:r>
            <a:r>
              <a:rPr kumimoji="0" lang="en-US" altLang="zh-CN" sz="2100" b="1" dirty="0">
                <a:solidFill>
                  <a:schemeClr val="accent2"/>
                </a:solidFill>
                <a:latin typeface="微软雅黑" panose="020B0503020204020204" pitchFamily="34" charset="-122"/>
              </a:rPr>
              <a:t>Python</a:t>
            </a:r>
            <a:r>
              <a:rPr kumimoji="0" lang="zh-CN" altLang="en-US" sz="2100" b="1" dirty="0">
                <a:solidFill>
                  <a:schemeClr val="accent2"/>
                </a:solidFill>
                <a:latin typeface="微软雅黑" panose="020B0503020204020204" pitchFamily="34" charset="-122"/>
              </a:rPr>
              <a:t>安装</a:t>
            </a:r>
          </a:p>
        </p:txBody>
      </p:sp>
      <p:cxnSp>
        <p:nvCxnSpPr>
          <p:cNvPr id="10" name="直接连接符 13"/>
          <p:cNvCxnSpPr/>
          <p:nvPr/>
        </p:nvCxnSpPr>
        <p:spPr bwMode="auto">
          <a:xfrm>
            <a:off x="769789" y="2052867"/>
            <a:ext cx="0" cy="353651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直接连接符 13"/>
          <p:cNvCxnSpPr/>
          <p:nvPr/>
        </p:nvCxnSpPr>
        <p:spPr bwMode="auto">
          <a:xfrm>
            <a:off x="2414153" y="2045263"/>
            <a:ext cx="0" cy="353651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矩形 10"/>
          <p:cNvSpPr>
            <a:spLocks noChangeArrowheads="1"/>
          </p:cNvSpPr>
          <p:nvPr/>
        </p:nvSpPr>
        <p:spPr bwMode="auto">
          <a:xfrm>
            <a:off x="3218061" y="1247452"/>
            <a:ext cx="2160240" cy="715924"/>
          </a:xfrm>
          <a:prstGeom prst="rect">
            <a:avLst/>
          </a:prstGeom>
          <a:solidFill>
            <a:srgbClr val="006BBC">
              <a:alpha val="74117"/>
            </a:srgbClr>
          </a:solidFill>
          <a:ln w="9525">
            <a:solidFill>
              <a:schemeClr val="accent2"/>
            </a:solidFill>
            <a:round/>
          </a:ln>
        </p:spPr>
        <p:txBody>
          <a:bodyPr lIns="117221" tIns="58610" rIns="117221" bIns="58610" anchor="ctr"/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zh-CN" altLang="en-US" sz="2100" b="1" dirty="0" smtClean="0">
                <a:solidFill>
                  <a:schemeClr val="accent2"/>
                </a:solidFill>
                <a:latin typeface="微软雅黑" panose="020B0503020204020204" pitchFamily="34" charset="-122"/>
              </a:rPr>
              <a:t>启动与界面认识</a:t>
            </a:r>
            <a:endParaRPr kumimoji="0" lang="zh-CN" altLang="en-US" sz="2100" b="1" dirty="0">
              <a:solidFill>
                <a:schemeClr val="accent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文本框 3"/>
          <p:cNvSpPr txBox="1">
            <a:spLocks noChangeArrowheads="1"/>
          </p:cNvSpPr>
          <p:nvPr/>
        </p:nvSpPr>
        <p:spPr bwMode="auto">
          <a:xfrm>
            <a:off x="3290069" y="2112965"/>
            <a:ext cx="2088232" cy="313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buNone/>
            </a:pPr>
            <a:r>
              <a:rPr lang="zh-CN" altLang="en-US" dirty="0"/>
              <a:t>简单</a:t>
            </a:r>
            <a:r>
              <a:rPr lang="zh-CN" altLang="en-US" dirty="0" smtClean="0"/>
              <a:t>易学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界面友好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/>
              <a:t>程序编写及执行均在</a:t>
            </a:r>
            <a:r>
              <a:rPr lang="en-US" altLang="zh-CN" dirty="0" err="1"/>
              <a:t>Spyder</a:t>
            </a:r>
            <a:r>
              <a:rPr lang="zh-CN" altLang="en-US" dirty="0"/>
              <a:t>中</a:t>
            </a:r>
            <a:r>
              <a:rPr lang="zh-CN" altLang="en-US" dirty="0" smtClean="0"/>
              <a:t>完成</a:t>
            </a:r>
            <a:endParaRPr lang="en-US" altLang="zh-CN" dirty="0"/>
          </a:p>
          <a:p>
            <a:pPr>
              <a:buNone/>
            </a:pPr>
            <a:r>
              <a:rPr kumimoji="0" lang="en-US" altLang="zh-CN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……</a:t>
            </a:r>
            <a:endParaRPr kumimoji="0" lang="en-US" altLang="zh-CN" dirty="0">
              <a:solidFill>
                <a:schemeClr val="accent1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8" name="直接连接符 13"/>
          <p:cNvCxnSpPr/>
          <p:nvPr/>
        </p:nvCxnSpPr>
        <p:spPr bwMode="auto">
          <a:xfrm>
            <a:off x="3295760" y="1992770"/>
            <a:ext cx="0" cy="353651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直接连接符 13"/>
          <p:cNvCxnSpPr/>
          <p:nvPr/>
        </p:nvCxnSpPr>
        <p:spPr bwMode="auto">
          <a:xfrm>
            <a:off x="5306293" y="2045262"/>
            <a:ext cx="0" cy="353651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矩形 10"/>
          <p:cNvSpPr>
            <a:spLocks noChangeArrowheads="1"/>
          </p:cNvSpPr>
          <p:nvPr/>
        </p:nvSpPr>
        <p:spPr bwMode="auto">
          <a:xfrm>
            <a:off x="6098381" y="1264793"/>
            <a:ext cx="2016224" cy="715924"/>
          </a:xfrm>
          <a:prstGeom prst="rect">
            <a:avLst/>
          </a:prstGeom>
          <a:solidFill>
            <a:srgbClr val="006BBC">
              <a:alpha val="74117"/>
            </a:srgbClr>
          </a:solidFill>
          <a:ln w="9525">
            <a:solidFill>
              <a:schemeClr val="accent2"/>
            </a:solidFill>
            <a:round/>
          </a:ln>
        </p:spPr>
        <p:txBody>
          <a:bodyPr lIns="117221" tIns="58610" rIns="117221" bIns="58610" anchor="ctr"/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zh-CN" altLang="en-US" sz="2100" b="1" dirty="0" smtClean="0">
                <a:solidFill>
                  <a:schemeClr val="accent2"/>
                </a:solidFill>
                <a:latin typeface="微软雅黑" panose="020B0503020204020204" pitchFamily="34" charset="-122"/>
              </a:rPr>
              <a:t>安装拓展包</a:t>
            </a:r>
            <a:endParaRPr kumimoji="0" lang="zh-CN" altLang="en-US" sz="2100" b="1" dirty="0">
              <a:solidFill>
                <a:schemeClr val="accent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文本框 3"/>
          <p:cNvSpPr txBox="1">
            <a:spLocks noChangeArrowheads="1"/>
          </p:cNvSpPr>
          <p:nvPr/>
        </p:nvSpPr>
        <p:spPr bwMode="auto">
          <a:xfrm>
            <a:off x="6098381" y="2052867"/>
            <a:ext cx="2304256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dirty="0" smtClean="0"/>
              <a:t>打开</a:t>
            </a:r>
            <a:r>
              <a:rPr lang="en-US" altLang="zh-CN" dirty="0" err="1"/>
              <a:t>Andconda</a:t>
            </a:r>
            <a:r>
              <a:rPr lang="en-US" altLang="zh-CN" dirty="0"/>
              <a:t> Prompt</a:t>
            </a: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dirty="0" smtClean="0"/>
              <a:t>命令窗口</a:t>
            </a:r>
            <a:endParaRPr lang="en-US" altLang="zh-CN" dirty="0" smtClean="0"/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dirty="0" smtClean="0"/>
              <a:t>输入安装命令</a:t>
            </a:r>
            <a:endParaRPr kumimoji="0" lang="en-US" altLang="zh-CN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dirty="0">
                <a:solidFill>
                  <a:schemeClr val="accent1"/>
                </a:solidFill>
                <a:latin typeface="微软雅黑" panose="020B0503020204020204" pitchFamily="34" charset="-122"/>
              </a:rPr>
              <a:t>……</a:t>
            </a:r>
          </a:p>
        </p:txBody>
      </p:sp>
      <p:cxnSp>
        <p:nvCxnSpPr>
          <p:cNvPr id="22" name="直接连接符 13"/>
          <p:cNvCxnSpPr/>
          <p:nvPr/>
        </p:nvCxnSpPr>
        <p:spPr bwMode="auto">
          <a:xfrm>
            <a:off x="6102025" y="2052867"/>
            <a:ext cx="0" cy="353651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直接连接符 13"/>
          <p:cNvCxnSpPr/>
          <p:nvPr/>
        </p:nvCxnSpPr>
        <p:spPr bwMode="auto">
          <a:xfrm>
            <a:off x="8085199" y="2045262"/>
            <a:ext cx="0" cy="31839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下弧形箭头 6"/>
          <p:cNvSpPr/>
          <p:nvPr/>
        </p:nvSpPr>
        <p:spPr bwMode="auto">
          <a:xfrm rot="20595946">
            <a:off x="442058" y="4292347"/>
            <a:ext cx="10755389" cy="1724233"/>
          </a:xfrm>
          <a:prstGeom prst="curvedUpArrow">
            <a:avLst>
              <a:gd name="adj1" fmla="val 25000"/>
              <a:gd name="adj2" fmla="val 74682"/>
              <a:gd name="adj3" fmla="val 47349"/>
            </a:avLst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云形标注 11"/>
          <p:cNvSpPr/>
          <p:nvPr/>
        </p:nvSpPr>
        <p:spPr bwMode="auto">
          <a:xfrm>
            <a:off x="9410749" y="1124744"/>
            <a:ext cx="2232248" cy="1593199"/>
          </a:xfrm>
          <a:prstGeom prst="cloudCallou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3200" dirty="0" smtClean="0"/>
              <a:t>入门基本操作</a:t>
            </a:r>
            <a:endParaRPr kumimoji="0" lang="zh-CN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9" grpId="0" animBg="1"/>
      <p:bldP spid="16" grpId="0" animBg="1"/>
      <p:bldP spid="17" grpId="0"/>
      <p:bldP spid="20" grpId="0" animBg="1"/>
      <p:bldP spid="21" grpId="0"/>
      <p:bldP spid="7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7719943" cy="954101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1.2.1 </a:t>
            </a:r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安装及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>
                <a:solidFill>
                  <a:schemeClr val="accent2"/>
                </a:solidFill>
              </a:rPr>
              <a:t>1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0263" y="692696"/>
            <a:ext cx="4301934" cy="2308318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1800" dirty="0" smtClean="0">
                <a:latin typeface="宋体" panose="02010600030101010101" pitchFamily="2" charset="-122"/>
                <a:ea typeface="宋体" panose="02010600030101010101" pitchFamily="2" charset="-122"/>
              </a:rPr>
              <a:t>①这里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推荐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Python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的发行版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Anaconda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，它集成了众多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Python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常用包，并自带简单易学且界面友好的集成开发环境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Spyder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Anaconda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安装包可以从官网或者清华镜像站点中下载。下面介绍如何从清华镜像站点中获取安装包并进行安装的具体过程</a:t>
            </a:r>
            <a:r>
              <a:rPr lang="zh-CN" altLang="en-US" sz="1800" u="sng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en-US" sz="1800" u="sng" dirty="0">
                <a:latin typeface="宋体" panose="02010600030101010101" pitchFamily="2" charset="-122"/>
                <a:ea typeface="宋体" panose="02010600030101010101" pitchFamily="2" charset="-122"/>
                <a:hlinkClick r:id="rId3" action="ppaction://hlinkpres?slideindex=1&amp;slidetitle="/>
              </a:rPr>
              <a:t>首先登录清华镜像站点网址，如图</a:t>
            </a:r>
            <a:r>
              <a:rPr lang="en-US" altLang="zh-CN" sz="1800" u="sng" dirty="0">
                <a:latin typeface="宋体" panose="02010600030101010101" pitchFamily="2" charset="-122"/>
                <a:ea typeface="宋体" panose="02010600030101010101" pitchFamily="2" charset="-122"/>
                <a:hlinkClick r:id="rId3" action="ppaction://hlinkpres?slideindex=1&amp;slidetitle="/>
              </a:rPr>
              <a:t>1-1</a:t>
            </a:r>
            <a:r>
              <a:rPr lang="zh-CN" altLang="en-US" sz="1800" u="sng" dirty="0">
                <a:latin typeface="宋体" panose="02010600030101010101" pitchFamily="2" charset="-122"/>
                <a:ea typeface="宋体" panose="02010600030101010101" pitchFamily="2" charset="-122"/>
                <a:hlinkClick r:id="rId3" action="ppaction://hlinkpres?slideindex=1&amp;slidetitle="/>
              </a:rPr>
              <a:t>所示</a:t>
            </a:r>
            <a:r>
              <a:rPr lang="zh-CN" altLang="en-US" sz="1800" u="sng" dirty="0" smtClean="0">
                <a:latin typeface="宋体" panose="02010600030101010101" pitchFamily="2" charset="-122"/>
                <a:ea typeface="宋体" panose="02010600030101010101" pitchFamily="2" charset="-122"/>
                <a:hlinkClick r:id="rId3" action="ppaction://hlinkpres?slideindex=1&amp;slidetitle="/>
              </a:rPr>
              <a:t>。</a:t>
            </a: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5733" y="3001013"/>
            <a:ext cx="4320480" cy="3146395"/>
          </a:xfrm>
          <a:prstGeom prst="rect">
            <a:avLst/>
          </a:prstGeom>
        </p:spPr>
      </p:pic>
      <p:sp>
        <p:nvSpPr>
          <p:cNvPr id="3" name="下箭头 2"/>
          <p:cNvSpPr/>
          <p:nvPr/>
        </p:nvSpPr>
        <p:spPr bwMode="auto">
          <a:xfrm rot="16200000">
            <a:off x="5461468" y="2420421"/>
            <a:ext cx="432979" cy="1008113"/>
          </a:xfrm>
          <a:prstGeom prst="downArrow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46453" y="692696"/>
            <a:ext cx="44755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266700" algn="just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宋体" panose="02010600030101010101" pitchFamily="2" charset="-122"/>
              </a:rPr>
              <a:t>②从图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宋体" panose="02010600030101010101" pitchFamily="2" charset="-122"/>
              </a:rPr>
              <a:t>1-1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宋体" panose="02010600030101010101" pitchFamily="2" charset="-122"/>
              </a:rPr>
              <a:t>中可以看出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宋体" panose="02010600030101010101" pitchFamily="2" charset="-122"/>
              </a:rPr>
              <a:t>Anaconda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宋体" panose="02010600030101010101" pitchFamily="2" charset="-122"/>
              </a:rPr>
              <a:t>有众多版本，也支持常见的操作系统。本书选择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宋体" panose="02010600030101010101" pitchFamily="2" charset="-122"/>
              </a:rPr>
              <a:t>Anaconda3-5.0.1-Windows-x86.exe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宋体" panose="02010600030101010101" pitchFamily="2" charset="-122"/>
              </a:rPr>
              <a:t>这个版本，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宋体" panose="02010600030101010101" pitchFamily="2" charset="-122"/>
              </a:rPr>
              <a:t>32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宋体" panose="02010600030101010101" pitchFamily="2" charset="-122"/>
              </a:rPr>
              <a:t>位操作系统。其次，对下载成功的安装包进行安装。双击下载成功的安装包，在弹出安装向导界面中单击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宋体" panose="02010600030101010101" pitchFamily="2" charset="-122"/>
              </a:rPr>
              <a:t>Next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宋体" panose="02010600030101010101" pitchFamily="2" charset="-122"/>
              </a:rPr>
              <a:t>按钮，如图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宋体" panose="02010600030101010101" pitchFamily="2" charset="-122"/>
              </a:rPr>
              <a:t>1-2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宋体" panose="02010600030101010101" pitchFamily="2" charset="-122"/>
              </a:rPr>
              <a:t>所示。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1469" y="6172652"/>
            <a:ext cx="8490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75000"/>
                  </a:schemeClr>
                </a:solidFill>
                <a:latin typeface="宋体" panose="02010600030101010101" pitchFamily="2" charset="-122"/>
              </a:rPr>
              <a:t>图</a:t>
            </a:r>
            <a:r>
              <a:rPr lang="en-US" altLang="zh-CN" sz="1200" dirty="0">
                <a:solidFill>
                  <a:schemeClr val="tx1">
                    <a:lumMod val="75000"/>
                  </a:schemeClr>
                </a:solidFill>
                <a:latin typeface="宋体" panose="02010600030101010101" pitchFamily="2" charset="-122"/>
              </a:rPr>
              <a:t>1-1</a:t>
            </a:r>
            <a:endParaRPr lang="zh-CN" altLang="en-US" sz="1200" dirty="0">
              <a:solidFill>
                <a:schemeClr val="tx1">
                  <a:lumMod val="75000"/>
                </a:schemeClr>
              </a:solidFill>
              <a:latin typeface="宋体" panose="02010600030101010101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818461" y="2993650"/>
            <a:ext cx="4464496" cy="30276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36663" y="6147409"/>
            <a:ext cx="8280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75000"/>
                  </a:schemeClr>
                </a:solidFill>
                <a:latin typeface="宋体" panose="02010600030101010101" pitchFamily="2" charset="-122"/>
              </a:rPr>
              <a:t>图</a:t>
            </a:r>
            <a:r>
              <a:rPr lang="en-US" altLang="zh-CN" sz="1200" dirty="0" smtClean="0">
                <a:solidFill>
                  <a:schemeClr val="tx1">
                    <a:lumMod val="75000"/>
                  </a:schemeClr>
                </a:solidFill>
                <a:latin typeface="宋体" panose="02010600030101010101" pitchFamily="2" charset="-122"/>
              </a:rPr>
              <a:t>1-2</a:t>
            </a:r>
            <a:endParaRPr lang="zh-CN" altLang="en-US" sz="1200" dirty="0">
              <a:solidFill>
                <a:schemeClr val="tx1">
                  <a:lumMod val="75000"/>
                </a:schemeClr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721588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1.2.1 </a:t>
            </a:r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安装及启动</a:t>
            </a:r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1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5733" y="692696"/>
            <a:ext cx="40324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③</a:t>
            </a:r>
            <a:r>
              <a:rPr lang="zh-CN" altLang="en-US" dirty="0"/>
              <a:t>根据安装向导，单击选择同意安装协议“</a:t>
            </a:r>
            <a:r>
              <a:rPr lang="en-US" altLang="zh-CN" dirty="0"/>
              <a:t>I  Agree</a:t>
            </a:r>
            <a:r>
              <a:rPr lang="zh-CN" altLang="en-US" dirty="0"/>
              <a:t>”按钮、选择安装类型“</a:t>
            </a:r>
            <a:r>
              <a:rPr lang="en-US" altLang="zh-CN" dirty="0"/>
              <a:t>All  Users”</a:t>
            </a:r>
            <a:r>
              <a:rPr lang="zh-CN" altLang="en-US" dirty="0"/>
              <a:t>、设置好安装路径，继续单击</a:t>
            </a:r>
            <a:r>
              <a:rPr lang="en-US" altLang="zh-CN" dirty="0"/>
              <a:t>Next</a:t>
            </a:r>
            <a:r>
              <a:rPr lang="zh-CN" altLang="en-US" dirty="0"/>
              <a:t>按钮，如图</a:t>
            </a:r>
            <a:r>
              <a:rPr lang="en-US" altLang="zh-CN" dirty="0"/>
              <a:t>1-3</a:t>
            </a:r>
            <a:r>
              <a:rPr lang="zh-CN" altLang="en-US" dirty="0"/>
              <a:t>所示。</a:t>
            </a:r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7029" y="2170024"/>
            <a:ext cx="4801679" cy="40672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95598" y="6309319"/>
            <a:ext cx="648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latin typeface="宋体" panose="02010600030101010101" pitchFamily="2" charset="-122"/>
              </a:rPr>
              <a:t>图</a:t>
            </a:r>
            <a:r>
              <a:rPr lang="en-US" altLang="zh-CN" sz="1200" dirty="0" smtClean="0">
                <a:latin typeface="宋体" panose="02010600030101010101" pitchFamily="2" charset="-122"/>
              </a:rPr>
              <a:t>1-3</a:t>
            </a:r>
            <a:endParaRPr lang="zh-CN" altLang="en-US" sz="1200" dirty="0">
              <a:latin typeface="宋体" panose="02010600030101010101" pitchFamily="2" charset="-122"/>
            </a:endParaRPr>
          </a:p>
        </p:txBody>
      </p:sp>
      <p:sp>
        <p:nvSpPr>
          <p:cNvPr id="8" name="下箭头 7"/>
          <p:cNvSpPr/>
          <p:nvPr/>
        </p:nvSpPr>
        <p:spPr bwMode="auto">
          <a:xfrm rot="16200000">
            <a:off x="5446223" y="3023647"/>
            <a:ext cx="360972" cy="811254"/>
          </a:xfrm>
          <a:prstGeom prst="downArrow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67689" y="692696"/>
            <a:ext cx="54753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 ④</a:t>
            </a:r>
            <a:r>
              <a:rPr lang="zh-CN" altLang="en-US" dirty="0"/>
              <a:t>在该步骤中有两个选项，安装向导默认为第二个选项，即向</a:t>
            </a:r>
            <a:r>
              <a:rPr lang="en-US" altLang="zh-CN" dirty="0"/>
              <a:t>Anaconda</a:t>
            </a:r>
            <a:r>
              <a:rPr lang="zh-CN" altLang="en-US" dirty="0"/>
              <a:t>系统中安装</a:t>
            </a:r>
            <a:r>
              <a:rPr lang="en-US" altLang="zh-CN" dirty="0"/>
              <a:t>Python</a:t>
            </a:r>
            <a:r>
              <a:rPr lang="zh-CN" altLang="en-US" dirty="0"/>
              <a:t>的版本号，图</a:t>
            </a:r>
            <a:r>
              <a:rPr lang="en-US" altLang="zh-CN" dirty="0"/>
              <a:t>1-3</a:t>
            </a:r>
            <a:r>
              <a:rPr lang="zh-CN" altLang="en-US" dirty="0"/>
              <a:t>中为</a:t>
            </a:r>
            <a:r>
              <a:rPr lang="en-US" altLang="zh-CN" dirty="0"/>
              <a:t>3.6</a:t>
            </a:r>
            <a:r>
              <a:rPr lang="zh-CN" altLang="en-US" dirty="0"/>
              <a:t>这个版本。第一个选项为可选项，即向安装的计算机系统中添加</a:t>
            </a:r>
            <a:r>
              <a:rPr lang="en-US" altLang="zh-CN" dirty="0"/>
              <a:t>Anaconda</a:t>
            </a:r>
            <a:r>
              <a:rPr lang="zh-CN" altLang="en-US" dirty="0"/>
              <a:t>环境变量，也建议读者选择该选项。设置好这两个选项后，单击“</a:t>
            </a:r>
            <a:r>
              <a:rPr lang="en-US" altLang="zh-CN" dirty="0" err="1"/>
              <a:t>Intsall</a:t>
            </a:r>
            <a:r>
              <a:rPr lang="en-US" altLang="zh-CN" dirty="0"/>
              <a:t>”</a:t>
            </a:r>
            <a:r>
              <a:rPr lang="zh-CN" altLang="en-US" dirty="0"/>
              <a:t>即可进入安装进程，如图</a:t>
            </a:r>
            <a:r>
              <a:rPr lang="en-US" altLang="zh-CN" dirty="0"/>
              <a:t>1-4</a:t>
            </a:r>
            <a:r>
              <a:rPr lang="zh-CN" altLang="en-US" dirty="0"/>
              <a:t>所示。</a:t>
            </a:r>
          </a:p>
          <a:p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314405" y="2564904"/>
            <a:ext cx="5184576" cy="37444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74645" y="6347572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</a:rPr>
              <a:t>图</a:t>
            </a:r>
            <a:r>
              <a:rPr lang="en-US" altLang="zh-CN" sz="1200" dirty="0" smtClean="0">
                <a:latin typeface="宋体" panose="02010600030101010101" pitchFamily="2" charset="-122"/>
              </a:rPr>
              <a:t>1-4</a:t>
            </a:r>
            <a:endParaRPr lang="zh-CN" altLang="en-US" sz="1200" dirty="0">
              <a:latin typeface="宋体" panose="02010600030101010101" pitchFamily="2" charset="-122"/>
            </a:endParaRPr>
          </a:p>
          <a:p>
            <a:endParaRPr lang="zh-CN" alt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4" y="44625"/>
            <a:ext cx="8531529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1.2.1 </a:t>
            </a:r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安装及启动</a:t>
            </a:r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1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39773" y="692696"/>
            <a:ext cx="45365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⑤</a:t>
            </a:r>
            <a:r>
              <a:rPr lang="zh-CN" altLang="en-US" dirty="0"/>
              <a:t>安装进程中，动态显示了目前安装的进度，安装完成后，单击完成按钮，关闭安装向导相关窗口即可完成</a:t>
            </a:r>
            <a:r>
              <a:rPr lang="en-US" altLang="zh-CN" dirty="0"/>
              <a:t>Anaconda</a:t>
            </a:r>
            <a:r>
              <a:rPr lang="zh-CN" altLang="en-US" dirty="0"/>
              <a:t>安装。安装完成后，可以在电脑开始菜单栏中查看，如图</a:t>
            </a:r>
            <a:r>
              <a:rPr lang="en-US" altLang="zh-CN" dirty="0"/>
              <a:t>1-4</a:t>
            </a:r>
            <a:r>
              <a:rPr lang="zh-CN" altLang="en-US" dirty="0"/>
              <a:t>所示。</a:t>
            </a:r>
          </a:p>
          <a:p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39773" y="2360593"/>
            <a:ext cx="4606480" cy="35886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03461" y="6021287"/>
            <a:ext cx="1009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latin typeface="宋体" panose="02010600030101010101" pitchFamily="2" charset="-122"/>
              </a:rPr>
              <a:t>图</a:t>
            </a:r>
            <a:r>
              <a:rPr lang="en-US" altLang="zh-CN" sz="1200" dirty="0" smtClean="0">
                <a:latin typeface="宋体" panose="02010600030101010101" pitchFamily="2" charset="-122"/>
              </a:rPr>
              <a:t>1-4</a:t>
            </a:r>
            <a:endParaRPr lang="zh-CN" altLang="en-US" sz="1200" dirty="0">
              <a:latin typeface="宋体" panose="02010600030101010101" pitchFamily="2" charset="-122"/>
            </a:endParaRPr>
          </a:p>
        </p:txBody>
      </p:sp>
      <p:sp>
        <p:nvSpPr>
          <p:cNvPr id="16" name="下箭头 15"/>
          <p:cNvSpPr/>
          <p:nvPr/>
        </p:nvSpPr>
        <p:spPr bwMode="auto">
          <a:xfrm rot="16200000">
            <a:off x="5315410" y="2631145"/>
            <a:ext cx="360972" cy="811254"/>
          </a:xfrm>
          <a:prstGeom prst="downArrow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54365" y="652433"/>
            <a:ext cx="612068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 ⑥</a:t>
            </a:r>
            <a:r>
              <a:rPr lang="zh-CN" altLang="en-US" dirty="0"/>
              <a:t>图</a:t>
            </a:r>
            <a:r>
              <a:rPr lang="en-US" altLang="zh-CN" dirty="0"/>
              <a:t>1-4</a:t>
            </a:r>
            <a:r>
              <a:rPr lang="zh-CN" altLang="en-US" dirty="0"/>
              <a:t>中显示电脑成功安装了</a:t>
            </a:r>
            <a:r>
              <a:rPr lang="en-US" altLang="zh-CN" dirty="0"/>
              <a:t>Anaconda3</a:t>
            </a:r>
            <a:r>
              <a:rPr lang="zh-CN" altLang="en-US" dirty="0"/>
              <a:t>，</a:t>
            </a:r>
            <a:r>
              <a:rPr lang="en-US" altLang="zh-CN" dirty="0"/>
              <a:t>32</a:t>
            </a:r>
            <a:r>
              <a:rPr lang="zh-CN" altLang="en-US" dirty="0"/>
              <a:t>位系统，它类似一个文件夹，下面有两个常用的部件：</a:t>
            </a:r>
            <a:r>
              <a:rPr lang="en-US" altLang="zh-CN" dirty="0"/>
              <a:t>Anaconda Prompt</a:t>
            </a:r>
            <a:r>
              <a:rPr lang="zh-CN" altLang="en-US" dirty="0"/>
              <a:t>和</a:t>
            </a:r>
            <a:r>
              <a:rPr lang="en-US" altLang="zh-CN" dirty="0" err="1"/>
              <a:t>Spyder</a:t>
            </a:r>
            <a:r>
              <a:rPr lang="zh-CN" altLang="en-US" dirty="0"/>
              <a:t>。其中</a:t>
            </a:r>
            <a:r>
              <a:rPr lang="en-US" altLang="zh-CN" dirty="0"/>
              <a:t>Anaconda Prompt</a:t>
            </a:r>
            <a:r>
              <a:rPr lang="zh-CN" altLang="en-US" dirty="0"/>
              <a:t>是</a:t>
            </a:r>
            <a:r>
              <a:rPr lang="en-US" altLang="zh-CN" dirty="0"/>
              <a:t>Anaconda</a:t>
            </a:r>
            <a:r>
              <a:rPr lang="zh-CN" altLang="en-US" dirty="0"/>
              <a:t>安装需要的包或者查看系统集成包经常用到的界面；</a:t>
            </a:r>
            <a:r>
              <a:rPr lang="en-US" altLang="zh-CN" dirty="0" err="1"/>
              <a:t>Spyder</a:t>
            </a:r>
            <a:r>
              <a:rPr lang="zh-CN" altLang="en-US" dirty="0"/>
              <a:t>则为</a:t>
            </a:r>
            <a:r>
              <a:rPr lang="en-US" altLang="zh-CN" dirty="0"/>
              <a:t>Anaconda</a:t>
            </a:r>
            <a:r>
              <a:rPr lang="zh-CN" altLang="en-US" dirty="0"/>
              <a:t>的集成开发环境，下一节将详细介绍如何使用</a:t>
            </a:r>
            <a:r>
              <a:rPr lang="en-US" altLang="zh-CN" dirty="0" err="1"/>
              <a:t>Spyder</a:t>
            </a:r>
            <a:r>
              <a:rPr lang="zh-CN" altLang="en-US" dirty="0"/>
              <a:t>进行</a:t>
            </a:r>
            <a:r>
              <a:rPr lang="en-US" altLang="zh-CN" dirty="0"/>
              <a:t>Python</a:t>
            </a:r>
            <a:r>
              <a:rPr lang="zh-CN" altLang="en-US" dirty="0"/>
              <a:t>程序编写。前面已经提到，</a:t>
            </a:r>
            <a:r>
              <a:rPr lang="en-US" altLang="zh-CN" dirty="0"/>
              <a:t>Anaconda3</a:t>
            </a:r>
            <a:r>
              <a:rPr lang="zh-CN" altLang="en-US" dirty="0"/>
              <a:t>集成了大部分</a:t>
            </a:r>
            <a:r>
              <a:rPr lang="en-US" altLang="zh-CN" dirty="0"/>
              <a:t>Python</a:t>
            </a:r>
            <a:r>
              <a:rPr lang="zh-CN" altLang="en-US" dirty="0"/>
              <a:t>常用包，可以通过打开</a:t>
            </a:r>
            <a:r>
              <a:rPr lang="en-US" altLang="zh-CN" dirty="0"/>
              <a:t>Anaconda Prompt</a:t>
            </a:r>
            <a:r>
              <a:rPr lang="zh-CN" altLang="en-US" dirty="0"/>
              <a:t>界面，输入</a:t>
            </a:r>
            <a:r>
              <a:rPr lang="en-US" altLang="zh-CN" dirty="0" err="1"/>
              <a:t>conda</a:t>
            </a:r>
            <a:r>
              <a:rPr lang="en-US" altLang="zh-CN" dirty="0"/>
              <a:t> list</a:t>
            </a:r>
            <a:r>
              <a:rPr lang="zh-CN" altLang="en-US" dirty="0"/>
              <a:t>命令来查看。其中</a:t>
            </a:r>
            <a:r>
              <a:rPr lang="en-US" altLang="zh-CN" dirty="0"/>
              <a:t>Anaconda Prompt</a:t>
            </a:r>
            <a:r>
              <a:rPr lang="zh-CN" altLang="en-US" dirty="0"/>
              <a:t>界面类似于原始的计算机</a:t>
            </a:r>
            <a:r>
              <a:rPr lang="en-US" altLang="zh-CN" dirty="0"/>
              <a:t>DOS</a:t>
            </a:r>
            <a:r>
              <a:rPr lang="zh-CN" altLang="en-US" dirty="0"/>
              <a:t>操作界面，而</a:t>
            </a:r>
            <a:r>
              <a:rPr lang="en-US" altLang="zh-CN" dirty="0" err="1"/>
              <a:t>conda</a:t>
            </a:r>
            <a:r>
              <a:rPr lang="en-US" altLang="zh-CN" dirty="0"/>
              <a:t> list</a:t>
            </a:r>
            <a:r>
              <a:rPr lang="zh-CN" altLang="en-US" dirty="0"/>
              <a:t>也类似于</a:t>
            </a:r>
            <a:r>
              <a:rPr lang="en-US" altLang="zh-CN" dirty="0"/>
              <a:t>DOS</a:t>
            </a:r>
            <a:r>
              <a:rPr lang="zh-CN" altLang="en-US" dirty="0"/>
              <a:t>操作命令。如图</a:t>
            </a:r>
            <a:r>
              <a:rPr lang="en-US" altLang="zh-CN" dirty="0"/>
              <a:t>1-5</a:t>
            </a:r>
            <a:r>
              <a:rPr lang="zh-CN" altLang="en-US" dirty="0"/>
              <a:t>所示。</a:t>
            </a:r>
          </a:p>
          <a:p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111839" y="3622927"/>
            <a:ext cx="5675174" cy="25202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17974" y="6297830"/>
            <a:ext cx="972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latin typeface="宋体" panose="02010600030101010101" pitchFamily="2" charset="-122"/>
              </a:rPr>
              <a:t>图</a:t>
            </a:r>
            <a:r>
              <a:rPr lang="en-US" altLang="zh-CN" sz="1200" dirty="0" smtClean="0">
                <a:latin typeface="宋体" panose="02010600030101010101" pitchFamily="2" charset="-122"/>
              </a:rPr>
              <a:t>1-5</a:t>
            </a:r>
            <a:endParaRPr lang="zh-CN" altLang="en-US" sz="12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1011143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1.2.1 </a:t>
            </a:r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安装及启动</a:t>
            </a:r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1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37741" y="764704"/>
            <a:ext cx="42484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⑦</a:t>
            </a:r>
            <a:r>
              <a:rPr lang="zh-CN" altLang="en-US" dirty="0"/>
              <a:t>按下</a:t>
            </a:r>
            <a:r>
              <a:rPr lang="en-US" altLang="zh-CN" dirty="0"/>
              <a:t>Enter</a:t>
            </a:r>
            <a:r>
              <a:rPr lang="zh-CN" altLang="en-US" dirty="0"/>
              <a:t>键，即可查看</a:t>
            </a:r>
            <a:r>
              <a:rPr lang="en-US" altLang="zh-CN" dirty="0"/>
              <a:t>Anaconda</a:t>
            </a:r>
            <a:r>
              <a:rPr lang="zh-CN" altLang="en-US" dirty="0"/>
              <a:t>集成了那些</a:t>
            </a:r>
            <a:r>
              <a:rPr lang="en-US" altLang="zh-CN" dirty="0"/>
              <a:t>Python</a:t>
            </a:r>
            <a:r>
              <a:rPr lang="zh-CN" altLang="en-US" dirty="0"/>
              <a:t>包以及这些包对应的版本号。如图</a:t>
            </a:r>
            <a:r>
              <a:rPr lang="en-US" altLang="zh-CN" dirty="0"/>
              <a:t>1-6</a:t>
            </a:r>
            <a:r>
              <a:rPr lang="zh-CN" altLang="en-US" dirty="0"/>
              <a:t>所示。</a:t>
            </a:r>
          </a:p>
          <a:p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434085" y="1786281"/>
            <a:ext cx="5760640" cy="28305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349" y="4725144"/>
            <a:ext cx="8640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latin typeface="宋体" panose="02010600030101010101" pitchFamily="2" charset="-122"/>
              </a:rPr>
              <a:t>图</a:t>
            </a:r>
            <a:r>
              <a:rPr lang="en-US" altLang="zh-CN" sz="1200" dirty="0" smtClean="0">
                <a:latin typeface="宋体" panose="02010600030101010101" pitchFamily="2" charset="-122"/>
              </a:rPr>
              <a:t>1-6</a:t>
            </a:r>
            <a:endParaRPr lang="zh-CN" altLang="en-US" sz="1200" dirty="0">
              <a:latin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22780" y="5001895"/>
            <a:ext cx="82804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通过</a:t>
            </a:r>
            <a:r>
              <a:rPr lang="zh-CN" altLang="en-US" dirty="0"/>
              <a:t>滑动图</a:t>
            </a:r>
            <a:r>
              <a:rPr lang="en-US" altLang="zh-CN" dirty="0"/>
              <a:t>1-6</a:t>
            </a:r>
            <a:r>
              <a:rPr lang="zh-CN" altLang="en-US" dirty="0"/>
              <a:t>中所示的滚动条，可以发现</a:t>
            </a:r>
            <a:r>
              <a:rPr lang="en-US" altLang="zh-CN" dirty="0" err="1"/>
              <a:t>Numpy</a:t>
            </a:r>
            <a:r>
              <a:rPr lang="zh-CN" altLang="en-US" dirty="0"/>
              <a:t>、</a:t>
            </a:r>
            <a:r>
              <a:rPr lang="en-US" altLang="zh-CN" dirty="0"/>
              <a:t>Pandas</a:t>
            </a:r>
            <a:r>
              <a:rPr lang="zh-CN" altLang="en-US" dirty="0"/>
              <a:t>、</a:t>
            </a:r>
            <a:r>
              <a:rPr lang="en-US" altLang="zh-CN" dirty="0" err="1"/>
              <a:t>Matplotlib</a:t>
            </a:r>
            <a:r>
              <a:rPr lang="zh-CN" altLang="en-US" dirty="0"/>
              <a:t>、</a:t>
            </a:r>
            <a:r>
              <a:rPr lang="en-US" altLang="zh-CN" dirty="0" err="1"/>
              <a:t>Scikit</a:t>
            </a:r>
            <a:r>
              <a:rPr lang="en-US" altLang="zh-CN" dirty="0"/>
              <a:t>-learn</a:t>
            </a:r>
            <a:r>
              <a:rPr lang="zh-CN" altLang="en-US" dirty="0"/>
              <a:t>这些包均已经存在，无需再进行单独安装，而且这些包也是数据挖掘分析中经常用到的包。本书主要介绍这些包及其在金融数据挖掘中的应用。</a:t>
            </a: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829600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1.2.2 </a:t>
            </a:r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安装及启动</a:t>
            </a:r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及界面认识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1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3913" y="692696"/>
            <a:ext cx="50803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①</a:t>
            </a:r>
            <a:r>
              <a:rPr lang="en-US" altLang="zh-CN" dirty="0" err="1"/>
              <a:t>Spyder</a:t>
            </a:r>
            <a:r>
              <a:rPr lang="zh-CN" altLang="en-US" dirty="0"/>
              <a:t>为</a:t>
            </a:r>
            <a:r>
              <a:rPr lang="en-US" altLang="zh-CN" dirty="0"/>
              <a:t>Python</a:t>
            </a:r>
            <a:r>
              <a:rPr lang="zh-CN" altLang="en-US" dirty="0"/>
              <a:t>发行版</a:t>
            </a:r>
            <a:r>
              <a:rPr lang="en-US" altLang="zh-CN" dirty="0"/>
              <a:t>Anaconda</a:t>
            </a:r>
            <a:r>
              <a:rPr lang="zh-CN" altLang="en-US" dirty="0"/>
              <a:t>的集成开发环境，它简单易学且界面友好。本书所有的</a:t>
            </a:r>
            <a:r>
              <a:rPr lang="en-US" altLang="zh-CN" dirty="0"/>
              <a:t>Python</a:t>
            </a:r>
            <a:r>
              <a:rPr lang="zh-CN" altLang="en-US" dirty="0"/>
              <a:t>程序编写及执行均在</a:t>
            </a:r>
            <a:r>
              <a:rPr lang="en-US" altLang="zh-CN" dirty="0" err="1"/>
              <a:t>Spyder</a:t>
            </a:r>
            <a:r>
              <a:rPr lang="zh-CN" altLang="en-US" dirty="0"/>
              <a:t>中完成。</a:t>
            </a:r>
            <a:r>
              <a:rPr lang="en-US" altLang="zh-CN" dirty="0" err="1"/>
              <a:t>Spyder</a:t>
            </a:r>
            <a:r>
              <a:rPr lang="zh-CN" altLang="en-US" dirty="0"/>
              <a:t>启动非常简单，在开始菜单“所有程序”中找到</a:t>
            </a:r>
            <a:r>
              <a:rPr lang="en-US" altLang="zh-CN" dirty="0"/>
              <a:t>Anaconda</a:t>
            </a:r>
            <a:r>
              <a:rPr lang="zh-CN" altLang="en-US" dirty="0"/>
              <a:t>的安装文件夹，如图</a:t>
            </a:r>
            <a:r>
              <a:rPr lang="en-US" altLang="zh-CN" dirty="0"/>
              <a:t>1-7</a:t>
            </a:r>
            <a:r>
              <a:rPr lang="zh-CN" altLang="en-US" dirty="0"/>
              <a:t>所示。</a:t>
            </a:r>
          </a:p>
          <a:p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33" y="2276872"/>
            <a:ext cx="4968552" cy="33123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74019" y="5660184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latin typeface="宋体" panose="02010600030101010101" pitchFamily="2" charset="-122"/>
              </a:rPr>
              <a:t>图</a:t>
            </a:r>
            <a:r>
              <a:rPr lang="en-US" altLang="zh-CN" sz="1200" dirty="0" smtClean="0">
                <a:latin typeface="宋体" panose="02010600030101010101" pitchFamily="2" charset="-122"/>
              </a:rPr>
              <a:t>1-7</a:t>
            </a:r>
            <a:endParaRPr lang="zh-CN" altLang="en-US" sz="1200" dirty="0">
              <a:latin typeface="宋体" panose="02010600030101010101" pitchFamily="2" charset="-122"/>
            </a:endParaRPr>
          </a:p>
        </p:txBody>
      </p:sp>
      <p:sp>
        <p:nvSpPr>
          <p:cNvPr id="15" name="下箭头 14"/>
          <p:cNvSpPr/>
          <p:nvPr/>
        </p:nvSpPr>
        <p:spPr bwMode="auto">
          <a:xfrm rot="16200000">
            <a:off x="5651860" y="2652154"/>
            <a:ext cx="360972" cy="811254"/>
          </a:xfrm>
          <a:prstGeom prst="downArrow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10415" y="701262"/>
            <a:ext cx="46325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②鼠标</a:t>
            </a:r>
            <a:r>
              <a:rPr lang="zh-CN" altLang="en-US" dirty="0"/>
              <a:t>单击</a:t>
            </a:r>
            <a:r>
              <a:rPr lang="en-US" altLang="zh-CN" dirty="0" err="1"/>
              <a:t>Spyder</a:t>
            </a:r>
            <a:r>
              <a:rPr lang="zh-CN" altLang="en-US" dirty="0"/>
              <a:t>图标即可启动。</a:t>
            </a:r>
            <a:r>
              <a:rPr lang="en-US" altLang="zh-CN" dirty="0" err="1"/>
              <a:t>Spyder</a:t>
            </a:r>
            <a:r>
              <a:rPr lang="zh-CN" altLang="en-US" dirty="0"/>
              <a:t>启动完成后，即可得到默认的界面，如图</a:t>
            </a:r>
            <a:r>
              <a:rPr lang="en-US" altLang="zh-CN" dirty="0"/>
              <a:t>1-8</a:t>
            </a:r>
            <a:r>
              <a:rPr lang="zh-CN" altLang="en-US" dirty="0"/>
              <a:t>所示。</a:t>
            </a:r>
          </a:p>
          <a:p>
            <a:endParaRPr lang="zh-CN" altLang="en-US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58421" y="1772816"/>
            <a:ext cx="5256584" cy="40258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86713" y="5955413"/>
            <a:ext cx="8640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latin typeface="宋体" panose="02010600030101010101" pitchFamily="2" charset="-122"/>
              </a:rPr>
              <a:t>图</a:t>
            </a:r>
            <a:r>
              <a:rPr lang="en-US" altLang="zh-CN" sz="1200" dirty="0" smtClean="0">
                <a:latin typeface="宋体" panose="02010600030101010101" pitchFamily="2" charset="-122"/>
              </a:rPr>
              <a:t>1-8</a:t>
            </a:r>
            <a:endParaRPr lang="zh-CN" altLang="en-US" sz="12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9520144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1.2.2 </a:t>
            </a:r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安装及启动</a:t>
            </a:r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启动及界面认识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1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6617" y="692696"/>
            <a:ext cx="55717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 ③</a:t>
            </a:r>
            <a:r>
              <a:rPr lang="zh-CN" altLang="en-US" dirty="0"/>
              <a:t>有些读者对</a:t>
            </a:r>
            <a:r>
              <a:rPr lang="en-US" altLang="zh-CN" dirty="0" err="1"/>
              <a:t>Matlab</a:t>
            </a:r>
            <a:r>
              <a:rPr lang="zh-CN" altLang="en-US" dirty="0"/>
              <a:t>或者</a:t>
            </a:r>
            <a:r>
              <a:rPr lang="en-US" altLang="zh-CN" dirty="0"/>
              <a:t>R</a:t>
            </a:r>
            <a:r>
              <a:rPr lang="zh-CN" altLang="en-US" dirty="0"/>
              <a:t>语言系统的开发界面比较熟悉，在</a:t>
            </a:r>
            <a:r>
              <a:rPr lang="en-US" altLang="zh-CN" dirty="0"/>
              <a:t>Python</a:t>
            </a:r>
            <a:r>
              <a:rPr lang="zh-CN" altLang="en-US" dirty="0"/>
              <a:t>中也可以进行类似界面的设置。比如按照</a:t>
            </a:r>
            <a:r>
              <a:rPr lang="en-US" altLang="zh-CN" dirty="0" err="1"/>
              <a:t>Matlab</a:t>
            </a:r>
            <a:r>
              <a:rPr lang="zh-CN" altLang="en-US" dirty="0"/>
              <a:t>开发界面进行布局，可以在默认界面的任务栏中单击视图“</a:t>
            </a:r>
            <a:r>
              <a:rPr lang="en-US" altLang="zh-CN" dirty="0"/>
              <a:t>View</a:t>
            </a:r>
            <a:r>
              <a:rPr lang="zh-CN" altLang="en-US" dirty="0"/>
              <a:t>”，并在弹出的菜单中选择窗体布局“</a:t>
            </a:r>
            <a:r>
              <a:rPr lang="en-US" altLang="zh-CN" dirty="0"/>
              <a:t>Window Layouts</a:t>
            </a:r>
            <a:r>
              <a:rPr lang="zh-CN" altLang="en-US" dirty="0"/>
              <a:t>”下的“</a:t>
            </a:r>
            <a:r>
              <a:rPr lang="en-US" altLang="zh-CN" dirty="0" err="1"/>
              <a:t>Matlab</a:t>
            </a:r>
            <a:r>
              <a:rPr lang="en-US" altLang="zh-CN" dirty="0"/>
              <a:t> Layout</a:t>
            </a:r>
            <a:r>
              <a:rPr lang="zh-CN" altLang="en-US" dirty="0"/>
              <a:t>”选项。如图</a:t>
            </a:r>
            <a:r>
              <a:rPr lang="en-US" altLang="zh-CN" dirty="0"/>
              <a:t>1-9</a:t>
            </a:r>
            <a:r>
              <a:rPr lang="zh-CN" altLang="en-US" dirty="0"/>
              <a:t>所示。</a:t>
            </a:r>
          </a:p>
          <a:p>
            <a:endParaRPr lang="zh-CN" altLang="en-US" dirty="0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37741" y="2564904"/>
            <a:ext cx="5400600" cy="27363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97981" y="5517231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latin typeface="宋体" panose="02010600030101010101" pitchFamily="2" charset="-122"/>
              </a:rPr>
              <a:t>图</a:t>
            </a:r>
            <a:r>
              <a:rPr lang="en-US" altLang="zh-CN" sz="1200" dirty="0" smtClean="0">
                <a:latin typeface="宋体" panose="02010600030101010101" pitchFamily="2" charset="-122"/>
              </a:rPr>
              <a:t>1-9</a:t>
            </a:r>
            <a:endParaRPr lang="zh-CN" altLang="en-US" sz="1200" dirty="0">
              <a:latin typeface="宋体" panose="02010600030101010101" pitchFamily="2" charset="-122"/>
            </a:endParaRPr>
          </a:p>
        </p:txBody>
      </p:sp>
      <p:sp>
        <p:nvSpPr>
          <p:cNvPr id="23" name="下箭头 22"/>
          <p:cNvSpPr/>
          <p:nvPr/>
        </p:nvSpPr>
        <p:spPr bwMode="auto">
          <a:xfrm rot="16200000">
            <a:off x="6107498" y="3055244"/>
            <a:ext cx="360972" cy="811254"/>
          </a:xfrm>
          <a:prstGeom prst="downArrow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24163" y="785028"/>
            <a:ext cx="48965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④</a:t>
            </a:r>
            <a:r>
              <a:rPr lang="zh-CN" altLang="en-US" dirty="0"/>
              <a:t>最终得到类似于</a:t>
            </a:r>
            <a:r>
              <a:rPr lang="en-US" altLang="zh-CN" dirty="0"/>
              <a:t>MATLAB</a:t>
            </a:r>
            <a:r>
              <a:rPr lang="zh-CN" altLang="en-US" dirty="0"/>
              <a:t>开发界面布局，如图</a:t>
            </a:r>
            <a:r>
              <a:rPr lang="en-US" altLang="zh-CN" dirty="0"/>
              <a:t>1-10</a:t>
            </a:r>
            <a:r>
              <a:rPr lang="zh-CN" altLang="en-US" dirty="0"/>
              <a:t>所示。</a:t>
            </a:r>
          </a:p>
          <a:p>
            <a:endParaRPr lang="zh-CN" altLang="en-US" dirty="0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820142" y="1844824"/>
            <a:ext cx="5274310" cy="3600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953241" y="5650483"/>
            <a:ext cx="1008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latin typeface="宋体" panose="02010600030101010101" pitchFamily="2" charset="-122"/>
              </a:rPr>
              <a:t>图</a:t>
            </a:r>
            <a:r>
              <a:rPr lang="en-US" altLang="zh-CN" sz="1200" dirty="0" smtClean="0">
                <a:latin typeface="宋体" panose="02010600030101010101" pitchFamily="2" charset="-122"/>
              </a:rPr>
              <a:t>1-10</a:t>
            </a:r>
            <a:endParaRPr lang="zh-CN" altLang="en-US" sz="12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973616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1.2.2 </a:t>
            </a:r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安装及启动</a:t>
            </a:r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启动及界面认识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1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0263" y="692696"/>
            <a:ext cx="640003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 ⑤</a:t>
            </a:r>
            <a:r>
              <a:rPr lang="zh-CN" altLang="en-US" dirty="0"/>
              <a:t>图</a:t>
            </a:r>
            <a:r>
              <a:rPr lang="en-US" altLang="zh-CN" dirty="0"/>
              <a:t>1-10</a:t>
            </a:r>
            <a:r>
              <a:rPr lang="zh-CN" altLang="en-US" dirty="0"/>
              <a:t>的界面与</a:t>
            </a:r>
            <a:r>
              <a:rPr lang="en-US" altLang="zh-CN" dirty="0" err="1"/>
              <a:t>Matlab</a:t>
            </a:r>
            <a:r>
              <a:rPr lang="zh-CN" altLang="en-US" dirty="0"/>
              <a:t>开发界面布局一致。如果读者有</a:t>
            </a:r>
            <a:r>
              <a:rPr lang="en-US" altLang="zh-CN" dirty="0" err="1"/>
              <a:t>Matlab</a:t>
            </a:r>
            <a:r>
              <a:rPr lang="zh-CN" altLang="en-US" dirty="0"/>
              <a:t>的使用经验，就可以按照</a:t>
            </a:r>
            <a:r>
              <a:rPr lang="en-US" altLang="zh-CN" dirty="0" err="1"/>
              <a:t>Matlab</a:t>
            </a:r>
            <a:r>
              <a:rPr lang="zh-CN" altLang="en-US" dirty="0"/>
              <a:t>的一些使用习惯进行开发</a:t>
            </a:r>
            <a:r>
              <a:rPr lang="en-US" altLang="zh-CN" dirty="0"/>
              <a:t>Python</a:t>
            </a:r>
            <a:r>
              <a:rPr lang="zh-CN" altLang="en-US" dirty="0"/>
              <a:t>程序了。如果读者没有</a:t>
            </a:r>
            <a:r>
              <a:rPr lang="en-US" altLang="zh-CN" dirty="0" err="1"/>
              <a:t>Matlab</a:t>
            </a:r>
            <a:r>
              <a:rPr lang="zh-CN" altLang="en-US" dirty="0"/>
              <a:t>使用习惯也没有关系，下面将介绍如何在这个界面上编写</a:t>
            </a:r>
            <a:r>
              <a:rPr lang="en-US" altLang="zh-CN" dirty="0"/>
              <a:t>Python</a:t>
            </a:r>
            <a:r>
              <a:rPr lang="zh-CN" altLang="en-US" dirty="0"/>
              <a:t>程序。作为入门，首先在编写程序之前，我们先创建一个空文件夹，称为工作文件夹，并将该文件夹设置为</a:t>
            </a:r>
            <a:r>
              <a:rPr lang="en-US" altLang="zh-CN" dirty="0"/>
              <a:t>Python</a:t>
            </a:r>
            <a:r>
              <a:rPr lang="zh-CN" altLang="en-US" dirty="0"/>
              <a:t>当前文件夹。比如在桌面上创建一个命名为“</a:t>
            </a:r>
            <a:r>
              <a:rPr lang="en-US" altLang="zh-CN" dirty="0" err="1"/>
              <a:t>mypython</a:t>
            </a:r>
            <a:r>
              <a:rPr lang="en-US" altLang="zh-CN" dirty="0"/>
              <a:t>”</a:t>
            </a:r>
            <a:r>
              <a:rPr lang="zh-CN" altLang="en-US" dirty="0"/>
              <a:t>的空文件夹，其文件夹路径为：</a:t>
            </a:r>
            <a:r>
              <a:rPr lang="en-US" altLang="zh-CN" dirty="0"/>
              <a:t>C</a:t>
            </a:r>
            <a:r>
              <a:rPr lang="zh-CN" altLang="en-US" dirty="0"/>
              <a:t>：</a:t>
            </a:r>
            <a:r>
              <a:rPr lang="en-US" altLang="zh-CN" dirty="0"/>
              <a:t>\Users\Administrator\Desktop\</a:t>
            </a:r>
            <a:r>
              <a:rPr lang="en-US" altLang="zh-CN" dirty="0" err="1"/>
              <a:t>mypython</a:t>
            </a:r>
            <a:r>
              <a:rPr lang="zh-CN" altLang="en-US" dirty="0"/>
              <a:t>，将该文件夹路径拷贝至</a:t>
            </a:r>
            <a:r>
              <a:rPr lang="en-US" altLang="zh-CN" dirty="0" err="1"/>
              <a:t>Spyder</a:t>
            </a:r>
            <a:r>
              <a:rPr lang="zh-CN" altLang="en-US" dirty="0"/>
              <a:t>中的文件路径设置框，并按下</a:t>
            </a:r>
            <a:r>
              <a:rPr lang="en-US" altLang="zh-CN" dirty="0"/>
              <a:t>Enter</a:t>
            </a:r>
            <a:r>
              <a:rPr lang="zh-CN" altLang="en-US" dirty="0"/>
              <a:t>键，即可设置完成，如图</a:t>
            </a:r>
            <a:r>
              <a:rPr lang="en-US" altLang="zh-CN" dirty="0"/>
              <a:t>1-11</a:t>
            </a:r>
            <a:r>
              <a:rPr lang="zh-CN" altLang="en-US" dirty="0"/>
              <a:t>所示。</a:t>
            </a:r>
          </a:p>
          <a:p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1151" y="3688457"/>
            <a:ext cx="5914628" cy="20162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09949" y="5861520"/>
            <a:ext cx="8640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latin typeface="宋体" panose="02010600030101010101" pitchFamily="2" charset="-122"/>
              </a:rPr>
              <a:t>图</a:t>
            </a:r>
            <a:r>
              <a:rPr lang="en-US" altLang="zh-CN" sz="1200" dirty="0" smtClean="0">
                <a:latin typeface="宋体" panose="02010600030101010101" pitchFamily="2" charset="-122"/>
              </a:rPr>
              <a:t>1-11</a:t>
            </a:r>
            <a:endParaRPr lang="zh-CN" altLang="en-US" sz="1200" dirty="0">
              <a:latin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41139" y="692696"/>
            <a:ext cx="555562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 ⑥</a:t>
            </a:r>
            <a:r>
              <a:rPr lang="en-US" altLang="zh-CN" dirty="0"/>
              <a:t>Python</a:t>
            </a:r>
            <a:r>
              <a:rPr lang="zh-CN" altLang="en-US" dirty="0"/>
              <a:t>当前文件夹设置完成后，就可以进行</a:t>
            </a:r>
            <a:r>
              <a:rPr lang="en-US" altLang="zh-CN" dirty="0"/>
              <a:t>Python</a:t>
            </a:r>
            <a:r>
              <a:rPr lang="zh-CN" altLang="en-US" dirty="0"/>
              <a:t>程序编写了。本书主要介绍在</a:t>
            </a:r>
            <a:r>
              <a:rPr lang="en-US" altLang="zh-CN" dirty="0"/>
              <a:t>Python</a:t>
            </a:r>
            <a:r>
              <a:rPr lang="zh-CN" altLang="en-US" dirty="0"/>
              <a:t>脚本中编写程序。何为</a:t>
            </a:r>
            <a:r>
              <a:rPr lang="en-US" altLang="zh-CN" dirty="0"/>
              <a:t>Python</a:t>
            </a:r>
            <a:r>
              <a:rPr lang="zh-CN" altLang="en-US" dirty="0"/>
              <a:t>脚本呢？它是一种</a:t>
            </a:r>
            <a:r>
              <a:rPr lang="en-US" altLang="zh-CN" dirty="0"/>
              <a:t>Python</a:t>
            </a:r>
            <a:r>
              <a:rPr lang="zh-CN" altLang="en-US" dirty="0"/>
              <a:t>文件，后缀为</a:t>
            </a:r>
            <a:r>
              <a:rPr lang="en-US" altLang="zh-CN" dirty="0"/>
              <a:t>.</a:t>
            </a:r>
            <a:r>
              <a:rPr lang="en-US" altLang="zh-CN" dirty="0" err="1"/>
              <a:t>py</a:t>
            </a:r>
            <a:r>
              <a:rPr lang="zh-CN" altLang="en-US" dirty="0"/>
              <a:t>。比如创建一个</a:t>
            </a:r>
            <a:r>
              <a:rPr lang="en-US" altLang="zh-CN" dirty="0"/>
              <a:t>Python</a:t>
            </a:r>
            <a:r>
              <a:rPr lang="zh-CN" altLang="en-US" dirty="0"/>
              <a:t>脚本文件，编写程序代码并保存，命名为</a:t>
            </a:r>
            <a:r>
              <a:rPr lang="en-US" altLang="zh-CN" dirty="0"/>
              <a:t>test1.py</a:t>
            </a:r>
            <a:r>
              <a:rPr lang="zh-CN" altLang="en-US" dirty="0"/>
              <a:t>，如图</a:t>
            </a:r>
            <a:r>
              <a:rPr lang="en-US" altLang="zh-CN" dirty="0"/>
              <a:t>1-12</a:t>
            </a:r>
            <a:r>
              <a:rPr lang="zh-CN" altLang="en-US" dirty="0"/>
              <a:t>所示。图</a:t>
            </a:r>
            <a:r>
              <a:rPr lang="en-US" altLang="zh-CN" dirty="0"/>
              <a:t>1-12</a:t>
            </a:r>
            <a:r>
              <a:rPr lang="zh-CN" altLang="en-US" dirty="0"/>
              <a:t>显示了通过单击</a:t>
            </a:r>
            <a:r>
              <a:rPr lang="en-US" altLang="zh-CN" dirty="0" err="1"/>
              <a:t>Spyder</a:t>
            </a:r>
            <a:r>
              <a:rPr lang="zh-CN" altLang="en-US" dirty="0"/>
              <a:t>界面菜单栏最左边的图标，即可弹出脚本程序编辑器，并输入两行</a:t>
            </a:r>
            <a:r>
              <a:rPr lang="en-US" altLang="zh-CN" dirty="0"/>
              <a:t>Python</a:t>
            </a:r>
            <a:r>
              <a:rPr lang="zh-CN" altLang="en-US" dirty="0"/>
              <a:t>程序，单击菜单栏中的保存按钮，在弹出的文件保存对话框中输入文件名</a:t>
            </a:r>
            <a:r>
              <a:rPr lang="en-US" altLang="zh-CN" dirty="0"/>
              <a:t>test1</a:t>
            </a:r>
            <a:r>
              <a:rPr lang="zh-CN" altLang="en-US" dirty="0"/>
              <a:t>并保存，即可完成</a:t>
            </a:r>
            <a:r>
              <a:rPr lang="en-US" altLang="zh-CN" dirty="0"/>
              <a:t>Python</a:t>
            </a:r>
            <a:r>
              <a:rPr lang="zh-CN" altLang="en-US" dirty="0"/>
              <a:t>脚本文件的保存。</a:t>
            </a:r>
          </a:p>
          <a:p>
            <a:endParaRPr lang="zh-CN" altLang="en-US" dirty="0"/>
          </a:p>
        </p:txBody>
      </p:sp>
      <p:sp>
        <p:nvSpPr>
          <p:cNvPr id="10" name="下箭头 9"/>
          <p:cNvSpPr/>
          <p:nvPr/>
        </p:nvSpPr>
        <p:spPr bwMode="auto">
          <a:xfrm rot="16200000">
            <a:off x="6302375" y="3894455"/>
            <a:ext cx="360680" cy="625475"/>
          </a:xfrm>
          <a:prstGeom prst="downArrow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869025" y="3688892"/>
            <a:ext cx="5245739" cy="2425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72479" y="6214501"/>
            <a:ext cx="7282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latin typeface="宋体" panose="02010600030101010101" pitchFamily="2" charset="-122"/>
              </a:rPr>
              <a:t>图</a:t>
            </a:r>
            <a:r>
              <a:rPr lang="en-US" altLang="zh-CN" sz="1200" dirty="0" smtClean="0">
                <a:latin typeface="宋体" panose="02010600030101010101" pitchFamily="2" charset="-122"/>
              </a:rPr>
              <a:t>1-12</a:t>
            </a:r>
            <a:endParaRPr lang="zh-CN" altLang="en-US" sz="12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9160103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1.2.2 </a:t>
            </a:r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安装及启动</a:t>
            </a:r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启动及界面认识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1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0813" y="692696"/>
            <a:ext cx="56275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⑦</a:t>
            </a:r>
            <a:r>
              <a:rPr lang="zh-CN" altLang="en-US" dirty="0"/>
              <a:t>保存完成后，</a:t>
            </a:r>
            <a:r>
              <a:rPr lang="en-US" altLang="zh-CN" dirty="0"/>
              <a:t>Python</a:t>
            </a:r>
            <a:r>
              <a:rPr lang="zh-CN" altLang="en-US" dirty="0"/>
              <a:t>当前文件夹中就会显示刚才创建的脚本文件</a:t>
            </a:r>
            <a:r>
              <a:rPr lang="en-US" altLang="zh-CN" dirty="0"/>
              <a:t>test1.py</a:t>
            </a:r>
            <a:r>
              <a:rPr lang="zh-CN" altLang="en-US" dirty="0"/>
              <a:t>，如图</a:t>
            </a:r>
            <a:r>
              <a:rPr lang="en-US" altLang="zh-CN" dirty="0"/>
              <a:t>1-13</a:t>
            </a:r>
            <a:r>
              <a:rPr lang="zh-CN" altLang="en-US" dirty="0"/>
              <a:t>所示。那么如何执行该脚本程序呢？有两种方法：一种是将鼠标放在脚本文件上单击右键，在弹出的选择菜单中单击“</a:t>
            </a:r>
            <a:r>
              <a:rPr lang="en-US" altLang="zh-CN" dirty="0"/>
              <a:t>Run</a:t>
            </a:r>
            <a:r>
              <a:rPr lang="zh-CN" altLang="en-US" dirty="0"/>
              <a:t>”；另一种双击脚本文件并打开，这时打开的脚本文件名及内容在右边以高亮状态显示，单击菜单栏上的即可运行。这两种方法也在图</a:t>
            </a:r>
            <a:r>
              <a:rPr lang="en-US" altLang="zh-CN" dirty="0"/>
              <a:t>1-13</a:t>
            </a:r>
            <a:r>
              <a:rPr lang="zh-CN" altLang="en-US" dirty="0"/>
              <a:t>中给出来了。</a:t>
            </a:r>
          </a:p>
          <a:p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5733" y="2852935"/>
            <a:ext cx="5256584" cy="230425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00607" y="5445224"/>
            <a:ext cx="1239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latin typeface="宋体" panose="02010600030101010101" pitchFamily="2" charset="-122"/>
              </a:rPr>
              <a:t>图</a:t>
            </a:r>
            <a:r>
              <a:rPr lang="en-US" altLang="zh-CN" sz="1200" dirty="0" smtClean="0">
                <a:latin typeface="宋体" panose="02010600030101010101" pitchFamily="2" charset="-122"/>
              </a:rPr>
              <a:t>1-13</a:t>
            </a:r>
            <a:endParaRPr lang="zh-CN" altLang="en-US" sz="1200" dirty="0">
              <a:latin typeface="宋体" panose="02010600030101010101" pitchFamily="2" charset="-122"/>
            </a:endParaRPr>
          </a:p>
        </p:txBody>
      </p:sp>
      <p:sp>
        <p:nvSpPr>
          <p:cNvPr id="9" name="下箭头 8"/>
          <p:cNvSpPr/>
          <p:nvPr/>
        </p:nvSpPr>
        <p:spPr bwMode="auto">
          <a:xfrm rot="16200000">
            <a:off x="6107498" y="3055244"/>
            <a:ext cx="360972" cy="811254"/>
          </a:xfrm>
          <a:prstGeom prst="downArrow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34485" y="692696"/>
            <a:ext cx="47525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⑧</a:t>
            </a:r>
            <a:r>
              <a:rPr lang="zh-CN" altLang="en-US" dirty="0"/>
              <a:t>执行完成后，可以在</a:t>
            </a:r>
            <a:r>
              <a:rPr lang="en-US" altLang="zh-CN" dirty="0" err="1"/>
              <a:t>Spyder</a:t>
            </a:r>
            <a:r>
              <a:rPr lang="zh-CN" altLang="en-US" dirty="0"/>
              <a:t>最右边的变量资源管理器窗口（</a:t>
            </a:r>
            <a:r>
              <a:rPr lang="en-US" altLang="zh-CN" dirty="0"/>
              <a:t>variable explorer</a:t>
            </a:r>
            <a:r>
              <a:rPr lang="zh-CN" altLang="en-US" dirty="0"/>
              <a:t>）查看脚本程序中定义的相关变量结果，包括变量名称、数据类型及详细信息，如图</a:t>
            </a:r>
            <a:r>
              <a:rPr lang="en-US" altLang="zh-CN" dirty="0"/>
              <a:t>1-14</a:t>
            </a:r>
            <a:r>
              <a:rPr lang="zh-CN" altLang="en-US" dirty="0"/>
              <a:t>所示。</a:t>
            </a:r>
          </a:p>
          <a:p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890469" y="2170024"/>
            <a:ext cx="5184576" cy="2915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66733" y="5301208"/>
            <a:ext cx="10801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latin typeface="宋体" panose="02010600030101010101" pitchFamily="2" charset="-122"/>
              </a:rPr>
              <a:t>图</a:t>
            </a:r>
            <a:r>
              <a:rPr lang="en-US" altLang="zh-CN" sz="1200" dirty="0" smtClean="0">
                <a:latin typeface="宋体" panose="02010600030101010101" pitchFamily="2" charset="-122"/>
              </a:rPr>
              <a:t>1-14</a:t>
            </a:r>
            <a:endParaRPr lang="zh-CN" altLang="en-US" sz="12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9520144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1.2.2 </a:t>
            </a:r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安装及启动</a:t>
            </a:r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启动及界面认识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1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4677" y="764704"/>
            <a:ext cx="56656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  ⑨然后，</a:t>
            </a:r>
            <a:r>
              <a:rPr lang="zh-CN" altLang="en-US" dirty="0"/>
              <a:t>也可以在</a:t>
            </a:r>
            <a:r>
              <a:rPr lang="en-US" altLang="zh-CN" dirty="0"/>
              <a:t>Python</a:t>
            </a:r>
            <a:r>
              <a:rPr lang="zh-CN" altLang="en-US" dirty="0"/>
              <a:t>控制台中定义变量，并在变量资源管理器窗口中显示出来。这些功能及应用技巧在程序开发过程中往往会起到很重要的作用，比如程序计算逻辑是否正确、变量结果测试等等可以通过</a:t>
            </a:r>
            <a:r>
              <a:rPr lang="en-US" altLang="zh-CN" dirty="0"/>
              <a:t>Python</a:t>
            </a:r>
            <a:r>
              <a:rPr lang="zh-CN" altLang="en-US" dirty="0"/>
              <a:t>控制台来进行操作，如图</a:t>
            </a:r>
            <a:r>
              <a:rPr lang="en-US" altLang="zh-CN" dirty="0"/>
              <a:t>1-15</a:t>
            </a:r>
            <a:r>
              <a:rPr lang="zh-CN" altLang="en-US" dirty="0"/>
              <a:t>所示。</a:t>
            </a:r>
          </a:p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434085" y="2204864"/>
            <a:ext cx="5544616" cy="29523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94793" y="5234716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latin typeface="宋体" panose="02010600030101010101" pitchFamily="2" charset="-122"/>
              </a:rPr>
              <a:t>图</a:t>
            </a:r>
            <a:r>
              <a:rPr lang="en-US" altLang="zh-CN" sz="1200" dirty="0" smtClean="0">
                <a:latin typeface="宋体" panose="02010600030101010101" pitchFamily="2" charset="-122"/>
              </a:rPr>
              <a:t>1-15</a:t>
            </a:r>
            <a:endParaRPr lang="zh-CN" altLang="en-US" sz="1200" dirty="0">
              <a:latin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38970" y="5511715"/>
            <a:ext cx="95770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   图</a:t>
            </a:r>
            <a:r>
              <a:rPr lang="en-US" altLang="zh-CN" dirty="0"/>
              <a:t>1-15</a:t>
            </a:r>
            <a:r>
              <a:rPr lang="zh-CN" altLang="en-US" dirty="0"/>
              <a:t>中</a:t>
            </a:r>
            <a:r>
              <a:rPr lang="en-US" altLang="zh-CN" dirty="0" err="1"/>
              <a:t>IPython</a:t>
            </a:r>
            <a:r>
              <a:rPr lang="en-US" altLang="zh-CN" dirty="0"/>
              <a:t> console</a:t>
            </a:r>
            <a:r>
              <a:rPr lang="zh-CN" altLang="en-US" dirty="0"/>
              <a:t>所在的区域就是</a:t>
            </a:r>
            <a:r>
              <a:rPr lang="en-US" altLang="zh-CN" dirty="0"/>
              <a:t>Python</a:t>
            </a:r>
            <a:r>
              <a:rPr lang="zh-CN" altLang="en-US" dirty="0"/>
              <a:t>控制台窗口，</a:t>
            </a:r>
            <a:r>
              <a:rPr lang="en-US" altLang="zh-CN" dirty="0"/>
              <a:t>In[11]</a:t>
            </a:r>
            <a:r>
              <a:rPr lang="zh-CN" altLang="en-US" dirty="0"/>
              <a:t>所在的程序命令就是对变量资源管理器窗口中的</a:t>
            </a:r>
            <a:r>
              <a:rPr lang="en-US" altLang="zh-CN" dirty="0"/>
              <a:t>list1</a:t>
            </a:r>
            <a:r>
              <a:rPr lang="zh-CN" altLang="en-US" dirty="0"/>
              <a:t>变量进行求和操作，并将求和结果赋给变量</a:t>
            </a:r>
            <a:r>
              <a:rPr lang="en-US" altLang="zh-CN" dirty="0"/>
              <a:t>s1</a:t>
            </a:r>
            <a:r>
              <a:rPr lang="zh-CN" altLang="en-US" dirty="0"/>
              <a:t>，按</a:t>
            </a:r>
            <a:r>
              <a:rPr lang="en-US" altLang="zh-CN" dirty="0"/>
              <a:t>Enter</a:t>
            </a:r>
            <a:r>
              <a:rPr lang="zh-CN" altLang="en-US" dirty="0"/>
              <a:t>键即可执行，执行完成后可以在变量资源管理器窗口中看到变量</a:t>
            </a:r>
            <a:r>
              <a:rPr lang="en-US" altLang="zh-CN" dirty="0"/>
              <a:t>s1</a:t>
            </a:r>
            <a:r>
              <a:rPr lang="zh-CN" altLang="en-US" dirty="0"/>
              <a:t>的结果。</a:t>
            </a:r>
            <a:r>
              <a:rPr lang="en-US" altLang="zh-CN" dirty="0"/>
              <a:t>In[12]</a:t>
            </a:r>
            <a:r>
              <a:rPr lang="zh-CN" altLang="en-US" dirty="0"/>
              <a:t>和</a:t>
            </a:r>
            <a:r>
              <a:rPr lang="en-US" altLang="zh-CN" dirty="0"/>
              <a:t>In[13]</a:t>
            </a:r>
            <a:r>
              <a:rPr lang="zh-CN" altLang="en-US" dirty="0"/>
              <a:t>则分别是定义一个元组</a:t>
            </a:r>
            <a:r>
              <a:rPr lang="en-US" altLang="zh-CN" dirty="0"/>
              <a:t>t</a:t>
            </a:r>
            <a:r>
              <a:rPr lang="zh-CN" altLang="en-US" dirty="0"/>
              <a:t>和一个字符串</a:t>
            </a:r>
            <a:r>
              <a:rPr lang="en-US" altLang="zh-CN" dirty="0"/>
              <a:t>str1</a:t>
            </a:r>
            <a:r>
              <a:rPr lang="zh-CN" altLang="en-US" dirty="0"/>
              <a:t>，执行完成也可以在变量资源管理器窗口中查看。</a:t>
            </a: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8167594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1.2.3 </a:t>
            </a:r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安装及启动</a:t>
            </a:r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1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0263" y="692696"/>
            <a:ext cx="639016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  ①</a:t>
            </a:r>
            <a:r>
              <a:rPr lang="zh-CN" altLang="en-US" dirty="0"/>
              <a:t>事实上，作为</a:t>
            </a:r>
            <a:r>
              <a:rPr lang="en-US" altLang="zh-CN" dirty="0"/>
              <a:t>Python</a:t>
            </a:r>
            <a:r>
              <a:rPr lang="zh-CN" altLang="en-US" dirty="0"/>
              <a:t>的发行版本</a:t>
            </a:r>
            <a:r>
              <a:rPr lang="en-US" altLang="zh-CN" dirty="0" err="1"/>
              <a:t>Andconda</a:t>
            </a:r>
            <a:r>
              <a:rPr lang="zh-CN" altLang="en-US" dirty="0"/>
              <a:t>已经集成了众多的</a:t>
            </a:r>
            <a:r>
              <a:rPr lang="en-US" altLang="zh-CN" dirty="0"/>
              <a:t>Python</a:t>
            </a:r>
            <a:r>
              <a:rPr lang="zh-CN" altLang="en-US" dirty="0"/>
              <a:t>包，基本能满足大部分的应用，但是仍然有部分专用包没有集成到进去。如果在应用中需要用到某个</a:t>
            </a:r>
            <a:r>
              <a:rPr lang="en-US" altLang="zh-CN" dirty="0"/>
              <a:t>Python</a:t>
            </a:r>
            <a:r>
              <a:rPr lang="zh-CN" altLang="en-US" dirty="0"/>
              <a:t>包，但是</a:t>
            </a:r>
            <a:r>
              <a:rPr lang="en-US" altLang="zh-CN" dirty="0" err="1"/>
              <a:t>Andconda</a:t>
            </a:r>
            <a:r>
              <a:rPr lang="zh-CN" altLang="en-US" dirty="0"/>
              <a:t>又没有集成进来，这时就需要安装其扩展包了。查看</a:t>
            </a:r>
            <a:r>
              <a:rPr lang="en-US" altLang="zh-CN" dirty="0" err="1"/>
              <a:t>Andconda</a:t>
            </a:r>
            <a:r>
              <a:rPr lang="zh-CN" altLang="en-US" dirty="0"/>
              <a:t>中是否集成了所需的扩展包，可以参考</a:t>
            </a:r>
            <a:r>
              <a:rPr lang="en-US" altLang="zh-CN" dirty="0"/>
              <a:t>1.3</a:t>
            </a:r>
            <a:r>
              <a:rPr lang="zh-CN" altLang="en-US" dirty="0"/>
              <a:t>节中的内容。安装扩展包的方法为：单击打开</a:t>
            </a:r>
            <a:r>
              <a:rPr lang="en-US" altLang="zh-CN" dirty="0" err="1"/>
              <a:t>Andconda</a:t>
            </a:r>
            <a:r>
              <a:rPr lang="zh-CN" altLang="en-US" dirty="0"/>
              <a:t>安装文件夹下的</a:t>
            </a:r>
            <a:r>
              <a:rPr lang="en-US" altLang="zh-CN" dirty="0" err="1"/>
              <a:t>Andconda</a:t>
            </a:r>
            <a:r>
              <a:rPr lang="en-US" altLang="zh-CN" dirty="0"/>
              <a:t> Prompt</a:t>
            </a:r>
            <a:r>
              <a:rPr lang="zh-CN" altLang="en-US" dirty="0"/>
              <a:t>命令，并在打开的命令窗口中输入以下安装命令：</a:t>
            </a:r>
            <a:r>
              <a:rPr lang="en-US" altLang="zh-CN" dirty="0"/>
              <a:t>pip install +</a:t>
            </a:r>
            <a:r>
              <a:rPr lang="zh-CN" altLang="en-US" dirty="0"/>
              <a:t>安装包名称，按下</a:t>
            </a:r>
            <a:r>
              <a:rPr lang="en-US" altLang="zh-CN" dirty="0"/>
              <a:t>Enter</a:t>
            </a:r>
            <a:r>
              <a:rPr lang="zh-CN" altLang="en-US" dirty="0"/>
              <a:t>键即可安装。下面以安装文本挖掘专用包“</a:t>
            </a:r>
            <a:r>
              <a:rPr lang="en-US" altLang="zh-CN" dirty="0" err="1"/>
              <a:t>jieba</a:t>
            </a:r>
            <a:r>
              <a:rPr lang="en-US" altLang="zh-CN" dirty="0"/>
              <a:t>”</a:t>
            </a:r>
            <a:r>
              <a:rPr lang="zh-CN" altLang="en-US" dirty="0"/>
              <a:t>为例，介绍安装</a:t>
            </a:r>
            <a:r>
              <a:rPr lang="en-US" altLang="zh-CN" dirty="0"/>
              <a:t>Python</a:t>
            </a:r>
            <a:r>
              <a:rPr lang="zh-CN" altLang="en-US" dirty="0"/>
              <a:t>扩展包的方法。首先单击打开</a:t>
            </a:r>
            <a:r>
              <a:rPr lang="en-US" altLang="zh-CN" dirty="0" err="1"/>
              <a:t>Andconda</a:t>
            </a:r>
            <a:r>
              <a:rPr lang="zh-CN" altLang="en-US" dirty="0"/>
              <a:t>安装文件夹下的</a:t>
            </a:r>
            <a:r>
              <a:rPr lang="en-US" altLang="zh-CN" dirty="0" err="1"/>
              <a:t>Andconda</a:t>
            </a:r>
            <a:r>
              <a:rPr lang="en-US" altLang="zh-CN" dirty="0"/>
              <a:t> Prompt</a:t>
            </a:r>
            <a:r>
              <a:rPr lang="zh-CN" altLang="en-US" dirty="0"/>
              <a:t>命令，如图</a:t>
            </a:r>
            <a:r>
              <a:rPr lang="en-US" altLang="zh-CN" dirty="0"/>
              <a:t>1-16</a:t>
            </a:r>
            <a:r>
              <a:rPr lang="zh-CN" altLang="en-US" dirty="0"/>
              <a:t>所示。</a:t>
            </a:r>
          </a:p>
          <a:p>
            <a:endParaRPr lang="zh-CN" altLang="en-US" dirty="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765" y="4005262"/>
            <a:ext cx="3255448" cy="16559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87459" y="5882788"/>
            <a:ext cx="900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latin typeface="宋体" panose="02010600030101010101" pitchFamily="2" charset="-122"/>
              </a:rPr>
              <a:t>图</a:t>
            </a:r>
            <a:r>
              <a:rPr lang="en-US" altLang="zh-CN" sz="1200" dirty="0" smtClean="0">
                <a:latin typeface="宋体" panose="02010600030101010101" pitchFamily="2" charset="-122"/>
              </a:rPr>
              <a:t>1-16</a:t>
            </a:r>
            <a:endParaRPr lang="zh-CN" altLang="en-US" sz="1200" dirty="0">
              <a:latin typeface="宋体" panose="02010600030101010101" pitchFamily="2" charset="-122"/>
            </a:endParaRPr>
          </a:p>
        </p:txBody>
      </p:sp>
      <p:sp>
        <p:nvSpPr>
          <p:cNvPr id="24" name="下箭头 23"/>
          <p:cNvSpPr/>
          <p:nvPr/>
        </p:nvSpPr>
        <p:spPr bwMode="auto">
          <a:xfrm rot="16200000">
            <a:off x="6086032" y="3599635"/>
            <a:ext cx="360972" cy="811254"/>
          </a:xfrm>
          <a:prstGeom prst="downArrow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57513" y="1700808"/>
            <a:ext cx="48089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  ②</a:t>
            </a:r>
            <a:r>
              <a:rPr lang="zh-CN" altLang="en-US" dirty="0"/>
              <a:t>其次，在打开的</a:t>
            </a:r>
            <a:r>
              <a:rPr lang="en-US" altLang="zh-CN" dirty="0" err="1"/>
              <a:t>Andconda</a:t>
            </a:r>
            <a:r>
              <a:rPr lang="en-US" altLang="zh-CN" dirty="0"/>
              <a:t> Prompt</a:t>
            </a:r>
            <a:r>
              <a:rPr lang="zh-CN" altLang="en-US" dirty="0"/>
              <a:t>命令窗口中，输入：</a:t>
            </a:r>
            <a:r>
              <a:rPr lang="en-US" altLang="zh-CN" dirty="0"/>
              <a:t>pip install </a:t>
            </a:r>
            <a:r>
              <a:rPr lang="en-US" altLang="zh-CN" dirty="0" err="1"/>
              <a:t>jieba</a:t>
            </a:r>
            <a:r>
              <a:rPr lang="zh-CN" altLang="en-US" dirty="0"/>
              <a:t>安装命令，如图</a:t>
            </a:r>
            <a:r>
              <a:rPr lang="en-US" altLang="zh-CN" dirty="0"/>
              <a:t>1-17</a:t>
            </a:r>
            <a:r>
              <a:rPr lang="zh-CN" altLang="en-US" dirty="0"/>
              <a:t>所示。</a:t>
            </a:r>
          </a:p>
          <a:p>
            <a:endParaRPr lang="zh-CN" altLang="en-US" dirty="0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962476" y="2901137"/>
            <a:ext cx="5173037" cy="14370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1442" y="4500554"/>
            <a:ext cx="748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latin typeface="宋体" panose="02010600030101010101" pitchFamily="2" charset="-122"/>
              </a:rPr>
              <a:t>图</a:t>
            </a:r>
            <a:r>
              <a:rPr lang="en-US" altLang="zh-CN" sz="1200" dirty="0" smtClean="0">
                <a:latin typeface="宋体" panose="02010600030101010101" pitchFamily="2" charset="-122"/>
              </a:rPr>
              <a:t>1-17</a:t>
            </a:r>
            <a:endParaRPr lang="zh-CN" altLang="en-US" sz="12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9520144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1.2.3 Python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安装及启动</a:t>
            </a:r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安装扩展包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1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0263" y="692696"/>
            <a:ext cx="46619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 ③</a:t>
            </a:r>
            <a:r>
              <a:rPr lang="zh-CN" altLang="en-US" dirty="0"/>
              <a:t>图</a:t>
            </a:r>
            <a:r>
              <a:rPr lang="en-US" altLang="zh-CN" dirty="0"/>
              <a:t>1-17</a:t>
            </a:r>
            <a:r>
              <a:rPr lang="zh-CN" altLang="en-US" dirty="0"/>
              <a:t>中椭圆框起来的内容就是安装</a:t>
            </a:r>
            <a:r>
              <a:rPr lang="en-US" altLang="zh-CN" dirty="0" err="1"/>
              <a:t>jieba</a:t>
            </a:r>
            <a:r>
              <a:rPr lang="zh-CN" altLang="en-US" dirty="0"/>
              <a:t>包的安装命令，按下</a:t>
            </a:r>
            <a:r>
              <a:rPr lang="en-US" altLang="zh-CN" dirty="0"/>
              <a:t>Enter</a:t>
            </a:r>
            <a:r>
              <a:rPr lang="zh-CN" altLang="en-US" dirty="0"/>
              <a:t>键就进入安装</a:t>
            </a:r>
            <a:r>
              <a:rPr lang="en-US" altLang="zh-CN" dirty="0" err="1"/>
              <a:t>jieba</a:t>
            </a:r>
            <a:r>
              <a:rPr lang="zh-CN" altLang="en-US" dirty="0"/>
              <a:t>包的进程，如图</a:t>
            </a:r>
            <a:r>
              <a:rPr lang="en-US" altLang="zh-CN" dirty="0"/>
              <a:t>1-18</a:t>
            </a:r>
            <a:r>
              <a:rPr lang="zh-CN" altLang="en-US" dirty="0"/>
              <a:t>所示。</a:t>
            </a:r>
          </a:p>
          <a:p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30029" y="1772816"/>
            <a:ext cx="6099565" cy="34001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41997" y="5661248"/>
            <a:ext cx="806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1-18</a:t>
            </a:r>
            <a:r>
              <a:rPr lang="zh-CN" altLang="en-US" dirty="0"/>
              <a:t>中椭圆框起来的内容显示成功安装了</a:t>
            </a:r>
            <a:r>
              <a:rPr lang="en-US" altLang="zh-CN" dirty="0" err="1"/>
              <a:t>jieba</a:t>
            </a:r>
            <a:r>
              <a:rPr lang="zh-CN" altLang="en-US" dirty="0"/>
              <a:t>包，其版本号为</a:t>
            </a:r>
            <a:r>
              <a:rPr lang="en-US" altLang="zh-CN" dirty="0"/>
              <a:t>0.39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622785" y="5288239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latin typeface="宋体" panose="02010600030101010101" pitchFamily="2" charset="-122"/>
              </a:rPr>
              <a:t>图</a:t>
            </a:r>
            <a:r>
              <a:rPr lang="en-US" altLang="zh-CN" sz="1200" dirty="0" smtClean="0">
                <a:latin typeface="宋体" panose="02010600030101010101" pitchFamily="2" charset="-122"/>
              </a:rPr>
              <a:t>1-18</a:t>
            </a:r>
            <a:endParaRPr lang="zh-CN" altLang="en-US" sz="12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4561"/>
  <p:tag name="KSO_WM_TAG_VERSION" val="1.0"/>
  <p:tag name="KSO_WM_BEAUTIFY_FLAG" val="#wm#"/>
  <p:tag name="KSO_WM_UNIT_TYPE" val="l_h_i"/>
  <p:tag name="KSO_WM_UNIT_INDEX" val="1_1_2"/>
  <p:tag name="KSO_WM_UNIT_LAYERLEVEL" val="1_1_1"/>
  <p:tag name="KSO_WM_DIAGRAM_GROUP_CODE" val="l1-1"/>
  <p:tag name="KSO_WM_UNIT_ID" val="custom20184561_6*l_h_i*1_1_2"/>
  <p:tag name="KSO_WM_UNIT_TEXT_FILL_FORE_SCHEMECOLOR_INDEX" val="14"/>
  <p:tag name="KSO_WM_UNIT_TEXT_FILL_TYPE" val="1"/>
  <p:tag name="KSO_WM_UNIT_USESOURCEFORMAT_APPLY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4561"/>
  <p:tag name="KSO_WM_TAG_VERSION" val="1.0"/>
  <p:tag name="KSO_WM_BEAUTIFY_FLAG" val="#wm#"/>
  <p:tag name="KSO_WM_UNIT_TYPE" val="l_h_i"/>
  <p:tag name="KSO_WM_UNIT_INDEX" val="1_1_1"/>
  <p:tag name="KSO_WM_UNIT_LAYERLEVEL" val="1_1_1"/>
  <p:tag name="KSO_WM_DIAGRAM_GROUP_CODE" val="l1-1"/>
  <p:tag name="KSO_WM_UNIT_ID" val="custom20184561_6*l_h_i*1_1_1"/>
  <p:tag name="KSO_WM_UNIT_LINE_FORE_SCHEMECOLOR_INDEX" val="7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4561"/>
  <p:tag name="KSO_WM_TAG_VERSION" val="1.0"/>
  <p:tag name="KSO_WM_BEAUTIFY_FLAG" val="#wm#"/>
  <p:tag name="KSO_WM_UNIT_TYPE" val="l_h_i"/>
  <p:tag name="KSO_WM_UNIT_INDEX" val="1_1_1"/>
  <p:tag name="KSO_WM_UNIT_LAYERLEVEL" val="1_1_1"/>
  <p:tag name="KSO_WM_DIAGRAM_GROUP_CODE" val="l1-1"/>
  <p:tag name="KSO_WM_UNIT_ID" val="custom20184561_6*l_h_i*1_1_1"/>
  <p:tag name="KSO_WM_UNIT_LINE_FORE_SCHEMECOLOR_INDEX" val="7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4561"/>
  <p:tag name="KSO_WM_TAG_VERSION" val="1.0"/>
  <p:tag name="KSO_WM_BEAUTIFY_FLAG" val="#wm#"/>
  <p:tag name="KSO_WM_UNIT_TYPE" val="l_h_i"/>
  <p:tag name="KSO_WM_UNIT_INDEX" val="1_1_2"/>
  <p:tag name="KSO_WM_UNIT_LAYERLEVEL" val="1_1_1"/>
  <p:tag name="KSO_WM_DIAGRAM_GROUP_CODE" val="l1-1"/>
  <p:tag name="KSO_WM_UNIT_ID" val="custom20184561_6*l_h_i*1_1_2"/>
  <p:tag name="KSO_WM_UNIT_TEXT_FILL_FORE_SCHEMECOLOR_INDEX" val="14"/>
  <p:tag name="KSO_WM_UNIT_TEXT_FILL_TYPE" val="1"/>
  <p:tag name="KSO_WM_UNIT_USESOURCEFORMAT_APPLY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4561"/>
  <p:tag name="KSO_WM_TAG_VERSION" val="1.0"/>
  <p:tag name="KSO_WM_BEAUTIFY_FLAG" val="#wm#"/>
  <p:tag name="KSO_WM_UNIT_TYPE" val="l_h_i"/>
  <p:tag name="KSO_WM_UNIT_INDEX" val="1_1_1"/>
  <p:tag name="KSO_WM_UNIT_LAYERLEVEL" val="1_1_1"/>
  <p:tag name="KSO_WM_DIAGRAM_GROUP_CODE" val="l1-1"/>
  <p:tag name="KSO_WM_UNIT_ID" val="custom20184561_6*l_h_i*1_1_1"/>
  <p:tag name="KSO_WM_UNIT_LINE_FORE_SCHEMECOLOR_INDEX" val="7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4561"/>
  <p:tag name="KSO_WM_TAG_VERSION" val="1.0"/>
  <p:tag name="KSO_WM_BEAUTIFY_FLAG" val="#wm#"/>
  <p:tag name="KSO_WM_UNIT_TYPE" val="l_h_i"/>
  <p:tag name="KSO_WM_UNIT_INDEX" val="1_1_2"/>
  <p:tag name="KSO_WM_UNIT_LAYERLEVEL" val="1_1_1"/>
  <p:tag name="KSO_WM_DIAGRAM_GROUP_CODE" val="l1-1"/>
  <p:tag name="KSO_WM_UNIT_ID" val="custom20184561_6*l_h_i*1_1_2"/>
  <p:tag name="KSO_WM_UNIT_TEXT_FILL_FORE_SCHEMECOLOR_INDEX" val="14"/>
  <p:tag name="KSO_WM_UNIT_TEXT_FILL_TYPE" val="1"/>
  <p:tag name="KSO_WM_UNIT_USESOURCEFORMAT_APPLY" val="1"/>
</p:tagLst>
</file>

<file path=ppt/theme/theme1.xml><?xml version="1.0" encoding="utf-8"?>
<a:theme xmlns:a="http://schemas.openxmlformats.org/drawingml/2006/main" name="第一PPT，www.1ppt.com">
  <a:themeElements>
    <a:clrScheme name="155">
      <a:dk1>
        <a:srgbClr val="294A5A"/>
      </a:dk1>
      <a:lt1>
        <a:srgbClr val="99CC39"/>
      </a:lt1>
      <a:dk2>
        <a:srgbClr val="F9C900"/>
      </a:dk2>
      <a:lt2>
        <a:srgbClr val="ED5A00"/>
      </a:lt2>
      <a:accent1>
        <a:srgbClr val="484849"/>
      </a:accent1>
      <a:accent2>
        <a:srgbClr val="FFFFFF"/>
      </a:accent2>
      <a:accent3>
        <a:srgbClr val="969696"/>
      </a:accent3>
      <a:accent4>
        <a:srgbClr val="00AAA2"/>
      </a:accent4>
      <a:accent5>
        <a:srgbClr val="99CC39"/>
      </a:accent5>
      <a:accent6>
        <a:srgbClr val="F9C900"/>
      </a:accent6>
      <a:hlink>
        <a:srgbClr val="ED5A00"/>
      </a:hlink>
      <a:folHlink>
        <a:srgbClr val="484849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2045</Words>
  <Application>Microsoft Office PowerPoint</Application>
  <PresentationFormat>自定义</PresentationFormat>
  <Paragraphs>104</Paragraphs>
  <Slides>13</Slides>
  <Notes>13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4" baseType="lpstr"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商业融资计划书</dc:title>
  <dc:creator>第一PPT</dc:creator>
  <cp:keywords>www.1ppt.com</cp:keywords>
  <cp:lastModifiedBy>lenovo</cp:lastModifiedBy>
  <cp:revision>1598</cp:revision>
  <dcterms:created xsi:type="dcterms:W3CDTF">2013-01-25T01:44:00Z</dcterms:created>
  <dcterms:modified xsi:type="dcterms:W3CDTF">2020-01-12T02:27:59Z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2052-11.1.0.9339</vt:lpwstr>
  </property>
</Properties>
</file>