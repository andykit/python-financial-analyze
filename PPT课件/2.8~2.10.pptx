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5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954" r:id="rId2"/>
    <p:sldId id="955" r:id="rId3"/>
    <p:sldId id="956" r:id="rId4"/>
    <p:sldId id="957" r:id="rId5"/>
    <p:sldId id="959" r:id="rId6"/>
    <p:sldId id="958" r:id="rId7"/>
    <p:sldId id="960" r:id="rId8"/>
    <p:sldId id="961" r:id="rId9"/>
    <p:sldId id="962" r:id="rId10"/>
  </p:sldIdLst>
  <p:sldSz cx="12196763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17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339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509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678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5848" algn="l" defTabSz="914339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016" algn="l" defTabSz="914339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187" algn="l" defTabSz="914339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355" algn="l" defTabSz="914339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43">
          <p15:clr>
            <a:srgbClr val="A4A3A4"/>
          </p15:clr>
        </p15:guide>
        <p15:guide id="2" pos="3842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 尚佳" initials="张" lastIdx="1" clrIdx="0">
    <p:extLst>
      <p:ext uri="{19B8F6BF-5375-455C-9EA6-DF929625EA0E}">
        <p15:presenceInfo xmlns="" xmlns:p15="http://schemas.microsoft.com/office/powerpoint/2012/main" userId="087c17d4da352b3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8F8F8"/>
    <a:srgbClr val="17DCF1"/>
    <a:srgbClr val="0DC2D5"/>
    <a:srgbClr val="006BBC"/>
    <a:srgbClr val="00AAA2"/>
    <a:srgbClr val="EFEFEF"/>
    <a:srgbClr val="FFFFFF"/>
    <a:srgbClr val="F0F0F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1" autoAdjust="0"/>
    <p:restoredTop sz="94270" autoAdjust="0"/>
  </p:normalViewPr>
  <p:slideViewPr>
    <p:cSldViewPr snapToObjects="1">
      <p:cViewPr varScale="1">
        <p:scale>
          <a:sx n="89" d="100"/>
          <a:sy n="89" d="100"/>
        </p:scale>
        <p:origin x="-582" y="-108"/>
      </p:cViewPr>
      <p:guideLst>
        <p:guide orient="horz" pos="2143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Objects="1">
      <p:cViewPr varScale="1">
        <p:scale>
          <a:sx n="69" d="100"/>
          <a:sy n="69" d="100"/>
        </p:scale>
        <p:origin x="-283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10686-844B-4A1B-87C8-BB90DB4BAB8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40830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fld id="{B9EEDA17-7CE7-49CA-897E-A1888A19DA62}" type="datetimeFigureOut">
              <a:rPr lang="zh-CN" altLang="en-US"/>
              <a:pPr/>
              <a:t>2020/1/12</a:t>
            </a:fld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fld id="{CE1689F0-D8FB-450F-A36F-553F26501FEE}" type="slidenum">
              <a:rPr lang="zh-CN" alt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8610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17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339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509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678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5848" algn="l" defTabSz="9143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16" algn="l" defTabSz="9143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87" algn="l" defTabSz="9143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55" algn="l" defTabSz="9143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6170389" y="134946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www.1ppt.com/excel/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www.1ppt.com/shiti/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www.1ppt.com/jiaoan/  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/>
              <a:ea typeface="宋体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625" y="908051"/>
            <a:ext cx="10601349" cy="635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625" y="1600201"/>
            <a:ext cx="10601349" cy="45259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Freeform 5"/>
          <p:cNvSpPr/>
          <p:nvPr userDrawn="1"/>
        </p:nvSpPr>
        <p:spPr bwMode="auto">
          <a:xfrm>
            <a:off x="63836" y="73173"/>
            <a:ext cx="1227153" cy="486467"/>
          </a:xfrm>
          <a:custGeom>
            <a:avLst/>
            <a:gdLst>
              <a:gd name="T0" fmla="*/ 0 w 1600"/>
              <a:gd name="T1" fmla="*/ 0 h 617"/>
              <a:gd name="T2" fmla="*/ 1429 w 1600"/>
              <a:gd name="T3" fmla="*/ 0 h 617"/>
              <a:gd name="T4" fmla="*/ 1600 w 1600"/>
              <a:gd name="T5" fmla="*/ 308 h 617"/>
              <a:gd name="T6" fmla="*/ 1429 w 1600"/>
              <a:gd name="T7" fmla="*/ 617 h 617"/>
              <a:gd name="T8" fmla="*/ 0 w 1600"/>
              <a:gd name="T9" fmla="*/ 617 h 617"/>
              <a:gd name="T10" fmla="*/ 0 w 160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00" h="617">
                <a:moveTo>
                  <a:pt x="0" y="0"/>
                </a:moveTo>
                <a:lnTo>
                  <a:pt x="1429" y="0"/>
                </a:lnTo>
                <a:lnTo>
                  <a:pt x="1600" y="308"/>
                </a:lnTo>
                <a:lnTo>
                  <a:pt x="1429" y="617"/>
                </a:lnTo>
                <a:lnTo>
                  <a:pt x="0" y="617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 userDrawn="1"/>
        </p:nvSpPr>
        <p:spPr bwMode="auto">
          <a:xfrm>
            <a:off x="1196835" y="73173"/>
            <a:ext cx="10215809" cy="486467"/>
          </a:xfrm>
          <a:custGeom>
            <a:avLst/>
            <a:gdLst>
              <a:gd name="T0" fmla="*/ 0 w 13327"/>
              <a:gd name="T1" fmla="*/ 0 h 617"/>
              <a:gd name="T2" fmla="*/ 13155 w 13327"/>
              <a:gd name="T3" fmla="*/ 0 h 617"/>
              <a:gd name="T4" fmla="*/ 13327 w 13327"/>
              <a:gd name="T5" fmla="*/ 308 h 617"/>
              <a:gd name="T6" fmla="*/ 13155 w 13327"/>
              <a:gd name="T7" fmla="*/ 617 h 617"/>
              <a:gd name="T8" fmla="*/ 0 w 13327"/>
              <a:gd name="T9" fmla="*/ 617 h 617"/>
              <a:gd name="T10" fmla="*/ 171 w 13327"/>
              <a:gd name="T11" fmla="*/ 308 h 617"/>
              <a:gd name="T12" fmla="*/ 0 w 13327"/>
              <a:gd name="T13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27" h="617">
                <a:moveTo>
                  <a:pt x="0" y="0"/>
                </a:moveTo>
                <a:lnTo>
                  <a:pt x="13155" y="0"/>
                </a:lnTo>
                <a:lnTo>
                  <a:pt x="13327" y="308"/>
                </a:lnTo>
                <a:lnTo>
                  <a:pt x="13155" y="617"/>
                </a:lnTo>
                <a:lnTo>
                  <a:pt x="0" y="617"/>
                </a:lnTo>
                <a:lnTo>
                  <a:pt x="171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 userDrawn="1"/>
        </p:nvSpPr>
        <p:spPr bwMode="auto">
          <a:xfrm>
            <a:off x="11320057" y="73173"/>
            <a:ext cx="812871" cy="486467"/>
          </a:xfrm>
          <a:custGeom>
            <a:avLst/>
            <a:gdLst>
              <a:gd name="T0" fmla="*/ 0 w 1060"/>
              <a:gd name="T1" fmla="*/ 0 h 617"/>
              <a:gd name="T2" fmla="*/ 1060 w 1060"/>
              <a:gd name="T3" fmla="*/ 0 h 617"/>
              <a:gd name="T4" fmla="*/ 1060 w 1060"/>
              <a:gd name="T5" fmla="*/ 617 h 617"/>
              <a:gd name="T6" fmla="*/ 0 w 1060"/>
              <a:gd name="T7" fmla="*/ 617 h 617"/>
              <a:gd name="T8" fmla="*/ 172 w 1060"/>
              <a:gd name="T9" fmla="*/ 308 h 617"/>
              <a:gd name="T10" fmla="*/ 0 w 106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60" h="617">
                <a:moveTo>
                  <a:pt x="0" y="0"/>
                </a:moveTo>
                <a:lnTo>
                  <a:pt x="1060" y="0"/>
                </a:lnTo>
                <a:lnTo>
                  <a:pt x="1060" y="617"/>
                </a:lnTo>
                <a:lnTo>
                  <a:pt x="0" y="617"/>
                </a:lnTo>
                <a:lnTo>
                  <a:pt x="172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537052" y="116633"/>
            <a:ext cx="474797" cy="353937"/>
          </a:xfrm>
          <a:prstGeom prst="rect">
            <a:avLst/>
          </a:prstGeom>
          <a:noFill/>
        </p:spPr>
        <p:txBody>
          <a:bodyPr wrap="none" lIns="91434" tIns="45717" rIns="91434" bIns="45717" rtlCol="0">
            <a:spAutoFit/>
          </a:bodyPr>
          <a:lstStyle/>
          <a:p>
            <a:pPr algn="ctr"/>
            <a:fld id="{B879B013-EF15-44F9-9A4C-93BE492C244C}" type="slidenum">
              <a:rPr lang="zh-CN" altLang="en-US" sz="1700" smtClean="0">
                <a:solidFill>
                  <a:schemeClr val="accent2"/>
                </a:solidFill>
                <a:latin typeface="+mn-ea"/>
                <a:ea typeface="+mn-ea"/>
              </a:rPr>
              <a:pPr algn="ctr"/>
              <a:t>‹#›</a:t>
            </a:fld>
            <a:endParaRPr lang="zh-CN" altLang="en-US" sz="17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4" y="4406901"/>
            <a:ext cx="10366375" cy="1362075"/>
          </a:xfrm>
        </p:spPr>
        <p:txBody>
          <a:bodyPr anchor="t"/>
          <a:lstStyle>
            <a:lvl1pPr algn="l">
              <a:defRPr sz="4000" b="1" cap="all">
                <a:solidFill>
                  <a:srgbClr val="F8F8F8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4" y="2906713"/>
            <a:ext cx="1036637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F8F8F8"/>
                </a:solidFill>
              </a:defRPr>
            </a:lvl1pPr>
            <a:lvl2pPr marL="457170" indent="0">
              <a:buNone/>
              <a:defRPr sz="1700"/>
            </a:lvl2pPr>
            <a:lvl3pPr marL="914339" indent="0">
              <a:buNone/>
              <a:defRPr sz="1600"/>
            </a:lvl3pPr>
            <a:lvl4pPr marL="1371509" indent="0">
              <a:buNone/>
              <a:defRPr sz="1300"/>
            </a:lvl4pPr>
            <a:lvl5pPr marL="1828678" indent="0">
              <a:buNone/>
              <a:defRPr sz="1300"/>
            </a:lvl5pPr>
            <a:lvl6pPr marL="2285848" indent="0">
              <a:buNone/>
              <a:defRPr sz="1300"/>
            </a:lvl6pPr>
            <a:lvl7pPr marL="2743016" indent="0">
              <a:buNone/>
              <a:defRPr sz="1300"/>
            </a:lvl7pPr>
            <a:lvl8pPr marL="3200187" indent="0">
              <a:buNone/>
              <a:defRPr sz="1300"/>
            </a:lvl8pPr>
            <a:lvl9pPr marL="3657355" indent="0">
              <a:buNone/>
              <a:defRPr sz="13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99" y="1600201"/>
            <a:ext cx="541178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8" y="1600201"/>
            <a:ext cx="541337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5" name="图片 13" descr="泰迪logo无底色.png">
            <a:extLst>
              <a:ext uri="{FF2B5EF4-FFF2-40B4-BE49-F238E27FC236}">
                <a16:creationId xmlns="" xmlns:a16="http://schemas.microsoft.com/office/drawing/2014/main" id="{6E7842DF-66E6-42B7-A225-E6735EEA8A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40" y="6309320"/>
            <a:ext cx="918092" cy="242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4637"/>
            <a:ext cx="1097756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956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0" indent="0">
              <a:buNone/>
              <a:defRPr sz="2000" b="1"/>
            </a:lvl2pPr>
            <a:lvl3pPr marL="914339" indent="0">
              <a:buNone/>
              <a:defRPr sz="1700" b="1"/>
            </a:lvl3pPr>
            <a:lvl4pPr marL="1371509" indent="0">
              <a:buNone/>
              <a:defRPr sz="1600" b="1"/>
            </a:lvl4pPr>
            <a:lvl5pPr marL="1828678" indent="0">
              <a:buNone/>
              <a:defRPr sz="1600" b="1"/>
            </a:lvl5pPr>
            <a:lvl6pPr marL="2285848" indent="0">
              <a:buNone/>
              <a:defRPr sz="1600" b="1"/>
            </a:lvl6pPr>
            <a:lvl7pPr marL="2743016" indent="0">
              <a:buNone/>
              <a:defRPr sz="1600" b="1"/>
            </a:lvl7pPr>
            <a:lvl8pPr marL="3200187" indent="0">
              <a:buNone/>
              <a:defRPr sz="1600" b="1"/>
            </a:lvl8pPr>
            <a:lvl9pPr marL="365735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013" y="1535113"/>
            <a:ext cx="5391151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0" indent="0">
              <a:buNone/>
              <a:defRPr sz="2000" b="1"/>
            </a:lvl2pPr>
            <a:lvl3pPr marL="914339" indent="0">
              <a:buNone/>
              <a:defRPr sz="1700" b="1"/>
            </a:lvl3pPr>
            <a:lvl4pPr marL="1371509" indent="0">
              <a:buNone/>
              <a:defRPr sz="1600" b="1"/>
            </a:lvl4pPr>
            <a:lvl5pPr marL="1828678" indent="0">
              <a:buNone/>
              <a:defRPr sz="1600" b="1"/>
            </a:lvl5pPr>
            <a:lvl6pPr marL="2285848" indent="0">
              <a:buNone/>
              <a:defRPr sz="1600" b="1"/>
            </a:lvl6pPr>
            <a:lvl7pPr marL="2743016" indent="0">
              <a:buNone/>
              <a:defRPr sz="1600" b="1"/>
            </a:lvl7pPr>
            <a:lvl8pPr marL="3200187" indent="0">
              <a:buNone/>
              <a:defRPr sz="1600" b="1"/>
            </a:lvl8pPr>
            <a:lvl9pPr marL="365735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013" y="2174875"/>
            <a:ext cx="539115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49"/>
            <a:ext cx="4013201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8850" y="273052"/>
            <a:ext cx="681831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3201" cy="4691063"/>
          </a:xfrm>
        </p:spPr>
        <p:txBody>
          <a:bodyPr/>
          <a:lstStyle>
            <a:lvl1pPr marL="0" indent="0">
              <a:buNone/>
              <a:defRPr sz="1300"/>
            </a:lvl1pPr>
            <a:lvl2pPr marL="457170" indent="0">
              <a:buNone/>
              <a:defRPr sz="1200"/>
            </a:lvl2pPr>
            <a:lvl3pPr marL="914339" indent="0">
              <a:buNone/>
              <a:defRPr sz="900"/>
            </a:lvl3pPr>
            <a:lvl4pPr marL="1371509" indent="0">
              <a:buNone/>
              <a:defRPr sz="900"/>
            </a:lvl4pPr>
            <a:lvl5pPr marL="1828678" indent="0">
              <a:buNone/>
              <a:defRPr sz="900"/>
            </a:lvl5pPr>
            <a:lvl6pPr marL="2285848" indent="0">
              <a:buNone/>
              <a:defRPr sz="900"/>
            </a:lvl6pPr>
            <a:lvl7pPr marL="2743016" indent="0">
              <a:buNone/>
              <a:defRPr sz="900"/>
            </a:lvl7pPr>
            <a:lvl8pPr marL="3200187" indent="0">
              <a:buNone/>
              <a:defRPr sz="900"/>
            </a:lvl8pPr>
            <a:lvl9pPr marL="3657355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775" y="4800600"/>
            <a:ext cx="7318375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775" y="612775"/>
            <a:ext cx="731837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0" indent="0">
              <a:buNone/>
              <a:defRPr sz="2800"/>
            </a:lvl2pPr>
            <a:lvl3pPr marL="914339" indent="0">
              <a:buNone/>
              <a:defRPr sz="2400"/>
            </a:lvl3pPr>
            <a:lvl4pPr marL="1371509" indent="0">
              <a:buNone/>
              <a:defRPr sz="2000"/>
            </a:lvl4pPr>
            <a:lvl5pPr marL="1828678" indent="0">
              <a:buNone/>
              <a:defRPr sz="2000"/>
            </a:lvl5pPr>
            <a:lvl6pPr marL="2285848" indent="0">
              <a:buNone/>
              <a:defRPr sz="2000"/>
            </a:lvl6pPr>
            <a:lvl7pPr marL="2743016" indent="0">
              <a:buNone/>
              <a:defRPr sz="2000"/>
            </a:lvl7pPr>
            <a:lvl8pPr marL="3200187" indent="0">
              <a:buNone/>
              <a:defRPr sz="2000"/>
            </a:lvl8pPr>
            <a:lvl9pPr marL="3657355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775" y="5367338"/>
            <a:ext cx="7318375" cy="804863"/>
          </a:xfrm>
        </p:spPr>
        <p:txBody>
          <a:bodyPr/>
          <a:lstStyle>
            <a:lvl1pPr marL="0" indent="0">
              <a:buNone/>
              <a:defRPr sz="1300"/>
            </a:lvl1pPr>
            <a:lvl2pPr marL="457170" indent="0">
              <a:buNone/>
              <a:defRPr sz="1200"/>
            </a:lvl2pPr>
            <a:lvl3pPr marL="914339" indent="0">
              <a:buNone/>
              <a:defRPr sz="900"/>
            </a:lvl3pPr>
            <a:lvl4pPr marL="1371509" indent="0">
              <a:buNone/>
              <a:defRPr sz="900"/>
            </a:lvl4pPr>
            <a:lvl5pPr marL="1828678" indent="0">
              <a:buNone/>
              <a:defRPr sz="900"/>
            </a:lvl5pPr>
            <a:lvl6pPr marL="2285848" indent="0">
              <a:buNone/>
              <a:defRPr sz="900"/>
            </a:lvl6pPr>
            <a:lvl7pPr marL="2743016" indent="0">
              <a:buNone/>
              <a:defRPr sz="900"/>
            </a:lvl7pPr>
            <a:lvl8pPr marL="3200187" indent="0">
              <a:buNone/>
              <a:defRPr sz="900"/>
            </a:lvl8pPr>
            <a:lvl9pPr marL="3657355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908052"/>
            <a:ext cx="2743201" cy="52181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908052"/>
            <a:ext cx="8081963" cy="52181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ECLOGO-eff-0-1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146915" y="2886610"/>
            <a:ext cx="1060349" cy="79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PPECLOGO-eff-0-2"/>
          <p:cNvPicPr>
            <a:picLocks noChangeAspect="1" noChangeArrowheads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8430462" y="2758265"/>
            <a:ext cx="1096814" cy="83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PECLOGO-eff-0-3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0451" y="1447780"/>
            <a:ext cx="3013732" cy="237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PPECLOGO-eff-0-1"/>
          <p:cNvPicPr>
            <a:picLocks noChangeAspect="1" noChangeArrowheads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4467437" y="3771071"/>
            <a:ext cx="524127" cy="39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PPECLOGO-eff-0-1"/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76341" y="2904247"/>
            <a:ext cx="401158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PPECLOGO-eff-0-2"/>
          <p:cNvPicPr>
            <a:picLocks noChangeAspect="1" noChangeArrowheads="1"/>
          </p:cNvPicPr>
          <p:nvPr userDrawn="1"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5277818" y="2574150"/>
            <a:ext cx="981731" cy="75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PPECLOGO-eff-5-4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61942" y="3206629"/>
            <a:ext cx="1477636" cy="112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PPECLOGO-eff-5-2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352404" y="3446015"/>
            <a:ext cx="1834444" cy="143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PPECLOGO-eff-5-4"/>
          <p:cNvPicPr>
            <a:picLocks noChangeAspect="1" noChangeArrowheads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86102" y="2725339"/>
            <a:ext cx="1116793" cy="85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7942801" y="3624922"/>
            <a:ext cx="522112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11254879" y="2365002"/>
            <a:ext cx="522111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PPECLOGO-eff2-1-2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054437" y="2795895"/>
            <a:ext cx="1697366" cy="142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983627" y="2785815"/>
            <a:ext cx="437445" cy="36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PPECLOGO-eff2-1-4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19341" y="3325061"/>
            <a:ext cx="703540" cy="58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239009" y="2909286"/>
            <a:ext cx="360841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744990" y="3446014"/>
            <a:ext cx="282222" cy="23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rAng="0" ptsTypes="">
                                      <p:cBhvr>
                                        <p:cTn id="39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-0.31632 3.33333E-6 " pathEditMode="relative" rAng="0" ptsTypes="AA">
                                      <p:cBhvr>
                                        <p:cTn id="41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16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4 -1.85185E-6 L -0.46684 -1.85185E-6 " pathEditMode="relative" rAng="0" ptsTypes="AA">
                                      <p:cBhvr>
                                        <p:cTn id="4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94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11111E-6 L -0.19531 1.11111E-6 " pathEditMode="relative" rAng="0" ptsTypes="AA">
                                      <p:cBhvr>
                                        <p:cTn id="4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4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-0.43594 2.59259E-6 " pathEditMode="relative" rAng="0" ptsTypes="AA">
                                      <p:cBhvr>
                                        <p:cTn id="4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06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85185E-6 L -0.33577 -1.85185E-6 " pathEditMode="relative" rAng="0" ptsTypes="AA">
                                      <p:cBhvr>
                                        <p:cTn id="4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88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0.43906 2.59259E-6 " pathEditMode="relative" rAng="0" ptsTypes="AA">
                                      <p:cBhvr>
                                        <p:cTn id="55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44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96296E-6 L 0.62813 2.96296E-6 " pathEditMode="relative" rAng="0" ptsTypes="AA">
                                      <p:cBhvr>
                                        <p:cTn id="5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06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96296E-6 L 0.42465 -2.96296E-6 " pathEditMode="relative" rAng="0" ptsTypes="AA">
                                      <p:cBhvr>
                                        <p:cTn id="5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33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xit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1" y="908051"/>
            <a:ext cx="10977563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/>
          <a:p>
            <a:pPr lvl="0"/>
            <a:r>
              <a:rPr lang="zh-CN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1" y="1600201"/>
            <a:ext cx="1097756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t" anchorCtr="0" compatLnSpc="1"/>
          <a:lstStyle/>
          <a:p>
            <a:pPr lvl="0"/>
            <a:r>
              <a:rPr lang="zh-CN" dirty="0"/>
              <a:t>单击此处编辑母版文本样式</a:t>
            </a:r>
          </a:p>
          <a:p>
            <a:pPr lvl="1"/>
            <a:r>
              <a:rPr lang="zh-CN" dirty="0"/>
              <a:t>第二级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itchFamily="34" charset="0"/>
          <a:ea typeface="微软雅黑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itchFamily="34" charset="0"/>
          <a:ea typeface="微软雅黑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itchFamily="34" charset="0"/>
          <a:ea typeface="微软雅黑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itchFamily="34" charset="0"/>
          <a:ea typeface="微软雅黑" pitchFamily="34" charset="-122"/>
        </a:defRPr>
      </a:lvl5pPr>
      <a:lvl6pPr marL="45717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itchFamily="34" charset="0"/>
          <a:ea typeface="微软雅黑" pitchFamily="34" charset="-122"/>
        </a:defRPr>
      </a:lvl6pPr>
      <a:lvl7pPr marL="914339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itchFamily="34" charset="0"/>
          <a:ea typeface="微软雅黑" pitchFamily="34" charset="-122"/>
        </a:defRPr>
      </a:lvl7pPr>
      <a:lvl8pPr marL="1371509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itchFamily="34" charset="0"/>
          <a:ea typeface="微软雅黑" pitchFamily="34" charset="-122"/>
        </a:defRPr>
      </a:lvl8pPr>
      <a:lvl9pPr marL="1828678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itchFamily="34" charset="0"/>
          <a:ea typeface="微软雅黑" pitchFamily="34" charset="-122"/>
        </a:defRPr>
      </a:lvl9pPr>
    </p:titleStyle>
    <p:bodyStyle>
      <a:lvl1pPr marL="342877" indent="-342877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accent1"/>
          </a:solidFill>
          <a:latin typeface="+mn-lt"/>
          <a:ea typeface="+mn-ea"/>
          <a:cs typeface="+mn-cs"/>
        </a:defRPr>
      </a:lvl1pPr>
      <a:lvl2pPr marL="742901" indent="-28573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1"/>
          </a:solidFill>
          <a:latin typeface="+mn-lt"/>
          <a:ea typeface="仿宋_GB2312" pitchFamily="49" charset="-122"/>
        </a:defRPr>
      </a:lvl2pPr>
      <a:lvl3pPr marL="1142923" indent="-228584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itchFamily="2" charset="-122"/>
        </a:defRPr>
      </a:lvl3pPr>
      <a:lvl4pPr marL="1600093" indent="-228584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057263" indent="-22858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432" indent="-22858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602" indent="-22858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8771" indent="-22858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5941" indent="-22858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3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0" algn="l" defTabSz="9143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9" algn="l" defTabSz="9143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09" algn="l" defTabSz="9143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78" algn="l" defTabSz="9143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48" algn="l" defTabSz="9143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16" algn="l" defTabSz="9143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87" algn="l" defTabSz="9143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55" algn="l" defTabSz="9143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6.png"/><Relationship Id="rId4" Type="http://schemas.openxmlformats.org/officeDocument/2006/relationships/image" Target="../media/image25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5%88%97%E5%90%91%E9%87%8F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hyperlink" Target="https://baike.baidu.com/item/%E7%9F%A9%E9%98%B5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7%9F%A9%E9%98%B5%E5%88%86%E8%A7%A3/4035386" TargetMode="External"/><Relationship Id="rId2" Type="http://schemas.openxmlformats.org/officeDocument/2006/relationships/hyperlink" Target="https://baike.baidu.com/item/%E5%A5%87%E5%BC%82%E5%80%BC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73845" y="0"/>
            <a:ext cx="10207439" cy="635000"/>
          </a:xfrm>
        </p:spPr>
        <p:txBody>
          <a:bodyPr/>
          <a:lstStyle/>
          <a:p>
            <a:r>
              <a:rPr lang="en-US" altLang="zh-CN" b="1" dirty="0" smtClean="0"/>
              <a:t/>
            </a:r>
            <a:br>
              <a:rPr lang="en-US" altLang="zh-CN" b="1" dirty="0" smtClean="0"/>
            </a:br>
            <a:r>
              <a:rPr lang="en-US" altLang="zh-CN" b="1" dirty="0">
                <a:solidFill>
                  <a:schemeClr val="accent2"/>
                </a:solidFill>
              </a:rPr>
              <a:t>2.8 </a:t>
            </a:r>
            <a:r>
              <a:rPr lang="zh-CN" altLang="zh-CN" b="1" dirty="0">
                <a:solidFill>
                  <a:schemeClr val="accent2"/>
                </a:solidFill>
              </a:rPr>
              <a:t>数组形态变换</a:t>
            </a:r>
            <a:r>
              <a:rPr lang="zh-CN" altLang="zh-CN" dirty="0"/>
              <a:t/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1757" y="1225551"/>
            <a:ext cx="5328592" cy="515577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提供了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reshape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方法用于改变数组的形状，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reshape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方法仅改变原始数据的形状，不改变原始数据的值。示例代码如下：</a:t>
            </a:r>
          </a:p>
          <a:p>
            <a:pPr marL="0" indent="0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import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as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arr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=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np.arange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(12)  # 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创建一维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ndarray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arr1 =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arr.reshape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(3, 4)  # 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设置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ndarray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的维度，改变其形态</a:t>
            </a:r>
          </a:p>
          <a:p>
            <a:pPr marL="0" indent="0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执行结果如图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2-12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所示。</a:t>
            </a:r>
          </a:p>
          <a:p>
            <a:endParaRPr lang="zh-CN" altLang="en-US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80610" y="1225551"/>
            <a:ext cx="523758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dirty="0"/>
              <a:t>以上示例代码是将一维数组形态变换为二维数组</a:t>
            </a:r>
            <a:r>
              <a:rPr lang="zh-CN" altLang="zh-CN" sz="1600" dirty="0" smtClean="0"/>
              <a:t>，</a:t>
            </a:r>
            <a:endParaRPr lang="en-US" altLang="zh-CN" sz="1600" dirty="0" smtClean="0"/>
          </a:p>
          <a:p>
            <a:r>
              <a:rPr lang="zh-CN" altLang="zh-CN" sz="1600" dirty="0" smtClean="0"/>
              <a:t>事实上</a:t>
            </a:r>
            <a:r>
              <a:rPr lang="zh-CN" altLang="zh-CN" sz="1600" dirty="0"/>
              <a:t>也可以将二维数组形态展平变换为一维数组，通过</a:t>
            </a:r>
            <a:r>
              <a:rPr lang="en-US" altLang="zh-CN" sz="1600" dirty="0"/>
              <a:t>ravel()</a:t>
            </a:r>
            <a:r>
              <a:rPr lang="zh-CN" altLang="zh-CN" sz="1600" dirty="0"/>
              <a:t>函数即可实现。示例代码如下：</a:t>
            </a:r>
          </a:p>
          <a:p>
            <a:r>
              <a:rPr lang="en-US" altLang="zh-CN" sz="1600" dirty="0"/>
              <a:t>import </a:t>
            </a:r>
            <a:r>
              <a:rPr lang="en-US" altLang="zh-CN" sz="1600" dirty="0" err="1"/>
              <a:t>numpy</a:t>
            </a:r>
            <a:r>
              <a:rPr lang="en-US" altLang="zh-CN" sz="1600" dirty="0"/>
              <a:t> as </a:t>
            </a:r>
            <a:r>
              <a:rPr lang="en-US" altLang="zh-CN" sz="1600" dirty="0" err="1"/>
              <a:t>np</a:t>
            </a:r>
            <a:endParaRPr lang="zh-CN" altLang="zh-CN" sz="1600" dirty="0"/>
          </a:p>
          <a:p>
            <a:r>
              <a:rPr lang="en-US" altLang="zh-CN" sz="1600" dirty="0" err="1"/>
              <a:t>arr</a:t>
            </a:r>
            <a:r>
              <a:rPr lang="en-US" altLang="zh-CN" sz="1600" dirty="0"/>
              <a:t> = </a:t>
            </a:r>
            <a:r>
              <a:rPr lang="en-US" altLang="zh-CN" sz="1600" dirty="0" err="1"/>
              <a:t>np.arange</a:t>
            </a:r>
            <a:r>
              <a:rPr lang="en-US" altLang="zh-CN" sz="1600" dirty="0"/>
              <a:t>(12).reshape(3, 4)</a:t>
            </a:r>
            <a:endParaRPr lang="zh-CN" altLang="zh-CN" sz="1600" dirty="0"/>
          </a:p>
          <a:p>
            <a:r>
              <a:rPr lang="en-US" altLang="zh-CN" sz="1600" dirty="0"/>
              <a:t>arr1=</a:t>
            </a:r>
            <a:r>
              <a:rPr lang="en-US" altLang="zh-CN" sz="1600" dirty="0" err="1"/>
              <a:t>arr.ravel</a:t>
            </a:r>
            <a:r>
              <a:rPr lang="en-US" altLang="zh-CN" sz="1600" dirty="0"/>
              <a:t>()</a:t>
            </a:r>
            <a:endParaRPr lang="zh-CN" altLang="zh-CN" sz="1600" dirty="0"/>
          </a:p>
          <a:p>
            <a:r>
              <a:rPr lang="zh-CN" altLang="zh-CN" sz="1600" dirty="0"/>
              <a:t>执行结果如图</a:t>
            </a:r>
            <a:r>
              <a:rPr lang="en-US" altLang="zh-CN" sz="1600" dirty="0"/>
              <a:t>2-13</a:t>
            </a:r>
            <a:r>
              <a:rPr lang="zh-CN" altLang="zh-CN" sz="1600" dirty="0"/>
              <a:t>所示</a:t>
            </a:r>
            <a:r>
              <a:rPr lang="zh-CN" altLang="zh-CN" sz="1600" dirty="0" smtClean="0"/>
              <a:t>。</a:t>
            </a:r>
            <a:endParaRPr lang="en-US" altLang="zh-CN" sz="1600" dirty="0" smtClean="0"/>
          </a:p>
        </p:txBody>
      </p:sp>
      <p:pic>
        <p:nvPicPr>
          <p:cNvPr id="10" name="图片 9"/>
          <p:cNvPicPr/>
          <p:nvPr/>
        </p:nvPicPr>
        <p:blipFill>
          <a:blip r:embed="rId2"/>
          <a:stretch>
            <a:fillRect/>
          </a:stretch>
        </p:blipFill>
        <p:spPr>
          <a:xfrm>
            <a:off x="6281254" y="3498438"/>
            <a:ext cx="4667250" cy="216281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8114605" y="5681380"/>
            <a:ext cx="7216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400" dirty="0">
                <a:solidFill>
                  <a:schemeClr val="accent1"/>
                </a:solidFill>
                <a:latin typeface="+mn-lt"/>
                <a:ea typeface="+mn-ea"/>
              </a:rPr>
              <a:t>图</a:t>
            </a:r>
            <a:r>
              <a:rPr lang="en-US" altLang="zh-CN" sz="1400" dirty="0">
                <a:solidFill>
                  <a:schemeClr val="accent1"/>
                </a:solidFill>
                <a:latin typeface="+mn-lt"/>
                <a:ea typeface="+mn-ea"/>
              </a:rPr>
              <a:t>2-13</a:t>
            </a:r>
            <a:endParaRPr lang="zh-CN" altLang="zh-CN" sz="1400" dirty="0">
              <a:solidFill>
                <a:schemeClr val="accent1"/>
              </a:solidFill>
              <a:latin typeface="+mn-lt"/>
              <a:ea typeface="+mn-ea"/>
            </a:endParaRPr>
          </a:p>
        </p:txBody>
      </p:sp>
      <p:pic>
        <p:nvPicPr>
          <p:cNvPr id="12" name="图片 11"/>
          <p:cNvPicPr/>
          <p:nvPr/>
        </p:nvPicPr>
        <p:blipFill>
          <a:blip r:embed="rId3"/>
          <a:stretch>
            <a:fillRect/>
          </a:stretch>
        </p:blipFill>
        <p:spPr>
          <a:xfrm>
            <a:off x="553765" y="3545029"/>
            <a:ext cx="4772025" cy="2315845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2209949" y="5860874"/>
            <a:ext cx="7216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400" dirty="0">
                <a:solidFill>
                  <a:schemeClr val="accent1"/>
                </a:solidFill>
                <a:latin typeface="+mn-lt"/>
                <a:ea typeface="+mn-ea"/>
              </a:rPr>
              <a:t>图</a:t>
            </a:r>
            <a:r>
              <a:rPr lang="en-US" altLang="zh-CN" sz="1400" dirty="0">
                <a:solidFill>
                  <a:schemeClr val="accent1"/>
                </a:solidFill>
                <a:latin typeface="+mn-lt"/>
                <a:ea typeface="+mn-ea"/>
              </a:rPr>
              <a:t>2-12</a:t>
            </a:r>
            <a:endParaRPr lang="zh-CN" altLang="zh-CN" sz="1400" dirty="0">
              <a:solidFill>
                <a:schemeClr val="accent1"/>
              </a:solidFill>
              <a:latin typeface="+mn-lt"/>
              <a:ea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2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938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5853" y="116632"/>
            <a:ext cx="10385325" cy="432048"/>
          </a:xfrm>
        </p:spPr>
        <p:txBody>
          <a:bodyPr/>
          <a:lstStyle/>
          <a:p>
            <a:r>
              <a:rPr lang="en-US" altLang="zh-CN" b="1" dirty="0" smtClean="0"/>
              <a:t/>
            </a:r>
            <a:br>
              <a:rPr lang="en-US" altLang="zh-CN" b="1" dirty="0" smtClean="0"/>
            </a:br>
            <a:r>
              <a:rPr lang="en-US" altLang="zh-CN" b="1" dirty="0" smtClean="0">
                <a:solidFill>
                  <a:schemeClr val="accent2"/>
                </a:solidFill>
              </a:rPr>
              <a:t>2.9 </a:t>
            </a:r>
            <a:r>
              <a:rPr lang="zh-CN" altLang="zh-CN" b="1" dirty="0">
                <a:solidFill>
                  <a:schemeClr val="accent2"/>
                </a:solidFill>
              </a:rPr>
              <a:t>数组排序与搜索</a:t>
            </a:r>
            <a:r>
              <a:rPr lang="zh-CN" altLang="zh-CN" dirty="0"/>
              <a:t/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1758" y="692696"/>
            <a:ext cx="5112568" cy="5433469"/>
          </a:xfrm>
        </p:spPr>
        <p:txBody>
          <a:bodyPr/>
          <a:lstStyle/>
          <a:p>
            <a:pPr marL="0" indent="0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通过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Numpyt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提供的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sort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函数，可以对数组元素值按从小到大进行直接排序，示例代码如下：</a:t>
            </a:r>
          </a:p>
          <a:p>
            <a:pPr marL="0" indent="0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import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as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arr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=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np.array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([5,2,3,3,1,9,8,6,7])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arr1=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np.sort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(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arr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)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执行结果如图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2-14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所示。</a:t>
            </a:r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pPr marL="0" indent="0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通过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提供的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argmax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和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argmin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函数，可以返回待搜索数组最大值和最小值元素的索引值，如果存在多个最大值或最小值，则返回第一次出现的索引。对于二维数组而已，可以通过设置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axis=0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或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1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返回各列或者各行最大值或最小值索引。需要注意的是，索引从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0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开始。示例代码如下：</a:t>
            </a:r>
          </a:p>
          <a:p>
            <a:pPr marL="0" indent="0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import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as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arr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=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np.array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([5,2,3,3,1,1,9,8,6,7,8,8])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847009" y="2624018"/>
            <a:ext cx="3685540" cy="79946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050844" y="3445314"/>
            <a:ext cx="6447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200" dirty="0"/>
              <a:t>图</a:t>
            </a:r>
            <a:r>
              <a:rPr lang="en-US" altLang="zh-CN" sz="1200" dirty="0"/>
              <a:t>2-14</a:t>
            </a:r>
            <a:endParaRPr lang="zh-CN" altLang="zh-CN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6056975" y="692696"/>
            <a:ext cx="579001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arr1=</a:t>
            </a:r>
            <a:r>
              <a:rPr lang="en-US" altLang="zh-CN" sz="1600" dirty="0" err="1"/>
              <a:t>arr.reshape</a:t>
            </a:r>
            <a:r>
              <a:rPr lang="en-US" altLang="zh-CN" sz="1600" dirty="0"/>
              <a:t>(3,4)</a:t>
            </a:r>
            <a:endParaRPr lang="zh-CN" altLang="zh-CN" sz="1600" dirty="0"/>
          </a:p>
          <a:p>
            <a:r>
              <a:rPr lang="en-US" altLang="zh-CN" sz="1600" dirty="0" err="1"/>
              <a:t>maxindex</a:t>
            </a:r>
            <a:r>
              <a:rPr lang="en-US" altLang="zh-CN" sz="1600" dirty="0"/>
              <a:t>=</a:t>
            </a:r>
            <a:r>
              <a:rPr lang="en-US" altLang="zh-CN" sz="1600" dirty="0" err="1"/>
              <a:t>np.argmax</a:t>
            </a:r>
            <a:r>
              <a:rPr lang="en-US" altLang="zh-CN" sz="1600" dirty="0"/>
              <a:t>(</a:t>
            </a:r>
            <a:r>
              <a:rPr lang="en-US" altLang="zh-CN" sz="1600" dirty="0" err="1"/>
              <a:t>arr</a:t>
            </a:r>
            <a:r>
              <a:rPr lang="en-US" altLang="zh-CN" sz="1600" dirty="0"/>
              <a:t>)</a:t>
            </a:r>
            <a:endParaRPr lang="zh-CN" altLang="zh-CN" sz="1600" dirty="0"/>
          </a:p>
          <a:p>
            <a:r>
              <a:rPr lang="en-US" altLang="zh-CN" sz="1600" dirty="0" err="1"/>
              <a:t>minindex</a:t>
            </a:r>
            <a:r>
              <a:rPr lang="en-US" altLang="zh-CN" sz="1600" dirty="0"/>
              <a:t>=</a:t>
            </a:r>
            <a:r>
              <a:rPr lang="en-US" altLang="zh-CN" sz="1600" dirty="0" err="1"/>
              <a:t>np.argmin</a:t>
            </a:r>
            <a:r>
              <a:rPr lang="en-US" altLang="zh-CN" sz="1600" dirty="0"/>
              <a:t>(</a:t>
            </a:r>
            <a:r>
              <a:rPr lang="en-US" altLang="zh-CN" sz="1600" dirty="0" err="1"/>
              <a:t>arr</a:t>
            </a:r>
            <a:r>
              <a:rPr lang="en-US" altLang="zh-CN" sz="1600" dirty="0"/>
              <a:t>)</a:t>
            </a:r>
            <a:endParaRPr lang="zh-CN" altLang="zh-CN" sz="1600" dirty="0"/>
          </a:p>
          <a:p>
            <a:r>
              <a:rPr lang="en-US" altLang="zh-CN" sz="1600" dirty="0"/>
              <a:t>maxindex1=</a:t>
            </a:r>
            <a:r>
              <a:rPr lang="en-US" altLang="zh-CN" sz="1600" dirty="0" err="1"/>
              <a:t>np.argmax</a:t>
            </a:r>
            <a:r>
              <a:rPr lang="en-US" altLang="zh-CN" sz="1600" dirty="0"/>
              <a:t>(arr1,axis=0)#</a:t>
            </a:r>
            <a:r>
              <a:rPr lang="zh-CN" altLang="zh-CN" sz="1600" dirty="0"/>
              <a:t>返回各列最大值索引</a:t>
            </a:r>
          </a:p>
          <a:p>
            <a:r>
              <a:rPr lang="en-US" altLang="zh-CN" sz="1600" dirty="0"/>
              <a:t>minindex1=</a:t>
            </a:r>
            <a:r>
              <a:rPr lang="en-US" altLang="zh-CN" sz="1600" dirty="0" err="1"/>
              <a:t>np.argmin</a:t>
            </a:r>
            <a:r>
              <a:rPr lang="en-US" altLang="zh-CN" sz="1600" dirty="0"/>
              <a:t>(arr1,axis=1)#</a:t>
            </a:r>
            <a:r>
              <a:rPr lang="zh-CN" altLang="zh-CN" sz="1600" dirty="0"/>
              <a:t>返回各行最小值索引</a:t>
            </a:r>
          </a:p>
          <a:p>
            <a:r>
              <a:rPr lang="zh-CN" altLang="zh-CN" sz="1600" dirty="0"/>
              <a:t>执行结果如图</a:t>
            </a:r>
            <a:r>
              <a:rPr lang="en-US" altLang="zh-CN" sz="1600" dirty="0"/>
              <a:t>2-15</a:t>
            </a:r>
            <a:r>
              <a:rPr lang="zh-CN" altLang="zh-CN" sz="1600" dirty="0"/>
              <a:t>所示</a:t>
            </a:r>
            <a:r>
              <a:rPr lang="zh-CN" altLang="zh-CN" dirty="0"/>
              <a:t>。</a:t>
            </a:r>
          </a:p>
          <a:p>
            <a:endParaRPr lang="zh-CN" altLang="en-US" dirty="0"/>
          </a:p>
        </p:txBody>
      </p:sp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6458421" y="2420888"/>
            <a:ext cx="4200525" cy="3268092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8120101" y="5773873"/>
            <a:ext cx="6447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200" dirty="0"/>
              <a:t>图</a:t>
            </a:r>
            <a:r>
              <a:rPr lang="en-US" altLang="zh-CN" sz="1200" dirty="0"/>
              <a:t>2-15</a:t>
            </a:r>
            <a:endParaRPr lang="zh-CN" altLang="zh-CN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2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214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73845" y="0"/>
            <a:ext cx="10469259" cy="635000"/>
          </a:xfrm>
        </p:spPr>
        <p:txBody>
          <a:bodyPr/>
          <a:lstStyle/>
          <a:p>
            <a:r>
              <a:rPr lang="en-US" altLang="zh-CN" b="1" dirty="0">
                <a:solidFill>
                  <a:schemeClr val="accent2"/>
                </a:solidFill>
              </a:rPr>
              <a:t>2.10 </a:t>
            </a:r>
            <a:r>
              <a:rPr lang="zh-CN" altLang="zh-CN" b="1" dirty="0">
                <a:solidFill>
                  <a:schemeClr val="accent2"/>
                </a:solidFill>
              </a:rPr>
              <a:t>矩阵与线性代数运算</a:t>
            </a:r>
            <a:endParaRPr lang="zh-CN" altLang="en-US" b="1" dirty="0">
              <a:solidFill>
                <a:schemeClr val="accent2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625" y="635001"/>
            <a:ext cx="11177412" cy="5890343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的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matrix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是继承自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的二维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ndarray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对象，不仅拥有二维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ndarray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的属性、方法与函数，还拥有诸多特有的属性与方法。同时，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中的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matrix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和线性代数中的矩阵概念几乎完全相同，同样含有转置矩阵，共轭矩阵，逆矩阵等概念</a:t>
            </a:r>
            <a:r>
              <a:rPr lang="zh-CN" altLang="zh-CN" dirty="0"/>
              <a:t>。</a:t>
            </a:r>
          </a:p>
          <a:p>
            <a:pPr marL="0" indent="0">
              <a:buNone/>
            </a:pPr>
            <a:r>
              <a:rPr lang="en-US" altLang="zh-CN" sz="1600" b="1" dirty="0"/>
              <a:t>2.10.1 </a:t>
            </a:r>
            <a:r>
              <a:rPr lang="zh-CN" altLang="zh-CN" sz="1600" b="1" dirty="0"/>
              <a:t>创建</a:t>
            </a:r>
            <a:r>
              <a:rPr lang="en-US" altLang="zh-CN" sz="1600" b="1" dirty="0" err="1"/>
              <a:t>Numpy</a:t>
            </a:r>
            <a:r>
              <a:rPr lang="zh-CN" altLang="zh-CN" sz="1600" b="1" dirty="0"/>
              <a:t>矩阵</a:t>
            </a:r>
          </a:p>
          <a:p>
            <a:pPr marL="0" indent="0" fontAlgn="ctr">
              <a:buNone/>
            </a:pPr>
            <a:r>
              <a:rPr lang="en-US" altLang="zh-CN" sz="1600" kern="1200" dirty="0" err="1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</a:t>
            </a:r>
            <a:r>
              <a:rPr lang="zh-CN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中可使用</a:t>
            </a:r>
            <a:r>
              <a:rPr lang="en-US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mat</a:t>
            </a:r>
            <a:r>
              <a:rPr lang="zh-CN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、</a:t>
            </a:r>
            <a:r>
              <a:rPr lang="en-US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matrix</a:t>
            </a:r>
            <a:r>
              <a:rPr lang="zh-CN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或</a:t>
            </a:r>
            <a:r>
              <a:rPr lang="en-US" altLang="zh-CN" sz="1600" kern="1200" dirty="0" err="1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bmat</a:t>
            </a:r>
            <a:r>
              <a:rPr lang="zh-CN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函数来创建矩阵。使用</a:t>
            </a:r>
            <a:r>
              <a:rPr lang="en-US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mat</a:t>
            </a:r>
            <a:r>
              <a:rPr lang="zh-CN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函数创建矩阵时，若输入</a:t>
            </a:r>
            <a:r>
              <a:rPr lang="en-US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matrix</a:t>
            </a:r>
            <a:r>
              <a:rPr lang="zh-CN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或</a:t>
            </a:r>
            <a:r>
              <a:rPr lang="en-US" altLang="zh-CN" sz="1600" kern="1200" dirty="0" err="1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ndarray</a:t>
            </a:r>
            <a:r>
              <a:rPr lang="zh-CN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对象，则不会为它们创建副本。因此，调用</a:t>
            </a:r>
            <a:r>
              <a:rPr lang="en-US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mat</a:t>
            </a:r>
            <a:r>
              <a:rPr lang="zh-CN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函数与调用</a:t>
            </a:r>
            <a:r>
              <a:rPr lang="en-US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matrix(data, copy=False)</a:t>
            </a:r>
            <a:r>
              <a:rPr lang="zh-CN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等价，示例代码如下：</a:t>
            </a:r>
          </a:p>
          <a:p>
            <a:pPr marL="0" indent="0" fontAlgn="ctr">
              <a:buNone/>
            </a:pPr>
            <a:r>
              <a:rPr lang="en-US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import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as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 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mat1 =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np.mat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("1 2 3; 4 5 6; 7 8 9") 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mat2 =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np.matrix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([[1, 2, 3], [4, 5, 6], [7, 8, 9]])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执行结果如图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2-16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所示</a:t>
            </a:r>
            <a:r>
              <a:rPr lang="zh-CN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。</a:t>
            </a:r>
            <a:endParaRPr lang="en-US" altLang="zh-CN" sz="1600" kern="1200" dirty="0" smtClean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endParaRPr lang="en-US" altLang="zh-CN" dirty="0" smtClean="0"/>
          </a:p>
          <a:p>
            <a:pPr marL="0" indent="0" fontAlgn="ctr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在矩阵的日常使用过程中，将小</a:t>
            </a:r>
            <a:r>
              <a:rPr lang="zh-CN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矩</a:t>
            </a:r>
            <a:endParaRPr lang="en-US" altLang="zh-CN" sz="1600" kern="1200" dirty="0" smtClean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r>
              <a:rPr lang="zh-CN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阵组合成大矩阵是一种频率极高的</a:t>
            </a:r>
            <a:endParaRPr lang="en-US" altLang="zh-CN" sz="1600" kern="1200" dirty="0" smtClean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r>
              <a:rPr lang="zh-CN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操作。在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中可以使用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bmat</a:t>
            </a:r>
            <a:r>
              <a:rPr lang="zh-CN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分</a:t>
            </a:r>
            <a:endParaRPr lang="en-US" altLang="zh-CN" sz="1600" kern="1200" dirty="0" smtClean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r>
              <a:rPr lang="zh-CN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块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矩阵</a:t>
            </a:r>
            <a:r>
              <a:rPr lang="zh-CN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函数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实现</a:t>
            </a:r>
            <a:r>
              <a:rPr lang="zh-CN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，示例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代码如下：</a:t>
            </a:r>
          </a:p>
          <a:p>
            <a:pPr marL="0" indent="0" fontAlgn="ctr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import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as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arr1 =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np.eye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(3)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r>
              <a:rPr lang="en-US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arr2 = 3*arr1</a:t>
            </a:r>
            <a:endParaRPr lang="zh-CN" altLang="zh-CN" sz="1600" kern="1200" dirty="0" smtClean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r>
              <a:rPr lang="en-US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mat = </a:t>
            </a:r>
            <a:r>
              <a:rPr lang="en-US" altLang="zh-CN" sz="1600" kern="1200" dirty="0" err="1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np.bmat</a:t>
            </a:r>
            <a:r>
              <a:rPr lang="en-US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(“arr1 arr2; arr1 arr2”)                                                                                                      </a:t>
            </a:r>
            <a:r>
              <a:rPr lang="zh-CN" altLang="en-US" sz="12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图</a:t>
            </a:r>
            <a:r>
              <a:rPr lang="en-US" altLang="zh-CN" sz="12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2-16</a:t>
            </a:r>
            <a:endParaRPr lang="zh-CN" altLang="zh-CN" sz="1200" kern="1200" dirty="0" smtClean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r>
              <a:rPr lang="zh-CN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执行结果如图</a:t>
            </a:r>
            <a:r>
              <a:rPr lang="en-US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2-17</a:t>
            </a:r>
            <a:r>
              <a:rPr lang="zh-CN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所示。</a:t>
            </a:r>
            <a:r>
              <a:rPr lang="en-US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                      </a:t>
            </a:r>
            <a:endParaRPr lang="zh-CN" altLang="zh-CN" sz="1600" dirty="0" smtClean="0"/>
          </a:p>
          <a:p>
            <a:pPr marL="0" indent="0" fontAlgn="ctr">
              <a:buNone/>
            </a:pP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8618661" y="2492896"/>
            <a:ext cx="3209925" cy="314515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772673" y="6025302"/>
            <a:ext cx="6447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1200" dirty="0"/>
              <a:t>图</a:t>
            </a:r>
            <a:r>
              <a:rPr lang="en-US" altLang="zh-CN" sz="1200" dirty="0" smtClean="0"/>
              <a:t>2-17</a:t>
            </a:r>
            <a:endParaRPr lang="zh-CN" altLang="zh-CN" sz="1200" dirty="0"/>
          </a:p>
        </p:txBody>
      </p:sp>
      <p:pic>
        <p:nvPicPr>
          <p:cNvPr id="6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4298181" y="3212976"/>
            <a:ext cx="4320480" cy="28060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2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5785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1757" y="620689"/>
            <a:ext cx="5328593" cy="550547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600" b="1" dirty="0"/>
              <a:t>2.10.2 </a:t>
            </a:r>
            <a:r>
              <a:rPr lang="zh-CN" altLang="zh-CN" sz="1600" b="1" dirty="0"/>
              <a:t>矩阵的属性和</a:t>
            </a:r>
            <a:r>
              <a:rPr lang="zh-CN" altLang="zh-CN" sz="1600" b="1" dirty="0" smtClean="0"/>
              <a:t>基本运算</a:t>
            </a:r>
            <a:endParaRPr lang="en-US" altLang="zh-CN" sz="1600" kern="1200" dirty="0" smtClean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>
              <a:buNone/>
            </a:pPr>
            <a:r>
              <a:rPr lang="zh-CN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矩阵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有其特有的</a:t>
            </a:r>
            <a:r>
              <a:rPr lang="zh-CN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属性，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如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2-1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所示</a:t>
            </a:r>
            <a:r>
              <a:rPr lang="zh-CN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。</a:t>
            </a:r>
            <a:endParaRPr lang="en-US" altLang="zh-CN" sz="1600" kern="1200" dirty="0" smtClean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/>
              <a:t>             </a:t>
            </a:r>
            <a:r>
              <a:rPr lang="en-US" altLang="zh-CN" sz="12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 </a:t>
            </a:r>
          </a:p>
          <a:p>
            <a:pPr marL="0" indent="0">
              <a:buNone/>
            </a:pPr>
            <a:endParaRPr lang="en-US" altLang="zh-CN" sz="12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>
              <a:buNone/>
            </a:pPr>
            <a:endParaRPr lang="en-US" altLang="zh-CN" sz="1200" kern="1200" dirty="0" smtClean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>
              <a:buNone/>
            </a:pPr>
            <a:endParaRPr lang="en-US" altLang="zh-CN" sz="12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>
              <a:buNone/>
            </a:pPr>
            <a:endParaRPr lang="en-US" altLang="zh-CN" sz="1200" kern="1200" dirty="0" smtClean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>
              <a:buNone/>
            </a:pPr>
            <a:endParaRPr lang="en-US" altLang="zh-CN" sz="1200" kern="1200" dirty="0" smtClean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endParaRPr lang="en-US" altLang="zh-CN" sz="1600" kern="1200" dirty="0" smtClean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r>
              <a:rPr lang="zh-CN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矩阵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属性的具体查看方法，示例代码如下：</a:t>
            </a:r>
          </a:p>
          <a:p>
            <a:pPr marL="0" indent="0" fontAlgn="ctr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import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as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mat =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np.matrix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(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np.arange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(4).reshape(2, 2))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mT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=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mat.T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mH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=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mat.H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mI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=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mat.I</a:t>
            </a:r>
            <a:endParaRPr lang="en-US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执行结果如图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2-18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所示。</a:t>
            </a:r>
          </a:p>
          <a:p>
            <a:pPr marL="0" indent="0" fontAlgn="ctr">
              <a:buNone/>
            </a:pPr>
            <a:endParaRPr lang="zh-CN" altLang="zh-CN" sz="1200" dirty="0"/>
          </a:p>
          <a:p>
            <a:pPr marL="0" indent="0">
              <a:buNone/>
            </a:pPr>
            <a:endParaRPr lang="zh-CN" altLang="en-US" sz="12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323409"/>
              </p:ext>
            </p:extLst>
          </p:nvPr>
        </p:nvGraphicFramePr>
        <p:xfrm>
          <a:off x="756222" y="1473515"/>
          <a:ext cx="3567063" cy="10083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1044"/>
                <a:gridCol w="2746019"/>
              </a:tblGrid>
              <a:tr h="25209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000" kern="0" spc="-15" dirty="0">
                          <a:effectLst/>
                        </a:rPr>
                        <a:t>属性</a:t>
                      </a:r>
                      <a:endParaRPr lang="zh-CN" sz="105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000" kern="0" spc="-15" dirty="0">
                          <a:effectLst/>
                        </a:rPr>
                        <a:t>说明</a:t>
                      </a:r>
                      <a:endParaRPr lang="zh-CN" sz="105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5209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0" spc="-15">
                          <a:effectLst/>
                        </a:rPr>
                        <a:t>T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effectLst/>
                        </a:rPr>
                        <a:t>返回自身的转置</a:t>
                      </a:r>
                      <a:endParaRPr lang="zh-CN" sz="105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5209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0" spc="-15">
                          <a:effectLst/>
                        </a:rPr>
                        <a:t>H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000" kern="0">
                          <a:effectLst/>
                        </a:rPr>
                        <a:t>返回自身的共轭转置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5209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0" spc="-15">
                          <a:effectLst/>
                        </a:rPr>
                        <a:t>I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effectLst/>
                        </a:rPr>
                        <a:t>返回自身的逆矩阵</a:t>
                      </a:r>
                      <a:endParaRPr lang="zh-CN" sz="105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297880" y="1196752"/>
            <a:ext cx="22082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黑体" pitchFamily="49" charset="-122"/>
                <a:ea typeface="黑体" pitchFamily="49" charset="-122"/>
                <a:cs typeface="Times New Roman" pitchFamily="18" charset="0"/>
              </a:rPr>
              <a:t>表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黑体" pitchFamily="49" charset="-122"/>
                <a:cs typeface="Times New Roman" pitchFamily="18" charset="0"/>
              </a:rPr>
              <a:t>2-1 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黑体" pitchFamily="49" charset="-122"/>
                <a:ea typeface="黑体" pitchFamily="49" charset="-122"/>
                <a:cs typeface="Times New Roman" pitchFamily="18" charset="0"/>
              </a:rPr>
              <a:t>矩阵特有属性及其说明</a:t>
            </a:r>
            <a:endParaRPr kumimoji="0" lang="zh-CN" alt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8" name="图片 7"/>
          <p:cNvPicPr/>
          <p:nvPr/>
        </p:nvPicPr>
        <p:blipFill>
          <a:blip r:embed="rId2"/>
          <a:stretch>
            <a:fillRect/>
          </a:stretch>
        </p:blipFill>
        <p:spPr>
          <a:xfrm>
            <a:off x="6103344" y="1473515"/>
            <a:ext cx="4667250" cy="252285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8126858" y="4019872"/>
            <a:ext cx="6447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1200" dirty="0"/>
              <a:t>图</a:t>
            </a:r>
            <a:r>
              <a:rPr lang="en-US" altLang="zh-CN" sz="1200" dirty="0"/>
              <a:t>2-18</a:t>
            </a:r>
            <a:endParaRPr lang="zh-CN" altLang="zh-CN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6602437" y="3789040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1273845" y="0"/>
            <a:ext cx="10469259" cy="635000"/>
          </a:xfrm>
        </p:spPr>
        <p:txBody>
          <a:bodyPr/>
          <a:lstStyle/>
          <a:p>
            <a:r>
              <a:rPr lang="en-US" altLang="zh-CN" b="1" dirty="0">
                <a:solidFill>
                  <a:schemeClr val="accent2"/>
                </a:solidFill>
              </a:rPr>
              <a:t>2.10 </a:t>
            </a:r>
            <a:r>
              <a:rPr lang="zh-CN" altLang="zh-CN" b="1" dirty="0">
                <a:solidFill>
                  <a:schemeClr val="accent2"/>
                </a:solidFill>
              </a:rPr>
              <a:t>矩阵与线性代数运算</a:t>
            </a:r>
            <a:endParaRPr lang="zh-CN" altLang="en-US" b="1" dirty="0">
              <a:solidFill>
                <a:schemeClr val="accent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2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1019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625" y="836713"/>
            <a:ext cx="10601349" cy="5289452"/>
          </a:xfrm>
        </p:spPr>
        <p:txBody>
          <a:bodyPr/>
          <a:lstStyle/>
          <a:p>
            <a:pPr marL="0" indent="0" fontAlgn="ctr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在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中，矩阵计算和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ndarray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计算类似，都能够作用于每个元素，比起使用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for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循环进行计算，在速度上更加高效，示例代码如下：</a:t>
            </a:r>
          </a:p>
          <a:p>
            <a:pPr marL="0" indent="0" fontAlgn="ctr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import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as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mat1 =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np.mat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("1 2 3; 4 5 6; 7 8 9")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mat2 = mat1*3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mat3=mat1+mat2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mat4=mat1-mat2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mat5=mat1*mat2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mat6=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np.multiply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(mat1, mat2) #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点乘</a:t>
            </a:r>
            <a:endParaRPr lang="en-US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执行结果如图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2-19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所示</a:t>
            </a:r>
            <a:r>
              <a:rPr lang="zh-CN" altLang="zh-CN" dirty="0"/>
              <a:t>。</a:t>
            </a:r>
          </a:p>
          <a:p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6098381" y="2132856"/>
            <a:ext cx="4610100" cy="350266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964849" y="5635516"/>
            <a:ext cx="6447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1200" dirty="0"/>
              <a:t>图</a:t>
            </a:r>
            <a:r>
              <a:rPr lang="en-US" altLang="zh-CN" sz="1200" dirty="0"/>
              <a:t>2-19</a:t>
            </a:r>
            <a:endParaRPr lang="zh-CN" altLang="zh-CN" sz="1200" dirty="0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201738" y="0"/>
            <a:ext cx="10601325" cy="635000"/>
          </a:xfrm>
        </p:spPr>
        <p:txBody>
          <a:bodyPr/>
          <a:lstStyle/>
          <a:p>
            <a:r>
              <a:rPr lang="en-US" altLang="zh-CN" b="1" dirty="0">
                <a:solidFill>
                  <a:schemeClr val="accent2"/>
                </a:solidFill>
              </a:rPr>
              <a:t>2.10 </a:t>
            </a:r>
            <a:r>
              <a:rPr lang="zh-CN" altLang="zh-CN" b="1" dirty="0">
                <a:solidFill>
                  <a:schemeClr val="accent2"/>
                </a:solidFill>
              </a:rPr>
              <a:t>矩阵与线性代数运算</a:t>
            </a:r>
            <a:endParaRPr lang="zh-CN" altLang="en-US" b="1" dirty="0">
              <a:solidFill>
                <a:schemeClr val="accent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2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3711" y="620689"/>
            <a:ext cx="5272756" cy="550547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600" b="1" dirty="0"/>
              <a:t>2.10.3 </a:t>
            </a:r>
            <a:r>
              <a:rPr lang="zh-CN" altLang="zh-CN" sz="1600" b="1" dirty="0"/>
              <a:t>线性代数运算</a:t>
            </a:r>
          </a:p>
          <a:p>
            <a:pPr marL="0" indent="0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线性代数是数学的一个重要分支。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包含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numpy.linalg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模块，提供线性代数所需的功能，如计算逆矩阵、求解线性方程组、求特征值、奇异值分解以及求解行列式等。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numpy.linalg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模块中的一些常用函数表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2-2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所示。</a:t>
            </a:r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 fontAlgn="ctr">
              <a:buNone/>
            </a:pPr>
            <a:r>
              <a:rPr lang="zh-CN" altLang="zh-CN" sz="1600" dirty="0"/>
              <a:t>计算逆矩阵</a:t>
            </a:r>
          </a:p>
          <a:p>
            <a:pPr marL="0" indent="0" fontAlgn="ctr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在线性代数中，矩阵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与其逆矩阵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相乘得到一个单位矩阵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，即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。使用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numpy.linalg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模块中的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inv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函数可以计算逆矩阵，示例代码如下：</a:t>
            </a:r>
          </a:p>
          <a:p>
            <a:pPr marL="0" indent="0" fontAlgn="ctr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import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as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mat =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np.mat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('1 1 1; 1 2 3; 1 3 6')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314980"/>
              </p:ext>
            </p:extLst>
          </p:nvPr>
        </p:nvGraphicFramePr>
        <p:xfrm>
          <a:off x="1012497" y="2245005"/>
          <a:ext cx="4676775" cy="2016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32333"/>
                <a:gridCol w="3444442"/>
              </a:tblGrid>
              <a:tr h="252095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zh-CN" sz="1050" kern="0" spc="-15" dirty="0">
                          <a:effectLst/>
                        </a:rPr>
                        <a:t>函数名称</a:t>
                      </a:r>
                      <a:endParaRPr lang="zh-CN" sz="105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zh-CN" sz="1050" kern="0" spc="-15" dirty="0">
                          <a:effectLst/>
                        </a:rPr>
                        <a:t>说明</a:t>
                      </a:r>
                      <a:endParaRPr lang="zh-CN" sz="105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52095">
                <a:tc>
                  <a:txBody>
                    <a:bodyPr/>
                    <a:lstStyle/>
                    <a:p>
                      <a:pPr algn="just" fontAlgn="ctr">
                        <a:spcAft>
                          <a:spcPts val="0"/>
                        </a:spcAft>
                      </a:pPr>
                      <a:r>
                        <a:rPr lang="en-US" sz="1050" kern="0" spc="-15">
                          <a:effectLst/>
                        </a:rPr>
                        <a:t>dot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fontAlgn="ctr">
                        <a:spcAft>
                          <a:spcPts val="0"/>
                        </a:spcAft>
                      </a:pPr>
                      <a:r>
                        <a:rPr lang="zh-CN" sz="1050" kern="0" spc="-15" dirty="0">
                          <a:effectLst/>
                        </a:rPr>
                        <a:t>矩阵相乘</a:t>
                      </a:r>
                      <a:endParaRPr lang="zh-CN" sz="105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52095">
                <a:tc>
                  <a:txBody>
                    <a:bodyPr/>
                    <a:lstStyle/>
                    <a:p>
                      <a:pPr algn="just" fontAlgn="ctr">
                        <a:spcAft>
                          <a:spcPts val="0"/>
                        </a:spcAft>
                      </a:pPr>
                      <a:r>
                        <a:rPr lang="en-US" sz="1050" kern="0" spc="-15">
                          <a:effectLst/>
                        </a:rPr>
                        <a:t>inv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fontAlgn="ctr">
                        <a:spcAft>
                          <a:spcPts val="0"/>
                        </a:spcAft>
                      </a:pPr>
                      <a:r>
                        <a:rPr lang="zh-CN" sz="1050" kern="0" dirty="0">
                          <a:effectLst/>
                        </a:rPr>
                        <a:t>求逆矩阵</a:t>
                      </a:r>
                      <a:endParaRPr lang="zh-CN" sz="105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52095">
                <a:tc>
                  <a:txBody>
                    <a:bodyPr/>
                    <a:lstStyle/>
                    <a:p>
                      <a:pPr algn="just" fontAlgn="ctr">
                        <a:spcAft>
                          <a:spcPts val="0"/>
                        </a:spcAft>
                      </a:pPr>
                      <a:r>
                        <a:rPr lang="en-US" sz="1050" kern="0" spc="-15">
                          <a:effectLst/>
                        </a:rPr>
                        <a:t>solve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fontAlgn="ctr">
                        <a:spcAft>
                          <a:spcPts val="0"/>
                        </a:spcAft>
                      </a:pPr>
                      <a:r>
                        <a:rPr lang="zh-CN" sz="1050" kern="0" dirty="0">
                          <a:effectLst/>
                        </a:rPr>
                        <a:t>求解线性方程组</a:t>
                      </a:r>
                      <a:r>
                        <a:rPr lang="en-US" sz="1050" kern="100" spc="-15" dirty="0">
                          <a:effectLst/>
                        </a:rPr>
                        <a:t> </a:t>
                      </a:r>
                      <a:endParaRPr lang="zh-CN" sz="105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52095">
                <a:tc>
                  <a:txBody>
                    <a:bodyPr/>
                    <a:lstStyle/>
                    <a:p>
                      <a:pPr algn="just" fontAlgn="ctr">
                        <a:spcAft>
                          <a:spcPts val="0"/>
                        </a:spcAft>
                      </a:pPr>
                      <a:r>
                        <a:rPr lang="en-US" sz="1050" kern="0" spc="-15">
                          <a:effectLst/>
                        </a:rPr>
                        <a:t>eig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fontAlgn="ctr">
                        <a:spcAft>
                          <a:spcPts val="0"/>
                        </a:spcAft>
                      </a:pPr>
                      <a:r>
                        <a:rPr lang="zh-CN" sz="1050" kern="0" spc="-15">
                          <a:effectLst/>
                        </a:rPr>
                        <a:t>求特征值和特征向量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52095">
                <a:tc>
                  <a:txBody>
                    <a:bodyPr/>
                    <a:lstStyle/>
                    <a:p>
                      <a:pPr algn="just" fontAlgn="ctr">
                        <a:spcAft>
                          <a:spcPts val="0"/>
                        </a:spcAft>
                      </a:pPr>
                      <a:r>
                        <a:rPr lang="en-US" sz="1050" kern="0" spc="-15">
                          <a:effectLst/>
                        </a:rPr>
                        <a:t>eigvals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fontAlgn="ctr">
                        <a:spcAft>
                          <a:spcPts val="0"/>
                        </a:spcAft>
                      </a:pPr>
                      <a:r>
                        <a:rPr lang="zh-CN" sz="1050" kern="0" spc="-15">
                          <a:effectLst/>
                        </a:rPr>
                        <a:t>求特征值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52095">
                <a:tc>
                  <a:txBody>
                    <a:bodyPr/>
                    <a:lstStyle/>
                    <a:p>
                      <a:pPr algn="just" fontAlgn="ctr">
                        <a:spcAft>
                          <a:spcPts val="0"/>
                        </a:spcAft>
                      </a:pPr>
                      <a:r>
                        <a:rPr lang="en-US" sz="1050" kern="0" spc="-15">
                          <a:effectLst/>
                        </a:rPr>
                        <a:t>svd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fontAlgn="ctr">
                        <a:spcAft>
                          <a:spcPts val="0"/>
                        </a:spcAft>
                      </a:pPr>
                      <a:r>
                        <a:rPr lang="zh-CN" sz="1050" kern="0">
                          <a:effectLst/>
                        </a:rPr>
                        <a:t>计算奇异值分解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52095">
                <a:tc>
                  <a:txBody>
                    <a:bodyPr/>
                    <a:lstStyle/>
                    <a:p>
                      <a:pPr algn="just" fontAlgn="ctr">
                        <a:spcAft>
                          <a:spcPts val="0"/>
                        </a:spcAft>
                      </a:pPr>
                      <a:r>
                        <a:rPr lang="en-US" sz="1050" kern="0" spc="-15">
                          <a:effectLst/>
                        </a:rPr>
                        <a:t>det</a:t>
                      </a:r>
                      <a:endParaRPr lang="zh-CN" sz="105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fontAlgn="ctr">
                        <a:spcAft>
                          <a:spcPts val="0"/>
                        </a:spcAft>
                      </a:pPr>
                      <a:r>
                        <a:rPr lang="zh-CN" sz="1050" kern="0" spc="-15" dirty="0">
                          <a:effectLst/>
                        </a:rPr>
                        <a:t>求行列式</a:t>
                      </a:r>
                      <a:endParaRPr lang="zh-CN" sz="105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065933" y="1959069"/>
            <a:ext cx="28083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表</a:t>
            </a:r>
            <a:r>
              <a:rPr kumimoji="0" lang="en-US" altLang="zh-CN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2-2 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常用的</a:t>
            </a:r>
            <a:r>
              <a:rPr kumimoji="0" lang="en-US" altLang="zh-CN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numpy.linalg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函数</a:t>
            </a:r>
            <a:endParaRPr kumimoji="0" lang="zh-CN" alt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9312887"/>
              </p:ext>
            </p:extLst>
          </p:nvPr>
        </p:nvGraphicFramePr>
        <p:xfrm>
          <a:off x="3269131" y="3009238"/>
          <a:ext cx="4572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" r:id="rId3" imgW="457002" imgH="177723" progId="Equation.DSMT4">
                  <p:embed/>
                </p:oleObj>
              </mc:Choice>
              <mc:Fallback>
                <p:oleObj r:id="rId3" imgW="457002" imgH="177723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9131" y="3009238"/>
                        <a:ext cx="457200" cy="180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600884" y="1035739"/>
            <a:ext cx="38164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zh-CN" dirty="0"/>
              <a:t>inverse = </a:t>
            </a:r>
            <a:r>
              <a:rPr lang="en-US" altLang="zh-CN" dirty="0" err="1"/>
              <a:t>np.linalg.inv</a:t>
            </a:r>
            <a:r>
              <a:rPr lang="en-US" altLang="zh-CN" dirty="0"/>
              <a:t>(mat)</a:t>
            </a:r>
            <a:endParaRPr lang="zh-CN" altLang="zh-CN" dirty="0"/>
          </a:p>
          <a:p>
            <a:pPr fontAlgn="ctr"/>
            <a:r>
              <a:rPr lang="en-US" altLang="zh-CN" dirty="0"/>
              <a:t>A=np.dot(mat, inverse)</a:t>
            </a:r>
            <a:endParaRPr lang="zh-CN" altLang="zh-CN" dirty="0"/>
          </a:p>
          <a:p>
            <a:pPr fontAlgn="ctr"/>
            <a:r>
              <a:rPr lang="zh-CN" altLang="zh-CN" dirty="0"/>
              <a:t>执行结果如图</a:t>
            </a:r>
            <a:r>
              <a:rPr lang="en-US" altLang="zh-CN" dirty="0"/>
              <a:t>2-20</a:t>
            </a:r>
            <a:r>
              <a:rPr lang="zh-CN" altLang="zh-CN" dirty="0"/>
              <a:t>所示。</a:t>
            </a:r>
          </a:p>
        </p:txBody>
      </p:sp>
      <p:pic>
        <p:nvPicPr>
          <p:cNvPr id="10" name="图片 9"/>
          <p:cNvPicPr/>
          <p:nvPr/>
        </p:nvPicPr>
        <p:blipFill>
          <a:blip r:embed="rId5"/>
          <a:stretch>
            <a:fillRect/>
          </a:stretch>
        </p:blipFill>
        <p:spPr>
          <a:xfrm>
            <a:off x="6600884" y="2019955"/>
            <a:ext cx="5274310" cy="288226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8799457" y="4797152"/>
            <a:ext cx="6447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200" dirty="0"/>
              <a:t>图</a:t>
            </a:r>
            <a:r>
              <a:rPr lang="en-US" altLang="zh-CN" sz="1200" dirty="0"/>
              <a:t>2-20</a:t>
            </a:r>
            <a:endParaRPr lang="zh-CN" altLang="en-US" sz="1200" dirty="0"/>
          </a:p>
        </p:txBody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1273175" y="20638"/>
            <a:ext cx="10601325" cy="528637"/>
          </a:xfrm>
        </p:spPr>
        <p:txBody>
          <a:bodyPr/>
          <a:lstStyle/>
          <a:p>
            <a:r>
              <a:rPr lang="en-US" altLang="zh-CN" b="1" dirty="0">
                <a:solidFill>
                  <a:schemeClr val="accent2"/>
                </a:solidFill>
              </a:rPr>
              <a:t>2.10 </a:t>
            </a:r>
            <a:r>
              <a:rPr lang="zh-CN" altLang="zh-CN" b="1" dirty="0">
                <a:solidFill>
                  <a:schemeClr val="accent2"/>
                </a:solidFill>
              </a:rPr>
              <a:t>矩阵与线性代数运算</a:t>
            </a:r>
            <a:endParaRPr lang="zh-CN" altLang="en-US" b="1" dirty="0">
              <a:solidFill>
                <a:schemeClr val="accent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2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614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5773" y="692696"/>
            <a:ext cx="5040561" cy="5976663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600" dirty="0"/>
              <a:t>2.</a:t>
            </a:r>
            <a:r>
              <a:rPr lang="zh-CN" altLang="zh-CN" sz="1600" dirty="0"/>
              <a:t>求解线性方程组</a:t>
            </a:r>
          </a:p>
          <a:p>
            <a:pPr marL="0" indent="0" fontAlgn="ctr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矩阵可以对向量进行线性变换，这对应于数学中的线性方程组。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numpy.linalg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模块中的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solve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函数可以求解形如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的线性方程组，其中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为矩阵，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为一维或二维数组，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是未知变量，示例代码如下：</a:t>
            </a:r>
          </a:p>
          <a:p>
            <a:pPr marL="0" indent="0" fontAlgn="ctr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import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as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A =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np.mat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("1,-1,1; 2,1,0; 2,1,-1")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b =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np.array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([4, 3, -1])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x =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np.linalg.solve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(A, b)#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线性方程组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Ax=b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的解</a:t>
            </a:r>
          </a:p>
          <a:p>
            <a:pPr marL="0" indent="0" fontAlgn="ctr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执行结果如图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2-21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所示。</a:t>
            </a:r>
          </a:p>
          <a:p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625773" y="3573016"/>
            <a:ext cx="4572000" cy="272732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264454" y="6280564"/>
            <a:ext cx="6447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1200" dirty="0"/>
              <a:t>图</a:t>
            </a:r>
            <a:r>
              <a:rPr lang="en-US" altLang="zh-CN" sz="1200" dirty="0"/>
              <a:t>2-21</a:t>
            </a:r>
            <a:endParaRPr lang="zh-CN" altLang="zh-CN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6026373" y="710694"/>
            <a:ext cx="554461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/>
                </a:solidFill>
                <a:latin typeface="+mn-lt"/>
                <a:ea typeface="+mn-ea"/>
              </a:rPr>
              <a:t>3.</a:t>
            </a:r>
            <a:r>
              <a:rPr lang="zh-CN" altLang="zh-CN" sz="1600" dirty="0">
                <a:solidFill>
                  <a:schemeClr val="accent1"/>
                </a:solidFill>
                <a:latin typeface="+mn-lt"/>
                <a:ea typeface="+mn-ea"/>
              </a:rPr>
              <a:t>求解特征值与特征向量</a:t>
            </a:r>
          </a:p>
          <a:p>
            <a:pPr fontAlgn="ctr"/>
            <a:r>
              <a:rPr lang="zh-CN" altLang="zh-CN" sz="1600" dirty="0"/>
              <a:t>设</a:t>
            </a:r>
            <a:r>
              <a:rPr lang="en-US" altLang="zh-CN" sz="1600" dirty="0"/>
              <a:t> </a:t>
            </a:r>
            <a:r>
              <a:rPr lang="zh-CN" altLang="zh-CN" sz="1600" dirty="0"/>
              <a:t>是</a:t>
            </a:r>
            <a:r>
              <a:rPr lang="en-US" altLang="zh-CN" sz="1600" dirty="0"/>
              <a:t>n</a:t>
            </a:r>
            <a:r>
              <a:rPr lang="zh-CN" altLang="zh-CN" sz="1600" dirty="0"/>
              <a:t>阶方阵，如果存在数</a:t>
            </a:r>
            <a:r>
              <a:rPr lang="en-US" altLang="zh-CN" sz="1600" dirty="0"/>
              <a:t> </a:t>
            </a:r>
            <a:r>
              <a:rPr lang="zh-CN" altLang="zh-CN" sz="1600" dirty="0"/>
              <a:t>和非零</a:t>
            </a:r>
            <a:r>
              <a:rPr lang="en-US" altLang="zh-CN" sz="1600" dirty="0"/>
              <a:t>n</a:t>
            </a:r>
            <a:r>
              <a:rPr lang="zh-CN" altLang="zh-CN" sz="1600" dirty="0"/>
              <a:t>维</a:t>
            </a:r>
            <a:r>
              <a:rPr lang="en-US" altLang="zh-CN" sz="1600" dirty="0" err="1">
                <a:hlinkClick r:id="rId3"/>
              </a:rPr>
              <a:t>列向量</a:t>
            </a:r>
            <a:r>
              <a:rPr lang="en-US" altLang="zh-CN" sz="1600" dirty="0"/>
              <a:t> </a:t>
            </a:r>
            <a:r>
              <a:rPr lang="zh-CN" altLang="zh-CN" sz="1600" dirty="0"/>
              <a:t>，使得</a:t>
            </a:r>
            <a:r>
              <a:rPr lang="en-US" altLang="zh-CN" sz="1600" dirty="0"/>
              <a:t> </a:t>
            </a:r>
            <a:r>
              <a:rPr lang="zh-CN" altLang="zh-CN" sz="1600" dirty="0"/>
              <a:t>成立，则称</a:t>
            </a:r>
            <a:r>
              <a:rPr lang="en-US" altLang="zh-CN" sz="1600" dirty="0"/>
              <a:t> </a:t>
            </a:r>
            <a:r>
              <a:rPr lang="zh-CN" altLang="zh-CN" sz="1600" dirty="0"/>
              <a:t>是</a:t>
            </a:r>
            <a:r>
              <a:rPr lang="en-US" altLang="zh-CN" sz="1600" dirty="0"/>
              <a:t> </a:t>
            </a:r>
            <a:r>
              <a:rPr lang="zh-CN" altLang="zh-CN" sz="1600" dirty="0"/>
              <a:t>的一个特征值，非零</a:t>
            </a:r>
            <a:r>
              <a:rPr lang="en-US" altLang="zh-CN" sz="1600" dirty="0"/>
              <a:t>n</a:t>
            </a:r>
            <a:r>
              <a:rPr lang="zh-CN" altLang="zh-CN" sz="1600" dirty="0"/>
              <a:t>维列向量</a:t>
            </a:r>
            <a:r>
              <a:rPr lang="en-US" altLang="zh-CN" sz="1600" dirty="0"/>
              <a:t> </a:t>
            </a:r>
            <a:r>
              <a:rPr lang="zh-CN" altLang="zh-CN" sz="1600" dirty="0"/>
              <a:t>称为</a:t>
            </a:r>
            <a:r>
              <a:rPr lang="en-US" altLang="zh-CN" sz="1600" dirty="0" err="1">
                <a:hlinkClick r:id="rId4"/>
              </a:rPr>
              <a:t>矩阵</a:t>
            </a:r>
            <a:r>
              <a:rPr lang="en-US" altLang="zh-CN" sz="1600" dirty="0"/>
              <a:t> </a:t>
            </a:r>
            <a:r>
              <a:rPr lang="zh-CN" altLang="zh-CN" sz="1600" dirty="0"/>
              <a:t>的对应于特征值</a:t>
            </a:r>
            <a:r>
              <a:rPr lang="en-US" altLang="zh-CN" sz="1600" dirty="0"/>
              <a:t> </a:t>
            </a:r>
            <a:r>
              <a:rPr lang="zh-CN" altLang="zh-CN" sz="1600" dirty="0"/>
              <a:t>的特征向量。</a:t>
            </a:r>
            <a:r>
              <a:rPr lang="en-US" altLang="zh-CN" sz="1600" dirty="0" err="1"/>
              <a:t>numpy.linalg</a:t>
            </a:r>
            <a:r>
              <a:rPr lang="zh-CN" altLang="zh-CN" sz="1600" dirty="0"/>
              <a:t>模块中的</a:t>
            </a:r>
            <a:r>
              <a:rPr lang="en-US" altLang="zh-CN" sz="1600" dirty="0" err="1"/>
              <a:t>eigvals</a:t>
            </a:r>
            <a:r>
              <a:rPr lang="zh-CN" altLang="zh-CN" sz="1600" dirty="0"/>
              <a:t>函数可以计算矩阵的特征值，</a:t>
            </a:r>
            <a:r>
              <a:rPr lang="en-US" altLang="zh-CN" sz="1600" dirty="0" err="1"/>
              <a:t>eig</a:t>
            </a:r>
            <a:r>
              <a:rPr lang="zh-CN" altLang="zh-CN" sz="1600" dirty="0"/>
              <a:t>函数可以返回一个包含特征值和对应的特征向量的元组，示例代码如下：</a:t>
            </a:r>
          </a:p>
          <a:p>
            <a:pPr fontAlgn="ctr"/>
            <a:r>
              <a:rPr lang="en-US" altLang="zh-CN" sz="1600" dirty="0"/>
              <a:t>import </a:t>
            </a:r>
            <a:r>
              <a:rPr lang="en-US" altLang="zh-CN" sz="1600" dirty="0" err="1"/>
              <a:t>numpy</a:t>
            </a:r>
            <a:r>
              <a:rPr lang="en-US" altLang="zh-CN" sz="1600" dirty="0"/>
              <a:t> as </a:t>
            </a:r>
            <a:r>
              <a:rPr lang="en-US" altLang="zh-CN" sz="1600" dirty="0" err="1"/>
              <a:t>np</a:t>
            </a:r>
            <a:endParaRPr lang="zh-CN" altLang="zh-CN" sz="1600" dirty="0"/>
          </a:p>
          <a:p>
            <a:pPr fontAlgn="ctr"/>
            <a:r>
              <a:rPr lang="en-US" altLang="zh-CN" sz="1600" dirty="0"/>
              <a:t>A = </a:t>
            </a:r>
            <a:r>
              <a:rPr lang="en-US" altLang="zh-CN" sz="1600" dirty="0" err="1"/>
              <a:t>np.matrix</a:t>
            </a:r>
            <a:r>
              <a:rPr lang="en-US" altLang="zh-CN" sz="1600" dirty="0"/>
              <a:t>([[1, 0, 2], [0, 3, 0], [2, 0, 1]])</a:t>
            </a:r>
            <a:endParaRPr lang="zh-CN" altLang="zh-CN" sz="1600" dirty="0"/>
          </a:p>
          <a:p>
            <a:pPr fontAlgn="ctr"/>
            <a:r>
              <a:rPr lang="en-US" altLang="zh-CN" sz="1600" dirty="0"/>
              <a:t>#</a:t>
            </a:r>
            <a:r>
              <a:rPr lang="en-US" altLang="zh-CN" sz="1600" dirty="0" err="1"/>
              <a:t>A_value</a:t>
            </a:r>
            <a:r>
              <a:rPr lang="en-US" altLang="zh-CN" sz="1600" dirty="0"/>
              <a:t>= </a:t>
            </a:r>
            <a:r>
              <a:rPr lang="en-US" altLang="zh-CN" sz="1600" dirty="0" err="1"/>
              <a:t>np.linalg.eigvals</a:t>
            </a:r>
            <a:r>
              <a:rPr lang="en-US" altLang="zh-CN" sz="1600" dirty="0"/>
              <a:t>(A)</a:t>
            </a:r>
            <a:endParaRPr lang="zh-CN" altLang="zh-CN" sz="1600" dirty="0"/>
          </a:p>
          <a:p>
            <a:pPr fontAlgn="ctr"/>
            <a:r>
              <a:rPr lang="en-US" altLang="zh-CN" sz="1600" dirty="0" err="1"/>
              <a:t>A_value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A_vector</a:t>
            </a:r>
            <a:r>
              <a:rPr lang="en-US" altLang="zh-CN" sz="1600" dirty="0"/>
              <a:t> = </a:t>
            </a:r>
            <a:r>
              <a:rPr lang="en-US" altLang="zh-CN" sz="1600" dirty="0" err="1"/>
              <a:t>np.linalg.eig</a:t>
            </a:r>
            <a:r>
              <a:rPr lang="en-US" altLang="zh-CN" sz="1600" dirty="0"/>
              <a:t>(A)</a:t>
            </a:r>
            <a:endParaRPr lang="zh-CN" altLang="zh-CN" sz="1600" dirty="0"/>
          </a:p>
          <a:p>
            <a:pPr fontAlgn="ctr"/>
            <a:r>
              <a:rPr lang="zh-CN" altLang="zh-CN" sz="1600" dirty="0"/>
              <a:t>执行结果如图</a:t>
            </a:r>
            <a:r>
              <a:rPr lang="en-US" altLang="zh-CN" sz="1600" dirty="0"/>
              <a:t>2-22</a:t>
            </a:r>
            <a:r>
              <a:rPr lang="zh-CN" altLang="zh-CN" sz="1600" dirty="0"/>
              <a:t>所</a:t>
            </a:r>
            <a:r>
              <a:rPr lang="zh-CN" altLang="zh-CN" sz="1600" dirty="0" smtClean="0"/>
              <a:t>示</a:t>
            </a:r>
            <a:endParaRPr lang="zh-CN" altLang="zh-CN" sz="1600" dirty="0"/>
          </a:p>
        </p:txBody>
      </p:sp>
      <p:pic>
        <p:nvPicPr>
          <p:cNvPr id="7" name="图片 6"/>
          <p:cNvPicPr/>
          <p:nvPr/>
        </p:nvPicPr>
        <p:blipFill>
          <a:blip r:embed="rId5"/>
          <a:stretch>
            <a:fillRect/>
          </a:stretch>
        </p:blipFill>
        <p:spPr>
          <a:xfrm>
            <a:off x="6170389" y="3560730"/>
            <a:ext cx="4191635" cy="256222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8219950" y="6122064"/>
            <a:ext cx="6447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1200" dirty="0"/>
              <a:t>图</a:t>
            </a:r>
            <a:r>
              <a:rPr lang="en-US" altLang="zh-CN" sz="1200" dirty="0"/>
              <a:t>2-22</a:t>
            </a:r>
            <a:endParaRPr lang="zh-CN" altLang="zh-CN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2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346200" y="47625"/>
            <a:ext cx="10601325" cy="501650"/>
          </a:xfrm>
        </p:spPr>
        <p:txBody>
          <a:bodyPr/>
          <a:lstStyle/>
          <a:p>
            <a:r>
              <a:rPr lang="en-US" altLang="zh-CN" b="1" dirty="0">
                <a:solidFill>
                  <a:schemeClr val="accent2"/>
                </a:solidFill>
              </a:rPr>
              <a:t>2.10 </a:t>
            </a:r>
            <a:r>
              <a:rPr lang="zh-CN" altLang="zh-CN" b="1" dirty="0">
                <a:solidFill>
                  <a:schemeClr val="accent2"/>
                </a:solidFill>
              </a:rPr>
              <a:t>矩阵与线性代数运算</a:t>
            </a:r>
            <a:endParaRPr lang="zh-CN" altLang="en-US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978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5773" y="692695"/>
            <a:ext cx="5256583" cy="54334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600" dirty="0"/>
              <a:t>4.</a:t>
            </a:r>
            <a:r>
              <a:rPr lang="zh-CN" altLang="zh-CN" sz="1600" dirty="0"/>
              <a:t>奇异值分解</a:t>
            </a:r>
          </a:p>
          <a:p>
            <a:pPr marL="0" indent="0" fontAlgn="ctr">
              <a:buNone/>
            </a:pP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  <a:hlinkClick r:id="rId2"/>
              </a:rPr>
              <a:t>奇异值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分解是线性代数中一种重要的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  <a:hlinkClick r:id="rId3"/>
              </a:rPr>
              <a:t>矩阵分解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，将一个矩阵分解为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3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个矩阵的乘积。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numpy.linalg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模块中的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svd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函数可以对矩阵进行奇异值分解，返回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U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、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Sigma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、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V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这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3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个矩阵，其中，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U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和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V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是正交矩阵，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Sigma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是一维，其元素为进行奇异值分解的矩阵的非零奇异值，可使用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dig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函数生成对角矩阵，示例代码如下：</a:t>
            </a:r>
          </a:p>
          <a:p>
            <a:pPr marL="0" indent="0" fontAlgn="ctr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import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as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A =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np.mat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("4.0,11.0,14.0;  8.0,7.0,-2.0")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U, Sigma, V =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np.linalg.svd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(A,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full_matrices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=False)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 fontAlgn="ctr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执行结果如图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2-23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所示</a:t>
            </a:r>
            <a:r>
              <a:rPr lang="zh-CN" altLang="zh-CN" dirty="0"/>
              <a:t>。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4"/>
          <a:stretch>
            <a:fillRect/>
          </a:stretch>
        </p:blipFill>
        <p:spPr>
          <a:xfrm>
            <a:off x="769789" y="3861048"/>
            <a:ext cx="4676775" cy="219138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641997" y="6052433"/>
            <a:ext cx="6447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1200" dirty="0"/>
              <a:t>图</a:t>
            </a:r>
            <a:r>
              <a:rPr lang="en-US" altLang="zh-CN" sz="1200" dirty="0"/>
              <a:t>2-23</a:t>
            </a:r>
            <a:endParaRPr lang="zh-CN" altLang="zh-CN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6674445" y="764704"/>
            <a:ext cx="46805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/>
                </a:solidFill>
                <a:latin typeface="+mn-lt"/>
                <a:ea typeface="+mn-ea"/>
              </a:rPr>
              <a:t>5.</a:t>
            </a:r>
            <a:r>
              <a:rPr lang="zh-CN" altLang="zh-CN" sz="1600" dirty="0">
                <a:solidFill>
                  <a:schemeClr val="accent1"/>
                </a:solidFill>
                <a:latin typeface="+mn-lt"/>
                <a:ea typeface="+mn-ea"/>
              </a:rPr>
              <a:t>计算矩阵行列式的值</a:t>
            </a:r>
          </a:p>
          <a:p>
            <a:pPr fontAlgn="ctr"/>
            <a:r>
              <a:rPr lang="zh-CN" altLang="zh-CN" dirty="0"/>
              <a:t>矩阵行列式是指矩阵的全部元素构成的行列式，但构成行列式的矩阵为方阵时，行列式存在值。</a:t>
            </a:r>
            <a:r>
              <a:rPr lang="en-US" altLang="zh-CN" dirty="0" err="1"/>
              <a:t>numpy.linalg</a:t>
            </a:r>
            <a:r>
              <a:rPr lang="zh-CN" altLang="zh-CN" dirty="0"/>
              <a:t>模块中的</a:t>
            </a:r>
            <a:r>
              <a:rPr lang="en-US" altLang="zh-CN" dirty="0" err="1"/>
              <a:t>det</a:t>
            </a:r>
            <a:r>
              <a:rPr lang="zh-CN" altLang="zh-CN" dirty="0"/>
              <a:t>函数可以计算矩阵行列式的值，示例代码如下：</a:t>
            </a:r>
          </a:p>
          <a:p>
            <a:r>
              <a:rPr lang="en-US" altLang="zh-CN" dirty="0"/>
              <a:t>import </a:t>
            </a:r>
            <a:r>
              <a:rPr lang="en-US" altLang="zh-CN" dirty="0" err="1"/>
              <a:t>numpy</a:t>
            </a:r>
            <a:r>
              <a:rPr lang="en-US" altLang="zh-CN" dirty="0"/>
              <a:t> as </a:t>
            </a:r>
            <a:r>
              <a:rPr lang="en-US" altLang="zh-CN" dirty="0" err="1"/>
              <a:t>np</a:t>
            </a:r>
            <a:endParaRPr lang="zh-CN" altLang="zh-CN" dirty="0"/>
          </a:p>
          <a:p>
            <a:r>
              <a:rPr lang="en-US" altLang="zh-CN" dirty="0"/>
              <a:t>A = </a:t>
            </a:r>
            <a:r>
              <a:rPr lang="en-US" altLang="zh-CN" dirty="0" err="1"/>
              <a:t>np.mat</a:t>
            </a:r>
            <a:r>
              <a:rPr lang="en-US" altLang="zh-CN" dirty="0"/>
              <a:t>("3,4; 5,6")</a:t>
            </a:r>
            <a:endParaRPr lang="zh-CN" altLang="zh-CN" dirty="0"/>
          </a:p>
          <a:p>
            <a:r>
              <a:rPr lang="en-US" altLang="zh-CN" dirty="0" err="1"/>
              <a:t>A_value</a:t>
            </a:r>
            <a:r>
              <a:rPr lang="en-US" altLang="zh-CN" dirty="0"/>
              <a:t>=</a:t>
            </a:r>
            <a:r>
              <a:rPr lang="en-US" altLang="zh-CN" dirty="0" err="1"/>
              <a:t>np.linalg.det</a:t>
            </a:r>
            <a:r>
              <a:rPr lang="en-US" altLang="zh-CN" dirty="0"/>
              <a:t>(A)</a:t>
            </a:r>
            <a:endParaRPr lang="zh-CN" altLang="zh-CN" dirty="0"/>
          </a:p>
          <a:p>
            <a:r>
              <a:rPr lang="zh-CN" altLang="zh-CN" dirty="0"/>
              <a:t>执行结果如图</a:t>
            </a:r>
            <a:r>
              <a:rPr lang="en-US" altLang="zh-CN" dirty="0"/>
              <a:t>2-24</a:t>
            </a:r>
            <a:r>
              <a:rPr lang="zh-CN" altLang="zh-CN" dirty="0"/>
              <a:t>所示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  <p:pic>
        <p:nvPicPr>
          <p:cNvPr id="7" name="图片 6"/>
          <p:cNvPicPr/>
          <p:nvPr/>
        </p:nvPicPr>
        <p:blipFill>
          <a:blip r:embed="rId5"/>
          <a:stretch>
            <a:fillRect/>
          </a:stretch>
        </p:blipFill>
        <p:spPr>
          <a:xfrm>
            <a:off x="7322517" y="3380242"/>
            <a:ext cx="2781300" cy="117348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8390803" y="4553722"/>
            <a:ext cx="6447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200" dirty="0"/>
              <a:t>图</a:t>
            </a:r>
            <a:r>
              <a:rPr lang="en-US" altLang="zh-CN" sz="1200" dirty="0"/>
              <a:t>2-24</a:t>
            </a:r>
            <a:endParaRPr lang="zh-CN" altLang="zh-CN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2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273175" y="11113"/>
            <a:ext cx="10601325" cy="538162"/>
          </a:xfrm>
        </p:spPr>
        <p:txBody>
          <a:bodyPr/>
          <a:lstStyle/>
          <a:p>
            <a:r>
              <a:rPr lang="en-US" altLang="zh-CN" b="1" dirty="0">
                <a:solidFill>
                  <a:schemeClr val="accent2"/>
                </a:solidFill>
              </a:rPr>
              <a:t>2.10 </a:t>
            </a:r>
            <a:r>
              <a:rPr lang="zh-CN" altLang="zh-CN" b="1" dirty="0">
                <a:solidFill>
                  <a:schemeClr val="accent2"/>
                </a:solidFill>
              </a:rPr>
              <a:t>矩阵与线性代数运算</a:t>
            </a:r>
            <a:endParaRPr lang="zh-CN" altLang="en-US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604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73845" y="116632"/>
            <a:ext cx="10601349" cy="432048"/>
          </a:xfrm>
        </p:spPr>
        <p:txBody>
          <a:bodyPr/>
          <a:lstStyle/>
          <a:p>
            <a:r>
              <a:rPr lang="en-US" altLang="zh-CN" b="1" dirty="0" smtClean="0">
                <a:solidFill>
                  <a:schemeClr val="accent2"/>
                </a:solidFill>
              </a:rPr>
              <a:t/>
            </a:r>
            <a:br>
              <a:rPr lang="en-US" altLang="zh-CN" b="1" dirty="0" smtClean="0">
                <a:solidFill>
                  <a:schemeClr val="accent2"/>
                </a:solidFill>
              </a:rPr>
            </a:br>
            <a:r>
              <a:rPr lang="zh-CN" altLang="zh-CN" b="1" dirty="0" smtClean="0">
                <a:solidFill>
                  <a:schemeClr val="accent2"/>
                </a:solidFill>
              </a:rPr>
              <a:t>本章</a:t>
            </a:r>
            <a:r>
              <a:rPr lang="zh-CN" altLang="zh-CN" b="1" dirty="0">
                <a:solidFill>
                  <a:schemeClr val="accent2"/>
                </a:solidFill>
              </a:rPr>
              <a:t>小结</a:t>
            </a:r>
            <a:r>
              <a:rPr lang="zh-CN" altLang="zh-CN" dirty="0"/>
              <a:t/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9749" y="692697"/>
            <a:ext cx="11465445" cy="5976664"/>
          </a:xfrm>
        </p:spPr>
        <p:txBody>
          <a:bodyPr/>
          <a:lstStyle/>
          <a:p>
            <a:pPr marL="0" indent="0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本章介绍了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Python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用于科学计算的基础包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，包括如何导入并使用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创建数组以及相关的数组运算、获得数组的尺寸、数组的四则运算与数学函数运算、数组的切片、数组连接和数据的存取、数组形态变换、数组元素的排序与搜索、矩阵及线性代数运算等相关知识。由于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借鉴了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Matlab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矩阵开发思路，故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的数组创建、运算、切片、连接及存取、排序与搜索、矩阵及线性代数运算均与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Matlab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的矩阵操作极为相似，如果读者具有一定的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Matlab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基础，可以将其对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Matlab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进行对比和细细体味，相信一定会有所收获。</a:t>
            </a:r>
          </a:p>
          <a:p>
            <a:pPr marL="0" indent="0">
              <a:buNone/>
            </a:pPr>
            <a:r>
              <a:rPr lang="zh-CN" altLang="zh-CN" sz="1600" b="1" dirty="0"/>
              <a:t>本章练习</a:t>
            </a:r>
          </a:p>
          <a:p>
            <a:pPr marL="0" indent="0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创建一个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Python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脚本，命名为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test1.py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，完成以下功能：</a:t>
            </a:r>
          </a:p>
          <a:p>
            <a:pPr marL="0" indent="0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定义一个列表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list1=[1,2,4,6,7,8]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，将其转化为数组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N1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定义一个元组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tup1=(1,2,3,4,5,6)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，将其转化为数组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N2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利用内置函数，定义一个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1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行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6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列元素全为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1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的数组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N3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将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N1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，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N2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，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N3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垂直连接，形成一个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3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行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6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列的二维数组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N4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将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N4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保存为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Python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二进制数据文件（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.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npy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格式）。</a:t>
            </a:r>
          </a:p>
          <a:p>
            <a:pPr marL="0" indent="0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创建一个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Python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脚本，命名为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test2.py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，完成以下功能：</a:t>
            </a:r>
          </a:p>
          <a:p>
            <a:pPr marL="0" indent="0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加载练习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1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中生成的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Python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二进制数据文件，获得数组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N4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提取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N4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第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1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行中的第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2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、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4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个元素，第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3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行中的第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1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、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5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个元素，组成一个新的二维数组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N5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将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N5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与练习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1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中的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N1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进行水平合并，生成一个新的二维数组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N6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。</a:t>
            </a:r>
          </a:p>
          <a:p>
            <a:pPr marL="0" indent="0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3. 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创建一个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Python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脚本，命名为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test3.py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，完成以下功能：</a:t>
            </a:r>
          </a:p>
          <a:p>
            <a:pPr marL="0" indent="0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（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1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）生成两个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2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×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2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矩阵，并计算矩阵的乘积。</a:t>
            </a:r>
          </a:p>
          <a:p>
            <a:pPr marL="0" indent="0" fontAlgn="ctr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（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2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）求矩阵求矩阵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的特征值和特征向量。</a:t>
            </a:r>
          </a:p>
          <a:p>
            <a:pPr marL="0" indent="0" fontAlgn="ctr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（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3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）设有矩阵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，试对其进行奇异分解。</a:t>
            </a:r>
          </a:p>
          <a:p>
            <a:pPr marL="0" indent="0" fontAlgn="ctr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（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4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）设有行列式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，求其转置行列式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，并计算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和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。</a:t>
            </a:r>
          </a:p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2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392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第一PPT，www.1ppt.com">
  <a:themeElements>
    <a:clrScheme name="155">
      <a:dk1>
        <a:srgbClr val="294A5A"/>
      </a:dk1>
      <a:lt1>
        <a:srgbClr val="99CC39"/>
      </a:lt1>
      <a:dk2>
        <a:srgbClr val="F9C900"/>
      </a:dk2>
      <a:lt2>
        <a:srgbClr val="ED5A00"/>
      </a:lt2>
      <a:accent1>
        <a:srgbClr val="484849"/>
      </a:accent1>
      <a:accent2>
        <a:srgbClr val="FFFFFF"/>
      </a:accent2>
      <a:accent3>
        <a:srgbClr val="969696"/>
      </a:accent3>
      <a:accent4>
        <a:srgbClr val="00AAA2"/>
      </a:accent4>
      <a:accent5>
        <a:srgbClr val="99CC39"/>
      </a:accent5>
      <a:accent6>
        <a:srgbClr val="F9C900"/>
      </a:accent6>
      <a:hlink>
        <a:srgbClr val="ED5A00"/>
      </a:hlink>
      <a:folHlink>
        <a:srgbClr val="484849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5765</TotalTime>
  <Words>1722</Words>
  <Application>Microsoft Office PowerPoint</Application>
  <PresentationFormat>自定义</PresentationFormat>
  <Paragraphs>186</Paragraphs>
  <Slides>9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1" baseType="lpstr">
      <vt:lpstr>第一PPT，www.1ppt.com</vt:lpstr>
      <vt:lpstr>MathType 6.0 Equation</vt:lpstr>
      <vt:lpstr> 2.8 数组形态变换 </vt:lpstr>
      <vt:lpstr> 2.9 数组排序与搜索 </vt:lpstr>
      <vt:lpstr>2.10 矩阵与线性代数运算</vt:lpstr>
      <vt:lpstr>2.10 矩阵与线性代数运算</vt:lpstr>
      <vt:lpstr>2.10 矩阵与线性代数运算</vt:lpstr>
      <vt:lpstr>2.10 矩阵与线性代数运算</vt:lpstr>
      <vt:lpstr>2.10 矩阵与线性代数运算</vt:lpstr>
      <vt:lpstr>2.10 矩阵与线性代数运算</vt:lpstr>
      <vt:lpstr> 本章小结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商业融资计划书</dc:title>
  <dc:creator>第一PPT</dc:creator>
  <cp:keywords>www.1ppt.com</cp:keywords>
  <cp:lastModifiedBy>lenovo</cp:lastModifiedBy>
  <cp:revision>1591</cp:revision>
  <dcterms:created xsi:type="dcterms:W3CDTF">2013-01-25T01:44:00Z</dcterms:created>
  <dcterms:modified xsi:type="dcterms:W3CDTF">2020-01-12T03:16:11Z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2052-10.1.0.5400</vt:lpwstr>
  </property>
</Properties>
</file>