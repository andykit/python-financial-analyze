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826" r:id="rId2"/>
    <p:sldId id="966" r:id="rId3"/>
    <p:sldId id="828" r:id="rId4"/>
    <p:sldId id="914" r:id="rId5"/>
    <p:sldId id="933" r:id="rId6"/>
    <p:sldId id="961" r:id="rId7"/>
    <p:sldId id="962" r:id="rId8"/>
    <p:sldId id="963" r:id="rId9"/>
    <p:sldId id="964" r:id="rId10"/>
    <p:sldId id="965" r:id="rId11"/>
    <p:sldId id="823" r:id="rId12"/>
    <p:sldId id="855" r:id="rId13"/>
    <p:sldId id="928" r:id="rId14"/>
    <p:sldId id="922" r:id="rId15"/>
    <p:sldId id="924" r:id="rId16"/>
    <p:sldId id="934" r:id="rId17"/>
    <p:sldId id="935" r:id="rId18"/>
    <p:sldId id="936" r:id="rId19"/>
    <p:sldId id="927" r:id="rId20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F8F8F8"/>
    <a:srgbClr val="17DCF1"/>
    <a:srgbClr val="0DC2D5"/>
    <a:srgbClr val="006BBC"/>
    <a:srgbClr val="00AAA2"/>
    <a:srgbClr val="EFEFE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43"/>
        <p:guide pos="37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080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475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anose="0201060903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0" y="2454498"/>
            <a:ext cx="12196800" cy="440350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947444" y="1328709"/>
            <a:ext cx="2301875" cy="2308227"/>
            <a:chOff x="6609209" y="790981"/>
            <a:chExt cx="2301875" cy="2308226"/>
          </a:xfrm>
        </p:grpSpPr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6609209" y="790981"/>
              <a:ext cx="2301875" cy="23082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6733034" y="914806"/>
              <a:ext cx="2054225" cy="2058988"/>
            </a:xfrm>
            <a:custGeom>
              <a:avLst/>
              <a:gdLst>
                <a:gd name="T0" fmla="*/ 1653 w 3306"/>
                <a:gd name="T1" fmla="*/ 0 h 3306"/>
                <a:gd name="T2" fmla="*/ 3306 w 3306"/>
                <a:gd name="T3" fmla="*/ 1653 h 3306"/>
                <a:gd name="T4" fmla="*/ 1653 w 3306"/>
                <a:gd name="T5" fmla="*/ 3306 h 3306"/>
                <a:gd name="T6" fmla="*/ 0 w 3306"/>
                <a:gd name="T7" fmla="*/ 1653 h 3306"/>
                <a:gd name="T8" fmla="*/ 1653 w 3306"/>
                <a:gd name="T9" fmla="*/ 0 h 3306"/>
                <a:gd name="T10" fmla="*/ 1653 w 3306"/>
                <a:gd name="T11" fmla="*/ 112 h 3306"/>
                <a:gd name="T12" fmla="*/ 3193 w 3306"/>
                <a:gd name="T13" fmla="*/ 1653 h 3306"/>
                <a:gd name="T14" fmla="*/ 1653 w 3306"/>
                <a:gd name="T15" fmla="*/ 3193 h 3306"/>
                <a:gd name="T16" fmla="*/ 112 w 3306"/>
                <a:gd name="T17" fmla="*/ 1653 h 3306"/>
                <a:gd name="T18" fmla="*/ 1653 w 3306"/>
                <a:gd name="T19" fmla="*/ 112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06" h="3306">
                  <a:moveTo>
                    <a:pt x="1653" y="0"/>
                  </a:moveTo>
                  <a:cubicBezTo>
                    <a:pt x="2565" y="0"/>
                    <a:pt x="3306" y="740"/>
                    <a:pt x="3306" y="1653"/>
                  </a:cubicBezTo>
                  <a:cubicBezTo>
                    <a:pt x="3306" y="2565"/>
                    <a:pt x="2565" y="3306"/>
                    <a:pt x="1653" y="3306"/>
                  </a:cubicBezTo>
                  <a:cubicBezTo>
                    <a:pt x="740" y="3306"/>
                    <a:pt x="0" y="2565"/>
                    <a:pt x="0" y="1653"/>
                  </a:cubicBezTo>
                  <a:cubicBezTo>
                    <a:pt x="0" y="740"/>
                    <a:pt x="740" y="0"/>
                    <a:pt x="1653" y="0"/>
                  </a:cubicBezTo>
                  <a:close/>
                  <a:moveTo>
                    <a:pt x="1653" y="112"/>
                  </a:moveTo>
                  <a:cubicBezTo>
                    <a:pt x="2503" y="112"/>
                    <a:pt x="3193" y="802"/>
                    <a:pt x="3193" y="1653"/>
                  </a:cubicBezTo>
                  <a:cubicBezTo>
                    <a:pt x="3193" y="2503"/>
                    <a:pt x="2503" y="3193"/>
                    <a:pt x="1653" y="3193"/>
                  </a:cubicBezTo>
                  <a:cubicBezTo>
                    <a:pt x="802" y="3193"/>
                    <a:pt x="112" y="2503"/>
                    <a:pt x="112" y="1653"/>
                  </a:cubicBezTo>
                  <a:cubicBezTo>
                    <a:pt x="112" y="802"/>
                    <a:pt x="802" y="112"/>
                    <a:pt x="1653" y="11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779905" y="3742055"/>
            <a:ext cx="8455025" cy="828675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股票价、量走势图绘制</a:t>
            </a: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2641998" y="4570915"/>
            <a:ext cx="691276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2"/>
          <p:cNvSpPr>
            <a:spLocks noEditPoints="1"/>
          </p:cNvSpPr>
          <p:nvPr/>
        </p:nvSpPr>
        <p:spPr bwMode="auto">
          <a:xfrm>
            <a:off x="5517801" y="1904686"/>
            <a:ext cx="1161161" cy="1156273"/>
          </a:xfrm>
          <a:custGeom>
            <a:avLst/>
            <a:gdLst>
              <a:gd name="T0" fmla="*/ 862 w 954"/>
              <a:gd name="T1" fmla="*/ 813 h 944"/>
              <a:gd name="T2" fmla="*/ 763 w 954"/>
              <a:gd name="T3" fmla="*/ 813 h 944"/>
              <a:gd name="T4" fmla="*/ 625 w 954"/>
              <a:gd name="T5" fmla="*/ 549 h 944"/>
              <a:gd name="T6" fmla="*/ 611 w 954"/>
              <a:gd name="T7" fmla="*/ 601 h 944"/>
              <a:gd name="T8" fmla="*/ 535 w 954"/>
              <a:gd name="T9" fmla="*/ 658 h 944"/>
              <a:gd name="T10" fmla="*/ 782 w 954"/>
              <a:gd name="T11" fmla="*/ 932 h 944"/>
              <a:gd name="T12" fmla="*/ 941 w 954"/>
              <a:gd name="T13" fmla="*/ 826 h 944"/>
              <a:gd name="T14" fmla="*/ 824 w 954"/>
              <a:gd name="T15" fmla="*/ 704 h 944"/>
              <a:gd name="T16" fmla="*/ 650 w 954"/>
              <a:gd name="T17" fmla="*/ 561 h 944"/>
              <a:gd name="T18" fmla="*/ 345 w 954"/>
              <a:gd name="T19" fmla="*/ 335 h 944"/>
              <a:gd name="T20" fmla="*/ 397 w 954"/>
              <a:gd name="T21" fmla="*/ 321 h 944"/>
              <a:gd name="T22" fmla="*/ 411 w 954"/>
              <a:gd name="T23" fmla="*/ 269 h 944"/>
              <a:gd name="T24" fmla="*/ 423 w 954"/>
              <a:gd name="T25" fmla="*/ 221 h 944"/>
              <a:gd name="T26" fmla="*/ 184 w 954"/>
              <a:gd name="T27" fmla="*/ 21 h 944"/>
              <a:gd name="T28" fmla="*/ 151 w 954"/>
              <a:gd name="T29" fmla="*/ 267 h 944"/>
              <a:gd name="T30" fmla="*/ 1 w 954"/>
              <a:gd name="T31" fmla="*/ 204 h 944"/>
              <a:gd name="T32" fmla="*/ 284 w 954"/>
              <a:gd name="T33" fmla="*/ 406 h 944"/>
              <a:gd name="T34" fmla="*/ 320 w 954"/>
              <a:gd name="T35" fmla="*/ 360 h 944"/>
              <a:gd name="T36" fmla="*/ 920 w 954"/>
              <a:gd name="T37" fmla="*/ 91 h 944"/>
              <a:gd name="T38" fmla="*/ 791 w 954"/>
              <a:gd name="T39" fmla="*/ 0 h 944"/>
              <a:gd name="T40" fmla="*/ 448 w 954"/>
              <a:gd name="T41" fmla="*/ 306 h 944"/>
              <a:gd name="T42" fmla="*/ 399 w 954"/>
              <a:gd name="T43" fmla="*/ 376 h 944"/>
              <a:gd name="T44" fmla="*/ 357 w 954"/>
              <a:gd name="T45" fmla="*/ 397 h 944"/>
              <a:gd name="T46" fmla="*/ 362 w 954"/>
              <a:gd name="T47" fmla="*/ 527 h 944"/>
              <a:gd name="T48" fmla="*/ 85 w 954"/>
              <a:gd name="T49" fmla="*/ 768 h 944"/>
              <a:gd name="T50" fmla="*/ 55 w 954"/>
              <a:gd name="T51" fmla="*/ 944 h 944"/>
              <a:gd name="T52" fmla="*/ 198 w 954"/>
              <a:gd name="T53" fmla="*/ 800 h 944"/>
              <a:gd name="T54" fmla="*/ 423 w 954"/>
              <a:gd name="T55" fmla="*/ 588 h 944"/>
              <a:gd name="T56" fmla="*/ 549 w 954"/>
              <a:gd name="T57" fmla="*/ 588 h 944"/>
              <a:gd name="T58" fmla="*/ 585 w 954"/>
              <a:gd name="T59" fmla="*/ 509 h 944"/>
              <a:gd name="T60" fmla="*/ 639 w 954"/>
              <a:gd name="T61" fmla="*/ 498 h 944"/>
              <a:gd name="T62" fmla="*/ 920 w 954"/>
              <a:gd name="T63" fmla="*/ 91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4" h="944">
                <a:moveTo>
                  <a:pt x="813" y="764"/>
                </a:moveTo>
                <a:cubicBezTo>
                  <a:pt x="840" y="764"/>
                  <a:pt x="862" y="786"/>
                  <a:pt x="862" y="813"/>
                </a:cubicBezTo>
                <a:cubicBezTo>
                  <a:pt x="862" y="841"/>
                  <a:pt x="840" y="863"/>
                  <a:pt x="813" y="863"/>
                </a:cubicBezTo>
                <a:cubicBezTo>
                  <a:pt x="786" y="863"/>
                  <a:pt x="763" y="841"/>
                  <a:pt x="763" y="813"/>
                </a:cubicBezTo>
                <a:cubicBezTo>
                  <a:pt x="763" y="786"/>
                  <a:pt x="786" y="764"/>
                  <a:pt x="813" y="764"/>
                </a:cubicBezTo>
                <a:close/>
                <a:moveTo>
                  <a:pt x="625" y="549"/>
                </a:moveTo>
                <a:lnTo>
                  <a:pt x="637" y="574"/>
                </a:lnTo>
                <a:lnTo>
                  <a:pt x="611" y="601"/>
                </a:lnTo>
                <a:lnTo>
                  <a:pt x="586" y="625"/>
                </a:lnTo>
                <a:cubicBezTo>
                  <a:pt x="571" y="640"/>
                  <a:pt x="554" y="651"/>
                  <a:pt x="535" y="658"/>
                </a:cubicBezTo>
                <a:lnTo>
                  <a:pt x="703" y="826"/>
                </a:lnTo>
                <a:lnTo>
                  <a:pt x="782" y="932"/>
                </a:lnTo>
                <a:lnTo>
                  <a:pt x="824" y="943"/>
                </a:lnTo>
                <a:lnTo>
                  <a:pt x="941" y="826"/>
                </a:lnTo>
                <a:lnTo>
                  <a:pt x="930" y="783"/>
                </a:lnTo>
                <a:lnTo>
                  <a:pt x="824" y="704"/>
                </a:lnTo>
                <a:lnTo>
                  <a:pt x="666" y="546"/>
                </a:lnTo>
                <a:lnTo>
                  <a:pt x="650" y="561"/>
                </a:lnTo>
                <a:lnTo>
                  <a:pt x="625" y="549"/>
                </a:lnTo>
                <a:close/>
                <a:moveTo>
                  <a:pt x="345" y="335"/>
                </a:moveTo>
                <a:lnTo>
                  <a:pt x="372" y="308"/>
                </a:lnTo>
                <a:lnTo>
                  <a:pt x="397" y="321"/>
                </a:lnTo>
                <a:lnTo>
                  <a:pt x="384" y="296"/>
                </a:lnTo>
                <a:lnTo>
                  <a:pt x="411" y="269"/>
                </a:lnTo>
                <a:lnTo>
                  <a:pt x="414" y="266"/>
                </a:lnTo>
                <a:cubicBezTo>
                  <a:pt x="420" y="251"/>
                  <a:pt x="423" y="235"/>
                  <a:pt x="423" y="221"/>
                </a:cubicBezTo>
                <a:cubicBezTo>
                  <a:pt x="423" y="108"/>
                  <a:pt x="316" y="0"/>
                  <a:pt x="204" y="1"/>
                </a:cubicBezTo>
                <a:cubicBezTo>
                  <a:pt x="203" y="1"/>
                  <a:pt x="191" y="14"/>
                  <a:pt x="184" y="21"/>
                </a:cubicBezTo>
                <a:cubicBezTo>
                  <a:pt x="274" y="111"/>
                  <a:pt x="266" y="96"/>
                  <a:pt x="266" y="151"/>
                </a:cubicBezTo>
                <a:cubicBezTo>
                  <a:pt x="266" y="196"/>
                  <a:pt x="195" y="267"/>
                  <a:pt x="151" y="267"/>
                </a:cubicBezTo>
                <a:cubicBezTo>
                  <a:pt x="94" y="267"/>
                  <a:pt x="112" y="276"/>
                  <a:pt x="20" y="184"/>
                </a:cubicBezTo>
                <a:cubicBezTo>
                  <a:pt x="13" y="191"/>
                  <a:pt x="1" y="204"/>
                  <a:pt x="1" y="204"/>
                </a:cubicBezTo>
                <a:cubicBezTo>
                  <a:pt x="2" y="316"/>
                  <a:pt x="108" y="424"/>
                  <a:pt x="220" y="424"/>
                </a:cubicBezTo>
                <a:cubicBezTo>
                  <a:pt x="240" y="424"/>
                  <a:pt x="262" y="417"/>
                  <a:pt x="284" y="406"/>
                </a:cubicBezTo>
                <a:lnTo>
                  <a:pt x="288" y="411"/>
                </a:lnTo>
                <a:cubicBezTo>
                  <a:pt x="295" y="392"/>
                  <a:pt x="305" y="375"/>
                  <a:pt x="320" y="360"/>
                </a:cubicBezTo>
                <a:lnTo>
                  <a:pt x="345" y="335"/>
                </a:lnTo>
                <a:close/>
                <a:moveTo>
                  <a:pt x="920" y="91"/>
                </a:moveTo>
                <a:lnTo>
                  <a:pt x="854" y="26"/>
                </a:lnTo>
                <a:cubicBezTo>
                  <a:pt x="837" y="9"/>
                  <a:pt x="814" y="0"/>
                  <a:pt x="791" y="0"/>
                </a:cubicBezTo>
                <a:cubicBezTo>
                  <a:pt x="768" y="0"/>
                  <a:pt x="746" y="9"/>
                  <a:pt x="728" y="26"/>
                </a:cubicBezTo>
                <a:lnTo>
                  <a:pt x="448" y="306"/>
                </a:lnTo>
                <a:cubicBezTo>
                  <a:pt x="457" y="323"/>
                  <a:pt x="450" y="348"/>
                  <a:pt x="437" y="361"/>
                </a:cubicBezTo>
                <a:cubicBezTo>
                  <a:pt x="428" y="370"/>
                  <a:pt x="413" y="376"/>
                  <a:pt x="399" y="376"/>
                </a:cubicBezTo>
                <a:cubicBezTo>
                  <a:pt x="393" y="376"/>
                  <a:pt x="387" y="375"/>
                  <a:pt x="382" y="372"/>
                </a:cubicBezTo>
                <a:lnTo>
                  <a:pt x="357" y="397"/>
                </a:lnTo>
                <a:cubicBezTo>
                  <a:pt x="323" y="432"/>
                  <a:pt x="323" y="488"/>
                  <a:pt x="357" y="523"/>
                </a:cubicBezTo>
                <a:lnTo>
                  <a:pt x="362" y="527"/>
                </a:lnTo>
                <a:lnTo>
                  <a:pt x="143" y="746"/>
                </a:lnTo>
                <a:lnTo>
                  <a:pt x="85" y="768"/>
                </a:lnTo>
                <a:lnTo>
                  <a:pt x="0" y="889"/>
                </a:lnTo>
                <a:lnTo>
                  <a:pt x="55" y="944"/>
                </a:lnTo>
                <a:lnTo>
                  <a:pt x="176" y="859"/>
                </a:lnTo>
                <a:lnTo>
                  <a:pt x="198" y="800"/>
                </a:lnTo>
                <a:lnTo>
                  <a:pt x="416" y="582"/>
                </a:lnTo>
                <a:lnTo>
                  <a:pt x="423" y="588"/>
                </a:lnTo>
                <a:cubicBezTo>
                  <a:pt x="440" y="606"/>
                  <a:pt x="463" y="614"/>
                  <a:pt x="486" y="614"/>
                </a:cubicBezTo>
                <a:cubicBezTo>
                  <a:pt x="509" y="614"/>
                  <a:pt x="531" y="606"/>
                  <a:pt x="549" y="588"/>
                </a:cubicBezTo>
                <a:lnTo>
                  <a:pt x="574" y="564"/>
                </a:lnTo>
                <a:cubicBezTo>
                  <a:pt x="565" y="547"/>
                  <a:pt x="572" y="522"/>
                  <a:pt x="585" y="509"/>
                </a:cubicBezTo>
                <a:cubicBezTo>
                  <a:pt x="594" y="500"/>
                  <a:pt x="609" y="494"/>
                  <a:pt x="622" y="494"/>
                </a:cubicBezTo>
                <a:cubicBezTo>
                  <a:pt x="629" y="494"/>
                  <a:pt x="634" y="495"/>
                  <a:pt x="639" y="498"/>
                </a:cubicBezTo>
                <a:lnTo>
                  <a:pt x="920" y="217"/>
                </a:lnTo>
                <a:cubicBezTo>
                  <a:pt x="954" y="183"/>
                  <a:pt x="954" y="126"/>
                  <a:pt x="920" y="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6" name="Oval 39"/>
          <p:cNvSpPr>
            <a:spLocks noChangeAspect="1" noChangeArrowheads="1"/>
          </p:cNvSpPr>
          <p:nvPr/>
        </p:nvSpPr>
        <p:spPr bwMode="auto">
          <a:xfrm>
            <a:off x="3841074" y="4855189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9" name="Oval 42"/>
          <p:cNvSpPr>
            <a:spLocks noChangeAspect="1" noChangeArrowheads="1"/>
          </p:cNvSpPr>
          <p:nvPr/>
        </p:nvSpPr>
        <p:spPr bwMode="auto">
          <a:xfrm>
            <a:off x="6494612" y="4855189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4292" y="4763746"/>
            <a:ext cx="2264888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案例介绍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4109" y="4678673"/>
            <a:ext cx="2946680" cy="551815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z="2000" dirty="0">
                <a:solidFill>
                  <a:schemeClr val="accent2"/>
                </a:solidFill>
              </a:rPr>
              <a:t>绘图数据计算</a:t>
            </a:r>
          </a:p>
        </p:txBody>
      </p:sp>
      <p:sp>
        <p:nvSpPr>
          <p:cNvPr id="15" name="Oval 39"/>
          <p:cNvSpPr>
            <a:spLocks noChangeAspect="1" noChangeArrowheads="1"/>
          </p:cNvSpPr>
          <p:nvPr/>
        </p:nvSpPr>
        <p:spPr bwMode="auto">
          <a:xfrm>
            <a:off x="3841074" y="5444021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26173" y="5333153"/>
            <a:ext cx="5544616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 绘图及图形保存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9855" y="1459230"/>
            <a:ext cx="8444865" cy="4253865"/>
          </a:xfrm>
        </p:spPr>
        <p:txBody>
          <a:bodyPr/>
          <a:lstStyle/>
          <a:p>
            <a:r>
              <a:rPr lang="zh-CN" altLang="en-US" sz="2400"/>
              <a:t>在证券投资分析领域中价、量走势分布图是投资者常用的一个参考方面。本案例主要介绍股票每日收盘价格、成交量的走势图以及月交易量分布饼图的绘制技能，并进一步介绍了子图的绘制方法</a:t>
            </a:r>
            <a:r>
              <a:rPr lang="zh-CN" altLang="en-US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1785" y="117475"/>
            <a:ext cx="817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sym typeface="+mn-ea"/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7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41780" y="40640"/>
            <a:ext cx="5109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+mj-ea"/>
                <a:ea typeface="+mj-ea"/>
                <a:cs typeface="+mj-ea"/>
              </a:rPr>
              <a:t>7.4 股票价、量走势图绘制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20606" y="44625"/>
            <a:ext cx="504222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7.4.1 案例介绍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12090" y="833120"/>
            <a:ext cx="1000823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/>
            <a:r>
              <a:rPr lang="zh-CN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今有股票代码</a:t>
            </a:r>
            <a:r>
              <a:rPr lang="en-US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600000</a:t>
            </a:r>
            <a:r>
              <a:rPr lang="zh-CN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行情交易数据表（</a:t>
            </a:r>
            <a:r>
              <a:rPr lang="en-US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trd.xlsx</a:t>
            </a:r>
            <a:r>
              <a:rPr lang="zh-CN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），其表结构如表</a:t>
            </a:r>
            <a:r>
              <a:rPr lang="en-US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7-7</a:t>
            </a:r>
            <a:r>
              <a:rPr lang="zh-CN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所示。数据来源于国泰安</a:t>
            </a:r>
            <a:r>
              <a:rPr lang="en-US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CSMAR</a:t>
            </a:r>
            <a:r>
              <a:rPr lang="zh-CN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数据库</a:t>
            </a:r>
          </a:p>
          <a:p>
            <a:pPr marL="0" indent="266700"/>
            <a:r>
              <a:rPr lang="zh-CN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表</a:t>
            </a:r>
            <a:r>
              <a:rPr lang="en-US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7-7 </a:t>
            </a:r>
            <a:r>
              <a:rPr lang="zh-CN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股票代码</a:t>
            </a:r>
            <a:r>
              <a:rPr lang="en-US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600000</a:t>
            </a:r>
            <a:r>
              <a:rPr lang="zh-CN" sz="2400" b="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行情交易数据</a:t>
            </a:r>
            <a:endParaRPr lang="zh-CN" altLang="en-US" sz="24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643880" y="1385570"/>
          <a:ext cx="6207125" cy="5196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3325"/>
                <a:gridCol w="233680"/>
                <a:gridCol w="1615440"/>
                <a:gridCol w="1069340"/>
                <a:gridCol w="1852930"/>
                <a:gridCol w="232410"/>
              </a:tblGrid>
              <a:tr h="305435"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股票代码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交易日期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收盘价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交易股数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2017-01-03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16237125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2017-01-04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16.33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29658734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2017-01-05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26437646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2017-01-06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17195598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2017-01-09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14908745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7996756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9193332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8296150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19034143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600000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2017-01-16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16.56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53304724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13372" y="2031683"/>
            <a:ext cx="5080000" cy="48310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endParaRPr lang="zh-CN" sz="2000" b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/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问题如下：</a:t>
            </a:r>
          </a:p>
          <a:p>
            <a:pPr marL="0" indent="0"/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）绘制股票代码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600000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，日期为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2017-01-03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至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2017-01-20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日的收盘价格走势图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sz="24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/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）绘制股票代码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600000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，日期为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2017-01-03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至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2017-01-24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日的交易量柱状图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sz="24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/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）计算股票代码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600000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2017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月至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月的交易量，并绘制其饼图。</a:t>
            </a:r>
          </a:p>
          <a:p>
            <a:pPr marL="0" indent="0"/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）将以上的价格走势图、柱状图、饼图在同一个</a:t>
            </a:r>
            <a:r>
              <a:rPr lang="en-US" sz="2400" b="0">
                <a:latin typeface="宋体" panose="02010600030101010101" pitchFamily="2" charset="-122"/>
                <a:cs typeface="宋体" panose="02010600030101010101" pitchFamily="2" charset="-122"/>
              </a:rPr>
              <a:t>figure</a:t>
            </a:r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上以子图的形式绘制出来。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绘图数据计算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本节主要计算获得绘图所需的横轴和纵轴指标数据，包括股票代码600000的2017-01-03至2017-01-20日的收盘价格数据，2017-01-03至2017-01-24日的交易量数据和2017年1月至11月的交易量统计数据D，这里主要涉及数据的筛选及简单循环计算的编程技能。示例代码如下：</a:t>
            </a:r>
          </a:p>
        </p:txBody>
      </p:sp>
      <p:sp>
        <p:nvSpPr>
          <p:cNvPr id="16" name="矩形 15"/>
          <p:cNvSpPr/>
          <p:nvPr/>
        </p:nvSpPr>
        <p:spPr>
          <a:xfrm>
            <a:off x="895643" y="2921776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2" name="文本框 1"/>
          <p:cNvSpPr txBox="1"/>
          <p:nvPr/>
        </p:nvSpPr>
        <p:spPr>
          <a:xfrm>
            <a:off x="895350" y="3103880"/>
            <a:ext cx="978598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import pandas as pd</a:t>
            </a:r>
          </a:p>
          <a:p>
            <a:r>
              <a:rPr lang="zh-CN" altLang="en-US"/>
              <a:t>import numpy as np</a:t>
            </a:r>
          </a:p>
          <a:p>
            <a:r>
              <a:rPr lang="zh-CN" altLang="en-US"/>
              <a:t>import matplotlib.pyplot as plt</a:t>
            </a:r>
          </a:p>
          <a:p>
            <a:r>
              <a:rPr lang="zh-CN" altLang="en-US"/>
              <a:t>data=pd.read_excel('trd.xlsx')</a:t>
            </a:r>
          </a:p>
          <a:p>
            <a:r>
              <a:rPr lang="zh-CN" altLang="en-US"/>
              <a:t>dt=data.loc[data['股票代码']==600000,['交易日期','收盘价','交易量']]</a:t>
            </a:r>
          </a:p>
          <a:p>
            <a:r>
              <a:rPr lang="zh-CN" altLang="en-US"/>
              <a:t>I1=dt['交易日期'].values&gt;='2017-01-03'</a:t>
            </a:r>
          </a:p>
          <a:p>
            <a:r>
              <a:rPr lang="zh-CN" altLang="en-US"/>
              <a:t>I2=dt['交易日期'].values&lt;='2017-01-20</a:t>
            </a:r>
          </a:p>
          <a:p>
            <a:r>
              <a:rPr lang="zh-CN" altLang="en-US"/>
              <a:t>dta=dt.iloc[I1&amp;I2,:]</a:t>
            </a:r>
          </a:p>
          <a:p>
            <a:r>
              <a:rPr lang="zh-CN" altLang="en-US"/>
              <a:t>y1=dta['收盘价']</a:t>
            </a:r>
          </a:p>
          <a:p>
            <a:r>
              <a:rPr lang="zh-CN" altLang="en-US"/>
              <a:t>x1=range(len(y1))</a:t>
            </a:r>
          </a:p>
          <a:p>
            <a:r>
              <a:rPr lang="zh-CN" altLang="en-US"/>
              <a:t>I3=dt['交易日期'].values&gt;='2017-01-03'</a:t>
            </a:r>
          </a:p>
          <a:p>
            <a:r>
              <a:rPr lang="zh-CN" altLang="en-US"/>
              <a:t>I4=dt['交易日期'].values&lt;='2017-01-24'</a:t>
            </a: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 animBg="1"/>
      <p:bldP spid="16" grpId="1" animBg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绘图数据计算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4685" y="1075055"/>
            <a:ext cx="1042225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dta=dt.iloc[I3&amp;I4,:]</a:t>
            </a:r>
          </a:p>
          <a:p>
            <a:r>
              <a:rPr lang="zh-CN" altLang="en-US"/>
              <a:t>y2=dta['交易量']</a:t>
            </a:r>
          </a:p>
          <a:p>
            <a:r>
              <a:rPr lang="zh-CN" altLang="en-US"/>
              <a:t>x2=range(len(y2))</a:t>
            </a:r>
          </a:p>
          <a:p>
            <a:r>
              <a:rPr lang="zh-CN" altLang="en-US"/>
              <a:t>D=np.zeros((11))</a:t>
            </a:r>
          </a:p>
          <a:p>
            <a:r>
              <a:rPr lang="zh-CN" altLang="en-US"/>
              <a:t>list1=list()</a:t>
            </a:r>
          </a:p>
          <a:p>
            <a:r>
              <a:rPr lang="zh-CN" altLang="en-US"/>
              <a:t>for m in range(11):</a:t>
            </a:r>
          </a:p>
          <a:p>
            <a:r>
              <a:rPr lang="zh-CN" altLang="en-US"/>
              <a:t>    m=m+1</a:t>
            </a:r>
          </a:p>
          <a:p>
            <a:r>
              <a:rPr lang="zh-CN" altLang="en-US"/>
              <a:t>    if m&lt;10:</a:t>
            </a:r>
          </a:p>
          <a:p>
            <a:r>
              <a:rPr lang="zh-CN" altLang="en-US"/>
              <a:t>        m1='2017-0'+str(m)+'-01'</a:t>
            </a:r>
          </a:p>
          <a:p>
            <a:r>
              <a:rPr lang="zh-CN" altLang="en-US"/>
              <a:t>        m2='2017-0'+str(m)+'-31'</a:t>
            </a:r>
          </a:p>
          <a:p>
            <a:r>
              <a:rPr lang="zh-CN" altLang="en-US"/>
              <a:t>        mon='0'+str(m)</a:t>
            </a:r>
          </a:p>
          <a:p>
            <a:r>
              <a:rPr lang="zh-CN" altLang="en-US"/>
              <a:t>    else:</a:t>
            </a:r>
          </a:p>
          <a:p>
            <a:r>
              <a:rPr lang="zh-CN" altLang="en-US"/>
              <a:t>        m1='2017-'+str(m)+'-01'</a:t>
            </a:r>
          </a:p>
          <a:p>
            <a:r>
              <a:rPr lang="zh-CN" altLang="en-US"/>
              <a:t>        m2='2017-'+str(m)+'-31'</a:t>
            </a:r>
          </a:p>
          <a:p>
            <a:r>
              <a:rPr lang="zh-CN" altLang="en-US"/>
              <a:t>        mon=str(m)</a:t>
            </a:r>
          </a:p>
          <a:p>
            <a:r>
              <a:rPr lang="zh-CN" altLang="en-US"/>
              <a:t>    I1=dt['交易日期'].values&gt;=m1</a:t>
            </a:r>
          </a:p>
          <a:p>
            <a:r>
              <a:rPr lang="zh-CN" altLang="en-US"/>
              <a:t>    I2=dt['交易日期'].values&lt;=m2</a:t>
            </a:r>
          </a:p>
          <a:p>
            <a:r>
              <a:rPr lang="zh-CN" altLang="en-US"/>
              <a:t>    D[m-1]=dt.iloc[I1&amp;I2,[2]].sum()[0]</a:t>
            </a:r>
          </a:p>
          <a:p>
            <a:r>
              <a:rPr lang="zh-CN" altLang="en-US"/>
              <a:t>    list1.append(mon)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1. 股票价格走势图绘制。示例代码如下：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790" y="2207895"/>
            <a:ext cx="6125845" cy="380365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plt.figure(1)</a:t>
            </a:r>
          </a:p>
          <a:p>
            <a:pPr marL="0" indent="0">
              <a:buNone/>
            </a:pPr>
            <a:r>
              <a:rPr lang="zh-CN" altLang="en-US"/>
              <a:t>plt.plot(x1,y1)</a:t>
            </a:r>
          </a:p>
          <a:p>
            <a:pPr marL="0" indent="0">
              <a:buNone/>
            </a:pPr>
            <a:r>
              <a:rPr lang="zh-CN" altLang="en-US"/>
              <a:t>plt.xlabel(u'日期',fontproperties='SimHei')</a:t>
            </a:r>
          </a:p>
          <a:p>
            <a:pPr marL="0" indent="0">
              <a:buNone/>
            </a:pPr>
            <a:r>
              <a:rPr lang="zh-CN" altLang="en-US"/>
              <a:t>plt.ylabel(u'收盘价',fontproperties='SimHei')</a:t>
            </a:r>
          </a:p>
          <a:p>
            <a:pPr marL="0" indent="0">
              <a:buNone/>
            </a:pPr>
            <a:r>
              <a:rPr lang="zh-CN" altLang="en-US"/>
              <a:t>plt.title(u'收盘价走势图',fontproperties='SimHei')</a:t>
            </a:r>
          </a:p>
          <a:p>
            <a:pPr marL="0" indent="0">
              <a:buNone/>
            </a:pPr>
            <a:r>
              <a:rPr lang="zh-CN" altLang="en-US"/>
              <a:t>plt.savefig('1')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185" y="127000"/>
            <a:ext cx="848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sym typeface="+mn-ea"/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7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00175" y="50165"/>
            <a:ext cx="5358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+mj-ea"/>
                <a:ea typeface="+mj-ea"/>
                <a:cs typeface="+mj-ea"/>
              </a:rPr>
              <a:t>7.4.3 绘图及图形保存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58305" y="1205865"/>
            <a:ext cx="4933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          </a:t>
            </a:r>
            <a:r>
              <a:rPr lang="zh-CN" altLang="en-US" sz="2400"/>
              <a:t>执行结果如图7-9所示。</a:t>
            </a:r>
          </a:p>
        </p:txBody>
      </p:sp>
      <p:pic>
        <p:nvPicPr>
          <p:cNvPr id="99" name="图片 9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47740" y="2057400"/>
            <a:ext cx="5582920" cy="4714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1" build="p"/>
      <p:bldP spid="6" grpId="0"/>
      <p:bldP spid="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7560" y="800100"/>
            <a:ext cx="10601325" cy="514985"/>
          </a:xfrm>
        </p:spPr>
        <p:txBody>
          <a:bodyPr/>
          <a:lstStyle/>
          <a:p>
            <a:r>
              <a:rPr lang="zh-CN" altLang="en-US"/>
              <a:t>2. 交易量分布柱状图。示例代码如下：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500" y="1600200"/>
            <a:ext cx="4758055" cy="4495800"/>
          </a:xfrm>
        </p:spPr>
        <p:txBody>
          <a:bodyPr/>
          <a:lstStyle/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plt.figure(2)</a:t>
            </a:r>
          </a:p>
          <a:p>
            <a:pPr marL="0" indent="0">
              <a:buNone/>
            </a:pPr>
            <a:r>
              <a:rPr lang="zh-CN" altLang="en-US"/>
              <a:t>plt.bar(x2,y2)</a:t>
            </a:r>
          </a:p>
          <a:p>
            <a:pPr marL="0" indent="0">
              <a:buNone/>
            </a:pPr>
            <a:r>
              <a:rPr lang="zh-CN" altLang="en-US"/>
              <a:t>plt.xlabel(u'日期',fontproperties='SimHei')</a:t>
            </a:r>
          </a:p>
          <a:p>
            <a:pPr marL="0" indent="0">
              <a:buNone/>
            </a:pPr>
            <a:r>
              <a:rPr lang="zh-CN" altLang="en-US"/>
              <a:t>plt.ylabel(u'交易量 ',fontproperties='SimHei')</a:t>
            </a:r>
          </a:p>
          <a:p>
            <a:pPr marL="0" indent="0">
              <a:buNone/>
            </a:pPr>
            <a:r>
              <a:rPr lang="zh-CN" altLang="en-US"/>
              <a:t>plt.title(u'交易量趋势图',fontproperties='SimHei')</a:t>
            </a:r>
          </a:p>
          <a:p>
            <a:pPr marL="0" indent="0">
              <a:buNone/>
            </a:pPr>
            <a:r>
              <a:rPr lang="zh-CN" altLang="en-US"/>
              <a:t>plt.savefig('2')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1460" y="147320"/>
            <a:ext cx="878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sym typeface="+mn-ea"/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7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511300" y="7048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+mj-ea"/>
                <a:ea typeface="+mj-ea"/>
                <a:cs typeface="+mj-ea"/>
                <a:sym typeface="+mn-ea"/>
              </a:rPr>
              <a:t>7.4.3 绘图及图形保存</a:t>
            </a:r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>
          <a:xfrm>
            <a:off x="6843395" y="1145540"/>
            <a:ext cx="429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执行结果如图7-10所示。</a:t>
            </a:r>
          </a:p>
        </p:txBody>
      </p:sp>
      <p:pic>
        <p:nvPicPr>
          <p:cNvPr id="133" name="图片 13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7905" y="1827530"/>
            <a:ext cx="5634990" cy="4692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1" build="p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500" y="908050"/>
            <a:ext cx="5652770" cy="635000"/>
          </a:xfrm>
        </p:spPr>
        <p:txBody>
          <a:bodyPr/>
          <a:lstStyle/>
          <a:p>
            <a:r>
              <a:rPr lang="zh-CN" altLang="en-US"/>
              <a:t>3.月交易量分布饼图。示例代码如下：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25500" y="1600200"/>
            <a:ext cx="4392295" cy="3780790"/>
          </a:xfrm>
        </p:spPr>
        <p:txBody>
          <a:bodyPr/>
          <a:lstStyle/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plt.figure(3)</a:t>
            </a:r>
          </a:p>
          <a:p>
            <a:pPr marL="0" indent="0">
              <a:buNone/>
            </a:pPr>
            <a:r>
              <a:rPr lang="zh-CN" altLang="en-US"/>
              <a:t>plt.pie(D,labels=list1,autopct='%1.2f%%') #保留小数点后两位</a:t>
            </a:r>
          </a:p>
          <a:p>
            <a:pPr marL="0" indent="0">
              <a:buNone/>
            </a:pPr>
            <a:r>
              <a:rPr lang="zh-CN" altLang="en-US"/>
              <a:t>plt.title(u'月交易量分布图',fontproperties='SimHei')</a:t>
            </a:r>
          </a:p>
          <a:p>
            <a:pPr marL="0" indent="0">
              <a:buNone/>
            </a:pPr>
            <a:r>
              <a:rPr lang="zh-CN" altLang="en-US"/>
              <a:t>plt.savefig('3')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1300" y="137795"/>
            <a:ext cx="806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sym typeface="+mn-ea"/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7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51305" y="60960"/>
            <a:ext cx="3888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+mj-ea"/>
                <a:ea typeface="+mj-ea"/>
                <a:cs typeface="+mj-ea"/>
                <a:sym typeface="+mn-ea"/>
              </a:rPr>
              <a:t>7.4.3 绘图及图形保存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6752590" y="1543050"/>
            <a:ext cx="3709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执行结果如图7-11所示。</a:t>
            </a:r>
          </a:p>
        </p:txBody>
      </p:sp>
      <p:pic>
        <p:nvPicPr>
          <p:cNvPr id="360" name="图片 36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25160" y="2345690"/>
            <a:ext cx="5764530" cy="3843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1" build="p"/>
      <p:bldP spid="6" grpId="0"/>
      <p:bldP spid="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1320" y="908050"/>
            <a:ext cx="11125835" cy="635000"/>
          </a:xfrm>
        </p:spPr>
        <p:txBody>
          <a:bodyPr/>
          <a:lstStyle/>
          <a:p>
            <a:r>
              <a:rPr lang="zh-CN" altLang="en-US"/>
              <a:t>4. 收盘价走势图、交易量分布图和月交易量饼图组成的3*1子图。示例代码如下：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500" y="1600200"/>
            <a:ext cx="10601325" cy="506222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plt.figure(4)</a:t>
            </a:r>
          </a:p>
          <a:p>
            <a:pPr marL="0" indent="0">
              <a:buNone/>
            </a:pPr>
            <a:r>
              <a:rPr lang="zh-CN" altLang="en-US"/>
              <a:t>plt.figure(figsize=(14,6))</a:t>
            </a:r>
          </a:p>
          <a:p>
            <a:pPr marL="0" indent="0">
              <a:buNone/>
            </a:pPr>
            <a:r>
              <a:rPr lang="zh-CN" altLang="en-US"/>
              <a:t>plt.subplot(1,3,1)</a:t>
            </a:r>
          </a:p>
          <a:p>
            <a:pPr marL="0" indent="0">
              <a:buNone/>
            </a:pPr>
            <a:r>
              <a:rPr lang="zh-CN" altLang="en-US"/>
              <a:t>plt.plot(x1,y1)</a:t>
            </a:r>
          </a:p>
          <a:p>
            <a:pPr marL="0" indent="0">
              <a:buNone/>
            </a:pPr>
            <a:r>
              <a:rPr lang="zh-CN" altLang="en-US"/>
              <a:t>plt.xlabel(u'日期',fontproperties='SimHei')</a:t>
            </a:r>
          </a:p>
          <a:p>
            <a:pPr marL="0" indent="0">
              <a:buNone/>
            </a:pPr>
            <a:r>
              <a:rPr lang="zh-CN" altLang="en-US"/>
              <a:t>plt.ylabel(u'收盘价',fontproperties='SimHei')</a:t>
            </a:r>
          </a:p>
          <a:p>
            <a:pPr marL="0" indent="0">
              <a:buNone/>
            </a:pPr>
            <a:r>
              <a:rPr lang="zh-CN" altLang="en-US"/>
              <a:t>plt.title(u'收盘价走势图',fontproperties='SimHei')</a:t>
            </a:r>
          </a:p>
          <a:p>
            <a:pPr marL="0" indent="0">
              <a:buNone/>
            </a:pPr>
            <a:r>
              <a:rPr lang="zh-CN" altLang="en-US"/>
              <a:t>plt.subplot(1,3,2)</a:t>
            </a:r>
          </a:p>
          <a:p>
            <a:pPr marL="0" indent="0">
              <a:buNone/>
            </a:pPr>
            <a:r>
              <a:rPr lang="zh-CN" altLang="en-US"/>
              <a:t>plt.bar(x2,y2)</a:t>
            </a:r>
          </a:p>
          <a:p>
            <a:pPr marL="0" indent="0">
              <a:buNone/>
            </a:pPr>
            <a:r>
              <a:rPr lang="zh-CN" altLang="en-US"/>
              <a:t>plt.xlabel(u'日期',fontproperties='SimHei')</a:t>
            </a:r>
          </a:p>
          <a:p>
            <a:pPr marL="0" indent="0">
              <a:buNone/>
            </a:pPr>
            <a:r>
              <a:rPr lang="zh-CN" altLang="en-US"/>
              <a:t>plt.ylabel(u'交易量',fontproperties='SimHei')</a:t>
            </a:r>
          </a:p>
          <a:p>
            <a:pPr marL="0" indent="0">
              <a:buNone/>
            </a:pPr>
            <a:r>
              <a:rPr lang="zh-CN" altLang="en-US"/>
              <a:t>plt.title(u'交易量趋势图',fontproperties='SimHei')</a:t>
            </a:r>
          </a:p>
          <a:p>
            <a:pPr marL="0" indent="0">
              <a:buNone/>
            </a:pPr>
            <a:r>
              <a:rPr lang="zh-CN" altLang="en-US"/>
              <a:t>plt.subplot(1,3,3)</a:t>
            </a: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0665" y="116840"/>
            <a:ext cx="817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sym typeface="+mn-ea"/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7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01140" y="40005"/>
            <a:ext cx="4179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+mj-ea"/>
                <a:ea typeface="+mj-ea"/>
                <a:cs typeface="+mj-ea"/>
                <a:sym typeface="+mn-ea"/>
              </a:rPr>
              <a:t>7.4.3 绘图及图形保存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9665" y="767080"/>
            <a:ext cx="9138920" cy="1270000"/>
          </a:xfrm>
        </p:spPr>
        <p:txBody>
          <a:bodyPr/>
          <a:lstStyle/>
          <a:p>
            <a:r>
              <a:rPr lang="zh-CN" altLang="en-US"/>
              <a:t>plt.pie(D,labels=list1,autopct='%1.2f%%') #保留小数点后两位</a:t>
            </a:r>
            <a:br>
              <a:rPr lang="zh-CN" altLang="en-US"/>
            </a:br>
            <a:r>
              <a:rPr lang="zh-CN" altLang="en-US"/>
              <a:t>plt.title(u'月交易量分布图',fontproperties='SimHei')</a:t>
            </a:r>
            <a:br>
              <a:rPr lang="zh-CN" altLang="en-US"/>
            </a:br>
            <a:r>
              <a:rPr lang="zh-CN" altLang="en-US"/>
              <a:t>plt.savefig('4')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1465" y="117475"/>
            <a:ext cx="838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sym typeface="+mn-ea"/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7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470660" y="40640"/>
            <a:ext cx="4339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+mj-ea"/>
                <a:ea typeface="+mj-ea"/>
                <a:cs typeface="+mj-ea"/>
                <a:sym typeface="+mn-ea"/>
              </a:rPr>
              <a:t>7.4.3 绘图及图形保存</a:t>
            </a:r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>
          <a:xfrm>
            <a:off x="3446780" y="2218690"/>
            <a:ext cx="4742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执行结果如图7-12所示。</a:t>
            </a:r>
          </a:p>
        </p:txBody>
      </p:sp>
      <p:pic>
        <p:nvPicPr>
          <p:cNvPr id="361" name="图片 36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9655" y="2617470"/>
            <a:ext cx="9948545" cy="3883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0" y="2454498"/>
            <a:ext cx="12196800" cy="440350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947444" y="1328709"/>
            <a:ext cx="2301875" cy="2308227"/>
            <a:chOff x="6609209" y="790981"/>
            <a:chExt cx="2301875" cy="2308226"/>
          </a:xfrm>
        </p:grpSpPr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6609209" y="790981"/>
              <a:ext cx="2301875" cy="23082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6733034" y="914806"/>
              <a:ext cx="2054225" cy="2058988"/>
            </a:xfrm>
            <a:custGeom>
              <a:avLst/>
              <a:gdLst>
                <a:gd name="T0" fmla="*/ 1653 w 3306"/>
                <a:gd name="T1" fmla="*/ 0 h 3306"/>
                <a:gd name="T2" fmla="*/ 3306 w 3306"/>
                <a:gd name="T3" fmla="*/ 1653 h 3306"/>
                <a:gd name="T4" fmla="*/ 1653 w 3306"/>
                <a:gd name="T5" fmla="*/ 3306 h 3306"/>
                <a:gd name="T6" fmla="*/ 0 w 3306"/>
                <a:gd name="T7" fmla="*/ 1653 h 3306"/>
                <a:gd name="T8" fmla="*/ 1653 w 3306"/>
                <a:gd name="T9" fmla="*/ 0 h 3306"/>
                <a:gd name="T10" fmla="*/ 1653 w 3306"/>
                <a:gd name="T11" fmla="*/ 112 h 3306"/>
                <a:gd name="T12" fmla="*/ 3193 w 3306"/>
                <a:gd name="T13" fmla="*/ 1653 h 3306"/>
                <a:gd name="T14" fmla="*/ 1653 w 3306"/>
                <a:gd name="T15" fmla="*/ 3193 h 3306"/>
                <a:gd name="T16" fmla="*/ 112 w 3306"/>
                <a:gd name="T17" fmla="*/ 1653 h 3306"/>
                <a:gd name="T18" fmla="*/ 1653 w 3306"/>
                <a:gd name="T19" fmla="*/ 112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06" h="3306">
                  <a:moveTo>
                    <a:pt x="1653" y="0"/>
                  </a:moveTo>
                  <a:cubicBezTo>
                    <a:pt x="2565" y="0"/>
                    <a:pt x="3306" y="740"/>
                    <a:pt x="3306" y="1653"/>
                  </a:cubicBezTo>
                  <a:cubicBezTo>
                    <a:pt x="3306" y="2565"/>
                    <a:pt x="2565" y="3306"/>
                    <a:pt x="1653" y="3306"/>
                  </a:cubicBezTo>
                  <a:cubicBezTo>
                    <a:pt x="740" y="3306"/>
                    <a:pt x="0" y="2565"/>
                    <a:pt x="0" y="1653"/>
                  </a:cubicBezTo>
                  <a:cubicBezTo>
                    <a:pt x="0" y="740"/>
                    <a:pt x="740" y="0"/>
                    <a:pt x="1653" y="0"/>
                  </a:cubicBezTo>
                  <a:close/>
                  <a:moveTo>
                    <a:pt x="1653" y="112"/>
                  </a:moveTo>
                  <a:cubicBezTo>
                    <a:pt x="2503" y="112"/>
                    <a:pt x="3193" y="802"/>
                    <a:pt x="3193" y="1653"/>
                  </a:cubicBezTo>
                  <a:cubicBezTo>
                    <a:pt x="3193" y="2503"/>
                    <a:pt x="2503" y="3193"/>
                    <a:pt x="1653" y="3193"/>
                  </a:cubicBezTo>
                  <a:cubicBezTo>
                    <a:pt x="802" y="3193"/>
                    <a:pt x="112" y="2503"/>
                    <a:pt x="112" y="1653"/>
                  </a:cubicBezTo>
                  <a:cubicBezTo>
                    <a:pt x="112" y="802"/>
                    <a:pt x="802" y="112"/>
                    <a:pt x="1653" y="11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497981" y="3754915"/>
            <a:ext cx="7737496" cy="64389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股票价格移动平均线的绘制</a:t>
            </a: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2641998" y="4570915"/>
            <a:ext cx="792087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39"/>
          <p:cNvSpPr>
            <a:spLocks noChangeAspect="1" noChangeArrowheads="1"/>
          </p:cNvSpPr>
          <p:nvPr/>
        </p:nvSpPr>
        <p:spPr bwMode="auto">
          <a:xfrm>
            <a:off x="3218061" y="4855189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8" name="Oval 42"/>
          <p:cNvSpPr>
            <a:spLocks noChangeAspect="1" noChangeArrowheads="1"/>
          </p:cNvSpPr>
          <p:nvPr/>
        </p:nvSpPr>
        <p:spPr bwMode="auto">
          <a:xfrm>
            <a:off x="6458421" y="4855189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06093" y="4763746"/>
            <a:ext cx="2264888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案例介绍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5821" y="4763746"/>
            <a:ext cx="2264888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图形绘制</a:t>
            </a:r>
          </a:p>
        </p:txBody>
      </p:sp>
      <p:sp>
        <p:nvSpPr>
          <p:cNvPr id="17" name="Freeform 10"/>
          <p:cNvSpPr>
            <a:spLocks noEditPoints="1"/>
          </p:cNvSpPr>
          <p:nvPr/>
        </p:nvSpPr>
        <p:spPr bwMode="auto">
          <a:xfrm>
            <a:off x="5378301" y="1825605"/>
            <a:ext cx="1369075" cy="1320696"/>
          </a:xfrm>
          <a:custGeom>
            <a:avLst/>
            <a:gdLst>
              <a:gd name="T0" fmla="*/ 760 w 1139"/>
              <a:gd name="T1" fmla="*/ 420 h 1088"/>
              <a:gd name="T2" fmla="*/ 745 w 1139"/>
              <a:gd name="T3" fmla="*/ 452 h 1088"/>
              <a:gd name="T4" fmla="*/ 741 w 1139"/>
              <a:gd name="T5" fmla="*/ 473 h 1088"/>
              <a:gd name="T6" fmla="*/ 742 w 1139"/>
              <a:gd name="T7" fmla="*/ 513 h 1088"/>
              <a:gd name="T8" fmla="*/ 756 w 1139"/>
              <a:gd name="T9" fmla="*/ 552 h 1088"/>
              <a:gd name="T10" fmla="*/ 769 w 1139"/>
              <a:gd name="T11" fmla="*/ 571 h 1088"/>
              <a:gd name="T12" fmla="*/ 801 w 1139"/>
              <a:gd name="T13" fmla="*/ 598 h 1088"/>
              <a:gd name="T14" fmla="*/ 822 w 1139"/>
              <a:gd name="T15" fmla="*/ 608 h 1088"/>
              <a:gd name="T16" fmla="*/ 866 w 1139"/>
              <a:gd name="T17" fmla="*/ 363 h 1088"/>
              <a:gd name="T18" fmla="*/ 814 w 1139"/>
              <a:gd name="T19" fmla="*/ 374 h 1088"/>
              <a:gd name="T20" fmla="*/ 785 w 1139"/>
              <a:gd name="T21" fmla="*/ 392 h 1088"/>
              <a:gd name="T22" fmla="*/ 771 w 1139"/>
              <a:gd name="T23" fmla="*/ 406 h 1088"/>
              <a:gd name="T24" fmla="*/ 696 w 1139"/>
              <a:gd name="T25" fmla="*/ 127 h 1088"/>
              <a:gd name="T26" fmla="*/ 570 w 1139"/>
              <a:gd name="T27" fmla="*/ 253 h 1088"/>
              <a:gd name="T28" fmla="*/ 688 w 1139"/>
              <a:gd name="T29" fmla="*/ 513 h 1088"/>
              <a:gd name="T30" fmla="*/ 688 w 1139"/>
              <a:gd name="T31" fmla="*/ 461 h 1088"/>
              <a:gd name="T32" fmla="*/ 651 w 1139"/>
              <a:gd name="T33" fmla="*/ 279 h 1088"/>
              <a:gd name="T34" fmla="*/ 453 w 1139"/>
              <a:gd name="T35" fmla="*/ 490 h 1088"/>
              <a:gd name="T36" fmla="*/ 570 w 1139"/>
              <a:gd name="T37" fmla="*/ 718 h 1088"/>
              <a:gd name="T38" fmla="*/ 512 w 1139"/>
              <a:gd name="T39" fmla="*/ 725 h 1088"/>
              <a:gd name="T40" fmla="*/ 484 w 1139"/>
              <a:gd name="T41" fmla="*/ 693 h 1088"/>
              <a:gd name="T42" fmla="*/ 466 w 1139"/>
              <a:gd name="T43" fmla="*/ 678 h 1088"/>
              <a:gd name="T44" fmla="*/ 388 w 1139"/>
              <a:gd name="T45" fmla="*/ 645 h 1088"/>
              <a:gd name="T46" fmla="*/ 355 w 1139"/>
              <a:gd name="T47" fmla="*/ 642 h 1088"/>
              <a:gd name="T48" fmla="*/ 0 w 1139"/>
              <a:gd name="T49" fmla="*/ 1088 h 1088"/>
              <a:gd name="T50" fmla="*/ 151 w 1139"/>
              <a:gd name="T51" fmla="*/ 824 h 1088"/>
              <a:gd name="T52" fmla="*/ 391 w 1139"/>
              <a:gd name="T53" fmla="*/ 824 h 1088"/>
              <a:gd name="T54" fmla="*/ 546 w 1139"/>
              <a:gd name="T55" fmla="*/ 1088 h 1088"/>
              <a:gd name="T56" fmla="*/ 512 w 1139"/>
              <a:gd name="T57" fmla="*/ 725 h 1088"/>
              <a:gd name="T58" fmla="*/ 785 w 1139"/>
              <a:gd name="T59" fmla="*/ 642 h 1088"/>
              <a:gd name="T60" fmla="*/ 750 w 1139"/>
              <a:gd name="T61" fmla="*/ 646 h 1088"/>
              <a:gd name="T62" fmla="*/ 655 w 1139"/>
              <a:gd name="T63" fmla="*/ 693 h 1088"/>
              <a:gd name="T64" fmla="*/ 639 w 1139"/>
              <a:gd name="T65" fmla="*/ 709 h 1088"/>
              <a:gd name="T66" fmla="*/ 705 w 1139"/>
              <a:gd name="T67" fmla="*/ 1088 h 1088"/>
              <a:gd name="T68" fmla="*/ 744 w 1139"/>
              <a:gd name="T69" fmla="*/ 1088 h 1088"/>
              <a:gd name="T70" fmla="*/ 1024 w 1139"/>
              <a:gd name="T71" fmla="*/ 824 h 1088"/>
              <a:gd name="T72" fmla="*/ 1139 w 1139"/>
              <a:gd name="T73" fmla="*/ 833 h 1088"/>
              <a:gd name="T74" fmla="*/ 273 w 1139"/>
              <a:gd name="T75" fmla="*/ 616 h 1088"/>
              <a:gd name="T76" fmla="*/ 337 w 1139"/>
              <a:gd name="T77" fmla="*/ 599 h 1088"/>
              <a:gd name="T78" fmla="*/ 355 w 1139"/>
              <a:gd name="T79" fmla="*/ 586 h 1088"/>
              <a:gd name="T80" fmla="*/ 391 w 1139"/>
              <a:gd name="T81" fmla="*/ 535 h 1088"/>
              <a:gd name="T82" fmla="*/ 398 w 1139"/>
              <a:gd name="T83" fmla="*/ 510 h 1088"/>
              <a:gd name="T84" fmla="*/ 398 w 1139"/>
              <a:gd name="T85" fmla="*/ 468 h 1088"/>
              <a:gd name="T86" fmla="*/ 388 w 1139"/>
              <a:gd name="T87" fmla="*/ 437 h 1088"/>
              <a:gd name="T88" fmla="*/ 378 w 1139"/>
              <a:gd name="T89" fmla="*/ 419 h 1088"/>
              <a:gd name="T90" fmla="*/ 354 w 1139"/>
              <a:gd name="T91" fmla="*/ 393 h 1088"/>
              <a:gd name="T92" fmla="*/ 338 w 1139"/>
              <a:gd name="T93" fmla="*/ 381 h 1088"/>
              <a:gd name="T94" fmla="*/ 273 w 1139"/>
              <a:gd name="T95" fmla="*/ 363 h 10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39" h="1088">
                <a:moveTo>
                  <a:pt x="771" y="406"/>
                </a:moveTo>
                <a:cubicBezTo>
                  <a:pt x="767" y="411"/>
                  <a:pt x="764" y="415"/>
                  <a:pt x="761" y="419"/>
                </a:cubicBezTo>
                <a:cubicBezTo>
                  <a:pt x="761" y="420"/>
                  <a:pt x="761" y="420"/>
                  <a:pt x="760" y="420"/>
                </a:cubicBezTo>
                <a:cubicBezTo>
                  <a:pt x="758" y="424"/>
                  <a:pt x="755" y="429"/>
                  <a:pt x="753" y="433"/>
                </a:cubicBezTo>
                <a:cubicBezTo>
                  <a:pt x="752" y="435"/>
                  <a:pt x="752" y="436"/>
                  <a:pt x="751" y="437"/>
                </a:cubicBezTo>
                <a:cubicBezTo>
                  <a:pt x="749" y="442"/>
                  <a:pt x="747" y="447"/>
                  <a:pt x="745" y="452"/>
                </a:cubicBezTo>
                <a:cubicBezTo>
                  <a:pt x="745" y="452"/>
                  <a:pt x="745" y="453"/>
                  <a:pt x="745" y="453"/>
                </a:cubicBezTo>
                <a:cubicBezTo>
                  <a:pt x="744" y="458"/>
                  <a:pt x="742" y="463"/>
                  <a:pt x="741" y="468"/>
                </a:cubicBezTo>
                <a:cubicBezTo>
                  <a:pt x="741" y="470"/>
                  <a:pt x="741" y="471"/>
                  <a:pt x="741" y="473"/>
                </a:cubicBezTo>
                <a:cubicBezTo>
                  <a:pt x="740" y="478"/>
                  <a:pt x="740" y="484"/>
                  <a:pt x="740" y="490"/>
                </a:cubicBezTo>
                <a:cubicBezTo>
                  <a:pt x="740" y="497"/>
                  <a:pt x="740" y="504"/>
                  <a:pt x="741" y="510"/>
                </a:cubicBezTo>
                <a:cubicBezTo>
                  <a:pt x="742" y="511"/>
                  <a:pt x="742" y="512"/>
                  <a:pt x="742" y="513"/>
                </a:cubicBezTo>
                <a:cubicBezTo>
                  <a:pt x="743" y="520"/>
                  <a:pt x="745" y="526"/>
                  <a:pt x="747" y="532"/>
                </a:cubicBezTo>
                <a:cubicBezTo>
                  <a:pt x="747" y="533"/>
                  <a:pt x="748" y="534"/>
                  <a:pt x="748" y="535"/>
                </a:cubicBezTo>
                <a:cubicBezTo>
                  <a:pt x="750" y="541"/>
                  <a:pt x="753" y="547"/>
                  <a:pt x="756" y="552"/>
                </a:cubicBezTo>
                <a:cubicBezTo>
                  <a:pt x="757" y="553"/>
                  <a:pt x="757" y="554"/>
                  <a:pt x="758" y="555"/>
                </a:cubicBezTo>
                <a:cubicBezTo>
                  <a:pt x="761" y="560"/>
                  <a:pt x="765" y="566"/>
                  <a:pt x="769" y="571"/>
                </a:cubicBezTo>
                <a:cubicBezTo>
                  <a:pt x="769" y="571"/>
                  <a:pt x="769" y="571"/>
                  <a:pt x="769" y="571"/>
                </a:cubicBezTo>
                <a:cubicBezTo>
                  <a:pt x="774" y="576"/>
                  <a:pt x="778" y="581"/>
                  <a:pt x="783" y="585"/>
                </a:cubicBezTo>
                <a:cubicBezTo>
                  <a:pt x="784" y="586"/>
                  <a:pt x="784" y="586"/>
                  <a:pt x="784" y="586"/>
                </a:cubicBezTo>
                <a:cubicBezTo>
                  <a:pt x="789" y="591"/>
                  <a:pt x="795" y="594"/>
                  <a:pt x="801" y="598"/>
                </a:cubicBezTo>
                <a:cubicBezTo>
                  <a:pt x="801" y="598"/>
                  <a:pt x="802" y="599"/>
                  <a:pt x="802" y="599"/>
                </a:cubicBezTo>
                <a:cubicBezTo>
                  <a:pt x="808" y="602"/>
                  <a:pt x="814" y="605"/>
                  <a:pt x="820" y="608"/>
                </a:cubicBezTo>
                <a:cubicBezTo>
                  <a:pt x="821" y="608"/>
                  <a:pt x="821" y="608"/>
                  <a:pt x="822" y="608"/>
                </a:cubicBezTo>
                <a:cubicBezTo>
                  <a:pt x="836" y="613"/>
                  <a:pt x="851" y="616"/>
                  <a:pt x="866" y="616"/>
                </a:cubicBezTo>
                <a:cubicBezTo>
                  <a:pt x="936" y="616"/>
                  <a:pt x="993" y="559"/>
                  <a:pt x="993" y="490"/>
                </a:cubicBezTo>
                <a:cubicBezTo>
                  <a:pt x="993" y="420"/>
                  <a:pt x="936" y="363"/>
                  <a:pt x="866" y="363"/>
                </a:cubicBezTo>
                <a:cubicBezTo>
                  <a:pt x="848" y="363"/>
                  <a:pt x="831" y="367"/>
                  <a:pt x="816" y="374"/>
                </a:cubicBezTo>
                <a:cubicBezTo>
                  <a:pt x="816" y="374"/>
                  <a:pt x="816" y="374"/>
                  <a:pt x="816" y="374"/>
                </a:cubicBezTo>
                <a:cubicBezTo>
                  <a:pt x="815" y="374"/>
                  <a:pt x="815" y="374"/>
                  <a:pt x="814" y="374"/>
                </a:cubicBezTo>
                <a:cubicBezTo>
                  <a:pt x="810" y="376"/>
                  <a:pt x="806" y="379"/>
                  <a:pt x="802" y="381"/>
                </a:cubicBezTo>
                <a:cubicBezTo>
                  <a:pt x="800" y="382"/>
                  <a:pt x="799" y="382"/>
                  <a:pt x="798" y="383"/>
                </a:cubicBezTo>
                <a:cubicBezTo>
                  <a:pt x="794" y="386"/>
                  <a:pt x="789" y="389"/>
                  <a:pt x="785" y="392"/>
                </a:cubicBezTo>
                <a:cubicBezTo>
                  <a:pt x="785" y="393"/>
                  <a:pt x="784" y="393"/>
                  <a:pt x="784" y="393"/>
                </a:cubicBezTo>
                <a:cubicBezTo>
                  <a:pt x="780" y="397"/>
                  <a:pt x="777" y="400"/>
                  <a:pt x="773" y="404"/>
                </a:cubicBezTo>
                <a:cubicBezTo>
                  <a:pt x="773" y="405"/>
                  <a:pt x="772" y="406"/>
                  <a:pt x="771" y="406"/>
                </a:cubicBezTo>
                <a:close/>
                <a:moveTo>
                  <a:pt x="570" y="253"/>
                </a:moveTo>
                <a:lnTo>
                  <a:pt x="570" y="253"/>
                </a:lnTo>
                <a:cubicBezTo>
                  <a:pt x="639" y="253"/>
                  <a:pt x="696" y="196"/>
                  <a:pt x="696" y="127"/>
                </a:cubicBezTo>
                <a:cubicBezTo>
                  <a:pt x="696" y="57"/>
                  <a:pt x="639" y="0"/>
                  <a:pt x="570" y="0"/>
                </a:cubicBezTo>
                <a:cubicBezTo>
                  <a:pt x="500" y="0"/>
                  <a:pt x="443" y="57"/>
                  <a:pt x="443" y="127"/>
                </a:cubicBezTo>
                <a:cubicBezTo>
                  <a:pt x="443" y="196"/>
                  <a:pt x="500" y="253"/>
                  <a:pt x="570" y="253"/>
                </a:cubicBezTo>
                <a:close/>
                <a:moveTo>
                  <a:pt x="688" y="609"/>
                </a:moveTo>
                <a:lnTo>
                  <a:pt x="688" y="609"/>
                </a:lnTo>
                <a:lnTo>
                  <a:pt x="688" y="513"/>
                </a:lnTo>
                <a:cubicBezTo>
                  <a:pt x="687" y="505"/>
                  <a:pt x="686" y="497"/>
                  <a:pt x="686" y="490"/>
                </a:cubicBezTo>
                <a:cubicBezTo>
                  <a:pt x="686" y="482"/>
                  <a:pt x="687" y="474"/>
                  <a:pt x="688" y="467"/>
                </a:cubicBezTo>
                <a:lnTo>
                  <a:pt x="688" y="461"/>
                </a:lnTo>
                <a:lnTo>
                  <a:pt x="689" y="461"/>
                </a:lnTo>
                <a:cubicBezTo>
                  <a:pt x="698" y="405"/>
                  <a:pt x="733" y="357"/>
                  <a:pt x="782" y="331"/>
                </a:cubicBezTo>
                <a:cubicBezTo>
                  <a:pt x="748" y="299"/>
                  <a:pt x="702" y="279"/>
                  <a:pt x="651" y="279"/>
                </a:cubicBezTo>
                <a:lnTo>
                  <a:pt x="488" y="279"/>
                </a:lnTo>
                <a:cubicBezTo>
                  <a:pt x="437" y="279"/>
                  <a:pt x="391" y="299"/>
                  <a:pt x="357" y="331"/>
                </a:cubicBezTo>
                <a:cubicBezTo>
                  <a:pt x="414" y="361"/>
                  <a:pt x="453" y="421"/>
                  <a:pt x="453" y="490"/>
                </a:cubicBezTo>
                <a:cubicBezTo>
                  <a:pt x="453" y="504"/>
                  <a:pt x="451" y="518"/>
                  <a:pt x="448" y="531"/>
                </a:cubicBezTo>
                <a:lnTo>
                  <a:pt x="448" y="608"/>
                </a:lnTo>
                <a:cubicBezTo>
                  <a:pt x="500" y="629"/>
                  <a:pt x="543" y="668"/>
                  <a:pt x="570" y="718"/>
                </a:cubicBezTo>
                <a:cubicBezTo>
                  <a:pt x="595" y="669"/>
                  <a:pt x="638" y="631"/>
                  <a:pt x="688" y="609"/>
                </a:cubicBezTo>
                <a:close/>
                <a:moveTo>
                  <a:pt x="512" y="725"/>
                </a:moveTo>
                <a:lnTo>
                  <a:pt x="512" y="725"/>
                </a:lnTo>
                <a:cubicBezTo>
                  <a:pt x="508" y="719"/>
                  <a:pt x="504" y="714"/>
                  <a:pt x="499" y="709"/>
                </a:cubicBezTo>
                <a:cubicBezTo>
                  <a:pt x="499" y="708"/>
                  <a:pt x="498" y="707"/>
                  <a:pt x="497" y="707"/>
                </a:cubicBezTo>
                <a:cubicBezTo>
                  <a:pt x="493" y="702"/>
                  <a:pt x="489" y="698"/>
                  <a:pt x="484" y="693"/>
                </a:cubicBezTo>
                <a:cubicBezTo>
                  <a:pt x="484" y="693"/>
                  <a:pt x="483" y="692"/>
                  <a:pt x="482" y="691"/>
                </a:cubicBezTo>
                <a:cubicBezTo>
                  <a:pt x="477" y="687"/>
                  <a:pt x="473" y="683"/>
                  <a:pt x="467" y="679"/>
                </a:cubicBezTo>
                <a:cubicBezTo>
                  <a:pt x="467" y="679"/>
                  <a:pt x="466" y="679"/>
                  <a:pt x="466" y="678"/>
                </a:cubicBezTo>
                <a:cubicBezTo>
                  <a:pt x="449" y="666"/>
                  <a:pt x="429" y="656"/>
                  <a:pt x="409" y="650"/>
                </a:cubicBezTo>
                <a:cubicBezTo>
                  <a:pt x="404" y="649"/>
                  <a:pt x="400" y="648"/>
                  <a:pt x="395" y="647"/>
                </a:cubicBezTo>
                <a:cubicBezTo>
                  <a:pt x="393" y="646"/>
                  <a:pt x="390" y="646"/>
                  <a:pt x="388" y="645"/>
                </a:cubicBezTo>
                <a:cubicBezTo>
                  <a:pt x="385" y="645"/>
                  <a:pt x="381" y="644"/>
                  <a:pt x="378" y="644"/>
                </a:cubicBezTo>
                <a:cubicBezTo>
                  <a:pt x="376" y="644"/>
                  <a:pt x="374" y="643"/>
                  <a:pt x="372" y="643"/>
                </a:cubicBezTo>
                <a:cubicBezTo>
                  <a:pt x="366" y="643"/>
                  <a:pt x="360" y="642"/>
                  <a:pt x="355" y="642"/>
                </a:cubicBezTo>
                <a:lnTo>
                  <a:pt x="191" y="642"/>
                </a:lnTo>
                <a:cubicBezTo>
                  <a:pt x="86" y="642"/>
                  <a:pt x="0" y="728"/>
                  <a:pt x="0" y="833"/>
                </a:cubicBezTo>
                <a:lnTo>
                  <a:pt x="0" y="1088"/>
                </a:lnTo>
                <a:lnTo>
                  <a:pt x="112" y="1088"/>
                </a:lnTo>
                <a:lnTo>
                  <a:pt x="112" y="824"/>
                </a:lnTo>
                <a:lnTo>
                  <a:pt x="151" y="824"/>
                </a:lnTo>
                <a:lnTo>
                  <a:pt x="151" y="1088"/>
                </a:lnTo>
                <a:lnTo>
                  <a:pt x="391" y="1088"/>
                </a:lnTo>
                <a:lnTo>
                  <a:pt x="391" y="824"/>
                </a:lnTo>
                <a:lnTo>
                  <a:pt x="430" y="824"/>
                </a:lnTo>
                <a:lnTo>
                  <a:pt x="430" y="1088"/>
                </a:lnTo>
                <a:lnTo>
                  <a:pt x="546" y="1088"/>
                </a:lnTo>
                <a:lnTo>
                  <a:pt x="546" y="833"/>
                </a:lnTo>
                <a:cubicBezTo>
                  <a:pt x="546" y="793"/>
                  <a:pt x="533" y="756"/>
                  <a:pt x="512" y="725"/>
                </a:cubicBezTo>
                <a:cubicBezTo>
                  <a:pt x="512" y="725"/>
                  <a:pt x="512" y="725"/>
                  <a:pt x="512" y="725"/>
                </a:cubicBezTo>
                <a:close/>
                <a:moveTo>
                  <a:pt x="948" y="642"/>
                </a:moveTo>
                <a:lnTo>
                  <a:pt x="948" y="642"/>
                </a:lnTo>
                <a:lnTo>
                  <a:pt x="785" y="642"/>
                </a:lnTo>
                <a:cubicBezTo>
                  <a:pt x="779" y="642"/>
                  <a:pt x="773" y="643"/>
                  <a:pt x="767" y="643"/>
                </a:cubicBezTo>
                <a:cubicBezTo>
                  <a:pt x="765" y="643"/>
                  <a:pt x="763" y="644"/>
                  <a:pt x="761" y="644"/>
                </a:cubicBezTo>
                <a:cubicBezTo>
                  <a:pt x="758" y="644"/>
                  <a:pt x="754" y="645"/>
                  <a:pt x="750" y="646"/>
                </a:cubicBezTo>
                <a:cubicBezTo>
                  <a:pt x="748" y="646"/>
                  <a:pt x="746" y="646"/>
                  <a:pt x="743" y="647"/>
                </a:cubicBezTo>
                <a:cubicBezTo>
                  <a:pt x="739" y="648"/>
                  <a:pt x="735" y="649"/>
                  <a:pt x="731" y="650"/>
                </a:cubicBezTo>
                <a:cubicBezTo>
                  <a:pt x="703" y="658"/>
                  <a:pt x="676" y="673"/>
                  <a:pt x="655" y="693"/>
                </a:cubicBezTo>
                <a:cubicBezTo>
                  <a:pt x="655" y="694"/>
                  <a:pt x="654" y="694"/>
                  <a:pt x="654" y="694"/>
                </a:cubicBezTo>
                <a:cubicBezTo>
                  <a:pt x="649" y="698"/>
                  <a:pt x="645" y="703"/>
                  <a:pt x="641" y="708"/>
                </a:cubicBezTo>
                <a:cubicBezTo>
                  <a:pt x="640" y="708"/>
                  <a:pt x="640" y="709"/>
                  <a:pt x="639" y="709"/>
                </a:cubicBezTo>
                <a:cubicBezTo>
                  <a:pt x="611" y="743"/>
                  <a:pt x="593" y="786"/>
                  <a:pt x="593" y="833"/>
                </a:cubicBezTo>
                <a:lnTo>
                  <a:pt x="593" y="1088"/>
                </a:lnTo>
                <a:lnTo>
                  <a:pt x="705" y="1088"/>
                </a:lnTo>
                <a:lnTo>
                  <a:pt x="705" y="824"/>
                </a:lnTo>
                <a:lnTo>
                  <a:pt x="744" y="824"/>
                </a:lnTo>
                <a:lnTo>
                  <a:pt x="744" y="1088"/>
                </a:lnTo>
                <a:lnTo>
                  <a:pt x="985" y="1088"/>
                </a:lnTo>
                <a:lnTo>
                  <a:pt x="985" y="824"/>
                </a:lnTo>
                <a:lnTo>
                  <a:pt x="1024" y="824"/>
                </a:lnTo>
                <a:lnTo>
                  <a:pt x="1024" y="1088"/>
                </a:lnTo>
                <a:lnTo>
                  <a:pt x="1139" y="1088"/>
                </a:lnTo>
                <a:lnTo>
                  <a:pt x="1139" y="833"/>
                </a:lnTo>
                <a:cubicBezTo>
                  <a:pt x="1139" y="728"/>
                  <a:pt x="1053" y="642"/>
                  <a:pt x="948" y="642"/>
                </a:cubicBezTo>
                <a:close/>
                <a:moveTo>
                  <a:pt x="273" y="616"/>
                </a:moveTo>
                <a:lnTo>
                  <a:pt x="273" y="616"/>
                </a:lnTo>
                <a:cubicBezTo>
                  <a:pt x="289" y="616"/>
                  <a:pt x="304" y="613"/>
                  <a:pt x="317" y="608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325" y="605"/>
                  <a:pt x="331" y="602"/>
                  <a:pt x="337" y="599"/>
                </a:cubicBezTo>
                <a:cubicBezTo>
                  <a:pt x="337" y="599"/>
                  <a:pt x="338" y="598"/>
                  <a:pt x="338" y="598"/>
                </a:cubicBezTo>
                <a:cubicBezTo>
                  <a:pt x="344" y="594"/>
                  <a:pt x="350" y="591"/>
                  <a:pt x="355" y="586"/>
                </a:cubicBezTo>
                <a:cubicBezTo>
                  <a:pt x="355" y="586"/>
                  <a:pt x="355" y="586"/>
                  <a:pt x="355" y="586"/>
                </a:cubicBezTo>
                <a:cubicBezTo>
                  <a:pt x="366" y="577"/>
                  <a:pt x="374" y="566"/>
                  <a:pt x="381" y="554"/>
                </a:cubicBezTo>
                <a:cubicBezTo>
                  <a:pt x="382" y="554"/>
                  <a:pt x="382" y="553"/>
                  <a:pt x="383" y="552"/>
                </a:cubicBezTo>
                <a:cubicBezTo>
                  <a:pt x="386" y="547"/>
                  <a:pt x="389" y="541"/>
                  <a:pt x="391" y="535"/>
                </a:cubicBezTo>
                <a:cubicBezTo>
                  <a:pt x="391" y="534"/>
                  <a:pt x="392" y="533"/>
                  <a:pt x="392" y="532"/>
                </a:cubicBezTo>
                <a:cubicBezTo>
                  <a:pt x="394" y="526"/>
                  <a:pt x="396" y="520"/>
                  <a:pt x="397" y="513"/>
                </a:cubicBezTo>
                <a:cubicBezTo>
                  <a:pt x="397" y="512"/>
                  <a:pt x="398" y="511"/>
                  <a:pt x="398" y="510"/>
                </a:cubicBezTo>
                <a:cubicBezTo>
                  <a:pt x="399" y="504"/>
                  <a:pt x="399" y="497"/>
                  <a:pt x="399" y="490"/>
                </a:cubicBezTo>
                <a:cubicBezTo>
                  <a:pt x="399" y="484"/>
                  <a:pt x="399" y="478"/>
                  <a:pt x="398" y="472"/>
                </a:cubicBezTo>
                <a:cubicBezTo>
                  <a:pt x="398" y="471"/>
                  <a:pt x="398" y="470"/>
                  <a:pt x="398" y="468"/>
                </a:cubicBezTo>
                <a:cubicBezTo>
                  <a:pt x="397" y="463"/>
                  <a:pt x="395" y="458"/>
                  <a:pt x="394" y="453"/>
                </a:cubicBezTo>
                <a:cubicBezTo>
                  <a:pt x="394" y="452"/>
                  <a:pt x="394" y="452"/>
                  <a:pt x="394" y="452"/>
                </a:cubicBezTo>
                <a:cubicBezTo>
                  <a:pt x="392" y="447"/>
                  <a:pt x="390" y="442"/>
                  <a:pt x="388" y="437"/>
                </a:cubicBezTo>
                <a:cubicBezTo>
                  <a:pt x="387" y="436"/>
                  <a:pt x="387" y="435"/>
                  <a:pt x="386" y="434"/>
                </a:cubicBezTo>
                <a:cubicBezTo>
                  <a:pt x="384" y="429"/>
                  <a:pt x="381" y="424"/>
                  <a:pt x="378" y="419"/>
                </a:cubicBezTo>
                <a:lnTo>
                  <a:pt x="378" y="419"/>
                </a:lnTo>
                <a:cubicBezTo>
                  <a:pt x="375" y="415"/>
                  <a:pt x="372" y="410"/>
                  <a:pt x="368" y="406"/>
                </a:cubicBezTo>
                <a:cubicBezTo>
                  <a:pt x="367" y="405"/>
                  <a:pt x="367" y="405"/>
                  <a:pt x="366" y="404"/>
                </a:cubicBezTo>
                <a:cubicBezTo>
                  <a:pt x="362" y="400"/>
                  <a:pt x="358" y="396"/>
                  <a:pt x="354" y="393"/>
                </a:cubicBezTo>
                <a:cubicBezTo>
                  <a:pt x="354" y="393"/>
                  <a:pt x="354" y="393"/>
                  <a:pt x="354" y="393"/>
                </a:cubicBezTo>
                <a:cubicBezTo>
                  <a:pt x="350" y="389"/>
                  <a:pt x="345" y="386"/>
                  <a:pt x="341" y="383"/>
                </a:cubicBezTo>
                <a:cubicBezTo>
                  <a:pt x="340" y="382"/>
                  <a:pt x="339" y="382"/>
                  <a:pt x="338" y="381"/>
                </a:cubicBezTo>
                <a:cubicBezTo>
                  <a:pt x="334" y="379"/>
                  <a:pt x="329" y="376"/>
                  <a:pt x="324" y="374"/>
                </a:cubicBezTo>
                <a:cubicBezTo>
                  <a:pt x="324" y="374"/>
                  <a:pt x="324" y="374"/>
                  <a:pt x="323" y="374"/>
                </a:cubicBezTo>
                <a:cubicBezTo>
                  <a:pt x="308" y="367"/>
                  <a:pt x="291" y="363"/>
                  <a:pt x="273" y="363"/>
                </a:cubicBezTo>
                <a:cubicBezTo>
                  <a:pt x="203" y="363"/>
                  <a:pt x="146" y="420"/>
                  <a:pt x="146" y="490"/>
                </a:cubicBezTo>
                <a:cubicBezTo>
                  <a:pt x="146" y="559"/>
                  <a:pt x="203" y="616"/>
                  <a:pt x="273" y="6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股票价格移动平均线的绘制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5" name="文本框 7"/>
          <p:cNvSpPr txBox="1">
            <a:spLocks noChangeArrowheads="1"/>
          </p:cNvSpPr>
          <p:nvPr/>
        </p:nvSpPr>
        <p:spPr bwMode="auto">
          <a:xfrm>
            <a:off x="1330960" y="1351915"/>
            <a:ext cx="9308465" cy="415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kumimoji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dirty="0">
                <a:solidFill>
                  <a:schemeClr val="tx1"/>
                </a:solidFill>
                <a:ea typeface="宋体" panose="02010600030101010101" pitchFamily="2" charset="-122"/>
              </a:rPr>
              <a:t>股票移动平均价反映了计算周期内的平均持有成本，对投资者具有一定的参考价值，也是广大证券投资分析软件或者技术分析的一个重要参考指标。本案例取20只股票代码4个月的交易数据绘制其原始价格走势图和10日移动平均线走势图，并用子图的形式表现出来。这里给出了程序自动根据股票代码数量和figure中子图数量，实现批量绘图的思路及实现程序，希望对读者有一定的帮助，同时在后续章节中也有使用。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kumimoji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kumimoji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kumimoji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591974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7.5.1 案例介绍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5500" y="812800"/>
            <a:ext cx="10418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今有中小板股票代码002001~002020共20个，2016-05-01~2016-08-01之间的交易数据，其表结构见表7-8。数据来源于国泰安CSMAR数据库。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940050" y="1804035"/>
            <a:ext cx="656971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1666875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表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7-8 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交数据（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trd.xlsx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）</a:t>
            </a:r>
            <a:endParaRPr lang="zh-CN" altLang="en-US" sz="2000"/>
          </a:p>
        </p:txBody>
      </p:sp>
      <p:graphicFrame>
        <p:nvGraphicFramePr>
          <p:cNvPr id="6" name="表格 5"/>
          <p:cNvGraphicFramePr/>
          <p:nvPr/>
        </p:nvGraphicFramePr>
        <p:xfrm>
          <a:off x="2395220" y="2357755"/>
          <a:ext cx="7406640" cy="3335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290"/>
                <a:gridCol w="2394585"/>
                <a:gridCol w="3453765"/>
              </a:tblGrid>
              <a:tr h="4521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Stkcd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Trddt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Clsprc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002001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2016-05-03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20.99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002001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2016-05-04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20.42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002001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2016-05-05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20.49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002001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2016-05-06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002001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2016-05-09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18.67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002001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2016-05-10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19.07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25500" y="6014085"/>
            <a:ext cx="7257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其中字段依次表示股票代码、交易日期、收盘价。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00" grpId="0"/>
      <p:bldP spid="100" grpId="1"/>
      <p:bldP spid="8" grpId="0"/>
      <p:bldP spid="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21588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7.5.1 案例介绍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7595" y="936625"/>
            <a:ext cx="94094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任务如下：</a:t>
            </a:r>
          </a:p>
          <a:p>
            <a:r>
              <a:rPr lang="zh-CN" altLang="en-US"/>
              <a:t>（1）计算每个股票代码10日移动平均收盘价格数据</a:t>
            </a:r>
          </a:p>
          <a:p>
            <a:r>
              <a:rPr lang="zh-CN" altLang="en-US"/>
              <a:t>（2）绘制每个股票代码收盘价走势图和移动平均收盘价走势图，并用子图的形式表示出来。</a:t>
            </a:r>
          </a:p>
          <a:p>
            <a:r>
              <a:rPr lang="zh-CN" altLang="en-US"/>
              <a:t>（说明：每个figure按照2*2划分，即每个figure绘制4个股票代码的收盘价走势图和移动平均价格走势图，这样20个股票代码，则需要5个figure，需使用循环的方式实现）</a:t>
            </a:r>
          </a:p>
          <a:p>
            <a:r>
              <a:rPr lang="zh-CN" altLang="en-US"/>
              <a:t>提示：可以考虑使用Python中取余运算来实现，取余符号为%，比如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04595" y="2759075"/>
            <a:ext cx="605853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0%4=0</a:t>
            </a:r>
          </a:p>
          <a:p>
            <a:r>
              <a:rPr lang="zh-CN" altLang="en-US" sz="1800"/>
              <a:t>1%4=1</a:t>
            </a:r>
          </a:p>
          <a:p>
            <a:r>
              <a:rPr lang="zh-CN" altLang="en-US" sz="1800"/>
              <a:t>2%4=2</a:t>
            </a:r>
          </a:p>
          <a:p>
            <a:r>
              <a:rPr lang="zh-CN" altLang="en-US" sz="1800"/>
              <a:t>3%4=3</a:t>
            </a:r>
          </a:p>
          <a:p>
            <a:r>
              <a:rPr lang="zh-CN" altLang="en-US" sz="1800"/>
              <a:t>4%4=0</a:t>
            </a:r>
          </a:p>
          <a:p>
            <a:r>
              <a:rPr lang="zh-CN" altLang="en-US" sz="1800"/>
              <a:t>5%4=1</a:t>
            </a:r>
          </a:p>
          <a:p>
            <a:r>
              <a:rPr lang="zh-CN" altLang="en-US" sz="1800"/>
              <a:t>6%4=2</a:t>
            </a:r>
          </a:p>
          <a:p>
            <a:r>
              <a:rPr lang="zh-CN" altLang="en-US" sz="1800"/>
              <a:t>7%4=3</a:t>
            </a:r>
          </a:p>
          <a:p>
            <a:r>
              <a:rPr lang="zh-CN" altLang="en-US" sz="1800"/>
              <a:t>8%4=0</a:t>
            </a:r>
          </a:p>
          <a:p>
            <a:r>
              <a:rPr lang="zh-CN" altLang="en-US" sz="1800"/>
              <a:t>9%4=1</a:t>
            </a:r>
          </a:p>
          <a:p>
            <a:r>
              <a:rPr lang="zh-CN" altLang="en-US" sz="1800"/>
              <a:t>……</a:t>
            </a:r>
          </a:p>
          <a:p>
            <a:r>
              <a:rPr lang="zh-CN" altLang="en-US" sz="1800"/>
              <a:t>这样凡是取余为0的时候需要创建一个figure，在这个figure中绘制4个子图。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1011143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7.5.2 图形绘制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6780" y="782955"/>
            <a:ext cx="895604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根据以上的分析与算法，下面给出详细的示例代码：</a:t>
            </a:r>
          </a:p>
          <a:p>
            <a:r>
              <a:rPr lang="zh-CN" altLang="en-US"/>
              <a:t>import pandas as pd</a:t>
            </a:r>
          </a:p>
          <a:p>
            <a:r>
              <a:rPr lang="zh-CN" altLang="en-US"/>
              <a:t>import numpy as np</a:t>
            </a:r>
          </a:p>
          <a:p>
            <a:r>
              <a:rPr lang="zh-CN" altLang="en-US"/>
              <a:t>import matplotlib.pyplot as plt</a:t>
            </a:r>
          </a:p>
          <a:p>
            <a:r>
              <a:rPr lang="zh-CN" altLang="en-US"/>
              <a:t>trd=pd.read_excel('trd.xlsx')</a:t>
            </a:r>
          </a:p>
          <a:p>
            <a:r>
              <a:rPr lang="zh-CN" altLang="en-US"/>
              <a:t>#获取股票代码，并转化为列表的形式</a:t>
            </a:r>
          </a:p>
          <a:p>
            <a:r>
              <a:rPr lang="zh-CN" altLang="en-US"/>
              <a:t>c=trd['Stkcd'].value_counts()</a:t>
            </a:r>
          </a:p>
          <a:p>
            <a:r>
              <a:rPr lang="zh-CN" altLang="en-US"/>
              <a:t>code=list(c.index)</a:t>
            </a:r>
          </a:p>
          <a:p>
            <a:r>
              <a:rPr lang="zh-CN" altLang="en-US"/>
              <a:t>#动态计算需要q个figure，其中每个figure绘制4个子图，每个子图代表一个股票，在子</a:t>
            </a:r>
          </a:p>
          <a:p>
            <a:r>
              <a:rPr lang="zh-CN" altLang="en-US"/>
              <a:t>#初始值设置q=0</a:t>
            </a:r>
          </a:p>
          <a:p>
            <a:r>
              <a:rPr lang="zh-CN" altLang="en-US"/>
              <a:t>q=0</a:t>
            </a:r>
          </a:p>
          <a:p>
            <a:r>
              <a:rPr lang="zh-CN" altLang="en-US"/>
              <a:t>#循环对每一个股票绘制其图形</a:t>
            </a:r>
          </a:p>
          <a:p>
            <a:r>
              <a:rPr lang="zh-CN" altLang="en-US"/>
              <a:t>for i in range(20):</a:t>
            </a:r>
          </a:p>
          <a:p>
            <a:r>
              <a:rPr lang="zh-CN" altLang="en-US"/>
              <a:t>    #第i个股票代码的收盘价，记为p,并计算其移动平均价</a:t>
            </a:r>
          </a:p>
          <a:p>
            <a:r>
              <a:rPr lang="zh-CN" altLang="en-US"/>
              <a:t>    #并构造绘图的x,y值</a:t>
            </a:r>
          </a:p>
          <a:p>
            <a:r>
              <a:rPr lang="zh-CN" altLang="en-US"/>
              <a:t>    p=trd.loc[trd['Stkcd'].values==code[i],'Clsprc'].values</a:t>
            </a:r>
          </a:p>
          <a:p>
            <a:r>
              <a:rPr lang="zh-CN" altLang="en-US"/>
              <a:t>    avg_p=pd.rolling_mean(p,10)</a:t>
            </a:r>
          </a:p>
          <a:p>
            <a:r>
              <a:rPr lang="zh-CN" altLang="en-US"/>
              <a:t>    x1=np.arange(0,len(p))</a:t>
            </a:r>
          </a:p>
          <a:p>
            <a:r>
              <a:rPr lang="zh-CN" altLang="en-US"/>
              <a:t>    y1=p</a:t>
            </a:r>
          </a:p>
          <a:p>
            <a:r>
              <a:rPr lang="zh-CN" altLang="en-US"/>
              <a:t>    y2=avg_p[9:]</a:t>
            </a:r>
          </a:p>
          <a:p>
            <a:r>
              <a:rPr lang="zh-CN" altLang="en-US"/>
              <a:t>    x2=np.arange(9,len(p))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4" y="44625"/>
            <a:ext cx="8531529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图形绘制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1450" y="1165225"/>
            <a:ext cx="748919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 #如果i与4整除，代表需要重新建一个figure（因为每个figure有4个子图）</a:t>
            </a:r>
          </a:p>
          <a:p>
            <a:r>
              <a:rPr lang="zh-CN" altLang="en-US" sz="2000"/>
              <a:t>    if i%4==0: </a:t>
            </a:r>
          </a:p>
          <a:p>
            <a:r>
              <a:rPr lang="zh-CN" altLang="en-US" sz="2000"/>
              <a:t>        q=q+1                    </a:t>
            </a:r>
          </a:p>
          <a:p>
            <a:r>
              <a:rPr lang="zh-CN" altLang="en-US" sz="2000"/>
              <a:t>        plt.figure(q)               </a:t>
            </a:r>
          </a:p>
          <a:p>
            <a:r>
              <a:rPr lang="zh-CN" altLang="en-US" sz="2000"/>
              <a:t>        plt.figure(figsize=(8,6))      </a:t>
            </a:r>
          </a:p>
          <a:p>
            <a:r>
              <a:rPr lang="zh-CN" altLang="en-US" sz="2000"/>
              <a:t>    plt.subplot(2,2,i%4+1)</a:t>
            </a:r>
          </a:p>
          <a:p>
            <a:r>
              <a:rPr lang="zh-CN" altLang="en-US" sz="2000"/>
              <a:t>    plt.tight_layout() #用于设置图像外部边缘自动调整</a:t>
            </a:r>
          </a:p>
          <a:p>
            <a:r>
              <a:rPr lang="zh-CN" altLang="en-US" sz="2000"/>
              <a:t>    plt.plot(x1,y1)</a:t>
            </a:r>
          </a:p>
          <a:p>
            <a:r>
              <a:rPr lang="zh-CN" altLang="en-US" sz="2000"/>
              <a:t>    plt.plot(x2,y2)</a:t>
            </a:r>
          </a:p>
          <a:p>
            <a:r>
              <a:rPr lang="zh-CN" altLang="en-US" sz="2000"/>
              <a:t>    plt.savefig(str(q))</a:t>
            </a:r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执行结果如图7-13至7-17所示。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73616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7.5.2 图形绘制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205" name="图片 20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3050" y="1778000"/>
            <a:ext cx="5568315" cy="49580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38860" y="987425"/>
            <a:ext cx="4036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</a:t>
            </a:r>
            <a:r>
              <a:rPr lang="zh-CN" altLang="en-US" sz="2000"/>
              <a:t>图7-13   1-4只股票价格图形</a:t>
            </a:r>
          </a:p>
        </p:txBody>
      </p:sp>
      <p:pic>
        <p:nvPicPr>
          <p:cNvPr id="206" name="图片 20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59170" y="1778000"/>
            <a:ext cx="5905500" cy="49580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41465" y="1009015"/>
            <a:ext cx="4713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    图7-14       5-8只股票价格图形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16010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7.5.2 图形绘制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207" name="图片 20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780" y="1571625"/>
            <a:ext cx="5807710" cy="5003800"/>
          </a:xfrm>
          <a:prstGeom prst="rect">
            <a:avLst/>
          </a:prstGeom>
        </p:spPr>
      </p:pic>
      <p:pic>
        <p:nvPicPr>
          <p:cNvPr id="208" name="图片 20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68720" y="1571625"/>
            <a:ext cx="5766435" cy="5003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5175" y="898525"/>
            <a:ext cx="43973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   图7-15       9-12只股票价格图形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73875" y="999490"/>
            <a:ext cx="48012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  图7-16       13-16只股票价格图形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7.5.2 图形绘制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209" name="图片 20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55215" y="1538605"/>
            <a:ext cx="6799580" cy="50380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82265" y="862965"/>
            <a:ext cx="5304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图7-17        17-20只股票价格图形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dynamicNum"/>
</p:tagLst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1921</Words>
  <Application>Microsoft Office PowerPoint</Application>
  <PresentationFormat>自定义</PresentationFormat>
  <Paragraphs>270</Paragraphs>
  <Slides>19</Slides>
  <Notes>13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股票价格走势图绘制。示例代码如下：</vt:lpstr>
      <vt:lpstr>2. 交易量分布柱状图。示例代码如下：</vt:lpstr>
      <vt:lpstr>3.月交易量分布饼图。示例代码如下：</vt:lpstr>
      <vt:lpstr>4. 收盘价走势图、交易量分布图和月交易量饼图组成的3*1子图。示例代码如下：</vt:lpstr>
      <vt:lpstr>plt.pie(D,labels=list1,autopct='%1.2f%%') #保留小数点后两位 plt.title(u'月交易量分布图',fontproperties='SimHei') plt.savefig('4')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1578</cp:revision>
  <dcterms:created xsi:type="dcterms:W3CDTF">2013-01-25T01:44:00Z</dcterms:created>
  <dcterms:modified xsi:type="dcterms:W3CDTF">2020-01-12T03:54:17Z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